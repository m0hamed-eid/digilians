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AI_for_AI/ppt_workspace/session_2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2349401"/>
            <a:ext cx="1015901" cy="507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1825675"/>
            <a:ext cx="85344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Session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9600" y="2111425"/>
            <a:ext cx="853440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09600" y="2616250"/>
            <a:ext cx="853440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Power of Specificity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09600" y="3117800"/>
            <a:ext cx="853440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Learn how small changes in your prompts create dramatically better AI outputs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9600" y="455935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12602" y="4533900"/>
            <a:ext cx="31280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Training Curriculum  |  Intermediate Track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53901"/>
            <a:ext cx="50750" cy="3555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2750" y="255389"/>
            <a:ext cx="3023515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597372"/>
            <a:ext cx="3962400" cy="742652"/>
          </a:xfrm>
          <a:prstGeom prst="roundRect">
            <a:avLst>
              <a:gd name="adj" fmla="val 13681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28650" y="1597372"/>
            <a:ext cx="0" cy="742652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850" y="1806773"/>
            <a:ext cx="42883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14004" y="1775073"/>
            <a:ext cx="336033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CRISP Framework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14004" y="2009924"/>
            <a:ext cx="33603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Five elements of great prompts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24400" y="1597372"/>
            <a:ext cx="3962400" cy="742652"/>
          </a:xfrm>
          <a:prstGeom prst="roundRect">
            <a:avLst>
              <a:gd name="adj" fmla="val 13681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43450" y="1597372"/>
            <a:ext cx="0" cy="742652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650" y="1806773"/>
            <a:ext cx="42883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28804" y="1775073"/>
            <a:ext cx="354362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Format Control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28804" y="2009924"/>
            <a:ext cx="33603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Bullets, JSON, tables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600" y="2492425"/>
            <a:ext cx="3962400" cy="742652"/>
          </a:xfrm>
          <a:prstGeom prst="roundRect">
            <a:avLst>
              <a:gd name="adj" fmla="val 13681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28650" y="2492425"/>
            <a:ext cx="0" cy="742652"/>
          </a:xfrm>
          <a:prstGeom prst="line">
            <a:avLst/>
          </a:prstGeom>
          <a:noFill/>
          <a:ln w="38100">
            <a:solidFill>
              <a:srgbClr val="9270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850" y="2701826"/>
            <a:ext cx="42883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14004" y="2670125"/>
            <a:ext cx="336033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Vague vs Specific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14004" y="2904976"/>
            <a:ext cx="33603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Before and after examples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24400" y="2492425"/>
            <a:ext cx="3962400" cy="742652"/>
          </a:xfrm>
          <a:prstGeom prst="roundRect">
            <a:avLst>
              <a:gd name="adj" fmla="val 13681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43450" y="2492425"/>
            <a:ext cx="0" cy="742652"/>
          </a:xfrm>
          <a:prstGeom prst="line">
            <a:avLst/>
          </a:prstGeom>
          <a:noFill/>
          <a:ln w="38100">
            <a:solidFill>
              <a:srgbClr val="DD5F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650" y="2701826"/>
            <a:ext cx="42883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28804" y="2670125"/>
            <a:ext cx="336033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Prompt Debugging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28804" y="2904976"/>
            <a:ext cx="33603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Diagnose and fix bad output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90800" y="3387477"/>
            <a:ext cx="3962400" cy="742652"/>
          </a:xfrm>
          <a:prstGeom prst="roundRect">
            <a:avLst>
              <a:gd name="adj" fmla="val 13681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609850" y="3387477"/>
            <a:ext cx="0" cy="742652"/>
          </a:xfrm>
          <a:prstGeom prst="line">
            <a:avLst/>
          </a:prstGeom>
          <a:noFill/>
          <a:ln w="38100">
            <a:solidFill>
              <a:srgbClr val="4085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2050" y="3596878"/>
            <a:ext cx="42883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95204" y="3565178"/>
            <a:ext cx="354362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Practice Lab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95204" y="3800029"/>
            <a:ext cx="33603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Hands-on rewriting exercises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3704518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Prompts Matter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012627"/>
            <a:ext cx="43306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Prompt Is the Program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1377702"/>
            <a:ext cx="4133798" cy="85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With traditional software, you write code. With LLMs, you write prompts. The quality of your prompt directly determines the quality of the output.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2322165"/>
            <a:ext cx="3936950" cy="990600"/>
          </a:xfrm>
          <a:prstGeom prst="roundRect">
            <a:avLst>
              <a:gd name="adj" fmla="val 7692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8650" y="2322165"/>
            <a:ext cx="0" cy="99060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0100" y="2474565"/>
            <a:ext cx="377375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Small changes = big differences.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A single word change can transform AI output from useless to brilliant.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02101" y="1012627"/>
            <a:ext cx="421346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Real Impact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02101" y="1453902"/>
            <a:ext cx="3632299" cy="628501"/>
          </a:xfrm>
          <a:prstGeom prst="roundRect">
            <a:avLst>
              <a:gd name="adj" fmla="val 12124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921151" y="1453902"/>
            <a:ext cx="0" cy="628501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17902" y="1580852"/>
            <a:ext cx="356267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Vague prompt:</a:t>
            </a:r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"Write about marketing"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17902" y="1803053"/>
            <a:ext cx="35626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Output: Generic, unfocused, 500+ words of filler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02101" y="2209354"/>
            <a:ext cx="3632299" cy="799951"/>
          </a:xfrm>
          <a:prstGeom prst="roundRect">
            <a:avLst>
              <a:gd name="adj" fmla="val 9526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921151" y="2209354"/>
            <a:ext cx="0" cy="799951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17902" y="2336304"/>
            <a:ext cx="3400738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Specific prompt:</a:t>
            </a:r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"Write 3 bullet points for a SaaS startup's LinkedIn ad targeting CTOs"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17902" y="2729954"/>
            <a:ext cx="35626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Output: Focused, actionable, ready to use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AI_for_AI/ppt_workspace/session_2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0"/>
            <a:ext cx="2793950" cy="5143500"/>
          </a:xfrm>
          <a:prstGeom prst="rect">
            <a:avLst/>
          </a:prstGeom>
          <a:solidFill>
            <a:srgbClr val="DD5F5F">
              <a:alpha val="9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53901" y="2003524"/>
            <a:ext cx="297199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Vague =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53901" y="2489299"/>
            <a:ext cx="2834825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Unpredictable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253901" y="3101876"/>
            <a:ext cx="507950" cy="381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251150" y="1189286"/>
            <a:ext cx="589285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These prompts produce unreliable, inconsistent results: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51150" y="1567011"/>
            <a:ext cx="5435650" cy="425351"/>
          </a:xfrm>
          <a:prstGeom prst="roundRect">
            <a:avLst>
              <a:gd name="adj" fmla="val 1791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270200" y="1567011"/>
            <a:ext cx="0" cy="425351"/>
          </a:xfrm>
          <a:prstGeom prst="line">
            <a:avLst/>
          </a:prstGeom>
          <a:noFill/>
          <a:ln w="38100">
            <a:solidFill>
              <a:srgbClr val="DD5F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66951" y="1693962"/>
            <a:ext cx="554636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"Write something about AI"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51150" y="2119313"/>
            <a:ext cx="5435650" cy="425351"/>
          </a:xfrm>
          <a:prstGeom prst="roundRect">
            <a:avLst>
              <a:gd name="adj" fmla="val 1791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3270200" y="2119313"/>
            <a:ext cx="0" cy="425351"/>
          </a:xfrm>
          <a:prstGeom prst="line">
            <a:avLst/>
          </a:prstGeom>
          <a:noFill/>
          <a:ln w="38100">
            <a:solidFill>
              <a:srgbClr val="DD5F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66951" y="2246263"/>
            <a:ext cx="554636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"Help me with my project"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51150" y="2671614"/>
            <a:ext cx="5435650" cy="425351"/>
          </a:xfrm>
          <a:prstGeom prst="roundRect">
            <a:avLst>
              <a:gd name="adj" fmla="val 1791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3270200" y="2671614"/>
            <a:ext cx="0" cy="425351"/>
          </a:xfrm>
          <a:prstGeom prst="line">
            <a:avLst/>
          </a:prstGeom>
          <a:noFill/>
          <a:ln w="38100">
            <a:solidFill>
              <a:srgbClr val="DD5F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66951" y="2798564"/>
            <a:ext cx="554636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"Make it better"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251150" y="3223915"/>
            <a:ext cx="5435650" cy="425351"/>
          </a:xfrm>
          <a:prstGeom prst="roundRect">
            <a:avLst>
              <a:gd name="adj" fmla="val 1791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3270200" y="3223915"/>
            <a:ext cx="0" cy="425351"/>
          </a:xfrm>
          <a:prstGeom prst="line">
            <a:avLst/>
          </a:prstGeom>
          <a:noFill/>
          <a:ln w="38100">
            <a:solidFill>
              <a:srgbClr val="DD5F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66951" y="3350865"/>
            <a:ext cx="554636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"Summarize this"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251150" y="3801666"/>
            <a:ext cx="5892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Each of these could produce 100 different outputs. That is the problem.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2750" y="203150"/>
            <a:ext cx="3738935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CRISP Framework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33301"/>
            <a:ext cx="1473101" cy="1476077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957114"/>
            <a:ext cx="1473101" cy="0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9406" y="1158627"/>
            <a:ext cx="381536" cy="504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46815" y="1676102"/>
            <a:ext cx="79867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6070" y="192687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Background info and domain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09651" y="933301"/>
            <a:ext cx="1473101" cy="1476077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209651" y="957114"/>
            <a:ext cx="1473101" cy="0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9457" y="1158627"/>
            <a:ext cx="381536" cy="504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13643" y="1676102"/>
            <a:ext cx="46511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Role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06122" y="192687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Expert persona and perspective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09702" y="933301"/>
            <a:ext cx="1473101" cy="1476077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809702" y="957114"/>
            <a:ext cx="1473101" cy="0"/>
          </a:xfrm>
          <a:prstGeom prst="line">
            <a:avLst/>
          </a:prstGeom>
          <a:noFill/>
          <a:ln w="47625">
            <a:solidFill>
              <a:srgbClr val="9270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9698" y="1158627"/>
            <a:ext cx="146849" cy="504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960519" y="1676102"/>
            <a:ext cx="117131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Instructions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06173" y="192687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Clear actions and steps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09754" y="933301"/>
            <a:ext cx="1473101" cy="1476077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409754" y="957114"/>
            <a:ext cx="1473101" cy="0"/>
          </a:xfrm>
          <a:prstGeom prst="line">
            <a:avLst/>
          </a:prstGeom>
          <a:noFill/>
          <a:ln w="47625">
            <a:solidFill>
              <a:srgbClr val="DD5F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0721" y="1158627"/>
            <a:ext cx="352321" cy="504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675188" y="1676102"/>
            <a:ext cx="94223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Specifics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06224" y="192687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Constraints and examples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09805" y="933301"/>
            <a:ext cx="1473101" cy="1476077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7009805" y="957114"/>
            <a:ext cx="1473101" cy="0"/>
          </a:xfrm>
          <a:prstGeom prst="line">
            <a:avLst/>
          </a:prstGeom>
          <a:noFill/>
          <a:ln w="47625">
            <a:solidFill>
              <a:srgbClr val="4085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10773" y="1158627"/>
            <a:ext cx="352321" cy="504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126462" y="1676102"/>
            <a:ext cx="123978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06275" y="192687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 format and tone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9600" y="4337149"/>
            <a:ext cx="79248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33412" y="4337149"/>
            <a:ext cx="0" cy="476250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0375" y="4489549"/>
            <a:ext cx="821796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CRISP ensures every prompt gives the AI enough information to produce consistent, high-quality output.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9201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967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03150"/>
            <a:ext cx="5562451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CRISP Deep Dive: Context &amp; Role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9600" y="1003102"/>
            <a:ext cx="3759101" cy="492026"/>
          </a:xfrm>
          <a:prstGeom prst="roundRect">
            <a:avLst>
              <a:gd name="adj" fmla="val 15487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130052"/>
            <a:ext cx="388924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 - Context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1495127"/>
            <a:ext cx="3759101" cy="2559248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2750" y="1672828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Provide the background the AI needs to understand your request: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750" y="2231529"/>
            <a:ext cx="3352800" cy="109799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What is the situation?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Who is the audience?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What domain or industry?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What prior knowledge to assume?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750" y="3368873"/>
            <a:ext cx="3352800" cy="507802"/>
          </a:xfrm>
          <a:prstGeom prst="roundRect">
            <a:avLst>
              <a:gd name="adj" fmla="val 100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4251" y="3470374"/>
            <a:ext cx="3307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Example:</a:t>
            </a:r>
            <a:pPr algn="l" indent="0" marL="0">
              <a:buNone/>
            </a:pPr>
            <a:r>
              <a:rPr lang="en-US" sz="1100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"Our B2B SaaS startup sells project management tools to mid-size tech companies."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73501" y="1003102"/>
            <a:ext cx="3759101" cy="492026"/>
          </a:xfrm>
          <a:prstGeom prst="roundRect">
            <a:avLst>
              <a:gd name="adj" fmla="val 1548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76651" y="1130052"/>
            <a:ext cx="409041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 - Role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73501" y="1495127"/>
            <a:ext cx="3759101" cy="2559248"/>
          </a:xfrm>
          <a:prstGeom prst="rect">
            <a:avLst/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76651" y="1672828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Assign an expert persona to shape the AI's perspective: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6651" y="2231529"/>
            <a:ext cx="3352800" cy="109799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Who should the AI "be"?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What expertise does it have?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What perspective to adopt?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What tone to use?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76651" y="3368873"/>
            <a:ext cx="3352800" cy="507802"/>
          </a:xfrm>
          <a:prstGeom prst="roundRect">
            <a:avLst>
              <a:gd name="adj" fmla="val 100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78152" y="3470374"/>
            <a:ext cx="3307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Example:</a:t>
            </a:r>
            <a:pPr algn="l" indent="0" marL="0">
              <a:buNone/>
            </a:pPr>
            <a:r>
              <a:rPr lang="en-US" sz="1100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"You are a senior product marketing manager with 10 years of B2B experience."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9201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967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03150"/>
            <a:ext cx="7037524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CRISP Deep Dive: Instructions &amp; Specifics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9600" y="1003102"/>
            <a:ext cx="3759101" cy="492026"/>
          </a:xfrm>
          <a:prstGeom prst="roundRect">
            <a:avLst>
              <a:gd name="adj" fmla="val 15487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130052"/>
            <a:ext cx="36880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 - Instructions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1495127"/>
            <a:ext cx="3759101" cy="2330648"/>
          </a:xfrm>
          <a:prstGeom prst="rect">
            <a:avLst/>
          </a:prstGeom>
          <a:solidFill>
            <a:srgbClr val="F5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2750" y="1672828"/>
            <a:ext cx="368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Tell the AI exactly what to do: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750" y="2002929"/>
            <a:ext cx="3352800" cy="109799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 action verbs (analyze, create, compare)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Break complex tasks into steps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Specify what to include or exclude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Define success criteria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750" y="3140273"/>
            <a:ext cx="3352800" cy="507802"/>
          </a:xfrm>
          <a:prstGeom prst="roundRect">
            <a:avLst>
              <a:gd name="adj" fmla="val 100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4251" y="3241774"/>
            <a:ext cx="3307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Example:</a:t>
            </a:r>
            <a:pPr algn="l" indent="0" marL="0">
              <a:buNone/>
            </a:pPr>
            <a:r>
              <a:rPr lang="en-US" sz="1100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"Compare our pricing with Competitor X. Focus on value per dollar."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73501" y="1003102"/>
            <a:ext cx="3759101" cy="492026"/>
          </a:xfrm>
          <a:prstGeom prst="roundRect">
            <a:avLst>
              <a:gd name="adj" fmla="val 15487"/>
            </a:avLst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76651" y="1130052"/>
            <a:ext cx="388924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 - Specifics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73501" y="1495127"/>
            <a:ext cx="3759101" cy="2330648"/>
          </a:xfrm>
          <a:prstGeom prst="rect">
            <a:avLst/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76651" y="1672828"/>
            <a:ext cx="368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Add boundaries and examples: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6651" y="2002929"/>
            <a:ext cx="3352800" cy="109799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Length limits (max 200 words)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Topics to avoid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Concrete examples of desired output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Edge cases to handle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76651" y="3140273"/>
            <a:ext cx="3352800" cy="507802"/>
          </a:xfrm>
          <a:prstGeom prst="roundRect">
            <a:avLst>
              <a:gd name="adj" fmla="val 100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78152" y="3241774"/>
            <a:ext cx="3307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Example:</a:t>
            </a:r>
            <a:pPr algn="l" indent="0" marL="0">
              <a:buNone/>
            </a:pPr>
            <a:r>
              <a:rPr lang="en-US" sz="1100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"Maximum 3 bullet points. Do not mention pricing below $50."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5174754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CRISP Deep Dive: Presentation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84052"/>
            <a:ext cx="41350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 - Presentation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1349127"/>
            <a:ext cx="3947056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Specify how the output should look and feel. This is your quality control lever.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996529"/>
            <a:ext cx="3759101" cy="603052"/>
          </a:xfrm>
          <a:prstGeom prst="roundRect">
            <a:avLst>
              <a:gd name="adj" fmla="val 12636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8650" y="1996529"/>
            <a:ext cx="0" cy="603052"/>
          </a:xfrm>
          <a:prstGeom prst="line">
            <a:avLst/>
          </a:prstGeom>
          <a:noFill/>
          <a:ln w="38100">
            <a:solidFill>
              <a:srgbClr val="4085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5401" y="2123480"/>
            <a:ext cx="390409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 Format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5401" y="2320230"/>
            <a:ext cx="37021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Bullet list, JSON, table, paragraph, markdown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600" y="2701082"/>
            <a:ext cx="3759101" cy="603052"/>
          </a:xfrm>
          <a:prstGeom prst="roundRect">
            <a:avLst>
              <a:gd name="adj" fmla="val 12636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28650" y="2701082"/>
            <a:ext cx="0" cy="603052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401" y="2828032"/>
            <a:ext cx="4106031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Length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5401" y="3024783"/>
            <a:ext cx="37021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Word count, sentence count, or character limit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600" y="3405634"/>
            <a:ext cx="3759101" cy="603052"/>
          </a:xfrm>
          <a:prstGeom prst="roundRect">
            <a:avLst>
              <a:gd name="adj" fmla="val 12636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28650" y="3405634"/>
            <a:ext cx="0" cy="603052"/>
          </a:xfrm>
          <a:prstGeom prst="line">
            <a:avLst/>
          </a:prstGeom>
          <a:noFill/>
          <a:ln w="38100">
            <a:solidFill>
              <a:srgbClr val="9270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401" y="3532584"/>
            <a:ext cx="390409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Tone &amp; Style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401" y="3729335"/>
            <a:ext cx="37021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Professional, casual, technical, persuasive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24251" y="984052"/>
            <a:ext cx="441974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Example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24251" y="1320552"/>
            <a:ext cx="3810149" cy="1268611"/>
          </a:xfrm>
          <a:prstGeom prst="roundRect">
            <a:avLst>
              <a:gd name="adj" fmla="val 6007"/>
            </a:avLst>
          </a:prstGeom>
          <a:solidFill>
            <a:srgbClr val="F0F6FA"/>
          </a:solidFill>
          <a:ln w="9525">
            <a:solidFill>
              <a:srgbClr val="D8E9F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11477" y="1507778"/>
            <a:ext cx="3607482" cy="965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"Present your response as a numbered list. Maximum 5 items. Use professional but approachable tone. Each item should be one sentence. Bold the key phrase in each item."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24251" y="2741563"/>
            <a:ext cx="3810149" cy="996702"/>
          </a:xfrm>
          <a:prstGeom prst="roundRect">
            <a:avLst>
              <a:gd name="adj" fmla="val 7645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43301" y="2741563"/>
            <a:ext cx="0" cy="996702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40052" y="2919264"/>
            <a:ext cx="3963311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40052" y="3141464"/>
            <a:ext cx="35874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more specific your presentation requirements, the less post-processing you need to do on the output.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92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967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4909468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Before/After: Vague vs CRISP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952351"/>
            <a:ext cx="3759101" cy="386104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9600" y="976164"/>
            <a:ext cx="3759101" cy="0"/>
          </a:xfrm>
          <a:prstGeom prst="line">
            <a:avLst/>
          </a:prstGeom>
          <a:noFill/>
          <a:ln w="47625">
            <a:solidFill>
              <a:srgbClr val="DD5F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301" y="1177677"/>
            <a:ext cx="394829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Vague Prompt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7301" y="1488728"/>
            <a:ext cx="3403699" cy="406301"/>
          </a:xfrm>
          <a:prstGeom prst="roundRect">
            <a:avLst>
              <a:gd name="adj" fmla="val 12503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4251" y="1615678"/>
            <a:ext cx="34647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"Write a sales email for our product"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7301" y="1996529"/>
            <a:ext cx="415251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7301" y="2218730"/>
            <a:ext cx="357388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Generic, rambling, no clear value proposition, wrong audience, no call to action. Could apply to any product.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22602" y="952351"/>
            <a:ext cx="3759101" cy="386104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22602" y="976164"/>
            <a:ext cx="3759101" cy="0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302" y="1177677"/>
            <a:ext cx="394829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CRISP Prompt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302" y="1488728"/>
            <a:ext cx="3403699" cy="1231702"/>
          </a:xfrm>
          <a:prstGeom prst="roundRect">
            <a:avLst>
              <a:gd name="adj" fmla="val 4124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27253" y="1615678"/>
            <a:ext cx="3307288" cy="1056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"You are a B2B sales expert. Write a 150-word email to CTOs at mid-size tech companies about our project management tool. Focus on team productivity gains. Include one statistic. Professional tone. End with a meeting request."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302" y="2821930"/>
            <a:ext cx="415251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302" y="3044130"/>
            <a:ext cx="357388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Focused, targeted, with clear value prop, specific audience, measurable claim, and actionable CTA.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2642943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 Control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84052"/>
            <a:ext cx="2438400" cy="3829348"/>
          </a:xfrm>
          <a:prstGeom prst="roundRect">
            <a:avLst>
              <a:gd name="adj" fmla="val 416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1007864"/>
            <a:ext cx="2438400" cy="0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1234827"/>
            <a:ext cx="251980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Bullet Lists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750" y="1574453"/>
            <a:ext cx="2133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Best for summaries, key points, feature lists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750" y="2133154"/>
            <a:ext cx="2032099" cy="558701"/>
          </a:xfrm>
          <a:prstGeom prst="roundRect">
            <a:avLst>
              <a:gd name="adj" fmla="val 90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39701" y="2260104"/>
            <a:ext cx="1867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"List the top 5 benefits as bullet points"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51150" y="984052"/>
            <a:ext cx="2438400" cy="3829348"/>
          </a:xfrm>
          <a:prstGeom prst="roundRect">
            <a:avLst>
              <a:gd name="adj" fmla="val 416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51150" y="1007864"/>
            <a:ext cx="2438400" cy="0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4301" y="1234827"/>
            <a:ext cx="251980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JSON Output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54301" y="1574453"/>
            <a:ext cx="2133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Best for structured data, APIs, automation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54301" y="2133154"/>
            <a:ext cx="2032099" cy="711101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81251" y="2260104"/>
            <a:ext cx="18671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"Return results as JSON with keys: name, score, reason"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92701" y="984052"/>
            <a:ext cx="2438400" cy="3829348"/>
          </a:xfrm>
          <a:prstGeom prst="roundRect">
            <a:avLst>
              <a:gd name="adj" fmla="val 416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892701" y="1007864"/>
            <a:ext cx="2438400" cy="0"/>
          </a:xfrm>
          <a:prstGeom prst="line">
            <a:avLst/>
          </a:prstGeom>
          <a:noFill/>
          <a:ln w="47625">
            <a:solidFill>
              <a:srgbClr val="9270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5851" y="1234827"/>
            <a:ext cx="26417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Tables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5851" y="1574453"/>
            <a:ext cx="2133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Best for comparisons, data, analysis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5851" y="2133154"/>
            <a:ext cx="2032099" cy="711101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22802" y="2260104"/>
            <a:ext cx="18671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"Create a comparison table with columns: Feature, Us, Them"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92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967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3569643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Format Control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952351"/>
            <a:ext cx="456686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Example Prompt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1263402"/>
            <a:ext cx="3936950" cy="1003102"/>
          </a:xfrm>
          <a:prstGeom prst="roundRect">
            <a:avLst>
              <a:gd name="adj" fmla="val 7596"/>
            </a:avLst>
          </a:prstGeom>
          <a:solidFill>
            <a:srgbClr val="FFFFFF"/>
          </a:solidFill>
          <a:ln w="9525">
            <a:solidFill>
              <a:srgbClr val="D8E9F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6826" y="1450628"/>
            <a:ext cx="3740624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"Classify this customer feedback. Return as JSON with: category (string), sentiment (positive/neutral/negative), urgency (1-5), summary (max 20 words)."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418904"/>
            <a:ext cx="433064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Tips for JSON Output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2729954"/>
            <a:ext cx="3936950" cy="109799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Define every key name explicitly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Specify data types (string, number, boolean)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 value constraints (enums, ranges)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Say "Return valid JSON only"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51350" y="952351"/>
            <a:ext cx="405135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Example Response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51350" y="1263402"/>
            <a:ext cx="3683050" cy="1849041"/>
          </a:xfrm>
          <a:prstGeom prst="roundRect">
            <a:avLst>
              <a:gd name="adj" fmla="val 4121"/>
            </a:avLst>
          </a:prstGeom>
          <a:solidFill>
            <a:srgbClr val="0C2A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29051" y="1441103"/>
            <a:ext cx="4059731" cy="241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8CEE5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{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32202" y="1664643"/>
            <a:ext cx="3436947" cy="241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"category": "billing",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32202" y="1888182"/>
            <a:ext cx="3436947" cy="241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"sentiment": "negative",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32202" y="2111722"/>
            <a:ext cx="3624417" cy="241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"urgency": 4,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32202" y="2335262"/>
            <a:ext cx="3280723" cy="48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"summary": "Customer overcharged for 2 months, requesting refund"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051" y="2782342"/>
            <a:ext cx="40597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CEE5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AI_for_AI/ppt_workspace/session_2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304800"/>
            <a:ext cx="76200" cy="355550"/>
          </a:xfrm>
          <a:prstGeom prst="rect">
            <a:avLst/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38200" y="306288"/>
            <a:ext cx="3428628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Debugging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9600" y="863501"/>
            <a:ext cx="85344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When the output is wrong, follow this process: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9600" y="1276201"/>
            <a:ext cx="406301" cy="406301"/>
          </a:xfrm>
          <a:prstGeom prst="roundRect">
            <a:avLst>
              <a:gd name="adj" fmla="val 18755"/>
            </a:avLst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63191" y="1374577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68301" y="1276201"/>
            <a:ext cx="797569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Diagnose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68301" y="1511052"/>
            <a:ext cx="797569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What is wrong? Too long? Off-topic? Wrong format? Missing info?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9600" y="1834902"/>
            <a:ext cx="406301" cy="406301"/>
          </a:xfrm>
          <a:prstGeom prst="roundRect">
            <a:avLst>
              <a:gd name="adj" fmla="val 18755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63191" y="1933277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68301" y="1834902"/>
            <a:ext cx="797569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Fix the Prompt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68301" y="2069753"/>
            <a:ext cx="797569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Add missing CRISP elements. Be more specific about what went wrong.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9600" y="2393603"/>
            <a:ext cx="406301" cy="406301"/>
          </a:xfrm>
          <a:prstGeom prst="roundRect">
            <a:avLst>
              <a:gd name="adj" fmla="val 18755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63191" y="2491978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68301" y="2393603"/>
            <a:ext cx="797569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Iterate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68301" y="2628454"/>
            <a:ext cx="797569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Test, evaluate, refine. Most prompts need 2-3 iterations to get right.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09600" y="4362450"/>
            <a:ext cx="7924800" cy="47625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628650" y="4362450"/>
            <a:ext cx="0" cy="47625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0100" y="4514850"/>
            <a:ext cx="834009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Rule of thumb:</a:t>
            </a:r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If the AI gets it wrong, the prompt is almost always the problem, not the model.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2750" y="203150"/>
            <a:ext cx="5108711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Prompt Anti-Patterns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07852"/>
            <a:ext cx="3759101" cy="990302"/>
          </a:xfrm>
          <a:prstGeom prst="roundRect">
            <a:avLst>
              <a:gd name="adj" fmla="val 102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912614"/>
            <a:ext cx="3759101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63938" y="907852"/>
            <a:ext cx="0" cy="99030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600" y="1893391"/>
            <a:ext cx="3759101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3412" y="907852"/>
            <a:ext cx="0" cy="990302"/>
          </a:xfrm>
          <a:prstGeom prst="line">
            <a:avLst/>
          </a:prstGeom>
          <a:noFill/>
          <a:ln w="47625">
            <a:solidFill>
              <a:srgbClr val="DD5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4926" y="1095077"/>
            <a:ext cx="36812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Kitchen Sink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4926" y="1355378"/>
            <a:ext cx="36812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Stuffing everything into one prompt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4926" y="1558528"/>
            <a:ext cx="36812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Fix:</a:t>
            </a:r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Break into separate, focused prompts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1851" y="907852"/>
            <a:ext cx="3759101" cy="990302"/>
          </a:xfrm>
          <a:prstGeom prst="roundRect">
            <a:avLst>
              <a:gd name="adj" fmla="val 102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1851" y="912614"/>
            <a:ext cx="3759101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6189" y="907852"/>
            <a:ext cx="0" cy="99030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1851" y="1893391"/>
            <a:ext cx="3759101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5664" y="907852"/>
            <a:ext cx="0" cy="990302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7177" y="1095077"/>
            <a:ext cx="36812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Mind Reader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97177" y="1355378"/>
            <a:ext cx="36812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Assuming the AI knows your context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97177" y="1558528"/>
            <a:ext cx="36812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Fix:</a:t>
            </a:r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Add Context (C in CRISP) explicitly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9600" y="2050554"/>
            <a:ext cx="3759101" cy="990302"/>
          </a:xfrm>
          <a:prstGeom prst="roundRect">
            <a:avLst>
              <a:gd name="adj" fmla="val 102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09600" y="2055316"/>
            <a:ext cx="3759101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63938" y="2050554"/>
            <a:ext cx="0" cy="99030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600" y="3036094"/>
            <a:ext cx="3759101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412" y="2050554"/>
            <a:ext cx="0" cy="990302"/>
          </a:xfrm>
          <a:prstGeom prst="line">
            <a:avLst/>
          </a:prstGeom>
          <a:noFill/>
          <a:ln w="47625">
            <a:solidFill>
              <a:srgbClr val="9270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926" y="2237780"/>
            <a:ext cx="388199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Open End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4926" y="2498080"/>
            <a:ext cx="36812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format, length, or boundary specified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4926" y="2701230"/>
            <a:ext cx="36812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Fix:</a:t>
            </a:r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Add Presentation (P in CRISP) details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1851" y="2050554"/>
            <a:ext cx="3759101" cy="990302"/>
          </a:xfrm>
          <a:prstGeom prst="roundRect">
            <a:avLst>
              <a:gd name="adj" fmla="val 102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571851" y="2055316"/>
            <a:ext cx="3759101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6189" y="2050554"/>
            <a:ext cx="0" cy="99030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1851" y="3036094"/>
            <a:ext cx="3759101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95664" y="2050554"/>
            <a:ext cx="0" cy="990302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7177" y="2237780"/>
            <a:ext cx="36812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Negativity Trap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97177" y="2498080"/>
            <a:ext cx="36812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Only saying what NOT to do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97177" y="2701230"/>
            <a:ext cx="36812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Fix:</a:t>
            </a:r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Tell the AI what TO do, be positive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4405126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Iterative Prompt Cycle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16496" y="1684437"/>
            <a:ext cx="1396901" cy="971401"/>
          </a:xfrm>
          <a:prstGeom prst="roundRect">
            <a:avLst>
              <a:gd name="adj" fmla="val 10459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94383" y="1887587"/>
            <a:ext cx="57346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Write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4871" y="2147888"/>
            <a:ext cx="12001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Draft your prompt using CRISP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52998" y="2036713"/>
            <a:ext cx="2971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21198" y="1684437"/>
            <a:ext cx="1396901" cy="971401"/>
          </a:xfrm>
          <a:prstGeom prst="roundRect">
            <a:avLst>
              <a:gd name="adj" fmla="val 10459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43436" y="1887587"/>
            <a:ext cx="45795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9574" y="2147888"/>
            <a:ext cx="12001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Run it with real inputs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57700" y="2036713"/>
            <a:ext cx="2971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25901" y="1684437"/>
            <a:ext cx="1396901" cy="971401"/>
          </a:xfrm>
          <a:prstGeom prst="roundRect">
            <a:avLst>
              <a:gd name="adj" fmla="val 1045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58829" y="1887587"/>
            <a:ext cx="95035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Evaluate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24276" y="2147888"/>
            <a:ext cx="12001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Check against criteria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62402" y="2036713"/>
            <a:ext cx="2971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30603" y="1684437"/>
            <a:ext cx="1396901" cy="971401"/>
          </a:xfrm>
          <a:prstGeom prst="roundRect">
            <a:avLst>
              <a:gd name="adj" fmla="val 10459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157442" y="1887587"/>
            <a:ext cx="70618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Refine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28979" y="2147888"/>
            <a:ext cx="12001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Improve weak areas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41005" y="2808238"/>
            <a:ext cx="3061990" cy="333375"/>
          </a:xfrm>
          <a:prstGeom prst="roundRect">
            <a:avLst>
              <a:gd name="adj" fmla="val 76191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294906" y="2884438"/>
            <a:ext cx="3013942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↻ Test Again (repeat until satisfied)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600" y="3344763"/>
            <a:ext cx="2472333" cy="819150"/>
          </a:xfrm>
          <a:prstGeom prst="roundRect">
            <a:avLst>
              <a:gd name="adj" fmla="val 9302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28650" y="3344763"/>
            <a:ext cx="0" cy="819150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0100" y="3497163"/>
            <a:ext cx="2235904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Iteration 1:</a:t>
            </a:r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"Write a sales email" - Too vague, generic output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5834" y="3344763"/>
            <a:ext cx="2472333" cy="819150"/>
          </a:xfrm>
          <a:prstGeom prst="roundRect">
            <a:avLst>
              <a:gd name="adj" fmla="val 9302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354884" y="3344763"/>
            <a:ext cx="0" cy="81915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6334" y="3497163"/>
            <a:ext cx="223590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Iteration 2:</a:t>
            </a:r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Add context and role - Better but too long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62067" y="3344763"/>
            <a:ext cx="2472333" cy="819150"/>
          </a:xfrm>
          <a:prstGeom prst="roundRect">
            <a:avLst>
              <a:gd name="adj" fmla="val 9302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081117" y="3344763"/>
            <a:ext cx="0" cy="819150"/>
          </a:xfrm>
          <a:prstGeom prst="line">
            <a:avLst/>
          </a:prstGeom>
          <a:noFill/>
          <a:ln w="38100">
            <a:solidFill>
              <a:srgbClr val="9270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2567" y="3497163"/>
            <a:ext cx="223590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Iteration 3:</a:t>
            </a:r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Add format + length - Just right!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9201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967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545324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Practice: Rewrite These Prompts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12352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4885" y="1327249"/>
            <a:ext cx="11706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7550" y="1200448"/>
            <a:ext cx="7416850" cy="425351"/>
          </a:xfrm>
          <a:prstGeom prst="roundRect">
            <a:avLst>
              <a:gd name="adj" fmla="val 17915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95251" y="1327398"/>
            <a:ext cx="776759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"Write a blog post about AI"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181302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4885" y="1905000"/>
            <a:ext cx="11706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7550" y="1778198"/>
            <a:ext cx="7416850" cy="425351"/>
          </a:xfrm>
          <a:prstGeom prst="roundRect">
            <a:avLst>
              <a:gd name="adj" fmla="val 17915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95251" y="1905149"/>
            <a:ext cx="776759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"Help me with my presentation"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23907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4885" y="2482751"/>
            <a:ext cx="11706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7550" y="2355949"/>
            <a:ext cx="7416850" cy="425351"/>
          </a:xfrm>
          <a:prstGeom prst="roundRect">
            <a:avLst>
              <a:gd name="adj" fmla="val 17915"/>
            </a:avLst>
          </a:prstGeom>
          <a:solidFill>
            <a:srgbClr val="F5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95251" y="2482900"/>
            <a:ext cx="776759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"Make this text better"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600" y="2968526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4885" y="3060502"/>
            <a:ext cx="11706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7550" y="2933700"/>
            <a:ext cx="7416850" cy="425351"/>
          </a:xfrm>
          <a:prstGeom prst="roundRect">
            <a:avLst>
              <a:gd name="adj" fmla="val 17915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95251" y="3060650"/>
            <a:ext cx="776759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"Summarize the document"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600" y="354627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44885" y="3638252"/>
            <a:ext cx="11706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17550" y="3511451"/>
            <a:ext cx="7416850" cy="425351"/>
          </a:xfrm>
          <a:prstGeom prst="roundRect">
            <a:avLst>
              <a:gd name="adj" fmla="val 17915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295251" y="3638401"/>
            <a:ext cx="776759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"Give me some ideas for marketing"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9600" y="4139952"/>
            <a:ext cx="7924800" cy="425351"/>
          </a:xfrm>
          <a:prstGeom prst="roundRect">
            <a:avLst>
              <a:gd name="adj" fmla="val 17915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28650" y="4139952"/>
            <a:ext cx="0" cy="425351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5401" y="4266902"/>
            <a:ext cx="828442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Your task: Rewrite each prompt using the CRISP framework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3298217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 Implementation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58751"/>
            <a:ext cx="4330645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CRISP Maps to n8n AI Agent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600" y="1279327"/>
            <a:ext cx="41337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Each CRISP element maps directly to a configuration field in the n8n AI Agent node: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1888927"/>
            <a:ext cx="253901" cy="253901"/>
          </a:xfrm>
          <a:prstGeom prst="roundRect">
            <a:avLst>
              <a:gd name="adj" fmla="val 20008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90451" y="1930152"/>
            <a:ext cx="307804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Context + Role</a:t>
            </a:r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= System Prompt field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244328"/>
            <a:ext cx="253901" cy="253901"/>
          </a:xfrm>
          <a:prstGeom prst="roundRect">
            <a:avLst>
              <a:gd name="adj" fmla="val 20008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90451" y="2285554"/>
            <a:ext cx="284306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Instructions</a:t>
            </a:r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= System Prompt field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2599730"/>
            <a:ext cx="253901" cy="253901"/>
          </a:xfrm>
          <a:prstGeom prst="roundRect">
            <a:avLst>
              <a:gd name="adj" fmla="val 20008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90451" y="2640955"/>
            <a:ext cx="355835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Specifics</a:t>
            </a:r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= System Prompt + user message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" y="2955131"/>
            <a:ext cx="253901" cy="253901"/>
          </a:xfrm>
          <a:prstGeom prst="roundRect">
            <a:avLst>
              <a:gd name="adj" fmla="val 20008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90451" y="2996357"/>
            <a:ext cx="290330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Presentation</a:t>
            </a:r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= System Prompt field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51350" y="958751"/>
            <a:ext cx="4272338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Practical Tips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51350" y="1279327"/>
            <a:ext cx="3683050" cy="203523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Write the full CRISP prompt in the system prompt field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 the user message for variable input only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Test with different inputs after setting up the system prompt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Save successful prompts as templates for reuse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 n8n's expression syntax for dynamic values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51350" y="4254698"/>
            <a:ext cx="3683050" cy="558701"/>
          </a:xfrm>
          <a:prstGeom prst="roundRect">
            <a:avLst>
              <a:gd name="adj" fmla="val 13639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870400" y="4254698"/>
            <a:ext cx="0" cy="558701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67151" y="4381649"/>
            <a:ext cx="34540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 tip:</a:t>
            </a:r>
            <a:pPr algn="l" indent="0" marL="0">
              <a:buNone/>
            </a:pPr>
            <a:r>
              <a:rPr lang="en-US" sz="1100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Keep a "prompt library" document to reuse and iterate on your best prompts.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92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967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3647033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 Control in n8n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977801"/>
            <a:ext cx="4566862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 Parsers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600" y="1298377"/>
            <a:ext cx="433064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n8n provides built-in tools to structure AI output: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653927"/>
            <a:ext cx="3936950" cy="87224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Structured Output Parser</a:t>
            </a:r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- Forces JSON schema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Auto-fixing Parser</a:t>
            </a:r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- Repairs broken JSON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Comma-separated List</a:t>
            </a:r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- Simple array output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629198"/>
            <a:ext cx="39369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8E9F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1525" y="2791123"/>
            <a:ext cx="37937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These parsers sit between the AI Agent and your next node, ensuring clean data flow.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51350" y="977801"/>
            <a:ext cx="4051355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Post-Processing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51350" y="1298377"/>
            <a:ext cx="405135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When format control in the prompt is not enough: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51350" y="1653927"/>
            <a:ext cx="3683050" cy="145373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JSON Parse node</a:t>
            </a:r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- Extract specific fields from AI output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Code node</a:t>
            </a:r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- Custom JavaScript to clean output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Switch node</a:t>
            </a:r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- Route based on output content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 node</a:t>
            </a:r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- Restructure data for downstream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51350" y="4254698"/>
            <a:ext cx="3683050" cy="558701"/>
          </a:xfrm>
          <a:prstGeom prst="roundRect">
            <a:avLst>
              <a:gd name="adj" fmla="val 13639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870400" y="4254698"/>
            <a:ext cx="0" cy="558701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6401" y="4381649"/>
            <a:ext cx="35606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Best practice:</a:t>
            </a:r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Always add a JSON Parse node after your AI Agent to validate the output.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AI_for_AI/ppt_workspace/session_2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875187" y="1754237"/>
            <a:ext cx="164447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Today's Metrics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340769" y="2246263"/>
            <a:ext cx="467862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820614" y="3001863"/>
            <a:ext cx="171056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CRISP Elements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42975" y="3236714"/>
            <a:ext cx="34482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Context, Role, Instructions, Specifics, Presentation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94548" y="2246263"/>
            <a:ext cx="467862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4788098" y="3001863"/>
            <a:ext cx="142857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Format Types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85692" y="3236714"/>
            <a:ext cx="18371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Bullet lists, JSON, Tables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256115" y="2246263"/>
            <a:ext cx="467862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6650534" y="3001863"/>
            <a:ext cx="18294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Debug Framework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762155" y="3236714"/>
            <a:ext cx="15658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Diagnose, Fix, Iterate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8251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03150"/>
            <a:ext cx="2922718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600" y="2033736"/>
            <a:ext cx="1902619" cy="323850"/>
          </a:xfrm>
          <a:prstGeom prst="roundRect">
            <a:avLst>
              <a:gd name="adj" fmla="val 78431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2109936"/>
            <a:ext cx="176565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CRISP Every Prompt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89920" y="2095649"/>
            <a:ext cx="573201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Always include Context, Role, Instructions, Specifics, and Presentation.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535287"/>
            <a:ext cx="1761083" cy="323850"/>
          </a:xfrm>
          <a:prstGeom prst="roundRect">
            <a:avLst>
              <a:gd name="adj" fmla="val 78431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2750" y="2611487"/>
            <a:ext cx="159864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Specify the Output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48384" y="2597200"/>
            <a:ext cx="6156022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Never leave format to chance. Always specify how the response should look.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9600" y="3036838"/>
            <a:ext cx="1795611" cy="323850"/>
          </a:xfrm>
          <a:prstGeom prst="roundRect">
            <a:avLst>
              <a:gd name="adj" fmla="val 78431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2750" y="3113038"/>
            <a:ext cx="163938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Iterate Relentlessly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82912" y="3098750"/>
            <a:ext cx="554341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Great prompts are never perfect on the first try. Test, evaluate, refine.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9600" y="3538389"/>
            <a:ext cx="1727150" cy="323850"/>
          </a:xfrm>
          <a:prstGeom prst="roundRect">
            <a:avLst>
              <a:gd name="adj" fmla="val 78431"/>
            </a:avLst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2750" y="3614589"/>
            <a:ext cx="155860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Debug the Prompt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451" y="3600301"/>
            <a:ext cx="565146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Bad output means a bad prompt, not a bad model. Fix the prompt first.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AI_for_AI/ppt_workspace/session_2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662958" y="879723"/>
            <a:ext cx="21453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Session 2 Complete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74320" y="1219349"/>
            <a:ext cx="8595360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191000" y="1895624"/>
            <a:ext cx="7620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006626" y="2187625"/>
            <a:ext cx="3130600" cy="1174552"/>
          </a:xfrm>
          <a:prstGeom prst="roundRect">
            <a:avLst>
              <a:gd name="adj" fmla="val 865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215546" y="2400300"/>
            <a:ext cx="271275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Next: Session 3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192557" y="2660600"/>
            <a:ext cx="275873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Advanced Prompting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215546" y="2978051"/>
            <a:ext cx="271275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Teaching AI to Think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9600" y="3616077"/>
            <a:ext cx="7924800" cy="647700"/>
          </a:xfrm>
          <a:prstGeom prst="roundRect">
            <a:avLst>
              <a:gd name="adj" fmla="val 11765"/>
            </a:avLst>
          </a:prstGeom>
          <a:solidFill>
            <a:srgbClr val="FF6B2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628650" y="3616077"/>
            <a:ext cx="0" cy="64770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2500" y="3768477"/>
            <a:ext cx="7640955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Assignment: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Rewrite 3 of your own work prompts using the CRISP framework. Compare the before and after results.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2026-05-11T10:51:32Z</dcterms:created>
  <dcterms:modified xsi:type="dcterms:W3CDTF">2026-05-11T10:51:32Z</dcterms:modified>
</cp:coreProperties>
</file>