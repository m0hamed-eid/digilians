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1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286000"/>
            <a:ext cx="1015901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1879699"/>
            <a:ext cx="85344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1: AI Fundamentals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09600" y="2476500"/>
            <a:ext cx="85344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n8n from Scratch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9600" y="3003500"/>
            <a:ext cx="85344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From Zero to Your First AI Chatbot in 90 Minutes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9600" y="450859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12602" y="4483150"/>
            <a:ext cx="28718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Training Curriculum  |  Beginner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3901"/>
            <a:ext cx="50750" cy="3555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55389"/>
            <a:ext cx="3023515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2160538"/>
            <a:ext cx="1320701" cy="1406426"/>
          </a:xfrm>
          <a:prstGeom prst="roundRect">
            <a:avLst>
              <a:gd name="adj" fmla="val 769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28650" y="2160538"/>
            <a:ext cx="0" cy="1406426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5558" y="2389138"/>
            <a:ext cx="506885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8008" y="2811363"/>
            <a:ext cx="102183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Is AI?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8933" y="3033564"/>
            <a:ext cx="1080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Definitions and history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82701" y="2074813"/>
            <a:ext cx="1320701" cy="1577876"/>
          </a:xfrm>
          <a:prstGeom prst="roundRect">
            <a:avLst>
              <a:gd name="adj" fmla="val 769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101751" y="2074813"/>
            <a:ext cx="0" cy="1577876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8659" y="2303413"/>
            <a:ext cx="506885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222034" y="2725638"/>
            <a:ext cx="108013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How LLMs 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22034" y="3119289"/>
            <a:ext cx="1080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Tokens, temperature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55802" y="2160538"/>
            <a:ext cx="1320701" cy="1406426"/>
          </a:xfrm>
          <a:prstGeom prst="roundRect">
            <a:avLst>
              <a:gd name="adj" fmla="val 769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574852" y="2160538"/>
            <a:ext cx="0" cy="1406426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1760" y="2389138"/>
            <a:ext cx="506885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657588" y="2811363"/>
            <a:ext cx="115507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n8n Platform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95134" y="3033564"/>
            <a:ext cx="1080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Visual automation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8902" y="2160538"/>
            <a:ext cx="1320701" cy="1406426"/>
          </a:xfrm>
          <a:prstGeom prst="roundRect">
            <a:avLst>
              <a:gd name="adj" fmla="val 769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47952" y="2160538"/>
            <a:ext cx="0" cy="1406426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4860" y="2389138"/>
            <a:ext cx="506885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088963" y="2811363"/>
            <a:ext cx="123867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 Chatbot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8235" y="3033564"/>
            <a:ext cx="1080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Hands-on with n8n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02003" y="2074813"/>
            <a:ext cx="1320701" cy="1577876"/>
          </a:xfrm>
          <a:prstGeom prst="roundRect">
            <a:avLst>
              <a:gd name="adj" fmla="val 769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21053" y="2074813"/>
            <a:ext cx="0" cy="1577876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7961" y="2303413"/>
            <a:ext cx="506885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641336" y="2725638"/>
            <a:ext cx="108013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41336" y="3119289"/>
            <a:ext cx="1080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Review and next steps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600" y="476264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2159041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AI?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012627"/>
            <a:ext cx="3759101" cy="1717477"/>
          </a:xfrm>
          <a:prstGeom prst="roundRect">
            <a:avLst>
              <a:gd name="adj" fmla="val 591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3412" y="1012627"/>
            <a:ext cx="0" cy="1717477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0375" y="1215777"/>
            <a:ext cx="383400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0375" y="1526828"/>
            <a:ext cx="3470434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Artificial Intelligence is software that can perform tasks typically requiring human intelligence: understanding language, recognizing patterns, making decisions, and generating content.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75002" y="1012627"/>
            <a:ext cx="413533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Why Now Matters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75002" y="1349127"/>
            <a:ext cx="3759398" cy="223889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Traditional software follows rules; AI learns patterns from data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2023 breakthrough: LLMs reached consumer-grade quality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is now accessible to everyone, not just researchers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No-code tools like n8n make building AI apps possible for non-programmers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4743450"/>
            <a:ext cx="762000" cy="3810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73101" y="4686300"/>
            <a:ext cx="17215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Fundamentals &amp; n8n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8251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26963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098186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LLMs Work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031677"/>
            <a:ext cx="41350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Short Version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4222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8457" y="1523702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651" y="1499890"/>
            <a:ext cx="282901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Train on billions of text examples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18792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8457" y="1980754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6651" y="1956941"/>
            <a:ext cx="232815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Learn patterns of language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" y="233630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8457" y="2437805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6651" y="2413992"/>
            <a:ext cx="188384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Predict the next token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600" y="279335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8457" y="2894856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6651" y="2871043"/>
            <a:ext cx="25768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Generate coherent responses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73501" y="1031677"/>
            <a:ext cx="44704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73501" y="1396752"/>
            <a:ext cx="3860899" cy="834926"/>
          </a:xfrm>
          <a:prstGeom prst="roundRect">
            <a:avLst>
              <a:gd name="adj" fmla="val 91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92551" y="1396752"/>
            <a:ext cx="0" cy="834926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001" y="1549152"/>
            <a:ext cx="427999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Tokens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001" y="1774478"/>
            <a:ext cx="36938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Text is broken into pieces (~4 chars each). 1,000 tokens is roughly 750 words.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73501" y="2358628"/>
            <a:ext cx="3860899" cy="834926"/>
          </a:xfrm>
          <a:prstGeom prst="roundRect">
            <a:avLst>
              <a:gd name="adj" fmla="val 91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92551" y="2358628"/>
            <a:ext cx="0" cy="834926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001" y="2511028"/>
            <a:ext cx="408087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Context Window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001" y="2736354"/>
            <a:ext cx="36938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Maximum tokens the model can process at once. GPT-4: 128K tokens, Claude: 200K tokens.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73501" y="3320504"/>
            <a:ext cx="3860899" cy="834926"/>
          </a:xfrm>
          <a:prstGeom prst="roundRect">
            <a:avLst>
              <a:gd name="adj" fmla="val 91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92551" y="3320504"/>
            <a:ext cx="0" cy="834926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001" y="3472904"/>
            <a:ext cx="408087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64001" y="3698230"/>
            <a:ext cx="36938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Controls randomness. Low (0) = deterministic, High (1) = creative.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6933716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Taste Test: GPT vs Claude vs Gemini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84052"/>
            <a:ext cx="2438400" cy="3702248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007864"/>
            <a:ext cx="2438400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936" y="1234827"/>
            <a:ext cx="264172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GPT-4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36" y="1603028"/>
            <a:ext cx="26417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OpenAI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2750" y="1856929"/>
            <a:ext cx="2032099" cy="137249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Most widely used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Excellent at coding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Strong reasoning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128K context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ecosystem support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51150" y="984052"/>
            <a:ext cx="2438400" cy="3702248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51150" y="1007864"/>
            <a:ext cx="2438400" cy="0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49486" y="1234827"/>
            <a:ext cx="264172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Claude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49486" y="1603028"/>
            <a:ext cx="26417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4301" y="1856929"/>
            <a:ext cx="2032099" cy="137249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at long documents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Nuanced writing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Safety-focused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200K context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Constitutional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2701" y="984052"/>
            <a:ext cx="2438400" cy="3702248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92701" y="1007864"/>
            <a:ext cx="2438400" cy="0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91036" y="1234827"/>
            <a:ext cx="264172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Gemini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91036" y="1603028"/>
            <a:ext cx="26417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Google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5851" y="1856929"/>
            <a:ext cx="2032099" cy="137249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Multimodal native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Google integration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Fast responses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1M context (Ultra)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Search-grounded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743450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19051" y="4686300"/>
            <a:ext cx="41685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Tip: Choose your model based on the task, not just popularity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6963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03150"/>
            <a:ext cx="3429372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LLM Concepts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012627"/>
            <a:ext cx="1777901" cy="1831628"/>
          </a:xfrm>
          <a:prstGeom prst="roundRect">
            <a:avLst>
              <a:gd name="adj" fmla="val 57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c2a4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0261" y="1266527"/>
            <a:ext cx="2036728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Tokens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44501" y="1841153"/>
            <a:ext cx="507950" cy="38100"/>
          </a:xfrm>
          <a:prstGeom prst="roundRect">
            <a:avLst>
              <a:gd name="adj" fmla="val 66667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1738" y="1980754"/>
            <a:ext cx="149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Text units the model processes. ~4 characters per token on average.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90651" y="1012627"/>
            <a:ext cx="1777901" cy="1831628"/>
          </a:xfrm>
          <a:prstGeom prst="roundRect">
            <a:avLst>
              <a:gd name="adj" fmla="val 57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c2a4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09007" y="1266527"/>
            <a:ext cx="1541041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Temp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25552" y="1841153"/>
            <a:ext cx="507950" cy="38100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32789" y="1980754"/>
            <a:ext cx="149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Randomness dial. 0 = same answer every time, 1 = creative variety.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1702" y="1012627"/>
            <a:ext cx="1777901" cy="1831628"/>
          </a:xfrm>
          <a:prstGeom prst="roundRect">
            <a:avLst>
              <a:gd name="adj" fmla="val 57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c2a4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38377" y="1266527"/>
            <a:ext cx="1644551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System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206603" y="1726853"/>
            <a:ext cx="507950" cy="38100"/>
          </a:xfrm>
          <a:prstGeom prst="roundRect">
            <a:avLst>
              <a:gd name="adj" fmla="val 66667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13841" y="1866454"/>
            <a:ext cx="149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Hidden instructions that shape how the model behaves and responds.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52754" y="1012627"/>
            <a:ext cx="1777901" cy="1831628"/>
          </a:xfrm>
          <a:prstGeom prst="roundRect">
            <a:avLst>
              <a:gd name="adj" fmla="val 57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c2a4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33524" y="1266527"/>
            <a:ext cx="2016359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Hallucinate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87654" y="1669703"/>
            <a:ext cx="507950" cy="38100"/>
          </a:xfrm>
          <a:prstGeom prst="roundRect">
            <a:avLst>
              <a:gd name="adj" fmla="val 66667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94892" y="1809304"/>
            <a:ext cx="149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When AI generates confident but incorrect information. Always verify!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1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2539901" cy="5143500"/>
          </a:xfrm>
          <a:prstGeom prst="rect">
            <a:avLst/>
          </a:prstGeom>
          <a:solidFill>
            <a:srgbClr val="FF6B2B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4800" y="1990874"/>
            <a:ext cx="2509391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04800" y="2501950"/>
            <a:ext cx="2509391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04800" y="3114526"/>
            <a:ext cx="50795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047851" y="1671786"/>
            <a:ext cx="60961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invisible instruction layer that shapes AI behavior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047851" y="2033736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FF6B2B">
              <a:alpha val="30000"/>
            </a:srgbClr>
          </a:solidFill>
          <a:ln w="9525">
            <a:solidFill>
              <a:srgbClr val="FF6B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161407" y="2109936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9602" y="2033736"/>
            <a:ext cx="566439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Role Definition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79602" y="2259062"/>
            <a:ext cx="5664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"You are a helpful customer support agent for a SaaS company."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47851" y="2563862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FF6B2B">
              <a:alpha val="30000"/>
            </a:srgbClr>
          </a:solidFill>
          <a:ln w="9525">
            <a:solidFill>
              <a:srgbClr val="FF6B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161407" y="2640062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9602" y="2563862"/>
            <a:ext cx="566439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79602" y="2789188"/>
            <a:ext cx="5664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"Never share pricing from competitors. Only use approved data."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47851" y="3093988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FF6B2B">
              <a:alpha val="30000"/>
            </a:srgbClr>
          </a:solidFill>
          <a:ln w="9525">
            <a:solidFill>
              <a:srgbClr val="FF6B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61407" y="3170188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79602" y="3093988"/>
            <a:ext cx="566439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Format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79602" y="3319314"/>
            <a:ext cx="5664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"Respond in bullet points. Keep answers under 100 words."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8251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03150"/>
            <a:ext cx="1809768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n8n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1678335"/>
            <a:ext cx="4000500" cy="9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n8n is a </a:t>
            </a:r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visual workflow automation platform</a:t>
            </a:r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that lets you connect AI models to real applications without writing code.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2684413"/>
            <a:ext cx="4000500" cy="9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Drag and drop nodes onto a canvas, connect them, and deploy AI-powered workflows in minutes.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690491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3690491"/>
            <a:ext cx="0" cy="47625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3842891"/>
            <a:ext cx="381381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Pronounced "n-eight-n" = nodemation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5150" y="1584275"/>
            <a:ext cx="436073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75150" y="19748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35885" y="2084338"/>
            <a:ext cx="1762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59301" y="2027188"/>
            <a:ext cx="368311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Visual Builder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59301" y="2227213"/>
            <a:ext cx="34926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Drag-and-drop canvas, no coding required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5150" y="25844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24723" y="2693938"/>
            <a:ext cx="2054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59301" y="2636788"/>
            <a:ext cx="368311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59301" y="2836813"/>
            <a:ext cx="34926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Self-host or use the cloud version free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5150" y="3194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47196" y="3303538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59301" y="3246388"/>
            <a:ext cx="349260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400+ Integrations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59301" y="3446413"/>
            <a:ext cx="34926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Connect to Slack, Google, databases, and more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5150" y="38036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02101" y="3913138"/>
            <a:ext cx="2642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59301" y="3855988"/>
            <a:ext cx="349260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Built-in AI Nodes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59301" y="4056013"/>
            <a:ext cx="34926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Native support for LLMs, agents, and tools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6963"/>
            <a:ext cx="50750" cy="304800"/>
          </a:xfrm>
          <a:prstGeom prst="rect">
            <a:avLst/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03150"/>
            <a:ext cx="3013397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961876"/>
            <a:ext cx="3759101" cy="1689646"/>
          </a:xfrm>
          <a:prstGeom prst="roundRect">
            <a:avLst>
              <a:gd name="adj" fmla="val 60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985689"/>
            <a:ext cx="3759101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1212652"/>
            <a:ext cx="40904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Triggers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750" y="1555552"/>
            <a:ext cx="36880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Events that start your workflow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50" y="1777752"/>
            <a:ext cx="3352800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Chat message received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Webhook called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Scheduled (cron)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1851" y="961876"/>
            <a:ext cx="3759101" cy="1689646"/>
          </a:xfrm>
          <a:prstGeom prst="roundRect">
            <a:avLst>
              <a:gd name="adj" fmla="val 60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1851" y="985689"/>
            <a:ext cx="3759101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5002" y="1212652"/>
            <a:ext cx="40904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Nodes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75002" y="1555552"/>
            <a:ext cx="36880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Individual processing steps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5002" y="1777752"/>
            <a:ext cx="3352800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Agent / LLM Chain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HTTP Request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Code / Function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" y="2854672"/>
            <a:ext cx="3759101" cy="1689646"/>
          </a:xfrm>
          <a:prstGeom prst="roundRect">
            <a:avLst>
              <a:gd name="adj" fmla="val 60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9600" y="2878485"/>
            <a:ext cx="3759101" cy="0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750" y="3105448"/>
            <a:ext cx="40233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Connections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2750" y="3448348"/>
            <a:ext cx="36880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flows between nodes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750" y="3670548"/>
            <a:ext cx="3352800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of one becomes input of next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Conditional branching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Parallel execution paths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1851" y="2854672"/>
            <a:ext cx="3759101" cy="1689646"/>
          </a:xfrm>
          <a:prstGeom prst="roundRect">
            <a:avLst>
              <a:gd name="adj" fmla="val 60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71851" y="2878485"/>
            <a:ext cx="3759101" cy="0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5002" y="3105448"/>
            <a:ext cx="40904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Execution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75002" y="3448348"/>
            <a:ext cx="36880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Running and monitoring workflows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5002" y="3670548"/>
            <a:ext cx="3352800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View run history and logs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Debug step by step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Activate / deactivate workflows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477236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Your First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7037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3191" y="1168747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0100" y="1476673"/>
            <a:ext cx="25301" cy="2539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19051" y="1070372"/>
            <a:ext cx="79249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Create Your n8n Account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051" y="1305223"/>
            <a:ext cx="7924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Sign up at n8n.cloud (free tier available) or self-host with Docker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82973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3191" y="1981349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0100" y="2289274"/>
            <a:ext cx="25301" cy="2539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19051" y="1882973"/>
            <a:ext cx="79249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 a Chat Trigger Node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19051" y="2117824"/>
            <a:ext cx="7924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This creates a chat interface and starts your workflow when a message arrives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" y="269557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3191" y="2793950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0100" y="3101876"/>
            <a:ext cx="25301" cy="2539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19051" y="2695575"/>
            <a:ext cx="79249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 an AI Agent Node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19051" y="2930426"/>
            <a:ext cx="7924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Connect to an LLM (OpenAI, Anthropic, etc.) and configure the agent type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3508177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3191" y="3606552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0100" y="3914477"/>
            <a:ext cx="25301" cy="2539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19051" y="3508177"/>
            <a:ext cx="79249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Configure Your System Prompt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19051" y="3743027"/>
            <a:ext cx="7924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Define the AI's role, personality, and constraints in the system prompt field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432077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3191" y="4419154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19051" y="4320778"/>
            <a:ext cx="792494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Test Your Chatbot!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19051" y="4555629"/>
            <a:ext cx="7924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the built-in chat panel to test conversations in real-time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8251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26963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4085518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Chat Trigger Node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082576"/>
            <a:ext cx="45861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Purpose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473101"/>
            <a:ext cx="3759101" cy="1462385"/>
          </a:xfrm>
          <a:prstGeom prst="roundRect">
            <a:avLst>
              <a:gd name="adj" fmla="val 6948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1676251"/>
            <a:ext cx="3520440" cy="1140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Chat Trigger creates a </a:t>
            </a:r>
            <a:pPr algn="l" indent="0" marL="0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real-time chat interface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for your workflow. When a user sends a message, it activates the connected AI node.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3087886"/>
            <a:ext cx="43605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3427512"/>
            <a:ext cx="3759101" cy="94465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Select "Chat Trigger" from the node menu</a:t>
            </a:r>
            <a:endParaRPr lang="en-US" sz="1300" dirty="0"/>
          </a:p>
          <a:p>
            <a:pPr algn="l" marL="114300" indent="-1143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Choose initial greeting message</a:t>
            </a:r>
            <a:endParaRPr lang="en-US" sz="1300" dirty="0"/>
          </a:p>
          <a:p>
            <a:pPr algn="l" marL="114300" indent="-114300">
              <a:lnSpc>
                <a:spcPts val="2340"/>
              </a:lnSpc>
              <a:buSzPct val="100000"/>
              <a:buChar char="•"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 response mode (streaming or batch)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4251" y="1082576"/>
            <a:ext cx="441974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Message 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24251" y="1473101"/>
            <a:ext cx="3810149" cy="504825"/>
          </a:xfrm>
          <a:prstGeom prst="roundRect">
            <a:avLst>
              <a:gd name="adj" fmla="val 15094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6651" y="1625501"/>
            <a:ext cx="385588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User sends message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16601" y="2104876"/>
            <a:ext cx="25301" cy="203150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24251" y="2434977"/>
            <a:ext cx="3810149" cy="504825"/>
          </a:xfrm>
          <a:prstGeom prst="roundRect">
            <a:avLst>
              <a:gd name="adj" fmla="val 15094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76651" y="2587377"/>
            <a:ext cx="385588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Chat Trigger receives input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6601" y="3066752"/>
            <a:ext cx="25301" cy="203150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24251" y="3396853"/>
            <a:ext cx="3810149" cy="504825"/>
          </a:xfrm>
          <a:prstGeom prst="roundRect">
            <a:avLst>
              <a:gd name="adj" fmla="val 15094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76651" y="3549253"/>
            <a:ext cx="385588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Passes to AI Agent node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6601" y="4028629"/>
            <a:ext cx="25301" cy="203150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24251" y="4358729"/>
            <a:ext cx="3810149" cy="504825"/>
          </a:xfrm>
          <a:prstGeom prst="roundRect">
            <a:avLst>
              <a:gd name="adj" fmla="val 15094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76651" y="4511129"/>
            <a:ext cx="385588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Response sent back to chat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8726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3379515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Agent Node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012627"/>
            <a:ext cx="2438400" cy="38007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036439"/>
            <a:ext cx="2438400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1263402"/>
            <a:ext cx="23978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 Selection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750" y="1628477"/>
            <a:ext cx="2133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Choose which LLM powers your agent: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50" y="2187178"/>
            <a:ext cx="2032099" cy="106644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GPT-4 / GPT-4o</a:t>
            </a:r>
            <a:endParaRPr lang="en-US" sz="1100" dirty="0"/>
          </a:p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Claude 3.5 Sonnet</a:t>
            </a:r>
            <a:endParaRPr lang="en-US" sz="1100" dirty="0"/>
          </a:p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Gemini Pro</a:t>
            </a:r>
            <a:endParaRPr lang="en-US" sz="1100" dirty="0"/>
          </a:p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Local models (Ollama)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750" y="3345656"/>
            <a:ext cx="2032099" cy="507802"/>
          </a:xfrm>
          <a:prstGeom prst="roundRect">
            <a:avLst>
              <a:gd name="adj" fmla="val 10004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251" y="3447157"/>
            <a:ext cx="19205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Tip: Start with GPT-4o for best results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51150" y="1012627"/>
            <a:ext cx="2438400" cy="38007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51150" y="1036439"/>
            <a:ext cx="2438400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4301" y="1263402"/>
            <a:ext cx="25198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System Prompt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54301" y="1628477"/>
            <a:ext cx="239787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Define the agent's behavior: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4301" y="1958578"/>
            <a:ext cx="2032099" cy="106644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Role and personality</a:t>
            </a:r>
            <a:endParaRPr lang="en-US" sz="1100" dirty="0"/>
          </a:p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Knowledge boundaries</a:t>
            </a:r>
            <a:endParaRPr lang="en-US" sz="1100" dirty="0"/>
          </a:p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Response format</a:t>
            </a:r>
            <a:endParaRPr lang="en-US" sz="1100" dirty="0"/>
          </a:p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Behavior constraints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54301" y="3117056"/>
            <a:ext cx="2032099" cy="507802"/>
          </a:xfrm>
          <a:prstGeom prst="roundRect">
            <a:avLst>
              <a:gd name="adj" fmla="val 10004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55802" y="3218557"/>
            <a:ext cx="19205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This is the most important config!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2701" y="1012627"/>
            <a:ext cx="2438400" cy="38007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892701" y="1036439"/>
            <a:ext cx="2438400" cy="0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5851" y="1263402"/>
            <a:ext cx="25198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5851" y="1628477"/>
            <a:ext cx="239787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Fine-tune the model output: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5851" y="1958578"/>
            <a:ext cx="2032099" cy="106644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Temperature: 0-1</a:t>
            </a:r>
            <a:endParaRPr lang="en-US" sz="1100" dirty="0"/>
          </a:p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Max tokens: response length</a:t>
            </a:r>
            <a:endParaRPr lang="en-US" sz="1100" dirty="0"/>
          </a:p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Top P: diversity control</a:t>
            </a:r>
            <a:endParaRPr lang="en-US" sz="1100" dirty="0"/>
          </a:p>
          <a:p>
            <a:pPr algn="l" marL="88900" indent="-889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Frequency penalty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5851" y="3117056"/>
            <a:ext cx="2032099" cy="507802"/>
          </a:xfrm>
          <a:prstGeom prst="roundRect">
            <a:avLst>
              <a:gd name="adj" fmla="val 10004"/>
            </a:avLst>
          </a:prstGeom>
          <a:solidFill>
            <a:srgbClr val="F5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97352" y="3218557"/>
            <a:ext cx="19205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temp 0.3 for factual tasks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1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11101" y="363438"/>
            <a:ext cx="76200" cy="3555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39701" y="355550"/>
            <a:ext cx="538739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Demo: Build a Chatbot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11101" y="980926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64691" y="1079302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69802" y="1079302"/>
            <a:ext cx="345790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Open n8n and click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"Add Workflow"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1101" y="1514177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FF6B2B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64691" y="1612553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69802" y="1612553"/>
            <a:ext cx="34772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 a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Chat Trigger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node and connect it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1101" y="2047429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FF6B2B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64691" y="2145804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69802" y="2145804"/>
            <a:ext cx="40348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 an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Agent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node, select your LLM model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1101" y="2580680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FF6B2B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64691" y="2679055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69802" y="2679055"/>
            <a:ext cx="495438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 the system prompt: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"You are a helpful AI assistant"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1101" y="3113931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9270E1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64691" y="3212306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69802" y="3212306"/>
            <a:ext cx="430330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Click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"Chat"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in the bottom panel and start talking!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1101" y="4140250"/>
            <a:ext cx="7721798" cy="647700"/>
          </a:xfrm>
          <a:prstGeom prst="roundRect">
            <a:avLst>
              <a:gd name="adj" fmla="val 1176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730151" y="4140250"/>
            <a:ext cx="0" cy="64770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1601" y="4292650"/>
            <a:ext cx="774784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 tip:</a:t>
            </a:r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Try asking your chatbot different types of questions to see how it responds. Notice the effect of your system prompt!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408830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Experiment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84052"/>
            <a:ext cx="3759101" cy="5266879"/>
          </a:xfrm>
          <a:prstGeom prst="roundRect">
            <a:avLst>
              <a:gd name="adj" fmla="val 270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007864"/>
            <a:ext cx="3759101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01" y="1285577"/>
            <a:ext cx="350999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19349" y="1442740"/>
            <a:ext cx="139609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3501" y="1961852"/>
            <a:ext cx="357642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Prompt: "What is AI?"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3501" y="2263378"/>
            <a:ext cx="3251299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15901" y="2415778"/>
            <a:ext cx="30938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"AI, or Artificial Intelligence, refers to computer systems designed to perform tasks that typically require human intelligence, such as understanding language, recognizing patterns, and making decisions."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3501" y="4066729"/>
            <a:ext cx="3251299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15901" y="4219129"/>
            <a:ext cx="3093824" cy="92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"AI, or Artificial Intelligence, refers to computer systems designed to perform tasks that typically require human intelligence, such as understanding language, recognizing patterns, and making decisions."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3501" y="5844629"/>
            <a:ext cx="357642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Same input = Same output every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22602" y="984052"/>
            <a:ext cx="3759101" cy="5266879"/>
          </a:xfrm>
          <a:prstGeom prst="roundRect">
            <a:avLst>
              <a:gd name="adj" fmla="val 2703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22602" y="1007864"/>
            <a:ext cx="3759101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6502" y="1285577"/>
            <a:ext cx="350999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232350" y="1442740"/>
            <a:ext cx="91185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Creative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76502" y="1961852"/>
            <a:ext cx="357642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Prompt: "What is AI?"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6502" y="2263378"/>
            <a:ext cx="3251299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28902" y="2415778"/>
            <a:ext cx="3093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"Think of AI as a digital brain that learns from experience. Instead of following rigid rules, it adapts and improves over time, like how you get better at a game the more you play."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76502" y="3838129"/>
            <a:ext cx="3251299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28902" y="3990529"/>
            <a:ext cx="3093824" cy="115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"AI is like having a really fast student who has read every book in the library. It can answer questions, write stories, and even create art based on everything it has learned."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6502" y="5387429"/>
            <a:ext cx="357642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Same input = Different output each time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8251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26963"/>
            <a:ext cx="50750" cy="304800"/>
          </a:xfrm>
          <a:prstGeom prst="rect">
            <a:avLst/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366306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600" y="106412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8640" y="1187946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064121"/>
            <a:ext cx="7315200" cy="631627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238250" y="1064121"/>
            <a:ext cx="0" cy="631627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001" y="1191071"/>
            <a:ext cx="761386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Empty System Prompt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001" y="1416397"/>
            <a:ext cx="76138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Without instructions, the AI has no personality or guardrails. Always set a system prompt.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1822698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8640" y="1946523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19200" y="1822698"/>
            <a:ext cx="7315200" cy="631627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238250" y="1822698"/>
            <a:ext cx="0" cy="631627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35001" y="1949648"/>
            <a:ext cx="761386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Temperature Too High for Facts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35001" y="2174974"/>
            <a:ext cx="76138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 factual tasks, use temperature 0-0.3. High temperature introduces creativity but also errors.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600" y="258127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8640" y="2705100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19200" y="2581275"/>
            <a:ext cx="7315200" cy="631627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238250" y="2581275"/>
            <a:ext cx="0" cy="631627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35001" y="2708225"/>
            <a:ext cx="761386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 Testing Enough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35001" y="2933551"/>
            <a:ext cx="76138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Always test with diverse inputs. Your chatbot works differently with different types of questions.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3339852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8640" y="3463677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19200" y="3339852"/>
            <a:ext cx="7315200" cy="631627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238250" y="3339852"/>
            <a:ext cx="0" cy="631627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35001" y="3466802"/>
            <a:ext cx="761386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Forgetting to Save/Activate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35001" y="3692128"/>
            <a:ext cx="76138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workflow must be activated to run automatically. Inactive workflows only work in test mode.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9600" y="4098429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88640" y="4222254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19200" y="4098429"/>
            <a:ext cx="7315200" cy="631627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238250" y="4098429"/>
            <a:ext cx="0" cy="631627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35001" y="4225379"/>
            <a:ext cx="761386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Trusting AI Output Blindly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35001" y="4450705"/>
            <a:ext cx="76138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LLMs can hallucinate. Always verify critical information from AI responses.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1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99667" y="1657350"/>
            <a:ext cx="2544517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You Built Today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188666" y="2228850"/>
            <a:ext cx="54590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1988344" y="3098750"/>
            <a:ext cx="103529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Workflow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1289" y="3333601"/>
            <a:ext cx="15227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Your first AI workflow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63888" y="2228850"/>
            <a:ext cx="54590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3890070" y="3098750"/>
            <a:ext cx="70618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Nodes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38079" y="3333601"/>
            <a:ext cx="17078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Chat Trigger + AI Agent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97872" y="2376488"/>
            <a:ext cx="1947922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Infinite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828556" y="2951113"/>
            <a:ext cx="128592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Possibilities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91733" y="3185964"/>
            <a:ext cx="24907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From here, you can build anything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8251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03150"/>
            <a:ext cx="2922718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1919436"/>
            <a:ext cx="1943398" cy="323850"/>
          </a:xfrm>
          <a:prstGeom prst="roundRect">
            <a:avLst>
              <a:gd name="adj" fmla="val 78431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995636"/>
            <a:ext cx="181377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= Pattern Learning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30698" y="1881336"/>
            <a:ext cx="6093887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LLMs learn patterns from data and predict the next token. They don't "think" like humans.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497187"/>
            <a:ext cx="2108597" cy="323850"/>
          </a:xfrm>
          <a:prstGeom prst="roundRect">
            <a:avLst>
              <a:gd name="adj" fmla="val 78431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573387"/>
            <a:ext cx="200870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System Prompts Matter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95898" y="2459087"/>
            <a:ext cx="5920427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system prompt is the single most important control you have over AI behavior.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600" y="3074938"/>
            <a:ext cx="1809601" cy="323850"/>
          </a:xfrm>
          <a:prstGeom prst="roundRect">
            <a:avLst>
              <a:gd name="adj" fmla="val 78431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750" y="3151138"/>
            <a:ext cx="16558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n8n Makes It Visual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96902" y="3036838"/>
            <a:ext cx="6234373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 don't need to code to build AI workflows. Visual tools make AI accessible to everyone.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600" y="3652689"/>
            <a:ext cx="1930747" cy="323850"/>
          </a:xfrm>
          <a:prstGeom prst="roundRect">
            <a:avLst>
              <a:gd name="adj" fmla="val 78431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728889"/>
            <a:ext cx="179884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Always Verify 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18048" y="3614589"/>
            <a:ext cx="610717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can hallucinate. Never trust AI output blindly, especially for factual or critical information.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1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499330" y="879723"/>
            <a:ext cx="21453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Session 1 Complete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4320" y="1219349"/>
            <a:ext cx="859536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191000" y="1895624"/>
            <a:ext cx="7620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63776" y="2187625"/>
            <a:ext cx="3016300" cy="1174552"/>
          </a:xfrm>
          <a:prstGeom prst="roundRect">
            <a:avLst>
              <a:gd name="adj" fmla="val 865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82983" y="2400300"/>
            <a:ext cx="257788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Next: Session 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61137" y="2660600"/>
            <a:ext cx="262157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 Engineering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82983" y="2978051"/>
            <a:ext cx="257788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Power of Specificity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9600" y="3616077"/>
            <a:ext cx="7924800" cy="647700"/>
          </a:xfrm>
          <a:prstGeom prst="roundRect">
            <a:avLst>
              <a:gd name="adj" fmla="val 11765"/>
            </a:avLst>
          </a:prstGeom>
          <a:solidFill>
            <a:srgbClr val="FF6B2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28650" y="3616077"/>
            <a:ext cx="0" cy="64770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500" y="3768477"/>
            <a:ext cx="764095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Assignment: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Customize your chatbot's system prompt to serve a specific role (e.g., tech support, tutor, recipe helper) and test 5 different questions.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2026-05-11T10:41:11Z</dcterms:created>
  <dcterms:modified xsi:type="dcterms:W3CDTF">2026-05-11T10:41:11Z</dcterms:modified>
</cp:coreProperties>
</file>