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3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349401"/>
            <a:ext cx="1015901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825675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2111425"/>
            <a:ext cx="85344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Prompting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9600" y="2616250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AI to Think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9600" y="3117800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Zero-shot, few-shot, chain-of-thought, and prompt chaining techniques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600" y="45593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602" y="4533900"/>
            <a:ext cx="3128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Training Curriculum  |  Intermediate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3901"/>
            <a:ext cx="50750" cy="3555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55389"/>
            <a:ext cx="3023515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597372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28650" y="1597372"/>
            <a:ext cx="0" cy="742652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50" y="1806773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4004" y="1775073"/>
            <a:ext cx="372691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4004" y="2009924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examples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24400" y="1597372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43450" y="1597372"/>
            <a:ext cx="0" cy="74265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650" y="1806773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28804" y="1775073"/>
            <a:ext cx="371519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8804" y="2009924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Learning from examples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" y="2492425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2492425"/>
            <a:ext cx="0" cy="74265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850" y="2701826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14004" y="2670125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4004" y="2904976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Step-by-step reasoning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4400" y="2492425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43450" y="2492425"/>
            <a:ext cx="0" cy="742652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650" y="2701826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8804" y="2670125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Chaining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28804" y="2904976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Multi-step workflows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90800" y="3387477"/>
            <a:ext cx="3962400" cy="742652"/>
          </a:xfrm>
          <a:prstGeom prst="roundRect">
            <a:avLst>
              <a:gd name="adj" fmla="val 1368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09850" y="3387477"/>
            <a:ext cx="0" cy="742652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2050" y="3596878"/>
            <a:ext cx="4288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95204" y="3565178"/>
            <a:ext cx="336033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Decision Framework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95204" y="3800029"/>
            <a:ext cx="33603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to use which technique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70482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Recap: CRISP + What's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58751"/>
            <a:ext cx="456686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298377"/>
            <a:ext cx="3936950" cy="145373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Context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Background information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Expert persona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Instructions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What to do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Specifics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Constraints and examples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Presentation</a:t>
            </a:r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Output format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822228"/>
            <a:ext cx="3936950" cy="558701"/>
          </a:xfrm>
          <a:prstGeom prst="roundRect">
            <a:avLst>
              <a:gd name="adj" fmla="val 1363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822228"/>
            <a:ext cx="0" cy="558701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401" y="2949178"/>
            <a:ext cx="372062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ensures consistent quality. But what about complex reasoning tasks?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51350" y="958751"/>
            <a:ext cx="405135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We Need More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51350" y="1298377"/>
            <a:ext cx="38672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CRISP structures your prompt, but some tasks require the AI to 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reason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, not just respond.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1350" y="1882527"/>
            <a:ext cx="3683050" cy="116299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Math and logic problems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Multi-step analysis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Classification with edge cases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Complex decision making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1350" y="4254698"/>
            <a:ext cx="3683050" cy="558701"/>
          </a:xfrm>
          <a:prstGeom prst="roundRect">
            <a:avLst>
              <a:gd name="adj" fmla="val 13639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70400" y="4254698"/>
            <a:ext cx="0" cy="5587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7151" y="4381649"/>
            <a:ext cx="34540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Today: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Learn techniques that make AI think harder and produce better reasoning.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49169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Prompting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436055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298377"/>
            <a:ext cx="3947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 means giving the AI a task 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without any examples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. It relies on the model's pre-trained knowledge.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36577"/>
            <a:ext cx="436055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to 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457152"/>
            <a:ext cx="3759101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 classification tasks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Well-defined, common tasks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you have no training examples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Quick prototyping and 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3501" y="977801"/>
            <a:ext cx="447049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3501" y="1298377"/>
            <a:ext cx="3860899" cy="1612702"/>
          </a:xfrm>
          <a:prstGeom prst="roundRect">
            <a:avLst>
              <a:gd name="adj" fmla="val 47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2551" y="1298377"/>
            <a:ext cx="0" cy="1612702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001" y="1450777"/>
            <a:ext cx="42799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001" y="1672977"/>
            <a:ext cx="36938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"Classify this review as positive or negative: 'The battery life is amazing but the screen could be better'"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001" y="2079278"/>
            <a:ext cx="427999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001" y="2301478"/>
            <a:ext cx="36938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"Mixed (slightly positive) - The review contains one positive and one negative aspect, but the positive comment uses stronger language ('amazing')."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41411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Prompting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436055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298377"/>
            <a:ext cx="3947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 means providing 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examples of input-output pairs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so the AI learns the pattern before answering.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07977"/>
            <a:ext cx="436055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to 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28552"/>
            <a:ext cx="3759101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Unusual or custom classification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Specific output format needed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 gives inconsistent results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Edge cases need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3501" y="977801"/>
            <a:ext cx="447049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3-Shot Example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73501" y="1298377"/>
            <a:ext cx="3860899" cy="1371600"/>
          </a:xfrm>
          <a:prstGeom prst="roundRect">
            <a:avLst>
              <a:gd name="adj" fmla="val 55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2551" y="1298377"/>
            <a:ext cx="0" cy="13716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001" y="1450777"/>
            <a:ext cx="3869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Review: "Love it!" -&gt; Positive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001" y="1679377"/>
            <a:ext cx="3869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Review: "Terrible experience" -&gt; Negative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001" y="1907977"/>
            <a:ext cx="3869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Review: "OK product, fast shipping" -&gt; Neutral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001" y="2136577"/>
            <a:ext cx="3869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Review: "Best purchase ever, using it daily!" -&gt; ???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001" y="2365177"/>
            <a:ext cx="3869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Positive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3501" y="4254698"/>
            <a:ext cx="3860899" cy="558701"/>
          </a:xfrm>
          <a:prstGeom prst="roundRect">
            <a:avLst>
              <a:gd name="adj" fmla="val 13639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92551" y="4254698"/>
            <a:ext cx="0" cy="5587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8551" y="4381649"/>
            <a:ext cx="37473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Tip: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2-5 examples usually enough. More examples does not always mean better.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80237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 Few-Shot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3759101" cy="2012156"/>
          </a:xfrm>
          <a:prstGeom prst="roundRect">
            <a:avLst>
              <a:gd name="adj" fmla="val 504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07864"/>
            <a:ext cx="3759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209377"/>
            <a:ext cx="41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301" y="1523702"/>
            <a:ext cx="34036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examples provided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Faster to write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Uses less tokens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Works for common tasks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Less consistent for edge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22602" y="984052"/>
            <a:ext cx="3759101" cy="2012156"/>
          </a:xfrm>
          <a:prstGeom prst="roundRect">
            <a:avLst>
              <a:gd name="adj" fmla="val 5049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22602" y="1007864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302" y="1209377"/>
            <a:ext cx="41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302" y="1523702"/>
            <a:ext cx="34036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2-5 examples provided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Takes more effort to write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Uses more tokens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Better for custom tasks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More consistent and accurate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4388048"/>
            <a:ext cx="7924800" cy="425351"/>
          </a:xfrm>
          <a:prstGeom prst="roundRect">
            <a:avLst>
              <a:gd name="adj" fmla="val 179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4388048"/>
            <a:ext cx="0" cy="425351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401" y="4514999"/>
            <a:ext cx="82844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Rule of thumb: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Start with zero-shot. If results are inconsistent, add 2-3 examples to make it few-shot.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3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2793950" cy="5143500"/>
          </a:xfrm>
          <a:prstGeom prst="rect">
            <a:avLst/>
          </a:prstGeom>
          <a:solidFill>
            <a:srgbClr val="9270E1">
              <a:alpha val="9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3901" y="1846362"/>
            <a:ext cx="2971993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53901" y="2274987"/>
            <a:ext cx="2971993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by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53901" y="2703612"/>
            <a:ext cx="2971993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53901" y="3259038"/>
            <a:ext cx="5079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51150" y="1309836"/>
            <a:ext cx="5892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51150" y="1674912"/>
            <a:ext cx="5707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Instead of asking the AI for a direct answer, you ask it to show its reasoning process step by step.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51150" y="2309813"/>
            <a:ext cx="5435650" cy="406301"/>
          </a:xfrm>
          <a:prstGeom prst="roundRect">
            <a:avLst>
              <a:gd name="adj" fmla="val 1875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70200" y="2309813"/>
            <a:ext cx="0" cy="406301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6201" y="2436763"/>
            <a:ext cx="56580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Without CoT:</a:t>
            </a:r>
            <a:pPr algn="l" indent="0" marL="0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"What is 15% of 240?" -&gt; Often wrong on complex math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51150" y="2817614"/>
            <a:ext cx="5435650" cy="558701"/>
          </a:xfrm>
          <a:prstGeom prst="roundRect">
            <a:avLst>
              <a:gd name="adj" fmla="val 1363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270200" y="2817614"/>
            <a:ext cx="0" cy="5587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6201" y="2944564"/>
            <a:ext cx="5400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With CoT:</a:t>
            </a:r>
            <a:pPr algn="l" indent="0" marL="0"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"Solve step by step: What is 15% of 240?" -&gt; Breaks it down: 10% = 24, 5% = 12, Total = 36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51150" y="3528715"/>
            <a:ext cx="5707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CoT dramatically improves accuracy on reasoning tasks by forcing the model to process each step explicitly.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34633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CoT: Simple vs Structured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3759101" cy="383559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01613"/>
            <a:ext cx="3759101" cy="0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203127"/>
            <a:ext cx="39482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 CoT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301" y="1514177"/>
            <a:ext cx="3744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Just add the magic phrase: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7301" y="1742777"/>
            <a:ext cx="3403699" cy="406301"/>
          </a:xfrm>
          <a:prstGeom prst="roundRect">
            <a:avLst>
              <a:gd name="adj" fmla="val 1250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1869728"/>
            <a:ext cx="3464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"Let's think step by step"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7301" y="2250579"/>
            <a:ext cx="4152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7301" y="2479179"/>
            <a:ext cx="3403699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Dead simple to add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Works surprisingly well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prompt engineering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7301" y="3225998"/>
            <a:ext cx="4152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7301" y="3378398"/>
            <a:ext cx="3403699" cy="2369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Less control over reasoning path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22602" y="977801"/>
            <a:ext cx="3759101" cy="383559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22602" y="1001613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302" y="1203127"/>
            <a:ext cx="394829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CoT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302" y="1514177"/>
            <a:ext cx="3744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the reasoning structure: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302" y="1742777"/>
            <a:ext cx="3403699" cy="711101"/>
          </a:xfrm>
          <a:prstGeom prst="roundRect">
            <a:avLst>
              <a:gd name="adj" fmla="val 7144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7253" y="1869728"/>
            <a:ext cx="3307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"First identify the variables. Then set up the equation. Then solve step by step. Finally verify your answer."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302" y="2555379"/>
            <a:ext cx="4152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302" y="2783979"/>
            <a:ext cx="3403699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Controls reasoning direction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More reliable for complex tasks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Easy to debug failures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302" y="3530798"/>
            <a:ext cx="41525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302" y="3683198"/>
            <a:ext cx="3403699" cy="2369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More effort to write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73422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CoT Example: Math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58751"/>
            <a:ext cx="7924800" cy="476250"/>
          </a:xfrm>
          <a:prstGeom prst="roundRect">
            <a:avLst>
              <a:gd name="adj" fmla="val 1600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958751"/>
            <a:ext cx="0" cy="47625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625" y="1111151"/>
            <a:ext cx="832961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Problem: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 store has a 20% off sale. A jacket costs $150 originally. Sales tax is 8%. What is the final price?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587401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Step-by-Step Reasoning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18984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156" y="1974652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1350" y="1898452"/>
            <a:ext cx="326103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Calculate discount: $150 x 0.20 = $30 off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3047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156" y="2380952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1350" y="2304752"/>
            <a:ext cx="351814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Subtract discount: $150 - $30 = $120 sale price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71105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156" y="2787253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1350" y="2711053"/>
            <a:ext cx="27343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Calculate tax: $120 x 0.08 = $9.60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31173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3156" y="3193554"/>
            <a:ext cx="1072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1350" y="3117354"/>
            <a:ext cx="35191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tax: $120 + $9.60 = </a:t>
            </a:r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$129.60 final price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4407098"/>
            <a:ext cx="7924800" cy="406301"/>
          </a:xfrm>
          <a:prstGeom prst="roundRect">
            <a:avLst>
              <a:gd name="adj" fmla="val 1875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650" y="4407098"/>
            <a:ext cx="0" cy="4063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650" y="4534049"/>
            <a:ext cx="8369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insight: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Without CoT, AI might skip a step and get the wrong answer. CoT forces accuracy.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3150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07913"/>
            <a:ext cx="5911267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CoT Helps (And When It Doesn't)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3759101" cy="2037457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12614"/>
            <a:ext cx="3759101" cy="0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01" y="1114127"/>
            <a:ext cx="41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Good 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7301" y="1453753"/>
            <a:ext cx="34036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Math and arithmetic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Logic puzzles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Multi-step analysis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Legal or medical reasoning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Debugging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1851" y="888802"/>
            <a:ext cx="3759101" cy="2037457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1851" y="912614"/>
            <a:ext cx="37591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9552" y="1114127"/>
            <a:ext cx="41525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Bad For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49552" y="1453753"/>
            <a:ext cx="3403699" cy="137249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 factual lookups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Creative writing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Sentiment analysis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Translation tasks</a:t>
            </a:r>
            <a:endParaRPr lang="en-US" sz="1200" dirty="0"/>
          </a:p>
          <a:p>
            <a:pPr algn="l" marL="88900" indent="-889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Quick summaries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3078659"/>
            <a:ext cx="7924800" cy="596801"/>
          </a:xfrm>
          <a:prstGeom prst="roundRect">
            <a:avLst>
              <a:gd name="adj" fmla="val 127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8650" y="3078659"/>
            <a:ext cx="0" cy="596801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401" y="3205609"/>
            <a:ext cx="790786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Rule: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If the task requires reasoning through intermediate steps, use CoT. If it is a direct lookup or creative task, skip it.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281285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Chaining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827312"/>
            <a:ext cx="8321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Break complex tasks into a sequence of simpler prompts, where each step's output feeds into the next: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38646" y="2449562"/>
            <a:ext cx="1524000" cy="860375"/>
          </a:xfrm>
          <a:prstGeom prst="roundRect">
            <a:avLst>
              <a:gd name="adj" fmla="val 1180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52848" y="2601962"/>
            <a:ext cx="64408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566" y="285273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 key facts from raw text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9448" y="2760613"/>
            <a:ext cx="264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19549" y="2449562"/>
            <a:ext cx="1524000" cy="860375"/>
          </a:xfrm>
          <a:prstGeom prst="roundRect">
            <a:avLst>
              <a:gd name="adj" fmla="val 1180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3750" y="2601962"/>
            <a:ext cx="64408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41469" y="285273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Organize into categories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70350" y="2760613"/>
            <a:ext cx="264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451" y="2449562"/>
            <a:ext cx="1524000" cy="860375"/>
          </a:xfrm>
          <a:prstGeom prst="roundRect">
            <a:avLst>
              <a:gd name="adj" fmla="val 1180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14652" y="2601962"/>
            <a:ext cx="64408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22371" y="285273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 final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51253" y="2760613"/>
            <a:ext cx="2640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1354" y="2449562"/>
            <a:ext cx="1524000" cy="860375"/>
          </a:xfrm>
          <a:prstGeom prst="roundRect">
            <a:avLst>
              <a:gd name="adj" fmla="val 11809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72933" y="2601962"/>
            <a:ext cx="70309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274" y="285273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Polished, structured 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3563838"/>
            <a:ext cx="3860750" cy="406301"/>
          </a:xfrm>
          <a:prstGeom prst="roundRect">
            <a:avLst>
              <a:gd name="adj" fmla="val 1875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8650" y="3563838"/>
            <a:ext cx="0" cy="406301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4650" y="3690789"/>
            <a:ext cx="3925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Benefit: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Each step can be optimized independently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73501" y="3563838"/>
            <a:ext cx="3860899" cy="406301"/>
          </a:xfrm>
          <a:prstGeom prst="roundRect">
            <a:avLst>
              <a:gd name="adj" fmla="val 1875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2551" y="3563838"/>
            <a:ext cx="0" cy="4063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8551" y="3690789"/>
            <a:ext cx="3925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Benefit: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Easier to debug when something goes wrong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93799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Chaining in n8n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4330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It Works in n8n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1288852"/>
            <a:ext cx="4133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n8n, prompt chaining is implemented by connecting multiple AI Agent nodes in sequence: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873002"/>
            <a:ext cx="3936950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AI Agent node = one prompt step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of Node A becomes input of Node B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</a:t>
            </a:r>
            <a:pPr algn="l" indent="0" marL="0">
              <a:lnSpc>
                <a:spcPts val="2040"/>
              </a:lnSpc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nodes to pass data between agents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</a:t>
            </a:r>
            <a:pPr algn="l" indent="0" marL="0">
              <a:lnSpc>
                <a:spcPts val="2040"/>
              </a:lnSpc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Switch</a:t>
            </a:r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nodes for conditional routing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451" y="1511796"/>
            <a:ext cx="3733949" cy="425351"/>
          </a:xfrm>
          <a:prstGeom prst="roundRect">
            <a:avLst>
              <a:gd name="adj" fmla="val 1791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27402" y="1638746"/>
            <a:ext cx="38280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 1: Extract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4701" y="2038648"/>
            <a:ext cx="25301" cy="15240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451" y="2292548"/>
            <a:ext cx="3733949" cy="425351"/>
          </a:xfrm>
          <a:prstGeom prst="roundRect">
            <a:avLst>
              <a:gd name="adj" fmla="val 17915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7402" y="2419499"/>
            <a:ext cx="38280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 2: Analyze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4701" y="2819400"/>
            <a:ext cx="25301" cy="15240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451" y="3073301"/>
            <a:ext cx="3733949" cy="425351"/>
          </a:xfrm>
          <a:prstGeom prst="roundRect">
            <a:avLst>
              <a:gd name="adj" fmla="val 1791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7402" y="3200251"/>
            <a:ext cx="38280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 3: Generate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4701" y="3600152"/>
            <a:ext cx="25301" cy="152400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00451" y="3854053"/>
            <a:ext cx="3733949" cy="425351"/>
          </a:xfrm>
          <a:prstGeom prst="roundRect">
            <a:avLst>
              <a:gd name="adj" fmla="val 17915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27402" y="3981004"/>
            <a:ext cx="38280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Final 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38410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Build: Content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84052"/>
            <a:ext cx="2438400" cy="3403997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07864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34827"/>
            <a:ext cx="26417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157445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Turn rough notes into full 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2133154"/>
            <a:ext cx="2032099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9701" y="2260104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Input: Bullet notes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9701" y="2437805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Full paragraphs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51150" y="984052"/>
            <a:ext cx="2438400" cy="3403997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51150" y="1007864"/>
            <a:ext cx="243840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4301" y="1234827"/>
            <a:ext cx="26417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4301" y="1574453"/>
            <a:ext cx="2133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Organize content into sections and 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54301" y="2133154"/>
            <a:ext cx="2032099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81251" y="2260104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Input: Full paragraphs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1251" y="2437805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Structured draft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2701" y="984052"/>
            <a:ext cx="2438400" cy="3403997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892701" y="1007864"/>
            <a:ext cx="24384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5851" y="1234827"/>
            <a:ext cx="26417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1" y="1574453"/>
            <a:ext cx="239787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Polish tone, style, and quality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5851" y="1904554"/>
            <a:ext cx="2032099" cy="584002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22802" y="2031504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Input: Structured draft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2802" y="2209205"/>
            <a:ext cx="20982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Output: Final content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4388048"/>
            <a:ext cx="7924800" cy="425351"/>
          </a:xfrm>
          <a:prstGeom prst="roundRect">
            <a:avLst>
              <a:gd name="adj" fmla="val 17915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8650" y="4388048"/>
            <a:ext cx="0" cy="42535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401" y="4514999"/>
            <a:ext cx="82844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n8n:</a:t>
            </a:r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Each stage = one AI Agent node. Chain them together for a complete content pipeline.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2062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7913"/>
            <a:ext cx="5171963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Content Pipeline Walkthrough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907852"/>
            <a:ext cx="2539901" cy="1434852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907852"/>
            <a:ext cx="0" cy="1434852"/>
          </a:xfrm>
          <a:prstGeom prst="line">
            <a:avLst/>
          </a:prstGeom>
          <a:noFill/>
          <a:ln w="38100">
            <a:solidFill>
              <a:srgbClr val="70AA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650" y="1034802"/>
            <a:ext cx="29222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Raw Notes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4650" y="1237952"/>
            <a:ext cx="2360295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 helps automate tasks. Saves time. Reduces errors. Good for repetitive work. Need to train staff."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01901" y="907852"/>
            <a:ext cx="2539901" cy="1434852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20951" y="907852"/>
            <a:ext cx="0" cy="1434852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6951" y="1034802"/>
            <a:ext cx="27873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After Expand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6951" y="1237952"/>
            <a:ext cx="2360295" cy="1056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 automation transforms operations by taking over repetitive tasks, freeing staff for strategic work and reducing human error rates significantly."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94202" y="907852"/>
            <a:ext cx="2539901" cy="1434852"/>
          </a:xfrm>
          <a:prstGeom prst="roundRect">
            <a:avLst>
              <a:gd name="adj" fmla="val 5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13252" y="907852"/>
            <a:ext cx="0" cy="143485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9252" y="1034802"/>
            <a:ext cx="2652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After 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59252" y="1237952"/>
            <a:ext cx="2360295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Section 1: Time Savings. Section 2: Error Reduction. Section 3: Training Requirements.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2469654"/>
            <a:ext cx="79248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9600" y="2488704"/>
            <a:ext cx="7924800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2660154"/>
            <a:ext cx="8382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Final Output (After Refine)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2907804"/>
            <a:ext cx="800100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automation delivers three key benefits for your organization. First, it recovers hours of productive time by handling repetitive tasks. Second, it reduces error rates by up to 90% compared to manual processes. Finally, with proper staff training, teams can focus on high-value strategic work rather than routine operations.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407098"/>
            <a:ext cx="7924800" cy="406301"/>
          </a:xfrm>
          <a:prstGeom prst="roundRect">
            <a:avLst>
              <a:gd name="adj" fmla="val 1875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8650" y="4407098"/>
            <a:ext cx="0" cy="4063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650" y="4534049"/>
            <a:ext cx="8369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Notice: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Each step adds value. The raw notes alone could never produce this quality of output.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3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04800"/>
            <a:ext cx="76200" cy="35555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38200" y="306288"/>
            <a:ext cx="3726656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Framework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838051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When to use which technique?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9600" y="1215777"/>
            <a:ext cx="7924800" cy="653951"/>
          </a:xfrm>
          <a:prstGeom prst="roundRect">
            <a:avLst>
              <a:gd name="adj" fmla="val 1165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8650" y="1215777"/>
            <a:ext cx="0" cy="653951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5401" y="1342727"/>
            <a:ext cx="106669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 task?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93702" y="1457027"/>
            <a:ext cx="48350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</a:t>
            </a:r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Most common tasks work fine without examples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1996678"/>
            <a:ext cx="7924800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28650" y="1996678"/>
            <a:ext cx="0" cy="453926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401" y="2123629"/>
            <a:ext cx="125971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Inconsistent?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993702" y="2137916"/>
            <a:ext cx="432295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</a:t>
            </a:r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- 2-3 examples fix most consistency issues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9600" y="2577554"/>
            <a:ext cx="7924800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28650" y="2577554"/>
            <a:ext cx="0" cy="453926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5401" y="2704505"/>
            <a:ext cx="125971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Reasoning?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93702" y="2718792"/>
            <a:ext cx="392169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Add </a:t>
            </a:r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Chain-of-Thought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Force step-by-step thinking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9600" y="3158430"/>
            <a:ext cx="7924800" cy="453926"/>
          </a:xfrm>
          <a:prstGeom prst="roundRect">
            <a:avLst>
              <a:gd name="adj" fmla="val 16787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28650" y="3158430"/>
            <a:ext cx="0" cy="453926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401" y="3285381"/>
            <a:ext cx="132067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Complex?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993702" y="3299668"/>
            <a:ext cx="38571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</a:t>
            </a:r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Chaining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- Break into sequential steps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9600" y="4686300"/>
            <a:ext cx="853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456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Start simple. Add complexity only when needed.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1576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867424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Strategy Cheat Sheet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600" y="853976"/>
            <a:ext cx="1777901" cy="304800"/>
          </a:xfrm>
          <a:prstGeom prst="roundRect">
            <a:avLst>
              <a:gd name="adj" fmla="val 1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930176"/>
            <a:ext cx="20473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89002" y="853976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90502" y="930176"/>
            <a:ext cx="27078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76502" y="853976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78003" y="930176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600" y="1260277"/>
            <a:ext cx="1777901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101" y="1336477"/>
            <a:ext cx="20473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9002" y="1260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90502" y="1336477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Simple, common tasks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6502" y="1260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78003" y="1336477"/>
            <a:ext cx="27078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1641277"/>
            <a:ext cx="1777901" cy="304800"/>
          </a:xfrm>
          <a:prstGeom prst="roundRect">
            <a:avLst>
              <a:gd name="adj" fmla="val 16667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1101" y="1717477"/>
            <a:ext cx="20473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89002" y="1641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90502" y="1717477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Custom classification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6502" y="1641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78003" y="1717477"/>
            <a:ext cx="27078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2022277"/>
            <a:ext cx="1777901" cy="304800"/>
          </a:xfrm>
          <a:prstGeom prst="roundRect">
            <a:avLst>
              <a:gd name="adj" fmla="val 16667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101" y="2098477"/>
            <a:ext cx="18583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89002" y="2022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90502" y="2098477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Math, logic, reasoning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6502" y="2022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5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78003" y="2098477"/>
            <a:ext cx="27078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600" y="2403277"/>
            <a:ext cx="1777901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1101" y="2479477"/>
            <a:ext cx="18583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Chaining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9002" y="2403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590502" y="2479477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Multi-step workflows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6502" y="2403277"/>
            <a:ext cx="2286000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78003" y="2479477"/>
            <a:ext cx="27078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124646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Challenge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67967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8640" y="1803499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679674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 Challenge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19200" y="1939975"/>
            <a:ext cx="792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Classify these emails without examples: "Refund request", "Bug report", "Partnership inquiry"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314575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8640" y="2438400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19200" y="2314575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Few-Shot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19200" y="2574875"/>
            <a:ext cx="792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 2 examples, then classify: "My order never arrived" - use your custom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2949476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8640" y="3073301"/>
            <a:ext cx="1365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19200" y="2949476"/>
            <a:ext cx="7924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CoT Challenge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19200" y="3209776"/>
            <a:ext cx="79248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"If 3 people share a $180 bill with 15% tip equally, what does each pay?" - Make the AI show its 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3635127"/>
            <a:ext cx="79248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8650" y="3635127"/>
            <a:ext cx="0" cy="47625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" y="3787527"/>
            <a:ext cx="834009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each in n8n using the AI Agent node and test your results!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3150"/>
            <a:ext cx="490314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Technique Preview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58751"/>
            <a:ext cx="2438400" cy="3448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982563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209526"/>
            <a:ext cx="23978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50" y="1549152"/>
            <a:ext cx="2133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 the same CoT prompt multiple times and take the majority answer.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50" y="2336453"/>
            <a:ext cx="213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Improves reliability on math and logic tasks.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1901" y="958751"/>
            <a:ext cx="2438400" cy="3448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01901" y="982563"/>
            <a:ext cx="243840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051" y="1209526"/>
            <a:ext cx="23978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Tree of Thoughts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051" y="1549152"/>
            <a:ext cx="2133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Explore multiple reasoning paths simultaneously, then select the best.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5051" y="2336453"/>
            <a:ext cx="213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Good for planning and creative problem solving.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94202" y="958751"/>
            <a:ext cx="2438400" cy="3448348"/>
          </a:xfrm>
          <a:prstGeom prst="roundRect">
            <a:avLst>
              <a:gd name="adj" fmla="val 41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4202" y="982563"/>
            <a:ext cx="24384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7352" y="1209526"/>
            <a:ext cx="25198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ReAct Pattern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7352" y="1549152"/>
            <a:ext cx="2133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Combine reasoning with action: think, act, observe, repeat.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7352" y="2336453"/>
            <a:ext cx="2133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Foundation for AI agents that use tools.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4407098"/>
            <a:ext cx="7924800" cy="406301"/>
          </a:xfrm>
          <a:prstGeom prst="roundRect">
            <a:avLst>
              <a:gd name="adj" fmla="val 18755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" y="4407098"/>
            <a:ext cx="0" cy="406301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401" y="4534049"/>
            <a:ext cx="82844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These are cutting-edge techniques</a:t>
            </a:r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that we will explore in more advanced sessions. Keep them on your radar!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777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8251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3150"/>
            <a:ext cx="2922718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033736"/>
            <a:ext cx="1498550" cy="323850"/>
          </a:xfrm>
          <a:prstGeom prst="roundRect">
            <a:avLst>
              <a:gd name="adj" fmla="val 7843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2109936"/>
            <a:ext cx="128885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Zero-Shot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5851" y="2095649"/>
            <a:ext cx="575198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start simple. Add complexity only when the basic approach fails.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2535287"/>
            <a:ext cx="1769418" cy="323850"/>
          </a:xfrm>
          <a:prstGeom prst="roundRect">
            <a:avLst>
              <a:gd name="adj" fmla="val 7843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2611487"/>
            <a:ext cx="160847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CoT for Reasoning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6718" y="2597200"/>
            <a:ext cx="62642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"Think step by step" is the simplest, most powerful upgrade for complex tasks.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9600" y="3036838"/>
            <a:ext cx="1938933" cy="323850"/>
          </a:xfrm>
          <a:prstGeom prst="roundRect">
            <a:avLst>
              <a:gd name="adj" fmla="val 7843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3113038"/>
            <a:ext cx="180850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Chain for Complexity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6234" y="3098750"/>
            <a:ext cx="630385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Break complex workflows into sequential AI steps for better control and quality.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538389"/>
            <a:ext cx="1535460" cy="323850"/>
          </a:xfrm>
          <a:prstGeom prst="roundRect">
            <a:avLst>
              <a:gd name="adj" fmla="val 78431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4589"/>
            <a:ext cx="133240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Is Your Lab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22761" y="3600301"/>
            <a:ext cx="588049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n8n to experiment, test, and iterate on different prompting strategies.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3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662958" y="879723"/>
            <a:ext cx="21453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3 Complete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1219349"/>
            <a:ext cx="859536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91000" y="1895624"/>
            <a:ext cx="762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731294" y="2187625"/>
            <a:ext cx="3681264" cy="1174552"/>
          </a:xfrm>
          <a:prstGeom prst="roundRect">
            <a:avLst>
              <a:gd name="adj" fmla="val 86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90654" y="2400300"/>
            <a:ext cx="336254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Next: Session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90654" y="2660600"/>
            <a:ext cx="336254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Applications &amp; Security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890654" y="2978051"/>
            <a:ext cx="336254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Building Complete n8n Solutions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600" y="3616077"/>
            <a:ext cx="7924800" cy="647700"/>
          </a:xfrm>
          <a:prstGeom prst="roundRect">
            <a:avLst>
              <a:gd name="adj" fmla="val 11765"/>
            </a:avLst>
          </a:prstGeom>
          <a:solidFill>
            <a:srgbClr val="FF6B2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28650" y="3616077"/>
            <a:ext cx="0" cy="64770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500" y="3768477"/>
            <a:ext cx="764095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Assignment: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Build a 3-node prompt chain in n8n that takes notes, structures them, and refines into final content.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2026-05-11T10:58:15Z</dcterms:created>
  <dcterms:modified xsi:type="dcterms:W3CDTF">2026-05-11T10:58:15Z</dcterms:modified>
</cp:coreProperties>
</file>