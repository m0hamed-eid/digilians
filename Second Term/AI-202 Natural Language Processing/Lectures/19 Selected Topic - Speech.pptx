
<file path=[Content_Types].xml><?xml version="1.0" encoding="utf-8"?>
<Types xmlns="http://schemas.openxmlformats.org/package/2006/content-types">
  <Default Extension="bin" ContentType="application/vnd.openxmlformats-officedocument.oleObject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59"/>
  </p:notesMasterIdLst>
  <p:sldIdLst>
    <p:sldId id="256" r:id="rId2"/>
    <p:sldId id="257" r:id="rId3"/>
    <p:sldId id="358" r:id="rId4"/>
    <p:sldId id="360" r:id="rId5"/>
    <p:sldId id="359" r:id="rId6"/>
    <p:sldId id="361" r:id="rId7"/>
    <p:sldId id="258" r:id="rId8"/>
    <p:sldId id="259" r:id="rId9"/>
    <p:sldId id="375" r:id="rId10"/>
    <p:sldId id="374" r:id="rId11"/>
    <p:sldId id="370" r:id="rId12"/>
    <p:sldId id="371" r:id="rId13"/>
    <p:sldId id="372" r:id="rId14"/>
    <p:sldId id="373" r:id="rId15"/>
    <p:sldId id="355" r:id="rId16"/>
    <p:sldId id="260" r:id="rId17"/>
    <p:sldId id="261" r:id="rId18"/>
    <p:sldId id="350" r:id="rId19"/>
    <p:sldId id="356" r:id="rId20"/>
    <p:sldId id="269" r:id="rId21"/>
    <p:sldId id="357" r:id="rId22"/>
    <p:sldId id="265" r:id="rId23"/>
    <p:sldId id="365" r:id="rId24"/>
    <p:sldId id="353" r:id="rId25"/>
    <p:sldId id="366" r:id="rId26"/>
    <p:sldId id="369" r:id="rId27"/>
    <p:sldId id="291" r:id="rId28"/>
    <p:sldId id="292" r:id="rId29"/>
    <p:sldId id="293" r:id="rId30"/>
    <p:sldId id="294" r:id="rId31"/>
    <p:sldId id="295" r:id="rId32"/>
    <p:sldId id="296" r:id="rId33"/>
    <p:sldId id="323" r:id="rId34"/>
    <p:sldId id="354" r:id="rId35"/>
    <p:sldId id="324" r:id="rId36"/>
    <p:sldId id="298" r:id="rId37"/>
    <p:sldId id="301" r:id="rId38"/>
    <p:sldId id="299" r:id="rId39"/>
    <p:sldId id="300" r:id="rId40"/>
    <p:sldId id="302" r:id="rId41"/>
    <p:sldId id="307" r:id="rId42"/>
    <p:sldId id="367" r:id="rId43"/>
    <p:sldId id="368" r:id="rId44"/>
    <p:sldId id="316" r:id="rId45"/>
    <p:sldId id="317" r:id="rId46"/>
    <p:sldId id="364" r:id="rId47"/>
    <p:sldId id="345" r:id="rId48"/>
    <p:sldId id="346" r:id="rId49"/>
    <p:sldId id="347" r:id="rId50"/>
    <p:sldId id="348" r:id="rId51"/>
    <p:sldId id="349" r:id="rId52"/>
    <p:sldId id="309" r:id="rId53"/>
    <p:sldId id="362" r:id="rId54"/>
    <p:sldId id="363" r:id="rId55"/>
    <p:sldId id="352" r:id="rId56"/>
    <p:sldId id="285" r:id="rId57"/>
    <p:sldId id="286" r:id="rId58"/>
  </p:sldIdLst>
  <p:sldSz cx="12192000" cy="6858000"/>
  <p:notesSz cx="6858000" cy="9144000"/>
  <p:defaultTextStyle>
    <a:defPPr>
      <a:defRPr lang="ar-EG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57" d="100"/>
          <a:sy n="57" d="100"/>
        </p:scale>
        <p:origin x="72" y="4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notesMaster" Target="notesMasters/notesMaster1.xml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image" Target="../media/image9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svg"/><Relationship Id="rId1" Type="http://schemas.openxmlformats.org/officeDocument/2006/relationships/image" Target="../media/image12.svg"/></Relationships>
</file>

<file path=ppt/diagrams/_rels/data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svg"/><Relationship Id="rId1" Type="http://schemas.openxmlformats.org/officeDocument/2006/relationships/image" Target="../media/image15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image" Target="../media/image9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svg"/><Relationship Id="rId1" Type="http://schemas.openxmlformats.org/officeDocument/2006/relationships/image" Target="../media/image12.svg"/></Relationships>
</file>

<file path=ppt/diagrams/_rels/drawing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svg"/><Relationship Id="rId1" Type="http://schemas.openxmlformats.org/officeDocument/2006/relationships/image" Target="../media/image15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icontext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bg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icontext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bg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icontext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bg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2B2AD05-7379-4861-8670-2FCF6AA85EF2}" type="doc">
      <dgm:prSet loTypeId="urn:microsoft.com/office/officeart/2005/8/layout/matrix3" loCatId="matrix" qsTypeId="urn:microsoft.com/office/officeart/2005/8/quickstyle/simple4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E5911AB9-6273-4B0A-8AC3-52464E6A3A91}">
      <dgm:prSet/>
      <dgm:spPr/>
      <dgm:t>
        <a:bodyPr/>
        <a:lstStyle/>
        <a:p>
          <a:r>
            <a:rPr lang="en-US"/>
            <a:t>Speaker-related information</a:t>
          </a:r>
        </a:p>
      </dgm:t>
    </dgm:pt>
    <dgm:pt modelId="{BA0E2F1E-31C6-4AC4-80C7-7F754AA312F1}" type="parTrans" cxnId="{079EAE1D-C032-43DC-AA2D-7B30A11DC557}">
      <dgm:prSet/>
      <dgm:spPr/>
      <dgm:t>
        <a:bodyPr/>
        <a:lstStyle/>
        <a:p>
          <a:endParaRPr lang="en-US"/>
        </a:p>
      </dgm:t>
    </dgm:pt>
    <dgm:pt modelId="{59A86926-81FB-4B7C-A0CF-E56E3AC585E5}" type="sibTrans" cxnId="{079EAE1D-C032-43DC-AA2D-7B30A11DC557}">
      <dgm:prSet/>
      <dgm:spPr/>
      <dgm:t>
        <a:bodyPr/>
        <a:lstStyle/>
        <a:p>
          <a:endParaRPr lang="en-US"/>
        </a:p>
      </dgm:t>
    </dgm:pt>
    <dgm:pt modelId="{987FE8D3-3157-416E-AFAD-EF3C9B7BAC2C}">
      <dgm:prSet/>
      <dgm:spPr/>
      <dgm:t>
        <a:bodyPr/>
        <a:lstStyle/>
        <a:p>
          <a:r>
            <a:rPr lang="en-US"/>
            <a:t>Speech information</a:t>
          </a:r>
        </a:p>
      </dgm:t>
    </dgm:pt>
    <dgm:pt modelId="{61B40B92-8B92-4549-A719-BACA37D67B99}" type="parTrans" cxnId="{7F4E3429-7F04-4B36-94F7-24A9A6BA8E54}">
      <dgm:prSet/>
      <dgm:spPr/>
      <dgm:t>
        <a:bodyPr/>
        <a:lstStyle/>
        <a:p>
          <a:endParaRPr lang="en-US"/>
        </a:p>
      </dgm:t>
    </dgm:pt>
    <dgm:pt modelId="{D9680E6A-E721-4094-AE05-E58449518E20}" type="sibTrans" cxnId="{7F4E3429-7F04-4B36-94F7-24A9A6BA8E54}">
      <dgm:prSet/>
      <dgm:spPr/>
      <dgm:t>
        <a:bodyPr/>
        <a:lstStyle/>
        <a:p>
          <a:endParaRPr lang="en-US"/>
        </a:p>
      </dgm:t>
    </dgm:pt>
    <dgm:pt modelId="{CE67B697-A37E-4755-A497-D03B9EFEF138}">
      <dgm:prSet/>
      <dgm:spPr/>
      <dgm:t>
        <a:bodyPr/>
        <a:lstStyle/>
        <a:p>
          <a:r>
            <a:rPr lang="en-US"/>
            <a:t>Emotion information</a:t>
          </a:r>
        </a:p>
      </dgm:t>
    </dgm:pt>
    <dgm:pt modelId="{C7B78722-6B7A-4B67-A36B-55054EBA8777}" type="parTrans" cxnId="{80AFF63A-6E36-42B8-BB86-4EE3AF331159}">
      <dgm:prSet/>
      <dgm:spPr/>
      <dgm:t>
        <a:bodyPr/>
        <a:lstStyle/>
        <a:p>
          <a:endParaRPr lang="en-US"/>
        </a:p>
      </dgm:t>
    </dgm:pt>
    <dgm:pt modelId="{6109C461-6107-4159-8C70-E4FEBA347482}" type="sibTrans" cxnId="{80AFF63A-6E36-42B8-BB86-4EE3AF331159}">
      <dgm:prSet/>
      <dgm:spPr/>
      <dgm:t>
        <a:bodyPr/>
        <a:lstStyle/>
        <a:p>
          <a:endParaRPr lang="en-US"/>
        </a:p>
      </dgm:t>
    </dgm:pt>
    <dgm:pt modelId="{B61DA36A-018D-4FD2-A708-00611D02D81A}">
      <dgm:prSet/>
      <dgm:spPr/>
      <dgm:t>
        <a:bodyPr/>
        <a:lstStyle/>
        <a:p>
          <a:r>
            <a:rPr lang="en-US"/>
            <a:t>Others</a:t>
          </a:r>
        </a:p>
      </dgm:t>
    </dgm:pt>
    <dgm:pt modelId="{DAEAC8E9-BC90-4AA5-BCB3-9CC7CF9DC196}" type="parTrans" cxnId="{1AAEEC8D-9C8D-4765-8717-6D29A638BDF8}">
      <dgm:prSet/>
      <dgm:spPr/>
      <dgm:t>
        <a:bodyPr/>
        <a:lstStyle/>
        <a:p>
          <a:endParaRPr lang="en-US"/>
        </a:p>
      </dgm:t>
    </dgm:pt>
    <dgm:pt modelId="{1078A7C1-2850-4528-9FE8-E13DB01F5407}" type="sibTrans" cxnId="{1AAEEC8D-9C8D-4765-8717-6D29A638BDF8}">
      <dgm:prSet/>
      <dgm:spPr/>
      <dgm:t>
        <a:bodyPr/>
        <a:lstStyle/>
        <a:p>
          <a:endParaRPr lang="en-US"/>
        </a:p>
      </dgm:t>
    </dgm:pt>
    <dgm:pt modelId="{3A90CCB2-807E-436A-94FA-56251A1BE840}" type="pres">
      <dgm:prSet presAssocID="{B2B2AD05-7379-4861-8670-2FCF6AA85EF2}" presName="matrix" presStyleCnt="0">
        <dgm:presLayoutVars>
          <dgm:chMax val="1"/>
          <dgm:dir/>
          <dgm:resizeHandles val="exact"/>
        </dgm:presLayoutVars>
      </dgm:prSet>
      <dgm:spPr/>
    </dgm:pt>
    <dgm:pt modelId="{E8505094-8DA4-4570-BD94-13F725447976}" type="pres">
      <dgm:prSet presAssocID="{B2B2AD05-7379-4861-8670-2FCF6AA85EF2}" presName="diamond" presStyleLbl="bgShp" presStyleIdx="0" presStyleCnt="1"/>
      <dgm:spPr/>
    </dgm:pt>
    <dgm:pt modelId="{50B7CC04-037A-4E7F-90DE-4A38AA90DE46}" type="pres">
      <dgm:prSet presAssocID="{B2B2AD05-7379-4861-8670-2FCF6AA85EF2}" presName="quad1" presStyleLbl="node1" presStyleIdx="0" presStyleCnt="4">
        <dgm:presLayoutVars>
          <dgm:chMax val="0"/>
          <dgm:chPref val="0"/>
          <dgm:bulletEnabled val="1"/>
        </dgm:presLayoutVars>
      </dgm:prSet>
      <dgm:spPr/>
    </dgm:pt>
    <dgm:pt modelId="{8A00233F-16EF-4834-AD89-7B75A85C0636}" type="pres">
      <dgm:prSet presAssocID="{B2B2AD05-7379-4861-8670-2FCF6AA85EF2}" presName="quad2" presStyleLbl="node1" presStyleIdx="1" presStyleCnt="4">
        <dgm:presLayoutVars>
          <dgm:chMax val="0"/>
          <dgm:chPref val="0"/>
          <dgm:bulletEnabled val="1"/>
        </dgm:presLayoutVars>
      </dgm:prSet>
      <dgm:spPr/>
    </dgm:pt>
    <dgm:pt modelId="{F91373E5-2A0B-4DDF-84C2-F71A9EEFE444}" type="pres">
      <dgm:prSet presAssocID="{B2B2AD05-7379-4861-8670-2FCF6AA85EF2}" presName="quad3" presStyleLbl="node1" presStyleIdx="2" presStyleCnt="4">
        <dgm:presLayoutVars>
          <dgm:chMax val="0"/>
          <dgm:chPref val="0"/>
          <dgm:bulletEnabled val="1"/>
        </dgm:presLayoutVars>
      </dgm:prSet>
      <dgm:spPr/>
    </dgm:pt>
    <dgm:pt modelId="{E4463DB6-6CF3-458E-84B1-21DFE6D9C399}" type="pres">
      <dgm:prSet presAssocID="{B2B2AD05-7379-4861-8670-2FCF6AA85EF2}" presName="quad4" presStyleLbl="node1" presStyleIdx="3" presStyleCnt="4">
        <dgm:presLayoutVars>
          <dgm:chMax val="0"/>
          <dgm:chPref val="0"/>
          <dgm:bulletEnabled val="1"/>
        </dgm:presLayoutVars>
      </dgm:prSet>
      <dgm:spPr/>
    </dgm:pt>
  </dgm:ptLst>
  <dgm:cxnLst>
    <dgm:cxn modelId="{079EAE1D-C032-43DC-AA2D-7B30A11DC557}" srcId="{B2B2AD05-7379-4861-8670-2FCF6AA85EF2}" destId="{E5911AB9-6273-4B0A-8AC3-52464E6A3A91}" srcOrd="0" destOrd="0" parTransId="{BA0E2F1E-31C6-4AC4-80C7-7F754AA312F1}" sibTransId="{59A86926-81FB-4B7C-A0CF-E56E3AC585E5}"/>
    <dgm:cxn modelId="{09D00C27-2274-442F-A95D-6E4A330B0186}" type="presOf" srcId="{CE67B697-A37E-4755-A497-D03B9EFEF138}" destId="{F91373E5-2A0B-4DDF-84C2-F71A9EEFE444}" srcOrd="0" destOrd="0" presId="urn:microsoft.com/office/officeart/2005/8/layout/matrix3"/>
    <dgm:cxn modelId="{7F4E3429-7F04-4B36-94F7-24A9A6BA8E54}" srcId="{B2B2AD05-7379-4861-8670-2FCF6AA85EF2}" destId="{987FE8D3-3157-416E-AFAD-EF3C9B7BAC2C}" srcOrd="1" destOrd="0" parTransId="{61B40B92-8B92-4549-A719-BACA37D67B99}" sibTransId="{D9680E6A-E721-4094-AE05-E58449518E20}"/>
    <dgm:cxn modelId="{80AFF63A-6E36-42B8-BB86-4EE3AF331159}" srcId="{B2B2AD05-7379-4861-8670-2FCF6AA85EF2}" destId="{CE67B697-A37E-4755-A497-D03B9EFEF138}" srcOrd="2" destOrd="0" parTransId="{C7B78722-6B7A-4B67-A36B-55054EBA8777}" sibTransId="{6109C461-6107-4159-8C70-E4FEBA347482}"/>
    <dgm:cxn modelId="{8CC4F33B-BDB9-4A35-A87B-071D40E90269}" type="presOf" srcId="{987FE8D3-3157-416E-AFAD-EF3C9B7BAC2C}" destId="{8A00233F-16EF-4834-AD89-7B75A85C0636}" srcOrd="0" destOrd="0" presId="urn:microsoft.com/office/officeart/2005/8/layout/matrix3"/>
    <dgm:cxn modelId="{7274DB57-6855-471D-BB3E-879CB4DF4315}" type="presOf" srcId="{B2B2AD05-7379-4861-8670-2FCF6AA85EF2}" destId="{3A90CCB2-807E-436A-94FA-56251A1BE840}" srcOrd="0" destOrd="0" presId="urn:microsoft.com/office/officeart/2005/8/layout/matrix3"/>
    <dgm:cxn modelId="{A7200680-FF1F-4546-8A45-008B0F4A73B8}" type="presOf" srcId="{B61DA36A-018D-4FD2-A708-00611D02D81A}" destId="{E4463DB6-6CF3-458E-84B1-21DFE6D9C399}" srcOrd="0" destOrd="0" presId="urn:microsoft.com/office/officeart/2005/8/layout/matrix3"/>
    <dgm:cxn modelId="{1AAEEC8D-9C8D-4765-8717-6D29A638BDF8}" srcId="{B2B2AD05-7379-4861-8670-2FCF6AA85EF2}" destId="{B61DA36A-018D-4FD2-A708-00611D02D81A}" srcOrd="3" destOrd="0" parTransId="{DAEAC8E9-BC90-4AA5-BCB3-9CC7CF9DC196}" sibTransId="{1078A7C1-2850-4528-9FE8-E13DB01F5407}"/>
    <dgm:cxn modelId="{283413D5-26DF-425D-8E78-065DB91E7AF7}" type="presOf" srcId="{E5911AB9-6273-4B0A-8AC3-52464E6A3A91}" destId="{50B7CC04-037A-4E7F-90DE-4A38AA90DE46}" srcOrd="0" destOrd="0" presId="urn:microsoft.com/office/officeart/2005/8/layout/matrix3"/>
    <dgm:cxn modelId="{C65F215F-2637-440A-A9D1-C97B850660D9}" type="presParOf" srcId="{3A90CCB2-807E-436A-94FA-56251A1BE840}" destId="{E8505094-8DA4-4570-BD94-13F725447976}" srcOrd="0" destOrd="0" presId="urn:microsoft.com/office/officeart/2005/8/layout/matrix3"/>
    <dgm:cxn modelId="{661D9DC4-6446-4127-80E1-5732DA4FFC9E}" type="presParOf" srcId="{3A90CCB2-807E-436A-94FA-56251A1BE840}" destId="{50B7CC04-037A-4E7F-90DE-4A38AA90DE46}" srcOrd="1" destOrd="0" presId="urn:microsoft.com/office/officeart/2005/8/layout/matrix3"/>
    <dgm:cxn modelId="{6465700A-336B-4128-A7D8-9DAA6439F320}" type="presParOf" srcId="{3A90CCB2-807E-436A-94FA-56251A1BE840}" destId="{8A00233F-16EF-4834-AD89-7B75A85C0636}" srcOrd="2" destOrd="0" presId="urn:microsoft.com/office/officeart/2005/8/layout/matrix3"/>
    <dgm:cxn modelId="{8D615935-E418-4AB9-8A62-41A9D7CDEA92}" type="presParOf" srcId="{3A90CCB2-807E-436A-94FA-56251A1BE840}" destId="{F91373E5-2A0B-4DDF-84C2-F71A9EEFE444}" srcOrd="3" destOrd="0" presId="urn:microsoft.com/office/officeart/2005/8/layout/matrix3"/>
    <dgm:cxn modelId="{44F57E8F-BCC7-48B7-8D7B-ECC2C4F2BCF6}" type="presParOf" srcId="{3A90CCB2-807E-436A-94FA-56251A1BE840}" destId="{E4463DB6-6CF3-458E-84B1-21DFE6D9C399}" srcOrd="4" destOrd="0" presId="urn:microsoft.com/office/officeart/2005/8/layout/matrix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E2F0CFF8-0D9F-4F03-B080-C146EB50847C}" type="doc">
      <dgm:prSet loTypeId="urn:microsoft.com/office/officeart/2005/8/layout/vList2" loCatId="list" qsTypeId="urn:microsoft.com/office/officeart/2005/8/quickstyle/simple4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96C1FB40-294A-40A3-9DEE-3D2FAD0FE1AD}">
      <dgm:prSet/>
      <dgm:spPr/>
      <dgm:t>
        <a:bodyPr/>
        <a:lstStyle/>
        <a:p>
          <a:r>
            <a:rPr lang="en-US"/>
            <a:t>1. Environmental Interference</a:t>
          </a:r>
        </a:p>
      </dgm:t>
    </dgm:pt>
    <dgm:pt modelId="{7AC9CC4F-CEB2-4AFF-8D89-562685EB7C10}" type="parTrans" cxnId="{5DD031E9-309E-4606-9B4D-858F2673A861}">
      <dgm:prSet/>
      <dgm:spPr/>
      <dgm:t>
        <a:bodyPr/>
        <a:lstStyle/>
        <a:p>
          <a:endParaRPr lang="en-US"/>
        </a:p>
      </dgm:t>
    </dgm:pt>
    <dgm:pt modelId="{C98C8D87-F15A-458A-B623-D7014BB3B183}" type="sibTrans" cxnId="{5DD031E9-309E-4606-9B4D-858F2673A861}">
      <dgm:prSet/>
      <dgm:spPr/>
      <dgm:t>
        <a:bodyPr/>
        <a:lstStyle/>
        <a:p>
          <a:endParaRPr lang="en-US"/>
        </a:p>
      </dgm:t>
    </dgm:pt>
    <dgm:pt modelId="{ECF7AE5B-321D-4CD3-81A7-180651EC0B0C}">
      <dgm:prSet/>
      <dgm:spPr/>
      <dgm:t>
        <a:bodyPr/>
        <a:lstStyle/>
        <a:p>
          <a:r>
            <a:rPr lang="en-US"/>
            <a:t>2. Linguistic Complexity</a:t>
          </a:r>
        </a:p>
      </dgm:t>
    </dgm:pt>
    <dgm:pt modelId="{2ABD588A-F364-4E89-97BF-CE2D2292CF7F}" type="parTrans" cxnId="{BC7381B9-F7B4-4974-B289-96DF68D9DBAC}">
      <dgm:prSet/>
      <dgm:spPr/>
      <dgm:t>
        <a:bodyPr/>
        <a:lstStyle/>
        <a:p>
          <a:endParaRPr lang="en-US"/>
        </a:p>
      </dgm:t>
    </dgm:pt>
    <dgm:pt modelId="{9E8F6260-09D9-404C-A059-D30EC080AA03}" type="sibTrans" cxnId="{BC7381B9-F7B4-4974-B289-96DF68D9DBAC}">
      <dgm:prSet/>
      <dgm:spPr/>
      <dgm:t>
        <a:bodyPr/>
        <a:lstStyle/>
        <a:p>
          <a:endParaRPr lang="en-US"/>
        </a:p>
      </dgm:t>
    </dgm:pt>
    <dgm:pt modelId="{DA5617FB-7403-45FA-9AA6-3B9AE91CDC12}">
      <dgm:prSet/>
      <dgm:spPr/>
      <dgm:t>
        <a:bodyPr/>
        <a:lstStyle/>
        <a:p>
          <a:r>
            <a:rPr lang="en-US"/>
            <a:t>3. Speaker Diversity and Atypical Speech</a:t>
          </a:r>
        </a:p>
      </dgm:t>
    </dgm:pt>
    <dgm:pt modelId="{A67C0CDC-87FA-457D-BDA4-CFF2A3A570C3}" type="parTrans" cxnId="{A73B0215-518A-4F0D-A727-786165BFC222}">
      <dgm:prSet/>
      <dgm:spPr/>
      <dgm:t>
        <a:bodyPr/>
        <a:lstStyle/>
        <a:p>
          <a:endParaRPr lang="en-US"/>
        </a:p>
      </dgm:t>
    </dgm:pt>
    <dgm:pt modelId="{2646A7DF-2B86-4823-A5D2-3E43725DCD2C}" type="sibTrans" cxnId="{A73B0215-518A-4F0D-A727-786165BFC222}">
      <dgm:prSet/>
      <dgm:spPr/>
      <dgm:t>
        <a:bodyPr/>
        <a:lstStyle/>
        <a:p>
          <a:endParaRPr lang="en-US"/>
        </a:p>
      </dgm:t>
    </dgm:pt>
    <dgm:pt modelId="{EF1A7F86-231E-4C91-8159-EEE8F3639ADF}" type="pres">
      <dgm:prSet presAssocID="{E2F0CFF8-0D9F-4F03-B080-C146EB50847C}" presName="linear" presStyleCnt="0">
        <dgm:presLayoutVars>
          <dgm:animLvl val="lvl"/>
          <dgm:resizeHandles val="exact"/>
        </dgm:presLayoutVars>
      </dgm:prSet>
      <dgm:spPr/>
    </dgm:pt>
    <dgm:pt modelId="{57646502-B4C7-42B4-9AE2-33489C08182B}" type="pres">
      <dgm:prSet presAssocID="{96C1FB40-294A-40A3-9DEE-3D2FAD0FE1AD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5E4D8DAF-E94C-4624-8863-ED553187F120}" type="pres">
      <dgm:prSet presAssocID="{C98C8D87-F15A-458A-B623-D7014BB3B183}" presName="spacer" presStyleCnt="0"/>
      <dgm:spPr/>
    </dgm:pt>
    <dgm:pt modelId="{317D2A16-CA79-4597-B273-4DD50B27E3DC}" type="pres">
      <dgm:prSet presAssocID="{ECF7AE5B-321D-4CD3-81A7-180651EC0B0C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241ECF4A-CE04-4D8F-A941-2315C08557F4}" type="pres">
      <dgm:prSet presAssocID="{9E8F6260-09D9-404C-A059-D30EC080AA03}" presName="spacer" presStyleCnt="0"/>
      <dgm:spPr/>
    </dgm:pt>
    <dgm:pt modelId="{749B632D-DFDD-498F-B843-FAF6B0526BD9}" type="pres">
      <dgm:prSet presAssocID="{DA5617FB-7403-45FA-9AA6-3B9AE91CDC12}" presName="parentText" presStyleLbl="node1" presStyleIdx="2" presStyleCnt="3">
        <dgm:presLayoutVars>
          <dgm:chMax val="0"/>
          <dgm:bulletEnabled val="1"/>
        </dgm:presLayoutVars>
      </dgm:prSet>
      <dgm:spPr/>
    </dgm:pt>
  </dgm:ptLst>
  <dgm:cxnLst>
    <dgm:cxn modelId="{A00D3814-77AC-4ECE-AE62-210302AA55F5}" type="presOf" srcId="{DA5617FB-7403-45FA-9AA6-3B9AE91CDC12}" destId="{749B632D-DFDD-498F-B843-FAF6B0526BD9}" srcOrd="0" destOrd="0" presId="urn:microsoft.com/office/officeart/2005/8/layout/vList2"/>
    <dgm:cxn modelId="{A73B0215-518A-4F0D-A727-786165BFC222}" srcId="{E2F0CFF8-0D9F-4F03-B080-C146EB50847C}" destId="{DA5617FB-7403-45FA-9AA6-3B9AE91CDC12}" srcOrd="2" destOrd="0" parTransId="{A67C0CDC-87FA-457D-BDA4-CFF2A3A570C3}" sibTransId="{2646A7DF-2B86-4823-A5D2-3E43725DCD2C}"/>
    <dgm:cxn modelId="{4CBD3591-2C8C-46D4-BB22-935DB7AE1096}" type="presOf" srcId="{ECF7AE5B-321D-4CD3-81A7-180651EC0B0C}" destId="{317D2A16-CA79-4597-B273-4DD50B27E3DC}" srcOrd="0" destOrd="0" presId="urn:microsoft.com/office/officeart/2005/8/layout/vList2"/>
    <dgm:cxn modelId="{9485CFA2-CDFB-4E21-9A30-38CC44E839B1}" type="presOf" srcId="{96C1FB40-294A-40A3-9DEE-3D2FAD0FE1AD}" destId="{57646502-B4C7-42B4-9AE2-33489C08182B}" srcOrd="0" destOrd="0" presId="urn:microsoft.com/office/officeart/2005/8/layout/vList2"/>
    <dgm:cxn modelId="{BC7381B9-F7B4-4974-B289-96DF68D9DBAC}" srcId="{E2F0CFF8-0D9F-4F03-B080-C146EB50847C}" destId="{ECF7AE5B-321D-4CD3-81A7-180651EC0B0C}" srcOrd="1" destOrd="0" parTransId="{2ABD588A-F364-4E89-97BF-CE2D2292CF7F}" sibTransId="{9E8F6260-09D9-404C-A059-D30EC080AA03}"/>
    <dgm:cxn modelId="{0392CBD6-CC88-4FD1-BE54-64D4104BA1D8}" type="presOf" srcId="{E2F0CFF8-0D9F-4F03-B080-C146EB50847C}" destId="{EF1A7F86-231E-4C91-8159-EEE8F3639ADF}" srcOrd="0" destOrd="0" presId="urn:microsoft.com/office/officeart/2005/8/layout/vList2"/>
    <dgm:cxn modelId="{5DD031E9-309E-4606-9B4D-858F2673A861}" srcId="{E2F0CFF8-0D9F-4F03-B080-C146EB50847C}" destId="{96C1FB40-294A-40A3-9DEE-3D2FAD0FE1AD}" srcOrd="0" destOrd="0" parTransId="{7AC9CC4F-CEB2-4AFF-8D89-562685EB7C10}" sibTransId="{C98C8D87-F15A-458A-B623-D7014BB3B183}"/>
    <dgm:cxn modelId="{D1114B08-5C8C-472F-9C2A-3E5F5CEE56CA}" type="presParOf" srcId="{EF1A7F86-231E-4C91-8159-EEE8F3639ADF}" destId="{57646502-B4C7-42B4-9AE2-33489C08182B}" srcOrd="0" destOrd="0" presId="urn:microsoft.com/office/officeart/2005/8/layout/vList2"/>
    <dgm:cxn modelId="{D74A5189-B15C-46E8-890A-8764A631B057}" type="presParOf" srcId="{EF1A7F86-231E-4C91-8159-EEE8F3639ADF}" destId="{5E4D8DAF-E94C-4624-8863-ED553187F120}" srcOrd="1" destOrd="0" presId="urn:microsoft.com/office/officeart/2005/8/layout/vList2"/>
    <dgm:cxn modelId="{154936A7-71AA-48E2-BEE6-921D43F15917}" type="presParOf" srcId="{EF1A7F86-231E-4C91-8159-EEE8F3639ADF}" destId="{317D2A16-CA79-4597-B273-4DD50B27E3DC}" srcOrd="2" destOrd="0" presId="urn:microsoft.com/office/officeart/2005/8/layout/vList2"/>
    <dgm:cxn modelId="{23330DE5-5F45-47EA-8555-5930CF78BCFA}" type="presParOf" srcId="{EF1A7F86-231E-4C91-8159-EEE8F3639ADF}" destId="{241ECF4A-CE04-4D8F-A941-2315C08557F4}" srcOrd="3" destOrd="0" presId="urn:microsoft.com/office/officeart/2005/8/layout/vList2"/>
    <dgm:cxn modelId="{31590D06-73AB-442E-B7D3-01FE5E3C8D16}" type="presParOf" srcId="{EF1A7F86-231E-4C91-8159-EEE8F3639ADF}" destId="{749B632D-DFDD-498F-B843-FAF6B0526BD9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EB3EE0F7-C913-4277-AE65-B6210069C352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icontext_colorful1" csCatId="colorful" phldr="1"/>
      <dgm:spPr/>
      <dgm:t>
        <a:bodyPr/>
        <a:lstStyle/>
        <a:p>
          <a:endParaRPr lang="en-US"/>
        </a:p>
      </dgm:t>
    </dgm:pt>
    <dgm:pt modelId="{DE79E88A-D714-4DFD-AC23-1B24C76CFF9E}">
      <dgm:prSet/>
      <dgm:spPr/>
      <dgm:t>
        <a:bodyPr/>
        <a:lstStyle/>
        <a:p>
          <a:r>
            <a:rPr lang="en-US" b="1"/>
            <a:t>Background Noise: </a:t>
          </a:r>
          <a:r>
            <a:rPr lang="en-US"/>
            <a:t>Sudden loud noises, music, or wind degrade audio signals, making it difficult for the system to isolate the speaker's voice.</a:t>
          </a:r>
        </a:p>
      </dgm:t>
    </dgm:pt>
    <dgm:pt modelId="{77DD5D68-38FA-4B06-AFFD-9BAE577BB601}" type="parTrans" cxnId="{92D67004-4106-43A7-A2F5-F377F2DBC550}">
      <dgm:prSet/>
      <dgm:spPr/>
      <dgm:t>
        <a:bodyPr/>
        <a:lstStyle/>
        <a:p>
          <a:endParaRPr lang="en-US"/>
        </a:p>
      </dgm:t>
    </dgm:pt>
    <dgm:pt modelId="{B1C26F84-0CB5-4843-A835-E3D77DC6E206}" type="sibTrans" cxnId="{92D67004-4106-43A7-A2F5-F377F2DBC550}">
      <dgm:prSet/>
      <dgm:spPr/>
      <dgm:t>
        <a:bodyPr/>
        <a:lstStyle/>
        <a:p>
          <a:endParaRPr lang="en-US"/>
        </a:p>
      </dgm:t>
    </dgm:pt>
    <dgm:pt modelId="{04962F9A-7329-4B39-BCDF-2A35E4EEACA4}">
      <dgm:prSet/>
      <dgm:spPr/>
      <dgm:t>
        <a:bodyPr/>
        <a:lstStyle/>
        <a:p>
          <a:r>
            <a:rPr lang="en-US" b="1"/>
            <a:t>Microphone Quality: </a:t>
          </a:r>
          <a:r>
            <a:rPr lang="en-US"/>
            <a:t>Low-fidelity microphones or distance from the sound source lead to missing frequencies, which lowers recognition accuracy.</a:t>
          </a:r>
        </a:p>
      </dgm:t>
    </dgm:pt>
    <dgm:pt modelId="{E9D5A08B-2C89-4B71-9D05-7CE671E68A4E}" type="parTrans" cxnId="{BD9A2575-DDBA-4447-9EEF-1BE7671C46A2}">
      <dgm:prSet/>
      <dgm:spPr/>
      <dgm:t>
        <a:bodyPr/>
        <a:lstStyle/>
        <a:p>
          <a:endParaRPr lang="en-US"/>
        </a:p>
      </dgm:t>
    </dgm:pt>
    <dgm:pt modelId="{E694EBB9-A2C2-449E-880A-A5BF9885350E}" type="sibTrans" cxnId="{BD9A2575-DDBA-4447-9EEF-1BE7671C46A2}">
      <dgm:prSet/>
      <dgm:spPr/>
      <dgm:t>
        <a:bodyPr/>
        <a:lstStyle/>
        <a:p>
          <a:endParaRPr lang="en-US"/>
        </a:p>
      </dgm:t>
    </dgm:pt>
    <dgm:pt modelId="{73EE2525-6D28-4A73-9BAE-8312393EE8ED}">
      <dgm:prSet/>
      <dgm:spPr/>
      <dgm:t>
        <a:bodyPr/>
        <a:lstStyle/>
        <a:p>
          <a:r>
            <a:rPr lang="en-US" b="1"/>
            <a:t>Overlapping Speech: </a:t>
          </a:r>
          <a:r>
            <a:rPr lang="en-US"/>
            <a:t>When multiple people talk over each other in a meeting or group setting, it becomes challenging to separate and track individual speakers.</a:t>
          </a:r>
        </a:p>
      </dgm:t>
    </dgm:pt>
    <dgm:pt modelId="{8C0A4906-8C3E-46C3-A701-8EF73B36B904}" type="parTrans" cxnId="{ECB3C7BC-DCB9-44E3-A445-C84243A85FE4}">
      <dgm:prSet/>
      <dgm:spPr/>
      <dgm:t>
        <a:bodyPr/>
        <a:lstStyle/>
        <a:p>
          <a:endParaRPr lang="en-US"/>
        </a:p>
      </dgm:t>
    </dgm:pt>
    <dgm:pt modelId="{583DD665-61BE-435B-B807-8603EF12EB83}" type="sibTrans" cxnId="{ECB3C7BC-DCB9-44E3-A445-C84243A85FE4}">
      <dgm:prSet/>
      <dgm:spPr/>
      <dgm:t>
        <a:bodyPr/>
        <a:lstStyle/>
        <a:p>
          <a:endParaRPr lang="en-US"/>
        </a:p>
      </dgm:t>
    </dgm:pt>
    <dgm:pt modelId="{EB934A39-E4E1-47C7-8C9F-AE8C2593CA9E}" type="pres">
      <dgm:prSet presAssocID="{EB3EE0F7-C913-4277-AE65-B6210069C352}" presName="root" presStyleCnt="0">
        <dgm:presLayoutVars>
          <dgm:dir/>
          <dgm:resizeHandles val="exact"/>
        </dgm:presLayoutVars>
      </dgm:prSet>
      <dgm:spPr/>
    </dgm:pt>
    <dgm:pt modelId="{BC9D2D17-FBED-4E5D-9D68-F724393EDD85}" type="pres">
      <dgm:prSet presAssocID="{DE79E88A-D714-4DFD-AC23-1B24C76CFF9E}" presName="compNode" presStyleCnt="0"/>
      <dgm:spPr/>
    </dgm:pt>
    <dgm:pt modelId="{F3C4F21B-1410-4A1C-A351-33ACAAF32782}" type="pres">
      <dgm:prSet presAssocID="{DE79E88A-D714-4DFD-AC23-1B24C76CFF9E}" presName="bgRect" presStyleLbl="bgShp" presStyleIdx="0" presStyleCnt="3"/>
      <dgm:spPr/>
    </dgm:pt>
    <dgm:pt modelId="{63BF554F-C5F7-4199-B0E8-D961F42E0870}" type="pres">
      <dgm:prSet presAssocID="{DE79E88A-D714-4DFD-AC23-1B24C76CFF9E}" presName="iconRect" presStyleLbl="node1" presStyleIdx="0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oice"/>
        </a:ext>
      </dgm:extLst>
    </dgm:pt>
    <dgm:pt modelId="{247FE102-9D48-4A0E-9919-793217093566}" type="pres">
      <dgm:prSet presAssocID="{DE79E88A-D714-4DFD-AC23-1B24C76CFF9E}" presName="spaceRect" presStyleCnt="0"/>
      <dgm:spPr/>
    </dgm:pt>
    <dgm:pt modelId="{2EABA99D-3DC7-4787-B3EA-FDDBEFEBEAB2}" type="pres">
      <dgm:prSet presAssocID="{DE79E88A-D714-4DFD-AC23-1B24C76CFF9E}" presName="parTx" presStyleLbl="revTx" presStyleIdx="0" presStyleCnt="3">
        <dgm:presLayoutVars>
          <dgm:chMax val="0"/>
          <dgm:chPref val="0"/>
        </dgm:presLayoutVars>
      </dgm:prSet>
      <dgm:spPr/>
    </dgm:pt>
    <dgm:pt modelId="{5615FA29-0F8D-42BD-97C4-59DD5B6172F7}" type="pres">
      <dgm:prSet presAssocID="{B1C26F84-0CB5-4843-A835-E3D77DC6E206}" presName="sibTrans" presStyleCnt="0"/>
      <dgm:spPr/>
    </dgm:pt>
    <dgm:pt modelId="{F2903012-6EFC-4EF2-A913-5B6AE4EBCAD8}" type="pres">
      <dgm:prSet presAssocID="{04962F9A-7329-4B39-BCDF-2A35E4EEACA4}" presName="compNode" presStyleCnt="0"/>
      <dgm:spPr/>
    </dgm:pt>
    <dgm:pt modelId="{2FFD47D4-D470-4EC6-A788-E5FCEFF0225A}" type="pres">
      <dgm:prSet presAssocID="{04962F9A-7329-4B39-BCDF-2A35E4EEACA4}" presName="bgRect" presStyleLbl="bgShp" presStyleIdx="1" presStyleCnt="3"/>
      <dgm:spPr/>
    </dgm:pt>
    <dgm:pt modelId="{29FB6CFD-6C17-43ED-BE31-A0E3EB65B4E7}" type="pres">
      <dgm:prSet presAssocID="{04962F9A-7329-4B39-BCDF-2A35E4EEACA4}" presName="iconRect" presStyleLbl="node1" presStyleIdx="1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odcast"/>
        </a:ext>
      </dgm:extLst>
    </dgm:pt>
    <dgm:pt modelId="{CA0F66B8-CB9E-495F-9830-978907F32979}" type="pres">
      <dgm:prSet presAssocID="{04962F9A-7329-4B39-BCDF-2A35E4EEACA4}" presName="spaceRect" presStyleCnt="0"/>
      <dgm:spPr/>
    </dgm:pt>
    <dgm:pt modelId="{7CDCF55F-4C4D-499D-9EB4-47B4928D966F}" type="pres">
      <dgm:prSet presAssocID="{04962F9A-7329-4B39-BCDF-2A35E4EEACA4}" presName="parTx" presStyleLbl="revTx" presStyleIdx="1" presStyleCnt="3">
        <dgm:presLayoutVars>
          <dgm:chMax val="0"/>
          <dgm:chPref val="0"/>
        </dgm:presLayoutVars>
      </dgm:prSet>
      <dgm:spPr/>
    </dgm:pt>
    <dgm:pt modelId="{4F30739B-79C7-4C5D-8496-779BEADFC115}" type="pres">
      <dgm:prSet presAssocID="{E694EBB9-A2C2-449E-880A-A5BF9885350E}" presName="sibTrans" presStyleCnt="0"/>
      <dgm:spPr/>
    </dgm:pt>
    <dgm:pt modelId="{E2789B8C-FED9-4E11-83A5-1D36D32FF93B}" type="pres">
      <dgm:prSet presAssocID="{73EE2525-6D28-4A73-9BAE-8312393EE8ED}" presName="compNode" presStyleCnt="0"/>
      <dgm:spPr/>
    </dgm:pt>
    <dgm:pt modelId="{EECA3C2C-6C4E-414F-B14E-3B37FD45F360}" type="pres">
      <dgm:prSet presAssocID="{73EE2525-6D28-4A73-9BAE-8312393EE8ED}" presName="bgRect" presStyleLbl="bgShp" presStyleIdx="2" presStyleCnt="3"/>
      <dgm:spPr/>
    </dgm:pt>
    <dgm:pt modelId="{BA822573-A298-4815-A829-86E24227F788}" type="pres">
      <dgm:prSet presAssocID="{73EE2525-6D28-4A73-9BAE-8312393EE8ED}" presName="iconRect" presStyleLbl="node1" presStyleIdx="2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ar"/>
        </a:ext>
      </dgm:extLst>
    </dgm:pt>
    <dgm:pt modelId="{C5858BFD-CA57-47EF-AB5C-993EB492930F}" type="pres">
      <dgm:prSet presAssocID="{73EE2525-6D28-4A73-9BAE-8312393EE8ED}" presName="spaceRect" presStyleCnt="0"/>
      <dgm:spPr/>
    </dgm:pt>
    <dgm:pt modelId="{66AE70AE-6690-4203-BB96-4884F8E8A395}" type="pres">
      <dgm:prSet presAssocID="{73EE2525-6D28-4A73-9BAE-8312393EE8ED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92D67004-4106-43A7-A2F5-F377F2DBC550}" srcId="{EB3EE0F7-C913-4277-AE65-B6210069C352}" destId="{DE79E88A-D714-4DFD-AC23-1B24C76CFF9E}" srcOrd="0" destOrd="0" parTransId="{77DD5D68-38FA-4B06-AFFD-9BAE577BB601}" sibTransId="{B1C26F84-0CB5-4843-A835-E3D77DC6E206}"/>
    <dgm:cxn modelId="{FF9BCF07-69E6-4EB5-923E-8E754D4188A1}" type="presOf" srcId="{04962F9A-7329-4B39-BCDF-2A35E4EEACA4}" destId="{7CDCF55F-4C4D-499D-9EB4-47B4928D966F}" srcOrd="0" destOrd="0" presId="urn:microsoft.com/office/officeart/2018/2/layout/IconVerticalSolidList"/>
    <dgm:cxn modelId="{1DCD1A35-21F7-4E24-9300-393F8E04BF42}" type="presOf" srcId="{73EE2525-6D28-4A73-9BAE-8312393EE8ED}" destId="{66AE70AE-6690-4203-BB96-4884F8E8A395}" srcOrd="0" destOrd="0" presId="urn:microsoft.com/office/officeart/2018/2/layout/IconVerticalSolidList"/>
    <dgm:cxn modelId="{BD9A2575-DDBA-4447-9EEF-1BE7671C46A2}" srcId="{EB3EE0F7-C913-4277-AE65-B6210069C352}" destId="{04962F9A-7329-4B39-BCDF-2A35E4EEACA4}" srcOrd="1" destOrd="0" parTransId="{E9D5A08B-2C89-4B71-9D05-7CE671E68A4E}" sibTransId="{E694EBB9-A2C2-449E-880A-A5BF9885350E}"/>
    <dgm:cxn modelId="{71AD01A4-0BA9-419A-8787-C9000C4F7E44}" type="presOf" srcId="{DE79E88A-D714-4DFD-AC23-1B24C76CFF9E}" destId="{2EABA99D-3DC7-4787-B3EA-FDDBEFEBEAB2}" srcOrd="0" destOrd="0" presId="urn:microsoft.com/office/officeart/2018/2/layout/IconVerticalSolidList"/>
    <dgm:cxn modelId="{8801A4A9-02C8-4D3C-8F89-984CDCDFB702}" type="presOf" srcId="{EB3EE0F7-C913-4277-AE65-B6210069C352}" destId="{EB934A39-E4E1-47C7-8C9F-AE8C2593CA9E}" srcOrd="0" destOrd="0" presId="urn:microsoft.com/office/officeart/2018/2/layout/IconVerticalSolidList"/>
    <dgm:cxn modelId="{ECB3C7BC-DCB9-44E3-A445-C84243A85FE4}" srcId="{EB3EE0F7-C913-4277-AE65-B6210069C352}" destId="{73EE2525-6D28-4A73-9BAE-8312393EE8ED}" srcOrd="2" destOrd="0" parTransId="{8C0A4906-8C3E-46C3-A701-8EF73B36B904}" sibTransId="{583DD665-61BE-435B-B807-8603EF12EB83}"/>
    <dgm:cxn modelId="{DD9ED8A6-EE2F-4630-BA49-CFDC2D9C9DBD}" type="presParOf" srcId="{EB934A39-E4E1-47C7-8C9F-AE8C2593CA9E}" destId="{BC9D2D17-FBED-4E5D-9D68-F724393EDD85}" srcOrd="0" destOrd="0" presId="urn:microsoft.com/office/officeart/2018/2/layout/IconVerticalSolidList"/>
    <dgm:cxn modelId="{53CE7C8D-D77A-4553-B651-11B20C4DC7A6}" type="presParOf" srcId="{BC9D2D17-FBED-4E5D-9D68-F724393EDD85}" destId="{F3C4F21B-1410-4A1C-A351-33ACAAF32782}" srcOrd="0" destOrd="0" presId="urn:microsoft.com/office/officeart/2018/2/layout/IconVerticalSolidList"/>
    <dgm:cxn modelId="{0F890F13-97E0-49C7-AA7C-CB7BA21C2350}" type="presParOf" srcId="{BC9D2D17-FBED-4E5D-9D68-F724393EDD85}" destId="{63BF554F-C5F7-4199-B0E8-D961F42E0870}" srcOrd="1" destOrd="0" presId="urn:microsoft.com/office/officeart/2018/2/layout/IconVerticalSolidList"/>
    <dgm:cxn modelId="{E0055053-7CF1-447E-8A49-960478005905}" type="presParOf" srcId="{BC9D2D17-FBED-4E5D-9D68-F724393EDD85}" destId="{247FE102-9D48-4A0E-9919-793217093566}" srcOrd="2" destOrd="0" presId="urn:microsoft.com/office/officeart/2018/2/layout/IconVerticalSolidList"/>
    <dgm:cxn modelId="{ACA73F92-D799-47B9-A2E8-E2AFCC8D0156}" type="presParOf" srcId="{BC9D2D17-FBED-4E5D-9D68-F724393EDD85}" destId="{2EABA99D-3DC7-4787-B3EA-FDDBEFEBEAB2}" srcOrd="3" destOrd="0" presId="urn:microsoft.com/office/officeart/2018/2/layout/IconVerticalSolidList"/>
    <dgm:cxn modelId="{D0F7B188-0192-49EA-A463-0CBF76945029}" type="presParOf" srcId="{EB934A39-E4E1-47C7-8C9F-AE8C2593CA9E}" destId="{5615FA29-0F8D-42BD-97C4-59DD5B6172F7}" srcOrd="1" destOrd="0" presId="urn:microsoft.com/office/officeart/2018/2/layout/IconVerticalSolidList"/>
    <dgm:cxn modelId="{EC4A31AF-AA7D-4262-B2F2-2FCCEE91B92F}" type="presParOf" srcId="{EB934A39-E4E1-47C7-8C9F-AE8C2593CA9E}" destId="{F2903012-6EFC-4EF2-A913-5B6AE4EBCAD8}" srcOrd="2" destOrd="0" presId="urn:microsoft.com/office/officeart/2018/2/layout/IconVerticalSolidList"/>
    <dgm:cxn modelId="{0482C3D4-DF62-47AF-AE5E-611B47527474}" type="presParOf" srcId="{F2903012-6EFC-4EF2-A913-5B6AE4EBCAD8}" destId="{2FFD47D4-D470-4EC6-A788-E5FCEFF0225A}" srcOrd="0" destOrd="0" presId="urn:microsoft.com/office/officeart/2018/2/layout/IconVerticalSolidList"/>
    <dgm:cxn modelId="{07A4EE68-8969-4BD1-92E7-90A4EF41EEA6}" type="presParOf" srcId="{F2903012-6EFC-4EF2-A913-5B6AE4EBCAD8}" destId="{29FB6CFD-6C17-43ED-BE31-A0E3EB65B4E7}" srcOrd="1" destOrd="0" presId="urn:microsoft.com/office/officeart/2018/2/layout/IconVerticalSolidList"/>
    <dgm:cxn modelId="{39BFBCD5-1DA0-4449-AFA5-B678B85249BF}" type="presParOf" srcId="{F2903012-6EFC-4EF2-A913-5B6AE4EBCAD8}" destId="{CA0F66B8-CB9E-495F-9830-978907F32979}" srcOrd="2" destOrd="0" presId="urn:microsoft.com/office/officeart/2018/2/layout/IconVerticalSolidList"/>
    <dgm:cxn modelId="{12787F5B-1EC3-4FDF-ACDA-3F9B28C89DA5}" type="presParOf" srcId="{F2903012-6EFC-4EF2-A913-5B6AE4EBCAD8}" destId="{7CDCF55F-4C4D-499D-9EB4-47B4928D966F}" srcOrd="3" destOrd="0" presId="urn:microsoft.com/office/officeart/2018/2/layout/IconVerticalSolidList"/>
    <dgm:cxn modelId="{2EF4B64B-43F7-42EB-91A4-5857781B530E}" type="presParOf" srcId="{EB934A39-E4E1-47C7-8C9F-AE8C2593CA9E}" destId="{4F30739B-79C7-4C5D-8496-779BEADFC115}" srcOrd="3" destOrd="0" presId="urn:microsoft.com/office/officeart/2018/2/layout/IconVerticalSolidList"/>
    <dgm:cxn modelId="{EF36189D-8955-4135-ADF5-1A9490933D2B}" type="presParOf" srcId="{EB934A39-E4E1-47C7-8C9F-AE8C2593CA9E}" destId="{E2789B8C-FED9-4E11-83A5-1D36D32FF93B}" srcOrd="4" destOrd="0" presId="urn:microsoft.com/office/officeart/2018/2/layout/IconVerticalSolidList"/>
    <dgm:cxn modelId="{E71083E6-4B0D-4966-89A3-4907E1CAAC1C}" type="presParOf" srcId="{E2789B8C-FED9-4E11-83A5-1D36D32FF93B}" destId="{EECA3C2C-6C4E-414F-B14E-3B37FD45F360}" srcOrd="0" destOrd="0" presId="urn:microsoft.com/office/officeart/2018/2/layout/IconVerticalSolidList"/>
    <dgm:cxn modelId="{661873B0-0D1C-429D-B5B8-5AAEA17E1E50}" type="presParOf" srcId="{E2789B8C-FED9-4E11-83A5-1D36D32FF93B}" destId="{BA822573-A298-4815-A829-86E24227F788}" srcOrd="1" destOrd="0" presId="urn:microsoft.com/office/officeart/2018/2/layout/IconVerticalSolidList"/>
    <dgm:cxn modelId="{48AB63BB-AC5F-4FFE-871C-78528E92ED8D}" type="presParOf" srcId="{E2789B8C-FED9-4E11-83A5-1D36D32FF93B}" destId="{C5858BFD-CA57-47EF-AB5C-993EB492930F}" srcOrd="2" destOrd="0" presId="urn:microsoft.com/office/officeart/2018/2/layout/IconVerticalSolidList"/>
    <dgm:cxn modelId="{46480E7D-F2A7-48DA-AAB8-0792475A1D44}" type="presParOf" srcId="{E2789B8C-FED9-4E11-83A5-1D36D32FF93B}" destId="{66AE70AE-6690-4203-BB96-4884F8E8A395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5D65BB65-68A5-43FC-AC1B-1AC1C3D68D8A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icontext_colorful1" csCatId="colorful" phldr="1"/>
      <dgm:spPr/>
      <dgm:t>
        <a:bodyPr/>
        <a:lstStyle/>
        <a:p>
          <a:endParaRPr lang="en-US"/>
        </a:p>
      </dgm:t>
    </dgm:pt>
    <dgm:pt modelId="{595A18D8-D91C-4CBD-BE44-C4FE3753CEDA}">
      <dgm:prSet/>
      <dgm:spPr/>
      <dgm:t>
        <a:bodyPr/>
        <a:lstStyle/>
        <a:p>
          <a:r>
            <a:rPr lang="en-US" b="1"/>
            <a:t>Homophones and Ambiguity: </a:t>
          </a:r>
          <a:r>
            <a:rPr lang="en-US"/>
            <a:t>Words that sound identical but have different spellings and meanings require the system to use surrounding words (context) to choose the correct one.</a:t>
          </a:r>
        </a:p>
      </dgm:t>
    </dgm:pt>
    <dgm:pt modelId="{5AA86B4F-00CC-4447-BBC4-3AA19DBA9A80}" type="parTrans" cxnId="{1154BDCB-24A9-46E7-A6D8-6B3806AC4938}">
      <dgm:prSet/>
      <dgm:spPr/>
      <dgm:t>
        <a:bodyPr/>
        <a:lstStyle/>
        <a:p>
          <a:endParaRPr lang="en-US"/>
        </a:p>
      </dgm:t>
    </dgm:pt>
    <dgm:pt modelId="{10DD650E-BAB0-46D6-9522-A0EABA6CBBB6}" type="sibTrans" cxnId="{1154BDCB-24A9-46E7-A6D8-6B3806AC4938}">
      <dgm:prSet/>
      <dgm:spPr/>
      <dgm:t>
        <a:bodyPr/>
        <a:lstStyle/>
        <a:p>
          <a:endParaRPr lang="en-US"/>
        </a:p>
      </dgm:t>
    </dgm:pt>
    <dgm:pt modelId="{5A25B7FE-EBC5-474B-A129-692A81FA2731}">
      <dgm:prSet/>
      <dgm:spPr/>
      <dgm:t>
        <a:bodyPr/>
        <a:lstStyle/>
        <a:p>
          <a:r>
            <a:rPr lang="en-US" b="1"/>
            <a:t>Domain Specificity: </a:t>
          </a:r>
          <a:r>
            <a:rPr lang="en-US"/>
            <a:t>Medical, legal, or technical terminology often lacks representation in standard training datasets, leading to misheard or phonetically garbled text.</a:t>
          </a:r>
        </a:p>
      </dgm:t>
    </dgm:pt>
    <dgm:pt modelId="{81B149BE-E731-4080-83A8-9CE85158EE2C}" type="parTrans" cxnId="{C798F529-3540-4343-8521-1C405F30840B}">
      <dgm:prSet/>
      <dgm:spPr/>
      <dgm:t>
        <a:bodyPr/>
        <a:lstStyle/>
        <a:p>
          <a:endParaRPr lang="en-US"/>
        </a:p>
      </dgm:t>
    </dgm:pt>
    <dgm:pt modelId="{6BDA1DF7-FE12-44BE-8529-26753002DD63}" type="sibTrans" cxnId="{C798F529-3540-4343-8521-1C405F30840B}">
      <dgm:prSet/>
      <dgm:spPr/>
      <dgm:t>
        <a:bodyPr/>
        <a:lstStyle/>
        <a:p>
          <a:endParaRPr lang="en-US"/>
        </a:p>
      </dgm:t>
    </dgm:pt>
    <dgm:pt modelId="{231FFE58-A24E-4F41-83EB-53E9F2EAFA4C}">
      <dgm:prSet/>
      <dgm:spPr/>
      <dgm:t>
        <a:bodyPr/>
        <a:lstStyle/>
        <a:p>
          <a:r>
            <a:rPr lang="en-US" b="1"/>
            <a:t>Natural Disfluencies: </a:t>
          </a:r>
          <a:r>
            <a:rPr lang="en-US"/>
            <a:t>Conversational speech includes filler words (e.g., "um," "ah"), false starts, and repetitions, which require logic to filter out without delaying the live text output.</a:t>
          </a:r>
        </a:p>
      </dgm:t>
    </dgm:pt>
    <dgm:pt modelId="{2EAF73EC-F24A-4396-B0D3-68F7CE54C59C}" type="parTrans" cxnId="{CEFDDB03-3B36-4AA9-A155-9691FBA4A8AA}">
      <dgm:prSet/>
      <dgm:spPr/>
      <dgm:t>
        <a:bodyPr/>
        <a:lstStyle/>
        <a:p>
          <a:endParaRPr lang="en-US"/>
        </a:p>
      </dgm:t>
    </dgm:pt>
    <dgm:pt modelId="{866DC967-C986-4493-819E-2CF72C295B43}" type="sibTrans" cxnId="{CEFDDB03-3B36-4AA9-A155-9691FBA4A8AA}">
      <dgm:prSet/>
      <dgm:spPr/>
      <dgm:t>
        <a:bodyPr/>
        <a:lstStyle/>
        <a:p>
          <a:endParaRPr lang="en-US"/>
        </a:p>
      </dgm:t>
    </dgm:pt>
    <dgm:pt modelId="{57A7147B-A856-486E-8C1C-C1655D9FBA26}" type="pres">
      <dgm:prSet presAssocID="{5D65BB65-68A5-43FC-AC1B-1AC1C3D68D8A}" presName="root" presStyleCnt="0">
        <dgm:presLayoutVars>
          <dgm:dir/>
          <dgm:resizeHandles val="exact"/>
        </dgm:presLayoutVars>
      </dgm:prSet>
      <dgm:spPr/>
    </dgm:pt>
    <dgm:pt modelId="{CFEA5E07-7694-453A-B4AA-3C98EC1AC220}" type="pres">
      <dgm:prSet presAssocID="{595A18D8-D91C-4CBD-BE44-C4FE3753CEDA}" presName="compNode" presStyleCnt="0"/>
      <dgm:spPr/>
    </dgm:pt>
    <dgm:pt modelId="{38942744-5B4F-4794-8748-C540FE4B6D71}" type="pres">
      <dgm:prSet presAssocID="{595A18D8-D91C-4CBD-BE44-C4FE3753CEDA}" presName="bgRect" presStyleLbl="bgShp" presStyleIdx="0" presStyleCnt="3"/>
      <dgm:spPr/>
    </dgm:pt>
    <dgm:pt modelId="{9137634B-A356-443E-AFD5-42FF71BCFE67}" type="pres">
      <dgm:prSet presAssocID="{595A18D8-D91C-4CBD-BE44-C4FE3753CEDA}" presName="iconRect" presStyleLbl="node1" presStyleIdx="0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phones"/>
        </a:ext>
      </dgm:extLst>
    </dgm:pt>
    <dgm:pt modelId="{776BF6EA-A83D-4132-B2E4-258BC1E7012A}" type="pres">
      <dgm:prSet presAssocID="{595A18D8-D91C-4CBD-BE44-C4FE3753CEDA}" presName="spaceRect" presStyleCnt="0"/>
      <dgm:spPr/>
    </dgm:pt>
    <dgm:pt modelId="{8E7B19BD-806B-4081-9A52-B3906BE420F6}" type="pres">
      <dgm:prSet presAssocID="{595A18D8-D91C-4CBD-BE44-C4FE3753CEDA}" presName="parTx" presStyleLbl="revTx" presStyleIdx="0" presStyleCnt="3">
        <dgm:presLayoutVars>
          <dgm:chMax val="0"/>
          <dgm:chPref val="0"/>
        </dgm:presLayoutVars>
      </dgm:prSet>
      <dgm:spPr/>
    </dgm:pt>
    <dgm:pt modelId="{3C1E0FC1-7D95-4EA6-AD96-DB4AB19E53E0}" type="pres">
      <dgm:prSet presAssocID="{10DD650E-BAB0-46D6-9522-A0EABA6CBBB6}" presName="sibTrans" presStyleCnt="0"/>
      <dgm:spPr/>
    </dgm:pt>
    <dgm:pt modelId="{04BA4D2E-83C1-4F1A-9A12-9833FC3AA598}" type="pres">
      <dgm:prSet presAssocID="{5A25B7FE-EBC5-474B-A129-692A81FA2731}" presName="compNode" presStyleCnt="0"/>
      <dgm:spPr/>
    </dgm:pt>
    <dgm:pt modelId="{1DDFAD5E-E973-4E4E-80F6-C8113A000524}" type="pres">
      <dgm:prSet presAssocID="{5A25B7FE-EBC5-474B-A129-692A81FA2731}" presName="bgRect" presStyleLbl="bgShp" presStyleIdx="1" presStyleCnt="3"/>
      <dgm:spPr/>
    </dgm:pt>
    <dgm:pt modelId="{B2CFF2F0-65D9-45AA-AFEB-4561232CB156}" type="pres">
      <dgm:prSet presAssocID="{5A25B7FE-EBC5-474B-A129-692A81FA2731}" presName="iconRect" presStyleLbl="node1" presStyleIdx="1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otes"/>
        </a:ext>
      </dgm:extLst>
    </dgm:pt>
    <dgm:pt modelId="{FD4A8499-B320-4855-BDF8-D6CAD0FD3BCA}" type="pres">
      <dgm:prSet presAssocID="{5A25B7FE-EBC5-474B-A129-692A81FA2731}" presName="spaceRect" presStyleCnt="0"/>
      <dgm:spPr/>
    </dgm:pt>
    <dgm:pt modelId="{BBFC5144-888B-40F1-A20A-F034FB2E7CA0}" type="pres">
      <dgm:prSet presAssocID="{5A25B7FE-EBC5-474B-A129-692A81FA2731}" presName="parTx" presStyleLbl="revTx" presStyleIdx="1" presStyleCnt="3">
        <dgm:presLayoutVars>
          <dgm:chMax val="0"/>
          <dgm:chPref val="0"/>
        </dgm:presLayoutVars>
      </dgm:prSet>
      <dgm:spPr/>
    </dgm:pt>
    <dgm:pt modelId="{8090C3E0-0282-4ACB-AB42-9B77FD4516FC}" type="pres">
      <dgm:prSet presAssocID="{6BDA1DF7-FE12-44BE-8529-26753002DD63}" presName="sibTrans" presStyleCnt="0"/>
      <dgm:spPr/>
    </dgm:pt>
    <dgm:pt modelId="{567038DD-F9CD-4010-8336-AE43B322CADA}" type="pres">
      <dgm:prSet presAssocID="{231FFE58-A24E-4F41-83EB-53E9F2EAFA4C}" presName="compNode" presStyleCnt="0"/>
      <dgm:spPr/>
    </dgm:pt>
    <dgm:pt modelId="{A9B78E89-03BE-420D-846C-0709ECC3981F}" type="pres">
      <dgm:prSet presAssocID="{231FFE58-A24E-4F41-83EB-53E9F2EAFA4C}" presName="bgRect" presStyleLbl="bgShp" presStyleIdx="2" presStyleCnt="3"/>
      <dgm:spPr/>
    </dgm:pt>
    <dgm:pt modelId="{ED3A4F14-0115-481A-9D26-92555AABE6FC}" type="pres">
      <dgm:prSet presAssocID="{231FFE58-A24E-4F41-83EB-53E9F2EAFA4C}" presName="iconRect" presStyleLbl="node1" presStyleIdx="2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btitles"/>
        </a:ext>
      </dgm:extLst>
    </dgm:pt>
    <dgm:pt modelId="{464A73C7-AE9D-4549-B840-F7913EAFF752}" type="pres">
      <dgm:prSet presAssocID="{231FFE58-A24E-4F41-83EB-53E9F2EAFA4C}" presName="spaceRect" presStyleCnt="0"/>
      <dgm:spPr/>
    </dgm:pt>
    <dgm:pt modelId="{00A81B14-4A2D-42E6-A728-C4E46414FD96}" type="pres">
      <dgm:prSet presAssocID="{231FFE58-A24E-4F41-83EB-53E9F2EAFA4C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CEFDDB03-3B36-4AA9-A155-9691FBA4A8AA}" srcId="{5D65BB65-68A5-43FC-AC1B-1AC1C3D68D8A}" destId="{231FFE58-A24E-4F41-83EB-53E9F2EAFA4C}" srcOrd="2" destOrd="0" parTransId="{2EAF73EC-F24A-4396-B0D3-68F7CE54C59C}" sibTransId="{866DC967-C986-4493-819E-2CF72C295B43}"/>
    <dgm:cxn modelId="{C798F529-3540-4343-8521-1C405F30840B}" srcId="{5D65BB65-68A5-43FC-AC1B-1AC1C3D68D8A}" destId="{5A25B7FE-EBC5-474B-A129-692A81FA2731}" srcOrd="1" destOrd="0" parTransId="{81B149BE-E731-4080-83A8-9CE85158EE2C}" sibTransId="{6BDA1DF7-FE12-44BE-8529-26753002DD63}"/>
    <dgm:cxn modelId="{B754A473-E1B4-4099-8812-880220D7490F}" type="presOf" srcId="{231FFE58-A24E-4F41-83EB-53E9F2EAFA4C}" destId="{00A81B14-4A2D-42E6-A728-C4E46414FD96}" srcOrd="0" destOrd="0" presId="urn:microsoft.com/office/officeart/2018/2/layout/IconVerticalSolidList"/>
    <dgm:cxn modelId="{BDC47A8D-3190-4AAC-95EB-F1936A51CD9A}" type="presOf" srcId="{5D65BB65-68A5-43FC-AC1B-1AC1C3D68D8A}" destId="{57A7147B-A856-486E-8C1C-C1655D9FBA26}" srcOrd="0" destOrd="0" presId="urn:microsoft.com/office/officeart/2018/2/layout/IconVerticalSolidList"/>
    <dgm:cxn modelId="{1154BDCB-24A9-46E7-A6D8-6B3806AC4938}" srcId="{5D65BB65-68A5-43FC-AC1B-1AC1C3D68D8A}" destId="{595A18D8-D91C-4CBD-BE44-C4FE3753CEDA}" srcOrd="0" destOrd="0" parTransId="{5AA86B4F-00CC-4447-BBC4-3AA19DBA9A80}" sibTransId="{10DD650E-BAB0-46D6-9522-A0EABA6CBBB6}"/>
    <dgm:cxn modelId="{4A8FD0CB-8C5A-4D68-B3B6-6AF861B45AC6}" type="presOf" srcId="{5A25B7FE-EBC5-474B-A129-692A81FA2731}" destId="{BBFC5144-888B-40F1-A20A-F034FB2E7CA0}" srcOrd="0" destOrd="0" presId="urn:microsoft.com/office/officeart/2018/2/layout/IconVerticalSolidList"/>
    <dgm:cxn modelId="{C8DE1ECD-83C6-421B-857A-940C91A54891}" type="presOf" srcId="{595A18D8-D91C-4CBD-BE44-C4FE3753CEDA}" destId="{8E7B19BD-806B-4081-9A52-B3906BE420F6}" srcOrd="0" destOrd="0" presId="urn:microsoft.com/office/officeart/2018/2/layout/IconVerticalSolidList"/>
    <dgm:cxn modelId="{6D73CB1B-CEDF-4691-B202-39DB075F9F4A}" type="presParOf" srcId="{57A7147B-A856-486E-8C1C-C1655D9FBA26}" destId="{CFEA5E07-7694-453A-B4AA-3C98EC1AC220}" srcOrd="0" destOrd="0" presId="urn:microsoft.com/office/officeart/2018/2/layout/IconVerticalSolidList"/>
    <dgm:cxn modelId="{0277729D-5714-4D77-AE45-E39C521E2639}" type="presParOf" srcId="{CFEA5E07-7694-453A-B4AA-3C98EC1AC220}" destId="{38942744-5B4F-4794-8748-C540FE4B6D71}" srcOrd="0" destOrd="0" presId="urn:microsoft.com/office/officeart/2018/2/layout/IconVerticalSolidList"/>
    <dgm:cxn modelId="{08C37C6E-B4A3-4BB0-9058-4B865B1861BC}" type="presParOf" srcId="{CFEA5E07-7694-453A-B4AA-3C98EC1AC220}" destId="{9137634B-A356-443E-AFD5-42FF71BCFE67}" srcOrd="1" destOrd="0" presId="urn:microsoft.com/office/officeart/2018/2/layout/IconVerticalSolidList"/>
    <dgm:cxn modelId="{790DA9B1-1E08-4BF5-A12B-9AA7E326DC59}" type="presParOf" srcId="{CFEA5E07-7694-453A-B4AA-3C98EC1AC220}" destId="{776BF6EA-A83D-4132-B2E4-258BC1E7012A}" srcOrd="2" destOrd="0" presId="urn:microsoft.com/office/officeart/2018/2/layout/IconVerticalSolidList"/>
    <dgm:cxn modelId="{220C74AF-E61B-473C-BF79-9FA4B89600B6}" type="presParOf" srcId="{CFEA5E07-7694-453A-B4AA-3C98EC1AC220}" destId="{8E7B19BD-806B-4081-9A52-B3906BE420F6}" srcOrd="3" destOrd="0" presId="urn:microsoft.com/office/officeart/2018/2/layout/IconVerticalSolidList"/>
    <dgm:cxn modelId="{6EB09A4C-61D1-4CB5-BB45-1ECB2D340DCF}" type="presParOf" srcId="{57A7147B-A856-486E-8C1C-C1655D9FBA26}" destId="{3C1E0FC1-7D95-4EA6-AD96-DB4AB19E53E0}" srcOrd="1" destOrd="0" presId="urn:microsoft.com/office/officeart/2018/2/layout/IconVerticalSolidList"/>
    <dgm:cxn modelId="{12AF7D38-039E-4920-B586-D6510AF1ADD2}" type="presParOf" srcId="{57A7147B-A856-486E-8C1C-C1655D9FBA26}" destId="{04BA4D2E-83C1-4F1A-9A12-9833FC3AA598}" srcOrd="2" destOrd="0" presId="urn:microsoft.com/office/officeart/2018/2/layout/IconVerticalSolidList"/>
    <dgm:cxn modelId="{7307003A-E998-4389-BC36-48549C28C488}" type="presParOf" srcId="{04BA4D2E-83C1-4F1A-9A12-9833FC3AA598}" destId="{1DDFAD5E-E973-4E4E-80F6-C8113A000524}" srcOrd="0" destOrd="0" presId="urn:microsoft.com/office/officeart/2018/2/layout/IconVerticalSolidList"/>
    <dgm:cxn modelId="{92B0AB71-4D09-48B8-8CD3-3B9143DD0495}" type="presParOf" srcId="{04BA4D2E-83C1-4F1A-9A12-9833FC3AA598}" destId="{B2CFF2F0-65D9-45AA-AFEB-4561232CB156}" srcOrd="1" destOrd="0" presId="urn:microsoft.com/office/officeart/2018/2/layout/IconVerticalSolidList"/>
    <dgm:cxn modelId="{F3E37B7C-7A36-4BB4-BC5F-050CA9362B9B}" type="presParOf" srcId="{04BA4D2E-83C1-4F1A-9A12-9833FC3AA598}" destId="{FD4A8499-B320-4855-BDF8-D6CAD0FD3BCA}" srcOrd="2" destOrd="0" presId="urn:microsoft.com/office/officeart/2018/2/layout/IconVerticalSolidList"/>
    <dgm:cxn modelId="{B34BE1AD-D9E5-4E8F-B0A1-A288DE03058D}" type="presParOf" srcId="{04BA4D2E-83C1-4F1A-9A12-9833FC3AA598}" destId="{BBFC5144-888B-40F1-A20A-F034FB2E7CA0}" srcOrd="3" destOrd="0" presId="urn:microsoft.com/office/officeart/2018/2/layout/IconVerticalSolidList"/>
    <dgm:cxn modelId="{7DA2E554-5EF0-4BE5-8197-D5921CB056F8}" type="presParOf" srcId="{57A7147B-A856-486E-8C1C-C1655D9FBA26}" destId="{8090C3E0-0282-4ACB-AB42-9B77FD4516FC}" srcOrd="3" destOrd="0" presId="urn:microsoft.com/office/officeart/2018/2/layout/IconVerticalSolidList"/>
    <dgm:cxn modelId="{80A9CA9B-54AF-4461-91AA-6BB8C3FBDBD0}" type="presParOf" srcId="{57A7147B-A856-486E-8C1C-C1655D9FBA26}" destId="{567038DD-F9CD-4010-8336-AE43B322CADA}" srcOrd="4" destOrd="0" presId="urn:microsoft.com/office/officeart/2018/2/layout/IconVerticalSolidList"/>
    <dgm:cxn modelId="{BC6886CD-9FC7-4A65-B01A-C1CA1501EC19}" type="presParOf" srcId="{567038DD-F9CD-4010-8336-AE43B322CADA}" destId="{A9B78E89-03BE-420D-846C-0709ECC3981F}" srcOrd="0" destOrd="0" presId="urn:microsoft.com/office/officeart/2018/2/layout/IconVerticalSolidList"/>
    <dgm:cxn modelId="{CF73A220-2394-48DC-9C30-DD3D0CD6865F}" type="presParOf" srcId="{567038DD-F9CD-4010-8336-AE43B322CADA}" destId="{ED3A4F14-0115-481A-9D26-92555AABE6FC}" srcOrd="1" destOrd="0" presId="urn:microsoft.com/office/officeart/2018/2/layout/IconVerticalSolidList"/>
    <dgm:cxn modelId="{75BD6530-C829-40C6-8011-A05AC7297178}" type="presParOf" srcId="{567038DD-F9CD-4010-8336-AE43B322CADA}" destId="{464A73C7-AE9D-4549-B840-F7913EAFF752}" srcOrd="2" destOrd="0" presId="urn:microsoft.com/office/officeart/2018/2/layout/IconVerticalSolidList"/>
    <dgm:cxn modelId="{E03FDC9A-3F7E-4143-81AE-D27A249F9694}" type="presParOf" srcId="{567038DD-F9CD-4010-8336-AE43B322CADA}" destId="{00A81B14-4A2D-42E6-A728-C4E46414FD96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E605A228-C723-4C87-9CA2-8655AF66677F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icontext_colorful1" csCatId="colorful" phldr="1"/>
      <dgm:spPr/>
      <dgm:t>
        <a:bodyPr/>
        <a:lstStyle/>
        <a:p>
          <a:endParaRPr lang="en-US"/>
        </a:p>
      </dgm:t>
    </dgm:pt>
    <dgm:pt modelId="{FAC73A32-64B3-427D-9519-AB056BCEC1DE}">
      <dgm:prSet/>
      <dgm:spPr/>
      <dgm:t>
        <a:bodyPr/>
        <a:lstStyle/>
        <a:p>
          <a:r>
            <a:rPr lang="en-US"/>
            <a:t>Accents and Dialects: Models predominantly trained on mainstream dialects often underperform when processing regional accents or non-native speakers.</a:t>
          </a:r>
        </a:p>
      </dgm:t>
    </dgm:pt>
    <dgm:pt modelId="{98DB0E9A-7CBE-442A-9A57-AFC822957E40}" type="parTrans" cxnId="{01B6BC10-611A-481A-AF49-704B7868EFAE}">
      <dgm:prSet/>
      <dgm:spPr/>
      <dgm:t>
        <a:bodyPr/>
        <a:lstStyle/>
        <a:p>
          <a:endParaRPr lang="en-US"/>
        </a:p>
      </dgm:t>
    </dgm:pt>
    <dgm:pt modelId="{FEFD2426-FCFA-4760-8C76-A2BC149DB3AA}" type="sibTrans" cxnId="{01B6BC10-611A-481A-AF49-704B7868EFAE}">
      <dgm:prSet/>
      <dgm:spPr/>
      <dgm:t>
        <a:bodyPr/>
        <a:lstStyle/>
        <a:p>
          <a:endParaRPr lang="en-US"/>
        </a:p>
      </dgm:t>
    </dgm:pt>
    <dgm:pt modelId="{536829D2-967A-4326-BB8A-0D369AC3B177}">
      <dgm:prSet/>
      <dgm:spPr/>
      <dgm:t>
        <a:bodyPr/>
        <a:lstStyle/>
        <a:p>
          <a:r>
            <a:rPr lang="en-US"/>
            <a:t>Speech Disorders: Atypical speech patterns, such as those caused by dysarthria, aphasia, or apraxia, are frequently misunderstood by standard models due to a lack of diverse training data.</a:t>
          </a:r>
        </a:p>
      </dgm:t>
    </dgm:pt>
    <dgm:pt modelId="{6E2E2B1D-EAAC-428B-8DCB-82AAF074D0A0}" type="parTrans" cxnId="{F111224F-30BC-4354-AE14-A6B040D87905}">
      <dgm:prSet/>
      <dgm:spPr/>
      <dgm:t>
        <a:bodyPr/>
        <a:lstStyle/>
        <a:p>
          <a:endParaRPr lang="en-US"/>
        </a:p>
      </dgm:t>
    </dgm:pt>
    <dgm:pt modelId="{5727DB11-4AE6-42F1-ADEE-26D6EDDB8045}" type="sibTrans" cxnId="{F111224F-30BC-4354-AE14-A6B040D87905}">
      <dgm:prSet/>
      <dgm:spPr/>
      <dgm:t>
        <a:bodyPr/>
        <a:lstStyle/>
        <a:p>
          <a:endParaRPr lang="en-US"/>
        </a:p>
      </dgm:t>
    </dgm:pt>
    <dgm:pt modelId="{7F04A15A-A766-4201-8729-469BEFE6B9A1}" type="pres">
      <dgm:prSet presAssocID="{E605A228-C723-4C87-9CA2-8655AF66677F}" presName="root" presStyleCnt="0">
        <dgm:presLayoutVars>
          <dgm:dir/>
          <dgm:resizeHandles val="exact"/>
        </dgm:presLayoutVars>
      </dgm:prSet>
      <dgm:spPr/>
    </dgm:pt>
    <dgm:pt modelId="{77C315B1-1BEE-411C-918F-88F445A1023F}" type="pres">
      <dgm:prSet presAssocID="{FAC73A32-64B3-427D-9519-AB056BCEC1DE}" presName="compNode" presStyleCnt="0"/>
      <dgm:spPr/>
    </dgm:pt>
    <dgm:pt modelId="{85F037EF-0FA8-41C6-B4D8-7FFEEEE84E8E}" type="pres">
      <dgm:prSet presAssocID="{FAC73A32-64B3-427D-9519-AB056BCEC1DE}" presName="bgRect" presStyleLbl="bgShp" presStyleIdx="0" presStyleCnt="2"/>
      <dgm:spPr/>
    </dgm:pt>
    <dgm:pt modelId="{44DE1C66-4754-44F1-B40C-FD2370796C11}" type="pres">
      <dgm:prSet presAssocID="{FAC73A32-64B3-427D-9519-AB056BCEC1DE}" presName="iconRect" presStyleLbl="node1" presStyleIdx="0" presStyleCnt="2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ngue"/>
        </a:ext>
      </dgm:extLst>
    </dgm:pt>
    <dgm:pt modelId="{1B82163D-7833-4528-8E07-A6F7611C8032}" type="pres">
      <dgm:prSet presAssocID="{FAC73A32-64B3-427D-9519-AB056BCEC1DE}" presName="spaceRect" presStyleCnt="0"/>
      <dgm:spPr/>
    </dgm:pt>
    <dgm:pt modelId="{31D99204-10A1-4FBA-B4E0-FEF5D0F9E6DF}" type="pres">
      <dgm:prSet presAssocID="{FAC73A32-64B3-427D-9519-AB056BCEC1DE}" presName="parTx" presStyleLbl="revTx" presStyleIdx="0" presStyleCnt="2">
        <dgm:presLayoutVars>
          <dgm:chMax val="0"/>
          <dgm:chPref val="0"/>
        </dgm:presLayoutVars>
      </dgm:prSet>
      <dgm:spPr/>
    </dgm:pt>
    <dgm:pt modelId="{17322EEE-C0D9-40ED-A324-633B971C46C8}" type="pres">
      <dgm:prSet presAssocID="{FEFD2426-FCFA-4760-8C76-A2BC149DB3AA}" presName="sibTrans" presStyleCnt="0"/>
      <dgm:spPr/>
    </dgm:pt>
    <dgm:pt modelId="{8F7A749F-5AED-4454-94B2-C98EFBD481F8}" type="pres">
      <dgm:prSet presAssocID="{536829D2-967A-4326-BB8A-0D369AC3B177}" presName="compNode" presStyleCnt="0"/>
      <dgm:spPr/>
    </dgm:pt>
    <dgm:pt modelId="{84224FA9-AB7D-4A37-869F-688674C729AE}" type="pres">
      <dgm:prSet presAssocID="{536829D2-967A-4326-BB8A-0D369AC3B177}" presName="bgRect" presStyleLbl="bgShp" presStyleIdx="1" presStyleCnt="2"/>
      <dgm:spPr/>
    </dgm:pt>
    <dgm:pt modelId="{3ABD5E97-29C8-44BA-8C3D-E92A6D84E976}" type="pres">
      <dgm:prSet presAssocID="{536829D2-967A-4326-BB8A-0D369AC3B177}" presName="iconRect" presStyleLbl="node1" presStyleIdx="1" presStyleCnt="2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af"/>
        </a:ext>
      </dgm:extLst>
    </dgm:pt>
    <dgm:pt modelId="{4C60A843-9A17-4766-BB52-670AD0CC2A23}" type="pres">
      <dgm:prSet presAssocID="{536829D2-967A-4326-BB8A-0D369AC3B177}" presName="spaceRect" presStyleCnt="0"/>
      <dgm:spPr/>
    </dgm:pt>
    <dgm:pt modelId="{CC870867-5878-427C-A597-9B643A967E1E}" type="pres">
      <dgm:prSet presAssocID="{536829D2-967A-4326-BB8A-0D369AC3B177}" presName="parTx" presStyleLbl="revTx" presStyleIdx="1" presStyleCnt="2">
        <dgm:presLayoutVars>
          <dgm:chMax val="0"/>
          <dgm:chPref val="0"/>
        </dgm:presLayoutVars>
      </dgm:prSet>
      <dgm:spPr/>
    </dgm:pt>
  </dgm:ptLst>
  <dgm:cxnLst>
    <dgm:cxn modelId="{01B6BC10-611A-481A-AF49-704B7868EFAE}" srcId="{E605A228-C723-4C87-9CA2-8655AF66677F}" destId="{FAC73A32-64B3-427D-9519-AB056BCEC1DE}" srcOrd="0" destOrd="0" parTransId="{98DB0E9A-7CBE-442A-9A57-AFC822957E40}" sibTransId="{FEFD2426-FCFA-4760-8C76-A2BC149DB3AA}"/>
    <dgm:cxn modelId="{23A05B65-254D-44C3-89C2-97FB76FE6F1C}" type="presOf" srcId="{FAC73A32-64B3-427D-9519-AB056BCEC1DE}" destId="{31D99204-10A1-4FBA-B4E0-FEF5D0F9E6DF}" srcOrd="0" destOrd="0" presId="urn:microsoft.com/office/officeart/2018/2/layout/IconVerticalSolidList"/>
    <dgm:cxn modelId="{F111224F-30BC-4354-AE14-A6B040D87905}" srcId="{E605A228-C723-4C87-9CA2-8655AF66677F}" destId="{536829D2-967A-4326-BB8A-0D369AC3B177}" srcOrd="1" destOrd="0" parTransId="{6E2E2B1D-EAAC-428B-8DCB-82AAF074D0A0}" sibTransId="{5727DB11-4AE6-42F1-ADEE-26D6EDDB8045}"/>
    <dgm:cxn modelId="{EB53238B-D80F-4BD5-90E7-29DDE3FF1FF5}" type="presOf" srcId="{536829D2-967A-4326-BB8A-0D369AC3B177}" destId="{CC870867-5878-427C-A597-9B643A967E1E}" srcOrd="0" destOrd="0" presId="urn:microsoft.com/office/officeart/2018/2/layout/IconVerticalSolidList"/>
    <dgm:cxn modelId="{BE8B04F8-35FC-4E0B-9184-ED4FD316DEE0}" type="presOf" srcId="{E605A228-C723-4C87-9CA2-8655AF66677F}" destId="{7F04A15A-A766-4201-8729-469BEFE6B9A1}" srcOrd="0" destOrd="0" presId="urn:microsoft.com/office/officeart/2018/2/layout/IconVerticalSolidList"/>
    <dgm:cxn modelId="{FC7BA3E5-83EF-40F6-9A37-9CC61753A75A}" type="presParOf" srcId="{7F04A15A-A766-4201-8729-469BEFE6B9A1}" destId="{77C315B1-1BEE-411C-918F-88F445A1023F}" srcOrd="0" destOrd="0" presId="urn:microsoft.com/office/officeart/2018/2/layout/IconVerticalSolidList"/>
    <dgm:cxn modelId="{E97A891C-F1B5-4BB2-8EAD-739926FBEFF9}" type="presParOf" srcId="{77C315B1-1BEE-411C-918F-88F445A1023F}" destId="{85F037EF-0FA8-41C6-B4D8-7FFEEEE84E8E}" srcOrd="0" destOrd="0" presId="urn:microsoft.com/office/officeart/2018/2/layout/IconVerticalSolidList"/>
    <dgm:cxn modelId="{3C907C18-1321-4924-B69F-C0812B6E57E5}" type="presParOf" srcId="{77C315B1-1BEE-411C-918F-88F445A1023F}" destId="{44DE1C66-4754-44F1-B40C-FD2370796C11}" srcOrd="1" destOrd="0" presId="urn:microsoft.com/office/officeart/2018/2/layout/IconVerticalSolidList"/>
    <dgm:cxn modelId="{34181F9B-1F7E-45C4-8664-37EBE393B704}" type="presParOf" srcId="{77C315B1-1BEE-411C-918F-88F445A1023F}" destId="{1B82163D-7833-4528-8E07-A6F7611C8032}" srcOrd="2" destOrd="0" presId="urn:microsoft.com/office/officeart/2018/2/layout/IconVerticalSolidList"/>
    <dgm:cxn modelId="{99D0679C-FF88-4D50-956F-1AA118181D12}" type="presParOf" srcId="{77C315B1-1BEE-411C-918F-88F445A1023F}" destId="{31D99204-10A1-4FBA-B4E0-FEF5D0F9E6DF}" srcOrd="3" destOrd="0" presId="urn:microsoft.com/office/officeart/2018/2/layout/IconVerticalSolidList"/>
    <dgm:cxn modelId="{F6B559CB-238B-4C8B-B7F0-5815AFE7BF18}" type="presParOf" srcId="{7F04A15A-A766-4201-8729-469BEFE6B9A1}" destId="{17322EEE-C0D9-40ED-A324-633B971C46C8}" srcOrd="1" destOrd="0" presId="urn:microsoft.com/office/officeart/2018/2/layout/IconVerticalSolidList"/>
    <dgm:cxn modelId="{90A684FA-CE81-4B73-B215-23B0DA7A5A54}" type="presParOf" srcId="{7F04A15A-A766-4201-8729-469BEFE6B9A1}" destId="{8F7A749F-5AED-4454-94B2-C98EFBD481F8}" srcOrd="2" destOrd="0" presId="urn:microsoft.com/office/officeart/2018/2/layout/IconVerticalSolidList"/>
    <dgm:cxn modelId="{7F547023-25DD-4427-8B5D-D82CB3AEA808}" type="presParOf" srcId="{8F7A749F-5AED-4454-94B2-C98EFBD481F8}" destId="{84224FA9-AB7D-4A37-869F-688674C729AE}" srcOrd="0" destOrd="0" presId="urn:microsoft.com/office/officeart/2018/2/layout/IconVerticalSolidList"/>
    <dgm:cxn modelId="{F29C6580-38AD-4B1D-9E37-26905EBBAFF6}" type="presParOf" srcId="{8F7A749F-5AED-4454-94B2-C98EFBD481F8}" destId="{3ABD5E97-29C8-44BA-8C3D-E92A6D84E976}" srcOrd="1" destOrd="0" presId="urn:microsoft.com/office/officeart/2018/2/layout/IconVerticalSolidList"/>
    <dgm:cxn modelId="{6F421196-89AF-481D-BEFF-154F85199FEC}" type="presParOf" srcId="{8F7A749F-5AED-4454-94B2-C98EFBD481F8}" destId="{4C60A843-9A17-4766-BB52-670AD0CC2A23}" srcOrd="2" destOrd="0" presId="urn:microsoft.com/office/officeart/2018/2/layout/IconVerticalSolidList"/>
    <dgm:cxn modelId="{E51BFB6C-AFC8-49F1-83F9-9398DFE2DAAE}" type="presParOf" srcId="{8F7A749F-5AED-4454-94B2-C98EFBD481F8}" destId="{CC870867-5878-427C-A597-9B643A967E1E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95BB2807-DE17-459A-BDB1-8C2B225FC55D}" type="doc">
      <dgm:prSet loTypeId="urn:microsoft.com/office/officeart/2005/8/layout/matrix3" loCatId="matrix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A6BF567A-0F3C-4227-B380-459C45995478}">
      <dgm:prSet/>
      <dgm:spPr/>
      <dgm:t>
        <a:bodyPr/>
        <a:lstStyle/>
        <a:p>
          <a:r>
            <a:rPr lang="en-GB"/>
            <a:t>First we build an HMM for each phone</a:t>
          </a:r>
          <a:endParaRPr lang="en-US"/>
        </a:p>
      </dgm:t>
    </dgm:pt>
    <dgm:pt modelId="{F6738E1E-1954-4CE7-B355-E44EB7154BEC}" type="parTrans" cxnId="{90358E44-163A-4BD4-8D01-1F1B37B10009}">
      <dgm:prSet/>
      <dgm:spPr/>
      <dgm:t>
        <a:bodyPr/>
        <a:lstStyle/>
        <a:p>
          <a:endParaRPr lang="en-US"/>
        </a:p>
      </dgm:t>
    </dgm:pt>
    <dgm:pt modelId="{8A5F35B4-E754-4267-869E-F8E4D422C2F6}" type="sibTrans" cxnId="{90358E44-163A-4BD4-8D01-1F1B37B10009}">
      <dgm:prSet/>
      <dgm:spPr/>
      <dgm:t>
        <a:bodyPr/>
        <a:lstStyle/>
        <a:p>
          <a:endParaRPr lang="en-US"/>
        </a:p>
      </dgm:t>
    </dgm:pt>
    <dgm:pt modelId="{F8FA925B-32EC-45F0-9A52-E68DE2DD9DDE}">
      <dgm:prSet/>
      <dgm:spPr/>
      <dgm:t>
        <a:bodyPr/>
        <a:lstStyle/>
        <a:p>
          <a:r>
            <a:rPr lang="en-GB"/>
            <a:t>Next we combine the phone models based on the pronunciation model to create word level models</a:t>
          </a:r>
          <a:endParaRPr lang="en-US"/>
        </a:p>
      </dgm:t>
    </dgm:pt>
    <dgm:pt modelId="{C9F66625-E6DF-41D3-88D0-7B332A9CD521}" type="parTrans" cxnId="{5709B2D1-5268-4730-B53A-9AD3D1646A2C}">
      <dgm:prSet/>
      <dgm:spPr/>
      <dgm:t>
        <a:bodyPr/>
        <a:lstStyle/>
        <a:p>
          <a:endParaRPr lang="en-US"/>
        </a:p>
      </dgm:t>
    </dgm:pt>
    <dgm:pt modelId="{C102486E-E267-44A1-999D-4BD591A73FAE}" type="sibTrans" cxnId="{5709B2D1-5268-4730-B53A-9AD3D1646A2C}">
      <dgm:prSet/>
      <dgm:spPr/>
      <dgm:t>
        <a:bodyPr/>
        <a:lstStyle/>
        <a:p>
          <a:endParaRPr lang="en-US"/>
        </a:p>
      </dgm:t>
    </dgm:pt>
    <dgm:pt modelId="{C2B1BC81-B15F-41CA-A20C-12F40F62EA3A}">
      <dgm:prSet/>
      <dgm:spPr/>
      <dgm:t>
        <a:bodyPr/>
        <a:lstStyle/>
        <a:p>
          <a:r>
            <a:rPr lang="en-GB"/>
            <a:t>Finally, the word level models are combined based on the language model</a:t>
          </a:r>
          <a:endParaRPr lang="en-US"/>
        </a:p>
      </dgm:t>
    </dgm:pt>
    <dgm:pt modelId="{90A47889-45EA-4658-8D9F-00EEF618AE5F}" type="parTrans" cxnId="{384910CC-AAA4-4A2D-B710-356FA0C19095}">
      <dgm:prSet/>
      <dgm:spPr/>
      <dgm:t>
        <a:bodyPr/>
        <a:lstStyle/>
        <a:p>
          <a:endParaRPr lang="en-US"/>
        </a:p>
      </dgm:t>
    </dgm:pt>
    <dgm:pt modelId="{6568E8EC-3A8B-42C3-81B2-63E9B6FE38BB}" type="sibTrans" cxnId="{384910CC-AAA4-4A2D-B710-356FA0C19095}">
      <dgm:prSet/>
      <dgm:spPr/>
      <dgm:t>
        <a:bodyPr/>
        <a:lstStyle/>
        <a:p>
          <a:endParaRPr lang="en-US"/>
        </a:p>
      </dgm:t>
    </dgm:pt>
    <dgm:pt modelId="{E1D5B4C2-FE13-445E-9F78-41C351B6D854}">
      <dgm:prSet/>
      <dgm:spPr/>
      <dgm:t>
        <a:bodyPr/>
        <a:lstStyle/>
        <a:p>
          <a:r>
            <a:rPr lang="en-GB"/>
            <a:t>We now have a giant network with potentially thousands or even millions of states</a:t>
          </a:r>
          <a:endParaRPr lang="en-US"/>
        </a:p>
      </dgm:t>
    </dgm:pt>
    <dgm:pt modelId="{68DCB041-0D51-407F-8933-70E0E9BB8A9C}" type="parTrans" cxnId="{A8ABC537-FAF8-4AB2-A487-BD558346ABED}">
      <dgm:prSet/>
      <dgm:spPr/>
      <dgm:t>
        <a:bodyPr/>
        <a:lstStyle/>
        <a:p>
          <a:endParaRPr lang="en-US"/>
        </a:p>
      </dgm:t>
    </dgm:pt>
    <dgm:pt modelId="{9ED51BB2-25B9-461A-93C0-54A573501FD4}" type="sibTrans" cxnId="{A8ABC537-FAF8-4AB2-A487-BD558346ABED}">
      <dgm:prSet/>
      <dgm:spPr/>
      <dgm:t>
        <a:bodyPr/>
        <a:lstStyle/>
        <a:p>
          <a:endParaRPr lang="en-US"/>
        </a:p>
      </dgm:t>
    </dgm:pt>
    <dgm:pt modelId="{339F829F-CE90-4F56-A14A-8AE76BD13876}" type="pres">
      <dgm:prSet presAssocID="{95BB2807-DE17-459A-BDB1-8C2B225FC55D}" presName="matrix" presStyleCnt="0">
        <dgm:presLayoutVars>
          <dgm:chMax val="1"/>
          <dgm:dir/>
          <dgm:resizeHandles val="exact"/>
        </dgm:presLayoutVars>
      </dgm:prSet>
      <dgm:spPr/>
    </dgm:pt>
    <dgm:pt modelId="{46E18586-F387-455D-8D95-2318F933A27E}" type="pres">
      <dgm:prSet presAssocID="{95BB2807-DE17-459A-BDB1-8C2B225FC55D}" presName="diamond" presStyleLbl="bgShp" presStyleIdx="0" presStyleCnt="1"/>
      <dgm:spPr/>
    </dgm:pt>
    <dgm:pt modelId="{B1DDDABB-5C59-47A7-8AB6-2685C0CFB464}" type="pres">
      <dgm:prSet presAssocID="{95BB2807-DE17-459A-BDB1-8C2B225FC55D}" presName="quad1" presStyleLbl="node1" presStyleIdx="0" presStyleCnt="4">
        <dgm:presLayoutVars>
          <dgm:chMax val="0"/>
          <dgm:chPref val="0"/>
          <dgm:bulletEnabled val="1"/>
        </dgm:presLayoutVars>
      </dgm:prSet>
      <dgm:spPr/>
    </dgm:pt>
    <dgm:pt modelId="{371DD6EA-D153-4787-8BD8-EAB00FA98E03}" type="pres">
      <dgm:prSet presAssocID="{95BB2807-DE17-459A-BDB1-8C2B225FC55D}" presName="quad2" presStyleLbl="node1" presStyleIdx="1" presStyleCnt="4">
        <dgm:presLayoutVars>
          <dgm:chMax val="0"/>
          <dgm:chPref val="0"/>
          <dgm:bulletEnabled val="1"/>
        </dgm:presLayoutVars>
      </dgm:prSet>
      <dgm:spPr/>
    </dgm:pt>
    <dgm:pt modelId="{100573BD-2D63-4988-B5AF-45096FFB0E9E}" type="pres">
      <dgm:prSet presAssocID="{95BB2807-DE17-459A-BDB1-8C2B225FC55D}" presName="quad3" presStyleLbl="node1" presStyleIdx="2" presStyleCnt="4">
        <dgm:presLayoutVars>
          <dgm:chMax val="0"/>
          <dgm:chPref val="0"/>
          <dgm:bulletEnabled val="1"/>
        </dgm:presLayoutVars>
      </dgm:prSet>
      <dgm:spPr/>
    </dgm:pt>
    <dgm:pt modelId="{50A0D215-A771-497D-BB6A-B76E93BAC740}" type="pres">
      <dgm:prSet presAssocID="{95BB2807-DE17-459A-BDB1-8C2B225FC55D}" presName="quad4" presStyleLbl="node1" presStyleIdx="3" presStyleCnt="4">
        <dgm:presLayoutVars>
          <dgm:chMax val="0"/>
          <dgm:chPref val="0"/>
          <dgm:bulletEnabled val="1"/>
        </dgm:presLayoutVars>
      </dgm:prSet>
      <dgm:spPr/>
    </dgm:pt>
  </dgm:ptLst>
  <dgm:cxnLst>
    <dgm:cxn modelId="{FD1FAD08-CF5A-4479-BD92-BA2AC62DA9F2}" type="presOf" srcId="{F8FA925B-32EC-45F0-9A52-E68DE2DD9DDE}" destId="{371DD6EA-D153-4787-8BD8-EAB00FA98E03}" srcOrd="0" destOrd="0" presId="urn:microsoft.com/office/officeart/2005/8/layout/matrix3"/>
    <dgm:cxn modelId="{093C9835-F6BC-4648-9A51-8D6A4F186246}" type="presOf" srcId="{C2B1BC81-B15F-41CA-A20C-12F40F62EA3A}" destId="{100573BD-2D63-4988-B5AF-45096FFB0E9E}" srcOrd="0" destOrd="0" presId="urn:microsoft.com/office/officeart/2005/8/layout/matrix3"/>
    <dgm:cxn modelId="{A8ABC537-FAF8-4AB2-A487-BD558346ABED}" srcId="{95BB2807-DE17-459A-BDB1-8C2B225FC55D}" destId="{E1D5B4C2-FE13-445E-9F78-41C351B6D854}" srcOrd="3" destOrd="0" parTransId="{68DCB041-0D51-407F-8933-70E0E9BB8A9C}" sibTransId="{9ED51BB2-25B9-461A-93C0-54A573501FD4}"/>
    <dgm:cxn modelId="{90358E44-163A-4BD4-8D01-1F1B37B10009}" srcId="{95BB2807-DE17-459A-BDB1-8C2B225FC55D}" destId="{A6BF567A-0F3C-4227-B380-459C45995478}" srcOrd="0" destOrd="0" parTransId="{F6738E1E-1954-4CE7-B355-E44EB7154BEC}" sibTransId="{8A5F35B4-E754-4267-869E-F8E4D422C2F6}"/>
    <dgm:cxn modelId="{6194068A-08E6-42C6-A305-A9232FCAEDA7}" type="presOf" srcId="{E1D5B4C2-FE13-445E-9F78-41C351B6D854}" destId="{50A0D215-A771-497D-BB6A-B76E93BAC740}" srcOrd="0" destOrd="0" presId="urn:microsoft.com/office/officeart/2005/8/layout/matrix3"/>
    <dgm:cxn modelId="{724B7AA3-8211-475A-8CC8-DFE900457628}" type="presOf" srcId="{95BB2807-DE17-459A-BDB1-8C2B225FC55D}" destId="{339F829F-CE90-4F56-A14A-8AE76BD13876}" srcOrd="0" destOrd="0" presId="urn:microsoft.com/office/officeart/2005/8/layout/matrix3"/>
    <dgm:cxn modelId="{384910CC-AAA4-4A2D-B710-356FA0C19095}" srcId="{95BB2807-DE17-459A-BDB1-8C2B225FC55D}" destId="{C2B1BC81-B15F-41CA-A20C-12F40F62EA3A}" srcOrd="2" destOrd="0" parTransId="{90A47889-45EA-4658-8D9F-00EEF618AE5F}" sibTransId="{6568E8EC-3A8B-42C3-81B2-63E9B6FE38BB}"/>
    <dgm:cxn modelId="{0BAC0ED1-932E-4AD5-933B-ECAD8F2822EA}" type="presOf" srcId="{A6BF567A-0F3C-4227-B380-459C45995478}" destId="{B1DDDABB-5C59-47A7-8AB6-2685C0CFB464}" srcOrd="0" destOrd="0" presId="urn:microsoft.com/office/officeart/2005/8/layout/matrix3"/>
    <dgm:cxn modelId="{5709B2D1-5268-4730-B53A-9AD3D1646A2C}" srcId="{95BB2807-DE17-459A-BDB1-8C2B225FC55D}" destId="{F8FA925B-32EC-45F0-9A52-E68DE2DD9DDE}" srcOrd="1" destOrd="0" parTransId="{C9F66625-E6DF-41D3-88D0-7B332A9CD521}" sibTransId="{C102486E-E267-44A1-999D-4BD591A73FAE}"/>
    <dgm:cxn modelId="{1ED2AF66-1CB8-485E-9F58-D9C68F1D959F}" type="presParOf" srcId="{339F829F-CE90-4F56-A14A-8AE76BD13876}" destId="{46E18586-F387-455D-8D95-2318F933A27E}" srcOrd="0" destOrd="0" presId="urn:microsoft.com/office/officeart/2005/8/layout/matrix3"/>
    <dgm:cxn modelId="{A8D868E5-D45E-46E4-8C75-9E1ABB39097B}" type="presParOf" srcId="{339F829F-CE90-4F56-A14A-8AE76BD13876}" destId="{B1DDDABB-5C59-47A7-8AB6-2685C0CFB464}" srcOrd="1" destOrd="0" presId="urn:microsoft.com/office/officeart/2005/8/layout/matrix3"/>
    <dgm:cxn modelId="{CD3CFC22-F43F-4D41-95F9-D1A5FF5A02F3}" type="presParOf" srcId="{339F829F-CE90-4F56-A14A-8AE76BD13876}" destId="{371DD6EA-D153-4787-8BD8-EAB00FA98E03}" srcOrd="2" destOrd="0" presId="urn:microsoft.com/office/officeart/2005/8/layout/matrix3"/>
    <dgm:cxn modelId="{AC362B95-DEFC-42A9-AF17-350198BC11F6}" type="presParOf" srcId="{339F829F-CE90-4F56-A14A-8AE76BD13876}" destId="{100573BD-2D63-4988-B5AF-45096FFB0E9E}" srcOrd="3" destOrd="0" presId="urn:microsoft.com/office/officeart/2005/8/layout/matrix3"/>
    <dgm:cxn modelId="{FDEC4D33-5A1C-4468-ADE8-B134BD49D13D}" type="presParOf" srcId="{339F829F-CE90-4F56-A14A-8AE76BD13876}" destId="{50A0D215-A771-497D-BB6A-B76E93BAC740}" srcOrd="4" destOrd="0" presId="urn:microsoft.com/office/officeart/2005/8/layout/matrix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505094-8DA4-4570-BD94-13F725447976}">
      <dsp:nvSpPr>
        <dsp:cNvPr id="0" name=""/>
        <dsp:cNvSpPr/>
      </dsp:nvSpPr>
      <dsp:spPr>
        <a:xfrm>
          <a:off x="606456" y="0"/>
          <a:ext cx="5453920" cy="5453920"/>
        </a:xfrm>
        <a:prstGeom prst="diamond">
          <a:avLst/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</dsp:sp>
    <dsp:sp modelId="{50B7CC04-037A-4E7F-90DE-4A38AA90DE46}">
      <dsp:nvSpPr>
        <dsp:cNvPr id="0" name=""/>
        <dsp:cNvSpPr/>
      </dsp:nvSpPr>
      <dsp:spPr>
        <a:xfrm>
          <a:off x="1124578" y="518122"/>
          <a:ext cx="2127028" cy="2127028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Speaker-related information</a:t>
          </a:r>
        </a:p>
      </dsp:txBody>
      <dsp:txXfrm>
        <a:off x="1228411" y="621955"/>
        <a:ext cx="1919362" cy="1919362"/>
      </dsp:txXfrm>
    </dsp:sp>
    <dsp:sp modelId="{8A00233F-16EF-4834-AD89-7B75A85C0636}">
      <dsp:nvSpPr>
        <dsp:cNvPr id="0" name=""/>
        <dsp:cNvSpPr/>
      </dsp:nvSpPr>
      <dsp:spPr>
        <a:xfrm>
          <a:off x="3415225" y="518122"/>
          <a:ext cx="2127028" cy="2127028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3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Speech information</a:t>
          </a:r>
        </a:p>
      </dsp:txBody>
      <dsp:txXfrm>
        <a:off x="3519058" y="621955"/>
        <a:ext cx="1919362" cy="1919362"/>
      </dsp:txXfrm>
    </dsp:sp>
    <dsp:sp modelId="{F91373E5-2A0B-4DDF-84C2-F71A9EEFE444}">
      <dsp:nvSpPr>
        <dsp:cNvPr id="0" name=""/>
        <dsp:cNvSpPr/>
      </dsp:nvSpPr>
      <dsp:spPr>
        <a:xfrm>
          <a:off x="1124578" y="2808768"/>
          <a:ext cx="2127028" cy="2127028"/>
        </a:xfrm>
        <a:prstGeom prst="round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4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Emotion information</a:t>
          </a:r>
        </a:p>
      </dsp:txBody>
      <dsp:txXfrm>
        <a:off x="1228411" y="2912601"/>
        <a:ext cx="1919362" cy="1919362"/>
      </dsp:txXfrm>
    </dsp:sp>
    <dsp:sp modelId="{E4463DB6-6CF3-458E-84B1-21DFE6D9C399}">
      <dsp:nvSpPr>
        <dsp:cNvPr id="0" name=""/>
        <dsp:cNvSpPr/>
      </dsp:nvSpPr>
      <dsp:spPr>
        <a:xfrm>
          <a:off x="3415225" y="2808768"/>
          <a:ext cx="2127028" cy="2127028"/>
        </a:xfrm>
        <a:prstGeom prst="round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Others</a:t>
          </a:r>
        </a:p>
      </dsp:txBody>
      <dsp:txXfrm>
        <a:off x="3519058" y="2912601"/>
        <a:ext cx="1919362" cy="1919362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646502-B4C7-42B4-9AE2-33489C08182B}">
      <dsp:nvSpPr>
        <dsp:cNvPr id="0" name=""/>
        <dsp:cNvSpPr/>
      </dsp:nvSpPr>
      <dsp:spPr>
        <a:xfrm>
          <a:off x="0" y="37309"/>
          <a:ext cx="6666833" cy="1710540"/>
        </a:xfrm>
        <a:prstGeom prst="round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3830" tIns="163830" rIns="163830" bIns="163830" numCol="1" spcCol="1270" anchor="ctr" anchorCtr="0">
          <a:noAutofit/>
        </a:bodyPr>
        <a:lstStyle/>
        <a:p>
          <a:pPr marL="0" lvl="0" indent="0" algn="l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300" kern="1200"/>
            <a:t>1. Environmental Interference</a:t>
          </a:r>
        </a:p>
      </dsp:txBody>
      <dsp:txXfrm>
        <a:off x="83502" y="120811"/>
        <a:ext cx="6499829" cy="1543536"/>
      </dsp:txXfrm>
    </dsp:sp>
    <dsp:sp modelId="{317D2A16-CA79-4597-B273-4DD50B27E3DC}">
      <dsp:nvSpPr>
        <dsp:cNvPr id="0" name=""/>
        <dsp:cNvSpPr/>
      </dsp:nvSpPr>
      <dsp:spPr>
        <a:xfrm>
          <a:off x="0" y="1871689"/>
          <a:ext cx="6666833" cy="1710540"/>
        </a:xfrm>
        <a:prstGeom prst="roundRect">
          <a:avLst/>
        </a:prstGeom>
        <a:gradFill rotWithShape="0">
          <a:gsLst>
            <a:gs pos="0">
              <a:schemeClr val="accent5">
                <a:hueOff val="-6076075"/>
                <a:satOff val="-413"/>
                <a:lumOff val="981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-6076075"/>
                <a:satOff val="-413"/>
                <a:lumOff val="981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-6076075"/>
                <a:satOff val="-413"/>
                <a:lumOff val="981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3830" tIns="163830" rIns="163830" bIns="163830" numCol="1" spcCol="1270" anchor="ctr" anchorCtr="0">
          <a:noAutofit/>
        </a:bodyPr>
        <a:lstStyle/>
        <a:p>
          <a:pPr marL="0" lvl="0" indent="0" algn="l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300" kern="1200"/>
            <a:t>2. Linguistic Complexity</a:t>
          </a:r>
        </a:p>
      </dsp:txBody>
      <dsp:txXfrm>
        <a:off x="83502" y="1955191"/>
        <a:ext cx="6499829" cy="1543536"/>
      </dsp:txXfrm>
    </dsp:sp>
    <dsp:sp modelId="{749B632D-DFDD-498F-B843-FAF6B0526BD9}">
      <dsp:nvSpPr>
        <dsp:cNvPr id="0" name=""/>
        <dsp:cNvSpPr/>
      </dsp:nvSpPr>
      <dsp:spPr>
        <a:xfrm>
          <a:off x="0" y="3706069"/>
          <a:ext cx="6666833" cy="1710540"/>
        </a:xfrm>
        <a:prstGeom prst="roundRect">
          <a:avLst/>
        </a:prstGeom>
        <a:gradFill rotWithShape="0">
          <a:gsLst>
            <a:gs pos="0">
              <a:schemeClr val="accent5">
                <a:hueOff val="-12152150"/>
                <a:satOff val="-826"/>
                <a:lumOff val="1961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-12152150"/>
                <a:satOff val="-826"/>
                <a:lumOff val="1961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-12152150"/>
                <a:satOff val="-826"/>
                <a:lumOff val="1961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3830" tIns="163830" rIns="163830" bIns="163830" numCol="1" spcCol="1270" anchor="ctr" anchorCtr="0">
          <a:noAutofit/>
        </a:bodyPr>
        <a:lstStyle/>
        <a:p>
          <a:pPr marL="0" lvl="0" indent="0" algn="l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300" kern="1200"/>
            <a:t>3. Speaker Diversity and Atypical Speech</a:t>
          </a:r>
        </a:p>
      </dsp:txBody>
      <dsp:txXfrm>
        <a:off x="83502" y="3789571"/>
        <a:ext cx="6499829" cy="1543536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3C4F21B-1410-4A1C-A351-33ACAAF32782}">
      <dsp:nvSpPr>
        <dsp:cNvPr id="0" name=""/>
        <dsp:cNvSpPr/>
      </dsp:nvSpPr>
      <dsp:spPr>
        <a:xfrm>
          <a:off x="0" y="531"/>
          <a:ext cx="10515600" cy="1244702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3BF554F-C5F7-4199-B0E8-D961F42E0870}">
      <dsp:nvSpPr>
        <dsp:cNvPr id="0" name=""/>
        <dsp:cNvSpPr/>
      </dsp:nvSpPr>
      <dsp:spPr>
        <a:xfrm>
          <a:off x="376522" y="280590"/>
          <a:ext cx="684586" cy="68458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ABA99D-3DC7-4787-B3EA-FDDBEFEBEAB2}">
      <dsp:nvSpPr>
        <dsp:cNvPr id="0" name=""/>
        <dsp:cNvSpPr/>
      </dsp:nvSpPr>
      <dsp:spPr>
        <a:xfrm>
          <a:off x="1437631" y="531"/>
          <a:ext cx="9077968" cy="12447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1731" tIns="131731" rIns="131731" bIns="13173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b="1" kern="1200"/>
            <a:t>Background Noise: </a:t>
          </a:r>
          <a:r>
            <a:rPr lang="en-US" sz="2300" kern="1200"/>
            <a:t>Sudden loud noises, music, or wind degrade audio signals, making it difficult for the system to isolate the speaker's voice.</a:t>
          </a:r>
        </a:p>
      </dsp:txBody>
      <dsp:txXfrm>
        <a:off x="1437631" y="531"/>
        <a:ext cx="9077968" cy="1244702"/>
      </dsp:txXfrm>
    </dsp:sp>
    <dsp:sp modelId="{2FFD47D4-D470-4EC6-A788-E5FCEFF0225A}">
      <dsp:nvSpPr>
        <dsp:cNvPr id="0" name=""/>
        <dsp:cNvSpPr/>
      </dsp:nvSpPr>
      <dsp:spPr>
        <a:xfrm>
          <a:off x="0" y="1556410"/>
          <a:ext cx="10515600" cy="1244702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9FB6CFD-6C17-43ED-BE31-A0E3EB65B4E7}">
      <dsp:nvSpPr>
        <dsp:cNvPr id="0" name=""/>
        <dsp:cNvSpPr/>
      </dsp:nvSpPr>
      <dsp:spPr>
        <a:xfrm>
          <a:off x="376522" y="1836468"/>
          <a:ext cx="684586" cy="68458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CDCF55F-4C4D-499D-9EB4-47B4928D966F}">
      <dsp:nvSpPr>
        <dsp:cNvPr id="0" name=""/>
        <dsp:cNvSpPr/>
      </dsp:nvSpPr>
      <dsp:spPr>
        <a:xfrm>
          <a:off x="1437631" y="1556410"/>
          <a:ext cx="9077968" cy="12447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1731" tIns="131731" rIns="131731" bIns="13173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b="1" kern="1200"/>
            <a:t>Microphone Quality: </a:t>
          </a:r>
          <a:r>
            <a:rPr lang="en-US" sz="2300" kern="1200"/>
            <a:t>Low-fidelity microphones or distance from the sound source lead to missing frequencies, which lowers recognition accuracy.</a:t>
          </a:r>
        </a:p>
      </dsp:txBody>
      <dsp:txXfrm>
        <a:off x="1437631" y="1556410"/>
        <a:ext cx="9077968" cy="1244702"/>
      </dsp:txXfrm>
    </dsp:sp>
    <dsp:sp modelId="{EECA3C2C-6C4E-414F-B14E-3B37FD45F360}">
      <dsp:nvSpPr>
        <dsp:cNvPr id="0" name=""/>
        <dsp:cNvSpPr/>
      </dsp:nvSpPr>
      <dsp:spPr>
        <a:xfrm>
          <a:off x="0" y="3112289"/>
          <a:ext cx="10515600" cy="1244702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A822573-A298-4815-A829-86E24227F788}">
      <dsp:nvSpPr>
        <dsp:cNvPr id="0" name=""/>
        <dsp:cNvSpPr/>
      </dsp:nvSpPr>
      <dsp:spPr>
        <a:xfrm>
          <a:off x="376522" y="3392347"/>
          <a:ext cx="684586" cy="68458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AE70AE-6690-4203-BB96-4884F8E8A395}">
      <dsp:nvSpPr>
        <dsp:cNvPr id="0" name=""/>
        <dsp:cNvSpPr/>
      </dsp:nvSpPr>
      <dsp:spPr>
        <a:xfrm>
          <a:off x="1437631" y="3112289"/>
          <a:ext cx="9077968" cy="12447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1731" tIns="131731" rIns="131731" bIns="13173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b="1" kern="1200"/>
            <a:t>Overlapping Speech: </a:t>
          </a:r>
          <a:r>
            <a:rPr lang="en-US" sz="2300" kern="1200"/>
            <a:t>When multiple people talk over each other in a meeting or group setting, it becomes challenging to separate and track individual speakers.</a:t>
          </a:r>
        </a:p>
      </dsp:txBody>
      <dsp:txXfrm>
        <a:off x="1437631" y="3112289"/>
        <a:ext cx="9077968" cy="1244702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8942744-5B4F-4794-8748-C540FE4B6D71}">
      <dsp:nvSpPr>
        <dsp:cNvPr id="0" name=""/>
        <dsp:cNvSpPr/>
      </dsp:nvSpPr>
      <dsp:spPr>
        <a:xfrm>
          <a:off x="0" y="531"/>
          <a:ext cx="10515600" cy="1244702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137634B-A356-443E-AFD5-42FF71BCFE67}">
      <dsp:nvSpPr>
        <dsp:cNvPr id="0" name=""/>
        <dsp:cNvSpPr/>
      </dsp:nvSpPr>
      <dsp:spPr>
        <a:xfrm>
          <a:off x="376522" y="280590"/>
          <a:ext cx="684586" cy="68458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7B19BD-806B-4081-9A52-B3906BE420F6}">
      <dsp:nvSpPr>
        <dsp:cNvPr id="0" name=""/>
        <dsp:cNvSpPr/>
      </dsp:nvSpPr>
      <dsp:spPr>
        <a:xfrm>
          <a:off x="1437631" y="531"/>
          <a:ext cx="9077968" cy="12447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1731" tIns="131731" rIns="131731" bIns="13173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b="1" kern="1200"/>
            <a:t>Homophones and Ambiguity: </a:t>
          </a:r>
          <a:r>
            <a:rPr lang="en-US" sz="2300" kern="1200"/>
            <a:t>Words that sound identical but have different spellings and meanings require the system to use surrounding words (context) to choose the correct one.</a:t>
          </a:r>
        </a:p>
      </dsp:txBody>
      <dsp:txXfrm>
        <a:off x="1437631" y="531"/>
        <a:ext cx="9077968" cy="1244702"/>
      </dsp:txXfrm>
    </dsp:sp>
    <dsp:sp modelId="{1DDFAD5E-E973-4E4E-80F6-C8113A000524}">
      <dsp:nvSpPr>
        <dsp:cNvPr id="0" name=""/>
        <dsp:cNvSpPr/>
      </dsp:nvSpPr>
      <dsp:spPr>
        <a:xfrm>
          <a:off x="0" y="1556410"/>
          <a:ext cx="10515600" cy="1244702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2CFF2F0-65D9-45AA-AFEB-4561232CB156}">
      <dsp:nvSpPr>
        <dsp:cNvPr id="0" name=""/>
        <dsp:cNvSpPr/>
      </dsp:nvSpPr>
      <dsp:spPr>
        <a:xfrm>
          <a:off x="376522" y="1836468"/>
          <a:ext cx="684586" cy="68458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BFC5144-888B-40F1-A20A-F034FB2E7CA0}">
      <dsp:nvSpPr>
        <dsp:cNvPr id="0" name=""/>
        <dsp:cNvSpPr/>
      </dsp:nvSpPr>
      <dsp:spPr>
        <a:xfrm>
          <a:off x="1437631" y="1556410"/>
          <a:ext cx="9077968" cy="12447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1731" tIns="131731" rIns="131731" bIns="13173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b="1" kern="1200"/>
            <a:t>Domain Specificity: </a:t>
          </a:r>
          <a:r>
            <a:rPr lang="en-US" sz="2300" kern="1200"/>
            <a:t>Medical, legal, or technical terminology often lacks representation in standard training datasets, leading to misheard or phonetically garbled text.</a:t>
          </a:r>
        </a:p>
      </dsp:txBody>
      <dsp:txXfrm>
        <a:off x="1437631" y="1556410"/>
        <a:ext cx="9077968" cy="1244702"/>
      </dsp:txXfrm>
    </dsp:sp>
    <dsp:sp modelId="{A9B78E89-03BE-420D-846C-0709ECC3981F}">
      <dsp:nvSpPr>
        <dsp:cNvPr id="0" name=""/>
        <dsp:cNvSpPr/>
      </dsp:nvSpPr>
      <dsp:spPr>
        <a:xfrm>
          <a:off x="0" y="3112289"/>
          <a:ext cx="10515600" cy="1244702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D3A4F14-0115-481A-9D26-92555AABE6FC}">
      <dsp:nvSpPr>
        <dsp:cNvPr id="0" name=""/>
        <dsp:cNvSpPr/>
      </dsp:nvSpPr>
      <dsp:spPr>
        <a:xfrm>
          <a:off x="376522" y="3392347"/>
          <a:ext cx="684586" cy="68458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A81B14-4A2D-42E6-A728-C4E46414FD96}">
      <dsp:nvSpPr>
        <dsp:cNvPr id="0" name=""/>
        <dsp:cNvSpPr/>
      </dsp:nvSpPr>
      <dsp:spPr>
        <a:xfrm>
          <a:off x="1437631" y="3112289"/>
          <a:ext cx="9077968" cy="12447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1731" tIns="131731" rIns="131731" bIns="13173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b="1" kern="1200"/>
            <a:t>Natural Disfluencies: </a:t>
          </a:r>
          <a:r>
            <a:rPr lang="en-US" sz="2300" kern="1200"/>
            <a:t>Conversational speech includes filler words (e.g., "um," "ah"), false starts, and repetitions, which require logic to filter out without delaying the live text output.</a:t>
          </a:r>
        </a:p>
      </dsp:txBody>
      <dsp:txXfrm>
        <a:off x="1437631" y="3112289"/>
        <a:ext cx="9077968" cy="1244702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5F037EF-0FA8-41C6-B4D8-7FFEEEE84E8E}">
      <dsp:nvSpPr>
        <dsp:cNvPr id="0" name=""/>
        <dsp:cNvSpPr/>
      </dsp:nvSpPr>
      <dsp:spPr>
        <a:xfrm>
          <a:off x="0" y="708097"/>
          <a:ext cx="10515600" cy="1307257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4DE1C66-4754-44F1-B40C-FD2370796C11}">
      <dsp:nvSpPr>
        <dsp:cNvPr id="0" name=""/>
        <dsp:cNvSpPr/>
      </dsp:nvSpPr>
      <dsp:spPr>
        <a:xfrm>
          <a:off x="395445" y="1002230"/>
          <a:ext cx="718991" cy="718991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1D99204-10A1-4FBA-B4E0-FEF5D0F9E6DF}">
      <dsp:nvSpPr>
        <dsp:cNvPr id="0" name=""/>
        <dsp:cNvSpPr/>
      </dsp:nvSpPr>
      <dsp:spPr>
        <a:xfrm>
          <a:off x="1509882" y="708097"/>
          <a:ext cx="9005717" cy="1307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8351" tIns="138351" rIns="138351" bIns="13835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Accents and Dialects: Models predominantly trained on mainstream dialects often underperform when processing regional accents or non-native speakers.</a:t>
          </a:r>
        </a:p>
      </dsp:txBody>
      <dsp:txXfrm>
        <a:off x="1509882" y="708097"/>
        <a:ext cx="9005717" cy="1307257"/>
      </dsp:txXfrm>
    </dsp:sp>
    <dsp:sp modelId="{84224FA9-AB7D-4A37-869F-688674C729AE}">
      <dsp:nvSpPr>
        <dsp:cNvPr id="0" name=""/>
        <dsp:cNvSpPr/>
      </dsp:nvSpPr>
      <dsp:spPr>
        <a:xfrm>
          <a:off x="0" y="2342169"/>
          <a:ext cx="10515600" cy="1307257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ABD5E97-29C8-44BA-8C3D-E92A6D84E976}">
      <dsp:nvSpPr>
        <dsp:cNvPr id="0" name=""/>
        <dsp:cNvSpPr/>
      </dsp:nvSpPr>
      <dsp:spPr>
        <a:xfrm>
          <a:off x="395445" y="2636302"/>
          <a:ext cx="718991" cy="718991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C870867-5878-427C-A597-9B643A967E1E}">
      <dsp:nvSpPr>
        <dsp:cNvPr id="0" name=""/>
        <dsp:cNvSpPr/>
      </dsp:nvSpPr>
      <dsp:spPr>
        <a:xfrm>
          <a:off x="1509882" y="2342169"/>
          <a:ext cx="9005717" cy="1307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8351" tIns="138351" rIns="138351" bIns="138351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Speech Disorders: Atypical speech patterns, such as those caused by dysarthria, aphasia, or apraxia, are frequently misunderstood by standard models due to a lack of diverse training data.</a:t>
          </a:r>
        </a:p>
      </dsp:txBody>
      <dsp:txXfrm>
        <a:off x="1509882" y="2342169"/>
        <a:ext cx="9005717" cy="1307257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6E18586-F387-455D-8D95-2318F933A27E}">
      <dsp:nvSpPr>
        <dsp:cNvPr id="0" name=""/>
        <dsp:cNvSpPr/>
      </dsp:nvSpPr>
      <dsp:spPr>
        <a:xfrm>
          <a:off x="0" y="411891"/>
          <a:ext cx="4828172" cy="4828172"/>
        </a:xfrm>
        <a:prstGeom prst="diamond">
          <a:avLst/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1DDDABB-5C59-47A7-8AB6-2685C0CFB464}">
      <dsp:nvSpPr>
        <dsp:cNvPr id="0" name=""/>
        <dsp:cNvSpPr/>
      </dsp:nvSpPr>
      <dsp:spPr>
        <a:xfrm>
          <a:off x="458676" y="870567"/>
          <a:ext cx="1882987" cy="1882987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kern="1200"/>
            <a:t>First we build an HMM for each phone</a:t>
          </a:r>
          <a:endParaRPr lang="en-US" sz="1600" kern="1200"/>
        </a:p>
      </dsp:txBody>
      <dsp:txXfrm>
        <a:off x="550596" y="962487"/>
        <a:ext cx="1699147" cy="1699147"/>
      </dsp:txXfrm>
    </dsp:sp>
    <dsp:sp modelId="{371DD6EA-D153-4787-8BD8-EAB00FA98E03}">
      <dsp:nvSpPr>
        <dsp:cNvPr id="0" name=""/>
        <dsp:cNvSpPr/>
      </dsp:nvSpPr>
      <dsp:spPr>
        <a:xfrm>
          <a:off x="2486508" y="870567"/>
          <a:ext cx="1882987" cy="1882987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kern="1200"/>
            <a:t>Next we combine the phone models based on the pronunciation model to create word level models</a:t>
          </a:r>
          <a:endParaRPr lang="en-US" sz="1600" kern="1200"/>
        </a:p>
      </dsp:txBody>
      <dsp:txXfrm>
        <a:off x="2578428" y="962487"/>
        <a:ext cx="1699147" cy="1699147"/>
      </dsp:txXfrm>
    </dsp:sp>
    <dsp:sp modelId="{100573BD-2D63-4988-B5AF-45096FFB0E9E}">
      <dsp:nvSpPr>
        <dsp:cNvPr id="0" name=""/>
        <dsp:cNvSpPr/>
      </dsp:nvSpPr>
      <dsp:spPr>
        <a:xfrm>
          <a:off x="458676" y="2898400"/>
          <a:ext cx="1882987" cy="1882987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kern="1200"/>
            <a:t>Finally, the word level models are combined based on the language model</a:t>
          </a:r>
          <a:endParaRPr lang="en-US" sz="1600" kern="1200"/>
        </a:p>
      </dsp:txBody>
      <dsp:txXfrm>
        <a:off x="550596" y="2990320"/>
        <a:ext cx="1699147" cy="1699147"/>
      </dsp:txXfrm>
    </dsp:sp>
    <dsp:sp modelId="{50A0D215-A771-497D-BB6A-B76E93BAC740}">
      <dsp:nvSpPr>
        <dsp:cNvPr id="0" name=""/>
        <dsp:cNvSpPr/>
      </dsp:nvSpPr>
      <dsp:spPr>
        <a:xfrm>
          <a:off x="2486508" y="2898400"/>
          <a:ext cx="1882987" cy="1882987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kern="1200"/>
            <a:t>We now have a giant network with potentially thousands or even millions of states</a:t>
          </a:r>
          <a:endParaRPr lang="en-US" sz="1600" kern="1200"/>
        </a:p>
      </dsp:txBody>
      <dsp:txXfrm>
        <a:off x="2578428" y="2990320"/>
        <a:ext cx="1699147" cy="169914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matrix3">
  <dgm:title val=""/>
  <dgm:desc val=""/>
  <dgm:catLst>
    <dgm:cat type="matrix" pri="1000"/>
    <dgm:cat type="convert" pri="18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0" destOrd="0"/>
        <dgm:cxn modelId="8" srcId="0" destId="4" srcOrd="1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matrix">
    <dgm:varLst>
      <dgm:chMax val="1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w" for="ch" forName="diamond" refType="w"/>
          <dgm:constr type="h" for="ch" forName="diamond" refType="h"/>
          <dgm:constr type="w" for="ch" forName="quad1" refType="w" fact="0.39"/>
          <dgm:constr type="h" for="ch" forName="quad1" refType="h" fact="0.39"/>
          <dgm:constr type="ctrX" for="ch" forName="quad1" refType="w" fact="0.29"/>
          <dgm:constr type="ctrY" for="ch" forName="quad1" refType="h" fact="0.29"/>
          <dgm:constr type="w" for="ch" forName="quad2" refType="w" fact="0.39"/>
          <dgm:constr type="h" for="ch" forName="quad2" refType="h" fact="0.39"/>
          <dgm:constr type="ctrX" for="ch" forName="quad2" refType="w" fact="0.71"/>
          <dgm:constr type="ctrY" for="ch" forName="quad2" refType="h" fact="0.29"/>
          <dgm:constr type="w" for="ch" forName="quad3" refType="w" fact="0.39"/>
          <dgm:constr type="h" for="ch" forName="quad3" refType="h" fact="0.39"/>
          <dgm:constr type="ctrX" for="ch" forName="quad3" refType="w" fact="0.29"/>
          <dgm:constr type="ctrY" for="ch" forName="quad3" refType="h" fact="0.71"/>
          <dgm:constr type="w" for="ch" forName="quad4" refType="w" fact="0.39"/>
          <dgm:constr type="h" for="ch" forName="quad4" refType="h" fact="0.39"/>
          <dgm:constr type="ctrX" for="ch" forName="quad4" refType="w" fact="0.71"/>
          <dgm:constr type="ctrY" for="ch" forName="quad4" refType="h" fact="0.71"/>
          <dgm:constr type="primFontSz" for="des" ptType="node" op="equ" val="65"/>
        </dgm:constrLst>
      </dgm:if>
      <dgm:else name="Name2">
        <dgm:constrLst>
          <dgm:constr type="w" for="ch" forName="diamond" refType="w"/>
          <dgm:constr type="h" for="ch" forName="diamond" refType="h"/>
          <dgm:constr type="w" for="ch" forName="quad1" refType="w" fact="0.39"/>
          <dgm:constr type="h" for="ch" forName="quad1" refType="h" fact="0.39"/>
          <dgm:constr type="ctrX" for="ch" forName="quad1" refType="w" fact="0.71"/>
          <dgm:constr type="ctrY" for="ch" forName="quad1" refType="h" fact="0.29"/>
          <dgm:constr type="w" for="ch" forName="quad2" refType="w" fact="0.39"/>
          <dgm:constr type="h" for="ch" forName="quad2" refType="h" fact="0.39"/>
          <dgm:constr type="ctrX" for="ch" forName="quad2" refType="w" fact="0.29"/>
          <dgm:constr type="ctrY" for="ch" forName="quad2" refType="h" fact="0.29"/>
          <dgm:constr type="w" for="ch" forName="quad3" refType="w" fact="0.39"/>
          <dgm:constr type="h" for="ch" forName="quad3" refType="h" fact="0.39"/>
          <dgm:constr type="ctrX" for="ch" forName="quad3" refType="w" fact="0.71"/>
          <dgm:constr type="ctrY" for="ch" forName="quad3" refType="h" fact="0.71"/>
          <dgm:constr type="w" for="ch" forName="quad4" refType="w" fact="0.39"/>
          <dgm:constr type="h" for="ch" forName="quad4" refType="h" fact="0.39"/>
          <dgm:constr type="ctrX" for="ch" forName="quad4" refType="w" fact="0.29"/>
          <dgm:constr type="ctrY" for="ch" forName="quad4" refType="h" fact="0.71"/>
          <dgm:constr type="primFontSz" for="des" ptType="node" op="equ" val="65"/>
        </dgm:constrLst>
      </dgm:else>
    </dgm:choose>
    <dgm:ruleLst/>
    <dgm:choose name="Name3">
      <dgm:if name="Name4" axis="ch" ptType="node" func="cnt" op="gte" val="1">
        <dgm:layoutNode name="diamond" styleLbl="bgShp">
          <dgm:alg type="sp"/>
          <dgm:shape xmlns:r="http://schemas.openxmlformats.org/officeDocument/2006/relationships" type="diamond" r:blip="">
            <dgm:adjLst/>
          </dgm:shape>
          <dgm:presOf/>
          <dgm:constrLst>
            <dgm:constr type="w" refType="h" op="equ"/>
          </dgm:constrLst>
          <dgm:ruleLst/>
        </dgm:layoutNode>
        <dgm:layoutNode name="quad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1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2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3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4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5"/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matrix3">
  <dgm:title val=""/>
  <dgm:desc val=""/>
  <dgm:catLst>
    <dgm:cat type="matrix" pri="1000"/>
    <dgm:cat type="convert" pri="18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0" destOrd="0"/>
        <dgm:cxn modelId="8" srcId="0" destId="4" srcOrd="1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matrix">
    <dgm:varLst>
      <dgm:chMax val="1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w" for="ch" forName="diamond" refType="w"/>
          <dgm:constr type="h" for="ch" forName="diamond" refType="h"/>
          <dgm:constr type="w" for="ch" forName="quad1" refType="w" fact="0.39"/>
          <dgm:constr type="h" for="ch" forName="quad1" refType="h" fact="0.39"/>
          <dgm:constr type="ctrX" for="ch" forName="quad1" refType="w" fact="0.29"/>
          <dgm:constr type="ctrY" for="ch" forName="quad1" refType="h" fact="0.29"/>
          <dgm:constr type="w" for="ch" forName="quad2" refType="w" fact="0.39"/>
          <dgm:constr type="h" for="ch" forName="quad2" refType="h" fact="0.39"/>
          <dgm:constr type="ctrX" for="ch" forName="quad2" refType="w" fact="0.71"/>
          <dgm:constr type="ctrY" for="ch" forName="quad2" refType="h" fact="0.29"/>
          <dgm:constr type="w" for="ch" forName="quad3" refType="w" fact="0.39"/>
          <dgm:constr type="h" for="ch" forName="quad3" refType="h" fact="0.39"/>
          <dgm:constr type="ctrX" for="ch" forName="quad3" refType="w" fact="0.29"/>
          <dgm:constr type="ctrY" for="ch" forName="quad3" refType="h" fact="0.71"/>
          <dgm:constr type="w" for="ch" forName="quad4" refType="w" fact="0.39"/>
          <dgm:constr type="h" for="ch" forName="quad4" refType="h" fact="0.39"/>
          <dgm:constr type="ctrX" for="ch" forName="quad4" refType="w" fact="0.71"/>
          <dgm:constr type="ctrY" for="ch" forName="quad4" refType="h" fact="0.71"/>
          <dgm:constr type="primFontSz" for="des" ptType="node" op="equ" val="65"/>
        </dgm:constrLst>
      </dgm:if>
      <dgm:else name="Name2">
        <dgm:constrLst>
          <dgm:constr type="w" for="ch" forName="diamond" refType="w"/>
          <dgm:constr type="h" for="ch" forName="diamond" refType="h"/>
          <dgm:constr type="w" for="ch" forName="quad1" refType="w" fact="0.39"/>
          <dgm:constr type="h" for="ch" forName="quad1" refType="h" fact="0.39"/>
          <dgm:constr type="ctrX" for="ch" forName="quad1" refType="w" fact="0.71"/>
          <dgm:constr type="ctrY" for="ch" forName="quad1" refType="h" fact="0.29"/>
          <dgm:constr type="w" for="ch" forName="quad2" refType="w" fact="0.39"/>
          <dgm:constr type="h" for="ch" forName="quad2" refType="h" fact="0.39"/>
          <dgm:constr type="ctrX" for="ch" forName="quad2" refType="w" fact="0.29"/>
          <dgm:constr type="ctrY" for="ch" forName="quad2" refType="h" fact="0.29"/>
          <dgm:constr type="w" for="ch" forName="quad3" refType="w" fact="0.39"/>
          <dgm:constr type="h" for="ch" forName="quad3" refType="h" fact="0.39"/>
          <dgm:constr type="ctrX" for="ch" forName="quad3" refType="w" fact="0.71"/>
          <dgm:constr type="ctrY" for="ch" forName="quad3" refType="h" fact="0.71"/>
          <dgm:constr type="w" for="ch" forName="quad4" refType="w" fact="0.39"/>
          <dgm:constr type="h" for="ch" forName="quad4" refType="h" fact="0.39"/>
          <dgm:constr type="ctrX" for="ch" forName="quad4" refType="w" fact="0.29"/>
          <dgm:constr type="ctrY" for="ch" forName="quad4" refType="h" fact="0.71"/>
          <dgm:constr type="primFontSz" for="des" ptType="node" op="equ" val="65"/>
        </dgm:constrLst>
      </dgm:else>
    </dgm:choose>
    <dgm:ruleLst/>
    <dgm:choose name="Name3">
      <dgm:if name="Name4" axis="ch" ptType="node" func="cnt" op="gte" val="1">
        <dgm:layoutNode name="diamond" styleLbl="bgShp">
          <dgm:alg type="sp"/>
          <dgm:shape xmlns:r="http://schemas.openxmlformats.org/officeDocument/2006/relationships" type="diamond" r:blip="">
            <dgm:adjLst/>
          </dgm:shape>
          <dgm:presOf/>
          <dgm:constrLst>
            <dgm:constr type="w" refType="h" op="equ"/>
          </dgm:constrLst>
          <dgm:ruleLst/>
        </dgm:layoutNode>
        <dgm:layoutNode name="quad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1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2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3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4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5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endParaRPr lang="ar-EG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fld id="{1BF7A9E6-6E1B-4A5C-99B5-5D84C1931976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ar-EG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endParaRPr lang="ar-E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fld id="{EC2980C8-BB53-4478-8703-F535177AB2FC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102933498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C2980C8-BB53-4478-8703-F535177AB2FC}" type="slidenum">
              <a:rPr lang="ar-EG" smtClean="0"/>
              <a:t>8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7157926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1">
            <a:extLst>
              <a:ext uri="{FF2B5EF4-FFF2-40B4-BE49-F238E27FC236}">
                <a16:creationId xmlns:a16="http://schemas.microsoft.com/office/drawing/2014/main" id="{325C1AB3-DAEF-AB31-2594-88CA62C85AD3}"/>
              </a:ext>
            </a:extLst>
          </p:cNvPr>
          <p:cNvSpPr txBox="1">
            <a:spLocks noGrp="1" noRot="1" noChangeAspect="1" noChangeArrowheads="1" noTextEdit="1"/>
          </p:cNvSpPr>
          <p:nvPr>
            <p:ph type="sldImg"/>
          </p:nvPr>
        </p:nvSpPr>
        <p:spPr>
          <a:xfrm>
            <a:off x="1563688" y="965200"/>
            <a:ext cx="4643437" cy="3481388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48131" name="Rectangle 2">
            <a:extLst>
              <a:ext uri="{FF2B5EF4-FFF2-40B4-BE49-F238E27FC236}">
                <a16:creationId xmlns:a16="http://schemas.microsoft.com/office/drawing/2014/main" id="{331F2E28-D99D-212B-FC06-79003AD6CEE4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xfrm>
            <a:off x="1201738" y="4784725"/>
            <a:ext cx="5373687" cy="3773488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ar-EG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C2980C8-BB53-4478-8703-F535177AB2FC}" type="slidenum">
              <a:rPr lang="ar-EG" smtClean="0"/>
              <a:t>26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20546853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1">
            <a:extLst>
              <a:ext uri="{FF2B5EF4-FFF2-40B4-BE49-F238E27FC236}">
                <a16:creationId xmlns:a16="http://schemas.microsoft.com/office/drawing/2014/main" id="{64F98010-6D0B-7402-DB26-2F67A2730925}"/>
              </a:ext>
            </a:extLst>
          </p:cNvPr>
          <p:cNvSpPr txBox="1">
            <a:spLocks noGrp="1" noRot="1" noChangeAspect="1" noChangeArrowheads="1" noTextEdit="1"/>
          </p:cNvSpPr>
          <p:nvPr>
            <p:ph type="sldImg"/>
          </p:nvPr>
        </p:nvSpPr>
        <p:spPr>
          <a:xfrm>
            <a:off x="1563688" y="965200"/>
            <a:ext cx="4643437" cy="3481388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44035" name="Rectangle 2">
            <a:extLst>
              <a:ext uri="{FF2B5EF4-FFF2-40B4-BE49-F238E27FC236}">
                <a16:creationId xmlns:a16="http://schemas.microsoft.com/office/drawing/2014/main" id="{C2D73ABB-B9E6-51AC-65AD-05E0519CC5A2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xfrm>
            <a:off x="1201738" y="4784725"/>
            <a:ext cx="5373687" cy="3773488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ar-EG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C2980C8-BB53-4478-8703-F535177AB2FC}" type="slidenum">
              <a:rPr lang="ar-EG" smtClean="0"/>
              <a:t>53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35810375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C2980C8-BB53-4478-8703-F535177AB2FC}" type="slidenum">
              <a:rPr lang="ar-EG" smtClean="0"/>
              <a:t>54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13366199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C2980C8-BB53-4478-8703-F535177AB2FC}" type="slidenum">
              <a:rPr lang="ar-EG" smtClean="0"/>
              <a:t>55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22709564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1">
            <a:extLst>
              <a:ext uri="{FF2B5EF4-FFF2-40B4-BE49-F238E27FC236}">
                <a16:creationId xmlns:a16="http://schemas.microsoft.com/office/drawing/2014/main" id="{4ABBB1CE-A03A-2A53-FF08-A02F50A39DB3}"/>
              </a:ext>
            </a:extLst>
          </p:cNvPr>
          <p:cNvSpPr txBox="1">
            <a:spLocks noGrp="1" noRot="1" noChangeAspect="1" noChangeArrowheads="1" noTextEdit="1"/>
          </p:cNvSpPr>
          <p:nvPr>
            <p:ph type="sldImg"/>
          </p:nvPr>
        </p:nvSpPr>
        <p:spPr>
          <a:xfrm>
            <a:off x="1563688" y="965200"/>
            <a:ext cx="4643437" cy="3481388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68611" name="Rectangle 2">
            <a:extLst>
              <a:ext uri="{FF2B5EF4-FFF2-40B4-BE49-F238E27FC236}">
                <a16:creationId xmlns:a16="http://schemas.microsoft.com/office/drawing/2014/main" id="{CB9DE6AB-A8CD-4474-4656-F1950B6D7FE2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xfrm>
            <a:off x="1201738" y="4784725"/>
            <a:ext cx="5373687" cy="3773488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ar-EG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1">
            <a:extLst>
              <a:ext uri="{FF2B5EF4-FFF2-40B4-BE49-F238E27FC236}">
                <a16:creationId xmlns:a16="http://schemas.microsoft.com/office/drawing/2014/main" id="{3A953708-7EE3-93A8-5118-1949D1885F8B}"/>
              </a:ext>
            </a:extLst>
          </p:cNvPr>
          <p:cNvSpPr txBox="1">
            <a:spLocks noGrp="1" noRot="1" noChangeAspect="1" noChangeArrowheads="1" noTextEdit="1"/>
          </p:cNvSpPr>
          <p:nvPr>
            <p:ph type="sldImg"/>
          </p:nvPr>
        </p:nvSpPr>
        <p:spPr>
          <a:xfrm>
            <a:off x="1563688" y="965200"/>
            <a:ext cx="4643437" cy="3481388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69635" name="Rectangle 2">
            <a:extLst>
              <a:ext uri="{FF2B5EF4-FFF2-40B4-BE49-F238E27FC236}">
                <a16:creationId xmlns:a16="http://schemas.microsoft.com/office/drawing/2014/main" id="{C7B8E535-0B26-2CC3-7184-E7895BE5461C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xfrm>
            <a:off x="1201738" y="4784725"/>
            <a:ext cx="5373687" cy="3773488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ar-EG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C598F7-5CE6-8D20-AFDB-2FD92780D32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24D8514-38B0-5EF5-8C1A-392846D37E6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ar-EG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84EE931-52B6-FABC-E551-BFDBC4EF8C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28FD1B0-47D0-6472-B63D-22DDA647D1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A987134-8AF4-188E-03AB-63361A3C93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226625884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C9BC97-A9CB-5CD2-83F0-A875D6AFCC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3792F0-36EB-8D1C-23E2-73391BC53EA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628A85E-8F0C-E3DD-214B-C306739024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AC2474-A1FF-A1EE-4DEE-60C96AB824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70CAAD0-46EE-472F-018A-84674DF4DB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113544555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205058-AD28-F5ED-7630-200726A481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C35F5F2-02DA-92D9-5167-2929C4B6247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60B7B48-1E5C-5D3A-DA33-39E6AD44B1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9211836-85D5-3BDC-3E07-13573EDDBB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B8BE8E2-A8FD-9E1F-9E25-5FA7D6AD5F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307592618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17578D-E422-35FB-F4D4-5C335197CA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416FBF5-8C79-6DFC-EF51-FF5477A3392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B173182-7C61-1C53-EE0A-4462DDDCEB6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ED78C00-0F71-097C-ED6E-2A61C8452B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FAE6CD9-432C-E379-26CC-B7C5144911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408A2A3-806B-DB0C-5C03-57580DBBD9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205952210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05D592E-7323-C3B0-8CD4-097E963D1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8BAE264-5318-4207-468D-2D1FC50442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AF4A3E3-BBD4-0E44-80F3-B743E48717D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30D4BA-B39D-F9AB-8421-83DE0AC4779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B5367A1E-4CBE-15CA-67F2-0EFEC21FD79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A8D790F-425D-7A46-CF70-29852EF9AC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C56114D-4EFF-8B87-5312-9EE4784901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C87B650-9935-3926-8809-F76994AA6C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7345145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153641-E23F-D66F-4287-6F66BA6B97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F424681-95AF-DE50-2645-85BE2486C0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A0FAA19-6911-FBEF-991C-3B14772BA6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A727182-2160-8A9A-CB99-3DD13DB0F1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33658374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38786EC-850A-51D9-1541-4D108D46C0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DF0CB59-611B-7575-3710-BFE09FF720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CD895A-072F-48A9-45AA-BEEF56466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13103870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7B45E7E-FB33-D8DA-13D2-5BBA0594BC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766B7F3-98F6-1B9A-67AC-24474D3800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330003-1869-8DA4-2A9C-5E8C7A20CDC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3DE97B0-1E8C-DFEC-4A64-A3240EE0B8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99073F-E868-C871-B2D0-1A8DAF9243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F39A556-C452-FAAF-A1BB-E262E441DF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13003362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68FC72-7568-7147-14B0-25AFB944AA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0B86EDB-3795-0DD9-672D-912DE7FF8B5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ar-EG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C8CBCA8-B094-05F0-700B-141B1A0E067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8315616-F5D5-3A5D-B5C8-02F5A881FC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F643D58-273C-5DC9-9FD0-5316860ABC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335B47B-2EE8-F4A1-AC7D-39136EE57F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37993449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3EB26C-8A8E-EE52-5A39-7762581820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A604EBA-534E-A37F-6C74-F85171B049A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1DEBC6D-EE13-6956-3D8E-1707994F2F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0B2FFD-C97F-B5FD-1EE8-458FE50D71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B163775-F6FC-6207-B557-D106751759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36824098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706F25A-455C-8DF4-C1BA-8BC7EF125CF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94FE4B2-21A4-4956-D8C1-E3E3DA51029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7A23240-D45F-A5ED-3E76-DFC523200F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61B608-BBCB-A6CE-94BA-4EAF5AE55E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C5BCCF-462B-3D4C-949A-3FC5E40002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233008090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292101" y="227014"/>
            <a:ext cx="9969500" cy="586898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Rectangle 59">
            <a:extLst>
              <a:ext uri="{FF2B5EF4-FFF2-40B4-BE49-F238E27FC236}">
                <a16:creationId xmlns:a16="http://schemas.microsoft.com/office/drawing/2014/main" id="{0EEF7207-BE4E-DF04-3B86-FEB6F4BE46D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0">
            <a:extLst>
              <a:ext uri="{FF2B5EF4-FFF2-40B4-BE49-F238E27FC236}">
                <a16:creationId xmlns:a16="http://schemas.microsoft.com/office/drawing/2014/main" id="{983A887F-71B1-D9F7-D059-0343460C022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1">
            <a:extLst>
              <a:ext uri="{FF2B5EF4-FFF2-40B4-BE49-F238E27FC236}">
                <a16:creationId xmlns:a16="http://schemas.microsoft.com/office/drawing/2014/main" id="{49F62336-1D32-8D0F-2E16-97B2F6A4A9B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76BD546-EC29-4CC0-8153-2C51B17A0FBE}" type="slidenum">
              <a:rPr lang="en-US" altLang="ar-EG"/>
              <a:pPr/>
              <a:t>‹#›</a:t>
            </a:fld>
            <a:endParaRPr lang="en-US" altLang="ar-EG"/>
          </a:p>
        </p:txBody>
      </p:sp>
    </p:spTree>
    <p:extLst>
      <p:ext uri="{BB962C8B-B14F-4D97-AF65-F5344CB8AC3E}">
        <p14:creationId xmlns:p14="http://schemas.microsoft.com/office/powerpoint/2010/main" val="89971783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2101" y="227013"/>
            <a:ext cx="99695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351367" y="1598613"/>
            <a:ext cx="4821767" cy="21717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351367" y="3922714"/>
            <a:ext cx="4821767" cy="217328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half" idx="3"/>
          </p:nvPr>
        </p:nvSpPr>
        <p:spPr>
          <a:xfrm>
            <a:off x="5376334" y="1598613"/>
            <a:ext cx="4823884" cy="449738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Rectangle 59">
            <a:extLst>
              <a:ext uri="{FF2B5EF4-FFF2-40B4-BE49-F238E27FC236}">
                <a16:creationId xmlns:a16="http://schemas.microsoft.com/office/drawing/2014/main" id="{3443DAFB-FF1C-834C-55C8-7CC619663E4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0">
            <a:extLst>
              <a:ext uri="{FF2B5EF4-FFF2-40B4-BE49-F238E27FC236}">
                <a16:creationId xmlns:a16="http://schemas.microsoft.com/office/drawing/2014/main" id="{72FF1A44-B5A6-7CCF-065A-E2F63F47C1F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61">
            <a:extLst>
              <a:ext uri="{FF2B5EF4-FFF2-40B4-BE49-F238E27FC236}">
                <a16:creationId xmlns:a16="http://schemas.microsoft.com/office/drawing/2014/main" id="{23E4D158-9F8C-8D5D-D4F0-D8A3297434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A934912-E340-4038-AE94-B3507833A5F1}" type="slidenum">
              <a:rPr lang="en-US" altLang="ar-EG"/>
              <a:pPr/>
              <a:t>‹#›</a:t>
            </a:fld>
            <a:endParaRPr lang="en-US" altLang="ar-EG"/>
          </a:p>
        </p:txBody>
      </p:sp>
    </p:spTree>
    <p:extLst>
      <p:ext uri="{BB962C8B-B14F-4D97-AF65-F5344CB8AC3E}">
        <p14:creationId xmlns:p14="http://schemas.microsoft.com/office/powerpoint/2010/main" val="234181470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2101" y="227013"/>
            <a:ext cx="99695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51367" y="1598613"/>
            <a:ext cx="4821767" cy="449738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5376334" y="1598613"/>
            <a:ext cx="4823884" cy="21717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5376334" y="3922714"/>
            <a:ext cx="4823884" cy="217328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Rectangle 59">
            <a:extLst>
              <a:ext uri="{FF2B5EF4-FFF2-40B4-BE49-F238E27FC236}">
                <a16:creationId xmlns:a16="http://schemas.microsoft.com/office/drawing/2014/main" id="{9ACFAE38-E2A4-8460-C7A1-420D83ED3E3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0">
            <a:extLst>
              <a:ext uri="{FF2B5EF4-FFF2-40B4-BE49-F238E27FC236}">
                <a16:creationId xmlns:a16="http://schemas.microsoft.com/office/drawing/2014/main" id="{F27B7E95-01AD-ECC7-3F77-56A7CDF6F77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61">
            <a:extLst>
              <a:ext uri="{FF2B5EF4-FFF2-40B4-BE49-F238E27FC236}">
                <a16:creationId xmlns:a16="http://schemas.microsoft.com/office/drawing/2014/main" id="{AAE7FE65-C508-55BE-AF0E-87C6FCBACB1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54B107B-F0E9-47B7-8DE5-B259704B86D8}" type="slidenum">
              <a:rPr lang="en-US" altLang="ar-EG"/>
              <a:pPr/>
              <a:t>‹#›</a:t>
            </a:fld>
            <a:endParaRPr lang="en-US" altLang="ar-EG"/>
          </a:p>
        </p:txBody>
      </p:sp>
    </p:spTree>
    <p:extLst>
      <p:ext uri="{BB962C8B-B14F-4D97-AF65-F5344CB8AC3E}">
        <p14:creationId xmlns:p14="http://schemas.microsoft.com/office/powerpoint/2010/main" val="2835300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10097F4-3F2F-9258-3C0C-8F77C83F8F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ar-EG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2C5EAB1-0BBA-62F5-B08B-67536787F74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ar-EG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20E225D-5DB9-B6BA-6831-ED394EF0C25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88B65BA-F1C2-4438-8984-53CFC6A257D9}" type="datetimeFigureOut">
              <a:rPr lang="ar-EG" smtClean="0"/>
              <a:t>12/02/1448</a:t>
            </a:fld>
            <a:endParaRPr lang="ar-EG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03DC375-1191-5524-D411-6B0C53270B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ar-EG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2EC9E4F-AB9A-948A-7EBB-7CA3A18520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61D34D-DF1B-4088-8A90-89106A8557D2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10565955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EG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gi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9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50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4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1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.xml"/><Relationship Id="rId7" Type="http://schemas.microsoft.com/office/2007/relationships/diagramDrawing" Target="../diagrams/drawing6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3C1F321-BB96-4700-B3CE-1A6156067F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FA1AD64-F15F-417D-956C-B2C211FC90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3051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5F3C79B0-E0DE-407E-B550-3FDEB67B00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A1A2DFA8-F321-4204-9B31-A3713BC652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C10FA22-BE2C-7B35-C22A-8B25C899F77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89708" y="841664"/>
            <a:ext cx="4874661" cy="5156800"/>
          </a:xfrm>
        </p:spPr>
        <p:txBody>
          <a:bodyPr anchor="ctr">
            <a:normAutofit/>
          </a:bodyPr>
          <a:lstStyle/>
          <a:p>
            <a:pPr algn="l"/>
            <a:r>
              <a:rPr lang="en-US" sz="4800">
                <a:solidFill>
                  <a:schemeClr val="bg1"/>
                </a:solidFill>
              </a:rPr>
              <a:t>Speech Recognition</a:t>
            </a:r>
            <a:endParaRPr lang="ar-EG" sz="4800">
              <a:solidFill>
                <a:schemeClr val="bg1"/>
              </a:solidFill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721D-1EFF-18F3-2C13-39D5800A996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534687" y="841664"/>
            <a:ext cx="4867605" cy="5156800"/>
          </a:xfrm>
        </p:spPr>
        <p:txBody>
          <a:bodyPr anchor="ctr">
            <a:normAutofit/>
          </a:bodyPr>
          <a:lstStyle/>
          <a:p>
            <a:pPr algn="l"/>
            <a:r>
              <a:rPr lang="en-US">
                <a:solidFill>
                  <a:schemeClr val="tx2"/>
                </a:solidFill>
              </a:rPr>
              <a:t>by</a:t>
            </a:r>
          </a:p>
          <a:p>
            <a:pPr algn="l"/>
            <a:r>
              <a:rPr lang="en-US" i="1">
                <a:solidFill>
                  <a:schemeClr val="tx2"/>
                </a:solidFill>
              </a:rPr>
              <a:t>Prof. Alaa Hamdy</a:t>
            </a:r>
            <a:endParaRPr lang="ar-EG" i="1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3263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7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A6D1B60-D4B3-0FEF-4BA0-D15F10FB55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Outlines</a:t>
            </a:r>
            <a:endParaRPr lang="ar-EG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37F203C-F5C5-CD5F-3D6C-7FFCB0BAD4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r>
              <a:rPr lang="en-US" sz="1800" dirty="0">
                <a:solidFill>
                  <a:schemeClr val="tx2"/>
                </a:solidFill>
              </a:rPr>
              <a:t>Sound, Audio, Music, Speech</a:t>
            </a:r>
          </a:p>
          <a:p>
            <a:r>
              <a:rPr lang="en-US" sz="1800" dirty="0">
                <a:solidFill>
                  <a:schemeClr val="tx2"/>
                </a:solidFill>
              </a:rPr>
              <a:t>Speech components (Speaker-related information, Speech)</a:t>
            </a:r>
          </a:p>
          <a:p>
            <a:r>
              <a:rPr lang="en-US" sz="1800" dirty="0">
                <a:solidFill>
                  <a:schemeClr val="tx2"/>
                </a:solidFill>
              </a:rPr>
              <a:t>Speech processing &amp; speech analysis</a:t>
            </a:r>
          </a:p>
          <a:p>
            <a:r>
              <a:rPr lang="en-US" sz="1800" dirty="0">
                <a:solidFill>
                  <a:schemeClr val="tx2"/>
                </a:solidFill>
              </a:rPr>
              <a:t>Speech recognition (SR), Speaker identification, Speaker verification</a:t>
            </a:r>
          </a:p>
          <a:p>
            <a:r>
              <a:rPr lang="en-US" sz="1800" dirty="0">
                <a:solidFill>
                  <a:schemeClr val="tx2"/>
                </a:solidFill>
              </a:rPr>
              <a:t>Isolated-word &amp; continuous SR</a:t>
            </a:r>
          </a:p>
          <a:p>
            <a:r>
              <a:rPr lang="en-US" sz="1800" dirty="0"/>
              <a:t>Difficulties of speech recognition</a:t>
            </a:r>
          </a:p>
          <a:p>
            <a:r>
              <a:rPr lang="en-US" sz="1800" dirty="0">
                <a:solidFill>
                  <a:schemeClr val="tx2"/>
                </a:solidFill>
              </a:rPr>
              <a:t>Sampling Theorem</a:t>
            </a:r>
          </a:p>
          <a:p>
            <a:r>
              <a:rPr lang="en-US" sz="1800" dirty="0">
                <a:solidFill>
                  <a:schemeClr val="tx2"/>
                </a:solidFill>
              </a:rPr>
              <a:t>Speech features (Zero-crossing, energy, power, formant, Fourier descriptor, </a:t>
            </a:r>
            <a:r>
              <a:rPr lang="en-GB" altLang="ar-EG" sz="1800" dirty="0">
                <a:solidFill>
                  <a:schemeClr val="tx2"/>
                </a:solidFill>
              </a:rPr>
              <a:t>Mel-frequency cepstral coefficients (MFCC)</a:t>
            </a:r>
            <a:r>
              <a:rPr lang="en-US" altLang="ar-EG" sz="1800" dirty="0">
                <a:solidFill>
                  <a:schemeClr val="tx2"/>
                </a:solidFill>
              </a:rPr>
              <a:t>, LPC, </a:t>
            </a:r>
            <a:r>
              <a:rPr lang="en-US" sz="1800" dirty="0">
                <a:solidFill>
                  <a:schemeClr val="tx2"/>
                </a:solidFill>
              </a:rPr>
              <a:t>…)</a:t>
            </a:r>
          </a:p>
          <a:p>
            <a:r>
              <a:rPr lang="en-US" sz="1800" dirty="0">
                <a:solidFill>
                  <a:schemeClr val="tx2"/>
                </a:solidFill>
              </a:rPr>
              <a:t>Classification (HMM, ….)</a:t>
            </a:r>
          </a:p>
          <a:p>
            <a:endParaRPr lang="en-US" sz="1800" dirty="0">
              <a:solidFill>
                <a:schemeClr val="tx2"/>
              </a:solidFill>
            </a:endParaRPr>
          </a:p>
          <a:p>
            <a:endParaRPr lang="ar-EG" sz="18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120588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6F266D87-9F95-B244-E0F0-2178830652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ar-EG"/>
              <a:t>Sound Waves</a:t>
            </a:r>
          </a:p>
        </p:txBody>
      </p:sp>
      <p:pic>
        <p:nvPicPr>
          <p:cNvPr id="16387" name="Picture 3">
            <a:extLst>
              <a:ext uri="{FF2B5EF4-FFF2-40B4-BE49-F238E27FC236}">
                <a16:creationId xmlns:a16="http://schemas.microsoft.com/office/drawing/2014/main" id="{1DADDDAC-0CE9-7A0C-29B9-010BF9D9D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1751013"/>
            <a:ext cx="9144000" cy="4413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7B18FD-10D8-E84F-2720-3B9FDB39A8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8881200-9D44-6E30-E47A-87DC3E86799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ar-EG" dirty="0"/>
          </a:p>
        </p:txBody>
      </p:sp>
      <p:pic>
        <p:nvPicPr>
          <p:cNvPr id="5" name="Picture 4" descr="Sound Wave Properties, Diagram: Amplitude, Frequency &amp; Pitch, #calculus |  Universo Matematico | Facebook">
            <a:extLst>
              <a:ext uri="{FF2B5EF4-FFF2-40B4-BE49-F238E27FC236}">
                <a16:creationId xmlns:a16="http://schemas.microsoft.com/office/drawing/2014/main" id="{CD1C2F22-79CE-C42F-6FE5-B6D1E3C0E1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769" b="36397"/>
          <a:stretch>
            <a:fillRect/>
          </a:stretch>
        </p:blipFill>
        <p:spPr>
          <a:xfrm>
            <a:off x="1" y="-1"/>
            <a:ext cx="12192000" cy="6858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464317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51F0B3-9749-13FE-5FAC-2E47F56473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2A5210-8FD7-6740-E8C7-55728BD706E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ar-EG"/>
          </a:p>
        </p:txBody>
      </p:sp>
      <p:pic>
        <p:nvPicPr>
          <p:cNvPr id="4" name="Picture 3" descr="Amplitude is loudness and frequency is pitch">
            <a:extLst>
              <a:ext uri="{FF2B5EF4-FFF2-40B4-BE49-F238E27FC236}">
                <a16:creationId xmlns:a16="http://schemas.microsoft.com/office/drawing/2014/main" id="{EC159902-B2F6-2B7E-8694-F99B5B430D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7855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489533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318A2-B7DF-13D4-A9CA-69D93AC67D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AD363F0-8933-129C-86D9-90ACA8374E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ar-EG"/>
          </a:p>
        </p:txBody>
      </p:sp>
      <p:pic>
        <p:nvPicPr>
          <p:cNvPr id="4" name="Picture 3" descr="sin waves with different frequencies and amplitudes vector graph Stock Vector | Adobe Stock">
            <a:extLst>
              <a:ext uri="{FF2B5EF4-FFF2-40B4-BE49-F238E27FC236}">
                <a16:creationId xmlns:a16="http://schemas.microsoft.com/office/drawing/2014/main" id="{F65EB296-6EE9-5FB9-20AD-5233C9F1CC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507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01699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3" name="Slide Background Fill">
            <a:extLst>
              <a:ext uri="{FF2B5EF4-FFF2-40B4-BE49-F238E27FC236}">
                <a16:creationId xmlns:a16="http://schemas.microsoft.com/office/drawing/2014/main" id="{03AF1C04-3FEF-41BD-BB84-2F263765BE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094DE5E8-C080-45A4-B2F4-8FE7D8F8EE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36" name="Color Cover">
              <a:extLst>
                <a:ext uri="{FF2B5EF4-FFF2-40B4-BE49-F238E27FC236}">
                  <a16:creationId xmlns:a16="http://schemas.microsoft.com/office/drawing/2014/main" id="{1FAC8321-8295-4F58-80B8-C1A774606B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Color Cover">
              <a:extLst>
                <a:ext uri="{FF2B5EF4-FFF2-40B4-BE49-F238E27FC236}">
                  <a16:creationId xmlns:a16="http://schemas.microsoft.com/office/drawing/2014/main" id="{2BE89D78-556E-4C9E-A234-78B0850234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A28EBCD-582B-4E3B-AB95-15EA16034C6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49E29E18-2832-4FBD-901C-97986DBD0C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7327E470-287A-4E1E-8A04-A3596DBD97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57D0A613-D499-AEDC-5C2B-5710AE19A1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08758" y="1173129"/>
            <a:ext cx="4046993" cy="2400366"/>
          </a:xfrm>
          <a:prstGeom prst="rect">
            <a:avLst/>
          </a:prstGeom>
        </p:spPr>
      </p:pic>
      <p:pic>
        <p:nvPicPr>
          <p:cNvPr id="4" name="Picture 3" descr="Characterization of sound">
            <a:extLst>
              <a:ext uri="{FF2B5EF4-FFF2-40B4-BE49-F238E27FC236}">
                <a16:creationId xmlns:a16="http://schemas.microsoft.com/office/drawing/2014/main" id="{998F02F8-E4D6-8A76-773C-0560C51E68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85318" y="4119098"/>
            <a:ext cx="5882238" cy="1416609"/>
          </a:xfrm>
          <a:prstGeom prst="rect">
            <a:avLst/>
          </a:prstGeom>
        </p:spPr>
      </p:pic>
      <p:grpSp>
        <p:nvGrpSpPr>
          <p:cNvPr id="43" name="Group 4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427AFB4-A83E-C3EB-99A6-9328321BC2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4985" y="819015"/>
            <a:ext cx="5392454" cy="2229205"/>
          </a:xfrm>
        </p:spPr>
        <p:txBody>
          <a:bodyPr anchor="b">
            <a:normAutofit/>
          </a:bodyPr>
          <a:lstStyle/>
          <a:p>
            <a:r>
              <a:rPr lang="en-US" sz="4800" dirty="0">
                <a:solidFill>
                  <a:schemeClr val="bg1"/>
                </a:solidFill>
              </a:rPr>
              <a:t>Sound, Audio, Music, Speech</a:t>
            </a:r>
            <a:endParaRPr lang="ar-EG" sz="4800" dirty="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3AD7302-9579-C9EC-116A-B5B2539F8B2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14985" y="3183805"/>
            <a:ext cx="5048393" cy="2855180"/>
          </a:xfrm>
        </p:spPr>
        <p:txBody>
          <a:bodyPr anchor="t">
            <a:normAutofit/>
          </a:bodyPr>
          <a:lstStyle/>
          <a:p>
            <a:pPr marL="0" indent="0">
              <a:buNone/>
            </a:pPr>
            <a:endParaRPr lang="en-US" sz="1500" dirty="0">
              <a:solidFill>
                <a:schemeClr val="bg1"/>
              </a:solidFill>
            </a:endParaRPr>
          </a:p>
          <a:p>
            <a:r>
              <a:rPr lang="en-US" altLang="ar-EG" sz="1500" dirty="0">
                <a:solidFill>
                  <a:schemeClr val="bg1"/>
                </a:solidFill>
              </a:rPr>
              <a:t>Physical - sound as a disturbance in the air</a:t>
            </a:r>
          </a:p>
          <a:p>
            <a:pPr lvl="1">
              <a:spcAft>
                <a:spcPts val="500"/>
              </a:spcAft>
              <a:buFont typeface="Symbol" panose="05050102010706020507" pitchFamily="18" charset="2"/>
              <a:buChar char="·"/>
            </a:pPr>
            <a:r>
              <a:rPr lang="en-US" altLang="ar-EG" sz="1500" dirty="0">
                <a:solidFill>
                  <a:schemeClr val="bg1"/>
                </a:solidFill>
              </a:rPr>
              <a:t>Amplitude </a:t>
            </a:r>
          </a:p>
          <a:p>
            <a:pPr lvl="1">
              <a:spcAft>
                <a:spcPts val="500"/>
              </a:spcAft>
              <a:buFont typeface="Symbol" panose="05050102010706020507" pitchFamily="18" charset="2"/>
              <a:buChar char="·"/>
            </a:pPr>
            <a:r>
              <a:rPr lang="en-US" altLang="ar-EG" sz="1500" dirty="0">
                <a:solidFill>
                  <a:schemeClr val="bg1"/>
                </a:solidFill>
              </a:rPr>
              <a:t>Frequency  </a:t>
            </a:r>
          </a:p>
          <a:p>
            <a:r>
              <a:rPr lang="en-US" sz="1500" dirty="0">
                <a:solidFill>
                  <a:schemeClr val="bg1"/>
                </a:solidFill>
              </a:rPr>
              <a:t>Audio (20 Hz </a:t>
            </a:r>
            <a:r>
              <a:rPr lang="en-US" sz="1500" dirty="0">
                <a:solidFill>
                  <a:schemeClr val="bg1"/>
                </a:solidFill>
                <a:sym typeface="Wingdings" panose="05000000000000000000" pitchFamily="2" charset="2"/>
              </a:rPr>
              <a:t> 20,000 Hz)</a:t>
            </a:r>
          </a:p>
          <a:p>
            <a:r>
              <a:rPr lang="en-US" sz="1500" dirty="0">
                <a:solidFill>
                  <a:schemeClr val="bg1"/>
                </a:solidFill>
                <a:sym typeface="Wingdings" panose="05000000000000000000" pitchFamily="2" charset="2"/>
              </a:rPr>
              <a:t>Music </a:t>
            </a:r>
            <a:r>
              <a:rPr lang="en-US" sz="1500" dirty="0">
                <a:solidFill>
                  <a:schemeClr val="bg1"/>
                </a:solidFill>
              </a:rPr>
              <a:t>(20 Hz </a:t>
            </a:r>
            <a:r>
              <a:rPr lang="en-US" sz="1500" dirty="0">
                <a:solidFill>
                  <a:schemeClr val="bg1"/>
                </a:solidFill>
                <a:sym typeface="Wingdings" panose="05000000000000000000" pitchFamily="2" charset="2"/>
              </a:rPr>
              <a:t> 20,000 Hz)</a:t>
            </a:r>
          </a:p>
          <a:p>
            <a:r>
              <a:rPr lang="en-US" sz="1500" dirty="0">
                <a:solidFill>
                  <a:schemeClr val="bg1"/>
                </a:solidFill>
                <a:sym typeface="Wingdings" panose="05000000000000000000" pitchFamily="2" charset="2"/>
              </a:rPr>
              <a:t>Speech </a:t>
            </a:r>
            <a:r>
              <a:rPr lang="en-US" sz="1500" dirty="0">
                <a:solidFill>
                  <a:schemeClr val="bg1"/>
                </a:solidFill>
              </a:rPr>
              <a:t>(300 Hz </a:t>
            </a:r>
            <a:r>
              <a:rPr lang="en-US" sz="1500" dirty="0">
                <a:solidFill>
                  <a:schemeClr val="bg1"/>
                </a:solidFill>
                <a:sym typeface="Wingdings" panose="05000000000000000000" pitchFamily="2" charset="2"/>
              </a:rPr>
              <a:t> 3400 Hz)</a:t>
            </a:r>
          </a:p>
          <a:p>
            <a:endParaRPr lang="en-US" sz="1500" dirty="0">
              <a:solidFill>
                <a:schemeClr val="bg1"/>
              </a:solidFill>
              <a:sym typeface="Wingdings" panose="05000000000000000000" pitchFamily="2" charset="2"/>
            </a:endParaRPr>
          </a:p>
          <a:p>
            <a:endParaRPr lang="ar-EG" sz="15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17620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F29550-8411-9860-E5E7-733A34C650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D92177C-32A0-47A6-C17A-A7C722CAA2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ar-EG"/>
          </a:p>
        </p:txBody>
      </p:sp>
      <p:pic>
        <p:nvPicPr>
          <p:cNvPr id="4" name="Picture 3" descr="What is the sound of frequency below 20 Hz called? Option 1: Audio sounds Option 2: Infrasonic #TriviaTuesday">
            <a:extLst>
              <a:ext uri="{FF2B5EF4-FFF2-40B4-BE49-F238E27FC236}">
                <a16:creationId xmlns:a16="http://schemas.microsoft.com/office/drawing/2014/main" id="{4C4AD7C2-FF41-33AC-B0C0-FFD336E14D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1999" cy="70364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803166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56B2C21-A230-48C0-8DF1-C46611373C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800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847E18C-932D-4C95-AABA-FEC7C9499A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alpha val="46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150CB11-0C61-439E-910F-5787759E72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2000">
                <a:schemeClr val="accent1">
                  <a:alpha val="29000"/>
                </a:schemeClr>
              </a:gs>
              <a:gs pos="100000">
                <a:srgbClr val="000000">
                  <a:alpha val="30000"/>
                </a:srgbClr>
              </a:gs>
            </a:gsLst>
            <a:lin ang="7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3F8A58B-5155-44CE-A5FF-7647B47D0A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0635413">
            <a:off x="-501737" y="969718"/>
            <a:ext cx="3900357" cy="4178958"/>
          </a:xfrm>
          <a:custGeom>
            <a:avLst/>
            <a:gdLst>
              <a:gd name="connsiteX0" fmla="*/ 2432225 w 3900357"/>
              <a:gd name="connsiteY0" fmla="*/ 93939 h 4178958"/>
              <a:gd name="connsiteX1" fmla="*/ 3900357 w 3900357"/>
              <a:gd name="connsiteY1" fmla="*/ 2089479 h 4178958"/>
              <a:gd name="connsiteX2" fmla="*/ 1810878 w 3900357"/>
              <a:gd name="connsiteY2" fmla="*/ 4178958 h 4178958"/>
              <a:gd name="connsiteX3" fmla="*/ 78249 w 3900357"/>
              <a:gd name="connsiteY3" fmla="*/ 3257727 h 4178958"/>
              <a:gd name="connsiteX4" fmla="*/ 0 w 3900357"/>
              <a:gd name="connsiteY4" fmla="*/ 3128923 h 4178958"/>
              <a:gd name="connsiteX5" fmla="*/ 831324 w 3900357"/>
              <a:gd name="connsiteY5" fmla="*/ 244281 h 4178958"/>
              <a:gd name="connsiteX6" fmla="*/ 997559 w 3900357"/>
              <a:gd name="connsiteY6" fmla="*/ 164202 h 4178958"/>
              <a:gd name="connsiteX7" fmla="*/ 1810878 w 3900357"/>
              <a:gd name="connsiteY7" fmla="*/ 0 h 4178958"/>
              <a:gd name="connsiteX8" fmla="*/ 2432225 w 3900357"/>
              <a:gd name="connsiteY8" fmla="*/ 93939 h 4178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0357" h="4178958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29000">
                <a:srgbClr val="000000">
                  <a:alpha val="0"/>
                </a:srgbClr>
              </a:gs>
              <a:gs pos="100000">
                <a:schemeClr val="accent1">
                  <a:alpha val="43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43F2ACA-E6D6-4028-82DD-F03C262D5D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95" y="1410079"/>
            <a:ext cx="6858003" cy="4037835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lumMod val="60000"/>
                  <a:lumOff val="40000"/>
                  <a:alpha val="11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93A905C-B04F-7FC3-427E-4E184BD363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6478" y="1683756"/>
            <a:ext cx="3115265" cy="2396359"/>
          </a:xfrm>
        </p:spPr>
        <p:txBody>
          <a:bodyPr anchor="b">
            <a:normAutofit/>
          </a:bodyPr>
          <a:lstStyle/>
          <a:p>
            <a:pPr algn="r"/>
            <a:r>
              <a:rPr lang="en-US" sz="4000">
                <a:solidFill>
                  <a:srgbClr val="FFFFFF"/>
                </a:solidFill>
              </a:rPr>
              <a:t>Speech Components</a:t>
            </a:r>
            <a:endParaRPr lang="ar-EG" sz="4000">
              <a:solidFill>
                <a:srgbClr val="FFFFFF"/>
              </a:solidFill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375631F-3E82-62B9-6CCD-F45FFEB29B6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04318812"/>
              </p:ext>
            </p:extLst>
          </p:nvPr>
        </p:nvGraphicFramePr>
        <p:xfrm>
          <a:off x="4905052" y="750440"/>
          <a:ext cx="6666833" cy="5453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299787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A8384FB5-9ADC-4DDC-881B-597D56F5B1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1E5A9A7-95C6-4F4F-B00E-C82E07FE62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7539" y="1417538"/>
            <a:ext cx="6875818" cy="4040744"/>
          </a:xfrm>
          <a:prstGeom prst="rect">
            <a:avLst/>
          </a:prstGeom>
          <a:gradFill>
            <a:gsLst>
              <a:gs pos="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07DD2DE-F619-49DD-B5E7-03A290FF4E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-158495" y="2660473"/>
            <a:ext cx="4355594" cy="4038603"/>
          </a:xfrm>
          <a:prstGeom prst="rect">
            <a:avLst/>
          </a:prstGeom>
          <a:gradFill>
            <a:gsLst>
              <a:gs pos="0">
                <a:schemeClr val="accent1">
                  <a:alpha val="50000"/>
                </a:schemeClr>
              </a:gs>
              <a:gs pos="100000">
                <a:schemeClr val="accent1">
                  <a:lumMod val="50000"/>
                  <a:alpha val="0"/>
                </a:schemeClr>
              </a:gs>
            </a:gsLst>
            <a:lin ang="11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5149191-5F60-4A28-AAFF-039F96B0F3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-1180882" y="1638085"/>
            <a:ext cx="6857572" cy="3581401"/>
          </a:xfrm>
          <a:prstGeom prst="rect">
            <a:avLst/>
          </a:prstGeom>
          <a:gradFill>
            <a:gsLst>
              <a:gs pos="0">
                <a:srgbClr val="000000">
                  <a:alpha val="59000"/>
                </a:srgbClr>
              </a:gs>
              <a:gs pos="69000">
                <a:schemeClr val="accent1">
                  <a:alpha val="0"/>
                </a:scheme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F8260ED5-17F7-4158-B241-D51DD4CF1B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6097846">
            <a:off x="-747355" y="1201312"/>
            <a:ext cx="4808302" cy="4088666"/>
          </a:xfrm>
          <a:custGeom>
            <a:avLst/>
            <a:gdLst>
              <a:gd name="connsiteX0" fmla="*/ 48844 w 4808302"/>
              <a:gd name="connsiteY0" fmla="*/ 2888671 h 4088666"/>
              <a:gd name="connsiteX1" fmla="*/ 0 w 4808302"/>
              <a:gd name="connsiteY1" fmla="*/ 2404151 h 4088666"/>
              <a:gd name="connsiteX2" fmla="*/ 2404151 w 4808302"/>
              <a:gd name="connsiteY2" fmla="*/ 0 h 4088666"/>
              <a:gd name="connsiteX3" fmla="*/ 4808302 w 4808302"/>
              <a:gd name="connsiteY3" fmla="*/ 2404151 h 4088666"/>
              <a:gd name="connsiteX4" fmla="*/ 4700216 w 4808302"/>
              <a:gd name="connsiteY4" fmla="*/ 3119072 h 4088666"/>
              <a:gd name="connsiteX5" fmla="*/ 4643143 w 4808302"/>
              <a:gd name="connsiteY5" fmla="*/ 3275009 h 4088666"/>
              <a:gd name="connsiteX6" fmla="*/ 690093 w 4808302"/>
              <a:gd name="connsiteY6" fmla="*/ 4088666 h 4088666"/>
              <a:gd name="connsiteX7" fmla="*/ 548991 w 4808302"/>
              <a:gd name="connsiteY7" fmla="*/ 3933414 h 4088666"/>
              <a:gd name="connsiteX8" fmla="*/ 48844 w 4808302"/>
              <a:gd name="connsiteY8" fmla="*/ 2888671 h 408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08302" h="4088666">
                <a:moveTo>
                  <a:pt x="48844" y="2888671"/>
                </a:moveTo>
                <a:cubicBezTo>
                  <a:pt x="16818" y="2732167"/>
                  <a:pt x="0" y="2570123"/>
                  <a:pt x="0" y="2404151"/>
                </a:cubicBezTo>
                <a:cubicBezTo>
                  <a:pt x="0" y="1076375"/>
                  <a:pt x="1076375" y="0"/>
                  <a:pt x="2404151" y="0"/>
                </a:cubicBezTo>
                <a:cubicBezTo>
                  <a:pt x="3731927" y="0"/>
                  <a:pt x="4808302" y="1076375"/>
                  <a:pt x="4808302" y="2404151"/>
                </a:cubicBezTo>
                <a:cubicBezTo>
                  <a:pt x="4808302" y="2653109"/>
                  <a:pt x="4770461" y="2893229"/>
                  <a:pt x="4700216" y="3119072"/>
                </a:cubicBezTo>
                <a:lnTo>
                  <a:pt x="4643143" y="3275009"/>
                </a:lnTo>
                <a:lnTo>
                  <a:pt x="690093" y="4088666"/>
                </a:lnTo>
                <a:lnTo>
                  <a:pt x="548991" y="3933414"/>
                </a:lnTo>
                <a:cubicBezTo>
                  <a:pt x="304015" y="3636572"/>
                  <a:pt x="128908" y="3279932"/>
                  <a:pt x="48844" y="2888671"/>
                </a:cubicBezTo>
                <a:close/>
              </a:path>
            </a:pathLst>
          </a:custGeom>
          <a:gradFill>
            <a:gsLst>
              <a:gs pos="39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>
                  <a:lumMod val="75000"/>
                  <a:alpha val="26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CD7A7D7-3364-9E39-0116-4ECA41FB6E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0041" y="2767106"/>
            <a:ext cx="2880828" cy="307190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Difference between image processing &amp; analysis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6F23EAB4-8C7C-4407-4977-089A79D29A8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173643" y="601995"/>
            <a:ext cx="7955233" cy="5237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844350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56B2C21-A230-48C0-8DF1-C46611373C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800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847E18C-932D-4C95-AABA-FEC7C9499A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alpha val="46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150CB11-0C61-439E-910F-5787759E72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2000">
                <a:schemeClr val="accent1">
                  <a:alpha val="29000"/>
                </a:schemeClr>
              </a:gs>
              <a:gs pos="100000">
                <a:srgbClr val="000000">
                  <a:alpha val="30000"/>
                </a:srgbClr>
              </a:gs>
            </a:gsLst>
            <a:lin ang="7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3F8A58B-5155-44CE-A5FF-7647B47D0A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0635413">
            <a:off x="-501737" y="969718"/>
            <a:ext cx="3900357" cy="4178958"/>
          </a:xfrm>
          <a:custGeom>
            <a:avLst/>
            <a:gdLst>
              <a:gd name="connsiteX0" fmla="*/ 2432225 w 3900357"/>
              <a:gd name="connsiteY0" fmla="*/ 93939 h 4178958"/>
              <a:gd name="connsiteX1" fmla="*/ 3900357 w 3900357"/>
              <a:gd name="connsiteY1" fmla="*/ 2089479 h 4178958"/>
              <a:gd name="connsiteX2" fmla="*/ 1810878 w 3900357"/>
              <a:gd name="connsiteY2" fmla="*/ 4178958 h 4178958"/>
              <a:gd name="connsiteX3" fmla="*/ 78249 w 3900357"/>
              <a:gd name="connsiteY3" fmla="*/ 3257727 h 4178958"/>
              <a:gd name="connsiteX4" fmla="*/ 0 w 3900357"/>
              <a:gd name="connsiteY4" fmla="*/ 3128923 h 4178958"/>
              <a:gd name="connsiteX5" fmla="*/ 831324 w 3900357"/>
              <a:gd name="connsiteY5" fmla="*/ 244281 h 4178958"/>
              <a:gd name="connsiteX6" fmla="*/ 997559 w 3900357"/>
              <a:gd name="connsiteY6" fmla="*/ 164202 h 4178958"/>
              <a:gd name="connsiteX7" fmla="*/ 1810878 w 3900357"/>
              <a:gd name="connsiteY7" fmla="*/ 0 h 4178958"/>
              <a:gd name="connsiteX8" fmla="*/ 2432225 w 3900357"/>
              <a:gd name="connsiteY8" fmla="*/ 93939 h 4178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0357" h="4178958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29000">
                <a:srgbClr val="000000">
                  <a:alpha val="0"/>
                </a:srgbClr>
              </a:gs>
              <a:gs pos="100000">
                <a:schemeClr val="accent1">
                  <a:alpha val="43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43F2ACA-E6D6-4028-82DD-F03C262D5D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95" y="1410079"/>
            <a:ext cx="6858003" cy="4037835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lumMod val="60000"/>
                  <a:lumOff val="40000"/>
                  <a:alpha val="11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E32163A-05EE-E15B-0023-9AC287E127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6478" y="1683756"/>
            <a:ext cx="3115265" cy="2396359"/>
          </a:xfrm>
        </p:spPr>
        <p:txBody>
          <a:bodyPr anchor="b">
            <a:normAutofit/>
          </a:bodyPr>
          <a:lstStyle/>
          <a:p>
            <a:pPr algn="r"/>
            <a:r>
              <a:rPr lang="en-US" sz="4000" dirty="0">
                <a:solidFill>
                  <a:srgbClr val="FFFFFF"/>
                </a:solidFill>
              </a:rPr>
              <a:t>Difficulties of speech recognition</a:t>
            </a:r>
            <a:endParaRPr lang="ar-EG" sz="4000" dirty="0">
              <a:solidFill>
                <a:srgbClr val="FFFFFF"/>
              </a:solidFill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3B0F356-3CAE-56FB-F8A9-901AD59A2AE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82826857"/>
              </p:ext>
            </p:extLst>
          </p:nvPr>
        </p:nvGraphicFramePr>
        <p:xfrm>
          <a:off x="4905052" y="750440"/>
          <a:ext cx="6666833" cy="5453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4470651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53B021B3-DE93-4AB7-8A18-CF5F1CED88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4EC1FB9-C3A0-3F9B-2B96-09EB7831A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256032"/>
            <a:ext cx="10506456" cy="1014984"/>
          </a:xfrm>
        </p:spPr>
        <p:txBody>
          <a:bodyPr anchor="b">
            <a:normAutofit/>
          </a:bodyPr>
          <a:lstStyle/>
          <a:p>
            <a:r>
              <a:rPr lang="en-US" dirty="0"/>
              <a:t>1. Environmental Interference</a:t>
            </a:r>
            <a:endParaRPr lang="ar-EG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2D502E5-F6B4-4D58-B4AE-FC466FF15E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65953" y="1634502"/>
            <a:ext cx="10451592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DECDBF4-02B6-4BB4-B65B-B8107AD6A9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841248" y="1538176"/>
            <a:ext cx="1873457" cy="1098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22D9125-E1C2-7F0F-C7CE-918ED293D90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45922234"/>
              </p:ext>
            </p:extLst>
          </p:nvPr>
        </p:nvGraphicFramePr>
        <p:xfrm>
          <a:off x="838200" y="1926266"/>
          <a:ext cx="10515600" cy="43575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5809811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53B021B3-DE93-4AB7-8A18-CF5F1CED88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BB96F5B-29BC-E790-7F44-51ECD77497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256032"/>
            <a:ext cx="10506456" cy="1014984"/>
          </a:xfrm>
        </p:spPr>
        <p:txBody>
          <a:bodyPr anchor="b">
            <a:normAutofit/>
          </a:bodyPr>
          <a:lstStyle/>
          <a:p>
            <a:r>
              <a:rPr lang="en-US" dirty="0"/>
              <a:t>2. Linguistic Complexity</a:t>
            </a:r>
            <a:endParaRPr lang="ar-EG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2D502E5-F6B4-4D58-B4AE-FC466FF15E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65953" y="1634502"/>
            <a:ext cx="10451592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DECDBF4-02B6-4BB4-B65B-B8107AD6A9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841248" y="1538176"/>
            <a:ext cx="1873457" cy="1098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44BDCA7-3D60-D906-C09A-0BACF65B969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78032499"/>
              </p:ext>
            </p:extLst>
          </p:nvPr>
        </p:nvGraphicFramePr>
        <p:xfrm>
          <a:off x="838200" y="1926266"/>
          <a:ext cx="10515600" cy="43575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8215932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53B021B3-DE93-4AB7-8A18-CF5F1CED88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B100C42-283D-7C3C-7231-29AF73A618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256032"/>
            <a:ext cx="10506456" cy="1014984"/>
          </a:xfrm>
        </p:spPr>
        <p:txBody>
          <a:bodyPr anchor="b">
            <a:normAutofit/>
          </a:bodyPr>
          <a:lstStyle/>
          <a:p>
            <a:r>
              <a:rPr lang="en-US" dirty="0"/>
              <a:t>3. Speaker Diversity and Atypical Speech</a:t>
            </a:r>
            <a:endParaRPr lang="ar-EG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2D502E5-F6B4-4D58-B4AE-FC466FF15E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65953" y="1634502"/>
            <a:ext cx="10451592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DECDBF4-02B6-4BB4-B65B-B8107AD6A9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841248" y="1538176"/>
            <a:ext cx="1873457" cy="1098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04EAD7E-7256-E63C-FE9A-35125A6AEBD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04191410"/>
              </p:ext>
            </p:extLst>
          </p:nvPr>
        </p:nvGraphicFramePr>
        <p:xfrm>
          <a:off x="838200" y="1926266"/>
          <a:ext cx="10515600" cy="43575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2793615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0B4064-0008-51EA-D8FF-B65DADDECD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76211"/>
            <a:ext cx="10515600" cy="1009651"/>
          </a:xfrm>
        </p:spPr>
        <p:txBody>
          <a:bodyPr/>
          <a:lstStyle/>
          <a:p>
            <a:r>
              <a:rPr lang="en-US" altLang="ar-EG" b="1" dirty="0">
                <a:effectLst/>
              </a:rPr>
              <a:t>Light and the Electromagnetic Spectrum</a:t>
            </a:r>
            <a:endParaRPr lang="ar-EG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16C4B4-1D4E-EEF8-E724-A6630AFF2C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ar-EG"/>
          </a:p>
        </p:txBody>
      </p:sp>
      <p:pic>
        <p:nvPicPr>
          <p:cNvPr id="4" name="Picture 4">
            <a:extLst>
              <a:ext uri="{FF2B5EF4-FFF2-40B4-BE49-F238E27FC236}">
                <a16:creationId xmlns:a16="http://schemas.microsoft.com/office/drawing/2014/main" id="{511ACB6F-E601-E33E-D156-334609E231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198" y="1185862"/>
            <a:ext cx="11243604" cy="54180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23533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08BB4D4-D71A-48F5-B2D2-45D2D78F4C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F287CCC2-896F-4F04-A017-737FB703FD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821DD70C-9C59-4A01-BF0B-C027B5BCA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A4E33964-FA62-9C89-16C0-D1F4C22054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724" y="4227307"/>
            <a:ext cx="10893346" cy="2369303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5074B8B-9CAE-095D-1B01-C7B54E0A01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576072"/>
            <a:ext cx="5430250" cy="2751749"/>
          </a:xfrm>
        </p:spPr>
        <p:txBody>
          <a:bodyPr anchor="ctr">
            <a:normAutofit/>
          </a:bodyPr>
          <a:lstStyle/>
          <a:p>
            <a:r>
              <a:rPr lang="en-US" sz="4800" dirty="0">
                <a:solidFill>
                  <a:schemeClr val="bg1"/>
                </a:solidFill>
              </a:rPr>
              <a:t>Speech Acquisition</a:t>
            </a:r>
            <a:endParaRPr lang="ar-EG" sz="4800" dirty="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E4578C-00B4-CEB6-9586-DB09F5689EB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09" y="576072"/>
            <a:ext cx="4699459" cy="2778231"/>
          </a:xfrm>
        </p:spPr>
        <p:txBody>
          <a:bodyPr anchor="ctr">
            <a:normAutofit/>
          </a:bodyPr>
          <a:lstStyle/>
          <a:p>
            <a:endParaRPr lang="ar-EG" sz="18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625707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BE1AB6-5B0B-2784-2B31-813153A0E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ar-EG" dirty="0"/>
              <a:t>Sampling</a:t>
            </a:r>
            <a:endParaRPr lang="ar-EG" dirty="0"/>
          </a:p>
        </p:txBody>
      </p:sp>
      <p:graphicFrame>
        <p:nvGraphicFramePr>
          <p:cNvPr id="4" name="Object 3">
            <a:extLst>
              <a:ext uri="{FF2B5EF4-FFF2-40B4-BE49-F238E27FC236}">
                <a16:creationId xmlns:a16="http://schemas.microsoft.com/office/drawing/2014/main" id="{C37B62DE-8260-0993-04F9-A12261C7B16D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62899022"/>
              </p:ext>
            </p:extLst>
          </p:nvPr>
        </p:nvGraphicFramePr>
        <p:xfrm>
          <a:off x="461093" y="2729725"/>
          <a:ext cx="11395721" cy="265631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hoto Editor Photo" r:id="rId2" imgW="3825572" imgH="891806" progId="MSPhotoEd.3">
                  <p:embed/>
                </p:oleObj>
              </mc:Choice>
              <mc:Fallback>
                <p:oleObj name="Photo Editor Photo" r:id="rId2" imgW="3825572" imgH="891806" progId="MSPhotoEd.3">
                  <p:embed/>
                  <p:pic>
                    <p:nvPicPr>
                      <p:cNvPr id="20483" name="Object 3">
                        <a:extLst>
                          <a:ext uri="{FF2B5EF4-FFF2-40B4-BE49-F238E27FC236}">
                            <a16:creationId xmlns:a16="http://schemas.microsoft.com/office/drawing/2014/main" id="{E26FF4F2-D057-B250-1369-A9787180F4B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1093" y="2729725"/>
                        <a:ext cx="11395721" cy="265631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65514497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08BB4D4-D71A-48F5-B2D2-45D2D78F4C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287CCC2-896F-4F04-A017-737FB703FD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21DD70C-9C59-4A01-BF0B-C027B5BCA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Picture 3">
            <a:extLst>
              <a:ext uri="{FF2B5EF4-FFF2-40B4-BE49-F238E27FC236}">
                <a16:creationId xmlns:a16="http://schemas.microsoft.com/office/drawing/2014/main" id="{D35ED0A5-2E63-169F-CA87-C28B28E371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564885" y="1902976"/>
            <a:ext cx="4609400" cy="44250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02C2AFA-3837-BBD2-819A-23DEFF87B8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576072"/>
            <a:ext cx="5430250" cy="2751749"/>
          </a:xfrm>
        </p:spPr>
        <p:txBody>
          <a:bodyPr anchor="ctr">
            <a:normAutofit/>
          </a:bodyPr>
          <a:lstStyle/>
          <a:p>
            <a:r>
              <a:rPr lang="en-US" altLang="ar-EG" sz="4800" dirty="0">
                <a:solidFill>
                  <a:schemeClr val="bg1"/>
                </a:solidFill>
              </a:rPr>
              <a:t>Sampling &amp; Quantization</a:t>
            </a:r>
            <a:endParaRPr lang="ar-EG" sz="4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656155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08BB4D4-D71A-48F5-B2D2-45D2D78F4C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287CCC2-896F-4F04-A017-737FB703FD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21DD70C-9C59-4A01-BF0B-C027B5BCA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Picture 6">
            <a:extLst>
              <a:ext uri="{FF2B5EF4-FFF2-40B4-BE49-F238E27FC236}">
                <a16:creationId xmlns:a16="http://schemas.microsoft.com/office/drawing/2014/main" id="{FA17D870-3DC3-34BA-52C3-C8548983B8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76245" y="1991504"/>
            <a:ext cx="8364330" cy="4764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06EEC18-C76D-CF89-74F8-3300BA949F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576072"/>
            <a:ext cx="5430250" cy="1814451"/>
          </a:xfrm>
        </p:spPr>
        <p:txBody>
          <a:bodyPr anchor="ctr">
            <a:normAutofit/>
          </a:bodyPr>
          <a:lstStyle/>
          <a:p>
            <a:r>
              <a:rPr lang="en-US" altLang="ar-EG" sz="4800" dirty="0">
                <a:solidFill>
                  <a:schemeClr val="bg1"/>
                </a:solidFill>
              </a:rPr>
              <a:t>Image acquisition: camera </a:t>
            </a:r>
            <a:endParaRPr lang="ar-EG" sz="4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216092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Rectangle 2051">
            <a:extLst>
              <a:ext uri="{FF2B5EF4-FFF2-40B4-BE49-F238E27FC236}">
                <a16:creationId xmlns:a16="http://schemas.microsoft.com/office/drawing/2014/main" id="{55EFE7BB-336E-8310-BD30-65B04030C7E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8712" y="1524000"/>
            <a:ext cx="10894742" cy="5029200"/>
          </a:xfrm>
        </p:spPr>
        <p:txBody>
          <a:bodyPr/>
          <a:lstStyle/>
          <a:p>
            <a:r>
              <a:rPr lang="en-US" altLang="ar-EG" i="1" dirty="0"/>
              <a:t>Sampling</a:t>
            </a:r>
            <a:r>
              <a:rPr lang="en-US" altLang="ar-EG" dirty="0"/>
              <a:t> is dictated by the Nyquist sampling theorem which states how quickly samples must be taken to ensure an accurate representation of the analog signal. </a:t>
            </a:r>
          </a:p>
          <a:p>
            <a:pPr>
              <a:buFontTx/>
              <a:buNone/>
            </a:pPr>
            <a:endParaRPr lang="en-US" altLang="ar-EG" dirty="0"/>
          </a:p>
          <a:p>
            <a:pPr>
              <a:buFontTx/>
              <a:buNone/>
            </a:pPr>
            <a:endParaRPr lang="en-US" altLang="ar-EG" dirty="0"/>
          </a:p>
          <a:p>
            <a:pPr>
              <a:buFontTx/>
              <a:buNone/>
            </a:pPr>
            <a:endParaRPr lang="en-US" altLang="ar-EG" dirty="0"/>
          </a:p>
          <a:p>
            <a:r>
              <a:rPr lang="en-US" altLang="ar-EG" dirty="0"/>
              <a:t>The Nyquist sampling theorem states that the sampling frequency must be </a:t>
            </a:r>
            <a:r>
              <a:rPr lang="en-US" altLang="ar-EG" b="1" dirty="0"/>
              <a:t>two</a:t>
            </a:r>
            <a:r>
              <a:rPr lang="en-US" altLang="ar-EG" dirty="0"/>
              <a:t> times greater than the highest frequency in the original analog signal. </a:t>
            </a:r>
          </a:p>
          <a:p>
            <a:endParaRPr lang="en-US" altLang="ar-EG" dirty="0"/>
          </a:p>
        </p:txBody>
      </p:sp>
      <p:sp>
        <p:nvSpPr>
          <p:cNvPr id="24578" name="Rectangle 2050">
            <a:extLst>
              <a:ext uri="{FF2B5EF4-FFF2-40B4-BE49-F238E27FC236}">
                <a16:creationId xmlns:a16="http://schemas.microsoft.com/office/drawing/2014/main" id="{1549570A-5EBD-8616-32BD-76E7C1D6EA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04746" y="249508"/>
            <a:ext cx="7772400" cy="685800"/>
          </a:xfrm>
        </p:spPr>
        <p:txBody>
          <a:bodyPr/>
          <a:lstStyle/>
          <a:p>
            <a:r>
              <a:rPr lang="en-US" altLang="ar-EG" sz="2800" b="1" dirty="0"/>
              <a:t>Digital Sampling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985B11E-E3C8-0B0A-FC61-1101A73D93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07698" y="3239429"/>
            <a:ext cx="1885950" cy="666750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AD445A-919A-A921-3A00-27EB82B1E7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ar-EG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81F980A-0BF2-984D-F73D-621E85C315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ar-EG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E058C60-EAB6-C664-EE12-2050A62E74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414106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272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274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276" name="Group 11275">
            <a:extLst>
              <a:ext uri="{FF2B5EF4-FFF2-40B4-BE49-F238E27FC236}">
                <a16:creationId xmlns:a16="http://schemas.microsoft.com/office/drawing/2014/main" id="{C291FB31-BA2D-4C80-8229-F0E34C8AEAE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3051" y="0"/>
            <a:ext cx="6064235" cy="6858000"/>
            <a:chOff x="651279" y="598259"/>
            <a:chExt cx="10889442" cy="5680742"/>
          </a:xfrm>
        </p:grpSpPr>
        <p:sp>
          <p:nvSpPr>
            <p:cNvPr id="11277" name="Color">
              <a:extLst>
                <a:ext uri="{FF2B5EF4-FFF2-40B4-BE49-F238E27FC236}">
                  <a16:creationId xmlns:a16="http://schemas.microsoft.com/office/drawing/2014/main" id="{E22877A0-D105-4005-84F8-4BCC429EC0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278" name="Color">
              <a:extLst>
                <a:ext uri="{FF2B5EF4-FFF2-40B4-BE49-F238E27FC236}">
                  <a16:creationId xmlns:a16="http://schemas.microsoft.com/office/drawing/2014/main" id="{B0B1E571-9D76-4678-B0AC-9BE9176A23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1267" name="Picture 2">
            <a:extLst>
              <a:ext uri="{FF2B5EF4-FFF2-40B4-BE49-F238E27FC236}">
                <a16:creationId xmlns:a16="http://schemas.microsoft.com/office/drawing/2014/main" id="{6DC2108E-C8AF-A137-FE9F-DF9164848E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067286" y="0"/>
            <a:ext cx="6124714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grpSp>
        <p:nvGrpSpPr>
          <p:cNvPr id="11280" name="Group 11279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1281" name="Freeform: Shape 11280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2" name="Freeform: Shape 11281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3" name="Freeform: Shape 11282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4" name="Freeform: Shape 11283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5" name="Freeform: Shape 11284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6" name="Freeform: Shape 11285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7" name="Freeform: Shape 11286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1266" name="Rectangle 1">
            <a:extLst>
              <a:ext uri="{FF2B5EF4-FFF2-40B4-BE49-F238E27FC236}">
                <a16:creationId xmlns:a16="http://schemas.microsoft.com/office/drawing/2014/main" id="{01A72EF7-5358-6190-FC85-6343BDA2A5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012644" y="841664"/>
            <a:ext cx="4608768" cy="2782723"/>
          </a:xfrm>
        </p:spPr>
        <p:txBody>
          <a:bodyPr vert="horz" lIns="91440" tIns="45720" rIns="91440" bIns="45720" rtlCol="0" anchor="b">
            <a:normAutofit/>
          </a:bodyPr>
          <a:lstStyle/>
          <a:p>
            <a:pPr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Speech Visualization</a:t>
            </a:r>
          </a:p>
        </p:txBody>
      </p:sp>
    </p:spTree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DF2F4D-B89D-0451-11D1-7404C89B91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Features</a:t>
            </a:r>
            <a:endParaRPr lang="ar-EG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5C46EED-4A87-7BC4-D290-55349165DE7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Zero-crossing</a:t>
            </a:r>
          </a:p>
          <a:p>
            <a:r>
              <a:rPr lang="en-US" dirty="0"/>
              <a:t>Energy &amp; Power</a:t>
            </a:r>
          </a:p>
          <a:p>
            <a:r>
              <a:rPr lang="en-US" dirty="0"/>
              <a:t>Fourier descriptors</a:t>
            </a:r>
          </a:p>
          <a:p>
            <a:r>
              <a:rPr lang="en-US" dirty="0"/>
              <a:t>Formant Frequencies</a:t>
            </a:r>
          </a:p>
          <a:p>
            <a:r>
              <a:rPr lang="en-GB" altLang="ar-EG" dirty="0"/>
              <a:t>Mel-frequency cepstral coefficients (MFCC)</a:t>
            </a:r>
          </a:p>
          <a:p>
            <a:r>
              <a:rPr lang="en-GB" dirty="0"/>
              <a:t>LPC</a:t>
            </a:r>
            <a:endParaRPr lang="en-US" dirty="0"/>
          </a:p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val="277489625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2B4BD6F-CEA4-57C4-1DD3-1231D470FE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4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8BDDA48-391E-46DF-848C-03844FB181C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19" name="Color">
              <a:extLst>
                <a:ext uri="{FF2B5EF4-FFF2-40B4-BE49-F238E27FC236}">
                  <a16:creationId xmlns:a16="http://schemas.microsoft.com/office/drawing/2014/main" id="{DDCA2F1C-8537-4A49-A9C0-86FE62642E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" name="Color">
              <a:extLst>
                <a:ext uri="{FF2B5EF4-FFF2-40B4-BE49-F238E27FC236}">
                  <a16:creationId xmlns:a16="http://schemas.microsoft.com/office/drawing/2014/main" id="{1879041F-4068-4F3B-ADD3-A868DECFFC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DF9D8F70-4D2F-0242-4349-32D9F0E82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80966" y="3527758"/>
            <a:ext cx="7355850" cy="2887168"/>
          </a:xfrm>
          <a:prstGeom prst="rect">
            <a:avLst/>
          </a:prstGeom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20EA314-07F4-E050-3D48-601FBF75EA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279496" y="1901287"/>
            <a:ext cx="5961888" cy="2881687"/>
          </a:xfrm>
        </p:spPr>
        <p:txBody>
          <a:bodyPr anchor="ctr">
            <a:normAutofit/>
          </a:bodyPr>
          <a:lstStyle/>
          <a:p>
            <a:r>
              <a:rPr lang="en-US" sz="4800" dirty="0">
                <a:solidFill>
                  <a:schemeClr val="bg1"/>
                </a:solidFill>
              </a:rPr>
              <a:t>Zero-crossing</a:t>
            </a:r>
            <a:endParaRPr lang="ar-EG" sz="4800" dirty="0">
              <a:solidFill>
                <a:schemeClr val="bg1"/>
              </a:solidFill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FE971D6-8118-EA80-E447-DBAE73A87E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41064" y="329295"/>
            <a:ext cx="7295751" cy="24639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140799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080CC40-197E-4064-A999-72A67A9D9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D8AB7BAA-8B3E-4E09-88C6-BB6C8F22F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24142A11-1685-445B-A5A3-B842B86CE2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4" name="Picture 3" descr="Power of a Discrete time signal - Signal Processing Stack Exchange">
            <a:extLst>
              <a:ext uri="{FF2B5EF4-FFF2-40B4-BE49-F238E27FC236}">
                <a16:creationId xmlns:a16="http://schemas.microsoft.com/office/drawing/2014/main" id="{5480B9DD-E398-351E-BE44-9857B447E7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18537" y="1680599"/>
            <a:ext cx="8674777" cy="3002913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2940EEF-500D-B68B-9B0A-AFA98245F4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Energy &amp; Power</a:t>
            </a:r>
            <a:endParaRPr lang="ar-EG" sz="48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286064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8384FB5-9ADC-4DDC-881B-597D56F5B1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1E5A9A7-95C6-4F4F-B00E-C82E07FE62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7539" y="1417538"/>
            <a:ext cx="6875818" cy="4040744"/>
          </a:xfrm>
          <a:prstGeom prst="rect">
            <a:avLst/>
          </a:prstGeom>
          <a:gradFill>
            <a:gsLst>
              <a:gs pos="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07DD2DE-F619-49DD-B5E7-03A290FF4E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-158495" y="2660473"/>
            <a:ext cx="4355594" cy="4038603"/>
          </a:xfrm>
          <a:prstGeom prst="rect">
            <a:avLst/>
          </a:prstGeom>
          <a:gradFill>
            <a:gsLst>
              <a:gs pos="0">
                <a:schemeClr val="accent1">
                  <a:alpha val="50000"/>
                </a:schemeClr>
              </a:gs>
              <a:gs pos="100000">
                <a:schemeClr val="accent1">
                  <a:lumMod val="50000"/>
                  <a:alpha val="0"/>
                </a:schemeClr>
              </a:gs>
            </a:gsLst>
            <a:lin ang="11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85149191-5F60-4A28-AAFF-039F96B0F3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-1180882" y="1638085"/>
            <a:ext cx="6857572" cy="3581401"/>
          </a:xfrm>
          <a:prstGeom prst="rect">
            <a:avLst/>
          </a:prstGeom>
          <a:gradFill>
            <a:gsLst>
              <a:gs pos="0">
                <a:srgbClr val="000000">
                  <a:alpha val="59000"/>
                </a:srgbClr>
              </a:gs>
              <a:gs pos="69000">
                <a:schemeClr val="accent1">
                  <a:alpha val="0"/>
                </a:scheme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8260ED5-17F7-4158-B241-D51DD4CF1B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6097846">
            <a:off x="-747355" y="1201312"/>
            <a:ext cx="4808302" cy="4088666"/>
          </a:xfrm>
          <a:custGeom>
            <a:avLst/>
            <a:gdLst>
              <a:gd name="connsiteX0" fmla="*/ 48844 w 4808302"/>
              <a:gd name="connsiteY0" fmla="*/ 2888671 h 4088666"/>
              <a:gd name="connsiteX1" fmla="*/ 0 w 4808302"/>
              <a:gd name="connsiteY1" fmla="*/ 2404151 h 4088666"/>
              <a:gd name="connsiteX2" fmla="*/ 2404151 w 4808302"/>
              <a:gd name="connsiteY2" fmla="*/ 0 h 4088666"/>
              <a:gd name="connsiteX3" fmla="*/ 4808302 w 4808302"/>
              <a:gd name="connsiteY3" fmla="*/ 2404151 h 4088666"/>
              <a:gd name="connsiteX4" fmla="*/ 4700216 w 4808302"/>
              <a:gd name="connsiteY4" fmla="*/ 3119072 h 4088666"/>
              <a:gd name="connsiteX5" fmla="*/ 4643143 w 4808302"/>
              <a:gd name="connsiteY5" fmla="*/ 3275009 h 4088666"/>
              <a:gd name="connsiteX6" fmla="*/ 690093 w 4808302"/>
              <a:gd name="connsiteY6" fmla="*/ 4088666 h 4088666"/>
              <a:gd name="connsiteX7" fmla="*/ 548991 w 4808302"/>
              <a:gd name="connsiteY7" fmla="*/ 3933414 h 4088666"/>
              <a:gd name="connsiteX8" fmla="*/ 48844 w 4808302"/>
              <a:gd name="connsiteY8" fmla="*/ 2888671 h 408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08302" h="4088666">
                <a:moveTo>
                  <a:pt x="48844" y="2888671"/>
                </a:moveTo>
                <a:cubicBezTo>
                  <a:pt x="16818" y="2732167"/>
                  <a:pt x="0" y="2570123"/>
                  <a:pt x="0" y="2404151"/>
                </a:cubicBezTo>
                <a:cubicBezTo>
                  <a:pt x="0" y="1076375"/>
                  <a:pt x="1076375" y="0"/>
                  <a:pt x="2404151" y="0"/>
                </a:cubicBezTo>
                <a:cubicBezTo>
                  <a:pt x="3731927" y="0"/>
                  <a:pt x="4808302" y="1076375"/>
                  <a:pt x="4808302" y="2404151"/>
                </a:cubicBezTo>
                <a:cubicBezTo>
                  <a:pt x="4808302" y="2653109"/>
                  <a:pt x="4770461" y="2893229"/>
                  <a:pt x="4700216" y="3119072"/>
                </a:cubicBezTo>
                <a:lnTo>
                  <a:pt x="4643143" y="3275009"/>
                </a:lnTo>
                <a:lnTo>
                  <a:pt x="690093" y="4088666"/>
                </a:lnTo>
                <a:lnTo>
                  <a:pt x="548991" y="3933414"/>
                </a:lnTo>
                <a:cubicBezTo>
                  <a:pt x="304015" y="3636572"/>
                  <a:pt x="128908" y="3279932"/>
                  <a:pt x="48844" y="2888671"/>
                </a:cubicBezTo>
                <a:close/>
              </a:path>
            </a:pathLst>
          </a:custGeom>
          <a:gradFill>
            <a:gsLst>
              <a:gs pos="39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>
                  <a:lumMod val="75000"/>
                  <a:alpha val="26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1C2819-E5D0-367A-F971-0A0271DAC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0041" y="2767106"/>
            <a:ext cx="2880828" cy="307190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Fourier Descriptors</a:t>
            </a:r>
          </a:p>
        </p:txBody>
      </p:sp>
      <p:pic>
        <p:nvPicPr>
          <p:cNvPr id="4" name="Content Placeholder 3" descr="Knowledge: Cepstrum Analysis">
            <a:extLst>
              <a:ext uri="{FF2B5EF4-FFF2-40B4-BE49-F238E27FC236}">
                <a16:creationId xmlns:a16="http://schemas.microsoft.com/office/drawing/2014/main" id="{75E79470-6387-3B8C-6F18-9AE4CA0DA64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4037126" y="0"/>
            <a:ext cx="8154873" cy="6857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079998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148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50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152" name="Group 5151">
            <a:extLst>
              <a:ext uri="{FF2B5EF4-FFF2-40B4-BE49-F238E27FC236}">
                <a16:creationId xmlns:a16="http://schemas.microsoft.com/office/drawing/2014/main" id="{1080CC40-197E-4064-A999-72A67A9D9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5153" name="Color">
              <a:extLst>
                <a:ext uri="{FF2B5EF4-FFF2-40B4-BE49-F238E27FC236}">
                  <a16:creationId xmlns:a16="http://schemas.microsoft.com/office/drawing/2014/main" id="{D8AB7BAA-8B3E-4E09-88C6-BB6C8F22F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54" name="Color">
              <a:extLst>
                <a:ext uri="{FF2B5EF4-FFF2-40B4-BE49-F238E27FC236}">
                  <a16:creationId xmlns:a16="http://schemas.microsoft.com/office/drawing/2014/main" id="{24142A11-1685-445B-A5A3-B842B86CE2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122" name="Picture 5" descr="DFT">
            <a:extLst>
              <a:ext uri="{FF2B5EF4-FFF2-40B4-BE49-F238E27FC236}">
                <a16:creationId xmlns:a16="http://schemas.microsoft.com/office/drawing/2014/main" id="{D851B07A-21B5-FC34-4413-5B3E7C60F6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74122" y="21690"/>
            <a:ext cx="8690231" cy="6836308"/>
          </a:xfrm>
          <a:prstGeom prst="rect">
            <a:avLst/>
          </a:prstGeom>
          <a:noFill/>
        </p:spPr>
      </p:pic>
      <p:grpSp>
        <p:nvGrpSpPr>
          <p:cNvPr id="5156" name="Group 515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5123" name="Rectangle 6">
            <a:extLst>
              <a:ext uri="{FF2B5EF4-FFF2-40B4-BE49-F238E27FC236}">
                <a16:creationId xmlns:a16="http://schemas.microsoft.com/office/drawing/2014/main" id="{6BE325C5-F709-57D0-82D8-076617697DEE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1171367" y="1793158"/>
            <a:ext cx="5961888" cy="3097947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DFT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78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180" name="Group 7179">
            <a:extLst>
              <a:ext uri="{FF2B5EF4-FFF2-40B4-BE49-F238E27FC236}">
                <a16:creationId xmlns:a16="http://schemas.microsoft.com/office/drawing/2014/main" id="{108BB4D4-D71A-48F5-B2D2-45D2D78F4C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7181" name="Color">
              <a:extLst>
                <a:ext uri="{FF2B5EF4-FFF2-40B4-BE49-F238E27FC236}">
                  <a16:creationId xmlns:a16="http://schemas.microsoft.com/office/drawing/2014/main" id="{F287CCC2-896F-4F04-A017-737FB703FD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82" name="Color">
              <a:extLst>
                <a:ext uri="{FF2B5EF4-FFF2-40B4-BE49-F238E27FC236}">
                  <a16:creationId xmlns:a16="http://schemas.microsoft.com/office/drawing/2014/main" id="{821DD70C-9C59-4A01-BF0B-C027B5BCA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171" name="Picture 9" descr="Rect Window">
            <a:extLst>
              <a:ext uri="{FF2B5EF4-FFF2-40B4-BE49-F238E27FC236}">
                <a16:creationId xmlns:a16="http://schemas.microsoft.com/office/drawing/2014/main" id="{4AD9C974-15FA-72A4-BE87-1EA4898F0C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23402" y="671882"/>
            <a:ext cx="7454936" cy="5940791"/>
          </a:xfrm>
          <a:prstGeom prst="rect">
            <a:avLst/>
          </a:prstGeom>
          <a:noFill/>
        </p:spPr>
      </p:pic>
      <p:grpSp>
        <p:nvGrpSpPr>
          <p:cNvPr id="7184" name="Group 7183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7185" name="Freeform: Shape 7184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6" name="Freeform: Shape 7185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7" name="Freeform: Shape 7186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8" name="Freeform: Shape 7187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9" name="Freeform: Shape 7188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90" name="Freeform: Shape 7189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91" name="Freeform: Shape 7190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7170" name="Rectangle 7">
            <a:extLst>
              <a:ext uri="{FF2B5EF4-FFF2-40B4-BE49-F238E27FC236}">
                <a16:creationId xmlns:a16="http://schemas.microsoft.com/office/drawing/2014/main" id="{D17A53AF-4584-B219-C705-434815283B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86384" y="576072"/>
            <a:ext cx="5430250" cy="2751749"/>
          </a:xfrm>
        </p:spPr>
        <p:txBody>
          <a:bodyPr anchor="ctr">
            <a:normAutofit/>
          </a:bodyPr>
          <a:lstStyle/>
          <a:p>
            <a:pPr eaLnBrk="1" hangingPunct="1"/>
            <a:r>
              <a:rPr lang="en-US" altLang="ar-EG" sz="4800">
                <a:solidFill>
                  <a:schemeClr val="bg1"/>
                </a:solidFill>
              </a:rPr>
              <a:t>Rectangle Windowing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201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5664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203" name="Group 8202">
            <a:extLst>
              <a:ext uri="{FF2B5EF4-FFF2-40B4-BE49-F238E27FC236}">
                <a16:creationId xmlns:a16="http://schemas.microsoft.com/office/drawing/2014/main" id="{ACBD2BC8-5312-43CD-BD09-632BC2B2E4F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8204" name="Color">
              <a:extLst>
                <a:ext uri="{FF2B5EF4-FFF2-40B4-BE49-F238E27FC236}">
                  <a16:creationId xmlns:a16="http://schemas.microsoft.com/office/drawing/2014/main" id="{9196825B-A5B1-48DD-BF2B-D274B6BED6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05" name="Color">
              <a:extLst>
                <a:ext uri="{FF2B5EF4-FFF2-40B4-BE49-F238E27FC236}">
                  <a16:creationId xmlns:a16="http://schemas.microsoft.com/office/drawing/2014/main" id="{9FCAA4BB-F19C-4E2A-B239-C333A83BE3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8196" name="Picture 11" descr="Triangle eq''">
            <a:extLst>
              <a:ext uri="{FF2B5EF4-FFF2-40B4-BE49-F238E27FC236}">
                <a16:creationId xmlns:a16="http://schemas.microsoft.com/office/drawing/2014/main" id="{45997E84-A704-9360-89A1-0C4507F3A1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441703" y="1536861"/>
            <a:ext cx="5444721" cy="12658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5" name="Picture 9" descr="Triangle win">
            <a:extLst>
              <a:ext uri="{FF2B5EF4-FFF2-40B4-BE49-F238E27FC236}">
                <a16:creationId xmlns:a16="http://schemas.microsoft.com/office/drawing/2014/main" id="{F483BB09-DD40-0D25-3059-707446319D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378800" y="3826767"/>
            <a:ext cx="4938043" cy="30368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207" name="Group 820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8208" name="Freeform: Shape 820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09" name="Freeform: Shape 820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10" name="Freeform: Shape 820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11" name="Freeform: Shape 821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12" name="Freeform: Shape 821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13" name="Freeform: Shape 821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14" name="Freeform: Shape 821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8194" name="Rectangle 4">
            <a:extLst>
              <a:ext uri="{FF2B5EF4-FFF2-40B4-BE49-F238E27FC236}">
                <a16:creationId xmlns:a16="http://schemas.microsoft.com/office/drawing/2014/main" id="{10BE540C-5F91-8BE8-0DE8-659838C511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89707" y="578998"/>
            <a:ext cx="5306293" cy="295118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Triangular Weighting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225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5664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227" name="Group 9226">
            <a:extLst>
              <a:ext uri="{FF2B5EF4-FFF2-40B4-BE49-F238E27FC236}">
                <a16:creationId xmlns:a16="http://schemas.microsoft.com/office/drawing/2014/main" id="{ACBD2BC8-5312-43CD-BD09-632BC2B2E4F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9228" name="Color">
              <a:extLst>
                <a:ext uri="{FF2B5EF4-FFF2-40B4-BE49-F238E27FC236}">
                  <a16:creationId xmlns:a16="http://schemas.microsoft.com/office/drawing/2014/main" id="{9196825B-A5B1-48DD-BF2B-D274B6BED6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29" name="Color">
              <a:extLst>
                <a:ext uri="{FF2B5EF4-FFF2-40B4-BE49-F238E27FC236}">
                  <a16:creationId xmlns:a16="http://schemas.microsoft.com/office/drawing/2014/main" id="{9FCAA4BB-F19C-4E2A-B239-C333A83BE3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9220" name="Picture 10">
            <a:extLst>
              <a:ext uri="{FF2B5EF4-FFF2-40B4-BE49-F238E27FC236}">
                <a16:creationId xmlns:a16="http://schemas.microsoft.com/office/drawing/2014/main" id="{B28445C5-CF67-3E99-7EF5-77BEA598CB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826"/>
          <a:stretch>
            <a:fillRect/>
          </a:stretch>
        </p:blipFill>
        <p:spPr bwMode="auto">
          <a:xfrm>
            <a:off x="6502316" y="1581338"/>
            <a:ext cx="5444721" cy="10731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Picture 9" descr="Ham win">
            <a:extLst>
              <a:ext uri="{FF2B5EF4-FFF2-40B4-BE49-F238E27FC236}">
                <a16:creationId xmlns:a16="http://schemas.microsoft.com/office/drawing/2014/main" id="{8F4318A3-DBD6-E6F9-402E-05AB834D9D39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747" y="3826767"/>
            <a:ext cx="4672149" cy="3036897"/>
          </a:xfrm>
          <a:prstGeom prst="rect">
            <a:avLst/>
          </a:prstGeom>
          <a:noFill/>
        </p:spPr>
      </p:pic>
      <p:grpSp>
        <p:nvGrpSpPr>
          <p:cNvPr id="9231" name="Group 9230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9232" name="Freeform: Shape 9231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233" name="Freeform: Shape 9232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234" name="Freeform: Shape 9233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235" name="Freeform: Shape 9234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236" name="Freeform: Shape 9235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237" name="Freeform: Shape 9236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238" name="Freeform: Shape 9237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9218" name="Rectangle 4">
            <a:extLst>
              <a:ext uri="{FF2B5EF4-FFF2-40B4-BE49-F238E27FC236}">
                <a16:creationId xmlns:a16="http://schemas.microsoft.com/office/drawing/2014/main" id="{7111D4D2-3C49-0195-121A-3B64BFB919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89707" y="578998"/>
            <a:ext cx="5306293" cy="295118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Hanning Weighting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249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5664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251" name="Group 10250">
            <a:extLst>
              <a:ext uri="{FF2B5EF4-FFF2-40B4-BE49-F238E27FC236}">
                <a16:creationId xmlns:a16="http://schemas.microsoft.com/office/drawing/2014/main" id="{ACBD2BC8-5312-43CD-BD09-632BC2B2E4F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252" name="Color">
              <a:extLst>
                <a:ext uri="{FF2B5EF4-FFF2-40B4-BE49-F238E27FC236}">
                  <a16:creationId xmlns:a16="http://schemas.microsoft.com/office/drawing/2014/main" id="{9196825B-A5B1-48DD-BF2B-D274B6BED6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253" name="Color">
              <a:extLst>
                <a:ext uri="{FF2B5EF4-FFF2-40B4-BE49-F238E27FC236}">
                  <a16:creationId xmlns:a16="http://schemas.microsoft.com/office/drawing/2014/main" id="{9FCAA4BB-F19C-4E2A-B239-C333A83BE3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0243" name="Picture 10">
            <a:extLst>
              <a:ext uri="{FF2B5EF4-FFF2-40B4-BE49-F238E27FC236}">
                <a16:creationId xmlns:a16="http://schemas.microsoft.com/office/drawing/2014/main" id="{BE88008F-D066-2C4A-A946-EFFD490AC5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614"/>
          <a:stretch>
            <a:fillRect/>
          </a:stretch>
        </p:blipFill>
        <p:spPr bwMode="auto">
          <a:xfrm>
            <a:off x="6526119" y="1566011"/>
            <a:ext cx="5444721" cy="9771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Picture 13">
            <a:extLst>
              <a:ext uri="{FF2B5EF4-FFF2-40B4-BE49-F238E27FC236}">
                <a16:creationId xmlns:a16="http://schemas.microsoft.com/office/drawing/2014/main" id="{0C379DC2-7A8D-FB68-C105-36FDF3E577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526119" y="3826767"/>
            <a:ext cx="4643406" cy="30368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55" name="Group 10254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0256" name="Freeform: Shape 10255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257" name="Freeform: Shape 10256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258" name="Freeform: Shape 10257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259" name="Freeform: Shape 10258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260" name="Freeform: Shape 10259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261" name="Freeform: Shape 10260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0262" name="Freeform: Shape 10261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0242" name="Rectangle 4">
            <a:extLst>
              <a:ext uri="{FF2B5EF4-FFF2-40B4-BE49-F238E27FC236}">
                <a16:creationId xmlns:a16="http://schemas.microsoft.com/office/drawing/2014/main" id="{446FDC0B-E72D-26E1-B9F4-1263E997D9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89707" y="578998"/>
            <a:ext cx="5306293" cy="295118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Hamming Weighting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272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74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276" name="Group 11275">
            <a:extLst>
              <a:ext uri="{FF2B5EF4-FFF2-40B4-BE49-F238E27FC236}">
                <a16:creationId xmlns:a16="http://schemas.microsoft.com/office/drawing/2014/main" id="{2303047E-3307-4EF3-87A3-A8490D5506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11277" name="Color">
              <a:extLst>
                <a:ext uri="{FF2B5EF4-FFF2-40B4-BE49-F238E27FC236}">
                  <a16:creationId xmlns:a16="http://schemas.microsoft.com/office/drawing/2014/main" id="{DE0162B2-7972-4E7E-B90F-AE5CD7FC9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278" name="Color">
              <a:extLst>
                <a:ext uri="{FF2B5EF4-FFF2-40B4-BE49-F238E27FC236}">
                  <a16:creationId xmlns:a16="http://schemas.microsoft.com/office/drawing/2014/main" id="{7F379A8D-1294-4053-9196-2D9B177C98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1267" name="Picture 8">
            <a:extLst>
              <a:ext uri="{FF2B5EF4-FFF2-40B4-BE49-F238E27FC236}">
                <a16:creationId xmlns:a16="http://schemas.microsoft.com/office/drawing/2014/main" id="{3214E040-70C0-6A7D-46D6-EBDA60DB7E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74720" y="-2"/>
            <a:ext cx="8714229" cy="68580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80" name="Group 11279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1281" name="Freeform: Shape 11280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2" name="Freeform: Shape 11281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3" name="Freeform: Shape 11282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4" name="Freeform: Shape 11283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5" name="Freeform: Shape 11284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6" name="Freeform: Shape 11285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1287" name="Freeform: Shape 11286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1266" name="Rectangle 4">
            <a:extLst>
              <a:ext uri="{FF2B5EF4-FFF2-40B4-BE49-F238E27FC236}">
                <a16:creationId xmlns:a16="http://schemas.microsoft.com/office/drawing/2014/main" id="{97DC73DC-4378-4E8D-4E38-4F3CFFFB0D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326619" y="1943984"/>
            <a:ext cx="5958643" cy="279039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Non Overlapped Windowing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296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298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300" name="Group 12299">
            <a:extLst>
              <a:ext uri="{FF2B5EF4-FFF2-40B4-BE49-F238E27FC236}">
                <a16:creationId xmlns:a16="http://schemas.microsoft.com/office/drawing/2014/main" id="{2303047E-3307-4EF3-87A3-A8490D5506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12301" name="Color">
              <a:extLst>
                <a:ext uri="{FF2B5EF4-FFF2-40B4-BE49-F238E27FC236}">
                  <a16:creationId xmlns:a16="http://schemas.microsoft.com/office/drawing/2014/main" id="{DE0162B2-7972-4E7E-B90F-AE5CD7FC9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302" name="Color">
              <a:extLst>
                <a:ext uri="{FF2B5EF4-FFF2-40B4-BE49-F238E27FC236}">
                  <a16:creationId xmlns:a16="http://schemas.microsoft.com/office/drawing/2014/main" id="{7F379A8D-1294-4053-9196-2D9B177C98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2291" name="Picture 4">
            <a:extLst>
              <a:ext uri="{FF2B5EF4-FFF2-40B4-BE49-F238E27FC236}">
                <a16:creationId xmlns:a16="http://schemas.microsoft.com/office/drawing/2014/main" id="{DBDEC4E7-9E6B-5494-F1D7-24D33CACF4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74717" y="53615"/>
            <a:ext cx="8714232" cy="68043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304" name="Group 12303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2305" name="Freeform: Shape 12304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2306" name="Freeform: Shape 12305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2307" name="Freeform: Shape 12306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2308" name="Freeform: Shape 12307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2309" name="Freeform: Shape 12308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2310" name="Freeform: Shape 12309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2311" name="Freeform: Shape 12310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2290" name="Rectangle 2">
            <a:extLst>
              <a:ext uri="{FF2B5EF4-FFF2-40B4-BE49-F238E27FC236}">
                <a16:creationId xmlns:a16="http://schemas.microsoft.com/office/drawing/2014/main" id="{A8B89E86-A718-0B6F-2F96-54BBAD9E34E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326619" y="1943984"/>
            <a:ext cx="5958643" cy="279039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Overlapped Windowing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75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77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179" name="Group 7178">
            <a:extLst>
              <a:ext uri="{FF2B5EF4-FFF2-40B4-BE49-F238E27FC236}">
                <a16:creationId xmlns:a16="http://schemas.microsoft.com/office/drawing/2014/main" id="{90D3815A-8315-441B-B2CA-C05B254C28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3051" y="-2"/>
            <a:ext cx="3468234" cy="6858000"/>
            <a:chOff x="651279" y="598259"/>
            <a:chExt cx="10889442" cy="5680742"/>
          </a:xfrm>
        </p:grpSpPr>
        <p:sp>
          <p:nvSpPr>
            <p:cNvPr id="7180" name="Color">
              <a:extLst>
                <a:ext uri="{FF2B5EF4-FFF2-40B4-BE49-F238E27FC236}">
                  <a16:creationId xmlns:a16="http://schemas.microsoft.com/office/drawing/2014/main" id="{56E83468-A671-411F-A1A1-5A6F59AB8C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81" name="Color">
              <a:extLst>
                <a:ext uri="{FF2B5EF4-FFF2-40B4-BE49-F238E27FC236}">
                  <a16:creationId xmlns:a16="http://schemas.microsoft.com/office/drawing/2014/main" id="{E4128D9D-C7A1-4B39-972E-8FE967022A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" name="Picture 1" descr="vocal-tract.gif">
            <a:extLst>
              <a:ext uri="{FF2B5EF4-FFF2-40B4-BE49-F238E27FC236}">
                <a16:creationId xmlns:a16="http://schemas.microsoft.com/office/drawing/2014/main" id="{09CFDFCE-7772-3A27-428A-4598CEAF35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71025" y="1900088"/>
            <a:ext cx="3441664" cy="3450269"/>
          </a:xfrm>
          <a:prstGeom prst="rect">
            <a:avLst/>
          </a:prstGeom>
        </p:spPr>
      </p:pic>
      <p:pic>
        <p:nvPicPr>
          <p:cNvPr id="3" name="Picture 2" descr="How Your Voice Works: Anatomy and Health Tips">
            <a:extLst>
              <a:ext uri="{FF2B5EF4-FFF2-40B4-BE49-F238E27FC236}">
                <a16:creationId xmlns:a16="http://schemas.microsoft.com/office/drawing/2014/main" id="{BE115C77-0623-E3C9-E210-42AC271B33C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98034" y="1890404"/>
            <a:ext cx="4690269" cy="3450269"/>
          </a:xfrm>
          <a:prstGeom prst="rect">
            <a:avLst/>
          </a:prstGeom>
        </p:spPr>
      </p:pic>
      <p:grpSp>
        <p:nvGrpSpPr>
          <p:cNvPr id="7183" name="Group 718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7184" name="Freeform: Shape 718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5" name="Freeform: Shape 718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6" name="Freeform: Shape 718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7" name="Freeform: Shape 718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8" name="Freeform: Shape 718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89" name="Freeform: Shape 718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90" name="Freeform: Shape 718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7170" name="Rectangle 1">
            <a:extLst>
              <a:ext uri="{FF2B5EF4-FFF2-40B4-BE49-F238E27FC236}">
                <a16:creationId xmlns:a16="http://schemas.microsoft.com/office/drawing/2014/main" id="{5D96697C-71B7-A2CB-0684-6BDBF493C9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279425" y="1896789"/>
            <a:ext cx="5958643" cy="2884784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US" altLang="ar-EG" sz="4800">
                <a:solidFill>
                  <a:schemeClr val="bg1"/>
                </a:solidFill>
              </a:rPr>
              <a:t>Speech Production</a:t>
            </a:r>
          </a:p>
        </p:txBody>
      </p:sp>
    </p:spTree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21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23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25" name="Group 13324">
            <a:extLst>
              <a:ext uri="{FF2B5EF4-FFF2-40B4-BE49-F238E27FC236}">
                <a16:creationId xmlns:a16="http://schemas.microsoft.com/office/drawing/2014/main" id="{90D3815A-8315-441B-B2CA-C05B254C28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3051" y="-2"/>
            <a:ext cx="3468234" cy="6858000"/>
            <a:chOff x="651279" y="598259"/>
            <a:chExt cx="10889442" cy="5680742"/>
          </a:xfrm>
        </p:grpSpPr>
        <p:sp>
          <p:nvSpPr>
            <p:cNvPr id="13326" name="Color">
              <a:extLst>
                <a:ext uri="{FF2B5EF4-FFF2-40B4-BE49-F238E27FC236}">
                  <a16:creationId xmlns:a16="http://schemas.microsoft.com/office/drawing/2014/main" id="{56E83468-A671-411F-A1A1-5A6F59AB8C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27" name="Color">
              <a:extLst>
                <a:ext uri="{FF2B5EF4-FFF2-40B4-BE49-F238E27FC236}">
                  <a16:creationId xmlns:a16="http://schemas.microsoft.com/office/drawing/2014/main" id="{E4128D9D-C7A1-4B39-972E-8FE967022A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3315" name="Picture 8" descr="block">
            <a:extLst>
              <a:ext uri="{FF2B5EF4-FFF2-40B4-BE49-F238E27FC236}">
                <a16:creationId xmlns:a16="http://schemas.microsoft.com/office/drawing/2014/main" id="{95D6977D-4DCC-7B80-9DB1-1AB569B75F6B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79812" y="1035557"/>
            <a:ext cx="7201928" cy="2052549"/>
          </a:xfrm>
          <a:prstGeom prst="rect">
            <a:avLst/>
          </a:prstGeom>
          <a:noFill/>
        </p:spPr>
      </p:pic>
      <p:pic>
        <p:nvPicPr>
          <p:cNvPr id="13316" name="Picture 9" descr="gllot">
            <a:extLst>
              <a:ext uri="{FF2B5EF4-FFF2-40B4-BE49-F238E27FC236}">
                <a16:creationId xmlns:a16="http://schemas.microsoft.com/office/drawing/2014/main" id="{C8811FA4-CF1D-2EDF-1251-8FBB9902E8A7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79812" y="4123663"/>
            <a:ext cx="7289613" cy="1658387"/>
          </a:xfrm>
          <a:prstGeom prst="rect">
            <a:avLst/>
          </a:prstGeom>
          <a:noFill/>
        </p:spPr>
      </p:pic>
      <p:grpSp>
        <p:nvGrpSpPr>
          <p:cNvPr id="13329" name="Group 13328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3330" name="Freeform: Shape 13329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3331" name="Freeform: Shape 13330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3332" name="Freeform: Shape 13331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3333" name="Freeform: Shape 13332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3334" name="Freeform: Shape 13333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3335" name="Freeform: Shape 13334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3336" name="Freeform: Shape 13335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3314" name="Rectangle 4">
            <a:extLst>
              <a:ext uri="{FF2B5EF4-FFF2-40B4-BE49-F238E27FC236}">
                <a16:creationId xmlns:a16="http://schemas.microsoft.com/office/drawing/2014/main" id="{C51E1CF7-B50D-B5A6-3990-87B980F23E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279425" y="1896789"/>
            <a:ext cx="5958643" cy="2884784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Speech Production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4345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347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349" name="Group 14348">
            <a:extLst>
              <a:ext uri="{FF2B5EF4-FFF2-40B4-BE49-F238E27FC236}">
                <a16:creationId xmlns:a16="http://schemas.microsoft.com/office/drawing/2014/main" id="{90D3815A-8315-441B-B2CA-C05B254C28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3051" y="-2"/>
            <a:ext cx="3468234" cy="6858000"/>
            <a:chOff x="651279" y="598259"/>
            <a:chExt cx="10889442" cy="5680742"/>
          </a:xfrm>
        </p:grpSpPr>
        <p:sp>
          <p:nvSpPr>
            <p:cNvPr id="14350" name="Color">
              <a:extLst>
                <a:ext uri="{FF2B5EF4-FFF2-40B4-BE49-F238E27FC236}">
                  <a16:creationId xmlns:a16="http://schemas.microsoft.com/office/drawing/2014/main" id="{56E83468-A671-411F-A1A1-5A6F59AB8C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51" name="Color">
              <a:extLst>
                <a:ext uri="{FF2B5EF4-FFF2-40B4-BE49-F238E27FC236}">
                  <a16:creationId xmlns:a16="http://schemas.microsoft.com/office/drawing/2014/main" id="{E4128D9D-C7A1-4B39-972E-8FE967022A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4339" name="Picture 8" descr="formant">
            <a:extLst>
              <a:ext uri="{FF2B5EF4-FFF2-40B4-BE49-F238E27FC236}">
                <a16:creationId xmlns:a16="http://schemas.microsoft.com/office/drawing/2014/main" id="{F232A8E4-6C36-723D-D9A8-165D5F3EDC24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76244" y="0"/>
            <a:ext cx="8715756" cy="4739268"/>
          </a:xfrm>
          <a:prstGeom prst="rect">
            <a:avLst/>
          </a:prstGeom>
          <a:noFill/>
        </p:spPr>
      </p:pic>
      <p:pic>
        <p:nvPicPr>
          <p:cNvPr id="14340" name="Picture 10">
            <a:extLst>
              <a:ext uri="{FF2B5EF4-FFF2-40B4-BE49-F238E27FC236}">
                <a16:creationId xmlns:a16="http://schemas.microsoft.com/office/drawing/2014/main" id="{D890077D-3E34-6AD3-AA45-65BD93743DAC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65182" y="4739268"/>
            <a:ext cx="8748362" cy="2118730"/>
          </a:xfrm>
          <a:prstGeom prst="rect">
            <a:avLst/>
          </a:prstGeom>
        </p:spPr>
      </p:pic>
      <p:grpSp>
        <p:nvGrpSpPr>
          <p:cNvPr id="14353" name="Group 1435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354" name="Freeform: Shape 1435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4355" name="Freeform: Shape 1435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4356" name="Freeform: Shape 1435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4357" name="Freeform: Shape 1435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4358" name="Freeform: Shape 1435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4359" name="Freeform: Shape 1435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4360" name="Freeform: Shape 1435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4338" name="Rectangle 4">
            <a:extLst>
              <a:ext uri="{FF2B5EF4-FFF2-40B4-BE49-F238E27FC236}">
                <a16:creationId xmlns:a16="http://schemas.microsoft.com/office/drawing/2014/main" id="{48562FE4-A97D-15E2-4CA6-2C67A23946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279425" y="1896789"/>
            <a:ext cx="5958643" cy="2884784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Formant Computation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370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72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374" name="Group 15373">
            <a:extLst>
              <a:ext uri="{FF2B5EF4-FFF2-40B4-BE49-F238E27FC236}">
                <a16:creationId xmlns:a16="http://schemas.microsoft.com/office/drawing/2014/main" id="{1080CC40-197E-4064-A999-72A67A9D9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5375" name="Color">
              <a:extLst>
                <a:ext uri="{FF2B5EF4-FFF2-40B4-BE49-F238E27FC236}">
                  <a16:creationId xmlns:a16="http://schemas.microsoft.com/office/drawing/2014/main" id="{D8AB7BAA-8B3E-4E09-88C6-BB6C8F22F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76" name="Color">
              <a:extLst>
                <a:ext uri="{FF2B5EF4-FFF2-40B4-BE49-F238E27FC236}">
                  <a16:creationId xmlns:a16="http://schemas.microsoft.com/office/drawing/2014/main" id="{24142A11-1685-445B-A5A3-B842B86CE2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5363" name="Picture 7" descr="pipe">
            <a:extLst>
              <a:ext uri="{FF2B5EF4-FFF2-40B4-BE49-F238E27FC236}">
                <a16:creationId xmlns:a16="http://schemas.microsoft.com/office/drawing/2014/main" id="{38CD0186-0486-0BBD-2988-84F7DD9EC1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3146" y="-4"/>
            <a:ext cx="8721207" cy="3635302"/>
          </a:xfrm>
          <a:prstGeom prst="rect">
            <a:avLst/>
          </a:prstGeom>
          <a:noFill/>
        </p:spPr>
      </p:pic>
      <p:grpSp>
        <p:nvGrpSpPr>
          <p:cNvPr id="15378" name="Group 1537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5379" name="Freeform: Shape 1537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380" name="Freeform: Shape 1537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381" name="Freeform: Shape 1538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382" name="Freeform: Shape 1538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383" name="Freeform: Shape 1538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384" name="Freeform: Shape 1538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385" name="Freeform: Shape 1538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5362" name="Rectangle 4">
            <a:extLst>
              <a:ext uri="{FF2B5EF4-FFF2-40B4-BE49-F238E27FC236}">
                <a16:creationId xmlns:a16="http://schemas.microsoft.com/office/drawing/2014/main" id="{B8B27110-0CAA-351E-C82E-0C3B5074F4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Cylindrical Vocal Tract Model</a:t>
            </a:r>
          </a:p>
        </p:txBody>
      </p:sp>
      <p:pic>
        <p:nvPicPr>
          <p:cNvPr id="2" name="Picture 1" descr="تعرف أكثر على آلة المزمار">
            <a:extLst>
              <a:ext uri="{FF2B5EF4-FFF2-40B4-BE49-F238E27FC236}">
                <a16:creationId xmlns:a16="http://schemas.microsoft.com/office/drawing/2014/main" id="{FCF479D3-6371-AC91-5DCC-908166F8D4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74123" y="3635298"/>
            <a:ext cx="8690230" cy="3222702"/>
          </a:xfrm>
          <a:prstGeom prst="rect">
            <a:avLst/>
          </a:prstGeom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395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97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6399" name="Group 16398">
            <a:extLst>
              <a:ext uri="{FF2B5EF4-FFF2-40B4-BE49-F238E27FC236}">
                <a16:creationId xmlns:a16="http://schemas.microsoft.com/office/drawing/2014/main" id="{68BDDA48-391E-46DF-848C-03844FB181C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16400" name="Color">
              <a:extLst>
                <a:ext uri="{FF2B5EF4-FFF2-40B4-BE49-F238E27FC236}">
                  <a16:creationId xmlns:a16="http://schemas.microsoft.com/office/drawing/2014/main" id="{DDCA2F1C-8537-4A49-A9C0-86FE62642E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01" name="Color">
              <a:extLst>
                <a:ext uri="{FF2B5EF4-FFF2-40B4-BE49-F238E27FC236}">
                  <a16:creationId xmlns:a16="http://schemas.microsoft.com/office/drawing/2014/main" id="{1879041F-4068-4F3B-ADD3-A868DECFFC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6387" name="Picture 7" descr="male">
            <a:extLst>
              <a:ext uri="{FF2B5EF4-FFF2-40B4-BE49-F238E27FC236}">
                <a16:creationId xmlns:a16="http://schemas.microsoft.com/office/drawing/2014/main" id="{A81BCFB7-B593-F71A-5BA1-466BF9AFD8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00" t="6813" r="28259" b="74550"/>
          <a:stretch>
            <a:fillRect/>
          </a:stretch>
        </p:blipFill>
        <p:spPr>
          <a:xfrm>
            <a:off x="3468234" y="7844"/>
            <a:ext cx="8723766" cy="2620884"/>
          </a:xfrm>
          <a:prstGeom prst="rect">
            <a:avLst/>
          </a:prstGeom>
          <a:noFill/>
        </p:spPr>
      </p:pic>
      <p:pic>
        <p:nvPicPr>
          <p:cNvPr id="16388" name="Picture 8" descr="male">
            <a:extLst>
              <a:ext uri="{FF2B5EF4-FFF2-40B4-BE49-F238E27FC236}">
                <a16:creationId xmlns:a16="http://schemas.microsoft.com/office/drawing/2014/main" id="{CDDE6ABE-DFEA-CC2B-00BA-69019F017468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014" t="61031" r="15512" b="8472"/>
          <a:stretch>
            <a:fillRect/>
          </a:stretch>
        </p:blipFill>
        <p:spPr>
          <a:xfrm>
            <a:off x="3474719" y="2636572"/>
            <a:ext cx="8691159" cy="4195506"/>
          </a:xfrm>
          <a:prstGeom prst="rect">
            <a:avLst/>
          </a:prstGeom>
          <a:noFill/>
        </p:spPr>
      </p:pic>
      <p:grpSp>
        <p:nvGrpSpPr>
          <p:cNvPr id="16403" name="Group 1640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6404" name="Freeform: Shape 1640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405" name="Freeform: Shape 1640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406" name="Freeform: Shape 1640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407" name="Freeform: Shape 1640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408" name="Freeform: Shape 1640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409" name="Freeform: Shape 1640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410" name="Freeform: Shape 1640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6386" name="Rectangle 4">
            <a:extLst>
              <a:ext uri="{FF2B5EF4-FFF2-40B4-BE49-F238E27FC236}">
                <a16:creationId xmlns:a16="http://schemas.microsoft.com/office/drawing/2014/main" id="{A4EB63FD-CD5B-6DA7-D20D-0F4C4F5520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279496" y="1901287"/>
            <a:ext cx="5961888" cy="2881687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Formant Frequencies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418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20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422" name="Group 17421">
            <a:extLst>
              <a:ext uri="{FF2B5EF4-FFF2-40B4-BE49-F238E27FC236}">
                <a16:creationId xmlns:a16="http://schemas.microsoft.com/office/drawing/2014/main" id="{F690C4ED-5E67-4827-AED1-DEC2B100A4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7423" name="Color">
              <a:extLst>
                <a:ext uri="{FF2B5EF4-FFF2-40B4-BE49-F238E27FC236}">
                  <a16:creationId xmlns:a16="http://schemas.microsoft.com/office/drawing/2014/main" id="{316B1774-E483-4832-A4C7-1277F99283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24" name="Color">
              <a:extLst>
                <a:ext uri="{FF2B5EF4-FFF2-40B4-BE49-F238E27FC236}">
                  <a16:creationId xmlns:a16="http://schemas.microsoft.com/office/drawing/2014/main" id="{CE4BA6BE-9BF5-4DFA-8E3F-C49023E538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426" name="Group 1742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7427" name="Freeform: Shape 1742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28" name="Freeform: Shape 1742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29" name="Freeform: Shape 1742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30" name="Freeform: Shape 1742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31" name="Freeform: Shape 1743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32" name="Freeform: Shape 1743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33" name="Freeform: Shape 1743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410" name="Rectangle 4">
            <a:extLst>
              <a:ext uri="{FF2B5EF4-FFF2-40B4-BE49-F238E27FC236}">
                <a16:creationId xmlns:a16="http://schemas.microsoft.com/office/drawing/2014/main" id="{2DBA76DE-1918-F948-8500-B95391FBEE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The Feature Space</a:t>
            </a:r>
          </a:p>
        </p:txBody>
      </p:sp>
      <p:sp>
        <p:nvSpPr>
          <p:cNvPr id="17415" name="Content Placeholder 17414">
            <a:extLst>
              <a:ext uri="{FF2B5EF4-FFF2-40B4-BE49-F238E27FC236}">
                <a16:creationId xmlns:a16="http://schemas.microsoft.com/office/drawing/2014/main" id="{DD04DE19-CC8B-5E70-C2A7-C496625EC02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280007" y="546341"/>
            <a:ext cx="7262371" cy="2435076"/>
          </a:xfrm>
        </p:spPr>
        <p:txBody>
          <a:bodyPr vert="horz" lIns="91440" tIns="45720" rIns="91440" bIns="45720" rtlCol="0" anchor="ctr">
            <a:normAutofit/>
          </a:bodyPr>
          <a:lstStyle/>
          <a:p>
            <a:endParaRPr lang="en-US" sz="1800">
              <a:solidFill>
                <a:schemeClr val="tx2"/>
              </a:solidFill>
            </a:endParaRPr>
          </a:p>
        </p:txBody>
      </p:sp>
      <p:pic>
        <p:nvPicPr>
          <p:cNvPr id="2" name="Picture 7" descr="feature">
            <a:extLst>
              <a:ext uri="{FF2B5EF4-FFF2-40B4-BE49-F238E27FC236}">
                <a16:creationId xmlns:a16="http://schemas.microsoft.com/office/drawing/2014/main" id="{80840258-3FDC-4CCF-E45B-6BA758F4B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474123" y="0"/>
            <a:ext cx="8711988" cy="6858000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15">
            <a:extLst>
              <a:ext uri="{FF2B5EF4-FFF2-40B4-BE49-F238E27FC236}">
                <a16:creationId xmlns:a16="http://schemas.microsoft.com/office/drawing/2014/main" id="{D4565021-ED91-566A-7E93-EE54531E532B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352800" y="1"/>
            <a:ext cx="4800600" cy="2365375"/>
          </a:xfrm>
          <a:noFill/>
        </p:spPr>
      </p:pic>
      <p:pic>
        <p:nvPicPr>
          <p:cNvPr id="18435" name="Picture 17">
            <a:extLst>
              <a:ext uri="{FF2B5EF4-FFF2-40B4-BE49-F238E27FC236}">
                <a16:creationId xmlns:a16="http://schemas.microsoft.com/office/drawing/2014/main" id="{1D77175D-EBB9-59D1-5497-636397706876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352800" y="2438401"/>
            <a:ext cx="4800600" cy="1787525"/>
          </a:xfrm>
          <a:noFill/>
        </p:spPr>
      </p:pic>
      <p:pic>
        <p:nvPicPr>
          <p:cNvPr id="18436" name="Picture 19">
            <a:extLst>
              <a:ext uri="{FF2B5EF4-FFF2-40B4-BE49-F238E27FC236}">
                <a16:creationId xmlns:a16="http://schemas.microsoft.com/office/drawing/2014/main" id="{2C803497-91F3-9188-17EE-BF00CD2091DE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352800" y="4343401"/>
            <a:ext cx="4800600" cy="2411413"/>
          </a:xfrm>
          <a:noFill/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9464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66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468" name="Group 19467">
            <a:extLst>
              <a:ext uri="{FF2B5EF4-FFF2-40B4-BE49-F238E27FC236}">
                <a16:creationId xmlns:a16="http://schemas.microsoft.com/office/drawing/2014/main" id="{2303047E-3307-4EF3-87A3-A8490D5506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19469" name="Color">
              <a:extLst>
                <a:ext uri="{FF2B5EF4-FFF2-40B4-BE49-F238E27FC236}">
                  <a16:creationId xmlns:a16="http://schemas.microsoft.com/office/drawing/2014/main" id="{DE0162B2-7972-4E7E-B90F-AE5CD7FC9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70" name="Color">
              <a:extLst>
                <a:ext uri="{FF2B5EF4-FFF2-40B4-BE49-F238E27FC236}">
                  <a16:creationId xmlns:a16="http://schemas.microsoft.com/office/drawing/2014/main" id="{7F379A8D-1294-4053-9196-2D9B177C98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19459" name="Picture 4">
            <a:extLst>
              <a:ext uri="{FF2B5EF4-FFF2-40B4-BE49-F238E27FC236}">
                <a16:creationId xmlns:a16="http://schemas.microsoft.com/office/drawing/2014/main" id="{F3C92ADE-B7AD-2B0B-24F4-06747DF2CF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068138" y="1738698"/>
            <a:ext cx="7008099" cy="3380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472" name="Group 19471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9473" name="Freeform: Shape 19472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474" name="Freeform: Shape 19473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475" name="Freeform: Shape 19474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476" name="Freeform: Shape 19475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477" name="Freeform: Shape 19476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478" name="Freeform: Shape 19477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479" name="Freeform: Shape 19478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9458" name="Rectangle 2">
            <a:extLst>
              <a:ext uri="{FF2B5EF4-FFF2-40B4-BE49-F238E27FC236}">
                <a16:creationId xmlns:a16="http://schemas.microsoft.com/office/drawing/2014/main" id="{3B641806-B86F-BD83-4C5F-87C787EE8A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326619" y="1943984"/>
            <a:ext cx="5958643" cy="279039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Formant Estimation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58F85D1-DE00-363B-9D08-61F5508320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Cepstrum</a:t>
            </a:r>
            <a:endParaRPr lang="ar-EG" sz="4800">
              <a:solidFill>
                <a:schemeClr val="bg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7A7C7B3-EFAF-BB18-2482-33E3F4A31F77}"/>
              </a:ext>
            </a:extLst>
          </p:cNvPr>
          <p:cNvSpPr txBox="1"/>
          <p:nvPr/>
        </p:nvSpPr>
        <p:spPr>
          <a:xfrm>
            <a:off x="6347836" y="189920"/>
            <a:ext cx="5591243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>
              <a:spcAft>
                <a:spcPts val="1200"/>
              </a:spcAft>
              <a:buNone/>
            </a:pPr>
            <a:r>
              <a:rPr lang="ar-EG" sz="2000" b="0" u="none" strike="noStrike" dirty="0">
                <a:effectLst/>
                <a:latin typeface="Google Sans"/>
              </a:rPr>
              <a:t>Compute the </a:t>
            </a:r>
            <a:r>
              <a:rPr lang="ar-EG" sz="2000" b="1" u="none" strike="noStrike" dirty="0">
                <a:effectLst/>
                <a:latin typeface="Google Sans"/>
              </a:rPr>
              <a:t>real cepstrum</a:t>
            </a:r>
            <a:r>
              <a:rPr lang="ar-EG" sz="2000" b="0" u="none" strike="noStrike" dirty="0">
                <a:effectLst/>
                <a:latin typeface="Google Sans"/>
              </a:rPr>
              <a:t> of a time-domain signal by calculating the </a:t>
            </a:r>
            <a:r>
              <a:rPr lang="ar-EG" sz="2000" b="1" u="none" strike="noStrike" dirty="0">
                <a:effectLst/>
                <a:latin typeface="Google Sans"/>
              </a:rPr>
              <a:t>Discrete Fourier Transform (DFT)</a:t>
            </a:r>
            <a:r>
              <a:rPr lang="ar-EG" sz="2000" b="0" u="none" strike="noStrike" dirty="0">
                <a:effectLst/>
                <a:latin typeface="Google Sans"/>
              </a:rPr>
              <a:t>, taking the </a:t>
            </a:r>
            <a:r>
              <a:rPr lang="ar-EG" sz="2000" b="1" u="none" strike="noStrike" dirty="0">
                <a:effectLst/>
                <a:latin typeface="Google Sans"/>
              </a:rPr>
              <a:t>natural logarithm</a:t>
            </a:r>
            <a:r>
              <a:rPr lang="ar-EG" sz="2000" b="0" u="none" strike="noStrike" dirty="0">
                <a:effectLst/>
                <a:latin typeface="Google Sans"/>
              </a:rPr>
              <a:t> of its magnitude, and applying an </a:t>
            </a:r>
            <a:r>
              <a:rPr lang="ar-EG" sz="2000" b="1" u="none" strike="noStrike" dirty="0">
                <a:effectLst/>
                <a:latin typeface="Google Sans"/>
              </a:rPr>
              <a:t>Inverse DFT</a:t>
            </a:r>
            <a:r>
              <a:rPr lang="ar-EG" sz="2000" b="0" u="none" strike="noStrike" dirty="0">
                <a:effectLst/>
                <a:latin typeface="Google Sans"/>
              </a:rPr>
              <a:t>. </a:t>
            </a:r>
            <a:endParaRPr lang="en-US" sz="2000" b="0" u="none" strike="noStrike" dirty="0">
              <a:effectLst/>
              <a:latin typeface="Google Sans"/>
            </a:endParaRPr>
          </a:p>
          <a:p>
            <a:pPr marL="0" marR="0">
              <a:spcAft>
                <a:spcPts val="1200"/>
              </a:spcAft>
              <a:buNone/>
            </a:pPr>
            <a:endParaRPr lang="en-US" sz="2000" dirty="0">
              <a:latin typeface="Google Sans"/>
            </a:endParaRPr>
          </a:p>
          <a:p>
            <a:pPr>
              <a:spcAft>
                <a:spcPts val="1200"/>
              </a:spcAft>
            </a:pPr>
            <a:r>
              <a:rPr lang="en-US" sz="2000" b="0" u="none" strike="noStrike" dirty="0">
                <a:effectLst/>
                <a:latin typeface="Google Sans"/>
              </a:rPr>
              <a:t>The resulting x-axis is in quefrency (a measure of time) instead of frequency, revealing periodicities in the original spectrum.</a:t>
            </a:r>
            <a:endParaRPr lang="ar-EG" sz="2000" b="0" u="none" strike="noStrike" dirty="0">
              <a:effectLst/>
              <a:latin typeface="Google Sans"/>
            </a:endParaRPr>
          </a:p>
          <a:p>
            <a:pPr marL="0" marR="0">
              <a:spcAft>
                <a:spcPts val="1200"/>
              </a:spcAft>
              <a:buNone/>
            </a:pPr>
            <a:endParaRPr lang="ar-EG" sz="2000" dirty="0">
              <a:latin typeface="Google Sans"/>
            </a:endParaRPr>
          </a:p>
          <a:p>
            <a:pPr marL="0" marR="0">
              <a:spcAft>
                <a:spcPts val="1200"/>
              </a:spcAft>
              <a:buNone/>
            </a:pPr>
            <a:r>
              <a:rPr lang="ar-EG" sz="2000" b="1" u="none" strike="noStrike" dirty="0">
                <a:effectLst/>
                <a:latin typeface="Google Sans"/>
              </a:rPr>
              <a:t>The Mathematical Formula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995D5712-6B57-DA9E-4602-F16EA37132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44145"/>
          <a:stretch>
            <a:fillRect/>
          </a:stretch>
        </p:blipFill>
        <p:spPr>
          <a:xfrm>
            <a:off x="6218159" y="4235686"/>
            <a:ext cx="5970790" cy="659699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EDBA645E-794A-1B1B-4601-A10127F316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45805" y="5077820"/>
            <a:ext cx="5973841" cy="10370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675566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A8384FB5-9ADC-4DDC-881B-597D56F5B1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1E5A9A7-95C6-4F4F-B00E-C82E07FE62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7539" y="1417538"/>
            <a:ext cx="6875818" cy="4040744"/>
          </a:xfrm>
          <a:prstGeom prst="rect">
            <a:avLst/>
          </a:prstGeom>
          <a:gradFill>
            <a:gsLst>
              <a:gs pos="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07DD2DE-F619-49DD-B5E7-03A290FF4E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-158495" y="2660473"/>
            <a:ext cx="4355594" cy="4038603"/>
          </a:xfrm>
          <a:prstGeom prst="rect">
            <a:avLst/>
          </a:prstGeom>
          <a:gradFill>
            <a:gsLst>
              <a:gs pos="0">
                <a:schemeClr val="accent1">
                  <a:alpha val="50000"/>
                </a:schemeClr>
              </a:gs>
              <a:gs pos="100000">
                <a:schemeClr val="accent1">
                  <a:lumMod val="50000"/>
                  <a:alpha val="0"/>
                </a:schemeClr>
              </a:gs>
            </a:gsLst>
            <a:lin ang="11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5149191-5F60-4A28-AAFF-039F96B0F3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-1180882" y="1638085"/>
            <a:ext cx="6857572" cy="3581401"/>
          </a:xfrm>
          <a:prstGeom prst="rect">
            <a:avLst/>
          </a:prstGeom>
          <a:gradFill>
            <a:gsLst>
              <a:gs pos="0">
                <a:srgbClr val="000000">
                  <a:alpha val="59000"/>
                </a:srgbClr>
              </a:gs>
              <a:gs pos="69000">
                <a:schemeClr val="accent1">
                  <a:alpha val="0"/>
                </a:scheme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F8260ED5-17F7-4158-B241-D51DD4CF1B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6097846">
            <a:off x="-747355" y="1201312"/>
            <a:ext cx="4808302" cy="4088666"/>
          </a:xfrm>
          <a:custGeom>
            <a:avLst/>
            <a:gdLst>
              <a:gd name="connsiteX0" fmla="*/ 48844 w 4808302"/>
              <a:gd name="connsiteY0" fmla="*/ 2888671 h 4088666"/>
              <a:gd name="connsiteX1" fmla="*/ 0 w 4808302"/>
              <a:gd name="connsiteY1" fmla="*/ 2404151 h 4088666"/>
              <a:gd name="connsiteX2" fmla="*/ 2404151 w 4808302"/>
              <a:gd name="connsiteY2" fmla="*/ 0 h 4088666"/>
              <a:gd name="connsiteX3" fmla="*/ 4808302 w 4808302"/>
              <a:gd name="connsiteY3" fmla="*/ 2404151 h 4088666"/>
              <a:gd name="connsiteX4" fmla="*/ 4700216 w 4808302"/>
              <a:gd name="connsiteY4" fmla="*/ 3119072 h 4088666"/>
              <a:gd name="connsiteX5" fmla="*/ 4643143 w 4808302"/>
              <a:gd name="connsiteY5" fmla="*/ 3275009 h 4088666"/>
              <a:gd name="connsiteX6" fmla="*/ 690093 w 4808302"/>
              <a:gd name="connsiteY6" fmla="*/ 4088666 h 4088666"/>
              <a:gd name="connsiteX7" fmla="*/ 548991 w 4808302"/>
              <a:gd name="connsiteY7" fmla="*/ 3933414 h 4088666"/>
              <a:gd name="connsiteX8" fmla="*/ 48844 w 4808302"/>
              <a:gd name="connsiteY8" fmla="*/ 2888671 h 408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08302" h="4088666">
                <a:moveTo>
                  <a:pt x="48844" y="2888671"/>
                </a:moveTo>
                <a:cubicBezTo>
                  <a:pt x="16818" y="2732167"/>
                  <a:pt x="0" y="2570123"/>
                  <a:pt x="0" y="2404151"/>
                </a:cubicBezTo>
                <a:cubicBezTo>
                  <a:pt x="0" y="1076375"/>
                  <a:pt x="1076375" y="0"/>
                  <a:pt x="2404151" y="0"/>
                </a:cubicBezTo>
                <a:cubicBezTo>
                  <a:pt x="3731927" y="0"/>
                  <a:pt x="4808302" y="1076375"/>
                  <a:pt x="4808302" y="2404151"/>
                </a:cubicBezTo>
                <a:cubicBezTo>
                  <a:pt x="4808302" y="2653109"/>
                  <a:pt x="4770461" y="2893229"/>
                  <a:pt x="4700216" y="3119072"/>
                </a:cubicBezTo>
                <a:lnTo>
                  <a:pt x="4643143" y="3275009"/>
                </a:lnTo>
                <a:lnTo>
                  <a:pt x="690093" y="4088666"/>
                </a:lnTo>
                <a:lnTo>
                  <a:pt x="548991" y="3933414"/>
                </a:lnTo>
                <a:cubicBezTo>
                  <a:pt x="304015" y="3636572"/>
                  <a:pt x="128908" y="3279932"/>
                  <a:pt x="48844" y="2888671"/>
                </a:cubicBezTo>
                <a:close/>
              </a:path>
            </a:pathLst>
          </a:custGeom>
          <a:gradFill>
            <a:gsLst>
              <a:gs pos="39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>
                  <a:lumMod val="75000"/>
                  <a:alpha val="26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5C52DA0-CBD4-1B96-BAA1-51667181D0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0041" y="2767106"/>
            <a:ext cx="2880828" cy="307190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34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Step-by-Step Computational Process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A8B6128-03DE-0B9C-D690-6A2A842D89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38604" y="1195986"/>
            <a:ext cx="8142824" cy="35767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243276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488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90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0492" name="Group 20491">
            <a:extLst>
              <a:ext uri="{FF2B5EF4-FFF2-40B4-BE49-F238E27FC236}">
                <a16:creationId xmlns:a16="http://schemas.microsoft.com/office/drawing/2014/main" id="{2303047E-3307-4EF3-87A3-A8490D5506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20493" name="Color">
              <a:extLst>
                <a:ext uri="{FF2B5EF4-FFF2-40B4-BE49-F238E27FC236}">
                  <a16:creationId xmlns:a16="http://schemas.microsoft.com/office/drawing/2014/main" id="{DE0162B2-7972-4E7E-B90F-AE5CD7FC9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494" name="Color">
              <a:extLst>
                <a:ext uri="{FF2B5EF4-FFF2-40B4-BE49-F238E27FC236}">
                  <a16:creationId xmlns:a16="http://schemas.microsoft.com/office/drawing/2014/main" id="{7F379A8D-1294-4053-9196-2D9B177C98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0483" name="Picture 4">
            <a:extLst>
              <a:ext uri="{FF2B5EF4-FFF2-40B4-BE49-F238E27FC236}">
                <a16:creationId xmlns:a16="http://schemas.microsoft.com/office/drawing/2014/main" id="{C442E353-9434-F0E1-4094-295C4624F3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661486" y="228215"/>
            <a:ext cx="8334211" cy="60902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96" name="Group 2049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20497" name="Freeform: Shape 2049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498" name="Freeform: Shape 2049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499" name="Freeform: Shape 2049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500" name="Freeform: Shape 2049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501" name="Freeform: Shape 2050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502" name="Freeform: Shape 2050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503" name="Freeform: Shape 2050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0482" name="Rectangle 2">
            <a:extLst>
              <a:ext uri="{FF2B5EF4-FFF2-40B4-BE49-F238E27FC236}">
                <a16:creationId xmlns:a16="http://schemas.microsoft.com/office/drawing/2014/main" id="{7FD75451-D61A-60D7-9D47-138979EAD6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326619" y="1943984"/>
            <a:ext cx="5958643" cy="279039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The Cepstrum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1" name="Rectangle 21510">
            <a:extLst>
              <a:ext uri="{FF2B5EF4-FFF2-40B4-BE49-F238E27FC236}">
                <a16:creationId xmlns:a16="http://schemas.microsoft.com/office/drawing/2014/main" id="{F3060C83-F051-4F0E-ABAD-AA0DFC48B2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513" name="Freeform: Shape 21512">
            <a:extLst>
              <a:ext uri="{FF2B5EF4-FFF2-40B4-BE49-F238E27FC236}">
                <a16:creationId xmlns:a16="http://schemas.microsoft.com/office/drawing/2014/main" id="{83C98ABE-055B-441F-B07E-44F97F083C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8900000" flipH="1">
            <a:off x="-376156" y="-253670"/>
            <a:ext cx="1827638" cy="1376989"/>
          </a:xfrm>
          <a:custGeom>
            <a:avLst/>
            <a:gdLst>
              <a:gd name="connsiteX0" fmla="*/ 0 w 1827638"/>
              <a:gd name="connsiteY0" fmla="*/ 987379 h 1376989"/>
              <a:gd name="connsiteX1" fmla="*/ 987379 w 1827638"/>
              <a:gd name="connsiteY1" fmla="*/ 0 h 1376989"/>
              <a:gd name="connsiteX2" fmla="*/ 1827638 w 1827638"/>
              <a:gd name="connsiteY2" fmla="*/ 840260 h 1376989"/>
              <a:gd name="connsiteX3" fmla="*/ 1827638 w 1827638"/>
              <a:gd name="connsiteY3" fmla="*/ 1376989 h 1376989"/>
              <a:gd name="connsiteX4" fmla="*/ 0 w 1827638"/>
              <a:gd name="connsiteY4" fmla="*/ 1376989 h 1376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27638" h="1376989">
                <a:moveTo>
                  <a:pt x="0" y="987379"/>
                </a:moveTo>
                <a:lnTo>
                  <a:pt x="987379" y="0"/>
                </a:lnTo>
                <a:lnTo>
                  <a:pt x="1827638" y="840260"/>
                </a:lnTo>
                <a:lnTo>
                  <a:pt x="1827638" y="1376989"/>
                </a:lnTo>
                <a:lnTo>
                  <a:pt x="0" y="1376989"/>
                </a:lnTo>
                <a:close/>
              </a:path>
            </a:pathLst>
          </a:custGeom>
          <a:solidFill>
            <a:schemeClr val="accent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515" name="Rectangle 21514">
            <a:extLst>
              <a:ext uri="{FF2B5EF4-FFF2-40B4-BE49-F238E27FC236}">
                <a16:creationId xmlns:a16="http://schemas.microsoft.com/office/drawing/2014/main" id="{29FDB030-9B49-4CED-8CCD-4D99382388A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8900000" flipH="1">
            <a:off x="891641" y="422146"/>
            <a:ext cx="645368" cy="645368"/>
          </a:xfrm>
          <a:prstGeom prst="rect">
            <a:avLst/>
          </a:prstGeom>
          <a:solidFill>
            <a:schemeClr val="accent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7" name="Rectangle 21516">
            <a:extLst>
              <a:ext uri="{FF2B5EF4-FFF2-40B4-BE49-F238E27FC236}">
                <a16:creationId xmlns:a16="http://schemas.microsoft.com/office/drawing/2014/main" id="{3783CA14-24A1-485C-8B30-D6A5D87987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8900000" flipH="1">
            <a:off x="10043482" y="655140"/>
            <a:ext cx="687472" cy="687472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9" name="Freeform: Shape 21518">
            <a:extLst>
              <a:ext uri="{FF2B5EF4-FFF2-40B4-BE49-F238E27FC236}">
                <a16:creationId xmlns:a16="http://schemas.microsoft.com/office/drawing/2014/main" id="{9A97C86A-04D6-40F7-AE84-31AB43E6A84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9356643" y="0"/>
            <a:ext cx="2835357" cy="1480837"/>
          </a:xfrm>
          <a:custGeom>
            <a:avLst/>
            <a:gdLst>
              <a:gd name="connsiteX0" fmla="*/ 2835357 w 2835357"/>
              <a:gd name="connsiteY0" fmla="*/ 1480837 h 1480837"/>
              <a:gd name="connsiteX1" fmla="*/ 0 w 2835357"/>
              <a:gd name="connsiteY1" fmla="*/ 1480837 h 1480837"/>
              <a:gd name="connsiteX2" fmla="*/ 1552727 w 2835357"/>
              <a:gd name="connsiteY2" fmla="*/ 0 h 1480837"/>
              <a:gd name="connsiteX3" fmla="*/ 2835357 w 2835357"/>
              <a:gd name="connsiteY3" fmla="*/ 1223245 h 1480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5357" h="1480837">
                <a:moveTo>
                  <a:pt x="2835357" y="1480837"/>
                </a:moveTo>
                <a:lnTo>
                  <a:pt x="0" y="1480837"/>
                </a:lnTo>
                <a:lnTo>
                  <a:pt x="1552727" y="0"/>
                </a:lnTo>
                <a:lnTo>
                  <a:pt x="2835357" y="1223245"/>
                </a:lnTo>
                <a:close/>
              </a:path>
            </a:pathLst>
          </a:cu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1521" name="Isosceles Triangle 21520">
            <a:extLst>
              <a:ext uri="{FF2B5EF4-FFF2-40B4-BE49-F238E27FC236}">
                <a16:creationId xmlns:a16="http://schemas.microsoft.com/office/drawing/2014/main" id="{FF9F2414-84E8-453E-B1F3-389FDE8192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7976344" y="6115501"/>
            <a:ext cx="1494513" cy="742499"/>
          </a:xfrm>
          <a:prstGeom prst="triangle">
            <a:avLst/>
          </a:prstGeom>
          <a:solidFill>
            <a:schemeClr val="accent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1506" name="Picture 4">
            <a:extLst>
              <a:ext uri="{FF2B5EF4-FFF2-40B4-BE49-F238E27FC236}">
                <a16:creationId xmlns:a16="http://schemas.microsoft.com/office/drawing/2014/main" id="{D843D274-C3DE-8408-5BB6-A2FDCD4F60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0" y="-4156"/>
            <a:ext cx="12043317" cy="68621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23" name="Isosceles Triangle 21522">
            <a:extLst>
              <a:ext uri="{FF2B5EF4-FFF2-40B4-BE49-F238E27FC236}">
                <a16:creationId xmlns:a16="http://schemas.microsoft.com/office/drawing/2014/main" id="{3ECA69A1-7536-43AC-85EF-C7106179F5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7604080" y="6453143"/>
            <a:ext cx="814903" cy="404857"/>
          </a:xfrm>
          <a:prstGeom prst="triangle">
            <a:avLst/>
          </a:prstGeom>
          <a:solidFill>
            <a:schemeClr val="accent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rgbClr val="FF9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080CC40-197E-4064-A999-72A67A9D9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D8AB7BAA-8B3E-4E09-88C6-BB6C8F22F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4142A11-1685-445B-A5A3-B842B86CE2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91DD691C-38FD-F921-50BB-88B8A5267B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74122" y="0"/>
            <a:ext cx="8690231" cy="6857998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78634D8-7C34-F9F7-3D25-1C5E01D718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anchor="ctr">
            <a:normAutofit/>
          </a:bodyPr>
          <a:lstStyle/>
          <a:p>
            <a:r>
              <a:rPr lang="en-GB" altLang="ar-EG" sz="4800" dirty="0">
                <a:solidFill>
                  <a:schemeClr val="bg1"/>
                </a:solidFill>
              </a:rPr>
              <a:t>Mel-frequency cepstral coefficients (MFCC)</a:t>
            </a:r>
            <a:endParaRPr lang="ar-EG" sz="4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482647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561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63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565" name="Group 23564">
            <a:extLst>
              <a:ext uri="{FF2B5EF4-FFF2-40B4-BE49-F238E27FC236}">
                <a16:creationId xmlns:a16="http://schemas.microsoft.com/office/drawing/2014/main" id="{90D3815A-8315-441B-B2CA-C05B254C28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3051" y="-2"/>
            <a:ext cx="3468234" cy="6858000"/>
            <a:chOff x="651279" y="598259"/>
            <a:chExt cx="10889442" cy="5680742"/>
          </a:xfrm>
        </p:grpSpPr>
        <p:sp>
          <p:nvSpPr>
            <p:cNvPr id="23566" name="Color">
              <a:extLst>
                <a:ext uri="{FF2B5EF4-FFF2-40B4-BE49-F238E27FC236}">
                  <a16:creationId xmlns:a16="http://schemas.microsoft.com/office/drawing/2014/main" id="{56E83468-A671-411F-A1A1-5A6F59AB8C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567" name="Color">
              <a:extLst>
                <a:ext uri="{FF2B5EF4-FFF2-40B4-BE49-F238E27FC236}">
                  <a16:creationId xmlns:a16="http://schemas.microsoft.com/office/drawing/2014/main" id="{E4128D9D-C7A1-4B39-972E-8FE967022A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3555" name="Picture 8" descr="LPC basics">
            <a:extLst>
              <a:ext uri="{FF2B5EF4-FFF2-40B4-BE49-F238E27FC236}">
                <a16:creationId xmlns:a16="http://schemas.microsoft.com/office/drawing/2014/main" id="{AC5D8A57-B6C7-8EE6-6879-970B51278A62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33" t="6364" r="11011" b="85246"/>
          <a:stretch>
            <a:fillRect/>
          </a:stretch>
        </p:blipFill>
        <p:spPr>
          <a:xfrm>
            <a:off x="3891514" y="944157"/>
            <a:ext cx="7629085" cy="2375557"/>
          </a:xfrm>
          <a:prstGeom prst="rect">
            <a:avLst/>
          </a:prstGeom>
          <a:noFill/>
        </p:spPr>
      </p:pic>
      <p:pic>
        <p:nvPicPr>
          <p:cNvPr id="23556" name="Picture 9" descr="LPC basics">
            <a:extLst>
              <a:ext uri="{FF2B5EF4-FFF2-40B4-BE49-F238E27FC236}">
                <a16:creationId xmlns:a16="http://schemas.microsoft.com/office/drawing/2014/main" id="{F5A939A0-FCD1-123A-548F-952F97F7B6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350" t="25381" r="11789" b="70503"/>
          <a:stretch>
            <a:fillRect/>
          </a:stretch>
        </p:blipFill>
        <p:spPr bwMode="auto">
          <a:xfrm>
            <a:off x="3625295" y="4609212"/>
            <a:ext cx="8403541" cy="8511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69" name="Group 23568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23570" name="Freeform: Shape 23569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571" name="Freeform: Shape 23570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572" name="Freeform: Shape 23571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573" name="Freeform: Shape 23572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574" name="Freeform: Shape 23573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575" name="Freeform: Shape 23574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576" name="Freeform: Shape 23575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3554" name="Rectangle 4">
            <a:extLst>
              <a:ext uri="{FF2B5EF4-FFF2-40B4-BE49-F238E27FC236}">
                <a16:creationId xmlns:a16="http://schemas.microsoft.com/office/drawing/2014/main" id="{9EDAF817-67BE-6B39-E354-230B1C0CC9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279425" y="1896789"/>
            <a:ext cx="5958643" cy="2884784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Linear Predictive Coding LPC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584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86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588" name="Group 24587">
            <a:extLst>
              <a:ext uri="{FF2B5EF4-FFF2-40B4-BE49-F238E27FC236}">
                <a16:creationId xmlns:a16="http://schemas.microsoft.com/office/drawing/2014/main" id="{2303047E-3307-4EF3-87A3-A8490D5506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24589" name="Color">
              <a:extLst>
                <a:ext uri="{FF2B5EF4-FFF2-40B4-BE49-F238E27FC236}">
                  <a16:creationId xmlns:a16="http://schemas.microsoft.com/office/drawing/2014/main" id="{DE0162B2-7972-4E7E-B90F-AE5CD7FC9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590" name="Color">
              <a:extLst>
                <a:ext uri="{FF2B5EF4-FFF2-40B4-BE49-F238E27FC236}">
                  <a16:creationId xmlns:a16="http://schemas.microsoft.com/office/drawing/2014/main" id="{7F379A8D-1294-4053-9196-2D9B177C98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4579" name="Picture 4" descr="LPC basics">
            <a:extLst>
              <a:ext uri="{FF2B5EF4-FFF2-40B4-BE49-F238E27FC236}">
                <a16:creationId xmlns:a16="http://schemas.microsoft.com/office/drawing/2014/main" id="{FB7A2516-E170-8720-2F15-5771418A7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64" t="66705" r="13075" b="11162"/>
          <a:stretch>
            <a:fillRect/>
          </a:stretch>
        </p:blipFill>
        <p:spPr bwMode="auto">
          <a:xfrm>
            <a:off x="3922615" y="889375"/>
            <a:ext cx="8023407" cy="42015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92" name="Group 24591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24593" name="Freeform: Shape 24592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594" name="Freeform: Shape 24593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595" name="Freeform: Shape 24594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596" name="Freeform: Shape 24595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597" name="Freeform: Shape 24596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598" name="Freeform: Shape 24597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599" name="Freeform: Shape 24598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4578" name="Rectangle 2">
            <a:extLst>
              <a:ext uri="{FF2B5EF4-FFF2-40B4-BE49-F238E27FC236}">
                <a16:creationId xmlns:a16="http://schemas.microsoft.com/office/drawing/2014/main" id="{19D58FB9-7460-52F8-C87B-B2C1D2EC10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326619" y="1943984"/>
            <a:ext cx="5958643" cy="279039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The System Models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10" name="Group 25609">
            <a:extLst>
              <a:ext uri="{FF2B5EF4-FFF2-40B4-BE49-F238E27FC236}">
                <a16:creationId xmlns:a16="http://schemas.microsoft.com/office/drawing/2014/main" id="{C1D588A2-274D-A220-46AA-714E5D7914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10800000" flipV="1">
            <a:off x="-4" y="-17529"/>
            <a:ext cx="7867777" cy="6875529"/>
            <a:chOff x="5171844" y="-11586"/>
            <a:chExt cx="7020159" cy="6869586"/>
          </a:xfrm>
        </p:grpSpPr>
        <p:sp>
          <p:nvSpPr>
            <p:cNvPr id="25611" name="Rectangle 25610">
              <a:extLst>
                <a:ext uri="{FF2B5EF4-FFF2-40B4-BE49-F238E27FC236}">
                  <a16:creationId xmlns:a16="http://schemas.microsoft.com/office/drawing/2014/main" id="{96726FBE-737C-6B6F-6A2C-D004369CB1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171848" y="-11580"/>
              <a:ext cx="7020152" cy="6869579"/>
            </a:xfrm>
            <a:prstGeom prst="rect">
              <a:avLst/>
            </a:prstGeom>
            <a:gradFill>
              <a:gsLst>
                <a:gs pos="7000">
                  <a:schemeClr val="accent2"/>
                </a:gs>
                <a:gs pos="100000">
                  <a:schemeClr val="accent5"/>
                </a:gs>
              </a:gsLst>
              <a:lin ang="4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12" name="Rectangle 25611">
              <a:extLst>
                <a:ext uri="{FF2B5EF4-FFF2-40B4-BE49-F238E27FC236}">
                  <a16:creationId xmlns:a16="http://schemas.microsoft.com/office/drawing/2014/main" id="{758E92FE-A448-69AA-7A54-17EA794261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rot="10800000">
              <a:off x="6351336" y="876304"/>
              <a:ext cx="5840664" cy="5981696"/>
            </a:xfrm>
            <a:prstGeom prst="rect">
              <a:avLst/>
            </a:prstGeom>
            <a:gradFill flip="none" rotWithShape="1">
              <a:gsLst>
                <a:gs pos="0">
                  <a:schemeClr val="accent5">
                    <a:lumMod val="75000"/>
                  </a:schemeClr>
                </a:gs>
                <a:gs pos="60000">
                  <a:schemeClr val="accent5">
                    <a:lumMod val="60000"/>
                    <a:lumOff val="40000"/>
                    <a:alpha val="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25613" name="Rectangle 25612">
              <a:extLst>
                <a:ext uri="{FF2B5EF4-FFF2-40B4-BE49-F238E27FC236}">
                  <a16:creationId xmlns:a16="http://schemas.microsoft.com/office/drawing/2014/main" id="{97568351-2997-1C61-62AD-DAEB3CA355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171844" y="-11586"/>
              <a:ext cx="5171848" cy="6869586"/>
            </a:xfrm>
            <a:prstGeom prst="rect">
              <a:avLst/>
            </a:prstGeom>
            <a:gradFill flip="none" rotWithShape="1">
              <a:gsLst>
                <a:gs pos="3000">
                  <a:schemeClr val="accent2">
                    <a:alpha val="70000"/>
                  </a:schemeClr>
                </a:gs>
                <a:gs pos="42000">
                  <a:schemeClr val="accent2">
                    <a:alpha val="0"/>
                  </a:schemeClr>
                </a:gs>
              </a:gsLst>
              <a:lin ang="3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14" name="Rectangle 25613">
              <a:extLst>
                <a:ext uri="{FF2B5EF4-FFF2-40B4-BE49-F238E27FC236}">
                  <a16:creationId xmlns:a16="http://schemas.microsoft.com/office/drawing/2014/main" id="{FF8EA780-FCE3-8519-D385-26CA278A87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rot="16200000">
              <a:off x="6042356" y="708353"/>
              <a:ext cx="6869583" cy="5429710"/>
            </a:xfrm>
            <a:prstGeom prst="rect">
              <a:avLst/>
            </a:prstGeom>
            <a:gradFill>
              <a:gsLst>
                <a:gs pos="0">
                  <a:schemeClr val="accent5">
                    <a:alpha val="86000"/>
                  </a:schemeClr>
                </a:gs>
                <a:gs pos="57000">
                  <a:schemeClr val="accent2">
                    <a:alpha val="0"/>
                  </a:schemeClr>
                </a:gs>
              </a:gsLst>
              <a:lin ang="13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602" name="Rectangle 4">
            <a:extLst>
              <a:ext uri="{FF2B5EF4-FFF2-40B4-BE49-F238E27FC236}">
                <a16:creationId xmlns:a16="http://schemas.microsoft.com/office/drawing/2014/main" id="{78701C6D-BB62-1291-1ACF-91AC64D9CA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38200" y="1536180"/>
            <a:ext cx="5257800" cy="2582814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ar-EG" sz="4800">
                <a:solidFill>
                  <a:srgbClr val="FFFFFF"/>
                </a:solidFill>
              </a:rPr>
              <a:t>The error e(n)</a:t>
            </a:r>
          </a:p>
        </p:txBody>
      </p:sp>
      <p:pic>
        <p:nvPicPr>
          <p:cNvPr id="25605" name="Picture 14">
            <a:extLst>
              <a:ext uri="{FF2B5EF4-FFF2-40B4-BE49-F238E27FC236}">
                <a16:creationId xmlns:a16="http://schemas.microsoft.com/office/drawing/2014/main" id="{5E21AD88-17C6-6380-D333-974AB2EBC3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671658" y="987936"/>
            <a:ext cx="2743200" cy="13988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4" name="Picture 13">
            <a:extLst>
              <a:ext uri="{FF2B5EF4-FFF2-40B4-BE49-F238E27FC236}">
                <a16:creationId xmlns:a16="http://schemas.microsoft.com/office/drawing/2014/main" id="{608F0FDE-8F42-4BCE-B8C6-3AF87B5053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-10711" y="2992116"/>
            <a:ext cx="7867770" cy="38658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3" name="Picture 10">
            <a:extLst>
              <a:ext uri="{FF2B5EF4-FFF2-40B4-BE49-F238E27FC236}">
                <a16:creationId xmlns:a16="http://schemas.microsoft.com/office/drawing/2014/main" id="{42723E0A-0C69-69FA-B269-0462B2229D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671658" y="4455354"/>
            <a:ext cx="2743201" cy="772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6633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635" name="Group 26634">
            <a:extLst>
              <a:ext uri="{FF2B5EF4-FFF2-40B4-BE49-F238E27FC236}">
                <a16:creationId xmlns:a16="http://schemas.microsoft.com/office/drawing/2014/main" id="{E092433A-1DCC-41FA-9318-7150AB74CD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26636" name="Color">
              <a:extLst>
                <a:ext uri="{FF2B5EF4-FFF2-40B4-BE49-F238E27FC236}">
                  <a16:creationId xmlns:a16="http://schemas.microsoft.com/office/drawing/2014/main" id="{EC46FD01-71B8-4F33-A8B7-382A869ECB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37" name="Color">
              <a:extLst>
                <a:ext uri="{FF2B5EF4-FFF2-40B4-BE49-F238E27FC236}">
                  <a16:creationId xmlns:a16="http://schemas.microsoft.com/office/drawing/2014/main" id="{73399D4C-5D56-4CE8-9C5B-672A3A306A3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639" name="Group 26638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26640" name="Freeform: Shape 26639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641" name="Freeform: Shape 26640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642" name="Freeform: Shape 26641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643" name="Freeform: Shape 26642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644" name="Freeform: Shape 26643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645" name="Freeform: Shape 26644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646" name="Freeform: Shape 26645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6626" name="Rectangle 2">
            <a:extLst>
              <a:ext uri="{FF2B5EF4-FFF2-40B4-BE49-F238E27FC236}">
                <a16:creationId xmlns:a16="http://schemas.microsoft.com/office/drawing/2014/main" id="{DF16E804-3A1A-242C-178A-D0497802B8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479026" y="2096388"/>
            <a:ext cx="5958643" cy="248558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>
                <a:solidFill>
                  <a:schemeClr val="bg1"/>
                </a:solidFill>
              </a:rPr>
              <a:t>Autocorrelation Method</a:t>
            </a:r>
          </a:p>
        </p:txBody>
      </p:sp>
      <p:sp>
        <p:nvSpPr>
          <p:cNvPr id="26648" name="Rectangle 26647">
            <a:extLst>
              <a:ext uri="{FF2B5EF4-FFF2-40B4-BE49-F238E27FC236}">
                <a16:creationId xmlns:a16="http://schemas.microsoft.com/office/drawing/2014/main" id="{89B0DEAE-5D81-497D-BA76-847BAEBA84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856964" y="1504484"/>
            <a:ext cx="8623042" cy="43616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6627" name="Picture 4">
            <a:extLst>
              <a:ext uri="{FF2B5EF4-FFF2-40B4-BE49-F238E27FC236}">
                <a16:creationId xmlns:a16="http://schemas.microsoft.com/office/drawing/2014/main" id="{CBCA0B72-83AF-A2F9-C024-F7F762346E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794296" y="1723787"/>
            <a:ext cx="4362687" cy="17052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28" name="Picture 5">
            <a:extLst>
              <a:ext uri="{FF2B5EF4-FFF2-40B4-BE49-F238E27FC236}">
                <a16:creationId xmlns:a16="http://schemas.microsoft.com/office/drawing/2014/main" id="{B7B5BE97-D004-0120-80D2-9FD863A5B6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128792" y="3812005"/>
            <a:ext cx="4362687" cy="14590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7" name="Rectangle 27656">
            <a:extLst>
              <a:ext uri="{FF2B5EF4-FFF2-40B4-BE49-F238E27FC236}">
                <a16:creationId xmlns:a16="http://schemas.microsoft.com/office/drawing/2014/main" id="{164E6401-ED0E-4C69-B9F2-C94D98C654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7659" name="Rectangle 27658">
            <a:extLst>
              <a:ext uri="{FF2B5EF4-FFF2-40B4-BE49-F238E27FC236}">
                <a16:creationId xmlns:a16="http://schemas.microsoft.com/office/drawing/2014/main" id="{CE3C5560-7A9C-489F-9148-18C5E1D0F0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2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7650" name="Rectangle 2">
            <a:extLst>
              <a:ext uri="{FF2B5EF4-FFF2-40B4-BE49-F238E27FC236}">
                <a16:creationId xmlns:a16="http://schemas.microsoft.com/office/drawing/2014/main" id="{1CAD7640-5CFE-D854-330D-626665F83C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578043" y="590062"/>
            <a:ext cx="5309140" cy="2838938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altLang="ar-EG" sz="5600">
                <a:solidFill>
                  <a:srgbClr val="FFFFFF"/>
                </a:solidFill>
              </a:rPr>
              <a:t>Covariance Method</a:t>
            </a:r>
          </a:p>
        </p:txBody>
      </p:sp>
      <p:cxnSp>
        <p:nvCxnSpPr>
          <p:cNvPr id="27661" name="Straight Connector 27660">
            <a:extLst>
              <a:ext uri="{FF2B5EF4-FFF2-40B4-BE49-F238E27FC236}">
                <a16:creationId xmlns:a16="http://schemas.microsoft.com/office/drawing/2014/main" id="{56020367-4FD5-4596-8E10-C5F095CD8D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301262" y="3496322"/>
            <a:ext cx="0" cy="3352800"/>
          </a:xfrm>
          <a:prstGeom prst="line">
            <a:avLst/>
          </a:prstGeom>
          <a:ln w="25400" cap="sq">
            <a:solidFill>
              <a:srgbClr val="FFFFFF"/>
            </a:solidFill>
            <a:beve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652" name="Picture 5">
            <a:extLst>
              <a:ext uri="{FF2B5EF4-FFF2-40B4-BE49-F238E27FC236}">
                <a16:creationId xmlns:a16="http://schemas.microsoft.com/office/drawing/2014/main" id="{D349FB27-36D5-A94B-21C3-8D332234FE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870216" y="1945552"/>
            <a:ext cx="5784380" cy="20119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63" name="Group 27662">
            <a:extLst>
              <a:ext uri="{FF2B5EF4-FFF2-40B4-BE49-F238E27FC236}">
                <a16:creationId xmlns:a16="http://schemas.microsoft.com/office/drawing/2014/main" id="{2091CF1D-1F61-41E9-95B3-739B2ACB3C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220768" y="2053732"/>
            <a:ext cx="609182" cy="702815"/>
            <a:chOff x="11220768" y="2053732"/>
            <a:chExt cx="609182" cy="702815"/>
          </a:xfrm>
          <a:solidFill>
            <a:srgbClr val="FFFFFF"/>
          </a:solidFill>
        </p:grpSpPr>
        <p:sp>
          <p:nvSpPr>
            <p:cNvPr id="27664" name="Graphic 22">
              <a:extLst>
                <a:ext uri="{FF2B5EF4-FFF2-40B4-BE49-F238E27FC236}">
                  <a16:creationId xmlns:a16="http://schemas.microsoft.com/office/drawing/2014/main" id="{508BEF50-7B1E-49A4-BC19-5F4F1D755E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1220768" y="2053732"/>
              <a:ext cx="151536" cy="151536"/>
            </a:xfrm>
            <a:custGeom>
              <a:avLst/>
              <a:gdLst>
                <a:gd name="connsiteX0" fmla="*/ 141251 w 151536"/>
                <a:gd name="connsiteY0" fmla="*/ 65483 h 151536"/>
                <a:gd name="connsiteX1" fmla="*/ 86053 w 151536"/>
                <a:gd name="connsiteY1" fmla="*/ 65483 h 151536"/>
                <a:gd name="connsiteX2" fmla="*/ 86053 w 151536"/>
                <a:gd name="connsiteY2" fmla="*/ 10285 h 151536"/>
                <a:gd name="connsiteX3" fmla="*/ 75768 w 151536"/>
                <a:gd name="connsiteY3" fmla="*/ 0 h 151536"/>
                <a:gd name="connsiteX4" fmla="*/ 65483 w 151536"/>
                <a:gd name="connsiteY4" fmla="*/ 10285 h 151536"/>
                <a:gd name="connsiteX5" fmla="*/ 65483 w 151536"/>
                <a:gd name="connsiteY5" fmla="*/ 65483 h 151536"/>
                <a:gd name="connsiteX6" fmla="*/ 10285 w 151536"/>
                <a:gd name="connsiteY6" fmla="*/ 65483 h 151536"/>
                <a:gd name="connsiteX7" fmla="*/ 0 w 151536"/>
                <a:gd name="connsiteY7" fmla="*/ 75768 h 151536"/>
                <a:gd name="connsiteX8" fmla="*/ 10285 w 151536"/>
                <a:gd name="connsiteY8" fmla="*/ 86053 h 151536"/>
                <a:gd name="connsiteX9" fmla="*/ 65483 w 151536"/>
                <a:gd name="connsiteY9" fmla="*/ 86053 h 151536"/>
                <a:gd name="connsiteX10" fmla="*/ 65483 w 151536"/>
                <a:gd name="connsiteY10" fmla="*/ 141251 h 151536"/>
                <a:gd name="connsiteX11" fmla="*/ 75768 w 151536"/>
                <a:gd name="connsiteY11" fmla="*/ 151536 h 151536"/>
                <a:gd name="connsiteX12" fmla="*/ 86053 w 151536"/>
                <a:gd name="connsiteY12" fmla="*/ 141251 h 151536"/>
                <a:gd name="connsiteX13" fmla="*/ 86053 w 151536"/>
                <a:gd name="connsiteY13" fmla="*/ 86053 h 151536"/>
                <a:gd name="connsiteX14" fmla="*/ 141251 w 151536"/>
                <a:gd name="connsiteY14" fmla="*/ 86053 h 151536"/>
                <a:gd name="connsiteX15" fmla="*/ 151536 w 151536"/>
                <a:gd name="connsiteY15" fmla="*/ 75768 h 151536"/>
                <a:gd name="connsiteX16" fmla="*/ 141251 w 151536"/>
                <a:gd name="connsiteY16" fmla="*/ 65483 h 15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1536" h="151536">
                  <a:moveTo>
                    <a:pt x="141251" y="65483"/>
                  </a:moveTo>
                  <a:lnTo>
                    <a:pt x="86053" y="65483"/>
                  </a:lnTo>
                  <a:lnTo>
                    <a:pt x="86053" y="10285"/>
                  </a:lnTo>
                  <a:cubicBezTo>
                    <a:pt x="86053" y="4605"/>
                    <a:pt x="81448" y="0"/>
                    <a:pt x="75768" y="0"/>
                  </a:cubicBezTo>
                  <a:cubicBezTo>
                    <a:pt x="70088" y="0"/>
                    <a:pt x="65483" y="4605"/>
                    <a:pt x="65483" y="10285"/>
                  </a:cubicBezTo>
                  <a:lnTo>
                    <a:pt x="65483" y="65483"/>
                  </a:lnTo>
                  <a:lnTo>
                    <a:pt x="10285" y="65483"/>
                  </a:lnTo>
                  <a:cubicBezTo>
                    <a:pt x="4605" y="65483"/>
                    <a:pt x="0" y="70088"/>
                    <a:pt x="0" y="75768"/>
                  </a:cubicBezTo>
                  <a:cubicBezTo>
                    <a:pt x="0" y="81448"/>
                    <a:pt x="4605" y="86053"/>
                    <a:pt x="10285" y="86053"/>
                  </a:cubicBezTo>
                  <a:lnTo>
                    <a:pt x="65483" y="86053"/>
                  </a:lnTo>
                  <a:lnTo>
                    <a:pt x="65483" y="141251"/>
                  </a:lnTo>
                  <a:cubicBezTo>
                    <a:pt x="65483" y="146931"/>
                    <a:pt x="70088" y="151536"/>
                    <a:pt x="75768" y="151536"/>
                  </a:cubicBezTo>
                  <a:cubicBezTo>
                    <a:pt x="81448" y="151536"/>
                    <a:pt x="86053" y="146931"/>
                    <a:pt x="86053" y="141251"/>
                  </a:cubicBezTo>
                  <a:lnTo>
                    <a:pt x="86053" y="86053"/>
                  </a:lnTo>
                  <a:lnTo>
                    <a:pt x="141251" y="86053"/>
                  </a:lnTo>
                  <a:cubicBezTo>
                    <a:pt x="146931" y="86053"/>
                    <a:pt x="151536" y="81448"/>
                    <a:pt x="151536" y="75768"/>
                  </a:cubicBezTo>
                  <a:cubicBezTo>
                    <a:pt x="151536" y="70088"/>
                    <a:pt x="146931" y="65483"/>
                    <a:pt x="141251" y="65483"/>
                  </a:cubicBezTo>
                  <a:close/>
                </a:path>
              </a:pathLst>
            </a:custGeom>
            <a:grpFill/>
            <a:ln w="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7665" name="Graphic 23">
              <a:extLst>
                <a:ext uri="{FF2B5EF4-FFF2-40B4-BE49-F238E27FC236}">
                  <a16:creationId xmlns:a16="http://schemas.microsoft.com/office/drawing/2014/main" id="{3FBAD350-5664-4811-A208-657FB882D3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1721325" y="2647922"/>
              <a:ext cx="108625" cy="108625"/>
            </a:xfrm>
            <a:custGeom>
              <a:avLst/>
              <a:gdLst>
                <a:gd name="connsiteX0" fmla="*/ 54313 w 108625"/>
                <a:gd name="connsiteY0" fmla="*/ 16053 h 108625"/>
                <a:gd name="connsiteX1" fmla="*/ 92572 w 108625"/>
                <a:gd name="connsiteY1" fmla="*/ 54313 h 108625"/>
                <a:gd name="connsiteX2" fmla="*/ 54313 w 108625"/>
                <a:gd name="connsiteY2" fmla="*/ 92572 h 108625"/>
                <a:gd name="connsiteX3" fmla="*/ 16053 w 108625"/>
                <a:gd name="connsiteY3" fmla="*/ 54313 h 108625"/>
                <a:gd name="connsiteX4" fmla="*/ 54313 w 108625"/>
                <a:gd name="connsiteY4" fmla="*/ 16053 h 108625"/>
                <a:gd name="connsiteX5" fmla="*/ 54313 w 108625"/>
                <a:gd name="connsiteY5" fmla="*/ 0 h 108625"/>
                <a:gd name="connsiteX6" fmla="*/ 0 w 108625"/>
                <a:gd name="connsiteY6" fmla="*/ 54313 h 108625"/>
                <a:gd name="connsiteX7" fmla="*/ 54313 w 108625"/>
                <a:gd name="connsiteY7" fmla="*/ 108625 h 108625"/>
                <a:gd name="connsiteX8" fmla="*/ 108625 w 108625"/>
                <a:gd name="connsiteY8" fmla="*/ 54313 h 108625"/>
                <a:gd name="connsiteX9" fmla="*/ 54313 w 108625"/>
                <a:gd name="connsiteY9" fmla="*/ 0 h 10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625" h="108625">
                  <a:moveTo>
                    <a:pt x="54313" y="16053"/>
                  </a:moveTo>
                  <a:cubicBezTo>
                    <a:pt x="75442" y="16053"/>
                    <a:pt x="92572" y="33182"/>
                    <a:pt x="92572" y="54313"/>
                  </a:cubicBezTo>
                  <a:cubicBezTo>
                    <a:pt x="92572" y="75442"/>
                    <a:pt x="75442" y="92572"/>
                    <a:pt x="54313" y="92572"/>
                  </a:cubicBezTo>
                  <a:cubicBezTo>
                    <a:pt x="33182" y="92572"/>
                    <a:pt x="16053" y="75442"/>
                    <a:pt x="16053" y="54313"/>
                  </a:cubicBezTo>
                  <a:cubicBezTo>
                    <a:pt x="16074" y="33191"/>
                    <a:pt x="33191" y="16074"/>
                    <a:pt x="54313" y="16053"/>
                  </a:cubicBezTo>
                  <a:moveTo>
                    <a:pt x="54313" y="0"/>
                  </a:moveTo>
                  <a:cubicBezTo>
                    <a:pt x="24317" y="0"/>
                    <a:pt x="0" y="24317"/>
                    <a:pt x="0" y="54313"/>
                  </a:cubicBezTo>
                  <a:cubicBezTo>
                    <a:pt x="0" y="84309"/>
                    <a:pt x="24317" y="108625"/>
                    <a:pt x="54313" y="108625"/>
                  </a:cubicBezTo>
                  <a:cubicBezTo>
                    <a:pt x="84309" y="108625"/>
                    <a:pt x="108625" y="84309"/>
                    <a:pt x="108625" y="54313"/>
                  </a:cubicBezTo>
                  <a:cubicBezTo>
                    <a:pt x="108625" y="24317"/>
                    <a:pt x="84309" y="0"/>
                    <a:pt x="54313" y="0"/>
                  </a:cubicBezTo>
                  <a:close/>
                </a:path>
              </a:pathLst>
            </a:custGeom>
            <a:grpFill/>
            <a:ln w="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27667" name="Graphic 21">
            <a:extLst>
              <a:ext uri="{FF2B5EF4-FFF2-40B4-BE49-F238E27FC236}">
                <a16:creationId xmlns:a16="http://schemas.microsoft.com/office/drawing/2014/main" id="{C39ADB8F-D187-49D7-BDCF-C1B6DC7270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77861" y="6313109"/>
            <a:ext cx="95759" cy="95759"/>
          </a:xfrm>
          <a:custGeom>
            <a:avLst/>
            <a:gdLst>
              <a:gd name="connsiteX0" fmla="*/ 95759 w 95759"/>
              <a:gd name="connsiteY0" fmla="*/ 47880 h 95759"/>
              <a:gd name="connsiteX1" fmla="*/ 47880 w 95759"/>
              <a:gd name="connsiteY1" fmla="*/ 95759 h 95759"/>
              <a:gd name="connsiteX2" fmla="*/ 0 w 95759"/>
              <a:gd name="connsiteY2" fmla="*/ 47880 h 95759"/>
              <a:gd name="connsiteX3" fmla="*/ 47880 w 95759"/>
              <a:gd name="connsiteY3" fmla="*/ 0 h 95759"/>
              <a:gd name="connsiteX4" fmla="*/ 95759 w 95759"/>
              <a:gd name="connsiteY4" fmla="*/ 47880 h 95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759" h="95759">
                <a:moveTo>
                  <a:pt x="95759" y="47880"/>
                </a:moveTo>
                <a:cubicBezTo>
                  <a:pt x="95759" y="74323"/>
                  <a:pt x="74323" y="95759"/>
                  <a:pt x="47880" y="95759"/>
                </a:cubicBezTo>
                <a:cubicBezTo>
                  <a:pt x="21436" y="95759"/>
                  <a:pt x="0" y="74323"/>
                  <a:pt x="0" y="47880"/>
                </a:cubicBezTo>
                <a:cubicBezTo>
                  <a:pt x="0" y="21436"/>
                  <a:pt x="21436" y="0"/>
                  <a:pt x="47880" y="0"/>
                </a:cubicBezTo>
                <a:cubicBezTo>
                  <a:pt x="74323" y="0"/>
                  <a:pt x="95759" y="21436"/>
                  <a:pt x="95759" y="47880"/>
                </a:cubicBezTo>
                <a:close/>
              </a:path>
            </a:pathLst>
          </a:custGeom>
          <a:solidFill>
            <a:srgbClr val="FFFFFF"/>
          </a:solidFill>
          <a:ln w="469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rgbClr val="FFFFFF"/>
              </a:solidFill>
            </a:endParaRPr>
          </a:p>
        </p:txBody>
      </p:sp>
      <p:pic>
        <p:nvPicPr>
          <p:cNvPr id="27651" name="Picture 4">
            <a:extLst>
              <a:ext uri="{FF2B5EF4-FFF2-40B4-BE49-F238E27FC236}">
                <a16:creationId xmlns:a16="http://schemas.microsoft.com/office/drawing/2014/main" id="{5979F69D-AF58-CF5A-D1B6-FD773925FD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870215" y="4460728"/>
            <a:ext cx="5862045" cy="16161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680" name="Slide Background Fill">
            <a:extLst>
              <a:ext uri="{FF2B5EF4-FFF2-40B4-BE49-F238E27FC236}">
                <a16:creationId xmlns:a16="http://schemas.microsoft.com/office/drawing/2014/main" id="{1199FB19-8541-4759-8EF7-EDC2CC4F78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82" name="Color Cover">
            <a:extLst>
              <a:ext uri="{FF2B5EF4-FFF2-40B4-BE49-F238E27FC236}">
                <a16:creationId xmlns:a16="http://schemas.microsoft.com/office/drawing/2014/main" id="{977DAE03-AA57-4DFC-A48C-4B398674F5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684" name="Group 28683">
            <a:extLst>
              <a:ext uri="{FF2B5EF4-FFF2-40B4-BE49-F238E27FC236}">
                <a16:creationId xmlns:a16="http://schemas.microsoft.com/office/drawing/2014/main" id="{2303047E-3307-4EF3-87A3-A8490D5506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2"/>
            <a:ext cx="3468234" cy="6858000"/>
            <a:chOff x="651279" y="598259"/>
            <a:chExt cx="10889442" cy="5680742"/>
          </a:xfrm>
        </p:grpSpPr>
        <p:sp>
          <p:nvSpPr>
            <p:cNvPr id="28685" name="Color">
              <a:extLst>
                <a:ext uri="{FF2B5EF4-FFF2-40B4-BE49-F238E27FC236}">
                  <a16:creationId xmlns:a16="http://schemas.microsoft.com/office/drawing/2014/main" id="{DE0162B2-7972-4E7E-B90F-AE5CD7FC9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86" name="Color">
              <a:extLst>
                <a:ext uri="{FF2B5EF4-FFF2-40B4-BE49-F238E27FC236}">
                  <a16:creationId xmlns:a16="http://schemas.microsoft.com/office/drawing/2014/main" id="{7F379A8D-1294-4053-9196-2D9B177C98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8675" name="Picture 5">
            <a:extLst>
              <a:ext uri="{FF2B5EF4-FFF2-40B4-BE49-F238E27FC236}">
                <a16:creationId xmlns:a16="http://schemas.microsoft.com/office/drawing/2014/main" id="{AA566357-BF95-C928-D425-A696FEF93A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280011" y="3532529"/>
            <a:ext cx="7008099" cy="2642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688" name="Group 2868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28689" name="Freeform: Shape 2868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690" name="Freeform: Shape 2868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691" name="Freeform: Shape 2869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692" name="Freeform: Shape 2869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693" name="Freeform: Shape 2869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694" name="Freeform: Shape 2869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695" name="Freeform: Shape 2869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8674" name="Rectangle 2">
            <a:extLst>
              <a:ext uri="{FF2B5EF4-FFF2-40B4-BE49-F238E27FC236}">
                <a16:creationId xmlns:a16="http://schemas.microsoft.com/office/drawing/2014/main" id="{3F6C7B82-C75F-CA19-9379-B8E7B61A37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 rot="16200000">
            <a:off x="-1326619" y="1943984"/>
            <a:ext cx="5958643" cy="2790395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altLang="ar-EG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Vector Quantization VQ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690C4ED-5E67-4827-AED1-DEC2B100A4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316B1774-E483-4832-A4C7-1277F99283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CE4BA6BE-9BF5-4DFA-8E3F-C49023E538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F422E81-AA5D-3412-74CB-8AF833681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The basic block diagram</a:t>
            </a:r>
            <a:endParaRPr lang="ar-EG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CFD3A96-D9AE-7D01-061D-B98991F7398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80007" y="546341"/>
            <a:ext cx="7262371" cy="2435076"/>
          </a:xfrm>
        </p:spPr>
        <p:txBody>
          <a:bodyPr anchor="ctr">
            <a:normAutofit/>
          </a:bodyPr>
          <a:lstStyle/>
          <a:p>
            <a:endParaRPr lang="ar-EG" sz="1800">
              <a:solidFill>
                <a:schemeClr val="tx2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386D0880-91E4-404A-EF11-AC0DD3CC78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32470" y="-2"/>
            <a:ext cx="867671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858778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690C4ED-5E67-4827-AED1-DEC2B100A4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316B1774-E483-4832-A4C7-1277F99283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CE4BA6BE-9BF5-4DFA-8E3F-C49023E538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F9EF301-C1B5-39F7-D3CB-8B39E1CC08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The extended block diagram</a:t>
            </a:r>
            <a:endParaRPr lang="ar-EG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97C02C-92BA-A732-DCA9-49A639304D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80007" y="546341"/>
            <a:ext cx="7262371" cy="2435076"/>
          </a:xfrm>
        </p:spPr>
        <p:txBody>
          <a:bodyPr anchor="ctr">
            <a:normAutofit/>
          </a:bodyPr>
          <a:lstStyle/>
          <a:p>
            <a:endParaRPr lang="ar-EG" sz="1800">
              <a:solidFill>
                <a:schemeClr val="tx2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687F1C76-C3DC-F33E-D96C-2001715CE8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55073" y="-2"/>
            <a:ext cx="9231038" cy="68794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950327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4" name="Slide Background Fill">
            <a:extLst>
              <a:ext uri="{FF2B5EF4-FFF2-40B4-BE49-F238E27FC236}">
                <a16:creationId xmlns:a16="http://schemas.microsoft.com/office/drawing/2014/main" id="{953EC90C-082B-4667-A29F-E4E4D515AA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Color Cover">
            <a:extLst>
              <a:ext uri="{FF2B5EF4-FFF2-40B4-BE49-F238E27FC236}">
                <a16:creationId xmlns:a16="http://schemas.microsoft.com/office/drawing/2014/main" id="{E99FF883-3EBA-49CC-8D77-1EE69E182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690C4ED-5E67-4827-AED1-DEC2B100A4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5889" y="-2"/>
            <a:ext cx="3468234" cy="6858000"/>
            <a:chOff x="651279" y="598259"/>
            <a:chExt cx="10889442" cy="5680742"/>
          </a:xfrm>
        </p:grpSpPr>
        <p:sp>
          <p:nvSpPr>
            <p:cNvPr id="19" name="Color">
              <a:extLst>
                <a:ext uri="{FF2B5EF4-FFF2-40B4-BE49-F238E27FC236}">
                  <a16:creationId xmlns:a16="http://schemas.microsoft.com/office/drawing/2014/main" id="{316B1774-E483-4832-A4C7-1277F99283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" name="Color">
              <a:extLst>
                <a:ext uri="{FF2B5EF4-FFF2-40B4-BE49-F238E27FC236}">
                  <a16:creationId xmlns:a16="http://schemas.microsoft.com/office/drawing/2014/main" id="{CE4BA6BE-9BF5-4DFA-8E3F-C49023E538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050C14C-032D-1356-2880-DDF2C373E2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1171367" y="1793158"/>
            <a:ext cx="5961888" cy="309794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Speech Recognition</a:t>
            </a:r>
            <a:endParaRPr lang="ar-EG" sz="48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F4A5597-D488-9979-9A70-01D7C202BD7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80007" y="546341"/>
            <a:ext cx="7262371" cy="2435076"/>
          </a:xfrm>
        </p:spPr>
        <p:txBody>
          <a:bodyPr anchor="ctr">
            <a:normAutofit/>
          </a:bodyPr>
          <a:lstStyle/>
          <a:p>
            <a:endParaRPr lang="ar-EG" sz="1800">
              <a:solidFill>
                <a:schemeClr val="tx2"/>
              </a:solidFill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AD1ED2AE-4BBD-F597-4CA0-B397FD98BA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898" y="-4"/>
            <a:ext cx="943999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013418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1752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1754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756" name="Group 31755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1757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58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1760" name="Group 31759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1761" name="Freeform: Shape 31760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762" name="Freeform: Shape 31761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763" name="Freeform: Shape 31762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764" name="Freeform: Shape 31763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765" name="Freeform: Shape 31764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766" name="Freeform: Shape 31765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767" name="Freeform: Shape 31766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1746" name="Rectangle 1">
            <a:extLst>
              <a:ext uri="{FF2B5EF4-FFF2-40B4-BE49-F238E27FC236}">
                <a16:creationId xmlns:a16="http://schemas.microsoft.com/office/drawing/2014/main" id="{0B688188-AAB6-DDBF-BDCD-8F4C8FF5E5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pPr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GB" altLang="ar-EG" sz="4800">
                <a:solidFill>
                  <a:schemeClr val="bg1"/>
                </a:solidFill>
              </a:rPr>
              <a:t>Hidden Markov Model</a:t>
            </a:r>
          </a:p>
        </p:txBody>
      </p:sp>
      <p:sp>
        <p:nvSpPr>
          <p:cNvPr id="31747" name="Rectangle 2">
            <a:extLst>
              <a:ext uri="{FF2B5EF4-FFF2-40B4-BE49-F238E27FC236}">
                <a16:creationId xmlns:a16="http://schemas.microsoft.com/office/drawing/2014/main" id="{11CEC87D-BE43-B9EA-E4DE-FA8E62EB4F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>
              <a:buFont typeface="Wingdings" panose="05000000000000000000" pitchFamily="2" charset="2"/>
              <a:buChar char=""/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GB" altLang="ar-EG" sz="1800">
                <a:solidFill>
                  <a:schemeClr val="tx2"/>
                </a:solidFill>
              </a:rPr>
              <a:t>Similar to a markov model except the states are hidden</a:t>
            </a:r>
          </a:p>
          <a:p>
            <a:pPr>
              <a:buFont typeface="Wingdings" panose="05000000000000000000" pitchFamily="2" charset="2"/>
              <a:buChar char=""/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GB" altLang="ar-EG" sz="1800">
                <a:solidFill>
                  <a:schemeClr val="tx2"/>
                </a:solidFill>
              </a:rPr>
              <a:t>We now have observations tied to the individual states</a:t>
            </a:r>
          </a:p>
          <a:p>
            <a:pPr>
              <a:buFont typeface="Wingdings" panose="05000000000000000000" pitchFamily="2" charset="2"/>
              <a:buChar char=""/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GB" altLang="ar-EG" sz="1800">
                <a:solidFill>
                  <a:schemeClr val="tx2"/>
                </a:solidFill>
              </a:rPr>
              <a:t>We no longer know the exact state sequence given the data</a:t>
            </a:r>
          </a:p>
          <a:p>
            <a:pPr>
              <a:buFont typeface="Wingdings" panose="05000000000000000000" pitchFamily="2" charset="2"/>
              <a:buChar char=""/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GB" altLang="ar-EG" sz="1800">
                <a:solidFill>
                  <a:schemeClr val="tx2"/>
                </a:solidFill>
              </a:rPr>
              <a:t>Allows for the modeling of an underlying unobservable process</a:t>
            </a:r>
          </a:p>
        </p:txBody>
      </p:sp>
    </p:spTree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2777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779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2781" name="Group 32780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32782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83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2785" name="Group 3278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2786" name="Freeform: Shape 3278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787" name="Freeform: Shape 3278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788" name="Freeform: Shape 3278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789" name="Freeform: Shape 3278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790" name="Freeform: Shape 3278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791" name="Freeform: Shape 3279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792" name="Freeform: Shape 3279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2770" name="Rectangle 1">
            <a:extLst>
              <a:ext uri="{FF2B5EF4-FFF2-40B4-BE49-F238E27FC236}">
                <a16:creationId xmlns:a16="http://schemas.microsoft.com/office/drawing/2014/main" id="{F114E829-A2F4-E561-E016-7181CD68DA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pPr>
              <a:tabLst>
                <a:tab pos="656722" algn="l"/>
                <a:tab pos="1313444" algn="l"/>
                <a:tab pos="1970166" algn="l"/>
                <a:tab pos="2626888" algn="l"/>
                <a:tab pos="3283610" algn="l"/>
                <a:tab pos="3940332" algn="l"/>
                <a:tab pos="4597055" algn="l"/>
                <a:tab pos="5253777" algn="l"/>
                <a:tab pos="5910499" algn="l"/>
                <a:tab pos="6567221" algn="l"/>
                <a:tab pos="7223943" algn="l"/>
              </a:tabLst>
            </a:pPr>
            <a:r>
              <a:rPr lang="en-GB" altLang="ar-EG" sz="4800">
                <a:solidFill>
                  <a:schemeClr val="bg1"/>
                </a:solidFill>
              </a:rPr>
              <a:t>HMMs for ASR</a:t>
            </a:r>
          </a:p>
        </p:txBody>
      </p:sp>
      <p:graphicFrame>
        <p:nvGraphicFramePr>
          <p:cNvPr id="32773" name="Rectangle 2">
            <a:extLst>
              <a:ext uri="{FF2B5EF4-FFF2-40B4-BE49-F238E27FC236}">
                <a16:creationId xmlns:a16="http://schemas.microsoft.com/office/drawing/2014/main" id="{B54325D1-4E4F-CF16-B102-80E1E61FA57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77615697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636</TotalTime>
  <Words>715</Words>
  <Application>Microsoft Office PowerPoint</Application>
  <PresentationFormat>Widescreen</PresentationFormat>
  <Paragraphs>112</Paragraphs>
  <Slides>57</Slides>
  <Notes>9</Notes>
  <HiddenSlides>1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57</vt:i4>
      </vt:variant>
    </vt:vector>
  </HeadingPairs>
  <TitlesOfParts>
    <vt:vector size="67" baseType="lpstr">
      <vt:lpstr>Aptos</vt:lpstr>
      <vt:lpstr>Aptos Display</vt:lpstr>
      <vt:lpstr>Arial</vt:lpstr>
      <vt:lpstr>Calibri</vt:lpstr>
      <vt:lpstr>Google Sans</vt:lpstr>
      <vt:lpstr>Symbol</vt:lpstr>
      <vt:lpstr>Times New Roman</vt:lpstr>
      <vt:lpstr>Wingdings</vt:lpstr>
      <vt:lpstr>Office Theme</vt:lpstr>
      <vt:lpstr>Photo Editor Photo</vt:lpstr>
      <vt:lpstr>Speech Recognition</vt:lpstr>
      <vt:lpstr>Outlines</vt:lpstr>
      <vt:lpstr>Sound Waves</vt:lpstr>
      <vt:lpstr>PowerPoint Presentation</vt:lpstr>
      <vt:lpstr>PowerPoint Presentation</vt:lpstr>
      <vt:lpstr>PowerPoint Presentation</vt:lpstr>
      <vt:lpstr>Sound, Audio, Music, Speech</vt:lpstr>
      <vt:lpstr>PowerPoint Presentation</vt:lpstr>
      <vt:lpstr>Speech Components</vt:lpstr>
      <vt:lpstr>Difference between image processing &amp; analysis</vt:lpstr>
      <vt:lpstr>Difficulties of speech recognition</vt:lpstr>
      <vt:lpstr>1. Environmental Interference</vt:lpstr>
      <vt:lpstr>2. Linguistic Complexity</vt:lpstr>
      <vt:lpstr>3. Speaker Diversity and Atypical Speech</vt:lpstr>
      <vt:lpstr>Light and the Electromagnetic Spectrum</vt:lpstr>
      <vt:lpstr>Speech Acquisition</vt:lpstr>
      <vt:lpstr>Sampling</vt:lpstr>
      <vt:lpstr>Sampling &amp; Quantization</vt:lpstr>
      <vt:lpstr>Image acquisition: camera </vt:lpstr>
      <vt:lpstr>Digital Sampling</vt:lpstr>
      <vt:lpstr>PowerPoint Presentation</vt:lpstr>
      <vt:lpstr>Speech Visualization</vt:lpstr>
      <vt:lpstr>Features</vt:lpstr>
      <vt:lpstr>Zero-crossing</vt:lpstr>
      <vt:lpstr>Energy &amp; Power</vt:lpstr>
      <vt:lpstr>Fourier Descriptors</vt:lpstr>
      <vt:lpstr>PowerPoint Presentation</vt:lpstr>
      <vt:lpstr>Rectangle Windowing</vt:lpstr>
      <vt:lpstr>Triangular Weighting</vt:lpstr>
      <vt:lpstr>Hanning Weighting</vt:lpstr>
      <vt:lpstr>Hamming Weighting</vt:lpstr>
      <vt:lpstr>Non Overlapped Windowing</vt:lpstr>
      <vt:lpstr>Overlapped Windowing</vt:lpstr>
      <vt:lpstr>Speech Production</vt:lpstr>
      <vt:lpstr>Speech Production</vt:lpstr>
      <vt:lpstr>Formant Computation</vt:lpstr>
      <vt:lpstr>Cylindrical Vocal Tract Model</vt:lpstr>
      <vt:lpstr>Formant Frequencies</vt:lpstr>
      <vt:lpstr>The Feature Space</vt:lpstr>
      <vt:lpstr>PowerPoint Presentation</vt:lpstr>
      <vt:lpstr>Formant Estimation</vt:lpstr>
      <vt:lpstr>Cepstrum</vt:lpstr>
      <vt:lpstr>Step-by-Step Computational Process</vt:lpstr>
      <vt:lpstr>The Cepstrum</vt:lpstr>
      <vt:lpstr>PowerPoint Presentation</vt:lpstr>
      <vt:lpstr>Mel-frequency cepstral coefficients (MFCC)</vt:lpstr>
      <vt:lpstr>Linear Predictive Coding LPC</vt:lpstr>
      <vt:lpstr>The System Models</vt:lpstr>
      <vt:lpstr>The error e(n)</vt:lpstr>
      <vt:lpstr>Autocorrelation Method</vt:lpstr>
      <vt:lpstr>Covariance Method</vt:lpstr>
      <vt:lpstr>Vector Quantization VQ</vt:lpstr>
      <vt:lpstr>The basic block diagram</vt:lpstr>
      <vt:lpstr>The extended block diagram</vt:lpstr>
      <vt:lpstr>Speech Recognition</vt:lpstr>
      <vt:lpstr>Hidden Markov Model</vt:lpstr>
      <vt:lpstr>HMMs for ASR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Alaa Hamdy</dc:creator>
  <cp:lastModifiedBy>Alaa Hamdy</cp:lastModifiedBy>
  <cp:revision>59</cp:revision>
  <dcterms:created xsi:type="dcterms:W3CDTF">2026-07-26T16:53:20Z</dcterms:created>
  <dcterms:modified xsi:type="dcterms:W3CDTF">2026-07-27T05:14:07Z</dcterms:modified>
</cp:coreProperties>
</file>