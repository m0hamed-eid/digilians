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91" r:id="rId7"/>
    <p:sldId id="258" r:id="rId8"/>
    <p:sldId id="303" r:id="rId9"/>
    <p:sldId id="301" r:id="rId10"/>
    <p:sldId id="316" r:id="rId11"/>
    <p:sldId id="292" r:id="rId12"/>
    <p:sldId id="288" r:id="rId13"/>
    <p:sldId id="302" r:id="rId14"/>
    <p:sldId id="304" r:id="rId15"/>
    <p:sldId id="300" r:id="rId16"/>
    <p:sldId id="287" r:id="rId17"/>
    <p:sldId id="305" r:id="rId18"/>
    <p:sldId id="295" r:id="rId19"/>
    <p:sldId id="306" r:id="rId20"/>
    <p:sldId id="307" r:id="rId21"/>
    <p:sldId id="308" r:id="rId22"/>
    <p:sldId id="309" r:id="rId23"/>
    <p:sldId id="317" r:id="rId24"/>
    <p:sldId id="310" r:id="rId25"/>
    <p:sldId id="311" r:id="rId26"/>
    <p:sldId id="318" r:id="rId27"/>
    <p:sldId id="312" r:id="rId28"/>
    <p:sldId id="313" r:id="rId29"/>
    <p:sldId id="314" r:id="rId30"/>
    <p:sldId id="298" r:id="rId31"/>
    <p:sldId id="27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0655" autoAdjust="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261C-3EEB-9439-330A-4A2D92F7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3924B-AE9F-D211-D9B3-37E369010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10E5E-E7CA-8810-4BF8-76A0631F7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19950-BE6E-850A-0890-C6DDD25E4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96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9269A-78EC-6E08-7421-E7436E8C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23775-B594-DE8E-6631-E93E03FCB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10136-28F4-6496-398D-928EC76FE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77590-88DB-8429-DD8C-F9AD8FEB2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794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13EC4-BA63-E0F2-E061-B6D7C3D7B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81153-6E5E-6BF2-4774-65A9BC792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F52B1-ED48-D095-172A-D6869969F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9F81E-FF79-E9B0-AC35-0BE6EAE34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671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1562B-AD49-A6BE-93E5-999B45E5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81E32-41C7-0775-86F5-68F962697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C655A-E436-97D1-8915-ADD438A66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A89EF-84C0-986E-8135-1FCE233C5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907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1562B-AD49-A6BE-93E5-999B45E5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81E32-41C7-0775-86F5-68F962697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C655A-E436-97D1-8915-ADD438A66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A89EF-84C0-986E-8135-1FCE233C5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757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1562B-AD49-A6BE-93E5-999B45E5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81E32-41C7-0775-86F5-68F962697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C655A-E436-97D1-8915-ADD438A66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A89EF-84C0-986E-8135-1FCE233C5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288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emf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pPr fontAlgn="base"/>
            <a:r>
              <a:rPr lang="en-US" b="1" dirty="0"/>
              <a:t>HMM Details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674013"/>
            <a:ext cx="3407833" cy="32695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HMM Basics</a:t>
            </a:r>
          </a:p>
          <a:p>
            <a:r>
              <a:rPr lang="en-US" dirty="0"/>
              <a:t>Types of HMM</a:t>
            </a:r>
          </a:p>
          <a:p>
            <a:r>
              <a:rPr lang="en-US" dirty="0"/>
              <a:t>Three fundamental problems</a:t>
            </a:r>
          </a:p>
          <a:p>
            <a:r>
              <a:rPr lang="en-US" dirty="0"/>
              <a:t>Solution to Problem 1 (Testing)</a:t>
            </a:r>
          </a:p>
          <a:p>
            <a:r>
              <a:rPr lang="en-US" dirty="0"/>
              <a:t>Solution to Problem 2</a:t>
            </a:r>
          </a:p>
          <a:p>
            <a:r>
              <a:rPr lang="en-US" dirty="0"/>
              <a:t>Solution to Problem 3 (Training)</a:t>
            </a:r>
          </a:p>
          <a:p>
            <a:r>
              <a:rPr lang="en-US" dirty="0"/>
              <a:t>Speech Recognition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D4D1-FB4A-7587-8FDD-BB1868797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7232-C9F2-800A-F46F-9CBD21B4B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602552" cy="3457971"/>
          </a:xfrm>
        </p:spPr>
        <p:txBody>
          <a:bodyPr/>
          <a:lstStyle/>
          <a:p>
            <a:r>
              <a:rPr lang="en-US" dirty="0"/>
              <a:t>HMM Basics</a:t>
            </a:r>
          </a:p>
        </p:txBody>
      </p:sp>
    </p:spTree>
    <p:extLst>
      <p:ext uri="{BB962C8B-B14F-4D97-AF65-F5344CB8AC3E}">
        <p14:creationId xmlns:p14="http://schemas.microsoft.com/office/powerpoint/2010/main" val="142870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04" y="155574"/>
            <a:ext cx="7288282" cy="2121177"/>
          </a:xfrm>
        </p:spPr>
        <p:txBody>
          <a:bodyPr/>
          <a:lstStyle/>
          <a:p>
            <a:r>
              <a:rPr lang="en-US" dirty="0"/>
              <a:t>State Transition Matrix (A)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1D2E28-8A6A-4DC8-9DBB-EBE5879D0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193" y="807695"/>
            <a:ext cx="5934903" cy="4896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8EACEE-335B-4135-B22F-362024BCD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69" y="2895526"/>
            <a:ext cx="5068007" cy="533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CE300D-0982-48BE-A618-1D451AB11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87" y="4686858"/>
            <a:ext cx="2510118" cy="85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9122-D21C-48F4-8A42-37B96EE9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process (3 Coins)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61EE9-13C0-4E9D-817C-B50C0026D8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ECFB1-CC1F-4539-AB2F-6733442F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49DB5E-FAA8-4712-BBBF-60F8A52D0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374" y="2370136"/>
            <a:ext cx="80667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3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49259-5C51-7D1D-97E3-4D326655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9E588-D756-BB56-6E1E-05539823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3DDDC2-8B95-4343-B51C-4575131A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36" y="686980"/>
            <a:ext cx="8621328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35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49259-5C51-7D1D-97E3-4D326655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9E588-D756-BB56-6E1E-05539823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5776E-D580-43BE-8780-0EBAD25AB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874" y="2556934"/>
            <a:ext cx="1619476" cy="12860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1558B2-51BA-4A91-B246-1C13B565D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029" y="2556934"/>
            <a:ext cx="2781688" cy="108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EF1497-C0F1-45CD-8763-095253939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39" y="2161841"/>
            <a:ext cx="365811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61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54468-163F-E7D2-AEB1-355E82723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67C6-68D2-4797-DCAB-3038D462C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pPr lvl="1"/>
            <a:r>
              <a:rPr lang="en-US" b="1" dirty="0">
                <a:solidFill>
                  <a:schemeClr val="bg1"/>
                </a:solidFill>
              </a:rPr>
              <a:t>Types of HMM</a:t>
            </a:r>
          </a:p>
        </p:txBody>
      </p:sp>
    </p:spTree>
    <p:extLst>
      <p:ext uri="{BB962C8B-B14F-4D97-AF65-F5344CB8AC3E}">
        <p14:creationId xmlns:p14="http://schemas.microsoft.com/office/powerpoint/2010/main" val="1025790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1C37D-2618-ECB0-2E99-9A8BEE09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35F2-1AEE-EF76-97A4-F2591FC5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1"/>
            <a:r>
              <a:rPr lang="en-US" b="1" dirty="0"/>
              <a:t>Types of HMM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BB347-21BB-A811-DA8A-951E2A23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FBF3D0-4733-4EE7-85A9-A68469763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463" y="0"/>
            <a:ext cx="516553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AA1D77-7ABC-4DFB-8E34-EE1D137ED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669" y="99045"/>
            <a:ext cx="3048425" cy="1829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014B8-C53A-4EB0-A7D4-B85ECAB84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747" y="2097415"/>
            <a:ext cx="2810267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47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161F5-6B9E-C364-B6B2-657C9E19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EBDE6-D0CA-4615-BB9C-55820686E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59" y="147179"/>
            <a:ext cx="5963482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57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8631-9BBA-4B0B-8DFD-F6677CB5B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0C90-CE8F-46A2-B765-01FEE7BB76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12D2D-BCD1-4150-A886-276D6E31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32F85-1A48-4269-B412-415C81732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74" y="1561839"/>
            <a:ext cx="6277851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49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2326-DB64-FDDE-2912-EC0CCC86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05AC6-43C0-B82F-64F5-1EAD06CE9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pPr marL="0" lvl="1" indent="0">
              <a:buNone/>
            </a:pPr>
            <a:r>
              <a:rPr lang="en-US" dirty="0">
                <a:solidFill>
                  <a:schemeClr val="bg1"/>
                </a:solidFill>
              </a:rPr>
              <a:t>Three fundamental problems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513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8CA14-A995-CF02-1438-90079AED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7E6E-0692-F7EE-34DF-6879521C3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fundamental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E9190-B5AB-5FE9-C48C-833EC5B9A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729B1-E5E5-427B-981A-85442D160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18" y="3429000"/>
            <a:ext cx="8335538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4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EA7D-BE1A-4CB2-9BC2-B94898C3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fundamental</a:t>
            </a:r>
            <a:br>
              <a:rPr lang="en-US" dirty="0"/>
            </a:br>
            <a:r>
              <a:rPr lang="en-US" dirty="0"/>
              <a:t>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A2FE2-0553-463B-ACF6-1B3AA478E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FBDA1-00B0-442A-A0CC-1FC2EB675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224" y="775917"/>
            <a:ext cx="6182588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98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3A828-6B52-50E5-3CD8-7A30902A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3727-0C1B-81D5-5568-ACC21C466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pPr fontAlgn="base"/>
            <a:r>
              <a:rPr lang="en-US" dirty="0"/>
              <a:t>Solution to Problem 1</a:t>
            </a:r>
          </a:p>
        </p:txBody>
      </p:sp>
    </p:spTree>
    <p:extLst>
      <p:ext uri="{BB962C8B-B14F-4D97-AF65-F5344CB8AC3E}">
        <p14:creationId xmlns:p14="http://schemas.microsoft.com/office/powerpoint/2010/main" val="3017265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DA396-3B8D-480D-9F5B-A0818324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A8868B-D735-4227-BB99-D7DB57B549F9}"/>
              </a:ext>
            </a:extLst>
          </p:cNvPr>
          <p:cNvSpPr txBox="1">
            <a:spLocks/>
          </p:cNvSpPr>
          <p:nvPr/>
        </p:nvSpPr>
        <p:spPr>
          <a:xfrm>
            <a:off x="838199" y="3546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 to Problem 1: Exhaustive search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CDE4627D-5399-4B4C-977C-116AF50C2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232" y="2851686"/>
            <a:ext cx="5801535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73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897D3-EB09-4452-A4D9-0E8626FF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8CE90-F9EA-44D8-AB0F-0779094F026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Forward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B8375-FFBA-4CD8-8938-EF15CB11E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024" y="766391"/>
            <a:ext cx="6115904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3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2B9EB-A64F-40F0-8113-2EED5D45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960B62A-4983-4678-9098-31C4E18D54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Forward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A4B172-C421-4370-B9D7-4FDE38CC0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57" y="0"/>
            <a:ext cx="5197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41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49E7F-999F-4F5D-845B-FBBC53E9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1808CA8-5FC4-418F-BC37-76BDFF057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Backward Algorithm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BA928A81-940B-4DBD-8B67-8C7069F9D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740" y="1895975"/>
            <a:ext cx="5468113" cy="4048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4325C-0CB7-49D1-965D-4C64E8E37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47" y="1976949"/>
            <a:ext cx="582058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91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3A828-6B52-50E5-3CD8-7A30902A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3727-0C1B-81D5-5568-ACC21C466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pPr fontAlgn="base"/>
            <a:r>
              <a:rPr lang="en-US" dirty="0"/>
              <a:t>Solution to Problem 2</a:t>
            </a:r>
          </a:p>
        </p:txBody>
      </p:sp>
    </p:spTree>
    <p:extLst>
      <p:ext uri="{BB962C8B-B14F-4D97-AF65-F5344CB8AC3E}">
        <p14:creationId xmlns:p14="http://schemas.microsoft.com/office/powerpoint/2010/main" val="2941483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2CA80-8113-455A-A575-00E52D3E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851B3C-E7DD-44AA-BEA7-7C5F384FF1F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Solution to Problem 2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EB40391-BABA-4FA2-ABFD-0D52E78F7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811" y="2762871"/>
            <a:ext cx="574437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32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E5869-F8DC-4049-8A02-E822DB7D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CBCDB1-2DCC-439B-8CFF-D5778B31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Viterbi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D34EE5-DBCB-4C68-8A12-D2DF08B9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476" y="365902"/>
            <a:ext cx="5544324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61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3A828-6B52-50E5-3CD8-7A30902A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3727-0C1B-81D5-5568-ACC21C466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pPr fontAlgn="base"/>
            <a:r>
              <a:rPr lang="en-US" dirty="0"/>
              <a:t>Solution to Problem 3</a:t>
            </a:r>
          </a:p>
        </p:txBody>
      </p:sp>
    </p:spTree>
    <p:extLst>
      <p:ext uri="{BB962C8B-B14F-4D97-AF65-F5344CB8AC3E}">
        <p14:creationId xmlns:p14="http://schemas.microsoft.com/office/powerpoint/2010/main" val="1607235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55064-3ECD-4C91-BF8E-86C90C7F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F83B83-5038-4C34-A690-F6C09D0D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Solution to Problem 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3D2E51-591F-48D3-80BB-437B88BDC11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Expectation Maximization (EM)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FEF71-7F63-41C1-81D4-384938EB0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14" y="2987731"/>
            <a:ext cx="4049359" cy="11539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B9B94F-7305-4236-A572-9EDC9FB63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734" y="1530841"/>
            <a:ext cx="2286319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08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A8550-FCB7-4C8D-BD8E-AF25AB84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2BCB40D-4EB3-4391-9961-733010B7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Solution to Problem 3</a:t>
            </a: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B565D3CD-0DF4-43E4-B22B-EA88F9667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69" y="1683662"/>
            <a:ext cx="5263295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B85703-8DFC-4E8C-B326-89D6F70C1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153" y="2899710"/>
            <a:ext cx="4334480" cy="16861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252DDB9-2A55-450D-B5D7-A086C2E81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133" y="5069225"/>
            <a:ext cx="3638618" cy="105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88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9FC89-6907-4489-ADA6-EA429EA87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F8B35A-41C7-4C57-A1D5-B0D114498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35"/>
            <a:ext cx="12192000" cy="678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07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FFC7-07AA-E9E3-9920-7F9EC8E2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7" y="268360"/>
            <a:ext cx="7959705" cy="2121177"/>
          </a:xfrm>
        </p:spPr>
        <p:txBody>
          <a:bodyPr/>
          <a:lstStyle/>
          <a:p>
            <a:r>
              <a:rPr lang="en-US" dirty="0"/>
              <a:t>Testing of Speech Recognition system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6CD4E-AB57-DC4E-A578-CDF7867A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1F3339-4D08-4C8F-AC33-394E82F70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903" y="1924297"/>
            <a:ext cx="8216342" cy="443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20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Prof. Alaa Hamdy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{27E7E442-30FA-48EF-B254-7F9B2D2A7985}TF7521aafa-c748-4c40-a498-ba511be234dc5b1b6097_win32-5039330bb2f3</Template>
  <TotalTime>317</TotalTime>
  <Words>150</Words>
  <Application>Microsoft Office PowerPoint</Application>
  <PresentationFormat>Widescreen</PresentationFormat>
  <Paragraphs>63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Tenorite</vt:lpstr>
      <vt:lpstr>Custom</vt:lpstr>
      <vt:lpstr>HMM Details</vt:lpstr>
      <vt:lpstr>AGENDA</vt:lpstr>
      <vt:lpstr>HMM Basics</vt:lpstr>
      <vt:lpstr>State Transition Matrix (A)</vt:lpstr>
      <vt:lpstr>Hidden process (3 Coins)</vt:lpstr>
      <vt:lpstr>PowerPoint Presentation</vt:lpstr>
      <vt:lpstr>PowerPoint Presentation</vt:lpstr>
      <vt:lpstr>Types of HMM</vt:lpstr>
      <vt:lpstr>Types of HMM</vt:lpstr>
      <vt:lpstr>PowerPoint Presentation</vt:lpstr>
      <vt:lpstr>PowerPoint Presentation</vt:lpstr>
      <vt:lpstr>Three fundamental problems</vt:lpstr>
      <vt:lpstr>Three fundamental problems</vt:lpstr>
      <vt:lpstr>Three fundamental  problems</vt:lpstr>
      <vt:lpstr>Solution to Problem 1</vt:lpstr>
      <vt:lpstr>PowerPoint Presentation</vt:lpstr>
      <vt:lpstr>PowerPoint Presentation</vt:lpstr>
      <vt:lpstr>PowerPoint Presentation</vt:lpstr>
      <vt:lpstr>Backward Algorithm</vt:lpstr>
      <vt:lpstr>Solution to Problem 2</vt:lpstr>
      <vt:lpstr>PowerPoint Presentation</vt:lpstr>
      <vt:lpstr>Viterbi Algorithm</vt:lpstr>
      <vt:lpstr>Solution to Problem 3</vt:lpstr>
      <vt:lpstr>Solution to Problem 3</vt:lpstr>
      <vt:lpstr>Solution to Problem 3</vt:lpstr>
      <vt:lpstr>PowerPoint Presentation</vt:lpstr>
      <vt:lpstr>Testing of Speech Recognition system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HMM Details</dc:title>
  <dc:creator>Alaa Mahmoud</dc:creator>
  <cp:lastModifiedBy>Admin</cp:lastModifiedBy>
  <cp:revision>75</cp:revision>
  <dcterms:created xsi:type="dcterms:W3CDTF">2025-11-02T10:10:06Z</dcterms:created>
  <dcterms:modified xsi:type="dcterms:W3CDTF">2026-06-29T11:49:56Z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