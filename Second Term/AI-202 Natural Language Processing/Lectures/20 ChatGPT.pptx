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74"/>
  </p:notesMasterIdLst>
  <p:handoutMasterIdLst>
    <p:handoutMasterId r:id="rId75"/>
  </p:handoutMasterIdLst>
  <p:sldIdLst>
    <p:sldId id="257" r:id="rId2"/>
    <p:sldId id="259" r:id="rId3"/>
    <p:sldId id="330" r:id="rId4"/>
    <p:sldId id="331" r:id="rId5"/>
    <p:sldId id="341" r:id="rId6"/>
    <p:sldId id="342" r:id="rId7"/>
    <p:sldId id="339" r:id="rId8"/>
    <p:sldId id="340" r:id="rId9"/>
    <p:sldId id="332" r:id="rId10"/>
    <p:sldId id="333" r:id="rId11"/>
    <p:sldId id="334" r:id="rId12"/>
    <p:sldId id="335" r:id="rId13"/>
    <p:sldId id="336" r:id="rId14"/>
    <p:sldId id="343" r:id="rId15"/>
    <p:sldId id="337" r:id="rId16"/>
    <p:sldId id="338" r:id="rId17"/>
    <p:sldId id="344" r:id="rId18"/>
    <p:sldId id="351" r:id="rId19"/>
    <p:sldId id="345" r:id="rId20"/>
    <p:sldId id="346" r:id="rId21"/>
    <p:sldId id="347" r:id="rId22"/>
    <p:sldId id="349" r:id="rId23"/>
    <p:sldId id="350" r:id="rId24"/>
    <p:sldId id="352" r:id="rId25"/>
    <p:sldId id="353" r:id="rId26"/>
    <p:sldId id="354" r:id="rId27"/>
    <p:sldId id="355" r:id="rId28"/>
    <p:sldId id="356" r:id="rId29"/>
    <p:sldId id="357" r:id="rId30"/>
    <p:sldId id="358" r:id="rId31"/>
    <p:sldId id="379" r:id="rId32"/>
    <p:sldId id="361" r:id="rId33"/>
    <p:sldId id="359" r:id="rId34"/>
    <p:sldId id="363" r:id="rId35"/>
    <p:sldId id="364" r:id="rId36"/>
    <p:sldId id="367" r:id="rId37"/>
    <p:sldId id="368" r:id="rId38"/>
    <p:sldId id="370" r:id="rId39"/>
    <p:sldId id="371" r:id="rId40"/>
    <p:sldId id="372" r:id="rId41"/>
    <p:sldId id="360" r:id="rId42"/>
    <p:sldId id="365" r:id="rId43"/>
    <p:sldId id="366" r:id="rId44"/>
    <p:sldId id="373" r:id="rId45"/>
    <p:sldId id="374" r:id="rId46"/>
    <p:sldId id="375" r:id="rId47"/>
    <p:sldId id="376" r:id="rId48"/>
    <p:sldId id="377" r:id="rId49"/>
    <p:sldId id="378" r:id="rId50"/>
    <p:sldId id="380" r:id="rId51"/>
    <p:sldId id="381" r:id="rId52"/>
    <p:sldId id="382" r:id="rId53"/>
    <p:sldId id="383" r:id="rId54"/>
    <p:sldId id="384" r:id="rId55"/>
    <p:sldId id="385" r:id="rId56"/>
    <p:sldId id="386" r:id="rId57"/>
    <p:sldId id="387" r:id="rId58"/>
    <p:sldId id="388" r:id="rId59"/>
    <p:sldId id="389" r:id="rId60"/>
    <p:sldId id="390" r:id="rId61"/>
    <p:sldId id="391" r:id="rId62"/>
    <p:sldId id="392" r:id="rId63"/>
    <p:sldId id="393" r:id="rId64"/>
    <p:sldId id="394" r:id="rId65"/>
    <p:sldId id="395" r:id="rId66"/>
    <p:sldId id="369" r:id="rId67"/>
    <p:sldId id="396" r:id="rId68"/>
    <p:sldId id="397" r:id="rId69"/>
    <p:sldId id="398" r:id="rId70"/>
    <p:sldId id="399" r:id="rId71"/>
    <p:sldId id="400" r:id="rId72"/>
    <p:sldId id="272" r:id="rId7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1095" autoAdjust="0"/>
  </p:normalViewPr>
  <p:slideViewPr>
    <p:cSldViewPr showGuides="1">
      <p:cViewPr varScale="1">
        <p:scale>
          <a:sx n="65" d="100"/>
          <a:sy n="65" d="100"/>
        </p:scale>
        <p:origin x="930" y="78"/>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5/8/2023</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5/8/2023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a:t>
            </a:fld>
            <a:endParaRPr lang="en-US"/>
          </a:p>
        </p:txBody>
      </p:sp>
    </p:spTree>
    <p:extLst>
      <p:ext uri="{BB962C8B-B14F-4D97-AF65-F5344CB8AC3E}">
        <p14:creationId xmlns:p14="http://schemas.microsoft.com/office/powerpoint/2010/main" val="2463617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a:t>
            </a:fld>
            <a:endParaRPr lang="en-US"/>
          </a:p>
        </p:txBody>
      </p:sp>
    </p:spTree>
    <p:extLst>
      <p:ext uri="{BB962C8B-B14F-4D97-AF65-F5344CB8AC3E}">
        <p14:creationId xmlns:p14="http://schemas.microsoft.com/office/powerpoint/2010/main" val="512991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a:t>
            </a:fld>
            <a:endParaRPr lang="en-US"/>
          </a:p>
        </p:txBody>
      </p:sp>
    </p:spTree>
    <p:extLst>
      <p:ext uri="{BB962C8B-B14F-4D97-AF65-F5344CB8AC3E}">
        <p14:creationId xmlns:p14="http://schemas.microsoft.com/office/powerpoint/2010/main" val="192528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a:t>
            </a:fld>
            <a:endParaRPr lang="en-US"/>
          </a:p>
        </p:txBody>
      </p:sp>
    </p:spTree>
    <p:extLst>
      <p:ext uri="{BB962C8B-B14F-4D97-AF65-F5344CB8AC3E}">
        <p14:creationId xmlns:p14="http://schemas.microsoft.com/office/powerpoint/2010/main" val="16457558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7</a:t>
            </a:fld>
            <a:endParaRPr lang="en-US"/>
          </a:p>
        </p:txBody>
      </p:sp>
    </p:spTree>
    <p:extLst>
      <p:ext uri="{BB962C8B-B14F-4D97-AF65-F5344CB8AC3E}">
        <p14:creationId xmlns:p14="http://schemas.microsoft.com/office/powerpoint/2010/main" val="2206134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8</a:t>
            </a:fld>
            <a:endParaRPr lang="en-US"/>
          </a:p>
        </p:txBody>
      </p:sp>
    </p:spTree>
    <p:extLst>
      <p:ext uri="{BB962C8B-B14F-4D97-AF65-F5344CB8AC3E}">
        <p14:creationId xmlns:p14="http://schemas.microsoft.com/office/powerpoint/2010/main" val="378077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9</a:t>
            </a:fld>
            <a:endParaRPr lang="en-US"/>
          </a:p>
        </p:txBody>
      </p:sp>
    </p:spTree>
    <p:extLst>
      <p:ext uri="{BB962C8B-B14F-4D97-AF65-F5344CB8AC3E}">
        <p14:creationId xmlns:p14="http://schemas.microsoft.com/office/powerpoint/2010/main" val="2534288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10</a:t>
            </a:fld>
            <a:endParaRPr lang="en-US"/>
          </a:p>
        </p:txBody>
      </p:sp>
    </p:spTree>
    <p:extLst>
      <p:ext uri="{BB962C8B-B14F-4D97-AF65-F5344CB8AC3E}">
        <p14:creationId xmlns:p14="http://schemas.microsoft.com/office/powerpoint/2010/main" val="6464202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11</a:t>
            </a:fld>
            <a:endParaRPr lang="en-US"/>
          </a:p>
        </p:txBody>
      </p:sp>
    </p:spTree>
    <p:extLst>
      <p:ext uri="{BB962C8B-B14F-4D97-AF65-F5344CB8AC3E}">
        <p14:creationId xmlns:p14="http://schemas.microsoft.com/office/powerpoint/2010/main" val="3701093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12</a:t>
            </a:fld>
            <a:endParaRPr lang="en-US"/>
          </a:p>
        </p:txBody>
      </p:sp>
    </p:spTree>
    <p:extLst>
      <p:ext uri="{BB962C8B-B14F-4D97-AF65-F5344CB8AC3E}">
        <p14:creationId xmlns:p14="http://schemas.microsoft.com/office/powerpoint/2010/main" val="3772888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13</a:t>
            </a:fld>
            <a:endParaRPr lang="en-US"/>
          </a:p>
        </p:txBody>
      </p:sp>
    </p:spTree>
    <p:extLst>
      <p:ext uri="{BB962C8B-B14F-4D97-AF65-F5344CB8AC3E}">
        <p14:creationId xmlns:p14="http://schemas.microsoft.com/office/powerpoint/2010/main" val="15193685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14</a:t>
            </a:fld>
            <a:endParaRPr lang="en-US"/>
          </a:p>
        </p:txBody>
      </p:sp>
    </p:spTree>
    <p:extLst>
      <p:ext uri="{BB962C8B-B14F-4D97-AF65-F5344CB8AC3E}">
        <p14:creationId xmlns:p14="http://schemas.microsoft.com/office/powerpoint/2010/main" val="757238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15</a:t>
            </a:fld>
            <a:endParaRPr lang="en-US"/>
          </a:p>
        </p:txBody>
      </p:sp>
    </p:spTree>
    <p:extLst>
      <p:ext uri="{BB962C8B-B14F-4D97-AF65-F5344CB8AC3E}">
        <p14:creationId xmlns:p14="http://schemas.microsoft.com/office/powerpoint/2010/main" val="1702561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16</a:t>
            </a:fld>
            <a:endParaRPr lang="en-US"/>
          </a:p>
        </p:txBody>
      </p:sp>
    </p:spTree>
    <p:extLst>
      <p:ext uri="{BB962C8B-B14F-4D97-AF65-F5344CB8AC3E}">
        <p14:creationId xmlns:p14="http://schemas.microsoft.com/office/powerpoint/2010/main" val="76366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17</a:t>
            </a:fld>
            <a:endParaRPr lang="en-US"/>
          </a:p>
        </p:txBody>
      </p:sp>
    </p:spTree>
    <p:extLst>
      <p:ext uri="{BB962C8B-B14F-4D97-AF65-F5344CB8AC3E}">
        <p14:creationId xmlns:p14="http://schemas.microsoft.com/office/powerpoint/2010/main" val="2797808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18</a:t>
            </a:fld>
            <a:endParaRPr lang="en-US"/>
          </a:p>
        </p:txBody>
      </p:sp>
    </p:spTree>
    <p:extLst>
      <p:ext uri="{BB962C8B-B14F-4D97-AF65-F5344CB8AC3E}">
        <p14:creationId xmlns:p14="http://schemas.microsoft.com/office/powerpoint/2010/main" val="2875251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19</a:t>
            </a:fld>
            <a:endParaRPr lang="en-US"/>
          </a:p>
        </p:txBody>
      </p:sp>
    </p:spTree>
    <p:extLst>
      <p:ext uri="{BB962C8B-B14F-4D97-AF65-F5344CB8AC3E}">
        <p14:creationId xmlns:p14="http://schemas.microsoft.com/office/powerpoint/2010/main" val="27622130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20</a:t>
            </a:fld>
            <a:endParaRPr lang="en-US"/>
          </a:p>
        </p:txBody>
      </p:sp>
    </p:spTree>
    <p:extLst>
      <p:ext uri="{BB962C8B-B14F-4D97-AF65-F5344CB8AC3E}">
        <p14:creationId xmlns:p14="http://schemas.microsoft.com/office/powerpoint/2010/main" val="7032510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21</a:t>
            </a:fld>
            <a:endParaRPr lang="en-US"/>
          </a:p>
        </p:txBody>
      </p:sp>
    </p:spTree>
    <p:extLst>
      <p:ext uri="{BB962C8B-B14F-4D97-AF65-F5344CB8AC3E}">
        <p14:creationId xmlns:p14="http://schemas.microsoft.com/office/powerpoint/2010/main" val="1615509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22</a:t>
            </a:fld>
            <a:endParaRPr lang="en-US"/>
          </a:p>
        </p:txBody>
      </p:sp>
    </p:spTree>
    <p:extLst>
      <p:ext uri="{BB962C8B-B14F-4D97-AF65-F5344CB8AC3E}">
        <p14:creationId xmlns:p14="http://schemas.microsoft.com/office/powerpoint/2010/main" val="1894529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23</a:t>
            </a:fld>
            <a:endParaRPr lang="en-US"/>
          </a:p>
        </p:txBody>
      </p:sp>
    </p:spTree>
    <p:extLst>
      <p:ext uri="{BB962C8B-B14F-4D97-AF65-F5344CB8AC3E}">
        <p14:creationId xmlns:p14="http://schemas.microsoft.com/office/powerpoint/2010/main" val="22734385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Supervised Fine Tuning (SFT) Model</a:t>
            </a:r>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24</a:t>
            </a:fld>
            <a:endParaRPr lang="en-US"/>
          </a:p>
        </p:txBody>
      </p:sp>
    </p:spTree>
    <p:extLst>
      <p:ext uri="{BB962C8B-B14F-4D97-AF65-F5344CB8AC3E}">
        <p14:creationId xmlns:p14="http://schemas.microsoft.com/office/powerpoint/2010/main" val="3666284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25</a:t>
            </a:fld>
            <a:endParaRPr lang="en-US"/>
          </a:p>
        </p:txBody>
      </p:sp>
    </p:spTree>
    <p:extLst>
      <p:ext uri="{BB962C8B-B14F-4D97-AF65-F5344CB8AC3E}">
        <p14:creationId xmlns:p14="http://schemas.microsoft.com/office/powerpoint/2010/main" val="3987708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26</a:t>
            </a:fld>
            <a:endParaRPr lang="en-US"/>
          </a:p>
        </p:txBody>
      </p:sp>
    </p:spTree>
    <p:extLst>
      <p:ext uri="{BB962C8B-B14F-4D97-AF65-F5344CB8AC3E}">
        <p14:creationId xmlns:p14="http://schemas.microsoft.com/office/powerpoint/2010/main" val="2399690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27</a:t>
            </a:fld>
            <a:endParaRPr lang="en-US"/>
          </a:p>
        </p:txBody>
      </p:sp>
    </p:spTree>
    <p:extLst>
      <p:ext uri="{BB962C8B-B14F-4D97-AF65-F5344CB8AC3E}">
        <p14:creationId xmlns:p14="http://schemas.microsoft.com/office/powerpoint/2010/main" val="2445323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28</a:t>
            </a:fld>
            <a:endParaRPr lang="en-US"/>
          </a:p>
        </p:txBody>
      </p:sp>
    </p:spTree>
    <p:extLst>
      <p:ext uri="{BB962C8B-B14F-4D97-AF65-F5344CB8AC3E}">
        <p14:creationId xmlns:p14="http://schemas.microsoft.com/office/powerpoint/2010/main" val="22313374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29</a:t>
            </a:fld>
            <a:endParaRPr lang="en-US"/>
          </a:p>
        </p:txBody>
      </p:sp>
    </p:spTree>
    <p:extLst>
      <p:ext uri="{BB962C8B-B14F-4D97-AF65-F5344CB8AC3E}">
        <p14:creationId xmlns:p14="http://schemas.microsoft.com/office/powerpoint/2010/main" val="40694786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30</a:t>
            </a:fld>
            <a:endParaRPr lang="en-US"/>
          </a:p>
        </p:txBody>
      </p:sp>
    </p:spTree>
    <p:extLst>
      <p:ext uri="{BB962C8B-B14F-4D97-AF65-F5344CB8AC3E}">
        <p14:creationId xmlns:p14="http://schemas.microsoft.com/office/powerpoint/2010/main" val="28523249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31</a:t>
            </a:fld>
            <a:endParaRPr lang="en-US"/>
          </a:p>
        </p:txBody>
      </p:sp>
    </p:spTree>
    <p:extLst>
      <p:ext uri="{BB962C8B-B14F-4D97-AF65-F5344CB8AC3E}">
        <p14:creationId xmlns:p14="http://schemas.microsoft.com/office/powerpoint/2010/main" val="600552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32</a:t>
            </a:fld>
            <a:endParaRPr lang="en-US"/>
          </a:p>
        </p:txBody>
      </p:sp>
    </p:spTree>
    <p:extLst>
      <p:ext uri="{BB962C8B-B14F-4D97-AF65-F5344CB8AC3E}">
        <p14:creationId xmlns:p14="http://schemas.microsoft.com/office/powerpoint/2010/main" val="4175781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33</a:t>
            </a:fld>
            <a:endParaRPr lang="en-US"/>
          </a:p>
        </p:txBody>
      </p:sp>
    </p:spTree>
    <p:extLst>
      <p:ext uri="{BB962C8B-B14F-4D97-AF65-F5344CB8AC3E}">
        <p14:creationId xmlns:p14="http://schemas.microsoft.com/office/powerpoint/2010/main" val="3108793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34</a:t>
            </a:fld>
            <a:endParaRPr lang="en-US"/>
          </a:p>
        </p:txBody>
      </p:sp>
    </p:spTree>
    <p:extLst>
      <p:ext uri="{BB962C8B-B14F-4D97-AF65-F5344CB8AC3E}">
        <p14:creationId xmlns:p14="http://schemas.microsoft.com/office/powerpoint/2010/main" val="28701948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35</a:t>
            </a:fld>
            <a:endParaRPr lang="en-US"/>
          </a:p>
        </p:txBody>
      </p:sp>
    </p:spTree>
    <p:extLst>
      <p:ext uri="{BB962C8B-B14F-4D97-AF65-F5344CB8AC3E}">
        <p14:creationId xmlns:p14="http://schemas.microsoft.com/office/powerpoint/2010/main" val="2938458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36</a:t>
            </a:fld>
            <a:endParaRPr lang="en-US"/>
          </a:p>
        </p:txBody>
      </p:sp>
    </p:spTree>
    <p:extLst>
      <p:ext uri="{BB962C8B-B14F-4D97-AF65-F5344CB8AC3E}">
        <p14:creationId xmlns:p14="http://schemas.microsoft.com/office/powerpoint/2010/main" val="32528581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37</a:t>
            </a:fld>
            <a:endParaRPr lang="en-US"/>
          </a:p>
        </p:txBody>
      </p:sp>
    </p:spTree>
    <p:extLst>
      <p:ext uri="{BB962C8B-B14F-4D97-AF65-F5344CB8AC3E}">
        <p14:creationId xmlns:p14="http://schemas.microsoft.com/office/powerpoint/2010/main" val="40932847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38</a:t>
            </a:fld>
            <a:endParaRPr lang="en-US"/>
          </a:p>
        </p:txBody>
      </p:sp>
    </p:spTree>
    <p:extLst>
      <p:ext uri="{BB962C8B-B14F-4D97-AF65-F5344CB8AC3E}">
        <p14:creationId xmlns:p14="http://schemas.microsoft.com/office/powerpoint/2010/main" val="3338375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39</a:t>
            </a:fld>
            <a:endParaRPr lang="en-US"/>
          </a:p>
        </p:txBody>
      </p:sp>
    </p:spTree>
    <p:extLst>
      <p:ext uri="{BB962C8B-B14F-4D97-AF65-F5344CB8AC3E}">
        <p14:creationId xmlns:p14="http://schemas.microsoft.com/office/powerpoint/2010/main" val="37669116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40</a:t>
            </a:fld>
            <a:endParaRPr lang="en-US"/>
          </a:p>
        </p:txBody>
      </p:sp>
    </p:spTree>
    <p:extLst>
      <p:ext uri="{BB962C8B-B14F-4D97-AF65-F5344CB8AC3E}">
        <p14:creationId xmlns:p14="http://schemas.microsoft.com/office/powerpoint/2010/main" val="33474234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41</a:t>
            </a:fld>
            <a:endParaRPr lang="en-US"/>
          </a:p>
        </p:txBody>
      </p:sp>
    </p:spTree>
    <p:extLst>
      <p:ext uri="{BB962C8B-B14F-4D97-AF65-F5344CB8AC3E}">
        <p14:creationId xmlns:p14="http://schemas.microsoft.com/office/powerpoint/2010/main" val="28174276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42</a:t>
            </a:fld>
            <a:endParaRPr lang="en-US"/>
          </a:p>
        </p:txBody>
      </p:sp>
    </p:spTree>
    <p:extLst>
      <p:ext uri="{BB962C8B-B14F-4D97-AF65-F5344CB8AC3E}">
        <p14:creationId xmlns:p14="http://schemas.microsoft.com/office/powerpoint/2010/main" val="13211329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43</a:t>
            </a:fld>
            <a:endParaRPr lang="en-US"/>
          </a:p>
        </p:txBody>
      </p:sp>
    </p:spTree>
    <p:extLst>
      <p:ext uri="{BB962C8B-B14F-4D97-AF65-F5344CB8AC3E}">
        <p14:creationId xmlns:p14="http://schemas.microsoft.com/office/powerpoint/2010/main" val="41291593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44</a:t>
            </a:fld>
            <a:endParaRPr lang="en-US"/>
          </a:p>
        </p:txBody>
      </p:sp>
    </p:spTree>
    <p:extLst>
      <p:ext uri="{BB962C8B-B14F-4D97-AF65-F5344CB8AC3E}">
        <p14:creationId xmlns:p14="http://schemas.microsoft.com/office/powerpoint/2010/main" val="23665771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45</a:t>
            </a:fld>
            <a:endParaRPr lang="en-US"/>
          </a:p>
        </p:txBody>
      </p:sp>
    </p:spTree>
    <p:extLst>
      <p:ext uri="{BB962C8B-B14F-4D97-AF65-F5344CB8AC3E}">
        <p14:creationId xmlns:p14="http://schemas.microsoft.com/office/powerpoint/2010/main" val="35266008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46</a:t>
            </a:fld>
            <a:endParaRPr lang="en-US"/>
          </a:p>
        </p:txBody>
      </p:sp>
    </p:spTree>
    <p:extLst>
      <p:ext uri="{BB962C8B-B14F-4D97-AF65-F5344CB8AC3E}">
        <p14:creationId xmlns:p14="http://schemas.microsoft.com/office/powerpoint/2010/main" val="31454702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47</a:t>
            </a:fld>
            <a:endParaRPr lang="en-US"/>
          </a:p>
        </p:txBody>
      </p:sp>
    </p:spTree>
    <p:extLst>
      <p:ext uri="{BB962C8B-B14F-4D97-AF65-F5344CB8AC3E}">
        <p14:creationId xmlns:p14="http://schemas.microsoft.com/office/powerpoint/2010/main" val="22840084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48</a:t>
            </a:fld>
            <a:endParaRPr lang="en-US"/>
          </a:p>
        </p:txBody>
      </p:sp>
    </p:spTree>
    <p:extLst>
      <p:ext uri="{BB962C8B-B14F-4D97-AF65-F5344CB8AC3E}">
        <p14:creationId xmlns:p14="http://schemas.microsoft.com/office/powerpoint/2010/main" val="29789104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49</a:t>
            </a:fld>
            <a:endParaRPr lang="en-US"/>
          </a:p>
        </p:txBody>
      </p:sp>
    </p:spTree>
    <p:extLst>
      <p:ext uri="{BB962C8B-B14F-4D97-AF65-F5344CB8AC3E}">
        <p14:creationId xmlns:p14="http://schemas.microsoft.com/office/powerpoint/2010/main" val="10435212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50</a:t>
            </a:fld>
            <a:endParaRPr lang="en-US"/>
          </a:p>
        </p:txBody>
      </p:sp>
    </p:spTree>
    <p:extLst>
      <p:ext uri="{BB962C8B-B14F-4D97-AF65-F5344CB8AC3E}">
        <p14:creationId xmlns:p14="http://schemas.microsoft.com/office/powerpoint/2010/main" val="30800987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51</a:t>
            </a:fld>
            <a:endParaRPr lang="en-US"/>
          </a:p>
        </p:txBody>
      </p:sp>
    </p:spTree>
    <p:extLst>
      <p:ext uri="{BB962C8B-B14F-4D97-AF65-F5344CB8AC3E}">
        <p14:creationId xmlns:p14="http://schemas.microsoft.com/office/powerpoint/2010/main" val="1023900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52</a:t>
            </a:fld>
            <a:endParaRPr lang="en-US"/>
          </a:p>
        </p:txBody>
      </p:sp>
    </p:spTree>
    <p:extLst>
      <p:ext uri="{BB962C8B-B14F-4D97-AF65-F5344CB8AC3E}">
        <p14:creationId xmlns:p14="http://schemas.microsoft.com/office/powerpoint/2010/main" val="10206050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53</a:t>
            </a:fld>
            <a:endParaRPr lang="en-US"/>
          </a:p>
        </p:txBody>
      </p:sp>
    </p:spTree>
    <p:extLst>
      <p:ext uri="{BB962C8B-B14F-4D97-AF65-F5344CB8AC3E}">
        <p14:creationId xmlns:p14="http://schemas.microsoft.com/office/powerpoint/2010/main" val="30635285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54</a:t>
            </a:fld>
            <a:endParaRPr lang="en-US"/>
          </a:p>
        </p:txBody>
      </p:sp>
    </p:spTree>
    <p:extLst>
      <p:ext uri="{BB962C8B-B14F-4D97-AF65-F5344CB8AC3E}">
        <p14:creationId xmlns:p14="http://schemas.microsoft.com/office/powerpoint/2010/main" val="40363226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55</a:t>
            </a:fld>
            <a:endParaRPr lang="en-US"/>
          </a:p>
        </p:txBody>
      </p:sp>
    </p:spTree>
    <p:extLst>
      <p:ext uri="{BB962C8B-B14F-4D97-AF65-F5344CB8AC3E}">
        <p14:creationId xmlns:p14="http://schemas.microsoft.com/office/powerpoint/2010/main" val="5751569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56</a:t>
            </a:fld>
            <a:endParaRPr lang="en-US"/>
          </a:p>
        </p:txBody>
      </p:sp>
    </p:spTree>
    <p:extLst>
      <p:ext uri="{BB962C8B-B14F-4D97-AF65-F5344CB8AC3E}">
        <p14:creationId xmlns:p14="http://schemas.microsoft.com/office/powerpoint/2010/main" val="21241711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57</a:t>
            </a:fld>
            <a:endParaRPr lang="en-US"/>
          </a:p>
        </p:txBody>
      </p:sp>
    </p:spTree>
    <p:extLst>
      <p:ext uri="{BB962C8B-B14F-4D97-AF65-F5344CB8AC3E}">
        <p14:creationId xmlns:p14="http://schemas.microsoft.com/office/powerpoint/2010/main" val="64578513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58</a:t>
            </a:fld>
            <a:endParaRPr lang="en-US"/>
          </a:p>
        </p:txBody>
      </p:sp>
    </p:spTree>
    <p:extLst>
      <p:ext uri="{BB962C8B-B14F-4D97-AF65-F5344CB8AC3E}">
        <p14:creationId xmlns:p14="http://schemas.microsoft.com/office/powerpoint/2010/main" val="32221096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59</a:t>
            </a:fld>
            <a:endParaRPr lang="en-US"/>
          </a:p>
        </p:txBody>
      </p:sp>
    </p:spTree>
    <p:extLst>
      <p:ext uri="{BB962C8B-B14F-4D97-AF65-F5344CB8AC3E}">
        <p14:creationId xmlns:p14="http://schemas.microsoft.com/office/powerpoint/2010/main" val="33818309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60</a:t>
            </a:fld>
            <a:endParaRPr lang="en-US"/>
          </a:p>
        </p:txBody>
      </p:sp>
    </p:spTree>
    <p:extLst>
      <p:ext uri="{BB962C8B-B14F-4D97-AF65-F5344CB8AC3E}">
        <p14:creationId xmlns:p14="http://schemas.microsoft.com/office/powerpoint/2010/main" val="27682645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61</a:t>
            </a:fld>
            <a:endParaRPr lang="en-US"/>
          </a:p>
        </p:txBody>
      </p:sp>
    </p:spTree>
    <p:extLst>
      <p:ext uri="{BB962C8B-B14F-4D97-AF65-F5344CB8AC3E}">
        <p14:creationId xmlns:p14="http://schemas.microsoft.com/office/powerpoint/2010/main" val="1810924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62</a:t>
            </a:fld>
            <a:endParaRPr lang="en-US"/>
          </a:p>
        </p:txBody>
      </p:sp>
    </p:spTree>
    <p:extLst>
      <p:ext uri="{BB962C8B-B14F-4D97-AF65-F5344CB8AC3E}">
        <p14:creationId xmlns:p14="http://schemas.microsoft.com/office/powerpoint/2010/main" val="199932169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63</a:t>
            </a:fld>
            <a:endParaRPr lang="en-US"/>
          </a:p>
        </p:txBody>
      </p:sp>
    </p:spTree>
    <p:extLst>
      <p:ext uri="{BB962C8B-B14F-4D97-AF65-F5344CB8AC3E}">
        <p14:creationId xmlns:p14="http://schemas.microsoft.com/office/powerpoint/2010/main" val="35748820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64</a:t>
            </a:fld>
            <a:endParaRPr lang="en-US"/>
          </a:p>
        </p:txBody>
      </p:sp>
    </p:spTree>
    <p:extLst>
      <p:ext uri="{BB962C8B-B14F-4D97-AF65-F5344CB8AC3E}">
        <p14:creationId xmlns:p14="http://schemas.microsoft.com/office/powerpoint/2010/main" val="9526808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65</a:t>
            </a:fld>
            <a:endParaRPr lang="en-US"/>
          </a:p>
        </p:txBody>
      </p:sp>
    </p:spTree>
    <p:extLst>
      <p:ext uri="{BB962C8B-B14F-4D97-AF65-F5344CB8AC3E}">
        <p14:creationId xmlns:p14="http://schemas.microsoft.com/office/powerpoint/2010/main" val="24787512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66</a:t>
            </a:fld>
            <a:endParaRPr lang="en-US"/>
          </a:p>
        </p:txBody>
      </p:sp>
    </p:spTree>
    <p:extLst>
      <p:ext uri="{BB962C8B-B14F-4D97-AF65-F5344CB8AC3E}">
        <p14:creationId xmlns:p14="http://schemas.microsoft.com/office/powerpoint/2010/main" val="29779259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67</a:t>
            </a:fld>
            <a:endParaRPr lang="en-US"/>
          </a:p>
        </p:txBody>
      </p:sp>
    </p:spTree>
    <p:extLst>
      <p:ext uri="{BB962C8B-B14F-4D97-AF65-F5344CB8AC3E}">
        <p14:creationId xmlns:p14="http://schemas.microsoft.com/office/powerpoint/2010/main" val="10623764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68</a:t>
            </a:fld>
            <a:endParaRPr lang="en-US"/>
          </a:p>
        </p:txBody>
      </p:sp>
    </p:spTree>
    <p:extLst>
      <p:ext uri="{BB962C8B-B14F-4D97-AF65-F5344CB8AC3E}">
        <p14:creationId xmlns:p14="http://schemas.microsoft.com/office/powerpoint/2010/main" val="854538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69</a:t>
            </a:fld>
            <a:endParaRPr lang="en-US"/>
          </a:p>
        </p:txBody>
      </p:sp>
    </p:spTree>
    <p:extLst>
      <p:ext uri="{BB962C8B-B14F-4D97-AF65-F5344CB8AC3E}">
        <p14:creationId xmlns:p14="http://schemas.microsoft.com/office/powerpoint/2010/main" val="30944768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70</a:t>
            </a:fld>
            <a:endParaRPr lang="en-US"/>
          </a:p>
        </p:txBody>
      </p:sp>
    </p:spTree>
    <p:extLst>
      <p:ext uri="{BB962C8B-B14F-4D97-AF65-F5344CB8AC3E}">
        <p14:creationId xmlns:p14="http://schemas.microsoft.com/office/powerpoint/2010/main" val="14534399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796F01-7154-41E0-B48B-A6921757531A}" type="slidenum">
              <a:rPr lang="en-US" smtClean="0"/>
              <a:pPr/>
              <a:t>71</a:t>
            </a:fld>
            <a:endParaRPr lang="en-US"/>
          </a:p>
        </p:txBody>
      </p:sp>
    </p:spTree>
    <p:extLst>
      <p:ext uri="{BB962C8B-B14F-4D97-AF65-F5344CB8AC3E}">
        <p14:creationId xmlns:p14="http://schemas.microsoft.com/office/powerpoint/2010/main" val="39918516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72</a:t>
            </a:fld>
            <a:endParaRPr lang="en-US"/>
          </a:p>
        </p:txBody>
      </p:sp>
    </p:spTree>
    <p:extLst>
      <p:ext uri="{BB962C8B-B14F-4D97-AF65-F5344CB8AC3E}">
        <p14:creationId xmlns:p14="http://schemas.microsoft.com/office/powerpoint/2010/main" val="32579124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5/8/2023</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5/8/2023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5/8/2023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5/8/2023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5/8/2023</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5/8/2023</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5/8/2023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5/8/2023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5/8/2023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5/8/2023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5/8/2023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5/8/2023</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huggingface.co/docs/transformers/trainin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79346" y="2438400"/>
            <a:ext cx="7008574" cy="1368426"/>
          </a:xfrm>
        </p:spPr>
        <p:txBody>
          <a:bodyPr>
            <a:normAutofit/>
          </a:bodyPr>
          <a:lstStyle/>
          <a:p>
            <a:pPr algn="ctr"/>
            <a:r>
              <a:rPr lang="en-US" sz="3600" b="1" dirty="0"/>
              <a:t>Natural Language Processing</a:t>
            </a:r>
          </a:p>
        </p:txBody>
      </p:sp>
      <p:sp>
        <p:nvSpPr>
          <p:cNvPr id="4" name="Subtitle 3">
            <a:extLst>
              <a:ext uri="{FF2B5EF4-FFF2-40B4-BE49-F238E27FC236}">
                <a16:creationId xmlns:a16="http://schemas.microsoft.com/office/drawing/2014/main" id="{79F160C5-1489-470B-A870-B84509B987B9}"/>
              </a:ext>
            </a:extLst>
          </p:cNvPr>
          <p:cNvSpPr>
            <a:spLocks noGrp="1"/>
          </p:cNvSpPr>
          <p:nvPr>
            <p:ph type="subTitle" idx="1"/>
          </p:nvPr>
        </p:nvSpPr>
        <p:spPr/>
        <p:txBody>
          <a:bodyPr/>
          <a:lstStyle/>
          <a:p>
            <a:r>
              <a:rPr lang="en-US" b="1" dirty="0"/>
              <a:t>Large Language Models (LLMs)</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Outline</a:t>
            </a:r>
          </a:p>
        </p:txBody>
      </p:sp>
      <p:sp>
        <p:nvSpPr>
          <p:cNvPr id="3" name="Content Placeholder 2"/>
          <p:cNvSpPr>
            <a:spLocks noGrp="1"/>
          </p:cNvSpPr>
          <p:nvPr>
            <p:ph idx="1"/>
          </p:nvPr>
        </p:nvSpPr>
        <p:spPr/>
        <p:txBody>
          <a:bodyPr>
            <a:normAutofit lnSpcReduction="10000"/>
          </a:bodyPr>
          <a:lstStyle/>
          <a:p>
            <a:r>
              <a:rPr lang="en-US" b="1" dirty="0"/>
              <a:t>Introduction</a:t>
            </a:r>
          </a:p>
          <a:p>
            <a:r>
              <a:rPr lang="en-US" b="1" dirty="0"/>
              <a:t>Evolution of LLMs</a:t>
            </a:r>
          </a:p>
          <a:p>
            <a:r>
              <a:rPr lang="en-US" b="1" dirty="0"/>
              <a:t>Advantages and disadvantages of LLMs</a:t>
            </a:r>
          </a:p>
          <a:p>
            <a:r>
              <a:rPr lang="en-US" b="1" dirty="0"/>
              <a:t>LLMs Transformer-Based Comparison </a:t>
            </a:r>
            <a:r>
              <a:rPr lang="en-US" sz="1600" b="1" dirty="0"/>
              <a:t>(Generated by ChatGPT)</a:t>
            </a:r>
          </a:p>
          <a:p>
            <a:r>
              <a:rPr lang="en-US" b="1" dirty="0"/>
              <a:t>ChatGPT</a:t>
            </a:r>
          </a:p>
          <a:p>
            <a:r>
              <a:rPr lang="en-US" b="1" dirty="0"/>
              <a:t>GPT-4</a:t>
            </a:r>
          </a:p>
          <a:p>
            <a:r>
              <a:rPr lang="en-US" b="1" dirty="0"/>
              <a:t>Potential Future Developments in LLMs</a:t>
            </a:r>
          </a:p>
          <a:p>
            <a:r>
              <a:rPr lang="en-US" b="1" dirty="0"/>
              <a:t>Conclusion</a:t>
            </a:r>
          </a:p>
          <a:p>
            <a:endParaRPr lang="en-US" sz="1600" b="1" dirty="0"/>
          </a:p>
          <a:p>
            <a:endParaRPr lang="en-US" b="1" dirty="0"/>
          </a:p>
          <a:p>
            <a:endParaRPr lang="en-US" b="1" dirty="0"/>
          </a:p>
          <a:p>
            <a:endParaRPr lang="en-US" b="1" dirty="0"/>
          </a:p>
          <a:p>
            <a:endParaRPr lang="en-US" dirty="0"/>
          </a:p>
        </p:txBody>
      </p:sp>
    </p:spTree>
    <p:extLst>
      <p:ext uri="{BB962C8B-B14F-4D97-AF65-F5344CB8AC3E}">
        <p14:creationId xmlns:p14="http://schemas.microsoft.com/office/powerpoint/2010/main" val="342289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Introduction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Large language model (LLMs)</a:t>
            </a:r>
            <a:r>
              <a:rPr lang="en-US" dirty="0"/>
              <a:t> are a type of language model that have emerged in recent years and are characterized by having large number of </a:t>
            </a:r>
            <a:r>
              <a:rPr lang="en-US" b="1" dirty="0"/>
              <a:t>parameters</a:t>
            </a:r>
            <a:r>
              <a:rPr lang="en-US" dirty="0"/>
              <a:t>, typically on the order of </a:t>
            </a:r>
            <a:r>
              <a:rPr lang="en-US" b="1" dirty="0"/>
              <a:t>billions</a:t>
            </a:r>
            <a:r>
              <a:rPr lang="en-US" dirty="0"/>
              <a:t> or more.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These models are trained on large amounts of </a:t>
            </a:r>
            <a:r>
              <a:rPr lang="en-US" b="1" dirty="0"/>
              <a:t>unlabeled text</a:t>
            </a:r>
            <a:r>
              <a:rPr lang="en-US" dirty="0"/>
              <a:t> data using </a:t>
            </a:r>
            <a:br>
              <a:rPr lang="en-US" b="1" dirty="0"/>
            </a:br>
            <a:r>
              <a:rPr lang="en-US" b="1" dirty="0"/>
              <a:t>self-supervised</a:t>
            </a:r>
            <a:r>
              <a:rPr lang="en-US" dirty="0"/>
              <a:t> or </a:t>
            </a:r>
            <a:r>
              <a:rPr lang="en-US" b="1" dirty="0"/>
              <a:t>semi-supervised</a:t>
            </a:r>
            <a:r>
              <a:rPr lang="en-US" dirty="0"/>
              <a:t> learning techniques.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Unlike previous approaches to natural language processing, which involved training specialized models for specific tasks, LLMs are designed to be </a:t>
            </a:r>
            <a:r>
              <a:rPr lang="en-US" b="1" dirty="0"/>
              <a:t>general-purpose</a:t>
            </a:r>
            <a:r>
              <a:rPr lang="en-US" dirty="0"/>
              <a:t> models that excel at a wide range of tasks.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This is due to their ability to capture the </a:t>
            </a:r>
            <a:r>
              <a:rPr lang="en-US" b="1" dirty="0"/>
              <a:t>syntax</a:t>
            </a:r>
            <a:r>
              <a:rPr lang="en-US" dirty="0"/>
              <a:t> and </a:t>
            </a:r>
            <a:r>
              <a:rPr lang="en-US" b="1" dirty="0"/>
              <a:t>semantics</a:t>
            </a:r>
            <a:r>
              <a:rPr lang="en-US" dirty="0"/>
              <a:t> of human language and their general knowledge about the world, which is "</a:t>
            </a:r>
            <a:r>
              <a:rPr lang="en-US" b="1" dirty="0"/>
              <a:t>memorized</a:t>
            </a:r>
            <a:r>
              <a:rPr lang="en-US" dirty="0"/>
              <a:t>" during training.</a:t>
            </a:r>
          </a:p>
          <a:p>
            <a:pPr marL="304747" lvl="1" algn="just">
              <a:spcBef>
                <a:spcPts val="1866"/>
              </a:spcBef>
              <a:buFont typeface="Arial" pitchFamily="34" charset="0"/>
              <a:buChar char="•"/>
            </a:pPr>
            <a:endParaRPr lang="en-US" b="1" dirty="0"/>
          </a:p>
          <a:p>
            <a:endParaRPr lang="en-US" sz="1800" dirty="0"/>
          </a:p>
        </p:txBody>
      </p:sp>
    </p:spTree>
    <p:extLst>
      <p:ext uri="{BB962C8B-B14F-4D97-AF65-F5344CB8AC3E}">
        <p14:creationId xmlns:p14="http://schemas.microsoft.com/office/powerpoint/2010/main" val="1874890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Introduction</a:t>
            </a:r>
          </a:p>
        </p:txBody>
      </p:sp>
      <p:sp>
        <p:nvSpPr>
          <p:cNvPr id="3" name="Content Placeholder 2"/>
          <p:cNvSpPr>
            <a:spLocks noGrp="1"/>
          </p:cNvSpPr>
          <p:nvPr>
            <p:ph idx="1"/>
          </p:nvPr>
        </p:nvSpPr>
        <p:spPr>
          <a:xfrm>
            <a:off x="455612" y="1041400"/>
            <a:ext cx="11125199" cy="5511800"/>
          </a:xfrm>
        </p:spPr>
        <p:txBody>
          <a:bodyPr>
            <a:normAutofit lnSpcReduction="10000"/>
          </a:bodyPr>
          <a:lstStyle/>
          <a:p>
            <a:pPr marL="304747" lvl="1" algn="just">
              <a:spcBef>
                <a:spcPts val="1866"/>
              </a:spcBef>
              <a:buFont typeface="Arial" pitchFamily="34" charset="0"/>
              <a:buChar char="•"/>
            </a:pPr>
            <a:r>
              <a:rPr lang="en-US" dirty="0"/>
              <a:t>The success of LLMs is largely attributed to the amount of </a:t>
            </a:r>
            <a:r>
              <a:rPr lang="en-US" b="1" dirty="0"/>
              <a:t>resources</a:t>
            </a:r>
            <a:r>
              <a:rPr lang="en-US" dirty="0"/>
              <a:t>, such as </a:t>
            </a:r>
            <a:r>
              <a:rPr lang="en-US" b="1" dirty="0"/>
              <a:t>data</a:t>
            </a:r>
            <a:r>
              <a:rPr lang="en-US" dirty="0"/>
              <a:t>, </a:t>
            </a:r>
            <a:r>
              <a:rPr lang="en-US" b="1" dirty="0"/>
              <a:t>parameter size</a:t>
            </a:r>
            <a:r>
              <a:rPr lang="en-US" dirty="0"/>
              <a:t>, and </a:t>
            </a:r>
            <a:r>
              <a:rPr lang="en-US" b="1" dirty="0"/>
              <a:t>computing power</a:t>
            </a:r>
            <a:r>
              <a:rPr lang="en-US" dirty="0"/>
              <a:t>, that are devoted to training them.</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LLMs</a:t>
            </a:r>
            <a:r>
              <a:rPr lang="en-US" dirty="0"/>
              <a:t> also have some </a:t>
            </a:r>
            <a:r>
              <a:rPr lang="en-US" b="1" dirty="0"/>
              <a:t>limitations</a:t>
            </a:r>
            <a:r>
              <a:rPr lang="en-US" dirty="0"/>
              <a:t> that need to be addressed.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Despite their success, there are also concerns about the </a:t>
            </a:r>
            <a:r>
              <a:rPr lang="en-US" b="1" dirty="0"/>
              <a:t>ethical</a:t>
            </a:r>
            <a:r>
              <a:rPr lang="en-US" dirty="0"/>
              <a:t> implications of LLMs, including their potential to perpetuate </a:t>
            </a:r>
            <a:r>
              <a:rPr lang="en-US" b="1" dirty="0"/>
              <a:t>bias</a:t>
            </a:r>
            <a:r>
              <a:rPr lang="en-US" dirty="0"/>
              <a:t> and </a:t>
            </a:r>
            <a:r>
              <a:rPr lang="en-US" b="1" dirty="0"/>
              <a:t>misinformation</a:t>
            </a:r>
            <a:r>
              <a:rPr lang="en-US" dirty="0"/>
              <a:t>.</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Ongoing research is focused on addressing the </a:t>
            </a:r>
            <a:r>
              <a:rPr lang="en-US" b="1" dirty="0"/>
              <a:t>ethical</a:t>
            </a:r>
            <a:r>
              <a:rPr lang="en-US" dirty="0"/>
              <a:t> and </a:t>
            </a:r>
            <a:r>
              <a:rPr lang="en-US" b="1" dirty="0"/>
              <a:t>societal</a:t>
            </a:r>
            <a:r>
              <a:rPr lang="en-US" dirty="0"/>
              <a:t> implications of large language models and ensuring that they are developed and used in a way that benefits society.</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LLMs are mainly based on Transformers</a:t>
            </a:r>
          </a:p>
          <a:p>
            <a:endParaRPr lang="en-US" sz="1800" dirty="0"/>
          </a:p>
        </p:txBody>
      </p:sp>
    </p:spTree>
    <p:extLst>
      <p:ext uri="{BB962C8B-B14F-4D97-AF65-F5344CB8AC3E}">
        <p14:creationId xmlns:p14="http://schemas.microsoft.com/office/powerpoint/2010/main" val="1560216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Evolution of LLMs</a:t>
            </a:r>
          </a:p>
        </p:txBody>
      </p:sp>
      <p:sp>
        <p:nvSpPr>
          <p:cNvPr id="3" name="Content Placeholder 2"/>
          <p:cNvSpPr>
            <a:spLocks noGrp="1"/>
          </p:cNvSpPr>
          <p:nvPr>
            <p:ph idx="1"/>
          </p:nvPr>
        </p:nvSpPr>
        <p:spPr>
          <a:xfrm>
            <a:off x="455612" y="1041400"/>
            <a:ext cx="11125199" cy="5511800"/>
          </a:xfrm>
        </p:spPr>
        <p:txBody>
          <a:bodyPr>
            <a:normAutofit lnSpcReduction="10000"/>
          </a:bodyPr>
          <a:lstStyle/>
          <a:p>
            <a:pPr marL="304747" lvl="1" algn="just">
              <a:spcBef>
                <a:spcPts val="1866"/>
              </a:spcBef>
              <a:buFont typeface="Arial" pitchFamily="34" charset="0"/>
              <a:buChar char="•"/>
            </a:pPr>
            <a:r>
              <a:rPr lang="en-US" b="1" dirty="0"/>
              <a:t>Early neural language models:</a:t>
            </a:r>
            <a:r>
              <a:rPr lang="en-US" dirty="0"/>
              <a:t> The first neural language models were proposed in the early </a:t>
            </a:r>
            <a:r>
              <a:rPr lang="en-US" b="1" dirty="0"/>
              <a:t>2000s</a:t>
            </a:r>
            <a:r>
              <a:rPr lang="en-US" dirty="0"/>
              <a:t>. These models used simple neural architectures and were trained on small datasets.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Word embeddings</a:t>
            </a:r>
            <a:r>
              <a:rPr lang="en-US" dirty="0"/>
              <a:t>: In </a:t>
            </a:r>
            <a:r>
              <a:rPr lang="en-US" b="1" dirty="0"/>
              <a:t>2013</a:t>
            </a:r>
            <a:r>
              <a:rPr lang="en-US" dirty="0"/>
              <a:t>, Tomas </a:t>
            </a:r>
            <a:r>
              <a:rPr lang="en-US" dirty="0" err="1"/>
              <a:t>Mikolov</a:t>
            </a:r>
            <a:r>
              <a:rPr lang="en-US" dirty="0"/>
              <a:t> and colleagues proposed word embeddings, which are dense vector representations of words that capture semantic relationships between them. Word embeddings are widely used in LLMs today.</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Recurrent neural networks:</a:t>
            </a:r>
            <a:r>
              <a:rPr lang="en-US" dirty="0"/>
              <a:t> In </a:t>
            </a:r>
            <a:r>
              <a:rPr lang="en-US" b="1" dirty="0"/>
              <a:t>2014</a:t>
            </a:r>
            <a:r>
              <a:rPr lang="en-US" dirty="0"/>
              <a:t>, recurrent neural networks (RNNs) were introduced, which are capable of modeling sequential data. RNNs were used in early LLMs, but they suffered from the vanishing gradient problem.</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Long short-term memory networks:</a:t>
            </a:r>
            <a:r>
              <a:rPr lang="en-US" dirty="0"/>
              <a:t> In </a:t>
            </a:r>
            <a:r>
              <a:rPr lang="en-US" b="1" dirty="0"/>
              <a:t>2015</a:t>
            </a:r>
            <a:r>
              <a:rPr lang="en-US" dirty="0"/>
              <a:t>, long short-term memory (LSTM) networks were introduced, which are a type of RNN that can remember information over longer periods of time. LSTMs improved the performance of LLMs significantly.</a:t>
            </a:r>
            <a:endParaRPr lang="en-US" sz="1800" dirty="0"/>
          </a:p>
        </p:txBody>
      </p:sp>
      <p:sp>
        <p:nvSpPr>
          <p:cNvPr id="4" name="Rectangle 1">
            <a:extLst>
              <a:ext uri="{FF2B5EF4-FFF2-40B4-BE49-F238E27FC236}">
                <a16:creationId xmlns:a16="http://schemas.microsoft.com/office/drawing/2014/main" id="{8DD04E1F-5C75-FEAE-D9D1-073032841EEA}"/>
              </a:ext>
            </a:extLst>
          </p:cNvPr>
          <p:cNvSpPr>
            <a:spLocks noChangeArrowheads="1"/>
          </p:cNvSpPr>
          <p:nvPr/>
        </p:nvSpPr>
        <p:spPr bwMode="auto">
          <a:xfrm>
            <a:off x="0" y="0"/>
            <a:ext cx="111537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Evolution of LLMs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0168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Evolution of LLMs</a:t>
            </a:r>
          </a:p>
        </p:txBody>
      </p:sp>
      <p:sp>
        <p:nvSpPr>
          <p:cNvPr id="3" name="Content Placeholder 2"/>
          <p:cNvSpPr>
            <a:spLocks noGrp="1"/>
          </p:cNvSpPr>
          <p:nvPr>
            <p:ph idx="1"/>
          </p:nvPr>
        </p:nvSpPr>
        <p:spPr>
          <a:xfrm>
            <a:off x="455612" y="1041400"/>
            <a:ext cx="11125199" cy="5511800"/>
          </a:xfrm>
        </p:spPr>
        <p:txBody>
          <a:bodyPr>
            <a:normAutofit fontScale="92500" lnSpcReduction="10000"/>
          </a:bodyPr>
          <a:lstStyle/>
          <a:p>
            <a:pPr marL="304747" lvl="1" algn="just">
              <a:spcBef>
                <a:spcPts val="1866"/>
              </a:spcBef>
              <a:buFont typeface="Arial" pitchFamily="34" charset="0"/>
              <a:buChar char="•"/>
            </a:pPr>
            <a:r>
              <a:rPr lang="en-US" b="1" dirty="0"/>
              <a:t>Attention mechanisms:</a:t>
            </a:r>
            <a:r>
              <a:rPr lang="en-US" dirty="0"/>
              <a:t> In </a:t>
            </a:r>
            <a:r>
              <a:rPr lang="en-US" b="1" dirty="0"/>
              <a:t>2017</a:t>
            </a:r>
            <a:r>
              <a:rPr lang="en-US" dirty="0"/>
              <a:t>, attention mechanisms were introduced, which allow LLMs to selectively focus on certain parts of the input sequence. Attention mechanisms improved the interpretability of LLMs.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Transformers:</a:t>
            </a:r>
            <a:r>
              <a:rPr lang="en-US" dirty="0"/>
              <a:t> In </a:t>
            </a:r>
            <a:r>
              <a:rPr lang="en-US" b="1" dirty="0"/>
              <a:t>2018</a:t>
            </a:r>
            <a:r>
              <a:rPr lang="en-US" dirty="0"/>
              <a:t>, the Transformer architecture was introduced, which revolutionized the field of LLMs. Transformers are based on </a:t>
            </a:r>
            <a:r>
              <a:rPr lang="en-US" b="1" dirty="0"/>
              <a:t>self-attention</a:t>
            </a:r>
            <a:r>
              <a:rPr lang="en-US" dirty="0"/>
              <a:t> mechanisms and are capable of modeling long-range dependencies in the input sequence.</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Scaling up:</a:t>
            </a:r>
            <a:r>
              <a:rPr lang="en-US" dirty="0"/>
              <a:t> Since the introduction of the Transformer architecture, there has been a focus on scaling up LLMs by increasing the number of parameters and training data. This has led to the creation of some of the largest LLMs, such as </a:t>
            </a:r>
            <a:r>
              <a:rPr lang="en-US" b="1" dirty="0"/>
              <a:t>GPT-3</a:t>
            </a:r>
            <a:r>
              <a:rPr lang="en-US" dirty="0"/>
              <a:t>, which has 175 billion parameters.</a:t>
            </a:r>
          </a:p>
          <a:p>
            <a:pPr marL="304747" lvl="1" algn="just">
              <a:spcBef>
                <a:spcPts val="1866"/>
              </a:spcBef>
              <a:buFont typeface="Arial" pitchFamily="34" charset="0"/>
              <a:buChar char="•"/>
            </a:pPr>
            <a:endParaRPr lang="en-US" sz="1800" dirty="0"/>
          </a:p>
          <a:p>
            <a:pPr marL="304747" lvl="1" algn="just">
              <a:spcBef>
                <a:spcPts val="1866"/>
              </a:spcBef>
              <a:buFont typeface="Arial" pitchFamily="34" charset="0"/>
              <a:buChar char="•"/>
            </a:pPr>
            <a:r>
              <a:rPr lang="en-US" sz="1800" b="1" dirty="0"/>
              <a:t>ChatGPT:</a:t>
            </a:r>
            <a:r>
              <a:rPr lang="en-US" sz="1800" dirty="0"/>
              <a:t> is an artificial intelligence (AI) chatbot developed by </a:t>
            </a:r>
            <a:r>
              <a:rPr lang="en-US" sz="1800" b="1" dirty="0" err="1"/>
              <a:t>OpenAI</a:t>
            </a:r>
            <a:r>
              <a:rPr lang="en-US" sz="1800" dirty="0"/>
              <a:t> and released in November </a:t>
            </a:r>
            <a:r>
              <a:rPr lang="en-US" sz="1800" b="1" dirty="0"/>
              <a:t>2022</a:t>
            </a:r>
            <a:r>
              <a:rPr lang="en-US" sz="1800" dirty="0"/>
              <a:t>. It is built on top of </a:t>
            </a:r>
            <a:r>
              <a:rPr lang="en-US" sz="1800" dirty="0" err="1"/>
              <a:t>OpenAI's</a:t>
            </a:r>
            <a:r>
              <a:rPr lang="en-US" sz="1800" dirty="0"/>
              <a:t> </a:t>
            </a:r>
            <a:r>
              <a:rPr lang="en-US" sz="1800" b="1" dirty="0"/>
              <a:t>GPT-3.5</a:t>
            </a:r>
            <a:r>
              <a:rPr lang="en-US" sz="1800" dirty="0"/>
              <a:t> and </a:t>
            </a:r>
            <a:r>
              <a:rPr lang="en-US" sz="1800" b="1" dirty="0"/>
              <a:t>GPT-4</a:t>
            </a:r>
            <a:r>
              <a:rPr lang="en-US" sz="1800" dirty="0"/>
              <a:t> foundational large language models (LLMs) and has been fine-tuned using both supervised and reinforcement learning techniques.</a:t>
            </a:r>
          </a:p>
        </p:txBody>
      </p:sp>
      <p:sp>
        <p:nvSpPr>
          <p:cNvPr id="4" name="Rectangle 1">
            <a:extLst>
              <a:ext uri="{FF2B5EF4-FFF2-40B4-BE49-F238E27FC236}">
                <a16:creationId xmlns:a16="http://schemas.microsoft.com/office/drawing/2014/main" id="{8DD04E1F-5C75-FEAE-D9D1-073032841EEA}"/>
              </a:ext>
            </a:extLst>
          </p:cNvPr>
          <p:cNvSpPr>
            <a:spLocks noChangeArrowheads="1"/>
          </p:cNvSpPr>
          <p:nvPr/>
        </p:nvSpPr>
        <p:spPr bwMode="auto">
          <a:xfrm>
            <a:off x="0" y="0"/>
            <a:ext cx="111537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Söhne"/>
              </a:rPr>
              <a:t>Evolution of LLMs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a:ln>
                  <a:noFill/>
                </a:ln>
                <a:solidFill>
                  <a:schemeClr val="tx1"/>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61824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a:bodyPr>
          <a:lstStyle/>
          <a:p>
            <a:pPr algn="ctr"/>
            <a:r>
              <a:rPr lang="en-US" b="1" dirty="0"/>
              <a:t>Advantages of LLMs</a:t>
            </a:r>
          </a:p>
        </p:txBody>
      </p:sp>
      <p:sp>
        <p:nvSpPr>
          <p:cNvPr id="3" name="Content Placeholder 2"/>
          <p:cNvSpPr>
            <a:spLocks noGrp="1"/>
          </p:cNvSpPr>
          <p:nvPr>
            <p:ph idx="1"/>
          </p:nvPr>
        </p:nvSpPr>
        <p:spPr>
          <a:xfrm>
            <a:off x="455612" y="1041400"/>
            <a:ext cx="11125199" cy="5511800"/>
          </a:xfrm>
        </p:spPr>
        <p:txBody>
          <a:bodyPr>
            <a:normAutofit fontScale="92500" lnSpcReduction="10000"/>
          </a:bodyPr>
          <a:lstStyle/>
          <a:p>
            <a:pPr marL="304747" lvl="1" algn="just">
              <a:spcBef>
                <a:spcPts val="1866"/>
              </a:spcBef>
              <a:buFont typeface="Arial" pitchFamily="34" charset="0"/>
              <a:buChar char="•"/>
            </a:pPr>
            <a:r>
              <a:rPr lang="en-US" b="1" dirty="0"/>
              <a:t>High performance</a:t>
            </a:r>
            <a:r>
              <a:rPr lang="en-US" dirty="0"/>
              <a:t>: LLMs have demonstrated </a:t>
            </a:r>
            <a:r>
              <a:rPr lang="en-US" b="1" dirty="0"/>
              <a:t>state-of-the-art</a:t>
            </a:r>
            <a:r>
              <a:rPr lang="en-US" dirty="0"/>
              <a:t> performance on a wide range of NLP tasks, surpassing previous benchmarks for many tasks.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General purpose:</a:t>
            </a:r>
            <a:r>
              <a:rPr lang="en-US" dirty="0"/>
              <a:t> LLMs can perform a wide range of NLP tasks, making them versatile and useful for a variety of applications.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Reduced need for labeled data:</a:t>
            </a:r>
            <a:r>
              <a:rPr lang="en-US" dirty="0"/>
              <a:t> LLMs can be trained using large amounts of unlabeled data, reducing the need for expensive and time-consuming annotation of training data.</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Continuous learning:</a:t>
            </a:r>
            <a:r>
              <a:rPr lang="en-US" dirty="0"/>
              <a:t> LLMs can be fine-tuned on new data, allowing them to adapt and improve performance over time.</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Knowledge representation:</a:t>
            </a:r>
            <a:r>
              <a:rPr lang="en-US" dirty="0"/>
              <a:t> LLMs can capture and represent knowledge in a way that can be leveraged for downstream tasks.</a:t>
            </a:r>
            <a:endParaRPr lang="en-US" sz="1800" dirty="0"/>
          </a:p>
        </p:txBody>
      </p:sp>
    </p:spTree>
    <p:extLst>
      <p:ext uri="{BB962C8B-B14F-4D97-AF65-F5344CB8AC3E}">
        <p14:creationId xmlns:p14="http://schemas.microsoft.com/office/powerpoint/2010/main" val="17060233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Disadvantages of LLMs</a:t>
            </a:r>
          </a:p>
        </p:txBody>
      </p:sp>
      <p:sp>
        <p:nvSpPr>
          <p:cNvPr id="3" name="Content Placeholder 2"/>
          <p:cNvSpPr>
            <a:spLocks noGrp="1"/>
          </p:cNvSpPr>
          <p:nvPr>
            <p:ph idx="1"/>
          </p:nvPr>
        </p:nvSpPr>
        <p:spPr>
          <a:xfrm>
            <a:off x="455612" y="1041400"/>
            <a:ext cx="11125199" cy="5511800"/>
          </a:xfrm>
        </p:spPr>
        <p:txBody>
          <a:bodyPr>
            <a:normAutofit fontScale="92500" lnSpcReduction="10000"/>
          </a:bodyPr>
          <a:lstStyle/>
          <a:p>
            <a:pPr marL="304747" lvl="1" algn="just">
              <a:spcBef>
                <a:spcPts val="1866"/>
              </a:spcBef>
              <a:buFont typeface="Arial" pitchFamily="34" charset="0"/>
              <a:buChar char="•"/>
            </a:pPr>
            <a:r>
              <a:rPr lang="en-US" b="1" dirty="0"/>
              <a:t>Computational resources:</a:t>
            </a:r>
            <a:r>
              <a:rPr lang="en-US" dirty="0"/>
              <a:t> LLMs require significant computational resources, making them expensive to train and deploy.</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Carbon footprint:</a:t>
            </a:r>
            <a:r>
              <a:rPr lang="en-US" dirty="0"/>
              <a:t> The computational resources required to train and run LLMs have a significant </a:t>
            </a:r>
            <a:r>
              <a:rPr lang="en-US" b="1" dirty="0"/>
              <a:t>environmental impact</a:t>
            </a:r>
            <a:r>
              <a:rPr lang="en-US" dirty="0"/>
              <a:t>, contributing to greenhouse gas emissions.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Bias and fairness:</a:t>
            </a:r>
            <a:r>
              <a:rPr lang="en-US" dirty="0"/>
              <a:t> LLMs can learn and propagate biases present in the training data, leading to unfair or discriminatory outcomes.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Privacy concerns:</a:t>
            </a:r>
            <a:r>
              <a:rPr lang="en-US" dirty="0"/>
              <a:t> LLMs trained on sensitive data may pose privacy concerns, as they may memorize and retain information that should be kept confidential.</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b="1" dirty="0"/>
              <a:t>Interpretability:</a:t>
            </a:r>
            <a:r>
              <a:rPr lang="en-US" dirty="0"/>
              <a:t> The inner workings of LLMs can be </a:t>
            </a:r>
            <a:r>
              <a:rPr lang="en-US" b="1" dirty="0"/>
              <a:t>difficult to interpret</a:t>
            </a:r>
            <a:r>
              <a:rPr lang="en-US" dirty="0"/>
              <a:t>, making it challenging to understand how they arrive at their decisions and predictions.</a:t>
            </a:r>
            <a:endParaRPr lang="en-US" sz="1800" dirty="0"/>
          </a:p>
        </p:txBody>
      </p:sp>
    </p:spTree>
    <p:extLst>
      <p:ext uri="{BB962C8B-B14F-4D97-AF65-F5344CB8AC3E}">
        <p14:creationId xmlns:p14="http://schemas.microsoft.com/office/powerpoint/2010/main" val="36661347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Number of parameters:</a:t>
            </a:r>
          </a:p>
          <a:p>
            <a:pPr marL="731392" lvl="2" algn="just">
              <a:spcBef>
                <a:spcPts val="1866"/>
              </a:spcBef>
              <a:buFont typeface="Arial" pitchFamily="34" charset="0"/>
              <a:buChar char="•"/>
            </a:pPr>
            <a:r>
              <a:rPr lang="en-US" dirty="0"/>
              <a:t>Refers to the number of </a:t>
            </a:r>
            <a:r>
              <a:rPr lang="en-US" b="1" dirty="0"/>
              <a:t>weights</a:t>
            </a:r>
            <a:r>
              <a:rPr lang="en-US" dirty="0"/>
              <a:t> and </a:t>
            </a:r>
            <a:r>
              <a:rPr lang="en-US" b="1" dirty="0"/>
              <a:t>biases</a:t>
            </a:r>
            <a:r>
              <a:rPr lang="en-US" dirty="0"/>
              <a:t> that the model has learned during training</a:t>
            </a:r>
            <a:r>
              <a:rPr lang="en-US" b="1" dirty="0"/>
              <a:t>.</a:t>
            </a:r>
          </a:p>
          <a:p>
            <a:pPr marL="731392" lvl="2" algn="just">
              <a:spcBef>
                <a:spcPts val="1866"/>
              </a:spcBef>
              <a:buFont typeface="Arial" pitchFamily="34" charset="0"/>
              <a:buChar char="•"/>
            </a:pPr>
            <a:r>
              <a:rPr lang="en-US" dirty="0"/>
              <a:t>An important factor in determining the performance of an LLM, as models with more parameters are generally more powerful and able to capture </a:t>
            </a:r>
            <a:r>
              <a:rPr lang="en-US" b="1" dirty="0"/>
              <a:t>more complex patterns</a:t>
            </a:r>
            <a:r>
              <a:rPr lang="en-US" dirty="0"/>
              <a:t> in language. </a:t>
            </a:r>
          </a:p>
          <a:p>
            <a:pPr marL="731392" lvl="2" algn="just">
              <a:spcBef>
                <a:spcPts val="1866"/>
              </a:spcBef>
              <a:buFont typeface="Arial" pitchFamily="34" charset="0"/>
              <a:buChar char="•"/>
            </a:pPr>
            <a:r>
              <a:rPr lang="en-US" dirty="0"/>
              <a:t>However, models with too many parameters can also be prone to </a:t>
            </a:r>
            <a:r>
              <a:rPr lang="en-US" b="1" dirty="0"/>
              <a:t>overfitting</a:t>
            </a:r>
            <a:r>
              <a:rPr lang="en-US" dirty="0"/>
              <a:t> on the training data, leading to poor generalization to new examples.</a:t>
            </a:r>
          </a:p>
          <a:p>
            <a:pPr marL="731392" lvl="2" algn="just">
              <a:spcBef>
                <a:spcPts val="1866"/>
              </a:spcBef>
              <a:buFont typeface="Arial" pitchFamily="34" charset="0"/>
              <a:buChar char="•"/>
            </a:pPr>
            <a:r>
              <a:rPr lang="en-US" dirty="0"/>
              <a:t>The number of parameters in LLMs can vary widely depending on the </a:t>
            </a:r>
            <a:r>
              <a:rPr lang="en-US" b="1" dirty="0"/>
              <a:t>specific model</a:t>
            </a:r>
            <a:r>
              <a:rPr lang="en-US" dirty="0"/>
              <a:t> and the </a:t>
            </a:r>
            <a:r>
              <a:rPr lang="en-US" b="1" dirty="0"/>
              <a:t>size of the training data</a:t>
            </a:r>
            <a:r>
              <a:rPr lang="en-US" dirty="0"/>
              <a:t>.</a:t>
            </a:r>
          </a:p>
          <a:p>
            <a:pPr marL="731392" lvl="2" algn="just">
              <a:spcBef>
                <a:spcPts val="1866"/>
              </a:spcBef>
              <a:buFont typeface="Arial" pitchFamily="34" charset="0"/>
              <a:buChar char="•"/>
            </a:pPr>
            <a:r>
              <a:rPr lang="en-US" dirty="0"/>
              <a:t>It's worth noting that the number of parameters alone does not necessarily determine the performance of an LLM, as other factors such as training data, </a:t>
            </a:r>
            <a:r>
              <a:rPr lang="en-US" b="1" dirty="0"/>
              <a:t>model architecture</a:t>
            </a:r>
            <a:r>
              <a:rPr lang="en-US" dirty="0"/>
              <a:t>, and </a:t>
            </a:r>
            <a:r>
              <a:rPr lang="en-US" b="1" dirty="0"/>
              <a:t>fine-tuning</a:t>
            </a:r>
            <a:r>
              <a:rPr lang="en-US" dirty="0"/>
              <a:t> also play important roles.</a:t>
            </a:r>
          </a:p>
          <a:p>
            <a:pPr marL="304747" lvl="1" algn="just">
              <a:spcBef>
                <a:spcPts val="1866"/>
              </a:spcBef>
              <a:buFont typeface="Arial" pitchFamily="34" charset="0"/>
              <a:buChar char="•"/>
            </a:pPr>
            <a:endParaRPr lang="en-US" dirty="0"/>
          </a:p>
          <a:p>
            <a:endParaRPr lang="en-US" sz="1800" dirty="0"/>
          </a:p>
        </p:txBody>
      </p:sp>
    </p:spTree>
    <p:extLst>
      <p:ext uri="{BB962C8B-B14F-4D97-AF65-F5344CB8AC3E}">
        <p14:creationId xmlns:p14="http://schemas.microsoft.com/office/powerpoint/2010/main" val="14494788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Inference Speed:</a:t>
            </a:r>
          </a:p>
          <a:p>
            <a:pPr marL="731392" lvl="2" algn="just">
              <a:spcBef>
                <a:spcPts val="1866"/>
              </a:spcBef>
              <a:buFont typeface="Arial" pitchFamily="34" charset="0"/>
              <a:buChar char="•"/>
            </a:pPr>
            <a:r>
              <a:rPr lang="en-US" dirty="0"/>
              <a:t>Refers to how quickly an LLM can process </a:t>
            </a:r>
            <a:r>
              <a:rPr lang="en-US" b="1" dirty="0"/>
              <a:t>new input and generate output</a:t>
            </a:r>
            <a:r>
              <a:rPr lang="en-US" dirty="0"/>
              <a:t>. </a:t>
            </a:r>
          </a:p>
          <a:p>
            <a:pPr marL="731392" lvl="2" algn="just">
              <a:spcBef>
                <a:spcPts val="1866"/>
              </a:spcBef>
              <a:buFont typeface="Arial" pitchFamily="34" charset="0"/>
              <a:buChar char="•"/>
            </a:pPr>
            <a:r>
              <a:rPr lang="en-US" dirty="0"/>
              <a:t>This is an important factor to consider when deploying an LLM in a </a:t>
            </a:r>
            <a:r>
              <a:rPr lang="en-US" b="1" dirty="0"/>
              <a:t>production environment</a:t>
            </a:r>
            <a:r>
              <a:rPr lang="en-US" dirty="0"/>
              <a:t>, as faster inference speeds can lead to lower latency and better user experience.</a:t>
            </a:r>
          </a:p>
          <a:p>
            <a:pPr marL="731392" lvl="2" algn="just">
              <a:spcBef>
                <a:spcPts val="1866"/>
              </a:spcBef>
              <a:buFont typeface="Arial" pitchFamily="34" charset="0"/>
              <a:buChar char="•"/>
            </a:pPr>
            <a:r>
              <a:rPr lang="en-US" sz="1800" dirty="0"/>
              <a:t>The inference speed of an LLM can depend on various factors, including the </a:t>
            </a:r>
            <a:r>
              <a:rPr lang="en-US" sz="1800" b="1" dirty="0"/>
              <a:t>hardware</a:t>
            </a:r>
            <a:r>
              <a:rPr lang="en-US" sz="1800" dirty="0"/>
              <a:t> it's running on, the </a:t>
            </a:r>
            <a:r>
              <a:rPr lang="en-US" sz="1800" b="1" dirty="0"/>
              <a:t>size of the model</a:t>
            </a:r>
            <a:r>
              <a:rPr lang="en-US" sz="1800" dirty="0"/>
              <a:t>, </a:t>
            </a:r>
            <a:r>
              <a:rPr lang="en-US" sz="1800" b="1" dirty="0"/>
              <a:t>batch size</a:t>
            </a:r>
            <a:r>
              <a:rPr lang="en-US" sz="1800" dirty="0"/>
              <a:t>, and the </a:t>
            </a:r>
            <a:r>
              <a:rPr lang="en-US" sz="1800" b="1" dirty="0"/>
              <a:t>specific implementation</a:t>
            </a:r>
            <a:r>
              <a:rPr lang="en-US" sz="1800" dirty="0"/>
              <a:t>.</a:t>
            </a:r>
          </a:p>
          <a:p>
            <a:pPr marL="426645" lvl="2" indent="0" algn="just">
              <a:spcBef>
                <a:spcPts val="1866"/>
              </a:spcBef>
              <a:buNone/>
            </a:pPr>
            <a:endParaRPr lang="en-US" sz="1800" dirty="0"/>
          </a:p>
          <a:p>
            <a:pPr marL="426645" lvl="2" indent="0" algn="just">
              <a:spcBef>
                <a:spcPts val="1866"/>
              </a:spcBef>
              <a:buNone/>
            </a:pPr>
            <a:endParaRPr lang="en-US" sz="1800" dirty="0"/>
          </a:p>
        </p:txBody>
      </p:sp>
      <p:pic>
        <p:nvPicPr>
          <p:cNvPr id="4" name="Picture 3">
            <a:extLst>
              <a:ext uri="{FF2B5EF4-FFF2-40B4-BE49-F238E27FC236}">
                <a16:creationId xmlns:a16="http://schemas.microsoft.com/office/drawing/2014/main" id="{46C1C0FB-BEED-DA46-8A53-45845914D694}"/>
              </a:ext>
            </a:extLst>
          </p:cNvPr>
          <p:cNvPicPr>
            <a:picLocks noChangeAspect="1"/>
          </p:cNvPicPr>
          <p:nvPr/>
        </p:nvPicPr>
        <p:blipFill>
          <a:blip r:embed="rId3"/>
          <a:stretch>
            <a:fillRect/>
          </a:stretch>
        </p:blipFill>
        <p:spPr>
          <a:xfrm>
            <a:off x="3579812" y="3581400"/>
            <a:ext cx="6019800" cy="3200400"/>
          </a:xfrm>
          <a:prstGeom prst="rect">
            <a:avLst/>
          </a:prstGeom>
        </p:spPr>
      </p:pic>
    </p:spTree>
    <p:extLst>
      <p:ext uri="{BB962C8B-B14F-4D97-AF65-F5344CB8AC3E}">
        <p14:creationId xmlns:p14="http://schemas.microsoft.com/office/powerpoint/2010/main" val="15455081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Fine-Tuning:</a:t>
            </a:r>
          </a:p>
          <a:p>
            <a:pPr marL="731392" lvl="2" algn="just">
              <a:spcBef>
                <a:spcPts val="1866"/>
              </a:spcBef>
              <a:buFont typeface="Arial" pitchFamily="34" charset="0"/>
              <a:buChar char="•"/>
            </a:pPr>
            <a:r>
              <a:rPr lang="en-US" dirty="0"/>
              <a:t>Refers to the process of taking a </a:t>
            </a:r>
            <a:r>
              <a:rPr lang="en-US" b="1" dirty="0"/>
              <a:t>pre-trained</a:t>
            </a:r>
            <a:r>
              <a:rPr lang="en-US" dirty="0"/>
              <a:t> LLM and </a:t>
            </a:r>
            <a:r>
              <a:rPr lang="en-US" b="1" dirty="0"/>
              <a:t>adapting</a:t>
            </a:r>
            <a:r>
              <a:rPr lang="en-US" dirty="0"/>
              <a:t> it to a specific task by further training it on task-specific labeled data. </a:t>
            </a:r>
          </a:p>
          <a:p>
            <a:pPr marL="731392" lvl="2" algn="just">
              <a:spcBef>
                <a:spcPts val="1866"/>
              </a:spcBef>
              <a:buFont typeface="Arial" pitchFamily="34" charset="0"/>
              <a:buChar char="•"/>
            </a:pPr>
            <a:r>
              <a:rPr lang="en-US" b="1" dirty="0"/>
              <a:t>Task-Specific Fine-Tuning</a:t>
            </a:r>
          </a:p>
          <a:p>
            <a:pPr marL="731392" lvl="2" algn="just">
              <a:spcBef>
                <a:spcPts val="1866"/>
              </a:spcBef>
              <a:buFont typeface="Arial" pitchFamily="34" charset="0"/>
              <a:buChar char="•"/>
            </a:pPr>
            <a:r>
              <a:rPr lang="en-US" b="1" dirty="0"/>
              <a:t>Domain-Specific Fine-Tuning</a:t>
            </a:r>
          </a:p>
          <a:p>
            <a:pPr marL="731392" lvl="2" algn="just">
              <a:spcBef>
                <a:spcPts val="1866"/>
              </a:spcBef>
              <a:buFont typeface="Arial" pitchFamily="34" charset="0"/>
              <a:buChar char="•"/>
            </a:pPr>
            <a:r>
              <a:rPr lang="en-US" b="1" dirty="0"/>
              <a:t>Multi-Task Fine-Tuning </a:t>
            </a:r>
            <a:r>
              <a:rPr lang="en-US" dirty="0"/>
              <a:t>(POS+NER)</a:t>
            </a:r>
          </a:p>
          <a:p>
            <a:endParaRPr lang="en-US" sz="1800" dirty="0"/>
          </a:p>
        </p:txBody>
      </p:sp>
      <p:pic>
        <p:nvPicPr>
          <p:cNvPr id="1026" name="Picture 2" descr="The pre-training and fine-tuning processes for BERT use the same architecture. In the first case A, B sentence pairs are the input. In the second case, question-answer pairs are the input. There are three types of fine-tuning, corresponding to whether the goal is SQuAD question-answering, Named Entity Recognition (NER), or Multi-Genre Natural Language, a crowd-sourced collection of sentence pairs.">
            <a:extLst>
              <a:ext uri="{FF2B5EF4-FFF2-40B4-BE49-F238E27FC236}">
                <a16:creationId xmlns:a16="http://schemas.microsoft.com/office/drawing/2014/main" id="{EE350909-F977-72CA-8887-F267A0134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2896" y="4000500"/>
            <a:ext cx="6486241"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4052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lnSpcReduction="10000"/>
          </a:bodyPr>
          <a:lstStyle/>
          <a:p>
            <a:pPr marL="304747" lvl="1" algn="just">
              <a:spcBef>
                <a:spcPts val="1866"/>
              </a:spcBef>
              <a:buFont typeface="Arial" pitchFamily="34" charset="0"/>
              <a:buChar char="•"/>
            </a:pPr>
            <a:r>
              <a:rPr lang="en-US" b="1" dirty="0"/>
              <a:t>Fine-Tuning Steps:</a:t>
            </a:r>
          </a:p>
          <a:p>
            <a:pPr marL="731392" lvl="2" algn="just">
              <a:spcBef>
                <a:spcPts val="1866"/>
              </a:spcBef>
              <a:buFont typeface="Arial" pitchFamily="34" charset="0"/>
              <a:buChar char="•"/>
            </a:pPr>
            <a:r>
              <a:rPr lang="en-US" sz="1600" dirty="0"/>
              <a:t>Select a pre-trained language model</a:t>
            </a:r>
          </a:p>
          <a:p>
            <a:pPr marL="731392" lvl="2" algn="just">
              <a:spcBef>
                <a:spcPts val="1866"/>
              </a:spcBef>
              <a:buFont typeface="Arial" pitchFamily="34" charset="0"/>
              <a:buChar char="•"/>
            </a:pPr>
            <a:r>
              <a:rPr lang="en-US" sz="1600" dirty="0"/>
              <a:t>Load the pre-trained model</a:t>
            </a:r>
          </a:p>
          <a:p>
            <a:pPr marL="731392" lvl="2" algn="just">
              <a:spcBef>
                <a:spcPts val="1866"/>
              </a:spcBef>
              <a:buFont typeface="Arial" pitchFamily="34" charset="0"/>
              <a:buChar char="•"/>
            </a:pPr>
            <a:r>
              <a:rPr lang="en-US" sz="1600" dirty="0"/>
              <a:t>Prepare the data</a:t>
            </a:r>
          </a:p>
          <a:p>
            <a:pPr marL="731392" lvl="2" algn="just">
              <a:spcBef>
                <a:spcPts val="1866"/>
              </a:spcBef>
              <a:buFont typeface="Arial" pitchFamily="34" charset="0"/>
              <a:buChar char="•"/>
            </a:pPr>
            <a:r>
              <a:rPr lang="en-US" sz="1600" dirty="0"/>
              <a:t>Define the task-specific architecture</a:t>
            </a:r>
          </a:p>
          <a:p>
            <a:pPr marL="731392" lvl="2" algn="just">
              <a:spcBef>
                <a:spcPts val="1866"/>
              </a:spcBef>
              <a:buFont typeface="Arial" pitchFamily="34" charset="0"/>
              <a:buChar char="•"/>
            </a:pPr>
            <a:r>
              <a:rPr lang="en-US" sz="1600" dirty="0"/>
              <a:t>Fine-tune the model</a:t>
            </a:r>
          </a:p>
          <a:p>
            <a:pPr marL="731392" lvl="2" algn="just">
              <a:spcBef>
                <a:spcPts val="1866"/>
              </a:spcBef>
              <a:buFont typeface="Arial" pitchFamily="34" charset="0"/>
              <a:buChar char="•"/>
            </a:pPr>
            <a:r>
              <a:rPr lang="en-US" sz="1600" dirty="0"/>
              <a:t>Evaluate the model</a:t>
            </a:r>
          </a:p>
          <a:p>
            <a:pPr marL="731392" lvl="2" algn="just">
              <a:spcBef>
                <a:spcPts val="1866"/>
              </a:spcBef>
              <a:buFont typeface="Arial" pitchFamily="34" charset="0"/>
              <a:buChar char="•"/>
            </a:pPr>
            <a:r>
              <a:rPr lang="en-US" sz="1600" dirty="0"/>
              <a:t>Iterate</a:t>
            </a:r>
          </a:p>
          <a:p>
            <a:r>
              <a:rPr lang="en-US" sz="1500" dirty="0"/>
              <a:t>The link </a:t>
            </a:r>
            <a:r>
              <a:rPr lang="en-US" sz="1500" dirty="0">
                <a:hlinkClick r:id="rId3"/>
              </a:rPr>
              <a:t>https://huggingface.co/docs/transformers/training</a:t>
            </a:r>
            <a:r>
              <a:rPr lang="en-US" sz="1500" dirty="0"/>
              <a:t> explains the implementation of: </a:t>
            </a:r>
          </a:p>
          <a:p>
            <a:pPr marL="731392" lvl="2" algn="just">
              <a:spcBef>
                <a:spcPts val="1866"/>
              </a:spcBef>
              <a:buFont typeface="Arial" pitchFamily="34" charset="0"/>
              <a:buChar char="•"/>
            </a:pPr>
            <a:r>
              <a:rPr lang="en-US" sz="1500" dirty="0"/>
              <a:t>Fine-tune a pretrained model with </a:t>
            </a:r>
            <a:r>
              <a:rPr lang="en-US" sz="1500" b="1" dirty="0"/>
              <a:t>Transformers Trainer</a:t>
            </a:r>
            <a:r>
              <a:rPr lang="en-US" sz="1500" dirty="0"/>
              <a:t>.</a:t>
            </a:r>
          </a:p>
          <a:p>
            <a:pPr marL="731392" lvl="2" algn="just">
              <a:spcBef>
                <a:spcPts val="1866"/>
              </a:spcBef>
              <a:buFont typeface="Arial" pitchFamily="34" charset="0"/>
              <a:buChar char="•"/>
            </a:pPr>
            <a:r>
              <a:rPr lang="en-US" sz="1500" dirty="0"/>
              <a:t>Fine-tune a pretrained model in TensorFlow with </a:t>
            </a:r>
            <a:r>
              <a:rPr lang="en-US" sz="1500" b="1" dirty="0"/>
              <a:t>Keras</a:t>
            </a:r>
            <a:r>
              <a:rPr lang="en-US" sz="1500" dirty="0"/>
              <a:t>.</a:t>
            </a:r>
          </a:p>
          <a:p>
            <a:pPr marL="731392" lvl="2" algn="just">
              <a:spcBef>
                <a:spcPts val="1866"/>
              </a:spcBef>
              <a:buFont typeface="Arial" pitchFamily="34" charset="0"/>
              <a:buChar char="•"/>
            </a:pPr>
            <a:r>
              <a:rPr lang="en-US" sz="1500" dirty="0"/>
              <a:t>Fine-tune a pretrained model in native </a:t>
            </a:r>
            <a:r>
              <a:rPr lang="en-US" sz="1500" b="1" dirty="0" err="1"/>
              <a:t>PyTorch</a:t>
            </a:r>
            <a:r>
              <a:rPr lang="en-US" sz="1500" dirty="0"/>
              <a:t>.</a:t>
            </a:r>
          </a:p>
        </p:txBody>
      </p:sp>
    </p:spTree>
    <p:extLst>
      <p:ext uri="{BB962C8B-B14F-4D97-AF65-F5344CB8AC3E}">
        <p14:creationId xmlns:p14="http://schemas.microsoft.com/office/powerpoint/2010/main" val="1210078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Architecture Approach:</a:t>
            </a:r>
          </a:p>
          <a:p>
            <a:pPr marL="731392" lvl="2" algn="just">
              <a:spcBef>
                <a:spcPts val="1866"/>
              </a:spcBef>
              <a:buFont typeface="Arial" pitchFamily="34" charset="0"/>
              <a:buChar char="•"/>
            </a:pPr>
            <a:r>
              <a:rPr lang="en-US" dirty="0"/>
              <a:t>Refers to the design of the neural network model used to process natural language data.</a:t>
            </a:r>
          </a:p>
          <a:p>
            <a:pPr marL="731392" lvl="2" algn="just">
              <a:spcBef>
                <a:spcPts val="1866"/>
              </a:spcBef>
              <a:buFont typeface="Arial" pitchFamily="34" charset="0"/>
              <a:buChar char="•"/>
            </a:pPr>
            <a:r>
              <a:rPr lang="en-US" dirty="0"/>
              <a:t>Encoder-only architecture </a:t>
            </a:r>
            <a:r>
              <a:rPr lang="en-US" b="1" dirty="0"/>
              <a:t>(BERT)</a:t>
            </a:r>
          </a:p>
          <a:p>
            <a:pPr marL="731392" lvl="2" algn="just">
              <a:spcBef>
                <a:spcPts val="1866"/>
              </a:spcBef>
              <a:buFont typeface="Arial" pitchFamily="34" charset="0"/>
              <a:buChar char="•"/>
            </a:pPr>
            <a:r>
              <a:rPr lang="en-US" sz="1800" dirty="0"/>
              <a:t>Decoder-only architecture </a:t>
            </a:r>
            <a:r>
              <a:rPr lang="en-US" sz="1800" b="1" dirty="0"/>
              <a:t>(</a:t>
            </a:r>
            <a:r>
              <a:rPr lang="en-US" b="1" i="0" dirty="0">
                <a:solidFill>
                  <a:srgbClr val="333333"/>
                </a:solidFill>
                <a:effectLst/>
                <a:latin typeface="Lato" panose="020F0502020204030203" pitchFamily="34" charset="0"/>
              </a:rPr>
              <a:t>GPT-3</a:t>
            </a:r>
            <a:r>
              <a:rPr lang="en-US" sz="1800" b="1" dirty="0"/>
              <a:t>)</a:t>
            </a:r>
          </a:p>
          <a:p>
            <a:pPr marL="731392" lvl="2" algn="just">
              <a:spcBef>
                <a:spcPts val="1866"/>
              </a:spcBef>
              <a:buFont typeface="Arial" pitchFamily="34" charset="0"/>
              <a:buChar char="•"/>
            </a:pPr>
            <a:r>
              <a:rPr lang="en-US" sz="1800" dirty="0"/>
              <a:t>Encoder-decoder architecture </a:t>
            </a:r>
            <a:r>
              <a:rPr lang="en-US" sz="1800" b="1" dirty="0"/>
              <a:t>(</a:t>
            </a:r>
            <a:r>
              <a:rPr lang="en-US" b="1" i="0" dirty="0">
                <a:solidFill>
                  <a:srgbClr val="333333"/>
                </a:solidFill>
                <a:effectLst/>
                <a:latin typeface="Lato" panose="020F0502020204030203" pitchFamily="34" charset="0"/>
              </a:rPr>
              <a:t>T5</a:t>
            </a:r>
            <a:r>
              <a:rPr lang="en-US" sz="1800" b="1" dirty="0"/>
              <a:t>)</a:t>
            </a:r>
          </a:p>
        </p:txBody>
      </p:sp>
      <p:pic>
        <p:nvPicPr>
          <p:cNvPr id="4" name="Picture 3">
            <a:extLst>
              <a:ext uri="{FF2B5EF4-FFF2-40B4-BE49-F238E27FC236}">
                <a16:creationId xmlns:a16="http://schemas.microsoft.com/office/drawing/2014/main" id="{9BFE79C5-A891-6A80-6043-E4E130676FDB}"/>
              </a:ext>
            </a:extLst>
          </p:cNvPr>
          <p:cNvPicPr>
            <a:picLocks noChangeAspect="1"/>
          </p:cNvPicPr>
          <p:nvPr/>
        </p:nvPicPr>
        <p:blipFill>
          <a:blip r:embed="rId3"/>
          <a:stretch>
            <a:fillRect/>
          </a:stretch>
        </p:blipFill>
        <p:spPr>
          <a:xfrm>
            <a:off x="6399212" y="2051911"/>
            <a:ext cx="5257800" cy="4577489"/>
          </a:xfrm>
          <a:prstGeom prst="rect">
            <a:avLst/>
          </a:prstGeom>
          <a:ln w="3175">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704567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Language Support:</a:t>
            </a:r>
          </a:p>
          <a:p>
            <a:pPr marL="731392" lvl="2" algn="just">
              <a:spcBef>
                <a:spcPts val="1866"/>
              </a:spcBef>
              <a:buFont typeface="Arial" pitchFamily="34" charset="0"/>
              <a:buChar char="•"/>
            </a:pPr>
            <a:r>
              <a:rPr lang="en-US" dirty="0"/>
              <a:t>Refers to the ability of an LLM to understand and process text data in </a:t>
            </a:r>
            <a:r>
              <a:rPr lang="en-US" b="1" dirty="0"/>
              <a:t>different languages</a:t>
            </a:r>
            <a:r>
              <a:rPr lang="en-US" dirty="0"/>
              <a:t>. </a:t>
            </a:r>
          </a:p>
          <a:p>
            <a:pPr marL="731392" lvl="2" algn="just">
              <a:spcBef>
                <a:spcPts val="1866"/>
              </a:spcBef>
              <a:buFont typeface="Arial" pitchFamily="34" charset="0"/>
              <a:buChar char="•"/>
            </a:pPr>
            <a:r>
              <a:rPr lang="en-US" dirty="0"/>
              <a:t>Many of the popular LLMs are trained on large amounts of </a:t>
            </a:r>
            <a:r>
              <a:rPr lang="en-US" b="1" dirty="0"/>
              <a:t>English</a:t>
            </a:r>
            <a:r>
              <a:rPr lang="en-US" dirty="0"/>
              <a:t> language data, and as a result, they may perform better on English language tasks compared to other languages. </a:t>
            </a:r>
          </a:p>
          <a:p>
            <a:pPr marL="731392" lvl="2" algn="just">
              <a:spcBef>
                <a:spcPts val="1866"/>
              </a:spcBef>
              <a:buFont typeface="Arial" pitchFamily="34" charset="0"/>
              <a:buChar char="•"/>
            </a:pPr>
            <a:r>
              <a:rPr lang="en-US" dirty="0"/>
              <a:t>However, there is ongoing research and development in the field of </a:t>
            </a:r>
            <a:r>
              <a:rPr lang="en-US" b="1" dirty="0"/>
              <a:t>multilingual</a:t>
            </a:r>
            <a:r>
              <a:rPr lang="en-US" dirty="0"/>
              <a:t> NLP, which aims to improve the ability of models to handle multiple languages. </a:t>
            </a:r>
          </a:p>
        </p:txBody>
      </p:sp>
      <p:pic>
        <p:nvPicPr>
          <p:cNvPr id="5" name="Picture 4">
            <a:extLst>
              <a:ext uri="{FF2B5EF4-FFF2-40B4-BE49-F238E27FC236}">
                <a16:creationId xmlns:a16="http://schemas.microsoft.com/office/drawing/2014/main" id="{31F25505-87D1-B447-4AE2-3013D6D03F54}"/>
              </a:ext>
            </a:extLst>
          </p:cNvPr>
          <p:cNvPicPr>
            <a:picLocks noChangeAspect="1"/>
          </p:cNvPicPr>
          <p:nvPr/>
        </p:nvPicPr>
        <p:blipFill>
          <a:blip r:embed="rId3"/>
          <a:stretch>
            <a:fillRect/>
          </a:stretch>
        </p:blipFill>
        <p:spPr>
          <a:xfrm>
            <a:off x="531813" y="3923072"/>
            <a:ext cx="5105400" cy="24777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2">
            <a:extLst>
              <a:ext uri="{FF2B5EF4-FFF2-40B4-BE49-F238E27FC236}">
                <a16:creationId xmlns:a16="http://schemas.microsoft.com/office/drawing/2014/main" id="{5B7A90C9-B294-157A-E1CF-56C546D511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2435" y="3923071"/>
            <a:ext cx="5105399" cy="247772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1068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pic>
        <p:nvPicPr>
          <p:cNvPr id="7" name="Picture 6">
            <a:extLst>
              <a:ext uri="{FF2B5EF4-FFF2-40B4-BE49-F238E27FC236}">
                <a16:creationId xmlns:a16="http://schemas.microsoft.com/office/drawing/2014/main" id="{530CA9CC-186D-443E-F535-1680D91F3863}"/>
              </a:ext>
            </a:extLst>
          </p:cNvPr>
          <p:cNvPicPr>
            <a:picLocks noChangeAspect="1"/>
          </p:cNvPicPr>
          <p:nvPr/>
        </p:nvPicPr>
        <p:blipFill>
          <a:blip r:embed="rId3"/>
          <a:stretch>
            <a:fillRect/>
          </a:stretch>
        </p:blipFill>
        <p:spPr>
          <a:xfrm>
            <a:off x="1355419" y="990600"/>
            <a:ext cx="9477986" cy="5867400"/>
          </a:xfrm>
          <a:prstGeom prst="rect">
            <a:avLst/>
          </a:prstGeom>
        </p:spPr>
      </p:pic>
    </p:spTree>
    <p:extLst>
      <p:ext uri="{BB962C8B-B14F-4D97-AF65-F5344CB8AC3E}">
        <p14:creationId xmlns:p14="http://schemas.microsoft.com/office/powerpoint/2010/main" val="1239045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LLMs Transformer-Based Comparison</a:t>
            </a:r>
          </a:p>
        </p:txBody>
      </p:sp>
      <p:pic>
        <p:nvPicPr>
          <p:cNvPr id="4" name="Picture 3">
            <a:extLst>
              <a:ext uri="{FF2B5EF4-FFF2-40B4-BE49-F238E27FC236}">
                <a16:creationId xmlns:a16="http://schemas.microsoft.com/office/drawing/2014/main" id="{E584A445-3037-8374-7D48-4D0D544775FD}"/>
              </a:ext>
            </a:extLst>
          </p:cNvPr>
          <p:cNvPicPr>
            <a:picLocks noChangeAspect="1"/>
          </p:cNvPicPr>
          <p:nvPr/>
        </p:nvPicPr>
        <p:blipFill>
          <a:blip r:embed="rId3"/>
          <a:stretch>
            <a:fillRect/>
          </a:stretch>
        </p:blipFill>
        <p:spPr>
          <a:xfrm>
            <a:off x="1609837" y="863600"/>
            <a:ext cx="8969150" cy="5994400"/>
          </a:xfrm>
          <a:prstGeom prst="rect">
            <a:avLst/>
          </a:prstGeom>
        </p:spPr>
      </p:pic>
    </p:spTree>
    <p:extLst>
      <p:ext uri="{BB962C8B-B14F-4D97-AF65-F5344CB8AC3E}">
        <p14:creationId xmlns:p14="http://schemas.microsoft.com/office/powerpoint/2010/main" val="14302623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lnSpcReduction="10000"/>
          </a:bodyPr>
          <a:lstStyle/>
          <a:p>
            <a:pPr marL="304747" lvl="1" algn="just">
              <a:spcBef>
                <a:spcPts val="1866"/>
              </a:spcBef>
              <a:buFont typeface="Arial" pitchFamily="34" charset="0"/>
              <a:buChar char="•"/>
            </a:pPr>
            <a:r>
              <a:rPr lang="en-US" b="1" dirty="0"/>
              <a:t>ChatGPT</a:t>
            </a:r>
            <a:r>
              <a:rPr lang="en-US" dirty="0"/>
              <a:t> is a </a:t>
            </a:r>
            <a:r>
              <a:rPr lang="en-US" b="1" dirty="0"/>
              <a:t>LLM</a:t>
            </a:r>
            <a:r>
              <a:rPr lang="en-US" dirty="0"/>
              <a:t> based on the GPT (</a:t>
            </a:r>
            <a:r>
              <a:rPr lang="en-US" b="1" dirty="0"/>
              <a:t>Generative Pre-trained Transformer</a:t>
            </a:r>
            <a:r>
              <a:rPr lang="en-US" dirty="0"/>
              <a:t>) architecture developed by </a:t>
            </a:r>
            <a:r>
              <a:rPr lang="en-US" b="1" dirty="0" err="1"/>
              <a:t>OpenAI</a:t>
            </a:r>
            <a:r>
              <a:rPr lang="en-US" dirty="0"/>
              <a:t>.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It is designed to </a:t>
            </a:r>
            <a:r>
              <a:rPr lang="en-US" b="1" dirty="0"/>
              <a:t>generate natural language responses to user inputs</a:t>
            </a:r>
            <a:r>
              <a:rPr lang="en-US" dirty="0"/>
              <a:t>, such as questions or prompts, and can be used for various natural language processing tasks, including chatbot development, question answering, and language translation.</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The model is pre-trained on </a:t>
            </a:r>
            <a:r>
              <a:rPr lang="en-US" b="1" dirty="0"/>
              <a:t>a massive amount of text data</a:t>
            </a:r>
            <a:r>
              <a:rPr lang="en-US" dirty="0"/>
              <a:t> using unsupervised learning, which means it can understand the underlying patterns and structures in natural language without being explicitly taught.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Once trained, ChatGPT can be </a:t>
            </a:r>
            <a:r>
              <a:rPr lang="en-US" b="1" dirty="0"/>
              <a:t>fine-tuned</a:t>
            </a:r>
            <a:r>
              <a:rPr lang="en-US" dirty="0"/>
              <a:t> on specific tasks using a smaller dataset of labeled examples, allowing it to perform specific language processing tasks more accurately.</a:t>
            </a:r>
          </a:p>
        </p:txBody>
      </p:sp>
    </p:spTree>
    <p:extLst>
      <p:ext uri="{BB962C8B-B14F-4D97-AF65-F5344CB8AC3E}">
        <p14:creationId xmlns:p14="http://schemas.microsoft.com/office/powerpoint/2010/main" val="3934616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ChatGPT only took five days to reach over 1 million subscribers, since its launch on November 30, 2022.</a:t>
            </a:r>
            <a:endParaRPr lang="en-US" dirty="0"/>
          </a:p>
        </p:txBody>
      </p:sp>
      <p:pic>
        <p:nvPicPr>
          <p:cNvPr id="6146" name="Picture 2" descr="number-of-day">
            <a:extLst>
              <a:ext uri="{FF2B5EF4-FFF2-40B4-BE49-F238E27FC236}">
                <a16:creationId xmlns:a16="http://schemas.microsoft.com/office/drawing/2014/main" id="{B9BE5712-7CCA-8DAC-8864-0CA7BAB64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0612" y="2238493"/>
            <a:ext cx="7999413" cy="4492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97424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ChatGPT is different from other </a:t>
            </a:r>
            <a:r>
              <a:rPr lang="en-US" b="1" u="sng" dirty="0"/>
              <a:t>chatbot</a:t>
            </a:r>
            <a:r>
              <a:rPr lang="en-US" b="1" dirty="0"/>
              <a:t> systems in several ways:</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dirty="0"/>
              <a:t>Based on LLMs that have been trained on massive amounts of text data, which allows ChatGPT to generate more natural and </a:t>
            </a:r>
            <a:r>
              <a:rPr lang="en-US" b="1" dirty="0"/>
              <a:t>human-like responses</a:t>
            </a:r>
            <a:r>
              <a:rPr lang="en-US" dirty="0"/>
              <a:t> to user input.</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dirty="0"/>
              <a:t>Uses a </a:t>
            </a:r>
            <a:r>
              <a:rPr lang="en-US" b="1" dirty="0"/>
              <a:t>generative approach</a:t>
            </a:r>
            <a:r>
              <a:rPr lang="en-US" dirty="0"/>
              <a:t> to chatbot design, meaning that it can generate new responses to input, rather than relying on a pre-defined set of responses or rules. </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dirty="0"/>
              <a:t>Capable of handling a wide range of conversational tasks, from simple chit-chat to more complex tasks such as question-answering and language translation. This makes it a versatile tool for a </a:t>
            </a:r>
            <a:r>
              <a:rPr lang="en-US" b="1" dirty="0"/>
              <a:t>variety of applications</a:t>
            </a:r>
            <a:r>
              <a:rPr lang="en-US" dirty="0"/>
              <a:t>, from </a:t>
            </a:r>
            <a:r>
              <a:rPr lang="en-US" b="1" dirty="0"/>
              <a:t>customer service</a:t>
            </a:r>
            <a:r>
              <a:rPr lang="en-US" dirty="0"/>
              <a:t> and support to </a:t>
            </a:r>
            <a:r>
              <a:rPr lang="en-US" b="1" dirty="0"/>
              <a:t>educational</a:t>
            </a:r>
            <a:r>
              <a:rPr lang="en-US" dirty="0"/>
              <a:t> and </a:t>
            </a:r>
            <a:r>
              <a:rPr lang="en-US" b="1" dirty="0"/>
              <a:t>research</a:t>
            </a:r>
            <a:r>
              <a:rPr lang="en-US" dirty="0"/>
              <a:t> purposes.</a:t>
            </a:r>
          </a:p>
        </p:txBody>
      </p:sp>
    </p:spTree>
    <p:extLst>
      <p:ext uri="{BB962C8B-B14F-4D97-AF65-F5344CB8AC3E}">
        <p14:creationId xmlns:p14="http://schemas.microsoft.com/office/powerpoint/2010/main" val="42532732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There are several benefits of using ChatGPT:</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dirty="0"/>
              <a:t>ChatGPT is powered by </a:t>
            </a:r>
            <a:r>
              <a:rPr lang="en-US" b="1" dirty="0"/>
              <a:t>state-of-the-art</a:t>
            </a:r>
            <a:r>
              <a:rPr lang="en-US" dirty="0"/>
              <a:t> NLP technology. </a:t>
            </a:r>
          </a:p>
          <a:p>
            <a:pPr marL="731392" lvl="2" algn="just">
              <a:spcBef>
                <a:spcPts val="1866"/>
              </a:spcBef>
              <a:buFont typeface="Arial" pitchFamily="34" charset="0"/>
              <a:buChar char="•"/>
            </a:pPr>
            <a:r>
              <a:rPr lang="en-US" b="1" dirty="0"/>
              <a:t>Flexibility</a:t>
            </a:r>
          </a:p>
          <a:p>
            <a:pPr marL="731392" lvl="2" algn="just">
              <a:spcBef>
                <a:spcPts val="1866"/>
              </a:spcBef>
              <a:buFont typeface="Arial" pitchFamily="34" charset="0"/>
              <a:buChar char="•"/>
            </a:pPr>
            <a:r>
              <a:rPr lang="en-US" b="1" dirty="0"/>
              <a:t>Cost-Effective</a:t>
            </a:r>
          </a:p>
          <a:p>
            <a:pPr marL="731392" lvl="2" algn="just">
              <a:spcBef>
                <a:spcPts val="1866"/>
              </a:spcBef>
              <a:buFont typeface="Arial" pitchFamily="34" charset="0"/>
              <a:buChar char="•"/>
            </a:pPr>
            <a:r>
              <a:rPr lang="en-US" b="1" dirty="0"/>
              <a:t>Scalability</a:t>
            </a:r>
          </a:p>
          <a:p>
            <a:pPr marL="731392" lvl="2" algn="just">
              <a:spcBef>
                <a:spcPts val="1866"/>
              </a:spcBef>
              <a:buFont typeface="Arial" pitchFamily="34" charset="0"/>
              <a:buChar char="•"/>
            </a:pPr>
            <a:r>
              <a:rPr lang="en-US" b="1" dirty="0"/>
              <a:t>Improving User Engagement</a:t>
            </a:r>
          </a:p>
          <a:p>
            <a:pPr marL="731392" lvl="2" algn="just">
              <a:spcBef>
                <a:spcPts val="1866"/>
              </a:spcBef>
              <a:buFont typeface="Arial" pitchFamily="34" charset="0"/>
              <a:buChar char="•"/>
            </a:pPr>
            <a:r>
              <a:rPr lang="en-US" b="1" dirty="0"/>
              <a:t>24/7 Availability</a:t>
            </a:r>
          </a:p>
          <a:p>
            <a:pPr marL="731392" lvl="2" algn="just">
              <a:spcBef>
                <a:spcPts val="1866"/>
              </a:spcBef>
              <a:buFont typeface="Arial" pitchFamily="34" charset="0"/>
              <a:buChar char="•"/>
            </a:pPr>
            <a:endParaRPr lang="en-US" b="1" dirty="0"/>
          </a:p>
        </p:txBody>
      </p:sp>
    </p:spTree>
    <p:extLst>
      <p:ext uri="{BB962C8B-B14F-4D97-AF65-F5344CB8AC3E}">
        <p14:creationId xmlns:p14="http://schemas.microsoft.com/office/powerpoint/2010/main" val="26225552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The key features of the ChatGPT architecture include:</a:t>
            </a:r>
          </a:p>
          <a:p>
            <a:pPr marL="731392" lvl="2" algn="just">
              <a:spcBef>
                <a:spcPts val="1866"/>
              </a:spcBef>
              <a:buFont typeface="Arial" pitchFamily="34" charset="0"/>
              <a:buChar char="•"/>
            </a:pPr>
            <a:r>
              <a:rPr lang="en-US" b="1" dirty="0"/>
              <a:t>Self-attention:</a:t>
            </a:r>
            <a:r>
              <a:rPr lang="en-US" dirty="0"/>
              <a:t> ChatGPT uses a self-attention mechanism that allows it to focus on different parts of the input text when generating an output. This allows the model to capture </a:t>
            </a:r>
            <a:r>
              <a:rPr lang="en-US" b="1" dirty="0"/>
              <a:t>long-range dependencies</a:t>
            </a:r>
            <a:r>
              <a:rPr lang="en-US" dirty="0"/>
              <a:t> between different parts of the text.</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b="1" dirty="0"/>
              <a:t>Pretraining:</a:t>
            </a:r>
            <a:r>
              <a:rPr lang="en-US" dirty="0"/>
              <a:t> Before fine-tuning on a specific task, ChatGPT is pretrained on a large corpus of text using a self-supervised learning approach. During pretraining, the model is trained to predict missing words in a given text, which helps it learn general language patterns and relationships.</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r>
              <a:rPr lang="en-US" b="1" dirty="0"/>
              <a:t>Fine-tuning:</a:t>
            </a:r>
            <a:r>
              <a:rPr lang="en-US" dirty="0"/>
              <a:t> After pretraining, ChatGPT is fine-tuned on a specific task, such as text generation or question answering. During fine-tuning, the model's parameters are adjusted to optimize its performance on the specific task.</a:t>
            </a:r>
          </a:p>
          <a:p>
            <a:pPr marL="731392" lvl="2" algn="just">
              <a:spcBef>
                <a:spcPts val="1866"/>
              </a:spcBef>
              <a:buFont typeface="Arial" pitchFamily="34" charset="0"/>
              <a:buChar char="•"/>
            </a:pPr>
            <a:endParaRPr lang="en-US" dirty="0"/>
          </a:p>
          <a:p>
            <a:pPr marL="304747" lvl="1" algn="just">
              <a:spcBef>
                <a:spcPts val="1866"/>
              </a:spcBef>
              <a:buFont typeface="Arial" pitchFamily="34" charset="0"/>
              <a:buChar char="•"/>
            </a:pPr>
            <a:endParaRPr lang="en-US" b="1" dirty="0"/>
          </a:p>
          <a:p>
            <a:pPr marL="731392" lvl="2" algn="just">
              <a:spcBef>
                <a:spcPts val="1866"/>
              </a:spcBef>
              <a:buFont typeface="Arial" pitchFamily="34" charset="0"/>
              <a:buChar char="•"/>
            </a:pPr>
            <a:endParaRPr lang="en-US" b="1" dirty="0"/>
          </a:p>
        </p:txBody>
      </p:sp>
    </p:spTree>
    <p:extLst>
      <p:ext uri="{BB962C8B-B14F-4D97-AF65-F5344CB8AC3E}">
        <p14:creationId xmlns:p14="http://schemas.microsoft.com/office/powerpoint/2010/main" val="3326768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The key features of the ChatGPT architecture include:</a:t>
            </a:r>
          </a:p>
          <a:p>
            <a:pPr marL="731392" lvl="2" algn="just">
              <a:spcBef>
                <a:spcPts val="1866"/>
              </a:spcBef>
              <a:buFont typeface="Arial" pitchFamily="34" charset="0"/>
              <a:buChar char="•"/>
            </a:pPr>
            <a:r>
              <a:rPr lang="en-US" b="1" dirty="0"/>
              <a:t>Contextualized embeddings: </a:t>
            </a:r>
            <a:r>
              <a:rPr lang="en-US" dirty="0"/>
              <a:t>ChatGPT uses contextualized word embeddings, which take into account the </a:t>
            </a:r>
            <a:r>
              <a:rPr lang="en-US" b="1" dirty="0"/>
              <a:t>context</a:t>
            </a:r>
            <a:r>
              <a:rPr lang="en-US" dirty="0"/>
              <a:t> in which a word appears in a sentence. This allows the model to better capture the nuances of natural language text.</a:t>
            </a:r>
          </a:p>
          <a:p>
            <a:pPr marL="731392" lvl="2" algn="just">
              <a:spcBef>
                <a:spcPts val="1866"/>
              </a:spcBef>
              <a:buFont typeface="Arial" pitchFamily="34" charset="0"/>
              <a:buChar char="•"/>
            </a:pPr>
            <a:endParaRPr lang="en-US" b="1" dirty="0"/>
          </a:p>
          <a:p>
            <a:pPr marL="731392" lvl="2" algn="just">
              <a:spcBef>
                <a:spcPts val="1866"/>
              </a:spcBef>
              <a:buFont typeface="Arial" pitchFamily="34" charset="0"/>
              <a:buChar char="•"/>
            </a:pPr>
            <a:r>
              <a:rPr lang="en-US" b="1" dirty="0"/>
              <a:t>Multi-layered architecture: </a:t>
            </a:r>
            <a:r>
              <a:rPr lang="en-US" dirty="0"/>
              <a:t>ChatGPT has a multi-layered architecture that allows it to capture increasingly complex patterns in the input text. This allows the model to generate more sophisticated and contextually appropriate responses.</a:t>
            </a:r>
          </a:p>
          <a:p>
            <a:pPr marL="304747" lvl="1" algn="just">
              <a:spcBef>
                <a:spcPts val="1866"/>
              </a:spcBef>
              <a:buFont typeface="Arial" pitchFamily="34" charset="0"/>
              <a:buChar char="•"/>
            </a:pPr>
            <a:endParaRPr lang="en-US" b="1" dirty="0"/>
          </a:p>
          <a:p>
            <a:pPr marL="731392" lvl="2" algn="just">
              <a:spcBef>
                <a:spcPts val="1866"/>
              </a:spcBef>
              <a:buFont typeface="Arial" pitchFamily="34" charset="0"/>
              <a:buChar char="•"/>
            </a:pPr>
            <a:r>
              <a:rPr lang="en-US" b="1" dirty="0"/>
              <a:t>Overall, the ChatGPT architecture is designed to be highly flexible and adaptable, allowing it to be fine-tuned on a wide range of natural language processing tasks.</a:t>
            </a:r>
          </a:p>
        </p:txBody>
      </p:sp>
    </p:spTree>
    <p:extLst>
      <p:ext uri="{BB962C8B-B14F-4D97-AF65-F5344CB8AC3E}">
        <p14:creationId xmlns:p14="http://schemas.microsoft.com/office/powerpoint/2010/main" val="2289857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pic>
        <p:nvPicPr>
          <p:cNvPr id="10" name="Picture 9">
            <a:extLst>
              <a:ext uri="{FF2B5EF4-FFF2-40B4-BE49-F238E27FC236}">
                <a16:creationId xmlns:a16="http://schemas.microsoft.com/office/drawing/2014/main" id="{00314580-2ADE-E1F5-3CA3-34C60D38AF8D}"/>
              </a:ext>
            </a:extLst>
          </p:cNvPr>
          <p:cNvPicPr>
            <a:picLocks noChangeAspect="1"/>
          </p:cNvPicPr>
          <p:nvPr/>
        </p:nvPicPr>
        <p:blipFill>
          <a:blip r:embed="rId3"/>
          <a:stretch>
            <a:fillRect/>
          </a:stretch>
        </p:blipFill>
        <p:spPr>
          <a:xfrm>
            <a:off x="1179512" y="1143000"/>
            <a:ext cx="9829800" cy="5362575"/>
          </a:xfrm>
          <a:prstGeom prst="rect">
            <a:avLst/>
          </a:prstGeom>
        </p:spPr>
      </p:pic>
    </p:spTree>
    <p:extLst>
      <p:ext uri="{BB962C8B-B14F-4D97-AF65-F5344CB8AC3E}">
        <p14:creationId xmlns:p14="http://schemas.microsoft.com/office/powerpoint/2010/main" val="33345212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1: Collect demonstration data and train a supervised policy</a:t>
            </a:r>
          </a:p>
          <a:p>
            <a:pPr marL="731392" lvl="2" algn="just">
              <a:spcBef>
                <a:spcPts val="1866"/>
              </a:spcBef>
              <a:buFont typeface="Arial" pitchFamily="34" charset="0"/>
              <a:buChar char="•"/>
            </a:pPr>
            <a:r>
              <a:rPr lang="en-US" dirty="0"/>
              <a:t>The first development involved fine-tuning the GPT-3 model by hiring 40 contractors to create a </a:t>
            </a:r>
            <a:r>
              <a:rPr lang="en-US" b="1" dirty="0"/>
              <a:t>supervised training dataset</a:t>
            </a:r>
            <a:r>
              <a:rPr lang="en-US" dirty="0"/>
              <a:t>, in which </a:t>
            </a:r>
            <a:r>
              <a:rPr lang="en-US" b="1" dirty="0"/>
              <a:t>the input has a known output</a:t>
            </a:r>
            <a:r>
              <a:rPr lang="en-US" dirty="0"/>
              <a:t> for the model to learn from. </a:t>
            </a:r>
          </a:p>
          <a:p>
            <a:pPr marL="731392" lvl="2" algn="just">
              <a:spcBef>
                <a:spcPts val="1866"/>
              </a:spcBef>
              <a:buFont typeface="Arial" pitchFamily="34" charset="0"/>
              <a:buChar char="•"/>
            </a:pPr>
            <a:r>
              <a:rPr lang="en-US" b="1" dirty="0"/>
              <a:t>Inputs, or prompts</a:t>
            </a:r>
            <a:r>
              <a:rPr lang="en-US" dirty="0"/>
              <a:t>, were collected from actual user entries into the Open API. </a:t>
            </a:r>
          </a:p>
          <a:p>
            <a:pPr marL="731392" lvl="2" algn="just">
              <a:spcBef>
                <a:spcPts val="1866"/>
              </a:spcBef>
              <a:buFont typeface="Arial" pitchFamily="34" charset="0"/>
              <a:buChar char="•"/>
            </a:pPr>
            <a:r>
              <a:rPr lang="en-US" dirty="0"/>
              <a:t>The labelers then wrote an appropriate response to the prompt thus creating a known output for each input. </a:t>
            </a:r>
          </a:p>
          <a:p>
            <a:pPr marL="731392" lvl="2" algn="just">
              <a:spcBef>
                <a:spcPts val="1866"/>
              </a:spcBef>
              <a:buFont typeface="Arial" pitchFamily="34" charset="0"/>
              <a:buChar char="•"/>
            </a:pPr>
            <a:r>
              <a:rPr lang="en-US" dirty="0"/>
              <a:t>The GPT-3 model was then fine-tuned using this new, supervised dataset, to create GPT-3.5, also called the SFT model.</a:t>
            </a:r>
          </a:p>
          <a:p>
            <a:pPr marL="731392" lvl="2" algn="just">
              <a:spcBef>
                <a:spcPts val="1866"/>
              </a:spcBef>
              <a:buFont typeface="Arial" pitchFamily="34" charset="0"/>
              <a:buChar char="•"/>
            </a:pPr>
            <a:r>
              <a:rPr lang="en-US" dirty="0"/>
              <a:t>In order to maximize diversity in the prompts dataset, </a:t>
            </a:r>
            <a:r>
              <a:rPr lang="en-US" b="1" dirty="0"/>
              <a:t>only 200 prompts </a:t>
            </a:r>
            <a:r>
              <a:rPr lang="en-US" dirty="0"/>
              <a:t>could come from any given user ID and any prompts that shared long common prefixes were removed.</a:t>
            </a:r>
          </a:p>
          <a:p>
            <a:pPr marL="731392" lvl="2" algn="just">
              <a:spcBef>
                <a:spcPts val="1866"/>
              </a:spcBef>
              <a:buFont typeface="Arial" pitchFamily="34" charset="0"/>
              <a:buChar char="•"/>
            </a:pPr>
            <a:r>
              <a:rPr lang="en-US" dirty="0"/>
              <a:t> Finally, all prompts containing personally identifiable information (PII) were removed</a:t>
            </a:r>
            <a:r>
              <a:rPr lang="en-US" b="1" dirty="0"/>
              <a:t>.</a:t>
            </a:r>
          </a:p>
        </p:txBody>
      </p:sp>
    </p:spTree>
    <p:extLst>
      <p:ext uri="{BB962C8B-B14F-4D97-AF65-F5344CB8AC3E}">
        <p14:creationId xmlns:p14="http://schemas.microsoft.com/office/powerpoint/2010/main" val="3813699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1: Collect demonstration data and train a supervised policy</a:t>
            </a:r>
          </a:p>
          <a:p>
            <a:pPr marL="731392" lvl="2" algn="just">
              <a:spcBef>
                <a:spcPts val="1866"/>
              </a:spcBef>
              <a:buFont typeface="Arial" pitchFamily="34" charset="0"/>
              <a:buChar char="•"/>
            </a:pPr>
            <a:r>
              <a:rPr lang="en-US" dirty="0"/>
              <a:t>After aggregating prompts from </a:t>
            </a:r>
            <a:r>
              <a:rPr lang="en-US" dirty="0" err="1"/>
              <a:t>OpenAI</a:t>
            </a:r>
            <a:r>
              <a:rPr lang="en-US" dirty="0"/>
              <a:t> API, labelers were also asked to create sample prompts to fill-out categories in which there was only minimal real sample data. The categories of interest included</a:t>
            </a:r>
          </a:p>
          <a:p>
            <a:pPr marL="731392" lvl="2" algn="just">
              <a:spcBef>
                <a:spcPts val="1866"/>
              </a:spcBef>
              <a:buFont typeface="Arial" pitchFamily="34" charset="0"/>
              <a:buChar char="•"/>
            </a:pPr>
            <a:r>
              <a:rPr lang="en-US" b="1" dirty="0"/>
              <a:t>Plain prompts:</a:t>
            </a:r>
            <a:r>
              <a:rPr lang="en-US" dirty="0"/>
              <a:t> any arbitrary ask.</a:t>
            </a:r>
          </a:p>
          <a:p>
            <a:pPr marL="731392" lvl="2" algn="just">
              <a:spcBef>
                <a:spcPts val="1866"/>
              </a:spcBef>
              <a:buFont typeface="Arial" pitchFamily="34" charset="0"/>
              <a:buChar char="•"/>
            </a:pPr>
            <a:r>
              <a:rPr lang="en-US" b="1" dirty="0"/>
              <a:t>Few-shot prompts:</a:t>
            </a:r>
            <a:r>
              <a:rPr lang="en-US" dirty="0"/>
              <a:t> instructions that contain multiple query/response pairs.</a:t>
            </a:r>
          </a:p>
          <a:p>
            <a:pPr marL="731392" lvl="2" algn="just">
              <a:spcBef>
                <a:spcPts val="1866"/>
              </a:spcBef>
              <a:buFont typeface="Arial" pitchFamily="34" charset="0"/>
              <a:buChar char="•"/>
            </a:pPr>
            <a:r>
              <a:rPr lang="en-US" b="1" dirty="0"/>
              <a:t>User-based prompts:</a:t>
            </a:r>
            <a:r>
              <a:rPr lang="en-US" dirty="0"/>
              <a:t> correspond to a specific use-case that was requested for the </a:t>
            </a:r>
            <a:r>
              <a:rPr lang="en-US" dirty="0" err="1"/>
              <a:t>OpenAI</a:t>
            </a:r>
            <a:r>
              <a:rPr lang="en-US" dirty="0"/>
              <a:t> API.</a:t>
            </a:r>
            <a:endParaRPr lang="en-US" b="1" dirty="0"/>
          </a:p>
        </p:txBody>
      </p:sp>
    </p:spTree>
    <p:extLst>
      <p:ext uri="{BB962C8B-B14F-4D97-AF65-F5344CB8AC3E}">
        <p14:creationId xmlns:p14="http://schemas.microsoft.com/office/powerpoint/2010/main" val="2068295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1: Collect demonstration data and train a supervised policy</a:t>
            </a:r>
          </a:p>
          <a:p>
            <a:pPr marL="731392" lvl="2" algn="just">
              <a:spcBef>
                <a:spcPts val="1866"/>
              </a:spcBef>
              <a:buFont typeface="Arial" pitchFamily="34" charset="0"/>
              <a:buChar char="•"/>
            </a:pPr>
            <a:r>
              <a:rPr lang="en-US" dirty="0"/>
              <a:t>When generating responses, labelers were asked to do their best to infer what the instruction from the user was. The paper describes the main three ways that prompts request information.</a:t>
            </a:r>
          </a:p>
          <a:p>
            <a:pPr marL="731392" lvl="2" algn="just">
              <a:spcBef>
                <a:spcPts val="1866"/>
              </a:spcBef>
              <a:buFont typeface="Arial" pitchFamily="34" charset="0"/>
              <a:buChar char="•"/>
            </a:pPr>
            <a:r>
              <a:rPr lang="en-US" b="1" dirty="0"/>
              <a:t>Direct</a:t>
            </a:r>
            <a:r>
              <a:rPr lang="en-US" dirty="0"/>
              <a:t>: “Tell me about…”</a:t>
            </a:r>
          </a:p>
          <a:p>
            <a:pPr marL="731392" lvl="2" algn="just">
              <a:spcBef>
                <a:spcPts val="1866"/>
              </a:spcBef>
              <a:buFont typeface="Arial" pitchFamily="34" charset="0"/>
              <a:buChar char="•"/>
            </a:pPr>
            <a:r>
              <a:rPr lang="en-US" b="1" dirty="0"/>
              <a:t>Few-shot</a:t>
            </a:r>
            <a:r>
              <a:rPr lang="en-US" dirty="0"/>
              <a:t>: Given these two examples of a story, write another story about the same topic.</a:t>
            </a:r>
          </a:p>
          <a:p>
            <a:pPr marL="731392" lvl="2" algn="just">
              <a:spcBef>
                <a:spcPts val="1866"/>
              </a:spcBef>
              <a:buFont typeface="Arial" pitchFamily="34" charset="0"/>
              <a:buChar char="•"/>
            </a:pPr>
            <a:r>
              <a:rPr lang="en-US" b="1" dirty="0"/>
              <a:t>Continuation</a:t>
            </a:r>
            <a:r>
              <a:rPr lang="en-US" dirty="0"/>
              <a:t>: Given the start of a story, finish it.</a:t>
            </a:r>
          </a:p>
          <a:p>
            <a:pPr marL="731392" lvl="2" algn="just">
              <a:spcBef>
                <a:spcPts val="1866"/>
              </a:spcBef>
              <a:buFont typeface="Arial" pitchFamily="34" charset="0"/>
              <a:buChar char="•"/>
            </a:pPr>
            <a:r>
              <a:rPr lang="en-US" dirty="0"/>
              <a:t>The compilation of prompts from the </a:t>
            </a:r>
            <a:r>
              <a:rPr lang="en-US" dirty="0" err="1"/>
              <a:t>OpenAI</a:t>
            </a:r>
            <a:r>
              <a:rPr lang="en-US" dirty="0"/>
              <a:t> API and hand-written by labelers resulted in </a:t>
            </a:r>
            <a:r>
              <a:rPr lang="en-US" b="1" dirty="0"/>
              <a:t>13,000 input / output</a:t>
            </a:r>
            <a:r>
              <a:rPr lang="en-US" dirty="0"/>
              <a:t> samples to leverage for the supervised model.</a:t>
            </a:r>
            <a:endParaRPr lang="en-US" b="1" dirty="0"/>
          </a:p>
        </p:txBody>
      </p:sp>
    </p:spTree>
    <p:extLst>
      <p:ext uri="{BB962C8B-B14F-4D97-AF65-F5344CB8AC3E}">
        <p14:creationId xmlns:p14="http://schemas.microsoft.com/office/powerpoint/2010/main" val="5775230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2: Collect Comparison data and train a reward model</a:t>
            </a:r>
          </a:p>
          <a:p>
            <a:pPr marL="731392" lvl="2" algn="just">
              <a:spcBef>
                <a:spcPts val="1866"/>
              </a:spcBef>
              <a:buFont typeface="Arial" pitchFamily="34" charset="0"/>
              <a:buChar char="•"/>
            </a:pPr>
            <a:r>
              <a:rPr lang="en-US" dirty="0"/>
              <a:t>The goal is to collect additional data that can be used to compare the performance of different chatbot responses. </a:t>
            </a:r>
          </a:p>
          <a:p>
            <a:pPr marL="731392" lvl="2" algn="just">
              <a:spcBef>
                <a:spcPts val="1866"/>
              </a:spcBef>
              <a:buFont typeface="Arial" pitchFamily="34" charset="0"/>
              <a:buChar char="•"/>
            </a:pPr>
            <a:r>
              <a:rPr lang="en-US" dirty="0"/>
              <a:t>This data is used to train a </a:t>
            </a:r>
            <a:r>
              <a:rPr lang="en-US" b="1" dirty="0"/>
              <a:t>reward model</a:t>
            </a:r>
            <a:r>
              <a:rPr lang="en-US" dirty="0"/>
              <a:t>, which assigns a numerical score to each response based on how well it achieves a given objective. </a:t>
            </a:r>
          </a:p>
          <a:p>
            <a:pPr marL="731392" lvl="2" algn="just">
              <a:spcBef>
                <a:spcPts val="1866"/>
              </a:spcBef>
              <a:buFont typeface="Arial" pitchFamily="34" charset="0"/>
              <a:buChar char="•"/>
            </a:pPr>
            <a:r>
              <a:rPr lang="en-US" dirty="0"/>
              <a:t>The reward model is trained using </a:t>
            </a:r>
            <a:r>
              <a:rPr lang="en-US" b="1" dirty="0"/>
              <a:t>reinforcement learning</a:t>
            </a:r>
            <a:r>
              <a:rPr lang="en-US" dirty="0"/>
              <a:t> algorithms, which involve optimizing the policy to maximize the expected reward.</a:t>
            </a:r>
          </a:p>
          <a:p>
            <a:pPr marL="731392" lvl="2" algn="just">
              <a:spcBef>
                <a:spcPts val="1866"/>
              </a:spcBef>
              <a:buFont typeface="Arial" pitchFamily="34" charset="0"/>
              <a:buChar char="•"/>
            </a:pPr>
            <a:r>
              <a:rPr lang="en-US" dirty="0"/>
              <a:t>To train the reward model, labelers are presented with </a:t>
            </a:r>
            <a:r>
              <a:rPr lang="en-US" b="1" dirty="0"/>
              <a:t>4 to 9 SFT model outputs for a single input prompt.</a:t>
            </a:r>
            <a:r>
              <a:rPr lang="en-US" dirty="0"/>
              <a:t> They are asked to rank these outputs from best to worst, creating combinations of output ranking as follows.</a:t>
            </a:r>
          </a:p>
        </p:txBody>
      </p:sp>
      <p:pic>
        <p:nvPicPr>
          <p:cNvPr id="9218" name="Picture 2">
            <a:extLst>
              <a:ext uri="{FF2B5EF4-FFF2-40B4-BE49-F238E27FC236}">
                <a16:creationId xmlns:a16="http://schemas.microsoft.com/office/drawing/2014/main" id="{7E6FDE50-09E3-79CA-C410-5E46E343E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1612" y="4582140"/>
            <a:ext cx="3552825" cy="22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36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3: Optimize a policy against the reward model using the PPO reinforcement learning algorithms</a:t>
            </a:r>
          </a:p>
          <a:p>
            <a:pPr marL="731392" lvl="2" algn="just">
              <a:spcBef>
                <a:spcPts val="1866"/>
              </a:spcBef>
              <a:buFont typeface="Arial" pitchFamily="34" charset="0"/>
              <a:buChar char="•"/>
            </a:pPr>
            <a:r>
              <a:rPr lang="en-US" dirty="0"/>
              <a:t>The goal is to optimize the policy using the reward model to generate better responses. </a:t>
            </a:r>
          </a:p>
          <a:p>
            <a:pPr marL="731392" lvl="2" algn="just">
              <a:spcBef>
                <a:spcPts val="1866"/>
              </a:spcBef>
              <a:buFont typeface="Arial" pitchFamily="34" charset="0"/>
              <a:buChar char="•"/>
            </a:pPr>
            <a:r>
              <a:rPr lang="en-US" dirty="0"/>
              <a:t>The policy is optimized using the </a:t>
            </a:r>
            <a:r>
              <a:rPr lang="en-US" b="1" dirty="0"/>
              <a:t>Proximal Policy Optimization (PPO)</a:t>
            </a:r>
            <a:r>
              <a:rPr lang="en-US" dirty="0"/>
              <a:t> reinforcement learning algorithm, which is a type of policy gradient method that balances the exploration of new actions with the exploitation of existing knowledge. </a:t>
            </a:r>
          </a:p>
          <a:p>
            <a:pPr marL="731392" lvl="2" algn="just">
              <a:spcBef>
                <a:spcPts val="1866"/>
              </a:spcBef>
              <a:buFont typeface="Arial" pitchFamily="34" charset="0"/>
              <a:buChar char="•"/>
            </a:pPr>
            <a:r>
              <a:rPr lang="en-US" dirty="0"/>
              <a:t>The PPO algorithm involves repeatedly sampling actions from the policy, evaluating their quality using the reward model, and updating the policy parameters to increase the probability of selecting high-quality actions in the future.</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8AE3FF2B-641F-D00B-C414-7153664C08DD}"/>
              </a:ext>
            </a:extLst>
          </p:cNvPr>
          <p:cNvPicPr>
            <a:picLocks noChangeAspect="1"/>
          </p:cNvPicPr>
          <p:nvPr/>
        </p:nvPicPr>
        <p:blipFill>
          <a:blip r:embed="rId3"/>
          <a:stretch>
            <a:fillRect/>
          </a:stretch>
        </p:blipFill>
        <p:spPr>
          <a:xfrm>
            <a:off x="2565398" y="4371770"/>
            <a:ext cx="6905625" cy="2366604"/>
          </a:xfrm>
          <a:prstGeom prst="rect">
            <a:avLst/>
          </a:prstGeom>
        </p:spPr>
      </p:pic>
    </p:spTree>
    <p:extLst>
      <p:ext uri="{BB962C8B-B14F-4D97-AF65-F5344CB8AC3E}">
        <p14:creationId xmlns:p14="http://schemas.microsoft.com/office/powerpoint/2010/main" val="4248433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ChatGPT</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Step 3: Optimize a policy against the reward model using the PPO reinforcement learning algorithms</a:t>
            </a:r>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86BD539A-886C-0739-0138-5DAD53D2DD6E}"/>
              </a:ext>
            </a:extLst>
          </p:cNvPr>
          <p:cNvPicPr>
            <a:picLocks noChangeAspect="1"/>
          </p:cNvPicPr>
          <p:nvPr/>
        </p:nvPicPr>
        <p:blipFill>
          <a:blip r:embed="rId3"/>
          <a:stretch>
            <a:fillRect/>
          </a:stretch>
        </p:blipFill>
        <p:spPr>
          <a:xfrm>
            <a:off x="2589212" y="1806063"/>
            <a:ext cx="6934200" cy="4781550"/>
          </a:xfrm>
          <a:prstGeom prst="rect">
            <a:avLst/>
          </a:prstGeom>
        </p:spPr>
      </p:pic>
    </p:spTree>
    <p:extLst>
      <p:ext uri="{BB962C8B-B14F-4D97-AF65-F5344CB8AC3E}">
        <p14:creationId xmlns:p14="http://schemas.microsoft.com/office/powerpoint/2010/main" val="22973530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GPT-4 </a:t>
            </a:r>
            <a:r>
              <a:rPr lang="en-US" dirty="0"/>
              <a:t>is a </a:t>
            </a:r>
            <a:r>
              <a:rPr lang="en-US" b="1" dirty="0"/>
              <a:t>large multimodal</a:t>
            </a:r>
            <a:r>
              <a:rPr lang="en-US" dirty="0"/>
              <a:t> model capable of processing </a:t>
            </a:r>
            <a:r>
              <a:rPr lang="en-US" b="1" dirty="0"/>
              <a:t>image</a:t>
            </a:r>
            <a:r>
              <a:rPr lang="en-US" dirty="0"/>
              <a:t> and </a:t>
            </a:r>
            <a:r>
              <a:rPr lang="en-US" b="1" dirty="0"/>
              <a:t>text</a:t>
            </a:r>
            <a:r>
              <a:rPr lang="en-US" dirty="0"/>
              <a:t> inputs and producing text outputs.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 Approximately </a:t>
            </a:r>
            <a:r>
              <a:rPr lang="en-US" b="1" dirty="0"/>
              <a:t>170 trillion</a:t>
            </a:r>
            <a:r>
              <a:rPr lang="en-US" dirty="0"/>
              <a:t> parameters (GPT-3: 175 billion parameters).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One of the main goals of developing GPT-4 is to improve their ability to </a:t>
            </a:r>
            <a:r>
              <a:rPr lang="en-US" b="1" dirty="0"/>
              <a:t>understand</a:t>
            </a:r>
            <a:r>
              <a:rPr lang="en-US" dirty="0"/>
              <a:t> and </a:t>
            </a:r>
            <a:r>
              <a:rPr lang="en-US" b="1" dirty="0"/>
              <a:t>generate</a:t>
            </a:r>
            <a:r>
              <a:rPr lang="en-US" dirty="0"/>
              <a:t> natural language text, particularly in more complex and nuanced scenarios.</a:t>
            </a:r>
          </a:p>
          <a:p>
            <a:pPr marL="304747" lvl="1"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p:txBody>
      </p:sp>
      <p:pic>
        <p:nvPicPr>
          <p:cNvPr id="10242" name="Picture 2" descr="OpenAI just launched GPT-4 — and you may already be using it">
            <a:extLst>
              <a:ext uri="{FF2B5EF4-FFF2-40B4-BE49-F238E27FC236}">
                <a16:creationId xmlns:a16="http://schemas.microsoft.com/office/drawing/2014/main" id="{6FA06BA2-9EE2-ED5C-48C5-EE4E8B4C2E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9461" y="4800600"/>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85378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dirty="0"/>
              <a:t>To test its capabilities in such scenarios, GPT-4 was evaluated on a </a:t>
            </a:r>
            <a:r>
              <a:rPr lang="en-US" b="1" dirty="0"/>
              <a:t>variety of exams</a:t>
            </a:r>
            <a:r>
              <a:rPr lang="en-US" dirty="0"/>
              <a:t> originally designed for humans. </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In these evaluations it performs quite well and often outscores the vast majority of human test takers.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For example, on a simulated bar exam, GPT-4 achieves a score that falls in the top </a:t>
            </a:r>
            <a:r>
              <a:rPr lang="en-US" b="1" dirty="0"/>
              <a:t>10% </a:t>
            </a:r>
            <a:r>
              <a:rPr lang="en-US" dirty="0"/>
              <a:t>of test takers.</a:t>
            </a:r>
          </a:p>
          <a:p>
            <a:pPr marL="304747" lvl="1" algn="just">
              <a:spcBef>
                <a:spcPts val="1866"/>
              </a:spcBef>
              <a:buFont typeface="Arial" pitchFamily="34" charset="0"/>
              <a:buChar char="•"/>
            </a:pPr>
            <a:endParaRPr lang="en-US" dirty="0"/>
          </a:p>
          <a:p>
            <a:pPr marL="304747" lvl="1" algn="just">
              <a:spcBef>
                <a:spcPts val="1866"/>
              </a:spcBef>
              <a:buFont typeface="Arial" pitchFamily="34" charset="0"/>
              <a:buChar char="•"/>
            </a:pPr>
            <a:r>
              <a:rPr lang="en-US" dirty="0"/>
              <a:t>This contrasts with </a:t>
            </a:r>
            <a:r>
              <a:rPr lang="en-US" b="1" dirty="0"/>
              <a:t>GPT-3.5</a:t>
            </a:r>
            <a:r>
              <a:rPr lang="en-US" dirty="0"/>
              <a:t>, which scores in the bottom 10%.</a:t>
            </a:r>
          </a:p>
          <a:p>
            <a:pPr marL="304747" lvl="1" algn="just">
              <a:spcBef>
                <a:spcPts val="1866"/>
              </a:spcBef>
              <a:buFont typeface="Arial" pitchFamily="34" charset="0"/>
              <a:buChar char="•"/>
            </a:pPr>
            <a:endParaRPr lang="en-US" dirty="0"/>
          </a:p>
          <a:p>
            <a:pPr marL="731392" lvl="2" algn="just">
              <a:spcBef>
                <a:spcPts val="1866"/>
              </a:spcBef>
              <a:buFont typeface="Arial" pitchFamily="34" charset="0"/>
              <a:buChar char="•"/>
            </a:pPr>
            <a:endParaRPr lang="en-US" dirty="0"/>
          </a:p>
        </p:txBody>
      </p:sp>
    </p:spTree>
    <p:extLst>
      <p:ext uri="{BB962C8B-B14F-4D97-AF65-F5344CB8AC3E}">
        <p14:creationId xmlns:p14="http://schemas.microsoft.com/office/powerpoint/2010/main" val="27239514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dirty="0"/>
              <a:t>On a suite of traditional NLP benchmarks, GPT-4 outperforms previous large language models and most </a:t>
            </a:r>
            <a:r>
              <a:rPr lang="en-US" b="1" dirty="0"/>
              <a:t>state-of-the-art</a:t>
            </a:r>
            <a:r>
              <a:rPr lang="en-US" dirty="0"/>
              <a:t> systems (which often have benchmark-specific training or hand-engineering).</a:t>
            </a:r>
          </a:p>
          <a:p>
            <a:pPr marL="304747" lvl="1" algn="just">
              <a:spcBef>
                <a:spcPts val="1866"/>
              </a:spcBef>
              <a:buFont typeface="Arial" pitchFamily="34" charset="0"/>
              <a:buChar char="•"/>
            </a:pPr>
            <a:r>
              <a:rPr lang="en-US" dirty="0"/>
              <a:t>On the </a:t>
            </a:r>
            <a:r>
              <a:rPr lang="en-US" b="1" dirty="0"/>
              <a:t>MMLU benchmark</a:t>
            </a:r>
            <a:r>
              <a:rPr lang="en-US" dirty="0"/>
              <a:t>, an English-language suite of multiple-choice questions covering 57 subjects, GPT-4 not only outperforms existing models by a considerable margin in English, but also demonstrates strong performance in </a:t>
            </a:r>
            <a:r>
              <a:rPr lang="en-US" b="1" dirty="0"/>
              <a:t>other languages</a:t>
            </a:r>
            <a:r>
              <a:rPr lang="en-US" dirty="0"/>
              <a:t>. </a:t>
            </a:r>
          </a:p>
          <a:p>
            <a:pPr marL="304747" lvl="1" algn="just">
              <a:spcBef>
                <a:spcPts val="1866"/>
              </a:spcBef>
              <a:buFont typeface="Arial" pitchFamily="34" charset="0"/>
              <a:buChar char="•"/>
            </a:pPr>
            <a:r>
              <a:rPr lang="en-US" dirty="0"/>
              <a:t>On translated variants of MMLU, GPT-4 surpasses the English-language state-of-the-art in </a:t>
            </a:r>
            <a:r>
              <a:rPr lang="en-US" b="1" dirty="0"/>
              <a:t>24 of 26 languages </a:t>
            </a:r>
            <a:r>
              <a:rPr lang="en-US" dirty="0"/>
              <a:t>considered. </a:t>
            </a:r>
          </a:p>
        </p:txBody>
      </p:sp>
      <p:pic>
        <p:nvPicPr>
          <p:cNvPr id="5" name="Picture 4">
            <a:extLst>
              <a:ext uri="{FF2B5EF4-FFF2-40B4-BE49-F238E27FC236}">
                <a16:creationId xmlns:a16="http://schemas.microsoft.com/office/drawing/2014/main" id="{EF383092-F431-C940-7AEF-44F334630C15}"/>
              </a:ext>
            </a:extLst>
          </p:cNvPr>
          <p:cNvPicPr>
            <a:picLocks noChangeAspect="1"/>
          </p:cNvPicPr>
          <p:nvPr/>
        </p:nvPicPr>
        <p:blipFill>
          <a:blip r:embed="rId3"/>
          <a:stretch>
            <a:fillRect/>
          </a:stretch>
        </p:blipFill>
        <p:spPr>
          <a:xfrm>
            <a:off x="6094412" y="3688806"/>
            <a:ext cx="5638801" cy="3045720"/>
          </a:xfrm>
          <a:prstGeom prst="rect">
            <a:avLst/>
          </a:prstGeom>
        </p:spPr>
      </p:pic>
    </p:spTree>
    <p:extLst>
      <p:ext uri="{BB962C8B-B14F-4D97-AF65-F5344CB8AC3E}">
        <p14:creationId xmlns:p14="http://schemas.microsoft.com/office/powerpoint/2010/main" val="28812999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7" name="Picture 6">
            <a:extLst>
              <a:ext uri="{FF2B5EF4-FFF2-40B4-BE49-F238E27FC236}">
                <a16:creationId xmlns:a16="http://schemas.microsoft.com/office/drawing/2014/main" id="{70DA7FB1-F485-96B6-A7F0-34579D7322A0}"/>
              </a:ext>
            </a:extLst>
          </p:cNvPr>
          <p:cNvPicPr>
            <a:picLocks noChangeAspect="1"/>
          </p:cNvPicPr>
          <p:nvPr/>
        </p:nvPicPr>
        <p:blipFill>
          <a:blip r:embed="rId3"/>
          <a:stretch>
            <a:fillRect/>
          </a:stretch>
        </p:blipFill>
        <p:spPr>
          <a:xfrm>
            <a:off x="989012" y="990600"/>
            <a:ext cx="10134600" cy="5801550"/>
          </a:xfrm>
          <a:prstGeom prst="rect">
            <a:avLst/>
          </a:prstGeom>
        </p:spPr>
      </p:pic>
    </p:spTree>
    <p:extLst>
      <p:ext uri="{BB962C8B-B14F-4D97-AF65-F5344CB8AC3E}">
        <p14:creationId xmlns:p14="http://schemas.microsoft.com/office/powerpoint/2010/main" val="8792390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7" name="Picture 6">
            <a:extLst>
              <a:ext uri="{FF2B5EF4-FFF2-40B4-BE49-F238E27FC236}">
                <a16:creationId xmlns:a16="http://schemas.microsoft.com/office/drawing/2014/main" id="{1948CC94-4597-5B53-6E8B-F8D5CADE5963}"/>
              </a:ext>
            </a:extLst>
          </p:cNvPr>
          <p:cNvPicPr>
            <a:picLocks noChangeAspect="1"/>
          </p:cNvPicPr>
          <p:nvPr/>
        </p:nvPicPr>
        <p:blipFill>
          <a:blip r:embed="rId3"/>
          <a:stretch>
            <a:fillRect/>
          </a:stretch>
        </p:blipFill>
        <p:spPr>
          <a:xfrm>
            <a:off x="2360612" y="919162"/>
            <a:ext cx="7858125" cy="5865768"/>
          </a:xfrm>
          <a:prstGeom prst="rect">
            <a:avLst/>
          </a:prstGeom>
        </p:spPr>
      </p:pic>
    </p:spTree>
    <p:extLst>
      <p:ext uri="{BB962C8B-B14F-4D97-AF65-F5344CB8AC3E}">
        <p14:creationId xmlns:p14="http://schemas.microsoft.com/office/powerpoint/2010/main" val="27181634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4" name="Picture 3">
            <a:extLst>
              <a:ext uri="{FF2B5EF4-FFF2-40B4-BE49-F238E27FC236}">
                <a16:creationId xmlns:a16="http://schemas.microsoft.com/office/drawing/2014/main" id="{C6B52BA4-DA18-BA14-85D5-DA77236054C8}"/>
              </a:ext>
            </a:extLst>
          </p:cNvPr>
          <p:cNvPicPr>
            <a:picLocks noChangeAspect="1"/>
          </p:cNvPicPr>
          <p:nvPr/>
        </p:nvPicPr>
        <p:blipFill>
          <a:blip r:embed="rId3"/>
          <a:stretch>
            <a:fillRect/>
          </a:stretch>
        </p:blipFill>
        <p:spPr>
          <a:xfrm>
            <a:off x="2589212" y="1062037"/>
            <a:ext cx="7619999" cy="5672626"/>
          </a:xfrm>
          <a:prstGeom prst="rect">
            <a:avLst/>
          </a:prstGeom>
        </p:spPr>
      </p:pic>
    </p:spTree>
    <p:extLst>
      <p:ext uri="{BB962C8B-B14F-4D97-AF65-F5344CB8AC3E}">
        <p14:creationId xmlns:p14="http://schemas.microsoft.com/office/powerpoint/2010/main" val="38944241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dirty="0"/>
              <a:t>Despite its capabilities, GPT-4 has similar </a:t>
            </a:r>
            <a:r>
              <a:rPr lang="en-US" b="1" dirty="0"/>
              <a:t>limitations</a:t>
            </a:r>
            <a:r>
              <a:rPr lang="en-US" dirty="0"/>
              <a:t> as earlier GPT models. </a:t>
            </a:r>
          </a:p>
          <a:p>
            <a:pPr marL="304747" lvl="1" algn="just">
              <a:spcBef>
                <a:spcPts val="1866"/>
              </a:spcBef>
              <a:buFont typeface="Arial" pitchFamily="34" charset="0"/>
              <a:buChar char="•"/>
            </a:pPr>
            <a:r>
              <a:rPr lang="en-US" dirty="0"/>
              <a:t>Most importantly, it still is not fully reliable (it “</a:t>
            </a:r>
            <a:r>
              <a:rPr lang="en-US" b="1" dirty="0"/>
              <a:t>hallucinates</a:t>
            </a:r>
            <a:r>
              <a:rPr lang="en-US" dirty="0"/>
              <a:t>” facts and makes reasoning errors). </a:t>
            </a:r>
          </a:p>
          <a:p>
            <a:pPr marL="304747" lvl="1" algn="just">
              <a:spcBef>
                <a:spcPts val="1866"/>
              </a:spcBef>
              <a:buFont typeface="Arial" pitchFamily="34" charset="0"/>
              <a:buChar char="•"/>
            </a:pPr>
            <a:r>
              <a:rPr lang="en-US" dirty="0"/>
              <a:t>Great care should be taken when using language model outputs, particularly in high-stakes contexts, with the exact protocol (such as </a:t>
            </a:r>
            <a:r>
              <a:rPr lang="en-US" b="1" dirty="0"/>
              <a:t>human review</a:t>
            </a:r>
            <a:r>
              <a:rPr lang="en-US" dirty="0"/>
              <a:t>, </a:t>
            </a:r>
            <a:r>
              <a:rPr lang="en-US" b="1" dirty="0"/>
              <a:t>grounding</a:t>
            </a:r>
            <a:r>
              <a:rPr lang="en-US" dirty="0"/>
              <a:t> with additional context, or avoiding high-stakes uses altogether) matching the needs of specific applications.</a:t>
            </a:r>
          </a:p>
          <a:p>
            <a:pPr marL="304747" lvl="1" algn="just">
              <a:spcBef>
                <a:spcPts val="1866"/>
              </a:spcBef>
              <a:buFont typeface="Arial" pitchFamily="34" charset="0"/>
              <a:buChar char="•"/>
            </a:pPr>
            <a:r>
              <a:rPr lang="en-US" dirty="0"/>
              <a:t>GPT-4 significantly reduces hallucinations relative to previous GPT-3.5 models (which have themselves been improving with continued iteration). </a:t>
            </a:r>
          </a:p>
          <a:p>
            <a:pPr marL="304747" lvl="1" algn="just">
              <a:spcBef>
                <a:spcPts val="1866"/>
              </a:spcBef>
              <a:buFont typeface="Arial" pitchFamily="34" charset="0"/>
              <a:buChar char="•"/>
            </a:pPr>
            <a:r>
              <a:rPr lang="en-US" dirty="0"/>
              <a:t>GPT-4 scores 19 percentage points higher than the latest GPT-3.5 on the internal </a:t>
            </a:r>
            <a:r>
              <a:rPr lang="en-US" dirty="0" err="1"/>
              <a:t>adversarially</a:t>
            </a:r>
            <a:r>
              <a:rPr lang="en-US" dirty="0"/>
              <a:t>-designed factuality evaluations. </a:t>
            </a:r>
          </a:p>
        </p:txBody>
      </p:sp>
    </p:spTree>
    <p:extLst>
      <p:ext uri="{BB962C8B-B14F-4D97-AF65-F5344CB8AC3E}">
        <p14:creationId xmlns:p14="http://schemas.microsoft.com/office/powerpoint/2010/main" val="2820053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5" name="Picture 4">
            <a:extLst>
              <a:ext uri="{FF2B5EF4-FFF2-40B4-BE49-F238E27FC236}">
                <a16:creationId xmlns:a16="http://schemas.microsoft.com/office/drawing/2014/main" id="{B6CBC427-309B-37E0-3CCC-02286D1A4A5E}"/>
              </a:ext>
            </a:extLst>
          </p:cNvPr>
          <p:cNvPicPr>
            <a:picLocks noChangeAspect="1"/>
          </p:cNvPicPr>
          <p:nvPr/>
        </p:nvPicPr>
        <p:blipFill>
          <a:blip r:embed="rId3"/>
          <a:stretch>
            <a:fillRect/>
          </a:stretch>
        </p:blipFill>
        <p:spPr>
          <a:xfrm>
            <a:off x="1590378" y="914400"/>
            <a:ext cx="9380834" cy="5812809"/>
          </a:xfrm>
          <a:prstGeom prst="rect">
            <a:avLst/>
          </a:prstGeom>
        </p:spPr>
      </p:pic>
    </p:spTree>
    <p:extLst>
      <p:ext uri="{BB962C8B-B14F-4D97-AF65-F5344CB8AC3E}">
        <p14:creationId xmlns:p14="http://schemas.microsoft.com/office/powerpoint/2010/main" val="41055976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4" name="Picture 3">
            <a:extLst>
              <a:ext uri="{FF2B5EF4-FFF2-40B4-BE49-F238E27FC236}">
                <a16:creationId xmlns:a16="http://schemas.microsoft.com/office/drawing/2014/main" id="{74445867-D305-AE92-8191-166F0AC4BEFA}"/>
              </a:ext>
            </a:extLst>
          </p:cNvPr>
          <p:cNvPicPr>
            <a:picLocks noChangeAspect="1"/>
          </p:cNvPicPr>
          <p:nvPr/>
        </p:nvPicPr>
        <p:blipFill>
          <a:blip r:embed="rId3"/>
          <a:stretch>
            <a:fillRect/>
          </a:stretch>
        </p:blipFill>
        <p:spPr>
          <a:xfrm>
            <a:off x="1751012" y="966787"/>
            <a:ext cx="8686800" cy="5434146"/>
          </a:xfrm>
          <a:prstGeom prst="rect">
            <a:avLst/>
          </a:prstGeom>
        </p:spPr>
      </p:pic>
    </p:spTree>
    <p:extLst>
      <p:ext uri="{BB962C8B-B14F-4D97-AF65-F5344CB8AC3E}">
        <p14:creationId xmlns:p14="http://schemas.microsoft.com/office/powerpoint/2010/main" val="3078568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5" name="Picture 4">
            <a:extLst>
              <a:ext uri="{FF2B5EF4-FFF2-40B4-BE49-F238E27FC236}">
                <a16:creationId xmlns:a16="http://schemas.microsoft.com/office/drawing/2014/main" id="{8CBF0EE7-2728-210D-86E0-3CEBFB4530E7}"/>
              </a:ext>
            </a:extLst>
          </p:cNvPr>
          <p:cNvPicPr>
            <a:picLocks noChangeAspect="1"/>
          </p:cNvPicPr>
          <p:nvPr/>
        </p:nvPicPr>
        <p:blipFill>
          <a:blip r:embed="rId3"/>
          <a:stretch>
            <a:fillRect/>
          </a:stretch>
        </p:blipFill>
        <p:spPr>
          <a:xfrm>
            <a:off x="1065212" y="1295400"/>
            <a:ext cx="10005724" cy="4238625"/>
          </a:xfrm>
          <a:prstGeom prst="rect">
            <a:avLst/>
          </a:prstGeom>
        </p:spPr>
      </p:pic>
    </p:spTree>
    <p:extLst>
      <p:ext uri="{BB962C8B-B14F-4D97-AF65-F5344CB8AC3E}">
        <p14:creationId xmlns:p14="http://schemas.microsoft.com/office/powerpoint/2010/main" val="5465683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pic>
        <p:nvPicPr>
          <p:cNvPr id="4" name="Picture 3">
            <a:extLst>
              <a:ext uri="{FF2B5EF4-FFF2-40B4-BE49-F238E27FC236}">
                <a16:creationId xmlns:a16="http://schemas.microsoft.com/office/drawing/2014/main" id="{964FCCCC-FAF8-A96C-2A84-197CB7194BDD}"/>
              </a:ext>
            </a:extLst>
          </p:cNvPr>
          <p:cNvPicPr>
            <a:picLocks noChangeAspect="1"/>
          </p:cNvPicPr>
          <p:nvPr/>
        </p:nvPicPr>
        <p:blipFill>
          <a:blip r:embed="rId3"/>
          <a:stretch>
            <a:fillRect/>
          </a:stretch>
        </p:blipFill>
        <p:spPr>
          <a:xfrm>
            <a:off x="1117309" y="1266825"/>
            <a:ext cx="10157354" cy="4324350"/>
          </a:xfrm>
          <a:prstGeom prst="rect">
            <a:avLst/>
          </a:prstGeom>
        </p:spPr>
      </p:pic>
    </p:spTree>
    <p:extLst>
      <p:ext uri="{BB962C8B-B14F-4D97-AF65-F5344CB8AC3E}">
        <p14:creationId xmlns:p14="http://schemas.microsoft.com/office/powerpoint/2010/main" val="23707578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r>
              <a:rPr lang="en-US" dirty="0"/>
              <a:t>GPT-4 accepts prompts consisting of </a:t>
            </a:r>
            <a:r>
              <a:rPr lang="en-US" b="1" dirty="0"/>
              <a:t>both images and text</a:t>
            </a:r>
            <a:r>
              <a:rPr lang="en-US" dirty="0"/>
              <a:t>, which—parallel to the text-only setting—lets the user specify any vision or language task. </a:t>
            </a:r>
          </a:p>
          <a:p>
            <a:pPr marL="731392" lvl="2" algn="just">
              <a:spcBef>
                <a:spcPts val="1866"/>
              </a:spcBef>
              <a:buFont typeface="Arial" pitchFamily="34" charset="0"/>
              <a:buChar char="•"/>
            </a:pPr>
            <a:r>
              <a:rPr lang="en-US" dirty="0"/>
              <a:t>Specifically, the model generates text outputs given inputs consisting of arbitrarily interlaced text and images.</a:t>
            </a:r>
          </a:p>
          <a:p>
            <a:pPr marL="731392" lvl="2" algn="just">
              <a:spcBef>
                <a:spcPts val="1866"/>
              </a:spcBef>
              <a:buFont typeface="Arial" pitchFamily="34" charset="0"/>
              <a:buChar char="•"/>
            </a:pPr>
            <a:r>
              <a:rPr lang="en-US" dirty="0"/>
              <a:t>Over a range of domains—including </a:t>
            </a:r>
            <a:r>
              <a:rPr lang="en-US" b="1" dirty="0"/>
              <a:t>documents</a:t>
            </a:r>
            <a:r>
              <a:rPr lang="en-US" dirty="0"/>
              <a:t> with text and </a:t>
            </a:r>
            <a:r>
              <a:rPr lang="en-US" b="1" dirty="0"/>
              <a:t>photographs</a:t>
            </a:r>
            <a:r>
              <a:rPr lang="en-US" dirty="0"/>
              <a:t>, </a:t>
            </a:r>
            <a:r>
              <a:rPr lang="en-US" b="1" dirty="0"/>
              <a:t>diagrams</a:t>
            </a:r>
            <a:r>
              <a:rPr lang="en-US" dirty="0"/>
              <a:t>, or </a:t>
            </a:r>
            <a:r>
              <a:rPr lang="en-US" b="1" dirty="0"/>
              <a:t>screenshots</a:t>
            </a:r>
            <a:r>
              <a:rPr lang="en-US" dirty="0"/>
              <a:t>—GPT-4 exhibits similar capabilities as it does on text-only inputs.</a:t>
            </a:r>
          </a:p>
          <a:p>
            <a:pPr marL="731392" lvl="2" algn="just">
              <a:spcBef>
                <a:spcPts val="1866"/>
              </a:spcBef>
              <a:buFont typeface="Arial" pitchFamily="34" charset="0"/>
              <a:buChar char="•"/>
            </a:pPr>
            <a:endParaRPr lang="en-US" dirty="0"/>
          </a:p>
        </p:txBody>
      </p:sp>
    </p:spTree>
    <p:extLst>
      <p:ext uri="{BB962C8B-B14F-4D97-AF65-F5344CB8AC3E}">
        <p14:creationId xmlns:p14="http://schemas.microsoft.com/office/powerpoint/2010/main" val="26283339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BD4B7540-9C2D-E7C6-F234-FF1528E6339A}"/>
              </a:ext>
            </a:extLst>
          </p:cNvPr>
          <p:cNvPicPr>
            <a:picLocks noChangeAspect="1"/>
          </p:cNvPicPr>
          <p:nvPr/>
        </p:nvPicPr>
        <p:blipFill>
          <a:blip r:embed="rId3"/>
          <a:stretch>
            <a:fillRect/>
          </a:stretch>
        </p:blipFill>
        <p:spPr>
          <a:xfrm>
            <a:off x="3198812" y="1518076"/>
            <a:ext cx="7019925" cy="5212924"/>
          </a:xfrm>
          <a:prstGeom prst="rect">
            <a:avLst/>
          </a:prstGeom>
        </p:spPr>
      </p:pic>
    </p:spTree>
    <p:extLst>
      <p:ext uri="{BB962C8B-B14F-4D97-AF65-F5344CB8AC3E}">
        <p14:creationId xmlns:p14="http://schemas.microsoft.com/office/powerpoint/2010/main" val="217956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E76D414F-6A8E-964B-0CE3-D6EB5DB18237}"/>
              </a:ext>
            </a:extLst>
          </p:cNvPr>
          <p:cNvPicPr>
            <a:picLocks noChangeAspect="1"/>
          </p:cNvPicPr>
          <p:nvPr/>
        </p:nvPicPr>
        <p:blipFill>
          <a:blip r:embed="rId3"/>
          <a:stretch>
            <a:fillRect/>
          </a:stretch>
        </p:blipFill>
        <p:spPr>
          <a:xfrm>
            <a:off x="2067182" y="2108993"/>
            <a:ext cx="8751630" cy="3376613"/>
          </a:xfrm>
          <a:prstGeom prst="rect">
            <a:avLst/>
          </a:prstGeom>
        </p:spPr>
      </p:pic>
    </p:spTree>
    <p:extLst>
      <p:ext uri="{BB962C8B-B14F-4D97-AF65-F5344CB8AC3E}">
        <p14:creationId xmlns:p14="http://schemas.microsoft.com/office/powerpoint/2010/main" val="2319635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B2C25C8D-8C98-2A70-0631-56D3F6D8A5BF}"/>
              </a:ext>
            </a:extLst>
          </p:cNvPr>
          <p:cNvPicPr>
            <a:picLocks noChangeAspect="1"/>
          </p:cNvPicPr>
          <p:nvPr/>
        </p:nvPicPr>
        <p:blipFill>
          <a:blip r:embed="rId3"/>
          <a:stretch>
            <a:fillRect/>
          </a:stretch>
        </p:blipFill>
        <p:spPr>
          <a:xfrm>
            <a:off x="2884487" y="1244599"/>
            <a:ext cx="7858125" cy="5477185"/>
          </a:xfrm>
          <a:prstGeom prst="rect">
            <a:avLst/>
          </a:prstGeom>
        </p:spPr>
      </p:pic>
    </p:spTree>
    <p:extLst>
      <p:ext uri="{BB962C8B-B14F-4D97-AF65-F5344CB8AC3E}">
        <p14:creationId xmlns:p14="http://schemas.microsoft.com/office/powerpoint/2010/main" val="35870702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B4860B03-7B83-DC46-970F-1AE15C408AB5}"/>
              </a:ext>
            </a:extLst>
          </p:cNvPr>
          <p:cNvPicPr>
            <a:picLocks noChangeAspect="1"/>
          </p:cNvPicPr>
          <p:nvPr/>
        </p:nvPicPr>
        <p:blipFill>
          <a:blip r:embed="rId3"/>
          <a:stretch>
            <a:fillRect/>
          </a:stretch>
        </p:blipFill>
        <p:spPr>
          <a:xfrm>
            <a:off x="1275476" y="1752600"/>
            <a:ext cx="10276708" cy="4648200"/>
          </a:xfrm>
          <a:prstGeom prst="rect">
            <a:avLst/>
          </a:prstGeom>
        </p:spPr>
      </p:pic>
    </p:spTree>
    <p:extLst>
      <p:ext uri="{BB962C8B-B14F-4D97-AF65-F5344CB8AC3E}">
        <p14:creationId xmlns:p14="http://schemas.microsoft.com/office/powerpoint/2010/main" val="38088624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9C5FFC66-87E3-BBB8-63E7-4953414FE09B}"/>
              </a:ext>
            </a:extLst>
          </p:cNvPr>
          <p:cNvPicPr>
            <a:picLocks noChangeAspect="1"/>
          </p:cNvPicPr>
          <p:nvPr/>
        </p:nvPicPr>
        <p:blipFill>
          <a:blip r:embed="rId3"/>
          <a:stretch>
            <a:fillRect/>
          </a:stretch>
        </p:blipFill>
        <p:spPr>
          <a:xfrm>
            <a:off x="1446212" y="1890712"/>
            <a:ext cx="9735716" cy="3925888"/>
          </a:xfrm>
          <a:prstGeom prst="rect">
            <a:avLst/>
          </a:prstGeom>
        </p:spPr>
      </p:pic>
    </p:spTree>
    <p:extLst>
      <p:ext uri="{BB962C8B-B14F-4D97-AF65-F5344CB8AC3E}">
        <p14:creationId xmlns:p14="http://schemas.microsoft.com/office/powerpoint/2010/main" val="30637574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4C0220E9-3FC1-4508-641D-E72DD38C85EF}"/>
              </a:ext>
            </a:extLst>
          </p:cNvPr>
          <p:cNvPicPr>
            <a:picLocks noChangeAspect="1"/>
          </p:cNvPicPr>
          <p:nvPr/>
        </p:nvPicPr>
        <p:blipFill>
          <a:blip r:embed="rId3"/>
          <a:stretch>
            <a:fillRect/>
          </a:stretch>
        </p:blipFill>
        <p:spPr>
          <a:xfrm>
            <a:off x="1903412" y="1524000"/>
            <a:ext cx="9063408" cy="4767263"/>
          </a:xfrm>
          <a:prstGeom prst="rect">
            <a:avLst/>
          </a:prstGeom>
        </p:spPr>
      </p:pic>
    </p:spTree>
    <p:extLst>
      <p:ext uri="{BB962C8B-B14F-4D97-AF65-F5344CB8AC3E}">
        <p14:creationId xmlns:p14="http://schemas.microsoft.com/office/powerpoint/2010/main" val="32724107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62C58969-A8D8-2DD9-9166-062F01F92DCF}"/>
              </a:ext>
            </a:extLst>
          </p:cNvPr>
          <p:cNvPicPr>
            <a:picLocks noChangeAspect="1"/>
          </p:cNvPicPr>
          <p:nvPr/>
        </p:nvPicPr>
        <p:blipFill>
          <a:blip r:embed="rId3"/>
          <a:stretch>
            <a:fillRect/>
          </a:stretch>
        </p:blipFill>
        <p:spPr>
          <a:xfrm>
            <a:off x="3122612" y="1041400"/>
            <a:ext cx="6848475" cy="5536381"/>
          </a:xfrm>
          <a:prstGeom prst="rect">
            <a:avLst/>
          </a:prstGeom>
        </p:spPr>
      </p:pic>
    </p:spTree>
    <p:extLst>
      <p:ext uri="{BB962C8B-B14F-4D97-AF65-F5344CB8AC3E}">
        <p14:creationId xmlns:p14="http://schemas.microsoft.com/office/powerpoint/2010/main" val="13857859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B2509E73-858C-BB9F-BCB1-5ED56E56AC60}"/>
              </a:ext>
            </a:extLst>
          </p:cNvPr>
          <p:cNvPicPr>
            <a:picLocks noChangeAspect="1"/>
          </p:cNvPicPr>
          <p:nvPr/>
        </p:nvPicPr>
        <p:blipFill>
          <a:blip r:embed="rId3"/>
          <a:stretch>
            <a:fillRect/>
          </a:stretch>
        </p:blipFill>
        <p:spPr>
          <a:xfrm>
            <a:off x="1336798" y="2133600"/>
            <a:ext cx="9718376" cy="2376488"/>
          </a:xfrm>
          <a:prstGeom prst="rect">
            <a:avLst/>
          </a:prstGeom>
        </p:spPr>
      </p:pic>
    </p:spTree>
    <p:extLst>
      <p:ext uri="{BB962C8B-B14F-4D97-AF65-F5344CB8AC3E}">
        <p14:creationId xmlns:p14="http://schemas.microsoft.com/office/powerpoint/2010/main" val="4267793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245A5336-A91F-8C51-E60A-857A696BD00E}"/>
              </a:ext>
            </a:extLst>
          </p:cNvPr>
          <p:cNvPicPr>
            <a:picLocks noChangeAspect="1"/>
          </p:cNvPicPr>
          <p:nvPr/>
        </p:nvPicPr>
        <p:blipFill>
          <a:blip r:embed="rId3"/>
          <a:stretch>
            <a:fillRect/>
          </a:stretch>
        </p:blipFill>
        <p:spPr>
          <a:xfrm>
            <a:off x="3019855" y="1257300"/>
            <a:ext cx="8254808" cy="5219700"/>
          </a:xfrm>
          <a:prstGeom prst="rect">
            <a:avLst/>
          </a:prstGeom>
        </p:spPr>
      </p:pic>
    </p:spTree>
    <p:extLst>
      <p:ext uri="{BB962C8B-B14F-4D97-AF65-F5344CB8AC3E}">
        <p14:creationId xmlns:p14="http://schemas.microsoft.com/office/powerpoint/2010/main" val="37221684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DD3C4FDE-8589-D32A-0CA2-8F3AA4C29163}"/>
              </a:ext>
            </a:extLst>
          </p:cNvPr>
          <p:cNvPicPr>
            <a:picLocks noChangeAspect="1"/>
          </p:cNvPicPr>
          <p:nvPr/>
        </p:nvPicPr>
        <p:blipFill>
          <a:blip r:embed="rId3"/>
          <a:stretch>
            <a:fillRect/>
          </a:stretch>
        </p:blipFill>
        <p:spPr>
          <a:xfrm>
            <a:off x="2894012" y="1828800"/>
            <a:ext cx="8372449" cy="4424363"/>
          </a:xfrm>
          <a:prstGeom prst="rect">
            <a:avLst/>
          </a:prstGeom>
        </p:spPr>
      </p:pic>
    </p:spTree>
    <p:extLst>
      <p:ext uri="{BB962C8B-B14F-4D97-AF65-F5344CB8AC3E}">
        <p14:creationId xmlns:p14="http://schemas.microsoft.com/office/powerpoint/2010/main" val="9318847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760668F0-6DCB-97BE-D329-405AD4F621DA}"/>
              </a:ext>
            </a:extLst>
          </p:cNvPr>
          <p:cNvPicPr>
            <a:picLocks noChangeAspect="1"/>
          </p:cNvPicPr>
          <p:nvPr/>
        </p:nvPicPr>
        <p:blipFill>
          <a:blip r:embed="rId3"/>
          <a:stretch>
            <a:fillRect/>
          </a:stretch>
        </p:blipFill>
        <p:spPr>
          <a:xfrm>
            <a:off x="3656012" y="976312"/>
            <a:ext cx="7262812" cy="5798989"/>
          </a:xfrm>
          <a:prstGeom prst="rect">
            <a:avLst/>
          </a:prstGeom>
        </p:spPr>
      </p:pic>
    </p:spTree>
    <p:extLst>
      <p:ext uri="{BB962C8B-B14F-4D97-AF65-F5344CB8AC3E}">
        <p14:creationId xmlns:p14="http://schemas.microsoft.com/office/powerpoint/2010/main" val="11575086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9BAF4CED-E301-BC99-BA82-539CB7886164}"/>
              </a:ext>
            </a:extLst>
          </p:cNvPr>
          <p:cNvPicPr>
            <a:picLocks noChangeAspect="1"/>
          </p:cNvPicPr>
          <p:nvPr/>
        </p:nvPicPr>
        <p:blipFill>
          <a:blip r:embed="rId3"/>
          <a:stretch>
            <a:fillRect/>
          </a:stretch>
        </p:blipFill>
        <p:spPr>
          <a:xfrm>
            <a:off x="2913061" y="1085849"/>
            <a:ext cx="8361601" cy="5373811"/>
          </a:xfrm>
          <a:prstGeom prst="rect">
            <a:avLst/>
          </a:prstGeom>
        </p:spPr>
      </p:pic>
    </p:spTree>
    <p:extLst>
      <p:ext uri="{BB962C8B-B14F-4D97-AF65-F5344CB8AC3E}">
        <p14:creationId xmlns:p14="http://schemas.microsoft.com/office/powerpoint/2010/main" val="39271346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63BD1352-FE88-A7F0-6811-F1FAEC19212A}"/>
              </a:ext>
            </a:extLst>
          </p:cNvPr>
          <p:cNvPicPr>
            <a:picLocks noChangeAspect="1"/>
          </p:cNvPicPr>
          <p:nvPr/>
        </p:nvPicPr>
        <p:blipFill>
          <a:blip r:embed="rId3"/>
          <a:stretch>
            <a:fillRect/>
          </a:stretch>
        </p:blipFill>
        <p:spPr>
          <a:xfrm>
            <a:off x="3362085" y="1336508"/>
            <a:ext cx="7532927" cy="5216692"/>
          </a:xfrm>
          <a:prstGeom prst="rect">
            <a:avLst/>
          </a:prstGeom>
        </p:spPr>
      </p:pic>
    </p:spTree>
    <p:extLst>
      <p:ext uri="{BB962C8B-B14F-4D97-AF65-F5344CB8AC3E}">
        <p14:creationId xmlns:p14="http://schemas.microsoft.com/office/powerpoint/2010/main" val="187651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Visual Inputs: </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C1A68D7E-338D-FE7A-4788-C88114A1C039}"/>
              </a:ext>
            </a:extLst>
          </p:cNvPr>
          <p:cNvPicPr>
            <a:picLocks noChangeAspect="1"/>
          </p:cNvPicPr>
          <p:nvPr/>
        </p:nvPicPr>
        <p:blipFill>
          <a:blip r:embed="rId3"/>
          <a:stretch>
            <a:fillRect/>
          </a:stretch>
        </p:blipFill>
        <p:spPr>
          <a:xfrm>
            <a:off x="608014" y="2192586"/>
            <a:ext cx="11125199" cy="3522414"/>
          </a:xfrm>
          <a:prstGeom prst="rect">
            <a:avLst/>
          </a:prstGeom>
        </p:spPr>
      </p:pic>
    </p:spTree>
    <p:extLst>
      <p:ext uri="{BB962C8B-B14F-4D97-AF65-F5344CB8AC3E}">
        <p14:creationId xmlns:p14="http://schemas.microsoft.com/office/powerpoint/2010/main" val="2693747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Socratic tutor</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59D8590C-5B56-E1BF-89EC-8C03C48F7CE7}"/>
              </a:ext>
            </a:extLst>
          </p:cNvPr>
          <p:cNvPicPr>
            <a:picLocks noChangeAspect="1"/>
          </p:cNvPicPr>
          <p:nvPr/>
        </p:nvPicPr>
        <p:blipFill>
          <a:blip r:embed="rId3"/>
          <a:stretch>
            <a:fillRect/>
          </a:stretch>
        </p:blipFill>
        <p:spPr>
          <a:xfrm>
            <a:off x="2284412" y="1604962"/>
            <a:ext cx="8183605" cy="4643438"/>
          </a:xfrm>
          <a:prstGeom prst="rect">
            <a:avLst/>
          </a:prstGeom>
        </p:spPr>
      </p:pic>
    </p:spTree>
    <p:extLst>
      <p:ext uri="{BB962C8B-B14F-4D97-AF65-F5344CB8AC3E}">
        <p14:creationId xmlns:p14="http://schemas.microsoft.com/office/powerpoint/2010/main" val="25873566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Socratic tutor</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EB677E26-7A18-3892-38CF-68327A1B36A3}"/>
              </a:ext>
            </a:extLst>
          </p:cNvPr>
          <p:cNvPicPr>
            <a:picLocks noChangeAspect="1"/>
          </p:cNvPicPr>
          <p:nvPr/>
        </p:nvPicPr>
        <p:blipFill>
          <a:blip r:embed="rId3"/>
          <a:stretch>
            <a:fillRect/>
          </a:stretch>
        </p:blipFill>
        <p:spPr>
          <a:xfrm>
            <a:off x="2360086" y="1725611"/>
            <a:ext cx="7925326" cy="5040229"/>
          </a:xfrm>
          <a:prstGeom prst="rect">
            <a:avLst/>
          </a:prstGeom>
        </p:spPr>
      </p:pic>
    </p:spTree>
    <p:extLst>
      <p:ext uri="{BB962C8B-B14F-4D97-AF65-F5344CB8AC3E}">
        <p14:creationId xmlns:p14="http://schemas.microsoft.com/office/powerpoint/2010/main" val="27227691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Socratic tutor</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CA327490-B45B-AACE-93B4-EBA5C29CE757}"/>
              </a:ext>
            </a:extLst>
          </p:cNvPr>
          <p:cNvPicPr>
            <a:picLocks noChangeAspect="1"/>
          </p:cNvPicPr>
          <p:nvPr/>
        </p:nvPicPr>
        <p:blipFill>
          <a:blip r:embed="rId3"/>
          <a:stretch>
            <a:fillRect/>
          </a:stretch>
        </p:blipFill>
        <p:spPr>
          <a:xfrm>
            <a:off x="2482849" y="1600200"/>
            <a:ext cx="7573963" cy="4800600"/>
          </a:xfrm>
          <a:prstGeom prst="rect">
            <a:avLst/>
          </a:prstGeom>
        </p:spPr>
      </p:pic>
    </p:spTree>
    <p:extLst>
      <p:ext uri="{BB962C8B-B14F-4D97-AF65-F5344CB8AC3E}">
        <p14:creationId xmlns:p14="http://schemas.microsoft.com/office/powerpoint/2010/main" val="720273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Socratic tutor</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FB04971E-D77C-2E50-4E9E-301F13D9D2A1}"/>
              </a:ext>
            </a:extLst>
          </p:cNvPr>
          <p:cNvPicPr>
            <a:picLocks noChangeAspect="1"/>
          </p:cNvPicPr>
          <p:nvPr/>
        </p:nvPicPr>
        <p:blipFill>
          <a:blip r:embed="rId3"/>
          <a:stretch>
            <a:fillRect/>
          </a:stretch>
        </p:blipFill>
        <p:spPr>
          <a:xfrm>
            <a:off x="2539047" y="1600200"/>
            <a:ext cx="7670165" cy="4895850"/>
          </a:xfrm>
          <a:prstGeom prst="rect">
            <a:avLst/>
          </a:prstGeom>
        </p:spPr>
      </p:pic>
    </p:spTree>
    <p:extLst>
      <p:ext uri="{BB962C8B-B14F-4D97-AF65-F5344CB8AC3E}">
        <p14:creationId xmlns:p14="http://schemas.microsoft.com/office/powerpoint/2010/main" val="21719681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Socratic tutor</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0B0FB299-303D-94F0-EF70-73348E7C2BFB}"/>
              </a:ext>
            </a:extLst>
          </p:cNvPr>
          <p:cNvPicPr>
            <a:picLocks noChangeAspect="1"/>
          </p:cNvPicPr>
          <p:nvPr/>
        </p:nvPicPr>
        <p:blipFill>
          <a:blip r:embed="rId3"/>
          <a:stretch>
            <a:fillRect/>
          </a:stretch>
        </p:blipFill>
        <p:spPr>
          <a:xfrm>
            <a:off x="1562718" y="1981200"/>
            <a:ext cx="9063388" cy="2895600"/>
          </a:xfrm>
          <a:prstGeom prst="rect">
            <a:avLst/>
          </a:prstGeom>
        </p:spPr>
      </p:pic>
    </p:spTree>
    <p:extLst>
      <p:ext uri="{BB962C8B-B14F-4D97-AF65-F5344CB8AC3E}">
        <p14:creationId xmlns:p14="http://schemas.microsoft.com/office/powerpoint/2010/main" val="28304514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JSON AI assistant</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E89CA51D-CE24-B132-828D-3647824074D4}"/>
              </a:ext>
            </a:extLst>
          </p:cNvPr>
          <p:cNvPicPr>
            <a:picLocks noChangeAspect="1"/>
          </p:cNvPicPr>
          <p:nvPr/>
        </p:nvPicPr>
        <p:blipFill>
          <a:blip r:embed="rId3"/>
          <a:stretch>
            <a:fillRect/>
          </a:stretch>
        </p:blipFill>
        <p:spPr>
          <a:xfrm>
            <a:off x="1751012" y="1752600"/>
            <a:ext cx="8646752" cy="4495800"/>
          </a:xfrm>
          <a:prstGeom prst="rect">
            <a:avLst/>
          </a:prstGeom>
        </p:spPr>
      </p:pic>
    </p:spTree>
    <p:extLst>
      <p:ext uri="{BB962C8B-B14F-4D97-AF65-F5344CB8AC3E}">
        <p14:creationId xmlns:p14="http://schemas.microsoft.com/office/powerpoint/2010/main" val="2936249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JSON AI assistant</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4A90290D-8075-29CA-FE6D-11FEE0F6A401}"/>
              </a:ext>
            </a:extLst>
          </p:cNvPr>
          <p:cNvPicPr>
            <a:picLocks noChangeAspect="1"/>
          </p:cNvPicPr>
          <p:nvPr/>
        </p:nvPicPr>
        <p:blipFill>
          <a:blip r:embed="rId3"/>
          <a:stretch>
            <a:fillRect/>
          </a:stretch>
        </p:blipFill>
        <p:spPr>
          <a:xfrm>
            <a:off x="1375406" y="2133600"/>
            <a:ext cx="9641159" cy="2381250"/>
          </a:xfrm>
          <a:prstGeom prst="rect">
            <a:avLst/>
          </a:prstGeom>
        </p:spPr>
      </p:pic>
    </p:spTree>
    <p:extLst>
      <p:ext uri="{BB962C8B-B14F-4D97-AF65-F5344CB8AC3E}">
        <p14:creationId xmlns:p14="http://schemas.microsoft.com/office/powerpoint/2010/main" val="42510890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JSON AI assistant</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31FB759F-DE09-CB01-7278-838DD653D460}"/>
              </a:ext>
            </a:extLst>
          </p:cNvPr>
          <p:cNvPicPr>
            <a:picLocks noChangeAspect="1"/>
          </p:cNvPicPr>
          <p:nvPr/>
        </p:nvPicPr>
        <p:blipFill>
          <a:blip r:embed="rId3"/>
          <a:stretch>
            <a:fillRect/>
          </a:stretch>
        </p:blipFill>
        <p:spPr>
          <a:xfrm>
            <a:off x="2055812" y="1600200"/>
            <a:ext cx="8077200" cy="4800600"/>
          </a:xfrm>
          <a:prstGeom prst="rect">
            <a:avLst/>
          </a:prstGeom>
        </p:spPr>
      </p:pic>
    </p:spTree>
    <p:extLst>
      <p:ext uri="{BB962C8B-B14F-4D97-AF65-F5344CB8AC3E}">
        <p14:creationId xmlns:p14="http://schemas.microsoft.com/office/powerpoint/2010/main" val="4699216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JSON AI assistant</a:t>
            </a:r>
          </a:p>
          <a:p>
            <a:pPr marL="731392" lvl="2" algn="just">
              <a:spcBef>
                <a:spcPts val="1866"/>
              </a:spcBef>
              <a:buFont typeface="Arial" pitchFamily="34" charset="0"/>
              <a:buChar char="•"/>
            </a:pPr>
            <a:endParaRPr lang="en-US" dirty="0"/>
          </a:p>
        </p:txBody>
      </p:sp>
      <p:pic>
        <p:nvPicPr>
          <p:cNvPr id="5" name="Picture 4">
            <a:extLst>
              <a:ext uri="{FF2B5EF4-FFF2-40B4-BE49-F238E27FC236}">
                <a16:creationId xmlns:a16="http://schemas.microsoft.com/office/drawing/2014/main" id="{C6EC46F9-3745-613A-151C-1F63CEFCAED4}"/>
              </a:ext>
            </a:extLst>
          </p:cNvPr>
          <p:cNvPicPr>
            <a:picLocks noChangeAspect="1"/>
          </p:cNvPicPr>
          <p:nvPr/>
        </p:nvPicPr>
        <p:blipFill>
          <a:blip r:embed="rId3"/>
          <a:stretch>
            <a:fillRect/>
          </a:stretch>
        </p:blipFill>
        <p:spPr>
          <a:xfrm>
            <a:off x="1447359" y="2138362"/>
            <a:ext cx="9066653" cy="3678238"/>
          </a:xfrm>
          <a:prstGeom prst="rect">
            <a:avLst/>
          </a:prstGeom>
        </p:spPr>
      </p:pic>
    </p:spTree>
    <p:extLst>
      <p:ext uri="{BB962C8B-B14F-4D97-AF65-F5344CB8AC3E}">
        <p14:creationId xmlns:p14="http://schemas.microsoft.com/office/powerpoint/2010/main" val="10495618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Steerability: JSON AI assistant</a:t>
            </a:r>
          </a:p>
          <a:p>
            <a:pPr marL="731392" lvl="2" algn="just">
              <a:spcBef>
                <a:spcPts val="1866"/>
              </a:spcBef>
              <a:buFont typeface="Arial" pitchFamily="34" charset="0"/>
              <a:buChar char="•"/>
            </a:pPr>
            <a:endParaRPr lang="en-US" dirty="0"/>
          </a:p>
        </p:txBody>
      </p:sp>
      <p:pic>
        <p:nvPicPr>
          <p:cNvPr id="6" name="Picture 5">
            <a:extLst>
              <a:ext uri="{FF2B5EF4-FFF2-40B4-BE49-F238E27FC236}">
                <a16:creationId xmlns:a16="http://schemas.microsoft.com/office/drawing/2014/main" id="{8B4ED614-9B89-BDC7-AF52-1167E3708DE8}"/>
              </a:ext>
            </a:extLst>
          </p:cNvPr>
          <p:cNvPicPr>
            <a:picLocks noChangeAspect="1"/>
          </p:cNvPicPr>
          <p:nvPr/>
        </p:nvPicPr>
        <p:blipFill>
          <a:blip r:embed="rId3"/>
          <a:stretch>
            <a:fillRect/>
          </a:stretch>
        </p:blipFill>
        <p:spPr>
          <a:xfrm>
            <a:off x="4999036" y="1041400"/>
            <a:ext cx="6581775" cy="5648325"/>
          </a:xfrm>
          <a:prstGeom prst="rect">
            <a:avLst/>
          </a:prstGeom>
        </p:spPr>
      </p:pic>
    </p:spTree>
    <p:extLst>
      <p:ext uri="{BB962C8B-B14F-4D97-AF65-F5344CB8AC3E}">
        <p14:creationId xmlns:p14="http://schemas.microsoft.com/office/powerpoint/2010/main" val="16496184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lstStyle/>
          <a:p>
            <a:pPr algn="ctr"/>
            <a:r>
              <a:rPr lang="en-US" b="1" dirty="0"/>
              <a:t>GPT-4</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dirty="0"/>
              <a:t>ChatGPT Plus is a GPT-4 backed version of ChatGPT available for a US$20 per month subscription fee.</a:t>
            </a:r>
          </a:p>
          <a:p>
            <a:pPr marL="304747" lvl="1" algn="just">
              <a:spcBef>
                <a:spcPts val="1866"/>
              </a:spcBef>
              <a:buFont typeface="Arial" pitchFamily="34" charset="0"/>
              <a:buChar char="•"/>
            </a:pPr>
            <a:r>
              <a:rPr lang="en-US" dirty="0" err="1"/>
              <a:t>OpenAI</a:t>
            </a:r>
            <a:r>
              <a:rPr lang="en-US" dirty="0"/>
              <a:t> also makes GPT-4 available to a select group of applicants through their </a:t>
            </a:r>
            <a:br>
              <a:rPr lang="en-US" dirty="0"/>
            </a:br>
            <a:r>
              <a:rPr lang="en-US" b="1" dirty="0"/>
              <a:t>GPT-4 API</a:t>
            </a:r>
            <a:r>
              <a:rPr lang="en-US" dirty="0"/>
              <a:t> waitlist. </a:t>
            </a:r>
          </a:p>
          <a:p>
            <a:pPr marL="304747" lvl="1" algn="just">
              <a:spcBef>
                <a:spcPts val="1866"/>
              </a:spcBef>
              <a:buFont typeface="Arial" pitchFamily="34" charset="0"/>
              <a:buChar char="•"/>
            </a:pPr>
            <a:r>
              <a:rPr lang="en-US" dirty="0"/>
              <a:t>After being accepted, an additional fee of US$0.03 per 1000 tokens in the initial text provided to the model ("prompt"), and US$0.06 per 1000 tokens that the model generates ("completion"), is required to use the version of the model with an 8192-token context window; for the 32768-token version, those prices are doubled.</a:t>
            </a:r>
          </a:p>
        </p:txBody>
      </p:sp>
      <p:pic>
        <p:nvPicPr>
          <p:cNvPr id="11266" name="Picture 2" descr="GPT-4 API Pricing Full Details - How to request GPT-4 API access - YouTube">
            <a:extLst>
              <a:ext uri="{FF2B5EF4-FFF2-40B4-BE49-F238E27FC236}">
                <a16:creationId xmlns:a16="http://schemas.microsoft.com/office/drawing/2014/main" id="{B3A50EFC-744F-C4DA-2CF0-B2068C3A19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7180" y="4102100"/>
            <a:ext cx="4694464" cy="2628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6782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fontScale="90000"/>
          </a:bodyPr>
          <a:lstStyle/>
          <a:p>
            <a:pPr algn="ctr"/>
            <a:r>
              <a:rPr lang="en-US" b="1" dirty="0"/>
              <a:t>Potential Future Developments in LLMs</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Multimodal Learning: </a:t>
            </a:r>
            <a:r>
              <a:rPr lang="en-US" dirty="0"/>
              <a:t>LLMs have primarily focused on text-based data, but there is a growing interest in incorporating other forms of data, such as images, </a:t>
            </a:r>
            <a:r>
              <a:rPr lang="en-US" b="1" dirty="0"/>
              <a:t>videos</a:t>
            </a:r>
            <a:r>
              <a:rPr lang="en-US" dirty="0"/>
              <a:t>, and </a:t>
            </a:r>
            <a:r>
              <a:rPr lang="en-US" b="1" dirty="0"/>
              <a:t>audio</a:t>
            </a:r>
            <a:r>
              <a:rPr lang="en-US" dirty="0"/>
              <a:t>, to create more comprehensive models.</a:t>
            </a:r>
          </a:p>
          <a:p>
            <a:pPr marL="304747" lvl="1" algn="just">
              <a:spcBef>
                <a:spcPts val="1866"/>
              </a:spcBef>
              <a:buFont typeface="Arial" pitchFamily="34" charset="0"/>
              <a:buChar char="•"/>
            </a:pPr>
            <a:r>
              <a:rPr lang="en-US" b="1" dirty="0"/>
              <a:t>More Efficient Models: </a:t>
            </a:r>
            <a:r>
              <a:rPr lang="en-US" dirty="0"/>
              <a:t>Current LLMs require massive amounts of computational power, making them inaccessible to many researchers and organizations. Future developments may focus on creating more efficient models that can run on smaller hardware and use less power.</a:t>
            </a:r>
          </a:p>
          <a:p>
            <a:pPr marL="304747" lvl="1" algn="just">
              <a:spcBef>
                <a:spcPts val="1866"/>
              </a:spcBef>
              <a:buFont typeface="Arial" pitchFamily="34" charset="0"/>
              <a:buChar char="•"/>
            </a:pPr>
            <a:r>
              <a:rPr lang="en-US" b="1" dirty="0"/>
              <a:t>Personalized Learning: </a:t>
            </a:r>
            <a:r>
              <a:rPr lang="en-US" dirty="0"/>
              <a:t>LLMs can be personalized to specific users, allowing for more tailored responses and better user engagement. Future developments may focus on refining this capability to create more individualized experiences.</a:t>
            </a:r>
          </a:p>
          <a:p>
            <a:pPr marL="304747" lvl="1" algn="just">
              <a:spcBef>
                <a:spcPts val="1866"/>
              </a:spcBef>
              <a:buFont typeface="Arial" pitchFamily="34" charset="0"/>
              <a:buChar char="•"/>
            </a:pPr>
            <a:r>
              <a:rPr lang="en-US" b="1" dirty="0"/>
              <a:t>Better Understanding of Context: </a:t>
            </a:r>
            <a:r>
              <a:rPr lang="en-US" dirty="0"/>
              <a:t>LLMs are trained on large amounts of data, but they may not always understand the context in which the data was generated. Future developments may focus on improving contextual understanding to create more accurate and effective models.</a:t>
            </a:r>
          </a:p>
        </p:txBody>
      </p:sp>
    </p:spTree>
    <p:extLst>
      <p:ext uri="{BB962C8B-B14F-4D97-AF65-F5344CB8AC3E}">
        <p14:creationId xmlns:p14="http://schemas.microsoft.com/office/powerpoint/2010/main" val="2713576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fontScale="90000"/>
          </a:bodyPr>
          <a:lstStyle/>
          <a:p>
            <a:pPr algn="ctr"/>
            <a:r>
              <a:rPr lang="en-US" b="1" dirty="0"/>
              <a:t>Potential Future Developments in LLMs</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New and Innovative Uses of LLMs:</a:t>
            </a:r>
          </a:p>
          <a:p>
            <a:pPr marL="731392" lvl="2" algn="just">
              <a:spcBef>
                <a:spcPts val="1866"/>
              </a:spcBef>
              <a:buFont typeface="Arial" pitchFamily="34" charset="0"/>
              <a:buChar char="•"/>
            </a:pPr>
            <a:r>
              <a:rPr lang="en-US" b="1" dirty="0"/>
              <a:t>Virtual Assistants:</a:t>
            </a:r>
            <a:r>
              <a:rPr lang="en-US" dirty="0"/>
              <a:t> LLMs can be used to create more sophisticated virtual assistants that can perform a wide range of tasks, including scheduling appointments, answering customer inquiries, and providing personalized recommendations.</a:t>
            </a:r>
          </a:p>
          <a:p>
            <a:pPr marL="731392" lvl="2" algn="just">
              <a:spcBef>
                <a:spcPts val="1866"/>
              </a:spcBef>
              <a:buFont typeface="Arial" pitchFamily="34" charset="0"/>
              <a:buChar char="•"/>
            </a:pPr>
            <a:r>
              <a:rPr lang="en-US" b="1" dirty="0"/>
              <a:t>Healthcare:</a:t>
            </a:r>
            <a:r>
              <a:rPr lang="en-US" dirty="0"/>
              <a:t> LLMs can be used to analyze patient data and provide insights to healthcare professionals. They can also be used to develop more personalized treatment plans for patients.</a:t>
            </a:r>
          </a:p>
          <a:p>
            <a:pPr marL="731392" lvl="2" algn="just">
              <a:spcBef>
                <a:spcPts val="1866"/>
              </a:spcBef>
              <a:buFont typeface="Arial" pitchFamily="34" charset="0"/>
              <a:buChar char="•"/>
            </a:pPr>
            <a:r>
              <a:rPr lang="en-US" b="1" dirty="0"/>
              <a:t>Legal:</a:t>
            </a:r>
            <a:r>
              <a:rPr lang="en-US" dirty="0"/>
              <a:t> LLMs can be used to analyze legal documents, such as contracts and court cases, to provide insights and recommendations to legal professionals.</a:t>
            </a:r>
          </a:p>
          <a:p>
            <a:pPr marL="731392" lvl="2" algn="just">
              <a:spcBef>
                <a:spcPts val="1866"/>
              </a:spcBef>
              <a:buFont typeface="Arial" pitchFamily="34" charset="0"/>
              <a:buChar char="•"/>
            </a:pPr>
            <a:r>
              <a:rPr lang="en-US" b="1" dirty="0"/>
              <a:t>Education:</a:t>
            </a:r>
            <a:r>
              <a:rPr lang="en-US" dirty="0"/>
              <a:t> LLMs can be used to create more personalized learning experiences for students, providing tailored feedback and recommendations to help them succeed.</a:t>
            </a:r>
          </a:p>
        </p:txBody>
      </p:sp>
    </p:spTree>
    <p:extLst>
      <p:ext uri="{BB962C8B-B14F-4D97-AF65-F5344CB8AC3E}">
        <p14:creationId xmlns:p14="http://schemas.microsoft.com/office/powerpoint/2010/main" val="22625667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fontScale="90000"/>
          </a:bodyPr>
          <a:lstStyle/>
          <a:p>
            <a:pPr algn="ctr"/>
            <a:r>
              <a:rPr lang="en-US" b="1" dirty="0"/>
              <a:t>Potential Future Developments in LLMs</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Potential Implications of LLMs for Society and the Economy:</a:t>
            </a:r>
          </a:p>
          <a:p>
            <a:pPr marL="731392" lvl="2" algn="just">
              <a:spcBef>
                <a:spcPts val="1866"/>
              </a:spcBef>
              <a:buFont typeface="Arial" pitchFamily="34" charset="0"/>
              <a:buChar char="•"/>
            </a:pPr>
            <a:r>
              <a:rPr lang="en-US" b="1" dirty="0"/>
              <a:t>Job Displacement:</a:t>
            </a:r>
            <a:r>
              <a:rPr lang="en-US" dirty="0"/>
              <a:t> LLMs have the potential to automate many tasks, which could lead to job displacement for some workers.</a:t>
            </a:r>
          </a:p>
          <a:p>
            <a:pPr marL="731392" lvl="2" algn="just">
              <a:spcBef>
                <a:spcPts val="1866"/>
              </a:spcBef>
              <a:buFont typeface="Arial" pitchFamily="34" charset="0"/>
              <a:buChar char="•"/>
            </a:pPr>
            <a:r>
              <a:rPr lang="en-US" b="1" dirty="0"/>
              <a:t>Bias and Discrimination:</a:t>
            </a:r>
            <a:r>
              <a:rPr lang="en-US" dirty="0"/>
              <a:t> LLMs can amplify bias and discrimination in the data they are trained on, which could perpetuate societal inequities. It is important to address these issues to ensure that LLMs are fair and equitable.</a:t>
            </a:r>
          </a:p>
          <a:p>
            <a:pPr marL="731392" lvl="2" algn="just">
              <a:spcBef>
                <a:spcPts val="1866"/>
              </a:spcBef>
              <a:buFont typeface="Arial" pitchFamily="34" charset="0"/>
              <a:buChar char="•"/>
            </a:pPr>
            <a:r>
              <a:rPr lang="en-US" b="1" dirty="0"/>
              <a:t>Privacy Concerns:</a:t>
            </a:r>
            <a:r>
              <a:rPr lang="en-US" dirty="0"/>
              <a:t> LLMs require large amounts of data to be trained effectively, which could raise privacy concerns. It is important to develop protocols for handling data responsibly to protect user privacy.</a:t>
            </a:r>
          </a:p>
          <a:p>
            <a:pPr marL="731392" lvl="2" algn="just">
              <a:spcBef>
                <a:spcPts val="1866"/>
              </a:spcBef>
              <a:buFont typeface="Arial" pitchFamily="34" charset="0"/>
              <a:buChar char="•"/>
            </a:pPr>
            <a:r>
              <a:rPr lang="en-US" b="1" dirty="0"/>
              <a:t>Ethical Considerations:</a:t>
            </a:r>
            <a:r>
              <a:rPr lang="en-US" dirty="0"/>
              <a:t> LLMs raise ethical questions around accountability, transparency, and the potential for misuse. It is important to consider these issues as LLMs become more prevalent in society.</a:t>
            </a:r>
          </a:p>
        </p:txBody>
      </p:sp>
    </p:spTree>
    <p:extLst>
      <p:ext uri="{BB962C8B-B14F-4D97-AF65-F5344CB8AC3E}">
        <p14:creationId xmlns:p14="http://schemas.microsoft.com/office/powerpoint/2010/main" val="10928497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a:bodyPr>
          <a:lstStyle/>
          <a:p>
            <a:pPr algn="ctr"/>
            <a:r>
              <a:rPr lang="en-US" b="1" dirty="0"/>
              <a:t>Conclusion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LLMs are large language models that use deep learning algorithms to generate text and understand natural language.</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There are several types of LLMs, including GPT, BERT, and T5, each with its own strengths and weaknesses.</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LLMs have many practical applications, such as chatbots, language translation, sentiment analysis, and text generation.</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The development of LLMs has evolved rapidly in recent years, with models increasing in size and complexity.</a:t>
            </a:r>
          </a:p>
          <a:p>
            <a:pPr marL="304747" lvl="1" algn="just">
              <a:spcBef>
                <a:spcPts val="1866"/>
              </a:spcBef>
              <a:buFont typeface="Arial" pitchFamily="34" charset="0"/>
              <a:buChar char="•"/>
            </a:pPr>
            <a:endParaRPr lang="en-US" b="1" dirty="0"/>
          </a:p>
        </p:txBody>
      </p:sp>
    </p:spTree>
    <p:extLst>
      <p:ext uri="{BB962C8B-B14F-4D97-AF65-F5344CB8AC3E}">
        <p14:creationId xmlns:p14="http://schemas.microsoft.com/office/powerpoint/2010/main" val="33904573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309" y="76200"/>
            <a:ext cx="10157354" cy="787400"/>
          </a:xfrm>
        </p:spPr>
        <p:txBody>
          <a:bodyPr>
            <a:normAutofit/>
          </a:bodyPr>
          <a:lstStyle/>
          <a:p>
            <a:pPr algn="ctr"/>
            <a:r>
              <a:rPr lang="en-US" b="1" dirty="0"/>
              <a:t>Conclusion</a:t>
            </a:r>
          </a:p>
        </p:txBody>
      </p:sp>
      <p:sp>
        <p:nvSpPr>
          <p:cNvPr id="3" name="Content Placeholder 2"/>
          <p:cNvSpPr>
            <a:spLocks noGrp="1"/>
          </p:cNvSpPr>
          <p:nvPr>
            <p:ph idx="1"/>
          </p:nvPr>
        </p:nvSpPr>
        <p:spPr>
          <a:xfrm>
            <a:off x="455612" y="1041400"/>
            <a:ext cx="11125199" cy="5511800"/>
          </a:xfrm>
        </p:spPr>
        <p:txBody>
          <a:bodyPr>
            <a:normAutofit/>
          </a:bodyPr>
          <a:lstStyle/>
          <a:p>
            <a:pPr marL="304747" lvl="1" algn="just">
              <a:spcBef>
                <a:spcPts val="1866"/>
              </a:spcBef>
              <a:buFont typeface="Arial" pitchFamily="34" charset="0"/>
              <a:buChar char="•"/>
            </a:pPr>
            <a:r>
              <a:rPr lang="en-US" b="1" dirty="0"/>
              <a:t>LLMs have the potential to revolutionize various industries, including healthcare, finance, and marketing.</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However, there are also concerns about the ethical implications of LLMs, such as bias, privacy, and security.</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To address these concerns, researchers are exploring ways to improve LLMs' transparency, interpretability, and fairness.</a:t>
            </a:r>
          </a:p>
          <a:p>
            <a:pPr marL="304747" lvl="1" algn="just">
              <a:spcBef>
                <a:spcPts val="1866"/>
              </a:spcBef>
              <a:buFont typeface="Arial" pitchFamily="34" charset="0"/>
              <a:buChar char="•"/>
            </a:pPr>
            <a:endParaRPr lang="en-US" b="1" dirty="0"/>
          </a:p>
          <a:p>
            <a:pPr marL="304747" lvl="1" algn="just">
              <a:spcBef>
                <a:spcPts val="1866"/>
              </a:spcBef>
              <a:buFont typeface="Arial" pitchFamily="34" charset="0"/>
              <a:buChar char="•"/>
            </a:pPr>
            <a:r>
              <a:rPr lang="en-US" b="1" dirty="0"/>
              <a:t>Overall, LLMs are an exciting and rapidly developing field with many promising applications, but it is essential to consider their potential ethical implications and work towards developing more transparent and fair models.</a:t>
            </a:r>
            <a:endParaRPr lang="en-US" dirty="0"/>
          </a:p>
        </p:txBody>
      </p:sp>
    </p:spTree>
    <p:extLst>
      <p:ext uri="{BB962C8B-B14F-4D97-AF65-F5344CB8AC3E}">
        <p14:creationId xmlns:p14="http://schemas.microsoft.com/office/powerpoint/2010/main" val="27024439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Yesno Question Testimony Question Text PNG free download">
            <a:extLst>
              <a:ext uri="{FF2B5EF4-FFF2-40B4-BE49-F238E27FC236}">
                <a16:creationId xmlns:a16="http://schemas.microsoft.com/office/drawing/2014/main" id="{4E02AB21-02EA-468E-808A-C1C4C015F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3412" y="1828800"/>
            <a:ext cx="5184968" cy="3733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74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37276</TotalTime>
  <Words>3739</Words>
  <Application>Microsoft Office PowerPoint</Application>
  <PresentationFormat>Custom</PresentationFormat>
  <Paragraphs>389</Paragraphs>
  <Slides>72</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Century Gothic</vt:lpstr>
      <vt:lpstr>Lato</vt:lpstr>
      <vt:lpstr>Söhne</vt:lpstr>
      <vt:lpstr>Class open house presentation</vt:lpstr>
      <vt:lpstr>Natural Language Processing</vt:lpstr>
      <vt:lpstr>Outline</vt:lpstr>
      <vt:lpstr>Introduction</vt:lpstr>
      <vt:lpstr>Introduction</vt:lpstr>
      <vt:lpstr>Evolution of LLMs</vt:lpstr>
      <vt:lpstr>Evolution of LLMs</vt:lpstr>
      <vt:lpstr>Advantages of LLMs</vt:lpstr>
      <vt:lpstr>Disadvantages of LLMs</vt:lpstr>
      <vt:lpstr>LLMs Transformer-Based Comparison</vt:lpstr>
      <vt:lpstr>LLMs Transformer-Based Comparison</vt:lpstr>
      <vt:lpstr>LLMs Transformer-Based Comparison</vt:lpstr>
      <vt:lpstr>LLMs Transformer-Based Comparison</vt:lpstr>
      <vt:lpstr>LLMs Transformer-Based Comparison</vt:lpstr>
      <vt:lpstr>LLMs Transformer-Based Comparison</vt:lpstr>
      <vt:lpstr>LLMs Transformer-Based Comparison</vt:lpstr>
      <vt:lpstr>LLMs Transformer-Based Comparison</vt:lpstr>
      <vt:lpstr>ChatGPT</vt:lpstr>
      <vt:lpstr>ChatGPT</vt:lpstr>
      <vt:lpstr>ChatGPT</vt:lpstr>
      <vt:lpstr>ChatGPT</vt:lpstr>
      <vt:lpstr>ChatGPT</vt:lpstr>
      <vt:lpstr>ChatGPT</vt:lpstr>
      <vt:lpstr>ChatGPT</vt:lpstr>
      <vt:lpstr>ChatGPT</vt:lpstr>
      <vt:lpstr>ChatGPT</vt:lpstr>
      <vt:lpstr>ChatGPT</vt:lpstr>
      <vt:lpstr>ChatGPT</vt:lpstr>
      <vt:lpstr>ChatGPT</vt:lpstr>
      <vt:lpstr>ChatGPT</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GPT-4</vt:lpstr>
      <vt:lpstr>Potential Future Developments in LLMs</vt:lpstr>
      <vt:lpstr>Potential Future Developments in LLMs</vt:lpstr>
      <vt:lpstr>Potential Future Developments in LLMs</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Tapping Into The Power of Text Similarity</dc:title>
  <dc:creator>Wael Gomaa</dc:creator>
  <cp:lastModifiedBy>wael.goma</cp:lastModifiedBy>
  <cp:revision>789</cp:revision>
  <dcterms:created xsi:type="dcterms:W3CDTF">2021-10-27T21:07:48Z</dcterms:created>
  <dcterms:modified xsi:type="dcterms:W3CDTF">2023-05-08T05:47:10Z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