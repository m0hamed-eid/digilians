
<file path=[Content_Types].xml><?xml version="1.0" encoding="utf-8"?>
<Types xmlns="http://schemas.openxmlformats.org/package/2006/content-types">
  <Default Extension="png" ContentType="image/png"/>
  <Default Extension="svg" ContentType="image/svg+xml"/>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p:sldMasterIdLst>
    <p:sldMasterId id="2147483648" r:id="rId1"/>
  </p:sldMasterIdLst>
  <p:notesMasterIdLst>
    <p:notesMasterId r:id="rId39"/>
  </p:notesMasterIdLst>
  <p:sldIdLst>
    <p:sldId id="289" r:id="rId2"/>
    <p:sldId id="256" r:id="rId3"/>
    <p:sldId id="257" r:id="rId4"/>
    <p:sldId id="258" r:id="rId5"/>
    <p:sldId id="259" r:id="rId6"/>
    <p:sldId id="260" r:id="rId7"/>
    <p:sldId id="282" r:id="rId8"/>
    <p:sldId id="283" r:id="rId9"/>
    <p:sldId id="284" r:id="rId10"/>
    <p:sldId id="290" r:id="rId11"/>
    <p:sldId id="291" r:id="rId12"/>
    <p:sldId id="292" r:id="rId13"/>
    <p:sldId id="286" r:id="rId14"/>
    <p:sldId id="285" r:id="rId15"/>
    <p:sldId id="287" r:id="rId16"/>
    <p:sldId id="261" r:id="rId17"/>
    <p:sldId id="262" r:id="rId18"/>
    <p:sldId id="273" r:id="rId19"/>
    <p:sldId id="274" r:id="rId20"/>
    <p:sldId id="275" r:id="rId21"/>
    <p:sldId id="263" r:id="rId22"/>
    <p:sldId id="264" r:id="rId23"/>
    <p:sldId id="265" r:id="rId24"/>
    <p:sldId id="293" r:id="rId25"/>
    <p:sldId id="266" r:id="rId26"/>
    <p:sldId id="267" r:id="rId27"/>
    <p:sldId id="268" r:id="rId28"/>
    <p:sldId id="269" r:id="rId29"/>
    <p:sldId id="270" r:id="rId30"/>
    <p:sldId id="271" r:id="rId31"/>
    <p:sldId id="272" r:id="rId32"/>
    <p:sldId id="276" r:id="rId33"/>
    <p:sldId id="277" r:id="rId34"/>
    <p:sldId id="278" r:id="rId35"/>
    <p:sldId id="279" r:id="rId36"/>
    <p:sldId id="280" r:id="rId37"/>
    <p:sldId id="281" r:id="rId38"/>
  </p:sldIdLst>
  <p:sldSz cx="12192000" cy="6858000"/>
  <p:notesSz cx="6858000" cy="9144000"/>
  <p:defaultTextStyle>
    <a:defPPr>
      <a:defRPr lang="ar-EG"/>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60"/>
  </p:normalViewPr>
  <p:slideViewPr>
    <p:cSldViewPr snapToGrid="0">
      <p:cViewPr varScale="1">
        <p:scale>
          <a:sx n="107" d="100"/>
          <a:sy n="107" d="100"/>
        </p:scale>
        <p:origin x="750" y="11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notesMaster" Target="notesMasters/notesMaster1.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theme" Target="theme/theme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tableStyles" Target="tableStyles.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r">
              <a:defRPr sz="1200"/>
            </a:lvl1pPr>
          </a:lstStyle>
          <a:p>
            <a:endParaRPr lang="ar-EG"/>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l">
              <a:defRPr sz="1200"/>
            </a:lvl1pPr>
          </a:lstStyle>
          <a:p>
            <a:fld id="{FD0CA3CD-C6C9-4BBB-A1F4-CEEC417323BA}" type="datetimeFigureOut">
              <a:rPr lang="ar-EG" smtClean="0"/>
              <a:t>05/02/1448</a:t>
            </a:fld>
            <a:endParaRPr lang="ar-EG"/>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ar-EG"/>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ar-EG"/>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r">
              <a:defRPr sz="1200"/>
            </a:lvl1pPr>
          </a:lstStyle>
          <a:p>
            <a:endParaRPr lang="ar-EG"/>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l">
              <a:defRPr sz="1200"/>
            </a:lvl1pPr>
          </a:lstStyle>
          <a:p>
            <a:fld id="{8836D93B-11F8-44F3-B55A-2B2D65C9C9DD}" type="slidenum">
              <a:rPr lang="ar-EG" smtClean="0"/>
              <a:t>‹#›</a:t>
            </a:fld>
            <a:endParaRPr lang="ar-EG"/>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ar-EG"/>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ar-EG"/>
          </a:p>
        </p:txBody>
      </p:sp>
      <p:sp>
        <p:nvSpPr>
          <p:cNvPr id="4" name="Date Placeholder 3"/>
          <p:cNvSpPr>
            <a:spLocks noGrp="1"/>
          </p:cNvSpPr>
          <p:nvPr>
            <p:ph type="dt" sz="half" idx="10"/>
          </p:nvPr>
        </p:nvSpPr>
        <p:spPr/>
        <p:txBody>
          <a:bodyPr/>
          <a:lstStyle/>
          <a:p>
            <a:fld id="{8A8B2CCD-9058-4726-9FD2-46DEBA5D4D86}" type="datetime8">
              <a:rPr lang="ar-EG" smtClean="0"/>
              <a:t>20 تموز، 26</a:t>
            </a:fld>
            <a:endParaRPr lang="ar-EG"/>
          </a:p>
        </p:txBody>
      </p:sp>
      <p:sp>
        <p:nvSpPr>
          <p:cNvPr id="5" name="Footer Placeholder 4"/>
          <p:cNvSpPr>
            <a:spLocks noGrp="1"/>
          </p:cNvSpPr>
          <p:nvPr>
            <p:ph type="ftr" sz="quarter" idx="11"/>
          </p:nvPr>
        </p:nvSpPr>
        <p:spPr/>
        <p:txBody>
          <a:bodyPr/>
          <a:lstStyle/>
          <a:p>
            <a:endParaRPr lang="ar-EG"/>
          </a:p>
        </p:txBody>
      </p:sp>
      <p:sp>
        <p:nvSpPr>
          <p:cNvPr id="6" name="Slide Number Placeholder 5"/>
          <p:cNvSpPr>
            <a:spLocks noGrp="1"/>
          </p:cNvSpPr>
          <p:nvPr>
            <p:ph type="sldNum" sz="quarter" idx="12"/>
          </p:nvPr>
        </p:nvSpPr>
        <p:spPr/>
        <p:txBody>
          <a:bodyPr/>
          <a:lstStyle/>
          <a:p>
            <a:fld id="{A6FE5CD1-1D4A-4749-8CDD-9D133F900870}" type="slidenum">
              <a:rPr lang="ar-EG" smtClean="0"/>
              <a:t>‹#›</a:t>
            </a:fld>
            <a:endParaRPr lang="ar-EG"/>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ar-EG"/>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ar-EG"/>
          </a:p>
        </p:txBody>
      </p:sp>
      <p:sp>
        <p:nvSpPr>
          <p:cNvPr id="4" name="Date Placeholder 3"/>
          <p:cNvSpPr>
            <a:spLocks noGrp="1"/>
          </p:cNvSpPr>
          <p:nvPr>
            <p:ph type="dt" sz="half" idx="10"/>
          </p:nvPr>
        </p:nvSpPr>
        <p:spPr/>
        <p:txBody>
          <a:bodyPr/>
          <a:lstStyle/>
          <a:p>
            <a:fld id="{70FC420B-1D8B-4540-A73F-079D48A2A12A}" type="datetime8">
              <a:rPr lang="ar-EG" smtClean="0"/>
              <a:t>20 تموز، 26</a:t>
            </a:fld>
            <a:endParaRPr lang="ar-EG"/>
          </a:p>
        </p:txBody>
      </p:sp>
      <p:sp>
        <p:nvSpPr>
          <p:cNvPr id="5" name="Footer Placeholder 4"/>
          <p:cNvSpPr>
            <a:spLocks noGrp="1"/>
          </p:cNvSpPr>
          <p:nvPr>
            <p:ph type="ftr" sz="quarter" idx="11"/>
          </p:nvPr>
        </p:nvSpPr>
        <p:spPr/>
        <p:txBody>
          <a:bodyPr/>
          <a:lstStyle/>
          <a:p>
            <a:endParaRPr lang="ar-EG"/>
          </a:p>
        </p:txBody>
      </p:sp>
      <p:sp>
        <p:nvSpPr>
          <p:cNvPr id="6" name="Slide Number Placeholder 5"/>
          <p:cNvSpPr>
            <a:spLocks noGrp="1"/>
          </p:cNvSpPr>
          <p:nvPr>
            <p:ph type="sldNum" sz="quarter" idx="12"/>
          </p:nvPr>
        </p:nvSpPr>
        <p:spPr/>
        <p:txBody>
          <a:bodyPr/>
          <a:lstStyle/>
          <a:p>
            <a:fld id="{A6FE5CD1-1D4A-4749-8CDD-9D133F900870}" type="slidenum">
              <a:rPr lang="ar-EG" smtClean="0"/>
              <a:t>‹#›</a:t>
            </a:fld>
            <a:endParaRPr lang="ar-EG"/>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ar-EG"/>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91F6000E-6261-4B26-9E3E-2B266D6A264C}" type="datetime8">
              <a:rPr lang="ar-EG" smtClean="0"/>
              <a:t>20 تموز، 26</a:t>
            </a:fld>
            <a:endParaRPr lang="ar-EG"/>
          </a:p>
        </p:txBody>
      </p:sp>
      <p:sp>
        <p:nvSpPr>
          <p:cNvPr id="5" name="Footer Placeholder 4"/>
          <p:cNvSpPr>
            <a:spLocks noGrp="1"/>
          </p:cNvSpPr>
          <p:nvPr>
            <p:ph type="ftr" sz="quarter" idx="11"/>
          </p:nvPr>
        </p:nvSpPr>
        <p:spPr/>
        <p:txBody>
          <a:bodyPr/>
          <a:lstStyle/>
          <a:p>
            <a:endParaRPr lang="ar-EG"/>
          </a:p>
        </p:txBody>
      </p:sp>
      <p:sp>
        <p:nvSpPr>
          <p:cNvPr id="6" name="Slide Number Placeholder 5"/>
          <p:cNvSpPr>
            <a:spLocks noGrp="1"/>
          </p:cNvSpPr>
          <p:nvPr>
            <p:ph type="sldNum" sz="quarter" idx="12"/>
          </p:nvPr>
        </p:nvSpPr>
        <p:spPr/>
        <p:txBody>
          <a:bodyPr/>
          <a:lstStyle/>
          <a:p>
            <a:fld id="{A6FE5CD1-1D4A-4749-8CDD-9D133F900870}" type="slidenum">
              <a:rPr lang="ar-EG" smtClean="0"/>
              <a:t>‹#›</a:t>
            </a:fld>
            <a:endParaRPr lang="ar-EG"/>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ar-EG"/>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ar-EG"/>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ar-EG"/>
          </a:p>
        </p:txBody>
      </p:sp>
      <p:sp>
        <p:nvSpPr>
          <p:cNvPr id="5" name="Date Placeholder 4"/>
          <p:cNvSpPr>
            <a:spLocks noGrp="1"/>
          </p:cNvSpPr>
          <p:nvPr>
            <p:ph type="dt" sz="half" idx="10"/>
          </p:nvPr>
        </p:nvSpPr>
        <p:spPr/>
        <p:txBody>
          <a:bodyPr/>
          <a:lstStyle/>
          <a:p>
            <a:fld id="{3DC95B5C-A63F-4E83-8737-9C56BB8AE962}" type="datetime8">
              <a:rPr lang="ar-EG" smtClean="0"/>
              <a:t>20 تموز، 26</a:t>
            </a:fld>
            <a:endParaRPr lang="ar-EG"/>
          </a:p>
        </p:txBody>
      </p:sp>
      <p:sp>
        <p:nvSpPr>
          <p:cNvPr id="6" name="Footer Placeholder 5"/>
          <p:cNvSpPr>
            <a:spLocks noGrp="1"/>
          </p:cNvSpPr>
          <p:nvPr>
            <p:ph type="ftr" sz="quarter" idx="11"/>
          </p:nvPr>
        </p:nvSpPr>
        <p:spPr/>
        <p:txBody>
          <a:bodyPr/>
          <a:lstStyle/>
          <a:p>
            <a:endParaRPr lang="ar-EG"/>
          </a:p>
        </p:txBody>
      </p:sp>
      <p:sp>
        <p:nvSpPr>
          <p:cNvPr id="7" name="Slide Number Placeholder 6"/>
          <p:cNvSpPr>
            <a:spLocks noGrp="1"/>
          </p:cNvSpPr>
          <p:nvPr>
            <p:ph type="sldNum" sz="quarter" idx="12"/>
          </p:nvPr>
        </p:nvSpPr>
        <p:spPr/>
        <p:txBody>
          <a:bodyPr/>
          <a:lstStyle/>
          <a:p>
            <a:fld id="{A6FE5CD1-1D4A-4749-8CDD-9D133F900870}" type="slidenum">
              <a:rPr lang="ar-EG" smtClean="0"/>
              <a:t>‹#›</a:t>
            </a:fld>
            <a:endParaRPr lang="ar-EG"/>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endParaRPr lang="ar-EG"/>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ar-EG"/>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ar-EG"/>
          </a:p>
        </p:txBody>
      </p:sp>
      <p:sp>
        <p:nvSpPr>
          <p:cNvPr id="7" name="Date Placeholder 6"/>
          <p:cNvSpPr>
            <a:spLocks noGrp="1"/>
          </p:cNvSpPr>
          <p:nvPr>
            <p:ph type="dt" sz="half" idx="10"/>
          </p:nvPr>
        </p:nvSpPr>
        <p:spPr/>
        <p:txBody>
          <a:bodyPr/>
          <a:lstStyle/>
          <a:p>
            <a:fld id="{5BA84449-D24F-47FB-BD45-E4C06B60D8DD}" type="datetime8">
              <a:rPr lang="ar-EG" smtClean="0"/>
              <a:t>20 تموز، 26</a:t>
            </a:fld>
            <a:endParaRPr lang="ar-EG"/>
          </a:p>
        </p:txBody>
      </p:sp>
      <p:sp>
        <p:nvSpPr>
          <p:cNvPr id="8" name="Footer Placeholder 7"/>
          <p:cNvSpPr>
            <a:spLocks noGrp="1"/>
          </p:cNvSpPr>
          <p:nvPr>
            <p:ph type="ftr" sz="quarter" idx="11"/>
          </p:nvPr>
        </p:nvSpPr>
        <p:spPr/>
        <p:txBody>
          <a:bodyPr/>
          <a:lstStyle/>
          <a:p>
            <a:endParaRPr lang="ar-EG"/>
          </a:p>
        </p:txBody>
      </p:sp>
      <p:sp>
        <p:nvSpPr>
          <p:cNvPr id="9" name="Slide Number Placeholder 8"/>
          <p:cNvSpPr>
            <a:spLocks noGrp="1"/>
          </p:cNvSpPr>
          <p:nvPr>
            <p:ph type="sldNum" sz="quarter" idx="12"/>
          </p:nvPr>
        </p:nvSpPr>
        <p:spPr/>
        <p:txBody>
          <a:bodyPr/>
          <a:lstStyle/>
          <a:p>
            <a:fld id="{A6FE5CD1-1D4A-4749-8CDD-9D133F900870}" type="slidenum">
              <a:rPr lang="ar-EG" smtClean="0"/>
              <a:t>‹#›</a:t>
            </a:fld>
            <a:endParaRPr lang="ar-EG"/>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ar-EG"/>
          </a:p>
        </p:txBody>
      </p:sp>
      <p:sp>
        <p:nvSpPr>
          <p:cNvPr id="3" name="Date Placeholder 2"/>
          <p:cNvSpPr>
            <a:spLocks noGrp="1"/>
          </p:cNvSpPr>
          <p:nvPr>
            <p:ph type="dt" sz="half" idx="10"/>
          </p:nvPr>
        </p:nvSpPr>
        <p:spPr/>
        <p:txBody>
          <a:bodyPr/>
          <a:lstStyle/>
          <a:p>
            <a:fld id="{7CE7A0A0-0C12-4753-8D06-AEF9348821EF}" type="datetime8">
              <a:rPr lang="ar-EG" smtClean="0"/>
              <a:t>20 تموز، 26</a:t>
            </a:fld>
            <a:endParaRPr lang="ar-EG"/>
          </a:p>
        </p:txBody>
      </p:sp>
      <p:sp>
        <p:nvSpPr>
          <p:cNvPr id="4" name="Footer Placeholder 3"/>
          <p:cNvSpPr>
            <a:spLocks noGrp="1"/>
          </p:cNvSpPr>
          <p:nvPr>
            <p:ph type="ftr" sz="quarter" idx="11"/>
          </p:nvPr>
        </p:nvSpPr>
        <p:spPr/>
        <p:txBody>
          <a:bodyPr/>
          <a:lstStyle/>
          <a:p>
            <a:endParaRPr lang="ar-EG"/>
          </a:p>
        </p:txBody>
      </p:sp>
      <p:sp>
        <p:nvSpPr>
          <p:cNvPr id="5" name="Slide Number Placeholder 4"/>
          <p:cNvSpPr>
            <a:spLocks noGrp="1"/>
          </p:cNvSpPr>
          <p:nvPr>
            <p:ph type="sldNum" sz="quarter" idx="12"/>
          </p:nvPr>
        </p:nvSpPr>
        <p:spPr/>
        <p:txBody>
          <a:bodyPr/>
          <a:lstStyle/>
          <a:p>
            <a:fld id="{A6FE5CD1-1D4A-4749-8CDD-9D133F900870}" type="slidenum">
              <a:rPr lang="ar-EG" smtClean="0"/>
              <a:t>‹#›</a:t>
            </a:fld>
            <a:endParaRPr lang="ar-EG"/>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C5AFF962-CB66-48F8-B921-E80B1F2F99B1}" type="datetime8">
              <a:rPr lang="ar-EG" smtClean="0"/>
              <a:t>20 تموز، 26</a:t>
            </a:fld>
            <a:endParaRPr lang="ar-EG"/>
          </a:p>
        </p:txBody>
      </p:sp>
      <p:sp>
        <p:nvSpPr>
          <p:cNvPr id="3" name="Footer Placeholder 2"/>
          <p:cNvSpPr>
            <a:spLocks noGrp="1"/>
          </p:cNvSpPr>
          <p:nvPr>
            <p:ph type="ftr" sz="quarter" idx="11"/>
          </p:nvPr>
        </p:nvSpPr>
        <p:spPr/>
        <p:txBody>
          <a:bodyPr/>
          <a:lstStyle/>
          <a:p>
            <a:endParaRPr lang="ar-EG"/>
          </a:p>
        </p:txBody>
      </p:sp>
      <p:sp>
        <p:nvSpPr>
          <p:cNvPr id="4" name="Slide Number Placeholder 3"/>
          <p:cNvSpPr>
            <a:spLocks noGrp="1"/>
          </p:cNvSpPr>
          <p:nvPr>
            <p:ph type="sldNum" sz="quarter" idx="12"/>
          </p:nvPr>
        </p:nvSpPr>
        <p:spPr/>
        <p:txBody>
          <a:bodyPr/>
          <a:lstStyle/>
          <a:p>
            <a:fld id="{A6FE5CD1-1D4A-4749-8CDD-9D133F900870}" type="slidenum">
              <a:rPr lang="ar-EG" smtClean="0"/>
              <a:t>‹#›</a:t>
            </a:fld>
            <a:endParaRPr lang="ar-EG"/>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ar-EG"/>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ar-EG"/>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052496CC-2B06-43E2-8BB9-8498AA055FFC}" type="datetime8">
              <a:rPr lang="ar-EG" smtClean="0"/>
              <a:t>20 تموز، 26</a:t>
            </a:fld>
            <a:endParaRPr lang="ar-EG"/>
          </a:p>
        </p:txBody>
      </p:sp>
      <p:sp>
        <p:nvSpPr>
          <p:cNvPr id="6" name="Footer Placeholder 5"/>
          <p:cNvSpPr>
            <a:spLocks noGrp="1"/>
          </p:cNvSpPr>
          <p:nvPr>
            <p:ph type="ftr" sz="quarter" idx="11"/>
          </p:nvPr>
        </p:nvSpPr>
        <p:spPr/>
        <p:txBody>
          <a:bodyPr/>
          <a:lstStyle/>
          <a:p>
            <a:endParaRPr lang="ar-EG"/>
          </a:p>
        </p:txBody>
      </p:sp>
      <p:sp>
        <p:nvSpPr>
          <p:cNvPr id="7" name="Slide Number Placeholder 6"/>
          <p:cNvSpPr>
            <a:spLocks noGrp="1"/>
          </p:cNvSpPr>
          <p:nvPr>
            <p:ph type="sldNum" sz="quarter" idx="12"/>
          </p:nvPr>
        </p:nvSpPr>
        <p:spPr/>
        <p:txBody>
          <a:bodyPr/>
          <a:lstStyle/>
          <a:p>
            <a:fld id="{A6FE5CD1-1D4A-4749-8CDD-9D133F900870}" type="slidenum">
              <a:rPr lang="ar-EG" smtClean="0"/>
              <a:t>‹#›</a:t>
            </a:fld>
            <a:endParaRPr lang="ar-EG"/>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ar-EG"/>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ar-EG"/>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FED13CE9-9D40-4F48-90A4-8A047C002A76}" type="datetime8">
              <a:rPr lang="ar-EG" smtClean="0"/>
              <a:t>20 تموز، 26</a:t>
            </a:fld>
            <a:endParaRPr lang="ar-EG"/>
          </a:p>
        </p:txBody>
      </p:sp>
      <p:sp>
        <p:nvSpPr>
          <p:cNvPr id="6" name="Footer Placeholder 5"/>
          <p:cNvSpPr>
            <a:spLocks noGrp="1"/>
          </p:cNvSpPr>
          <p:nvPr>
            <p:ph type="ftr" sz="quarter" idx="11"/>
          </p:nvPr>
        </p:nvSpPr>
        <p:spPr/>
        <p:txBody>
          <a:bodyPr/>
          <a:lstStyle/>
          <a:p>
            <a:endParaRPr lang="ar-EG"/>
          </a:p>
        </p:txBody>
      </p:sp>
      <p:sp>
        <p:nvSpPr>
          <p:cNvPr id="7" name="Slide Number Placeholder 6"/>
          <p:cNvSpPr>
            <a:spLocks noGrp="1"/>
          </p:cNvSpPr>
          <p:nvPr>
            <p:ph type="sldNum" sz="quarter" idx="12"/>
          </p:nvPr>
        </p:nvSpPr>
        <p:spPr/>
        <p:txBody>
          <a:bodyPr/>
          <a:lstStyle/>
          <a:p>
            <a:fld id="{A6FE5CD1-1D4A-4749-8CDD-9D133F900870}" type="slidenum">
              <a:rPr lang="ar-EG" smtClean="0"/>
              <a:t>‹#›</a:t>
            </a:fld>
            <a:endParaRPr lang="ar-EG"/>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ar-EG"/>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ar-EG"/>
          </a:p>
        </p:txBody>
      </p:sp>
      <p:sp>
        <p:nvSpPr>
          <p:cNvPr id="4" name="Date Placeholder 3"/>
          <p:cNvSpPr>
            <a:spLocks noGrp="1"/>
          </p:cNvSpPr>
          <p:nvPr>
            <p:ph type="dt" sz="half" idx="10"/>
          </p:nvPr>
        </p:nvSpPr>
        <p:spPr/>
        <p:txBody>
          <a:bodyPr/>
          <a:lstStyle/>
          <a:p>
            <a:fld id="{61B722C4-B133-4A9C-8949-D85184B4E197}" type="datetime8">
              <a:rPr lang="ar-EG" smtClean="0"/>
              <a:t>20 تموز، 26</a:t>
            </a:fld>
            <a:endParaRPr lang="ar-EG"/>
          </a:p>
        </p:txBody>
      </p:sp>
      <p:sp>
        <p:nvSpPr>
          <p:cNvPr id="5" name="Footer Placeholder 4"/>
          <p:cNvSpPr>
            <a:spLocks noGrp="1"/>
          </p:cNvSpPr>
          <p:nvPr>
            <p:ph type="ftr" sz="quarter" idx="11"/>
          </p:nvPr>
        </p:nvSpPr>
        <p:spPr/>
        <p:txBody>
          <a:bodyPr/>
          <a:lstStyle/>
          <a:p>
            <a:endParaRPr lang="ar-EG"/>
          </a:p>
        </p:txBody>
      </p:sp>
      <p:sp>
        <p:nvSpPr>
          <p:cNvPr id="6" name="Slide Number Placeholder 5"/>
          <p:cNvSpPr>
            <a:spLocks noGrp="1"/>
          </p:cNvSpPr>
          <p:nvPr>
            <p:ph type="sldNum" sz="quarter" idx="12"/>
          </p:nvPr>
        </p:nvSpPr>
        <p:spPr/>
        <p:txBody>
          <a:bodyPr/>
          <a:lstStyle/>
          <a:p>
            <a:fld id="{A6FE5CD1-1D4A-4749-8CDD-9D133F900870}" type="slidenum">
              <a:rPr lang="ar-EG" smtClean="0"/>
              <a:t>‹#›</a:t>
            </a:fld>
            <a:endParaRPr lang="ar-EG"/>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endParaRPr lang="ar-EG"/>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ar-EG"/>
          </a:p>
        </p:txBody>
      </p:sp>
      <p:sp>
        <p:nvSpPr>
          <p:cNvPr id="4" name="Date Placeholder 3"/>
          <p:cNvSpPr>
            <a:spLocks noGrp="1"/>
          </p:cNvSpPr>
          <p:nvPr>
            <p:ph type="dt" sz="half" idx="10"/>
          </p:nvPr>
        </p:nvSpPr>
        <p:spPr/>
        <p:txBody>
          <a:bodyPr/>
          <a:lstStyle/>
          <a:p>
            <a:fld id="{5BB7D00B-34B4-4CDE-9ADF-F2C712FF9299}" type="datetime8">
              <a:rPr lang="ar-EG" smtClean="0"/>
              <a:t>20 تموز، 26</a:t>
            </a:fld>
            <a:endParaRPr lang="ar-EG"/>
          </a:p>
        </p:txBody>
      </p:sp>
      <p:sp>
        <p:nvSpPr>
          <p:cNvPr id="5" name="Footer Placeholder 4"/>
          <p:cNvSpPr>
            <a:spLocks noGrp="1"/>
          </p:cNvSpPr>
          <p:nvPr>
            <p:ph type="ftr" sz="quarter" idx="11"/>
          </p:nvPr>
        </p:nvSpPr>
        <p:spPr/>
        <p:txBody>
          <a:bodyPr/>
          <a:lstStyle/>
          <a:p>
            <a:endParaRPr lang="ar-EG"/>
          </a:p>
        </p:txBody>
      </p:sp>
      <p:sp>
        <p:nvSpPr>
          <p:cNvPr id="6" name="Slide Number Placeholder 5"/>
          <p:cNvSpPr>
            <a:spLocks noGrp="1"/>
          </p:cNvSpPr>
          <p:nvPr>
            <p:ph type="sldNum" sz="quarter" idx="12"/>
          </p:nvPr>
        </p:nvSpPr>
        <p:spPr/>
        <p:txBody>
          <a:bodyPr/>
          <a:lstStyle/>
          <a:p>
            <a:fld id="{A6FE5CD1-1D4A-4749-8CDD-9D133F900870}" type="slidenum">
              <a:rPr lang="ar-EG" smtClean="0"/>
              <a:t>‹#›</a:t>
            </a:fld>
            <a:endParaRPr lang="ar-EG"/>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ar-EG"/>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ar-EG"/>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6D90D1F6-57EA-46D6-8616-775996AE7020}" type="datetime8">
              <a:rPr lang="ar-EG" smtClean="0"/>
              <a:t>20 تموز، 26</a:t>
            </a:fld>
            <a:endParaRPr lang="ar-EG"/>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ar-EG"/>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A6FE5CD1-1D4A-4749-8CDD-9D133F900870}" type="slidenum">
              <a:rPr lang="ar-EG" smtClean="0"/>
              <a:t>‹#›</a:t>
            </a:fld>
            <a:endParaRPr lang="ar-EG"/>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ar-EG"/>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3" Type="http://schemas.openxmlformats.org/officeDocument/2006/relationships/image" Target="../media/image16.svg"/><Relationship Id="rId2" Type="http://schemas.openxmlformats.org/officeDocument/2006/relationships/image" Target="../media/image15.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endParaRPr lang="ar-EG"/>
          </a:p>
        </p:txBody>
      </p:sp>
      <p:sp>
        <p:nvSpPr>
          <p:cNvPr id="3" name="Subtitle 2"/>
          <p:cNvSpPr>
            <a:spLocks noGrp="1"/>
          </p:cNvSpPr>
          <p:nvPr>
            <p:ph type="subTitle" idx="1"/>
          </p:nvPr>
        </p:nvSpPr>
        <p:spPr/>
        <p:txBody>
          <a:bodyPr/>
          <a:lstStyle/>
          <a:p>
            <a:endParaRPr lang="ar-EG"/>
          </a:p>
        </p:txBody>
      </p:sp>
      <p:pic>
        <p:nvPicPr>
          <p:cNvPr id="4" name="Picture 3"/>
          <p:cNvPicPr>
            <a:picLocks noChangeAspect="1"/>
          </p:cNvPicPr>
          <p:nvPr/>
        </p:nvPicPr>
        <p:blipFill>
          <a:blip r:embed="rId2"/>
          <a:stretch>
            <a:fillRect/>
          </a:stretch>
        </p:blipFill>
        <p:spPr>
          <a:xfrm>
            <a:off x="2009" y="0"/>
            <a:ext cx="12184264" cy="6858000"/>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p:cNvSpPr>
            <a:spLocks noGrp="1" noRot="1" noChangeAspect="1" noMove="1" noResize="1" noEditPoints="1" noAdjustHandles="1" noChangeArrowheads="1" noChangeShapeType="1" noTextEdit="1"/>
          </p:cNvSpPr>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a:solidFill>
                  <a:schemeClr val="accent1">
                    <a:shade val="50000"/>
                  </a:schemeClr>
                </a:solidFill>
                <a:prstDash val="solid"/>
                <a:miter lim="800000"/>
                <a:headEnd/>
                <a:tailEn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p:cNvSpPr>
            <a:spLocks noGrp="1" noRot="1" noChangeAspect="1" noMove="1" noResize="1" noEditPoints="1" noAdjustHandles="1" noChangeArrowheads="1" noChangeShapeType="1" noTextEdit="1"/>
          </p:cNvSpPr>
          <p:nvPr/>
        </p:nvSpPr>
        <p:spPr>
          <a:xfrm rot="10800000">
            <a:off x="-11723" y="-1"/>
            <a:ext cx="12225953" cy="6868071"/>
          </a:xfrm>
          <a:prstGeom prst="rect">
            <a:avLst/>
          </a:prstGeom>
          <a:gradFill>
            <a:gsLst>
              <a:gs pos="0">
                <a:srgbClr val="000000"/>
              </a:gs>
              <a:gs pos="100000">
                <a:schemeClr val="accent1">
                  <a:lumMod val="75000"/>
                </a:schemeClr>
              </a:gs>
            </a:gsLst>
            <a:lin ang="4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p:cNvSpPr>
            <a:spLocks noGrp="1" noRot="1" noChangeAspect="1" noMove="1" noResize="1" noEditPoints="1" noAdjustHandles="1" noChangeArrowheads="1" noChangeShapeType="1" noTextEdit="1"/>
          </p:cNvSpPr>
          <p:nvPr/>
        </p:nvSpPr>
        <p:spPr>
          <a:xfrm rot="10800000" flipH="1">
            <a:off x="441959" y="-3"/>
            <a:ext cx="11772269" cy="6868074"/>
          </a:xfrm>
          <a:prstGeom prst="rect">
            <a:avLst/>
          </a:prstGeom>
          <a:gradFill>
            <a:gsLst>
              <a:gs pos="21000">
                <a:schemeClr val="accent1">
                  <a:lumMod val="50000"/>
                  <a:alpha val="83000"/>
                </a:schemeClr>
              </a:gs>
              <a:gs pos="100000">
                <a:schemeClr val="accent1">
                  <a:alpha val="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p:cNvSpPr>
            <a:spLocks noGrp="1" noRot="1" noChangeAspect="1" noMove="1" noResize="1" noEditPoints="1" noAdjustHandles="1" noChangeArrowheads="1" noChangeShapeType="1" noTextEdit="1"/>
          </p:cNvSpPr>
          <p:nvPr/>
        </p:nvSpPr>
        <p:spPr>
          <a:xfrm rot="10800000">
            <a:off x="-15200" y="0"/>
            <a:ext cx="3623374" cy="6868072"/>
          </a:xfrm>
          <a:prstGeom prst="rect">
            <a:avLst/>
          </a:prstGeom>
          <a:gradFill>
            <a:gsLst>
              <a:gs pos="0">
                <a:schemeClr val="accent1">
                  <a:lumMod val="75000"/>
                  <a:alpha val="0"/>
                </a:schemeClr>
              </a:gs>
              <a:gs pos="99000">
                <a:srgbClr val="000000">
                  <a:alpha val="41000"/>
                </a:srgbClr>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p:cNvSpPr>
            <a:spLocks noGrp="1" noRot="1" noChangeAspect="1" noMove="1" noResize="1" noEditPoints="1" noAdjustHandles="1" noChangeArrowheads="1" noChangeShapeType="1" noTextEdit="1"/>
          </p:cNvSpPr>
          <p:nvPr/>
        </p:nvSpPr>
        <p:spPr>
          <a:xfrm flipH="1">
            <a:off x="-15875" y="-3"/>
            <a:ext cx="12233581" cy="6868076"/>
          </a:xfrm>
          <a:prstGeom prst="rect">
            <a:avLst/>
          </a:prstGeom>
          <a:gradFill>
            <a:gsLst>
              <a:gs pos="3000">
                <a:schemeClr val="accent1">
                  <a:lumMod val="75000"/>
                  <a:alpha val="0"/>
                </a:schemeClr>
              </a:gs>
              <a:gs pos="100000">
                <a:srgbClr val="000000">
                  <a:alpha val="73000"/>
                </a:srgbClr>
              </a:gs>
            </a:gsLst>
            <a:lin ang="17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Rectangle 17"/>
          <p:cNvSpPr>
            <a:spLocks noGrp="1" noRot="1" noChangeAspect="1" noMove="1" noResize="1" noEditPoints="1" noAdjustHandles="1" noChangeArrowheads="1" noChangeShapeType="1" noTextEdit="1"/>
          </p:cNvSpPr>
          <p:nvPr/>
        </p:nvSpPr>
        <p:spPr>
          <a:xfrm rot="5400000" flipH="1">
            <a:off x="4484334" y="-861824"/>
            <a:ext cx="6861931" cy="8597859"/>
          </a:xfrm>
          <a:prstGeom prst="rect">
            <a:avLst/>
          </a:prstGeom>
          <a:gradFill>
            <a:gsLst>
              <a:gs pos="3000">
                <a:schemeClr val="accent1">
                  <a:lumMod val="75000"/>
                  <a:alpha val="0"/>
                </a:schemeClr>
              </a:gs>
              <a:gs pos="100000">
                <a:srgbClr val="000000">
                  <a:alpha val="27000"/>
                </a:srgbClr>
              </a:gs>
            </a:gsLst>
            <a:lin ang="13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Oval 19"/>
          <p:cNvSpPr>
            <a:spLocks noGrp="1" noRot="1" noChangeAspect="1" noMove="1" noResize="1" noEditPoints="1" noAdjustHandles="1" noChangeArrowheads="1" noChangeShapeType="1" noTextEdit="1"/>
          </p:cNvSpPr>
          <p:nvPr/>
        </p:nvSpPr>
        <p:spPr>
          <a:xfrm rot="5993193">
            <a:off x="1186972" y="1089049"/>
            <a:ext cx="4967533" cy="4988390"/>
          </a:xfrm>
          <a:prstGeom prst="ellipse">
            <a:avLst/>
          </a:prstGeom>
          <a:gradFill>
            <a:gsLst>
              <a:gs pos="0">
                <a:schemeClr val="accent1">
                  <a:alpha val="26000"/>
                </a:schemeClr>
              </a:gs>
              <a:gs pos="85000">
                <a:schemeClr val="accent1">
                  <a:lumMod val="60000"/>
                  <a:lumOff val="40000"/>
                  <a:alpha val="0"/>
                </a:schemeClr>
              </a:gs>
            </a:gsLst>
            <a:lin ang="14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p:cNvSpPr>
            <a:spLocks noGrp="1"/>
          </p:cNvSpPr>
          <p:nvPr>
            <p:ph type="ctrTitle"/>
          </p:nvPr>
        </p:nvSpPr>
        <p:spPr>
          <a:xfrm>
            <a:off x="4162567" y="818984"/>
            <a:ext cx="6714699" cy="3178689"/>
          </a:xfrm>
        </p:spPr>
        <p:txBody>
          <a:bodyPr>
            <a:normAutofit/>
          </a:bodyPr>
          <a:lstStyle/>
          <a:p>
            <a:pPr algn="l"/>
            <a:r>
              <a:rPr lang="en-US" sz="4800" b="1">
                <a:solidFill>
                  <a:srgbClr val="FFFFFF"/>
                </a:solidFill>
              </a:rPr>
              <a:t>Understanding BLEU and ROUGE score for NLP evaluation</a:t>
            </a:r>
            <a:endParaRPr lang="ar-EG" sz="4800" b="1">
              <a:solidFill>
                <a:srgbClr val="FFFFFF"/>
              </a:solidFill>
            </a:endParaRPr>
          </a:p>
        </p:txBody>
      </p:sp>
      <p:sp>
        <p:nvSpPr>
          <p:cNvPr id="22" name="Rectangle 21"/>
          <p:cNvSpPr>
            <a:spLocks noGrp="1" noRot="1" noChangeAspect="1" noMove="1" noResize="1" noEditPoints="1" noAdjustHandles="1" noChangeArrowheads="1" noChangeShapeType="1" noTextEdit="1"/>
          </p:cNvSpPr>
          <p:nvPr/>
        </p:nvSpPr>
        <p:spPr>
          <a:xfrm flipH="1">
            <a:off x="-3" y="4490110"/>
            <a:ext cx="12217710" cy="2377962"/>
          </a:xfrm>
          <a:prstGeom prst="rect">
            <a:avLst/>
          </a:prstGeom>
          <a:gradFill>
            <a:gsLst>
              <a:gs pos="0">
                <a:schemeClr val="accent1">
                  <a:lumMod val="75000"/>
                  <a:alpha val="50000"/>
                </a:schemeClr>
              </a:gs>
              <a:gs pos="99000">
                <a:srgbClr val="000000">
                  <a:alpha val="34000"/>
                </a:srgbClr>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Subtitle 2"/>
          <p:cNvSpPr>
            <a:spLocks noGrp="1"/>
          </p:cNvSpPr>
          <p:nvPr>
            <p:ph type="subTitle" idx="1"/>
          </p:nvPr>
        </p:nvSpPr>
        <p:spPr>
          <a:xfrm>
            <a:off x="4285397" y="4960961"/>
            <a:ext cx="7055893" cy="1078054"/>
          </a:xfrm>
        </p:spPr>
        <p:txBody>
          <a:bodyPr>
            <a:normAutofit/>
          </a:bodyPr>
          <a:lstStyle/>
          <a:p>
            <a:pPr algn="l"/>
            <a:r>
              <a:rPr lang="en-US" i="1">
                <a:solidFill>
                  <a:srgbClr val="FFFFFF"/>
                </a:solidFill>
              </a:rPr>
              <a:t>Prof. Alaa Hamdy</a:t>
            </a:r>
            <a:endParaRPr lang="ar-EG" i="1">
              <a:solidFill>
                <a:srgbClr val="FFFFFF"/>
              </a:solidFil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700"/>
                                        <p:tgtEl>
                                          <p:spTgt spid="2"/>
                                        </p:tgtEl>
                                      </p:cBhvr>
                                    </p:animEffect>
                                  </p:childTnLst>
                                </p:cTn>
                              </p:par>
                              <p:par>
                                <p:cTn id="8" presetID="10" presetClass="entr" presetSubtype="0" fill="hold" grpId="0" nodeType="withEffect">
                                  <p:stCondLst>
                                    <p:cond delay="1000"/>
                                  </p:stCondLst>
                                  <p:childTnLst>
                                    <p:set>
                                      <p:cBhvr>
                                        <p:cTn id="9" dur="1" fill="hold">
                                          <p:stCondLst>
                                            <p:cond delay="0"/>
                                          </p:stCondLst>
                                        </p:cTn>
                                        <p:tgtEl>
                                          <p:spTgt spid="3">
                                            <p:txEl>
                                              <p:pRg st="0" end="0"/>
                                            </p:txEl>
                                          </p:spTgt>
                                        </p:tgtEl>
                                        <p:attrNameLst>
                                          <p:attrName>style.visibility</p:attrName>
                                        </p:attrNameLst>
                                      </p:cBhvr>
                                      <p:to>
                                        <p:strVal val="visible"/>
                                      </p:to>
                                    </p:set>
                                    <p:animEffect transition="in" filter="fade">
                                      <p:cBhvr>
                                        <p:cTn id="10" dur="700"/>
                                        <p:tgtEl>
                                          <p:spTgt spid="3">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build="p"/>
    </p:bldLst>
  </p:timing>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p:cNvSpPr>
            <a:spLocks noGrp="1" noRot="1" noChangeAspect="1" noMove="1" noResize="1" noEditPoints="1" noAdjustHandles="1" noChangeArrowheads="1" noChangeShapeType="1" noTextEdit="1"/>
          </p:cNvSpPr>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a:solidFill>
                  <a:schemeClr val="accent1">
                    <a:shade val="50000"/>
                  </a:schemeClr>
                </a:solidFill>
                <a:prstDash val="solid"/>
                <a:miter lim="800000"/>
                <a:headEnd/>
                <a:tailEn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p:cNvSpPr>
            <a:spLocks noGrp="1" noRot="1" noChangeAspect="1" noMove="1" noResize="1" noEditPoints="1" noAdjustHandles="1" noChangeArrowheads="1" noChangeShapeType="1" noTextEdit="1"/>
          </p:cNvSpPr>
          <p:nvPr/>
        </p:nvSpPr>
        <p:spPr>
          <a:xfrm flipH="1">
            <a:off x="-1" y="-1"/>
            <a:ext cx="12191998" cy="1590742"/>
          </a:xfrm>
          <a:prstGeom prst="rect">
            <a:avLst/>
          </a:prstGeom>
          <a:gradFill>
            <a:gsLst>
              <a:gs pos="0">
                <a:srgbClr val="000000"/>
              </a:gs>
              <a:gs pos="100000">
                <a:schemeClr val="accent1">
                  <a:lumMod val="75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p:cNvSpPr>
            <a:spLocks noGrp="1" noRot="1" noChangeAspect="1" noMove="1" noResize="1" noEditPoints="1" noAdjustHandles="1" noChangeArrowheads="1" noChangeShapeType="1" noTextEdit="1"/>
          </p:cNvSpPr>
          <p:nvPr/>
        </p:nvSpPr>
        <p:spPr>
          <a:xfrm rot="10800000" flipH="1">
            <a:off x="-3" y="0"/>
            <a:ext cx="8115306" cy="1590742"/>
          </a:xfrm>
          <a:prstGeom prst="rect">
            <a:avLst/>
          </a:prstGeom>
          <a:gradFill>
            <a:gsLst>
              <a:gs pos="20000">
                <a:schemeClr val="accent1">
                  <a:alpha val="0"/>
                </a:schemeClr>
              </a:gs>
              <a:gs pos="100000">
                <a:schemeClr val="accent1">
                  <a:lumMod val="50000"/>
                  <a:alpha val="55000"/>
                </a:schemeClr>
              </a:gs>
            </a:gsLst>
            <a:lin ang="13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p:cNvSpPr>
            <a:spLocks noGrp="1" noRot="1" noChangeAspect="1" noMove="1" noResize="1" noEditPoints="1" noAdjustHandles="1" noChangeArrowheads="1" noChangeShapeType="1" noTextEdit="1"/>
          </p:cNvSpPr>
          <p:nvPr/>
        </p:nvSpPr>
        <p:spPr>
          <a:xfrm flipH="1">
            <a:off x="8115299" y="-1"/>
            <a:ext cx="4076698" cy="1590742"/>
          </a:xfrm>
          <a:prstGeom prst="rect">
            <a:avLst/>
          </a:prstGeom>
          <a:gradFill>
            <a:gsLst>
              <a:gs pos="0">
                <a:schemeClr val="accent1">
                  <a:alpha val="66000"/>
                </a:schemeClr>
              </a:gs>
              <a:gs pos="100000">
                <a:srgbClr val="000000">
                  <a:alpha val="30000"/>
                </a:srgbClr>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p:cNvSpPr>
            <a:spLocks noGrp="1" noRot="1" noChangeAspect="1" noMove="1" noResize="1" noEditPoints="1" noAdjustHandles="1" noChangeArrowheads="1" noChangeShapeType="1" noTextEdit="1"/>
          </p:cNvSpPr>
          <p:nvPr/>
        </p:nvSpPr>
        <p:spPr>
          <a:xfrm>
            <a:off x="459350" y="-1"/>
            <a:ext cx="11732646" cy="1597433"/>
          </a:xfrm>
          <a:prstGeom prst="rect">
            <a:avLst/>
          </a:prstGeom>
          <a:gradFill>
            <a:gsLst>
              <a:gs pos="50000">
                <a:srgbClr val="000000">
                  <a:alpha val="0"/>
                </a:srgbClr>
              </a:gs>
              <a:gs pos="99000">
                <a:schemeClr val="accent1">
                  <a:lumMod val="50000"/>
                  <a:alpha val="52000"/>
                </a:schemeClr>
              </a:gs>
            </a:gsLst>
            <a:lin ang="16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1371599" y="294538"/>
            <a:ext cx="9895951" cy="1033669"/>
          </a:xfrm>
        </p:spPr>
        <p:txBody>
          <a:bodyPr>
            <a:normAutofit/>
          </a:bodyPr>
          <a:lstStyle/>
          <a:p>
            <a:r>
              <a:rPr lang="en-US" sz="4000">
                <a:solidFill>
                  <a:srgbClr val="FFFFFF"/>
                </a:solidFill>
              </a:rPr>
              <a:t>Introduction</a:t>
            </a:r>
            <a:endParaRPr lang="ar-EG" sz="4000">
              <a:solidFill>
                <a:srgbClr val="FFFFFF"/>
              </a:solidFill>
            </a:endParaRPr>
          </a:p>
        </p:txBody>
      </p:sp>
      <p:sp>
        <p:nvSpPr>
          <p:cNvPr id="3" name="Content Placeholder 2"/>
          <p:cNvSpPr>
            <a:spLocks noGrp="1"/>
          </p:cNvSpPr>
          <p:nvPr>
            <p:ph idx="1"/>
          </p:nvPr>
        </p:nvSpPr>
        <p:spPr>
          <a:xfrm>
            <a:off x="1371599" y="2318197"/>
            <a:ext cx="9724031" cy="3683358"/>
          </a:xfrm>
        </p:spPr>
        <p:txBody>
          <a:bodyPr anchor="ctr">
            <a:normAutofit/>
          </a:bodyPr>
          <a:lstStyle/>
          <a:p>
            <a:r>
              <a:rPr lang="ar-EG" sz="2000"/>
              <a:t>As natural language processing (NLP) continues to advance, the need for evaluating NLP models becomes increasingly important.</a:t>
            </a:r>
          </a:p>
          <a:p>
            <a:endParaRPr lang="ar-EG" sz="2000"/>
          </a:p>
          <a:p>
            <a:r>
              <a:rPr lang="ar-EG" sz="2000"/>
              <a:t>NLP evaluation metrics allow researchers and practitioners to assess the performance of NLP models objectively and compare them to make informed decisions.</a:t>
            </a:r>
            <a:endParaRPr lang="en-US" sz="2000"/>
          </a:p>
          <a:p>
            <a:endParaRPr lang="ar-EG" sz="2000"/>
          </a:p>
          <a:p>
            <a:r>
              <a:rPr lang="ar-EG" sz="2000"/>
              <a:t>Two commonly used metrics in the field of NLP evaluation are BLEU and ROUGE scores.</a:t>
            </a:r>
          </a:p>
        </p:txBody>
      </p:sp>
      <p:sp>
        <p:nvSpPr>
          <p:cNvPr id="5" name="Slide Number Placeholder 4"/>
          <p:cNvSpPr>
            <a:spLocks noGrp="1"/>
          </p:cNvSpPr>
          <p:nvPr>
            <p:ph type="sldNum" sz="quarter" idx="12"/>
          </p:nvPr>
        </p:nvSpPr>
        <p:spPr/>
        <p:txBody>
          <a:bodyPr/>
          <a:lstStyle/>
          <a:p>
            <a:fld id="{A6FE5CD1-1D4A-4749-8CDD-9D133F900870}" type="slidenum">
              <a:rPr lang="ar-EG" smtClean="0"/>
              <a:t>3</a:t>
            </a:fld>
            <a:endParaRPr lang="ar-EG"/>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p:cNvSpPr>
            <a:spLocks noGrp="1" noRot="1" noChangeAspect="1" noMove="1" noResize="1" noEditPoints="1" noAdjustHandles="1" noChangeArrowheads="1" noChangeShapeType="1" noTextEdit="1"/>
          </p:cNvSpPr>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a:solidFill>
                  <a:schemeClr val="accent1">
                    <a:shade val="50000"/>
                  </a:schemeClr>
                </a:solidFill>
                <a:prstDash val="solid"/>
                <a:miter lim="800000"/>
                <a:headEnd/>
                <a:tailEn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p:cNvSpPr>
            <a:spLocks noGrp="1" noRot="1" noChangeAspect="1" noMove="1" noResize="1" noEditPoints="1" noAdjustHandles="1" noChangeArrowheads="1" noChangeShapeType="1" noTextEdit="1"/>
          </p:cNvSpPr>
          <p:nvPr/>
        </p:nvSpPr>
        <p:spPr>
          <a:xfrm flipH="1">
            <a:off x="-1" y="-1"/>
            <a:ext cx="12191998" cy="1590742"/>
          </a:xfrm>
          <a:prstGeom prst="rect">
            <a:avLst/>
          </a:prstGeom>
          <a:gradFill>
            <a:gsLst>
              <a:gs pos="0">
                <a:srgbClr val="000000"/>
              </a:gs>
              <a:gs pos="100000">
                <a:schemeClr val="accent1">
                  <a:lumMod val="75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p:cNvSpPr>
            <a:spLocks noGrp="1" noRot="1" noChangeAspect="1" noMove="1" noResize="1" noEditPoints="1" noAdjustHandles="1" noChangeArrowheads="1" noChangeShapeType="1" noTextEdit="1"/>
          </p:cNvSpPr>
          <p:nvPr/>
        </p:nvSpPr>
        <p:spPr>
          <a:xfrm rot="10800000" flipH="1">
            <a:off x="-3" y="0"/>
            <a:ext cx="8115306" cy="1590742"/>
          </a:xfrm>
          <a:prstGeom prst="rect">
            <a:avLst/>
          </a:prstGeom>
          <a:gradFill>
            <a:gsLst>
              <a:gs pos="20000">
                <a:schemeClr val="accent1">
                  <a:alpha val="0"/>
                </a:schemeClr>
              </a:gs>
              <a:gs pos="100000">
                <a:schemeClr val="accent1">
                  <a:lumMod val="50000"/>
                  <a:alpha val="55000"/>
                </a:schemeClr>
              </a:gs>
            </a:gsLst>
            <a:lin ang="13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p:cNvSpPr>
            <a:spLocks noGrp="1" noRot="1" noChangeAspect="1" noMove="1" noResize="1" noEditPoints="1" noAdjustHandles="1" noChangeArrowheads="1" noChangeShapeType="1" noTextEdit="1"/>
          </p:cNvSpPr>
          <p:nvPr/>
        </p:nvSpPr>
        <p:spPr>
          <a:xfrm flipH="1">
            <a:off x="8115299" y="-1"/>
            <a:ext cx="4076698" cy="1590742"/>
          </a:xfrm>
          <a:prstGeom prst="rect">
            <a:avLst/>
          </a:prstGeom>
          <a:gradFill>
            <a:gsLst>
              <a:gs pos="0">
                <a:schemeClr val="accent1">
                  <a:alpha val="66000"/>
                </a:schemeClr>
              </a:gs>
              <a:gs pos="100000">
                <a:srgbClr val="000000">
                  <a:alpha val="30000"/>
                </a:srgbClr>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p:cNvSpPr>
            <a:spLocks noGrp="1" noRot="1" noChangeAspect="1" noMove="1" noResize="1" noEditPoints="1" noAdjustHandles="1" noChangeArrowheads="1" noChangeShapeType="1" noTextEdit="1"/>
          </p:cNvSpPr>
          <p:nvPr/>
        </p:nvSpPr>
        <p:spPr>
          <a:xfrm>
            <a:off x="459350" y="-1"/>
            <a:ext cx="11732646" cy="1597433"/>
          </a:xfrm>
          <a:prstGeom prst="rect">
            <a:avLst/>
          </a:prstGeom>
          <a:gradFill>
            <a:gsLst>
              <a:gs pos="50000">
                <a:srgbClr val="000000">
                  <a:alpha val="0"/>
                </a:srgbClr>
              </a:gs>
              <a:gs pos="99000">
                <a:schemeClr val="accent1">
                  <a:lumMod val="50000"/>
                  <a:alpha val="52000"/>
                </a:schemeClr>
              </a:gs>
            </a:gsLst>
            <a:lin ang="16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1371599" y="294538"/>
            <a:ext cx="9895951" cy="1033669"/>
          </a:xfrm>
        </p:spPr>
        <p:txBody>
          <a:bodyPr>
            <a:normAutofit/>
          </a:bodyPr>
          <a:lstStyle/>
          <a:p>
            <a:r>
              <a:rPr lang="ar-EG" sz="3700" b="1">
                <a:solidFill>
                  <a:srgbClr val="FFFFFF"/>
                </a:solidFill>
              </a:rPr>
              <a:t>BLEU (Bilingual Evaluation Understudy) Score</a:t>
            </a:r>
            <a:endParaRPr lang="ar-EG" sz="3700">
              <a:solidFill>
                <a:srgbClr val="FFFFFF"/>
              </a:solidFill>
            </a:endParaRPr>
          </a:p>
        </p:txBody>
      </p:sp>
      <p:sp>
        <p:nvSpPr>
          <p:cNvPr id="3" name="Content Placeholder 2"/>
          <p:cNvSpPr>
            <a:spLocks noGrp="1"/>
          </p:cNvSpPr>
          <p:nvPr>
            <p:ph idx="1"/>
          </p:nvPr>
        </p:nvSpPr>
        <p:spPr>
          <a:xfrm>
            <a:off x="1371599" y="2318197"/>
            <a:ext cx="9724031" cy="3683358"/>
          </a:xfrm>
        </p:spPr>
        <p:txBody>
          <a:bodyPr anchor="ctr">
            <a:normAutofit/>
          </a:bodyPr>
          <a:lstStyle/>
          <a:p>
            <a:r>
              <a:rPr lang="ar-EG" sz="2000"/>
              <a:t>BLEU score is a widely used metric for machine translation tasks, where the goal is to automatically translate text from one language to another. </a:t>
            </a:r>
          </a:p>
          <a:p>
            <a:endParaRPr lang="ar-EG" sz="2000"/>
          </a:p>
          <a:p>
            <a:r>
              <a:rPr lang="ar-EG" sz="2000"/>
              <a:t>It was proposed as a way to assess the quality of machine-generated translations by comparing them to a set of reference translations provided by human translators.</a:t>
            </a:r>
          </a:p>
          <a:p>
            <a:endParaRPr lang="ar-EG" sz="2000"/>
          </a:p>
        </p:txBody>
      </p:sp>
      <p:sp>
        <p:nvSpPr>
          <p:cNvPr id="5" name="Slide Number Placeholder 4"/>
          <p:cNvSpPr>
            <a:spLocks noGrp="1"/>
          </p:cNvSpPr>
          <p:nvPr>
            <p:ph type="sldNum" sz="quarter" idx="12"/>
          </p:nvPr>
        </p:nvSpPr>
        <p:spPr/>
        <p:txBody>
          <a:bodyPr/>
          <a:lstStyle/>
          <a:p>
            <a:fld id="{A6FE5CD1-1D4A-4749-8CDD-9D133F900870}" type="slidenum">
              <a:rPr lang="ar-EG" smtClean="0"/>
              <a:t>4</a:t>
            </a:fld>
            <a:endParaRPr lang="ar-EG"/>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p:cNvSpPr>
            <a:spLocks noGrp="1" noRot="1" noChangeAspect="1" noMove="1" noResize="1" noEditPoints="1" noAdjustHandles="1" noChangeArrowheads="1" noChangeShapeType="1" noTextEdit="1"/>
          </p:cNvSpPr>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a:solidFill>
                  <a:schemeClr val="accent1">
                    <a:shade val="50000"/>
                  </a:schemeClr>
                </a:solidFill>
                <a:prstDash val="solid"/>
                <a:miter lim="800000"/>
                <a:headEnd/>
                <a:tailEn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p:cNvSpPr>
            <a:spLocks noGrp="1" noRot="1" noChangeAspect="1" noMove="1" noResize="1" noEditPoints="1" noAdjustHandles="1" noChangeArrowheads="1" noChangeShapeType="1" noTextEdit="1"/>
          </p:cNvSpPr>
          <p:nvPr/>
        </p:nvSpPr>
        <p:spPr>
          <a:xfrm flipH="1">
            <a:off x="-1" y="-1"/>
            <a:ext cx="12191998" cy="1590742"/>
          </a:xfrm>
          <a:prstGeom prst="rect">
            <a:avLst/>
          </a:prstGeom>
          <a:gradFill>
            <a:gsLst>
              <a:gs pos="0">
                <a:srgbClr val="000000"/>
              </a:gs>
              <a:gs pos="100000">
                <a:schemeClr val="accent1">
                  <a:lumMod val="75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p:cNvSpPr>
            <a:spLocks noGrp="1" noRot="1" noChangeAspect="1" noMove="1" noResize="1" noEditPoints="1" noAdjustHandles="1" noChangeArrowheads="1" noChangeShapeType="1" noTextEdit="1"/>
          </p:cNvSpPr>
          <p:nvPr/>
        </p:nvSpPr>
        <p:spPr>
          <a:xfrm rot="10800000" flipH="1">
            <a:off x="-3" y="0"/>
            <a:ext cx="8115306" cy="1590742"/>
          </a:xfrm>
          <a:prstGeom prst="rect">
            <a:avLst/>
          </a:prstGeom>
          <a:gradFill>
            <a:gsLst>
              <a:gs pos="20000">
                <a:schemeClr val="accent1">
                  <a:alpha val="0"/>
                </a:schemeClr>
              </a:gs>
              <a:gs pos="100000">
                <a:schemeClr val="accent1">
                  <a:lumMod val="50000"/>
                  <a:alpha val="55000"/>
                </a:schemeClr>
              </a:gs>
            </a:gsLst>
            <a:lin ang="13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p:cNvSpPr>
            <a:spLocks noGrp="1" noRot="1" noChangeAspect="1" noMove="1" noResize="1" noEditPoints="1" noAdjustHandles="1" noChangeArrowheads="1" noChangeShapeType="1" noTextEdit="1"/>
          </p:cNvSpPr>
          <p:nvPr/>
        </p:nvSpPr>
        <p:spPr>
          <a:xfrm flipH="1">
            <a:off x="8115299" y="-1"/>
            <a:ext cx="4076698" cy="1590742"/>
          </a:xfrm>
          <a:prstGeom prst="rect">
            <a:avLst/>
          </a:prstGeom>
          <a:gradFill>
            <a:gsLst>
              <a:gs pos="0">
                <a:schemeClr val="accent1">
                  <a:alpha val="66000"/>
                </a:schemeClr>
              </a:gs>
              <a:gs pos="100000">
                <a:srgbClr val="000000">
                  <a:alpha val="30000"/>
                </a:srgbClr>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p:cNvSpPr>
            <a:spLocks noGrp="1" noRot="1" noChangeAspect="1" noMove="1" noResize="1" noEditPoints="1" noAdjustHandles="1" noChangeArrowheads="1" noChangeShapeType="1" noTextEdit="1"/>
          </p:cNvSpPr>
          <p:nvPr/>
        </p:nvSpPr>
        <p:spPr>
          <a:xfrm>
            <a:off x="459350" y="-1"/>
            <a:ext cx="11732646" cy="1597433"/>
          </a:xfrm>
          <a:prstGeom prst="rect">
            <a:avLst/>
          </a:prstGeom>
          <a:gradFill>
            <a:gsLst>
              <a:gs pos="50000">
                <a:srgbClr val="000000">
                  <a:alpha val="0"/>
                </a:srgbClr>
              </a:gs>
              <a:gs pos="99000">
                <a:schemeClr val="accent1">
                  <a:lumMod val="50000"/>
                  <a:alpha val="52000"/>
                </a:schemeClr>
              </a:gs>
            </a:gsLst>
            <a:lin ang="16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1371599" y="294538"/>
            <a:ext cx="9895951" cy="1033669"/>
          </a:xfrm>
        </p:spPr>
        <p:txBody>
          <a:bodyPr>
            <a:normAutofit/>
          </a:bodyPr>
          <a:lstStyle/>
          <a:p>
            <a:r>
              <a:rPr lang="ar-EG" sz="4000">
                <a:solidFill>
                  <a:srgbClr val="FFFFFF"/>
                </a:solidFill>
              </a:rPr>
              <a:t>How does BLEU score work?</a:t>
            </a:r>
          </a:p>
        </p:txBody>
      </p:sp>
      <p:sp>
        <p:nvSpPr>
          <p:cNvPr id="3" name="Content Placeholder 2"/>
          <p:cNvSpPr>
            <a:spLocks noGrp="1"/>
          </p:cNvSpPr>
          <p:nvPr>
            <p:ph idx="1"/>
          </p:nvPr>
        </p:nvSpPr>
        <p:spPr>
          <a:xfrm>
            <a:off x="1371599" y="2318197"/>
            <a:ext cx="9724031" cy="3683358"/>
          </a:xfrm>
        </p:spPr>
        <p:txBody>
          <a:bodyPr anchor="ctr">
            <a:normAutofit/>
          </a:bodyPr>
          <a:lstStyle/>
          <a:p>
            <a:r>
              <a:rPr lang="ar-EG" sz="2000"/>
              <a:t>BLEU score measures the similarity between the machine-translated text and the reference translations using n-grams, which are contiguous sequences of n words. The most common n-grams used are unigrams (single words), bigrams (two-word sequences), trigrams (three-word sequences), and so on.</a:t>
            </a:r>
            <a:endParaRPr lang="en-US" sz="2000"/>
          </a:p>
          <a:p>
            <a:endParaRPr lang="ar-EG" sz="2000"/>
          </a:p>
          <a:p>
            <a:r>
              <a:rPr lang="ar-EG" sz="2000"/>
              <a:t>BLEU score calculates the precision of n-grams in the machine-generated translation by comparing them to the reference translations. The precision is then modified by a brevity penalty to account for translations that are shorter than the reference translations.</a:t>
            </a:r>
          </a:p>
        </p:txBody>
      </p:sp>
      <p:sp>
        <p:nvSpPr>
          <p:cNvPr id="5" name="Slide Number Placeholder 4"/>
          <p:cNvSpPr>
            <a:spLocks noGrp="1"/>
          </p:cNvSpPr>
          <p:nvPr>
            <p:ph type="sldNum" sz="quarter" idx="12"/>
          </p:nvPr>
        </p:nvSpPr>
        <p:spPr/>
        <p:txBody>
          <a:bodyPr/>
          <a:lstStyle/>
          <a:p>
            <a:fld id="{A6FE5CD1-1D4A-4749-8CDD-9D133F900870}" type="slidenum">
              <a:rPr lang="ar-EG" smtClean="0"/>
              <a:t>5</a:t>
            </a:fld>
            <a:endParaRPr lang="ar-EG"/>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p:cNvSpPr>
            <a:spLocks noGrp="1" noRot="1" noChangeAspect="1" noMove="1" noResize="1" noEditPoints="1" noAdjustHandles="1" noChangeArrowheads="1" noChangeShapeType="1" noTextEdit="1"/>
          </p:cNvSpPr>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a:solidFill>
                  <a:schemeClr val="accent1">
                    <a:shade val="50000"/>
                  </a:schemeClr>
                </a:solidFill>
                <a:prstDash val="solid"/>
                <a:miter lim="800000"/>
                <a:headEnd/>
                <a:tailEn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p:cNvSpPr>
            <a:spLocks noGrp="1" noRot="1" noChangeAspect="1" noMove="1" noResize="1" noEditPoints="1" noAdjustHandles="1" noChangeArrowheads="1" noChangeShapeType="1" noTextEdit="1"/>
          </p:cNvSpPr>
          <p:nvPr/>
        </p:nvSpPr>
        <p:spPr>
          <a:xfrm flipH="1">
            <a:off x="-1" y="-1"/>
            <a:ext cx="12191998" cy="1590742"/>
          </a:xfrm>
          <a:prstGeom prst="rect">
            <a:avLst/>
          </a:prstGeom>
          <a:gradFill>
            <a:gsLst>
              <a:gs pos="0">
                <a:srgbClr val="000000"/>
              </a:gs>
              <a:gs pos="100000">
                <a:schemeClr val="accent1">
                  <a:lumMod val="75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p:cNvSpPr>
            <a:spLocks noGrp="1" noRot="1" noChangeAspect="1" noMove="1" noResize="1" noEditPoints="1" noAdjustHandles="1" noChangeArrowheads="1" noChangeShapeType="1" noTextEdit="1"/>
          </p:cNvSpPr>
          <p:nvPr/>
        </p:nvSpPr>
        <p:spPr>
          <a:xfrm rot="10800000" flipH="1">
            <a:off x="-3" y="0"/>
            <a:ext cx="8115306" cy="1590742"/>
          </a:xfrm>
          <a:prstGeom prst="rect">
            <a:avLst/>
          </a:prstGeom>
          <a:gradFill>
            <a:gsLst>
              <a:gs pos="20000">
                <a:schemeClr val="accent1">
                  <a:alpha val="0"/>
                </a:schemeClr>
              </a:gs>
              <a:gs pos="100000">
                <a:schemeClr val="accent1">
                  <a:lumMod val="50000"/>
                  <a:alpha val="55000"/>
                </a:schemeClr>
              </a:gs>
            </a:gsLst>
            <a:lin ang="13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p:cNvSpPr>
            <a:spLocks noGrp="1" noRot="1" noChangeAspect="1" noMove="1" noResize="1" noEditPoints="1" noAdjustHandles="1" noChangeArrowheads="1" noChangeShapeType="1" noTextEdit="1"/>
          </p:cNvSpPr>
          <p:nvPr/>
        </p:nvSpPr>
        <p:spPr>
          <a:xfrm flipH="1">
            <a:off x="8115299" y="-1"/>
            <a:ext cx="4076698" cy="1590742"/>
          </a:xfrm>
          <a:prstGeom prst="rect">
            <a:avLst/>
          </a:prstGeom>
          <a:gradFill>
            <a:gsLst>
              <a:gs pos="0">
                <a:schemeClr val="accent1">
                  <a:alpha val="66000"/>
                </a:schemeClr>
              </a:gs>
              <a:gs pos="100000">
                <a:srgbClr val="000000">
                  <a:alpha val="30000"/>
                </a:srgbClr>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p:cNvSpPr>
            <a:spLocks noGrp="1" noRot="1" noChangeAspect="1" noMove="1" noResize="1" noEditPoints="1" noAdjustHandles="1" noChangeArrowheads="1" noChangeShapeType="1" noTextEdit="1"/>
          </p:cNvSpPr>
          <p:nvPr/>
        </p:nvSpPr>
        <p:spPr>
          <a:xfrm>
            <a:off x="459350" y="-1"/>
            <a:ext cx="11732646" cy="1597433"/>
          </a:xfrm>
          <a:prstGeom prst="rect">
            <a:avLst/>
          </a:prstGeom>
          <a:gradFill>
            <a:gsLst>
              <a:gs pos="50000">
                <a:srgbClr val="000000">
                  <a:alpha val="0"/>
                </a:srgbClr>
              </a:gs>
              <a:gs pos="99000">
                <a:schemeClr val="accent1">
                  <a:lumMod val="50000"/>
                  <a:alpha val="52000"/>
                </a:schemeClr>
              </a:gs>
            </a:gsLst>
            <a:lin ang="16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p:cNvSpPr>
            <a:spLocks noGrp="1"/>
          </p:cNvSpPr>
          <p:nvPr>
            <p:ph idx="1"/>
          </p:nvPr>
        </p:nvSpPr>
        <p:spPr>
          <a:xfrm>
            <a:off x="1371599" y="2318197"/>
            <a:ext cx="9724031" cy="3683358"/>
          </a:xfrm>
        </p:spPr>
        <p:txBody>
          <a:bodyPr anchor="ctr">
            <a:normAutofit/>
          </a:bodyPr>
          <a:lstStyle/>
          <a:p>
            <a:r>
              <a:rPr lang="ar-EG" sz="1700" dirty="0"/>
              <a:t>The formula for BLEU score is as follows:</a:t>
            </a:r>
          </a:p>
          <a:p>
            <a:pPr marL="0" indent="0">
              <a:buNone/>
            </a:pPr>
            <a:r>
              <a:rPr lang="ar-EG" sz="1700" dirty="0"/>
              <a:t>	</a:t>
            </a:r>
            <a:r>
              <a:rPr lang="ar-EG" sz="1700" b="1" dirty="0"/>
              <a:t>BLEU = BP * exp(∑ pn)</a:t>
            </a:r>
          </a:p>
          <a:p>
            <a:pPr marL="0" indent="0">
              <a:buNone/>
            </a:pPr>
            <a:r>
              <a:rPr lang="ar-EG" sz="1700" dirty="0"/>
              <a:t>Where:</a:t>
            </a:r>
          </a:p>
          <a:p>
            <a:r>
              <a:rPr lang="en-US" sz="1700" b="1" dirty="0"/>
              <a:t>BP (Brevity Penalty) </a:t>
            </a:r>
            <a:r>
              <a:rPr lang="en-US" sz="1700" dirty="0"/>
              <a:t>is a penalty term that adjusts the score for translations that are shorter than the reference translations. It is calculated as </a:t>
            </a:r>
            <a:r>
              <a:rPr lang="en-US" sz="1700" b="1" dirty="0"/>
              <a:t>min(1, (</a:t>
            </a:r>
            <a:r>
              <a:rPr lang="en-US" sz="1700" b="1" dirty="0" err="1"/>
              <a:t>reference_length</a:t>
            </a:r>
            <a:r>
              <a:rPr lang="en-US" sz="1700" b="1" dirty="0"/>
              <a:t> / </a:t>
            </a:r>
            <a:r>
              <a:rPr lang="en-US" sz="1700" b="1" dirty="0" err="1"/>
              <a:t>translated_length</a:t>
            </a:r>
            <a:r>
              <a:rPr lang="en-US" sz="1700" b="1" dirty="0"/>
              <a:t>))</a:t>
            </a:r>
            <a:r>
              <a:rPr lang="en-US" sz="1700" dirty="0"/>
              <a:t>, where </a:t>
            </a:r>
            <a:r>
              <a:rPr lang="en-US" sz="1700" dirty="0" err="1"/>
              <a:t>reference_length</a:t>
            </a:r>
            <a:r>
              <a:rPr lang="en-US" sz="1700" dirty="0"/>
              <a:t> is the total number of words in the reference translations, and </a:t>
            </a:r>
            <a:r>
              <a:rPr lang="en-US" sz="1700" dirty="0" err="1"/>
              <a:t>translated_length</a:t>
            </a:r>
            <a:r>
              <a:rPr lang="en-US" sz="1700" dirty="0"/>
              <a:t> is the total number of words in the machine-generated translation. </a:t>
            </a:r>
          </a:p>
          <a:p>
            <a:endParaRPr lang="en-US" sz="1700" dirty="0"/>
          </a:p>
          <a:p>
            <a:r>
              <a:rPr lang="en-US" sz="1700" b="1" dirty="0" err="1"/>
              <a:t>pn</a:t>
            </a:r>
            <a:r>
              <a:rPr lang="en-US" sz="1700" dirty="0"/>
              <a:t> is the precision of n-grams, which is calculated as </a:t>
            </a:r>
            <a:r>
              <a:rPr lang="en-US" sz="1700" b="1" dirty="0"/>
              <a:t>the number of n-grams that appear in both the machine-generated translation and the reference translations divided by the total number of n-grams in the machine-generated translation</a:t>
            </a:r>
            <a:r>
              <a:rPr lang="en-US" sz="1700" dirty="0"/>
              <a:t>.</a:t>
            </a:r>
            <a:endParaRPr lang="ar-EG" sz="1700" dirty="0"/>
          </a:p>
        </p:txBody>
      </p:sp>
      <p:sp>
        <p:nvSpPr>
          <p:cNvPr id="5" name="Slide Number Placeholder 4"/>
          <p:cNvSpPr>
            <a:spLocks noGrp="1"/>
          </p:cNvSpPr>
          <p:nvPr>
            <p:ph type="sldNum" sz="quarter" idx="12"/>
          </p:nvPr>
        </p:nvSpPr>
        <p:spPr/>
        <p:txBody>
          <a:bodyPr/>
          <a:lstStyle/>
          <a:p>
            <a:fld id="{A6FE5CD1-1D4A-4749-8CDD-9D133F900870}" type="slidenum">
              <a:rPr lang="ar-EG" smtClean="0"/>
              <a:t>6</a:t>
            </a:fld>
            <a:endParaRPr lang="ar-EG"/>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p:cNvSpPr>
            <a:spLocks noGrp="1" noRot="1" noChangeAspect="1" noMove="1" noResize="1" noEditPoints="1" noAdjustHandles="1" noChangeArrowheads="1" noChangeShapeType="1" noTextEdit="1"/>
          </p:cNvSpPr>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a:solidFill>
                  <a:schemeClr val="accent1">
                    <a:shade val="50000"/>
                  </a:schemeClr>
                </a:solidFill>
                <a:prstDash val="solid"/>
                <a:miter lim="800000"/>
                <a:headEnd/>
                <a:tailEn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p:cNvSpPr>
            <a:spLocks noGrp="1" noRot="1" noChangeAspect="1" noMove="1" noResize="1" noEditPoints="1" noAdjustHandles="1" noChangeArrowheads="1" noChangeShapeType="1" noTextEdit="1"/>
          </p:cNvSpPr>
          <p:nvPr/>
        </p:nvSpPr>
        <p:spPr>
          <a:xfrm flipH="1">
            <a:off x="-1" y="-1"/>
            <a:ext cx="12191998" cy="1590742"/>
          </a:xfrm>
          <a:prstGeom prst="rect">
            <a:avLst/>
          </a:prstGeom>
          <a:gradFill>
            <a:gsLst>
              <a:gs pos="0">
                <a:srgbClr val="000000"/>
              </a:gs>
              <a:gs pos="100000">
                <a:schemeClr val="accent1">
                  <a:lumMod val="75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p:cNvSpPr>
            <a:spLocks noGrp="1" noRot="1" noChangeAspect="1" noMove="1" noResize="1" noEditPoints="1" noAdjustHandles="1" noChangeArrowheads="1" noChangeShapeType="1" noTextEdit="1"/>
          </p:cNvSpPr>
          <p:nvPr/>
        </p:nvSpPr>
        <p:spPr>
          <a:xfrm rot="10800000" flipH="1">
            <a:off x="-3" y="0"/>
            <a:ext cx="8115306" cy="1590742"/>
          </a:xfrm>
          <a:prstGeom prst="rect">
            <a:avLst/>
          </a:prstGeom>
          <a:gradFill>
            <a:gsLst>
              <a:gs pos="20000">
                <a:schemeClr val="accent1">
                  <a:alpha val="0"/>
                </a:schemeClr>
              </a:gs>
              <a:gs pos="100000">
                <a:schemeClr val="accent1">
                  <a:lumMod val="50000"/>
                  <a:alpha val="55000"/>
                </a:schemeClr>
              </a:gs>
            </a:gsLst>
            <a:lin ang="13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p:cNvSpPr>
            <a:spLocks noGrp="1" noRot="1" noChangeAspect="1" noMove="1" noResize="1" noEditPoints="1" noAdjustHandles="1" noChangeArrowheads="1" noChangeShapeType="1" noTextEdit="1"/>
          </p:cNvSpPr>
          <p:nvPr/>
        </p:nvSpPr>
        <p:spPr>
          <a:xfrm flipH="1">
            <a:off x="8115299" y="-1"/>
            <a:ext cx="4076698" cy="1590742"/>
          </a:xfrm>
          <a:prstGeom prst="rect">
            <a:avLst/>
          </a:prstGeom>
          <a:gradFill>
            <a:gsLst>
              <a:gs pos="0">
                <a:schemeClr val="accent1">
                  <a:alpha val="66000"/>
                </a:schemeClr>
              </a:gs>
              <a:gs pos="100000">
                <a:srgbClr val="000000">
                  <a:alpha val="30000"/>
                </a:srgbClr>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p:cNvSpPr>
            <a:spLocks noGrp="1" noRot="1" noChangeAspect="1" noMove="1" noResize="1" noEditPoints="1" noAdjustHandles="1" noChangeArrowheads="1" noChangeShapeType="1" noTextEdit="1"/>
          </p:cNvSpPr>
          <p:nvPr/>
        </p:nvSpPr>
        <p:spPr>
          <a:xfrm>
            <a:off x="459350" y="-1"/>
            <a:ext cx="11732646" cy="1597433"/>
          </a:xfrm>
          <a:prstGeom prst="rect">
            <a:avLst/>
          </a:prstGeom>
          <a:gradFill>
            <a:gsLst>
              <a:gs pos="50000">
                <a:srgbClr val="000000">
                  <a:alpha val="0"/>
                </a:srgbClr>
              </a:gs>
              <a:gs pos="99000">
                <a:schemeClr val="accent1">
                  <a:lumMod val="50000"/>
                  <a:alpha val="52000"/>
                </a:schemeClr>
              </a:gs>
            </a:gsLst>
            <a:lin ang="16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1371599" y="294538"/>
            <a:ext cx="9895951" cy="1033669"/>
          </a:xfrm>
        </p:spPr>
        <p:txBody>
          <a:bodyPr>
            <a:normAutofit/>
          </a:bodyPr>
          <a:lstStyle/>
          <a:p>
            <a:r>
              <a:rPr lang="ar-EG" sz="3400" b="1">
                <a:solidFill>
                  <a:srgbClr val="FFFFFF"/>
                </a:solidFill>
              </a:rPr>
              <a:t>Step-by-Step Example</a:t>
            </a:r>
            <a:br>
              <a:rPr lang="ar-EG" sz="3400" b="1">
                <a:solidFill>
                  <a:srgbClr val="FFFFFF"/>
                </a:solidFill>
              </a:rPr>
            </a:br>
            <a:endParaRPr lang="ar-EG" sz="3400">
              <a:solidFill>
                <a:srgbClr val="FFFFFF"/>
              </a:solidFill>
            </a:endParaRPr>
          </a:p>
        </p:txBody>
      </p:sp>
      <p:sp>
        <p:nvSpPr>
          <p:cNvPr id="3" name="Content Placeholder 2"/>
          <p:cNvSpPr>
            <a:spLocks noGrp="1"/>
          </p:cNvSpPr>
          <p:nvPr>
            <p:ph idx="1"/>
          </p:nvPr>
        </p:nvSpPr>
        <p:spPr>
          <a:xfrm>
            <a:off x="1371599" y="2318197"/>
            <a:ext cx="9724031" cy="3051662"/>
          </a:xfrm>
        </p:spPr>
        <p:txBody>
          <a:bodyPr anchor="ctr">
            <a:normAutofit/>
          </a:bodyPr>
          <a:lstStyle/>
          <a:p>
            <a:r>
              <a:rPr lang="en-US" sz="2000" b="1" dirty="0"/>
              <a:t>Reference Translation (Human): The cat sat on the mat</a:t>
            </a:r>
          </a:p>
          <a:p>
            <a:r>
              <a:rPr lang="en-US" sz="2000" b="1" dirty="0"/>
              <a:t>Candidate Translation (Model): The cat sat on the mat </a:t>
            </a:r>
          </a:p>
          <a:p>
            <a:pPr marL="0" indent="0">
              <a:buNone/>
            </a:pPr>
            <a:br>
              <a:rPr lang="ar-EG" sz="2000" dirty="0"/>
            </a:br>
            <a:r>
              <a:rPr lang="en-US" sz="2000" b="1" dirty="0"/>
              <a:t>Length: Reference = 6 words, Candidate = 6 words.</a:t>
            </a:r>
            <a:endParaRPr lang="ar-EG" sz="2000" dirty="0"/>
          </a:p>
        </p:txBody>
      </p:sp>
      <p:sp>
        <p:nvSpPr>
          <p:cNvPr id="5" name="Slide Number Placeholder 4"/>
          <p:cNvSpPr>
            <a:spLocks noGrp="1"/>
          </p:cNvSpPr>
          <p:nvPr>
            <p:ph type="sldNum" sz="quarter" idx="12"/>
          </p:nvPr>
        </p:nvSpPr>
        <p:spPr/>
        <p:txBody>
          <a:bodyPr/>
          <a:lstStyle/>
          <a:p>
            <a:fld id="{A6FE5CD1-1D4A-4749-8CDD-9D133F900870}" type="slidenum">
              <a:rPr lang="ar-EG" smtClean="0"/>
              <a:t>7</a:t>
            </a:fld>
            <a:endParaRPr lang="ar-EG"/>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p:cNvSpPr>
            <a:spLocks noGrp="1" noRot="1" noChangeAspect="1" noMove="1" noResize="1" noEditPoints="1" noAdjustHandles="1" noChangeArrowheads="1" noChangeShapeType="1" noTextEdit="1"/>
          </p:cNvSpPr>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ight Triangle 9"/>
          <p:cNvSpPr>
            <a:spLocks noGrp="1" noRot="1" noChangeAspect="1" noMove="1" noResize="1" noEditPoints="1" noAdjustHandles="1" noChangeArrowheads="1" noChangeShapeType="1" noTextEdit="1"/>
          </p:cNvSpPr>
          <p:nvPr/>
        </p:nvSpPr>
        <p:spPr>
          <a:xfrm flipH="1">
            <a:off x="8576720" y="3335867"/>
            <a:ext cx="3291840" cy="3200400"/>
          </a:xfrm>
          <a:prstGeom prst="rtTriangl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2" name="Rectangle 11"/>
          <p:cNvSpPr>
            <a:spLocks noGrp="1" noRot="1" noChangeAspect="1" noMove="1" noResize="1" noEditPoints="1" noAdjustHandles="1" noChangeArrowheads="1" noChangeShapeType="1" noTextEdit="1"/>
          </p:cNvSpPr>
          <p:nvPr/>
        </p:nvSpPr>
        <p:spPr>
          <a:xfrm>
            <a:off x="641774" y="623275"/>
            <a:ext cx="10905053" cy="5607882"/>
          </a:xfrm>
          <a:prstGeom prst="rect">
            <a:avLst/>
          </a:prstGeom>
          <a:noFill/>
          <a:ln w="19050">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1285240" y="1050595"/>
            <a:ext cx="8074815" cy="1618489"/>
          </a:xfrm>
        </p:spPr>
        <p:txBody>
          <a:bodyPr anchor="ctr">
            <a:normAutofit/>
          </a:bodyPr>
          <a:lstStyle/>
          <a:p>
            <a:r>
              <a:rPr lang="en-US" sz="5000" b="1"/>
              <a:t>Step 1: Calculate Unigram (1-gram) Precision</a:t>
            </a:r>
            <a:endParaRPr lang="ar-EG" sz="5000" b="1"/>
          </a:p>
        </p:txBody>
      </p:sp>
      <p:sp>
        <p:nvSpPr>
          <p:cNvPr id="3" name="Content Placeholder 2"/>
          <p:cNvSpPr>
            <a:spLocks noGrp="1"/>
          </p:cNvSpPr>
          <p:nvPr>
            <p:ph idx="1"/>
          </p:nvPr>
        </p:nvSpPr>
        <p:spPr>
          <a:xfrm>
            <a:off x="1285240" y="2969469"/>
            <a:ext cx="8074815" cy="2800395"/>
          </a:xfrm>
        </p:spPr>
        <p:txBody>
          <a:bodyPr anchor="t">
            <a:normAutofit/>
          </a:bodyPr>
          <a:lstStyle/>
          <a:p>
            <a:r>
              <a:rPr lang="en-US" sz="2400" dirty="0"/>
              <a:t>The model correctly translated "The", "cat", "sat", "on", "the", "mat".</a:t>
            </a:r>
          </a:p>
          <a:p>
            <a:endParaRPr lang="en-US" sz="2400" dirty="0"/>
          </a:p>
          <a:p>
            <a:r>
              <a:rPr lang="en-US" sz="2400" dirty="0"/>
              <a:t>Unigram Precision = 6 / 6 = 1.0 = p1</a:t>
            </a:r>
            <a:endParaRPr lang="ar-EG" sz="2400" dirty="0"/>
          </a:p>
        </p:txBody>
      </p:sp>
      <p:sp>
        <p:nvSpPr>
          <p:cNvPr id="5" name="Slide Number Placeholder 4"/>
          <p:cNvSpPr>
            <a:spLocks noGrp="1"/>
          </p:cNvSpPr>
          <p:nvPr>
            <p:ph type="sldNum" sz="quarter" idx="12"/>
          </p:nvPr>
        </p:nvSpPr>
        <p:spPr/>
        <p:txBody>
          <a:bodyPr/>
          <a:lstStyle/>
          <a:p>
            <a:fld id="{A6FE5CD1-1D4A-4749-8CDD-9D133F900870}" type="slidenum">
              <a:rPr lang="ar-EG" smtClean="0"/>
              <a:t>8</a:t>
            </a:fld>
            <a:endParaRPr lang="ar-EG"/>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p:cNvSpPr>
            <a:spLocks noGrp="1" noRot="1" noChangeAspect="1" noMove="1" noResize="1" noEditPoints="1" noAdjustHandles="1" noChangeArrowheads="1" noChangeShapeType="1" noTextEdit="1"/>
          </p:cNvSpPr>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ight Triangle 9"/>
          <p:cNvSpPr>
            <a:spLocks noGrp="1" noRot="1" noChangeAspect="1" noMove="1" noResize="1" noEditPoints="1" noAdjustHandles="1" noChangeArrowheads="1" noChangeShapeType="1" noTextEdit="1"/>
          </p:cNvSpPr>
          <p:nvPr/>
        </p:nvSpPr>
        <p:spPr>
          <a:xfrm flipH="1">
            <a:off x="8576720" y="3335867"/>
            <a:ext cx="3291840" cy="3200400"/>
          </a:xfrm>
          <a:prstGeom prst="rtTriangl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2" name="Rectangle 11"/>
          <p:cNvSpPr>
            <a:spLocks noGrp="1" noRot="1" noChangeAspect="1" noMove="1" noResize="1" noEditPoints="1" noAdjustHandles="1" noChangeArrowheads="1" noChangeShapeType="1" noTextEdit="1"/>
          </p:cNvSpPr>
          <p:nvPr/>
        </p:nvSpPr>
        <p:spPr>
          <a:xfrm>
            <a:off x="641774" y="623275"/>
            <a:ext cx="10905053" cy="5607882"/>
          </a:xfrm>
          <a:prstGeom prst="rect">
            <a:avLst/>
          </a:prstGeom>
          <a:noFill/>
          <a:ln w="19050">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1285240" y="1050595"/>
            <a:ext cx="8074815" cy="1618489"/>
          </a:xfrm>
        </p:spPr>
        <p:txBody>
          <a:bodyPr anchor="ctr">
            <a:normAutofit/>
          </a:bodyPr>
          <a:lstStyle/>
          <a:p>
            <a:r>
              <a:rPr lang="en-US" sz="5000" b="1"/>
              <a:t>Step 2: Calculate N-gram Precisions</a:t>
            </a:r>
            <a:endParaRPr lang="ar-EG" sz="5000" b="1"/>
          </a:p>
        </p:txBody>
      </p:sp>
      <p:sp>
        <p:nvSpPr>
          <p:cNvPr id="3" name="Content Placeholder 2"/>
          <p:cNvSpPr>
            <a:spLocks noGrp="1"/>
          </p:cNvSpPr>
          <p:nvPr>
            <p:ph idx="1"/>
          </p:nvPr>
        </p:nvSpPr>
        <p:spPr>
          <a:xfrm>
            <a:off x="1285240" y="2969469"/>
            <a:ext cx="8074815" cy="2800395"/>
          </a:xfrm>
        </p:spPr>
        <p:txBody>
          <a:bodyPr anchor="t">
            <a:normAutofit/>
          </a:bodyPr>
          <a:lstStyle/>
          <a:p>
            <a:r>
              <a:rPr lang="en-US" sz="2000" dirty="0"/>
              <a:t>Let's look at 2-grams (pairs of words):</a:t>
            </a:r>
          </a:p>
          <a:p>
            <a:endParaRPr lang="en-US" sz="2000" dirty="0"/>
          </a:p>
          <a:p>
            <a:r>
              <a:rPr lang="en-US" sz="2000" dirty="0"/>
              <a:t>Candidate 2-grams: "The cat", "cat sat", "sat on", "on the", "the mat".</a:t>
            </a:r>
          </a:p>
          <a:p>
            <a:endParaRPr lang="en-US" sz="2000" dirty="0"/>
          </a:p>
          <a:p>
            <a:r>
              <a:rPr lang="en-US" sz="2000" dirty="0"/>
              <a:t>All 5 appear exactly in the reference.</a:t>
            </a:r>
          </a:p>
          <a:p>
            <a:endParaRPr lang="en-US" sz="2000" dirty="0"/>
          </a:p>
          <a:p>
            <a:r>
              <a:rPr lang="en-US" sz="2000" dirty="0"/>
              <a:t>Bigram Precision = 5 / 5 = 1.0 = p2</a:t>
            </a:r>
            <a:endParaRPr lang="ar-EG" sz="2000" dirty="0"/>
          </a:p>
        </p:txBody>
      </p:sp>
      <p:sp>
        <p:nvSpPr>
          <p:cNvPr id="5" name="Slide Number Placeholder 4"/>
          <p:cNvSpPr>
            <a:spLocks noGrp="1"/>
          </p:cNvSpPr>
          <p:nvPr>
            <p:ph type="sldNum" sz="quarter" idx="12"/>
          </p:nvPr>
        </p:nvSpPr>
        <p:spPr/>
        <p:txBody>
          <a:bodyPr/>
          <a:lstStyle/>
          <a:p>
            <a:fld id="{A6FE5CD1-1D4A-4749-8CDD-9D133F900870}" type="slidenum">
              <a:rPr lang="ar-EG" smtClean="0"/>
              <a:t>9</a:t>
            </a:fld>
            <a:endParaRPr lang="ar-EG"/>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ar-EG"/>
          </a:p>
        </p:txBody>
      </p:sp>
      <p:sp>
        <p:nvSpPr>
          <p:cNvPr id="3" name="Content Placeholder 2"/>
          <p:cNvSpPr>
            <a:spLocks noGrp="1"/>
          </p:cNvSpPr>
          <p:nvPr>
            <p:ph idx="1"/>
          </p:nvPr>
        </p:nvSpPr>
        <p:spPr/>
        <p:txBody>
          <a:bodyPr/>
          <a:lstStyle/>
          <a:p>
            <a:endParaRPr lang="ar-EG" dirty="0"/>
          </a:p>
        </p:txBody>
      </p:sp>
      <p:sp>
        <p:nvSpPr>
          <p:cNvPr id="4" name="Slide Number Placeholder 3"/>
          <p:cNvSpPr>
            <a:spLocks noGrp="1"/>
          </p:cNvSpPr>
          <p:nvPr>
            <p:ph type="sldNum" sz="quarter" idx="12"/>
          </p:nvPr>
        </p:nvSpPr>
        <p:spPr/>
        <p:txBody>
          <a:bodyPr/>
          <a:lstStyle/>
          <a:p>
            <a:fld id="{A6FE5CD1-1D4A-4749-8CDD-9D133F900870}" type="slidenum">
              <a:rPr lang="ar-EG" smtClean="0"/>
              <a:t>10</a:t>
            </a:fld>
            <a:endParaRPr lang="ar-EG"/>
          </a:p>
        </p:txBody>
      </p:sp>
      <p:pic>
        <p:nvPicPr>
          <p:cNvPr id="6" name="Picture 5"/>
          <p:cNvPicPr>
            <a:picLocks noChangeAspect="1"/>
          </p:cNvPicPr>
          <p:nvPr/>
        </p:nvPicPr>
        <p:blipFill>
          <a:blip r:embed="rId2"/>
          <a:stretch>
            <a:fillRect/>
          </a:stretch>
        </p:blipFill>
        <p:spPr>
          <a:xfrm>
            <a:off x="0" y="-100361"/>
            <a:ext cx="12192000" cy="6891686"/>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ar-EG"/>
          </a:p>
        </p:txBody>
      </p:sp>
      <p:sp>
        <p:nvSpPr>
          <p:cNvPr id="3" name="Content Placeholder 2"/>
          <p:cNvSpPr>
            <a:spLocks noGrp="1"/>
          </p:cNvSpPr>
          <p:nvPr>
            <p:ph idx="1"/>
          </p:nvPr>
        </p:nvSpPr>
        <p:spPr/>
        <p:txBody>
          <a:bodyPr/>
          <a:lstStyle/>
          <a:p>
            <a:endParaRPr lang="ar-EG"/>
          </a:p>
        </p:txBody>
      </p:sp>
      <p:sp>
        <p:nvSpPr>
          <p:cNvPr id="4" name="Slide Number Placeholder 3"/>
          <p:cNvSpPr>
            <a:spLocks noGrp="1"/>
          </p:cNvSpPr>
          <p:nvPr>
            <p:ph type="sldNum" sz="quarter" idx="12"/>
          </p:nvPr>
        </p:nvSpPr>
        <p:spPr/>
        <p:txBody>
          <a:bodyPr/>
          <a:lstStyle/>
          <a:p>
            <a:fld id="{A6FE5CD1-1D4A-4749-8CDD-9D133F900870}" type="slidenum">
              <a:rPr lang="ar-EG" smtClean="0"/>
              <a:t>11</a:t>
            </a:fld>
            <a:endParaRPr lang="ar-EG"/>
          </a:p>
        </p:txBody>
      </p:sp>
      <p:pic>
        <p:nvPicPr>
          <p:cNvPr id="6" name="Picture 5"/>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ar-EG"/>
          </a:p>
        </p:txBody>
      </p:sp>
      <p:sp>
        <p:nvSpPr>
          <p:cNvPr id="3" name="Content Placeholder 2"/>
          <p:cNvSpPr>
            <a:spLocks noGrp="1"/>
          </p:cNvSpPr>
          <p:nvPr>
            <p:ph idx="1"/>
          </p:nvPr>
        </p:nvSpPr>
        <p:spPr/>
        <p:txBody>
          <a:bodyPr/>
          <a:lstStyle/>
          <a:p>
            <a:endParaRPr lang="ar-EG"/>
          </a:p>
        </p:txBody>
      </p:sp>
      <p:sp>
        <p:nvSpPr>
          <p:cNvPr id="4" name="Slide Number Placeholder 3"/>
          <p:cNvSpPr>
            <a:spLocks noGrp="1"/>
          </p:cNvSpPr>
          <p:nvPr>
            <p:ph type="sldNum" sz="quarter" idx="12"/>
          </p:nvPr>
        </p:nvSpPr>
        <p:spPr/>
        <p:txBody>
          <a:bodyPr/>
          <a:lstStyle/>
          <a:p>
            <a:fld id="{A6FE5CD1-1D4A-4749-8CDD-9D133F900870}" type="slidenum">
              <a:rPr lang="ar-EG" smtClean="0"/>
              <a:t>12</a:t>
            </a:fld>
            <a:endParaRPr lang="ar-EG"/>
          </a:p>
        </p:txBody>
      </p:sp>
      <p:pic>
        <p:nvPicPr>
          <p:cNvPr id="5" name="Picture 4">
            <a:extLst>
              <a:ext uri="{FF2B5EF4-FFF2-40B4-BE49-F238E27FC236}">
                <a16:creationId xmlns:a16="http://schemas.microsoft.com/office/drawing/2014/main" id="{E403B4AE-5FA6-4613-83B9-FD015793AA6F}"/>
              </a:ext>
            </a:extLst>
          </p:cNvPr>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p:cNvSpPr>
            <a:spLocks noGrp="1" noRot="1" noChangeAspect="1" noMove="1" noResize="1" noEditPoints="1" noAdjustHandles="1" noChangeArrowheads="1" noChangeShapeType="1" noTextEdit="1"/>
          </p:cNvSpPr>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ight Triangle 11"/>
          <p:cNvSpPr>
            <a:spLocks noGrp="1" noRot="1" noChangeAspect="1" noMove="1" noResize="1" noEditPoints="1" noAdjustHandles="1" noChangeArrowheads="1" noChangeShapeType="1" noTextEdit="1"/>
          </p:cNvSpPr>
          <p:nvPr/>
        </p:nvSpPr>
        <p:spPr>
          <a:xfrm flipH="1">
            <a:off x="8576720" y="3335867"/>
            <a:ext cx="3291840" cy="3200400"/>
          </a:xfrm>
          <a:prstGeom prst="rtTriangl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4" name="Rectangle 13"/>
          <p:cNvSpPr>
            <a:spLocks noGrp="1" noRot="1" noChangeAspect="1" noMove="1" noResize="1" noEditPoints="1" noAdjustHandles="1" noChangeArrowheads="1" noChangeShapeType="1" noTextEdit="1"/>
          </p:cNvSpPr>
          <p:nvPr/>
        </p:nvSpPr>
        <p:spPr>
          <a:xfrm>
            <a:off x="641774" y="623275"/>
            <a:ext cx="10905053" cy="5607882"/>
          </a:xfrm>
          <a:prstGeom prst="rect">
            <a:avLst/>
          </a:prstGeom>
          <a:noFill/>
          <a:ln w="19050">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1289304" y="1127256"/>
            <a:ext cx="9471956" cy="1137111"/>
          </a:xfrm>
        </p:spPr>
        <p:txBody>
          <a:bodyPr>
            <a:normAutofit/>
          </a:bodyPr>
          <a:lstStyle/>
          <a:p>
            <a:r>
              <a:rPr lang="en-US" sz="5000" b="1" dirty="0"/>
              <a:t>Step 3: Calculate Brevity Penalty</a:t>
            </a:r>
            <a:endParaRPr lang="ar-EG" sz="5000" b="1" dirty="0"/>
          </a:p>
        </p:txBody>
      </p:sp>
      <p:pic>
        <p:nvPicPr>
          <p:cNvPr id="5" name="Picture 4"/>
          <p:cNvPicPr>
            <a:picLocks noChangeAspect="1"/>
          </p:cNvPicPr>
          <p:nvPr/>
        </p:nvPicPr>
        <p:blipFill>
          <a:blip r:embed="rId2"/>
          <a:stretch>
            <a:fillRect/>
          </a:stretch>
        </p:blipFill>
        <p:spPr>
          <a:xfrm>
            <a:off x="1568084" y="3859459"/>
            <a:ext cx="7745969" cy="1957166"/>
          </a:xfrm>
          <a:prstGeom prst="rect">
            <a:avLst/>
          </a:prstGeom>
        </p:spPr>
      </p:pic>
      <p:sp>
        <p:nvSpPr>
          <p:cNvPr id="3" name="Content Placeholder 2"/>
          <p:cNvSpPr>
            <a:spLocks noGrp="1"/>
          </p:cNvSpPr>
          <p:nvPr>
            <p:ph idx="1"/>
          </p:nvPr>
        </p:nvSpPr>
        <p:spPr>
          <a:xfrm>
            <a:off x="1423118" y="2619598"/>
            <a:ext cx="7745969" cy="1408222"/>
          </a:xfrm>
        </p:spPr>
        <p:txBody>
          <a:bodyPr anchor="t">
            <a:normAutofit/>
          </a:bodyPr>
          <a:lstStyle/>
          <a:p>
            <a:r>
              <a:rPr lang="en-US" sz="2000" dirty="0"/>
              <a:t>Because the candidate length c equals the reference length r, the penalty is 1.</a:t>
            </a:r>
          </a:p>
          <a:p>
            <a:endParaRPr lang="en-US" sz="2000" dirty="0"/>
          </a:p>
          <a:p>
            <a:endParaRPr lang="ar-EG" sz="2000" dirty="0"/>
          </a:p>
        </p:txBody>
      </p:sp>
      <p:sp>
        <p:nvSpPr>
          <p:cNvPr id="7" name="Slide Number Placeholder 6"/>
          <p:cNvSpPr>
            <a:spLocks noGrp="1"/>
          </p:cNvSpPr>
          <p:nvPr>
            <p:ph type="sldNum" sz="quarter" idx="12"/>
          </p:nvPr>
        </p:nvSpPr>
        <p:spPr/>
        <p:txBody>
          <a:bodyPr/>
          <a:lstStyle/>
          <a:p>
            <a:fld id="{A6FE5CD1-1D4A-4749-8CDD-9D133F900870}" type="slidenum">
              <a:rPr lang="ar-EG" smtClean="0"/>
              <a:t>13</a:t>
            </a:fld>
            <a:endParaRPr lang="ar-EG"/>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p:cNvSpPr>
            <a:spLocks noGrp="1" noRot="1" noChangeAspect="1" noMove="1" noResize="1" noEditPoints="1" noAdjustHandles="1" noChangeArrowheads="1" noChangeShapeType="1" noTextEdit="1"/>
          </p:cNvSpPr>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ight Triangle 11"/>
          <p:cNvSpPr>
            <a:spLocks noGrp="1" noRot="1" noChangeAspect="1" noMove="1" noResize="1" noEditPoints="1" noAdjustHandles="1" noChangeArrowheads="1" noChangeShapeType="1" noTextEdit="1"/>
          </p:cNvSpPr>
          <p:nvPr/>
        </p:nvSpPr>
        <p:spPr>
          <a:xfrm flipH="1">
            <a:off x="8576720" y="3335867"/>
            <a:ext cx="3291840" cy="3200400"/>
          </a:xfrm>
          <a:prstGeom prst="rtTriangl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4" name="Rectangle 13"/>
          <p:cNvSpPr>
            <a:spLocks noGrp="1" noRot="1" noChangeAspect="1" noMove="1" noResize="1" noEditPoints="1" noAdjustHandles="1" noChangeArrowheads="1" noChangeShapeType="1" noTextEdit="1"/>
          </p:cNvSpPr>
          <p:nvPr/>
        </p:nvSpPr>
        <p:spPr>
          <a:xfrm>
            <a:off x="641774" y="623275"/>
            <a:ext cx="10905053" cy="5607882"/>
          </a:xfrm>
          <a:prstGeom prst="rect">
            <a:avLst/>
          </a:prstGeom>
          <a:noFill/>
          <a:ln w="19050">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1358322" y="1140449"/>
            <a:ext cx="9471956" cy="1137111"/>
          </a:xfrm>
        </p:spPr>
        <p:txBody>
          <a:bodyPr>
            <a:normAutofit/>
          </a:bodyPr>
          <a:lstStyle/>
          <a:p>
            <a:r>
              <a:rPr lang="en-US" sz="5400" b="1" dirty="0"/>
              <a:t>Step 4: Final Score</a:t>
            </a:r>
            <a:endParaRPr lang="ar-EG" sz="5400" b="1" dirty="0"/>
          </a:p>
        </p:txBody>
      </p:sp>
      <p:pic>
        <p:nvPicPr>
          <p:cNvPr id="5" name="Picture 4"/>
          <p:cNvPicPr>
            <a:picLocks noChangeAspect="1"/>
          </p:cNvPicPr>
          <p:nvPr/>
        </p:nvPicPr>
        <p:blipFill>
          <a:blip r:embed="rId2"/>
          <a:stretch>
            <a:fillRect/>
          </a:stretch>
        </p:blipFill>
        <p:spPr>
          <a:xfrm>
            <a:off x="1531381" y="4645182"/>
            <a:ext cx="7745969" cy="968245"/>
          </a:xfrm>
          <a:prstGeom prst="rect">
            <a:avLst/>
          </a:prstGeom>
        </p:spPr>
      </p:pic>
      <p:sp>
        <p:nvSpPr>
          <p:cNvPr id="3" name="Content Placeholder 2"/>
          <p:cNvSpPr>
            <a:spLocks noGrp="1"/>
          </p:cNvSpPr>
          <p:nvPr>
            <p:ph idx="1"/>
          </p:nvPr>
        </p:nvSpPr>
        <p:spPr>
          <a:xfrm>
            <a:off x="1358322" y="2411433"/>
            <a:ext cx="7745969" cy="1408222"/>
          </a:xfrm>
        </p:spPr>
        <p:txBody>
          <a:bodyPr anchor="t">
            <a:normAutofit/>
          </a:bodyPr>
          <a:lstStyle/>
          <a:p>
            <a:r>
              <a:rPr lang="en-US" sz="2000" dirty="0"/>
              <a:t>The final BLEU score is the geometric mean of the n-gram precisions multiplied by the brevity penalty.</a:t>
            </a:r>
            <a:endParaRPr lang="ar-EG" sz="2000" dirty="0"/>
          </a:p>
        </p:txBody>
      </p:sp>
      <p:sp>
        <p:nvSpPr>
          <p:cNvPr id="7" name="Slide Number Placeholder 6"/>
          <p:cNvSpPr>
            <a:spLocks noGrp="1"/>
          </p:cNvSpPr>
          <p:nvPr>
            <p:ph type="sldNum" sz="quarter" idx="12"/>
          </p:nvPr>
        </p:nvSpPr>
        <p:spPr/>
        <p:txBody>
          <a:bodyPr/>
          <a:lstStyle/>
          <a:p>
            <a:fld id="{A6FE5CD1-1D4A-4749-8CDD-9D133F900870}" type="slidenum">
              <a:rPr lang="ar-EG" smtClean="0"/>
              <a:t>14</a:t>
            </a:fld>
            <a:endParaRPr lang="ar-EG"/>
          </a:p>
        </p:txBody>
      </p:sp>
      <p:pic>
        <p:nvPicPr>
          <p:cNvPr id="9" name="Picture 8"/>
          <p:cNvPicPr>
            <a:picLocks noChangeAspect="1"/>
          </p:cNvPicPr>
          <p:nvPr/>
        </p:nvPicPr>
        <p:blipFill>
          <a:blip r:embed="rId3"/>
          <a:stretch>
            <a:fillRect/>
          </a:stretch>
        </p:blipFill>
        <p:spPr>
          <a:xfrm>
            <a:off x="1669208" y="3166612"/>
            <a:ext cx="6362700" cy="1647825"/>
          </a:xfrm>
          <a:prstGeom prst="rect">
            <a:avLst/>
          </a:prstGeom>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56117" y="365125"/>
            <a:ext cx="11809141" cy="1325563"/>
          </a:xfrm>
        </p:spPr>
        <p:txBody>
          <a:bodyPr/>
          <a:lstStyle/>
          <a:p>
            <a:r>
              <a:rPr lang="en-US" b="1" dirty="0"/>
              <a:t>What Happens With a Bad/Different Translation?</a:t>
            </a:r>
            <a:endParaRPr lang="ar-EG" b="1" dirty="0"/>
          </a:p>
        </p:txBody>
      </p:sp>
      <p:sp>
        <p:nvSpPr>
          <p:cNvPr id="3" name="Content Placeholder 2"/>
          <p:cNvSpPr>
            <a:spLocks noGrp="1"/>
          </p:cNvSpPr>
          <p:nvPr>
            <p:ph idx="1"/>
          </p:nvPr>
        </p:nvSpPr>
        <p:spPr>
          <a:xfrm>
            <a:off x="838200" y="1690688"/>
            <a:ext cx="10515600" cy="4598599"/>
          </a:xfrm>
        </p:spPr>
        <p:txBody>
          <a:bodyPr>
            <a:normAutofit fontScale="60000" lnSpcReduction="20000"/>
          </a:bodyPr>
          <a:lstStyle/>
          <a:p>
            <a:r>
              <a:rPr lang="en-US" b="1" dirty="0"/>
              <a:t>Reference Translation (Human)</a:t>
            </a:r>
            <a:r>
              <a:rPr lang="en-US" dirty="0"/>
              <a:t>: "The cat sat on the mat"</a:t>
            </a:r>
            <a:br>
              <a:rPr lang="ar-EG" dirty="0"/>
            </a:br>
            <a:r>
              <a:rPr lang="en-US" dirty="0"/>
              <a:t>Let's say the </a:t>
            </a:r>
            <a:r>
              <a:rPr lang="en-US" b="1" dirty="0"/>
              <a:t>candidate translation (model) </a:t>
            </a:r>
            <a:r>
              <a:rPr lang="en-US" dirty="0"/>
              <a:t>was: "The cat on the mat“</a:t>
            </a:r>
          </a:p>
          <a:p>
            <a:endParaRPr lang="en-US" dirty="0"/>
          </a:p>
          <a:p>
            <a:r>
              <a:rPr lang="en-US" dirty="0"/>
              <a:t>Unigram Precision: 5 of 6 words match → 0.83</a:t>
            </a:r>
          </a:p>
          <a:p>
            <a:r>
              <a:rPr lang="en-US" dirty="0"/>
              <a:t>Bigram Precision: 3 of 5 match → 0.60</a:t>
            </a:r>
          </a:p>
          <a:p>
            <a:pPr marL="0" indent="0">
              <a:buNone/>
            </a:pPr>
            <a:r>
              <a:rPr lang="en-US" dirty="0"/>
              <a:t>	"The cat sat on the mat" </a:t>
            </a:r>
            <a:r>
              <a:rPr lang="en-US" dirty="0">
                <a:sym typeface="Wingdings" panose="05000000000000000000" pitchFamily="2" charset="2"/>
              </a:rPr>
              <a:t> </a:t>
            </a:r>
            <a:r>
              <a:rPr lang="en-US" dirty="0"/>
              <a:t>'</a:t>
            </a:r>
            <a:r>
              <a:rPr lang="en-US" dirty="0">
                <a:solidFill>
                  <a:schemeClr val="accent6"/>
                </a:solidFill>
              </a:rPr>
              <a:t>The cat</a:t>
            </a:r>
            <a:r>
              <a:rPr lang="en-US" dirty="0"/>
              <a:t>' , 'cat sat' , 'sat on' , '</a:t>
            </a:r>
            <a:r>
              <a:rPr lang="en-US" dirty="0">
                <a:solidFill>
                  <a:schemeClr val="accent4"/>
                </a:solidFill>
              </a:rPr>
              <a:t>on the</a:t>
            </a:r>
            <a:r>
              <a:rPr lang="en-US" dirty="0"/>
              <a:t>' , '</a:t>
            </a:r>
            <a:r>
              <a:rPr lang="en-US" dirty="0">
                <a:solidFill>
                  <a:schemeClr val="accent5">
                    <a:lumMod val="75000"/>
                  </a:schemeClr>
                </a:solidFill>
              </a:rPr>
              <a:t>the mat</a:t>
            </a:r>
            <a:r>
              <a:rPr lang="en-US" dirty="0"/>
              <a:t>’  </a:t>
            </a:r>
            <a:r>
              <a:rPr lang="en-US" dirty="0">
                <a:sym typeface="Wingdings" panose="05000000000000000000" pitchFamily="2" charset="2"/>
              </a:rPr>
              <a:t> 5 (reference)</a:t>
            </a:r>
          </a:p>
          <a:p>
            <a:pPr marL="0" indent="0">
              <a:buNone/>
            </a:pPr>
            <a:r>
              <a:rPr lang="en-US" dirty="0"/>
              <a:t>	"The cat on the mat"       </a:t>
            </a:r>
            <a:r>
              <a:rPr lang="en-US" dirty="0">
                <a:sym typeface="Wingdings" panose="05000000000000000000" pitchFamily="2" charset="2"/>
              </a:rPr>
              <a:t> </a:t>
            </a:r>
            <a:r>
              <a:rPr lang="en-US" dirty="0"/>
              <a:t>'</a:t>
            </a:r>
            <a:r>
              <a:rPr lang="en-US" dirty="0">
                <a:solidFill>
                  <a:schemeClr val="accent6"/>
                </a:solidFill>
              </a:rPr>
              <a:t>The cat</a:t>
            </a:r>
            <a:r>
              <a:rPr lang="en-US" dirty="0"/>
              <a:t>' , </a:t>
            </a:r>
            <a:r>
              <a:rPr lang="en-US" dirty="0">
                <a:solidFill>
                  <a:srgbClr val="FF0000"/>
                </a:solidFill>
              </a:rPr>
              <a:t>'cat on</a:t>
            </a:r>
            <a:r>
              <a:rPr lang="en-US" dirty="0"/>
              <a:t>’ ,                  '</a:t>
            </a:r>
            <a:r>
              <a:rPr lang="en-US" dirty="0">
                <a:solidFill>
                  <a:schemeClr val="accent4"/>
                </a:solidFill>
              </a:rPr>
              <a:t>on the</a:t>
            </a:r>
            <a:r>
              <a:rPr lang="en-US" dirty="0"/>
              <a:t>' , '</a:t>
            </a:r>
            <a:r>
              <a:rPr lang="en-US" dirty="0">
                <a:solidFill>
                  <a:schemeClr val="accent5">
                    <a:lumMod val="75000"/>
                  </a:schemeClr>
                </a:solidFill>
              </a:rPr>
              <a:t>the mat</a:t>
            </a:r>
            <a:r>
              <a:rPr lang="en-US" dirty="0"/>
              <a:t>’  </a:t>
            </a:r>
            <a:r>
              <a:rPr lang="en-US" dirty="0">
                <a:sym typeface="Wingdings" panose="05000000000000000000" pitchFamily="2" charset="2"/>
              </a:rPr>
              <a:t> 3 (candidate) (Model)</a:t>
            </a:r>
            <a:endParaRPr lang="en-US" dirty="0"/>
          </a:p>
          <a:p>
            <a:r>
              <a:rPr lang="en-US" dirty="0"/>
              <a:t>Brevity Penalty: Because the candidate (c=5) is shorter than the reference (r=6),</a:t>
            </a:r>
          </a:p>
          <a:p>
            <a:endParaRPr lang="en-US" dirty="0"/>
          </a:p>
          <a:p>
            <a:endParaRPr lang="en-US" dirty="0"/>
          </a:p>
          <a:p>
            <a:endParaRPr lang="en-US" dirty="0"/>
          </a:p>
          <a:p>
            <a:endParaRPr lang="en-US" dirty="0"/>
          </a:p>
          <a:p>
            <a:endParaRPr lang="en-US" dirty="0"/>
          </a:p>
          <a:p>
            <a:r>
              <a:rPr lang="en-US" dirty="0"/>
              <a:t>The final BLEU score would be much lower (around 0.67), reflecting the </a:t>
            </a:r>
            <a:r>
              <a:rPr lang="en-US" dirty="0">
                <a:solidFill>
                  <a:srgbClr val="FF0000"/>
                </a:solidFill>
              </a:rPr>
              <a:t>missing word </a:t>
            </a:r>
            <a:r>
              <a:rPr lang="en-US" dirty="0"/>
              <a:t>and </a:t>
            </a:r>
            <a:r>
              <a:rPr lang="en-US" i="1" dirty="0">
                <a:solidFill>
                  <a:srgbClr val="FF0000"/>
                </a:solidFill>
              </a:rPr>
              <a:t>incorrect phrasing</a:t>
            </a:r>
            <a:r>
              <a:rPr lang="en-US" dirty="0"/>
              <a:t>.</a:t>
            </a:r>
          </a:p>
          <a:p>
            <a:pPr marL="0" indent="0">
              <a:buNone/>
            </a:pPr>
            <a:endParaRPr lang="ar-EG" dirty="0"/>
          </a:p>
        </p:txBody>
      </p:sp>
      <p:pic>
        <p:nvPicPr>
          <p:cNvPr id="5" name="Picture 4"/>
          <p:cNvPicPr>
            <a:picLocks noChangeAspect="1"/>
          </p:cNvPicPr>
          <p:nvPr/>
        </p:nvPicPr>
        <p:blipFill>
          <a:blip r:embed="rId2"/>
          <a:stretch>
            <a:fillRect/>
          </a:stretch>
        </p:blipFill>
        <p:spPr>
          <a:xfrm>
            <a:off x="2895600" y="4066507"/>
            <a:ext cx="5715000" cy="904875"/>
          </a:xfrm>
          <a:prstGeom prst="rect">
            <a:avLst/>
          </a:prstGeom>
        </p:spPr>
      </p:pic>
      <p:sp>
        <p:nvSpPr>
          <p:cNvPr id="9" name="Slide Number Placeholder 8"/>
          <p:cNvSpPr>
            <a:spLocks noGrp="1"/>
          </p:cNvSpPr>
          <p:nvPr>
            <p:ph type="sldNum" sz="quarter" idx="12"/>
          </p:nvPr>
        </p:nvSpPr>
        <p:spPr/>
        <p:txBody>
          <a:bodyPr/>
          <a:lstStyle/>
          <a:p>
            <a:fld id="{A6FE5CD1-1D4A-4749-8CDD-9D133F900870}" type="slidenum">
              <a:rPr lang="ar-EG" smtClean="0"/>
              <a:t>15</a:t>
            </a:fld>
            <a:endParaRPr lang="ar-EG"/>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p:cNvSpPr>
            <a:spLocks noGrp="1" noRot="1" noChangeAspect="1" noMove="1" noResize="1" noEditPoints="1" noAdjustHandles="1" noChangeArrowheads="1" noChangeShapeType="1" noTextEdit="1"/>
          </p:cNvSpPr>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a:solidFill>
                  <a:schemeClr val="accent1">
                    <a:shade val="50000"/>
                  </a:schemeClr>
                </a:solidFill>
                <a:prstDash val="solid"/>
                <a:miter lim="800000"/>
                <a:headEnd/>
                <a:tailEn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p:cNvSpPr>
            <a:spLocks noGrp="1" noRot="1" noChangeAspect="1" noMove="1" noResize="1" noEditPoints="1" noAdjustHandles="1" noChangeArrowheads="1" noChangeShapeType="1" noTextEdit="1"/>
          </p:cNvSpPr>
          <p:nvPr/>
        </p:nvSpPr>
        <p:spPr>
          <a:xfrm flipH="1">
            <a:off x="-1" y="-1"/>
            <a:ext cx="12191998" cy="1590742"/>
          </a:xfrm>
          <a:prstGeom prst="rect">
            <a:avLst/>
          </a:prstGeom>
          <a:gradFill>
            <a:gsLst>
              <a:gs pos="0">
                <a:srgbClr val="000000"/>
              </a:gs>
              <a:gs pos="100000">
                <a:schemeClr val="accent1">
                  <a:lumMod val="75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p:cNvSpPr>
            <a:spLocks noGrp="1" noRot="1" noChangeAspect="1" noMove="1" noResize="1" noEditPoints="1" noAdjustHandles="1" noChangeArrowheads="1" noChangeShapeType="1" noTextEdit="1"/>
          </p:cNvSpPr>
          <p:nvPr/>
        </p:nvSpPr>
        <p:spPr>
          <a:xfrm rot="10800000" flipH="1">
            <a:off x="-3" y="0"/>
            <a:ext cx="8115306" cy="1590742"/>
          </a:xfrm>
          <a:prstGeom prst="rect">
            <a:avLst/>
          </a:prstGeom>
          <a:gradFill>
            <a:gsLst>
              <a:gs pos="20000">
                <a:schemeClr val="accent1">
                  <a:alpha val="0"/>
                </a:schemeClr>
              </a:gs>
              <a:gs pos="100000">
                <a:schemeClr val="accent1">
                  <a:lumMod val="50000"/>
                  <a:alpha val="55000"/>
                </a:schemeClr>
              </a:gs>
            </a:gsLst>
            <a:lin ang="13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p:cNvSpPr>
            <a:spLocks noGrp="1" noRot="1" noChangeAspect="1" noMove="1" noResize="1" noEditPoints="1" noAdjustHandles="1" noChangeArrowheads="1" noChangeShapeType="1" noTextEdit="1"/>
          </p:cNvSpPr>
          <p:nvPr/>
        </p:nvSpPr>
        <p:spPr>
          <a:xfrm flipH="1">
            <a:off x="8115299" y="-1"/>
            <a:ext cx="4076698" cy="1590742"/>
          </a:xfrm>
          <a:prstGeom prst="rect">
            <a:avLst/>
          </a:prstGeom>
          <a:gradFill>
            <a:gsLst>
              <a:gs pos="0">
                <a:schemeClr val="accent1">
                  <a:alpha val="66000"/>
                </a:schemeClr>
              </a:gs>
              <a:gs pos="100000">
                <a:srgbClr val="000000">
                  <a:alpha val="30000"/>
                </a:srgbClr>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p:cNvSpPr>
            <a:spLocks noGrp="1" noRot="1" noChangeAspect="1" noMove="1" noResize="1" noEditPoints="1" noAdjustHandles="1" noChangeArrowheads="1" noChangeShapeType="1" noTextEdit="1"/>
          </p:cNvSpPr>
          <p:nvPr/>
        </p:nvSpPr>
        <p:spPr>
          <a:xfrm>
            <a:off x="459350" y="-1"/>
            <a:ext cx="11732646" cy="1597433"/>
          </a:xfrm>
          <a:prstGeom prst="rect">
            <a:avLst/>
          </a:prstGeom>
          <a:gradFill>
            <a:gsLst>
              <a:gs pos="50000">
                <a:srgbClr val="000000">
                  <a:alpha val="0"/>
                </a:srgbClr>
              </a:gs>
              <a:gs pos="99000">
                <a:schemeClr val="accent1">
                  <a:lumMod val="50000"/>
                  <a:alpha val="52000"/>
                </a:schemeClr>
              </a:gs>
            </a:gsLst>
            <a:lin ang="16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1371599" y="294538"/>
            <a:ext cx="9895951" cy="1033669"/>
          </a:xfrm>
        </p:spPr>
        <p:txBody>
          <a:bodyPr>
            <a:normAutofit/>
          </a:bodyPr>
          <a:lstStyle/>
          <a:p>
            <a:r>
              <a:rPr lang="en-US" sz="4000">
                <a:solidFill>
                  <a:srgbClr val="FFFFFF"/>
                </a:solidFill>
              </a:rPr>
              <a:t>BLEU score ranges</a:t>
            </a:r>
            <a:endParaRPr lang="ar-EG" sz="4000">
              <a:solidFill>
                <a:srgbClr val="FFFFFF"/>
              </a:solidFill>
            </a:endParaRPr>
          </a:p>
        </p:txBody>
      </p:sp>
      <p:sp>
        <p:nvSpPr>
          <p:cNvPr id="3" name="Content Placeholder 2"/>
          <p:cNvSpPr>
            <a:spLocks noGrp="1"/>
          </p:cNvSpPr>
          <p:nvPr>
            <p:ph idx="1"/>
          </p:nvPr>
        </p:nvSpPr>
        <p:spPr>
          <a:xfrm>
            <a:off x="1371599" y="2318197"/>
            <a:ext cx="9724031" cy="1471378"/>
          </a:xfrm>
        </p:spPr>
        <p:txBody>
          <a:bodyPr anchor="ctr">
            <a:normAutofit/>
          </a:bodyPr>
          <a:lstStyle/>
          <a:p>
            <a:r>
              <a:rPr lang="en-US" sz="2000" dirty="0"/>
              <a:t>BLEU score ranges from 0 to 1, with higher values indicating better translation quality. A perfect translation would have a BLEU score of 1, while a completely incorrect translation would have a BLEU score of 0.</a:t>
            </a:r>
            <a:endParaRPr lang="ar-EG" sz="2000" dirty="0"/>
          </a:p>
        </p:txBody>
      </p:sp>
      <p:sp>
        <p:nvSpPr>
          <p:cNvPr id="5" name="Slide Number Placeholder 4"/>
          <p:cNvSpPr>
            <a:spLocks noGrp="1"/>
          </p:cNvSpPr>
          <p:nvPr>
            <p:ph type="sldNum" sz="quarter" idx="12"/>
          </p:nvPr>
        </p:nvSpPr>
        <p:spPr/>
        <p:txBody>
          <a:bodyPr/>
          <a:lstStyle/>
          <a:p>
            <a:fld id="{A6FE5CD1-1D4A-4749-8CDD-9D133F900870}" type="slidenum">
              <a:rPr lang="ar-EG" smtClean="0"/>
              <a:t>16</a:t>
            </a:fld>
            <a:endParaRPr lang="ar-EG"/>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p:cNvSpPr>
            <a:spLocks noGrp="1" noRot="1" noChangeAspect="1" noMove="1" noResize="1" noEditPoints="1" noAdjustHandles="1" noChangeArrowheads="1" noChangeShapeType="1" noTextEdit="1"/>
          </p:cNvSpPr>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a:solidFill>
                  <a:schemeClr val="accent1">
                    <a:shade val="50000"/>
                  </a:schemeClr>
                </a:solidFill>
                <a:prstDash val="solid"/>
                <a:miter lim="800000"/>
                <a:headEnd/>
                <a:tailEn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p:cNvSpPr>
            <a:spLocks noGrp="1" noRot="1" noChangeAspect="1" noMove="1" noResize="1" noEditPoints="1" noAdjustHandles="1" noChangeArrowheads="1" noChangeShapeType="1" noTextEdit="1"/>
          </p:cNvSpPr>
          <p:nvPr/>
        </p:nvSpPr>
        <p:spPr>
          <a:xfrm flipH="1">
            <a:off x="-1" y="-1"/>
            <a:ext cx="12191998" cy="1590742"/>
          </a:xfrm>
          <a:prstGeom prst="rect">
            <a:avLst/>
          </a:prstGeom>
          <a:gradFill>
            <a:gsLst>
              <a:gs pos="0">
                <a:srgbClr val="000000"/>
              </a:gs>
              <a:gs pos="100000">
                <a:schemeClr val="accent1">
                  <a:lumMod val="75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p:cNvSpPr>
            <a:spLocks noGrp="1" noRot="1" noChangeAspect="1" noMove="1" noResize="1" noEditPoints="1" noAdjustHandles="1" noChangeArrowheads="1" noChangeShapeType="1" noTextEdit="1"/>
          </p:cNvSpPr>
          <p:nvPr/>
        </p:nvSpPr>
        <p:spPr>
          <a:xfrm rot="10800000" flipH="1">
            <a:off x="-3" y="0"/>
            <a:ext cx="8115306" cy="1590742"/>
          </a:xfrm>
          <a:prstGeom prst="rect">
            <a:avLst/>
          </a:prstGeom>
          <a:gradFill>
            <a:gsLst>
              <a:gs pos="20000">
                <a:schemeClr val="accent1">
                  <a:alpha val="0"/>
                </a:schemeClr>
              </a:gs>
              <a:gs pos="100000">
                <a:schemeClr val="accent1">
                  <a:lumMod val="50000"/>
                  <a:alpha val="55000"/>
                </a:schemeClr>
              </a:gs>
            </a:gsLst>
            <a:lin ang="13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p:cNvSpPr>
            <a:spLocks noGrp="1" noRot="1" noChangeAspect="1" noMove="1" noResize="1" noEditPoints="1" noAdjustHandles="1" noChangeArrowheads="1" noChangeShapeType="1" noTextEdit="1"/>
          </p:cNvSpPr>
          <p:nvPr/>
        </p:nvSpPr>
        <p:spPr>
          <a:xfrm flipH="1">
            <a:off x="8115299" y="-1"/>
            <a:ext cx="4076698" cy="1590742"/>
          </a:xfrm>
          <a:prstGeom prst="rect">
            <a:avLst/>
          </a:prstGeom>
          <a:gradFill>
            <a:gsLst>
              <a:gs pos="0">
                <a:schemeClr val="accent1">
                  <a:alpha val="66000"/>
                </a:schemeClr>
              </a:gs>
              <a:gs pos="100000">
                <a:srgbClr val="000000">
                  <a:alpha val="30000"/>
                </a:srgbClr>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p:cNvSpPr>
            <a:spLocks noGrp="1" noRot="1" noChangeAspect="1" noMove="1" noResize="1" noEditPoints="1" noAdjustHandles="1" noChangeArrowheads="1" noChangeShapeType="1" noTextEdit="1"/>
          </p:cNvSpPr>
          <p:nvPr/>
        </p:nvSpPr>
        <p:spPr>
          <a:xfrm>
            <a:off x="459350" y="-1"/>
            <a:ext cx="11732646" cy="1597433"/>
          </a:xfrm>
          <a:prstGeom prst="rect">
            <a:avLst/>
          </a:prstGeom>
          <a:gradFill>
            <a:gsLst>
              <a:gs pos="50000">
                <a:srgbClr val="000000">
                  <a:alpha val="0"/>
                </a:srgbClr>
              </a:gs>
              <a:gs pos="99000">
                <a:schemeClr val="accent1">
                  <a:lumMod val="50000"/>
                  <a:alpha val="52000"/>
                </a:schemeClr>
              </a:gs>
            </a:gsLst>
            <a:lin ang="16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1371599" y="294538"/>
            <a:ext cx="9895951" cy="1033669"/>
          </a:xfrm>
        </p:spPr>
        <p:txBody>
          <a:bodyPr>
            <a:normAutofit/>
          </a:bodyPr>
          <a:lstStyle/>
          <a:p>
            <a:r>
              <a:rPr lang="ar-EG" sz="4000">
                <a:solidFill>
                  <a:srgbClr val="FFFFFF"/>
                </a:solidFill>
              </a:rPr>
              <a:t>Significance of BLEU score</a:t>
            </a:r>
          </a:p>
        </p:txBody>
      </p:sp>
      <p:sp>
        <p:nvSpPr>
          <p:cNvPr id="3" name="Content Placeholder 2"/>
          <p:cNvSpPr>
            <a:spLocks noGrp="1"/>
          </p:cNvSpPr>
          <p:nvPr>
            <p:ph idx="1"/>
          </p:nvPr>
        </p:nvSpPr>
        <p:spPr>
          <a:xfrm>
            <a:off x="1371599" y="2044820"/>
            <a:ext cx="9724031" cy="3683358"/>
          </a:xfrm>
        </p:spPr>
        <p:txBody>
          <a:bodyPr anchor="ctr">
            <a:normAutofit/>
          </a:bodyPr>
          <a:lstStyle/>
          <a:p>
            <a:r>
              <a:rPr lang="en-US" sz="2000" dirty="0"/>
              <a:t>BLEU score is widely used in machine translation tasks as it provides a simple and effective way to assess the quality of machine-generated translations compared to reference translations. </a:t>
            </a:r>
          </a:p>
          <a:p>
            <a:endParaRPr lang="en-US" sz="2000" dirty="0"/>
          </a:p>
          <a:p>
            <a:r>
              <a:rPr lang="en-US" sz="2000" dirty="0"/>
              <a:t>It is easy to calculate and interpret, making it a popular choice for evaluating machine translation models. However, it has some limitations. BLEU score heavily relies on n-grams and may not capture the overall meaning or fluency of the translated text accurately. It may also penalize translations that are longer than the reference translations, which can be unfair in some cases.</a:t>
            </a:r>
            <a:endParaRPr lang="ar-EG" sz="2000" dirty="0"/>
          </a:p>
        </p:txBody>
      </p:sp>
      <p:sp>
        <p:nvSpPr>
          <p:cNvPr id="5" name="Slide Number Placeholder 4"/>
          <p:cNvSpPr>
            <a:spLocks noGrp="1"/>
          </p:cNvSpPr>
          <p:nvPr>
            <p:ph type="sldNum" sz="quarter" idx="12"/>
          </p:nvPr>
        </p:nvSpPr>
        <p:spPr/>
        <p:txBody>
          <a:bodyPr/>
          <a:lstStyle/>
          <a:p>
            <a:fld id="{A6FE5CD1-1D4A-4749-8CDD-9D133F900870}" type="slidenum">
              <a:rPr lang="ar-EG" smtClean="0"/>
              <a:t>17</a:t>
            </a:fld>
            <a:endParaRPr lang="ar-EG"/>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9" name="Rectangle 18"/>
          <p:cNvSpPr>
            <a:spLocks noGrp="1" noRot="1" noChangeAspect="1" noMove="1" noResize="1" noEditPoints="1" noAdjustHandles="1" noChangeArrowheads="1" noChangeShapeType="1" noTextEdit="1"/>
          </p:cNvSpPr>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a:solidFill>
                  <a:schemeClr val="accent1">
                    <a:shade val="50000"/>
                  </a:schemeClr>
                </a:solidFill>
                <a:prstDash val="solid"/>
                <a:miter lim="800000"/>
                <a:headEnd/>
                <a:tailEn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Rectangle 20"/>
          <p:cNvSpPr>
            <a:spLocks noGrp="1" noRot="1" noChangeAspect="1" noMove="1" noResize="1" noEditPoints="1" noAdjustHandles="1" noChangeArrowheads="1" noChangeShapeType="1" noTextEdit="1"/>
          </p:cNvSpPr>
          <p:nvPr/>
        </p:nvSpPr>
        <p:spPr>
          <a:xfrm rot="10800000" flipH="1">
            <a:off x="2" y="0"/>
            <a:ext cx="12191998" cy="1575955"/>
          </a:xfrm>
          <a:prstGeom prst="rect">
            <a:avLst/>
          </a:prstGeom>
          <a:gradFill>
            <a:gsLst>
              <a:gs pos="0">
                <a:srgbClr val="000000">
                  <a:alpha val="96000"/>
                </a:srgbClr>
              </a:gs>
              <a:gs pos="100000">
                <a:schemeClr val="accent1">
                  <a:lumMod val="75000"/>
                </a:schemeClr>
              </a:gs>
            </a:gsLst>
            <a:lin ang="6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Rectangle 22"/>
          <p:cNvSpPr>
            <a:spLocks noGrp="1" noRot="1" noChangeAspect="1" noMove="1" noResize="1" noEditPoints="1" noAdjustHandles="1" noChangeArrowheads="1" noChangeShapeType="1" noTextEdit="1"/>
          </p:cNvSpPr>
          <p:nvPr/>
        </p:nvSpPr>
        <p:spPr>
          <a:xfrm>
            <a:off x="0" y="0"/>
            <a:ext cx="8128856" cy="1575461"/>
          </a:xfrm>
          <a:prstGeom prst="rect">
            <a:avLst/>
          </a:prstGeom>
          <a:gradFill>
            <a:gsLst>
              <a:gs pos="0">
                <a:schemeClr val="accent1">
                  <a:alpha val="41000"/>
                </a:schemeClr>
              </a:gs>
              <a:gs pos="74000">
                <a:schemeClr val="accent1">
                  <a:lumMod val="60000"/>
                  <a:lumOff val="40000"/>
                  <a:alpha val="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Rectangle 24"/>
          <p:cNvSpPr>
            <a:spLocks noGrp="1" noRot="1" noChangeAspect="1" noMove="1" noResize="1" noEditPoints="1" noAdjustHandles="1" noChangeArrowheads="1" noChangeShapeType="1" noTextEdit="1"/>
          </p:cNvSpPr>
          <p:nvPr/>
        </p:nvSpPr>
        <p:spPr>
          <a:xfrm flipH="1">
            <a:off x="-3" y="-1"/>
            <a:ext cx="12192002" cy="1574311"/>
          </a:xfrm>
          <a:prstGeom prst="rect">
            <a:avLst/>
          </a:prstGeom>
          <a:gradFill>
            <a:gsLst>
              <a:gs pos="0">
                <a:srgbClr val="000000">
                  <a:alpha val="63000"/>
                </a:srgbClr>
              </a:gs>
              <a:gs pos="78000">
                <a:schemeClr val="accent1">
                  <a:alpha val="15000"/>
                </a:schemeClr>
              </a:gs>
            </a:gsLst>
            <a:lin ang="15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699713" y="248038"/>
            <a:ext cx="7063721" cy="1159200"/>
          </a:xfrm>
        </p:spPr>
        <p:txBody>
          <a:bodyPr vert="horz" lIns="91440" tIns="45720" rIns="91440" bIns="45720" rtlCol="0" anchor="ctr">
            <a:normAutofit/>
          </a:bodyPr>
          <a:lstStyle/>
          <a:p>
            <a:r>
              <a:rPr lang="en-US" sz="4000" kern="1200">
                <a:solidFill>
                  <a:srgbClr val="FFFFFF"/>
                </a:solidFill>
                <a:latin typeface="+mj-lt"/>
                <a:ea typeface="+mj-ea"/>
                <a:cs typeface="+mj-cs"/>
              </a:rPr>
              <a:t>Code for calculating BLEU score:</a:t>
            </a:r>
          </a:p>
        </p:txBody>
      </p:sp>
      <p:pic>
        <p:nvPicPr>
          <p:cNvPr id="9" name="Content Placeholder 8"/>
          <p:cNvPicPr>
            <a:picLocks noGrp="1" noChangeAspect="1"/>
          </p:cNvPicPr>
          <p:nvPr>
            <p:ph idx="1"/>
          </p:nvPr>
        </p:nvPicPr>
        <p:blipFill>
          <a:blip r:embed="rId2"/>
          <a:stretch>
            <a:fillRect/>
          </a:stretch>
        </p:blipFill>
        <p:spPr>
          <a:xfrm>
            <a:off x="948993" y="1966293"/>
            <a:ext cx="10294012" cy="4452160"/>
          </a:xfrm>
          <a:prstGeom prst="rect">
            <a:avLst/>
          </a:prstGeom>
        </p:spPr>
      </p:pic>
      <p:sp>
        <p:nvSpPr>
          <p:cNvPr id="11" name="Slide Number Placeholder 10"/>
          <p:cNvSpPr>
            <a:spLocks noGrp="1"/>
          </p:cNvSpPr>
          <p:nvPr>
            <p:ph type="sldNum" sz="quarter" idx="12"/>
          </p:nvPr>
        </p:nvSpPr>
        <p:spPr/>
        <p:txBody>
          <a:bodyPr/>
          <a:lstStyle/>
          <a:p>
            <a:fld id="{A6FE5CD1-1D4A-4749-8CDD-9D133F900870}" type="slidenum">
              <a:rPr lang="ar-EG" smtClean="0"/>
              <a:t>18</a:t>
            </a:fld>
            <a:endParaRPr lang="ar-EG"/>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p:cNvSpPr>
            <a:spLocks noGrp="1" noRot="1" noChangeAspect="1" noMove="1" noResize="1" noEditPoints="1" noAdjustHandles="1" noChangeArrowheads="1" noChangeShapeType="1" noTextEdit="1"/>
          </p:cNvSpPr>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a:solidFill>
                  <a:schemeClr val="accent1">
                    <a:shade val="50000"/>
                  </a:schemeClr>
                </a:solidFill>
                <a:prstDash val="solid"/>
                <a:miter lim="800000"/>
                <a:headEnd/>
                <a:tailEn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p:cNvSpPr>
            <a:spLocks noGrp="1" noRot="1" noChangeAspect="1" noMove="1" noResize="1" noEditPoints="1" noAdjustHandles="1" noChangeArrowheads="1" noChangeShapeType="1" noTextEdit="1"/>
          </p:cNvSpPr>
          <p:nvPr/>
        </p:nvSpPr>
        <p:spPr>
          <a:xfrm flipH="1">
            <a:off x="-1" y="-1"/>
            <a:ext cx="12191998" cy="1590742"/>
          </a:xfrm>
          <a:prstGeom prst="rect">
            <a:avLst/>
          </a:prstGeom>
          <a:gradFill>
            <a:gsLst>
              <a:gs pos="0">
                <a:srgbClr val="000000"/>
              </a:gs>
              <a:gs pos="100000">
                <a:schemeClr val="accent1">
                  <a:lumMod val="75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p:cNvSpPr>
            <a:spLocks noGrp="1" noRot="1" noChangeAspect="1" noMove="1" noResize="1" noEditPoints="1" noAdjustHandles="1" noChangeArrowheads="1" noChangeShapeType="1" noTextEdit="1"/>
          </p:cNvSpPr>
          <p:nvPr/>
        </p:nvSpPr>
        <p:spPr>
          <a:xfrm rot="10800000" flipH="1">
            <a:off x="-3" y="0"/>
            <a:ext cx="8115306" cy="1590742"/>
          </a:xfrm>
          <a:prstGeom prst="rect">
            <a:avLst/>
          </a:prstGeom>
          <a:gradFill>
            <a:gsLst>
              <a:gs pos="20000">
                <a:schemeClr val="accent1">
                  <a:alpha val="0"/>
                </a:schemeClr>
              </a:gs>
              <a:gs pos="100000">
                <a:schemeClr val="accent1">
                  <a:lumMod val="50000"/>
                  <a:alpha val="55000"/>
                </a:schemeClr>
              </a:gs>
            </a:gsLst>
            <a:lin ang="13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p:cNvSpPr>
            <a:spLocks noGrp="1" noRot="1" noChangeAspect="1" noMove="1" noResize="1" noEditPoints="1" noAdjustHandles="1" noChangeArrowheads="1" noChangeShapeType="1" noTextEdit="1"/>
          </p:cNvSpPr>
          <p:nvPr/>
        </p:nvSpPr>
        <p:spPr>
          <a:xfrm flipH="1">
            <a:off x="8115299" y="-1"/>
            <a:ext cx="4076698" cy="1590742"/>
          </a:xfrm>
          <a:prstGeom prst="rect">
            <a:avLst/>
          </a:prstGeom>
          <a:gradFill>
            <a:gsLst>
              <a:gs pos="0">
                <a:schemeClr val="accent1">
                  <a:alpha val="66000"/>
                </a:schemeClr>
              </a:gs>
              <a:gs pos="100000">
                <a:srgbClr val="000000">
                  <a:alpha val="30000"/>
                </a:srgbClr>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p:cNvSpPr>
            <a:spLocks noGrp="1" noRot="1" noChangeAspect="1" noMove="1" noResize="1" noEditPoints="1" noAdjustHandles="1" noChangeArrowheads="1" noChangeShapeType="1" noTextEdit="1"/>
          </p:cNvSpPr>
          <p:nvPr/>
        </p:nvSpPr>
        <p:spPr>
          <a:xfrm>
            <a:off x="459350" y="-1"/>
            <a:ext cx="11732646" cy="1597433"/>
          </a:xfrm>
          <a:prstGeom prst="rect">
            <a:avLst/>
          </a:prstGeom>
          <a:gradFill>
            <a:gsLst>
              <a:gs pos="50000">
                <a:srgbClr val="000000">
                  <a:alpha val="0"/>
                </a:srgbClr>
              </a:gs>
              <a:gs pos="99000">
                <a:schemeClr val="accent1">
                  <a:lumMod val="50000"/>
                  <a:alpha val="52000"/>
                </a:schemeClr>
              </a:gs>
            </a:gsLst>
            <a:lin ang="16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1371599" y="294538"/>
            <a:ext cx="9895951" cy="1033669"/>
          </a:xfrm>
        </p:spPr>
        <p:txBody>
          <a:bodyPr>
            <a:normAutofit/>
          </a:bodyPr>
          <a:lstStyle/>
          <a:p>
            <a:endParaRPr lang="ar-EG" sz="4000">
              <a:solidFill>
                <a:srgbClr val="FFFFFF"/>
              </a:solidFill>
            </a:endParaRPr>
          </a:p>
        </p:txBody>
      </p:sp>
      <p:sp>
        <p:nvSpPr>
          <p:cNvPr id="3" name="Content Placeholder 2"/>
          <p:cNvSpPr>
            <a:spLocks noGrp="1"/>
          </p:cNvSpPr>
          <p:nvPr>
            <p:ph idx="1"/>
          </p:nvPr>
        </p:nvSpPr>
        <p:spPr>
          <a:xfrm>
            <a:off x="1371599" y="2318197"/>
            <a:ext cx="9724031" cy="3683358"/>
          </a:xfrm>
        </p:spPr>
        <p:txBody>
          <a:bodyPr anchor="ctr">
            <a:normAutofit/>
          </a:bodyPr>
          <a:lstStyle/>
          <a:p>
            <a:r>
              <a:rPr lang="ar-EG" sz="2000"/>
              <a:t>predictions: This is a list of candidate predictions or generated sentences that you want to evaluate.</a:t>
            </a:r>
          </a:p>
          <a:p>
            <a:r>
              <a:rPr lang="ar-EG" sz="2000"/>
              <a:t>references: This is a list of reference sentences, which are the </a:t>
            </a:r>
            <a:r>
              <a:rPr lang="ar-EG" sz="2000" b="1"/>
              <a:t>ground truth </a:t>
            </a:r>
            <a:r>
              <a:rPr lang="ar-EG" sz="2000"/>
              <a:t>or </a:t>
            </a:r>
            <a:r>
              <a:rPr lang="ar-EG" sz="2000" b="1"/>
              <a:t>gold standard sentences </a:t>
            </a:r>
            <a:r>
              <a:rPr lang="ar-EG" sz="2000"/>
              <a:t>that you want to compare the candidate predictions against.</a:t>
            </a:r>
          </a:p>
          <a:p>
            <a:r>
              <a:rPr lang="ar-EG" sz="2000"/>
              <a:t>bleu = evaluate.load("bleu"): This loads the BLEU evaluation metric from the evaluate library. You can specify the desired metric, such as "bleu", "rouge", depending on your evaluation needs.</a:t>
            </a:r>
          </a:p>
        </p:txBody>
      </p:sp>
      <p:sp>
        <p:nvSpPr>
          <p:cNvPr id="5" name="Slide Number Placeholder 4"/>
          <p:cNvSpPr>
            <a:spLocks noGrp="1"/>
          </p:cNvSpPr>
          <p:nvPr>
            <p:ph type="sldNum" sz="quarter" idx="12"/>
          </p:nvPr>
        </p:nvSpPr>
        <p:spPr/>
        <p:txBody>
          <a:bodyPr/>
          <a:lstStyle/>
          <a:p>
            <a:fld id="{A6FE5CD1-1D4A-4749-8CDD-9D133F900870}" type="slidenum">
              <a:rPr lang="ar-EG" smtClean="0"/>
              <a:t>19</a:t>
            </a:fld>
            <a:endParaRPr lang="ar-EG"/>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p:cNvSpPr>
            <a:spLocks noGrp="1" noRot="1" noChangeAspect="1" noMove="1" noResize="1" noEditPoints="1" noAdjustHandles="1" noChangeArrowheads="1" noChangeShapeType="1" noTextEdit="1"/>
          </p:cNvSpPr>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a:solidFill>
                  <a:schemeClr val="accent1">
                    <a:shade val="50000"/>
                  </a:schemeClr>
                </a:solidFill>
                <a:prstDash val="solid"/>
                <a:miter lim="800000"/>
                <a:headEnd/>
                <a:tailEn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p:cNvSpPr>
            <a:spLocks noGrp="1" noRot="1" noChangeAspect="1" noMove="1" noResize="1" noEditPoints="1" noAdjustHandles="1" noChangeArrowheads="1" noChangeShapeType="1" noTextEdit="1"/>
          </p:cNvSpPr>
          <p:nvPr/>
        </p:nvSpPr>
        <p:spPr>
          <a:xfrm rot="10800000" flipH="1">
            <a:off x="2" y="0"/>
            <a:ext cx="12191998" cy="1575955"/>
          </a:xfrm>
          <a:prstGeom prst="rect">
            <a:avLst/>
          </a:prstGeom>
          <a:gradFill>
            <a:gsLst>
              <a:gs pos="0">
                <a:srgbClr val="000000">
                  <a:alpha val="96000"/>
                </a:srgbClr>
              </a:gs>
              <a:gs pos="100000">
                <a:schemeClr val="accent1">
                  <a:lumMod val="75000"/>
                </a:schemeClr>
              </a:gs>
            </a:gsLst>
            <a:lin ang="6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p:cNvSpPr>
            <a:spLocks noGrp="1" noRot="1" noChangeAspect="1" noMove="1" noResize="1" noEditPoints="1" noAdjustHandles="1" noChangeArrowheads="1" noChangeShapeType="1" noTextEdit="1"/>
          </p:cNvSpPr>
          <p:nvPr/>
        </p:nvSpPr>
        <p:spPr>
          <a:xfrm>
            <a:off x="0" y="0"/>
            <a:ext cx="8128856" cy="1575461"/>
          </a:xfrm>
          <a:prstGeom prst="rect">
            <a:avLst/>
          </a:prstGeom>
          <a:gradFill>
            <a:gsLst>
              <a:gs pos="0">
                <a:schemeClr val="accent1">
                  <a:alpha val="41000"/>
                </a:schemeClr>
              </a:gs>
              <a:gs pos="74000">
                <a:schemeClr val="accent1">
                  <a:lumMod val="60000"/>
                  <a:lumOff val="40000"/>
                  <a:alpha val="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p:cNvSpPr>
            <a:spLocks noGrp="1" noRot="1" noChangeAspect="1" noMove="1" noResize="1" noEditPoints="1" noAdjustHandles="1" noChangeArrowheads="1" noChangeShapeType="1" noTextEdit="1"/>
          </p:cNvSpPr>
          <p:nvPr/>
        </p:nvSpPr>
        <p:spPr>
          <a:xfrm flipH="1">
            <a:off x="-3" y="-1"/>
            <a:ext cx="12192002" cy="1574311"/>
          </a:xfrm>
          <a:prstGeom prst="rect">
            <a:avLst/>
          </a:prstGeom>
          <a:gradFill>
            <a:gsLst>
              <a:gs pos="0">
                <a:srgbClr val="000000">
                  <a:alpha val="63000"/>
                </a:srgbClr>
              </a:gs>
              <a:gs pos="78000">
                <a:schemeClr val="accent1">
                  <a:alpha val="15000"/>
                </a:schemeClr>
              </a:gs>
            </a:gsLst>
            <a:lin ang="15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699713" y="248038"/>
            <a:ext cx="7063721" cy="1159200"/>
          </a:xfrm>
        </p:spPr>
        <p:txBody>
          <a:bodyPr vert="horz" lIns="91440" tIns="45720" rIns="91440" bIns="45720" rtlCol="0" anchor="ctr">
            <a:normAutofit/>
          </a:bodyPr>
          <a:lstStyle/>
          <a:p>
            <a:r>
              <a:rPr lang="en-US" sz="4000" kern="1200">
                <a:solidFill>
                  <a:srgbClr val="FFFFFF"/>
                </a:solidFill>
                <a:latin typeface="+mj-lt"/>
                <a:ea typeface="+mj-ea"/>
                <a:cs typeface="+mj-cs"/>
              </a:rPr>
              <a:t>Results</a:t>
            </a:r>
          </a:p>
        </p:txBody>
      </p:sp>
      <p:pic>
        <p:nvPicPr>
          <p:cNvPr id="5" name="Picture 4"/>
          <p:cNvPicPr>
            <a:picLocks noChangeAspect="1"/>
          </p:cNvPicPr>
          <p:nvPr/>
        </p:nvPicPr>
        <p:blipFill>
          <a:blip r:embed="rId2"/>
          <a:stretch>
            <a:fillRect/>
          </a:stretch>
        </p:blipFill>
        <p:spPr>
          <a:xfrm>
            <a:off x="978573" y="1966293"/>
            <a:ext cx="10234853" cy="4452160"/>
          </a:xfrm>
          <a:prstGeom prst="rect">
            <a:avLst/>
          </a:prstGeom>
        </p:spPr>
      </p:pic>
      <p:sp>
        <p:nvSpPr>
          <p:cNvPr id="7" name="Slide Number Placeholder 6"/>
          <p:cNvSpPr>
            <a:spLocks noGrp="1"/>
          </p:cNvSpPr>
          <p:nvPr>
            <p:ph type="sldNum" sz="quarter" idx="12"/>
          </p:nvPr>
        </p:nvSpPr>
        <p:spPr/>
        <p:txBody>
          <a:bodyPr/>
          <a:lstStyle/>
          <a:p>
            <a:fld id="{A6FE5CD1-1D4A-4749-8CDD-9D133F900870}" type="slidenum">
              <a:rPr lang="ar-EG" smtClean="0"/>
              <a:t>20</a:t>
            </a:fld>
            <a:endParaRPr lang="ar-EG"/>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p:cNvSpPr>
            <a:spLocks noGrp="1" noRot="1" noChangeAspect="1" noMove="1" noResize="1" noEditPoints="1" noAdjustHandles="1" noChangeArrowheads="1" noChangeShapeType="1" noTextEdit="1"/>
          </p:cNvSpPr>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a:solidFill>
                  <a:schemeClr val="accent1">
                    <a:shade val="50000"/>
                  </a:schemeClr>
                </a:solidFill>
                <a:prstDash val="solid"/>
                <a:miter lim="800000"/>
                <a:headEnd/>
                <a:tailEn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p:cNvSpPr>
            <a:spLocks noGrp="1" noRot="1" noChangeAspect="1" noMove="1" noResize="1" noEditPoints="1" noAdjustHandles="1" noChangeArrowheads="1" noChangeShapeType="1" noTextEdit="1"/>
          </p:cNvSpPr>
          <p:nvPr/>
        </p:nvSpPr>
        <p:spPr>
          <a:xfrm flipH="1">
            <a:off x="-1" y="-1"/>
            <a:ext cx="12191998" cy="1590742"/>
          </a:xfrm>
          <a:prstGeom prst="rect">
            <a:avLst/>
          </a:prstGeom>
          <a:gradFill>
            <a:gsLst>
              <a:gs pos="0">
                <a:srgbClr val="000000"/>
              </a:gs>
              <a:gs pos="100000">
                <a:schemeClr val="accent1">
                  <a:lumMod val="75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p:cNvSpPr>
            <a:spLocks noGrp="1" noRot="1" noChangeAspect="1" noMove="1" noResize="1" noEditPoints="1" noAdjustHandles="1" noChangeArrowheads="1" noChangeShapeType="1" noTextEdit="1"/>
          </p:cNvSpPr>
          <p:nvPr/>
        </p:nvSpPr>
        <p:spPr>
          <a:xfrm rot="10800000" flipH="1">
            <a:off x="-3" y="0"/>
            <a:ext cx="8115306" cy="1590742"/>
          </a:xfrm>
          <a:prstGeom prst="rect">
            <a:avLst/>
          </a:prstGeom>
          <a:gradFill>
            <a:gsLst>
              <a:gs pos="20000">
                <a:schemeClr val="accent1">
                  <a:alpha val="0"/>
                </a:schemeClr>
              </a:gs>
              <a:gs pos="100000">
                <a:schemeClr val="accent1">
                  <a:lumMod val="50000"/>
                  <a:alpha val="55000"/>
                </a:schemeClr>
              </a:gs>
            </a:gsLst>
            <a:lin ang="13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p:cNvSpPr>
            <a:spLocks noGrp="1" noRot="1" noChangeAspect="1" noMove="1" noResize="1" noEditPoints="1" noAdjustHandles="1" noChangeArrowheads="1" noChangeShapeType="1" noTextEdit="1"/>
          </p:cNvSpPr>
          <p:nvPr/>
        </p:nvSpPr>
        <p:spPr>
          <a:xfrm flipH="1">
            <a:off x="8115299" y="-1"/>
            <a:ext cx="4076698" cy="1590742"/>
          </a:xfrm>
          <a:prstGeom prst="rect">
            <a:avLst/>
          </a:prstGeom>
          <a:gradFill>
            <a:gsLst>
              <a:gs pos="0">
                <a:schemeClr val="accent1">
                  <a:alpha val="66000"/>
                </a:schemeClr>
              </a:gs>
              <a:gs pos="100000">
                <a:srgbClr val="000000">
                  <a:alpha val="30000"/>
                </a:srgbClr>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p:cNvSpPr>
            <a:spLocks noGrp="1" noRot="1" noChangeAspect="1" noMove="1" noResize="1" noEditPoints="1" noAdjustHandles="1" noChangeArrowheads="1" noChangeShapeType="1" noTextEdit="1"/>
          </p:cNvSpPr>
          <p:nvPr/>
        </p:nvSpPr>
        <p:spPr>
          <a:xfrm>
            <a:off x="459350" y="-1"/>
            <a:ext cx="11732646" cy="1597433"/>
          </a:xfrm>
          <a:prstGeom prst="rect">
            <a:avLst/>
          </a:prstGeom>
          <a:gradFill>
            <a:gsLst>
              <a:gs pos="50000">
                <a:srgbClr val="000000">
                  <a:alpha val="0"/>
                </a:srgbClr>
              </a:gs>
              <a:gs pos="99000">
                <a:schemeClr val="accent1">
                  <a:lumMod val="50000"/>
                  <a:alpha val="52000"/>
                </a:schemeClr>
              </a:gs>
            </a:gsLst>
            <a:lin ang="16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1371599" y="294538"/>
            <a:ext cx="9895951" cy="1033669"/>
          </a:xfrm>
        </p:spPr>
        <p:txBody>
          <a:bodyPr>
            <a:normAutofit/>
          </a:bodyPr>
          <a:lstStyle/>
          <a:p>
            <a:r>
              <a:rPr lang="ar-EG" sz="3400" b="1">
                <a:solidFill>
                  <a:srgbClr val="FFFFFF"/>
                </a:solidFill>
              </a:rPr>
              <a:t>ROUGE (Recall-Oriented Understudy for Gisting Evaluation) Score</a:t>
            </a:r>
            <a:endParaRPr lang="ar-EG" sz="3400">
              <a:solidFill>
                <a:srgbClr val="FFFFFF"/>
              </a:solidFill>
            </a:endParaRPr>
          </a:p>
        </p:txBody>
      </p:sp>
      <p:sp>
        <p:nvSpPr>
          <p:cNvPr id="3" name="Content Placeholder 2"/>
          <p:cNvSpPr>
            <a:spLocks noGrp="1"/>
          </p:cNvSpPr>
          <p:nvPr>
            <p:ph idx="1"/>
          </p:nvPr>
        </p:nvSpPr>
        <p:spPr>
          <a:xfrm>
            <a:off x="1371599" y="2318197"/>
            <a:ext cx="9724031" cy="2310364"/>
          </a:xfrm>
        </p:spPr>
        <p:txBody>
          <a:bodyPr anchor="ctr">
            <a:normAutofit/>
          </a:bodyPr>
          <a:lstStyle/>
          <a:p>
            <a:r>
              <a:rPr lang="en-US" sz="2000" dirty="0"/>
              <a:t>ROUGE score is a set of metrics commonly used for text summarization tasks, where the goal is to automatically generate a concise summary of a longer text. ROUGE was designed to evaluate the quality of machine-generated summaries by comparing them to reference summaries provided by humans.</a:t>
            </a:r>
          </a:p>
          <a:p>
            <a:endParaRPr lang="ar-EG" sz="2000" dirty="0"/>
          </a:p>
        </p:txBody>
      </p:sp>
      <p:sp>
        <p:nvSpPr>
          <p:cNvPr id="5" name="Slide Number Placeholder 4"/>
          <p:cNvSpPr>
            <a:spLocks noGrp="1"/>
          </p:cNvSpPr>
          <p:nvPr>
            <p:ph type="sldNum" sz="quarter" idx="12"/>
          </p:nvPr>
        </p:nvSpPr>
        <p:spPr/>
        <p:txBody>
          <a:bodyPr/>
          <a:lstStyle/>
          <a:p>
            <a:fld id="{A6FE5CD1-1D4A-4749-8CDD-9D133F900870}" type="slidenum">
              <a:rPr lang="ar-EG" smtClean="0"/>
              <a:t>21</a:t>
            </a:fld>
            <a:endParaRPr lang="ar-EG"/>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ar-EG" dirty="0"/>
              <a:t>How does ROUGE score work?</a:t>
            </a:r>
          </a:p>
        </p:txBody>
      </p:sp>
      <p:sp>
        <p:nvSpPr>
          <p:cNvPr id="3" name="Content Placeholder 2"/>
          <p:cNvSpPr>
            <a:spLocks noGrp="1"/>
          </p:cNvSpPr>
          <p:nvPr>
            <p:ph idx="1"/>
          </p:nvPr>
        </p:nvSpPr>
        <p:spPr/>
        <p:txBody>
          <a:bodyPr/>
          <a:lstStyle/>
          <a:p>
            <a:r>
              <a:rPr lang="ar-EG" dirty="0"/>
              <a:t>ROUGE score measures the similarity between the machine-generated summary and the reference summaries using overlapping n-grams, word sequences that appear in both the machine-generated summary and the reference summaries. The most common n-grams used are unigrams, bigrams, and trigrams. </a:t>
            </a:r>
          </a:p>
          <a:p>
            <a:endParaRPr lang="ar-EG" dirty="0"/>
          </a:p>
          <a:p>
            <a:r>
              <a:rPr lang="ar-EG" dirty="0"/>
              <a:t>ROUGE score calculates the recall of n-grams in the machine-generated summary by comparing them to the reference summaries.</a:t>
            </a:r>
          </a:p>
          <a:p>
            <a:endParaRPr lang="ar-EG" dirty="0"/>
          </a:p>
        </p:txBody>
      </p:sp>
      <p:sp>
        <p:nvSpPr>
          <p:cNvPr id="5" name="Slide Number Placeholder 4"/>
          <p:cNvSpPr>
            <a:spLocks noGrp="1"/>
          </p:cNvSpPr>
          <p:nvPr>
            <p:ph type="sldNum" sz="quarter" idx="12"/>
          </p:nvPr>
        </p:nvSpPr>
        <p:spPr/>
        <p:txBody>
          <a:bodyPr/>
          <a:lstStyle/>
          <a:p>
            <a:fld id="{A6FE5CD1-1D4A-4749-8CDD-9D133F900870}" type="slidenum">
              <a:rPr lang="ar-EG" smtClean="0"/>
              <a:t>22</a:t>
            </a:fld>
            <a:endParaRPr lang="ar-EG"/>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p:cNvSpPr>
            <a:spLocks noGrp="1" noRot="1" noChangeAspect="1" noMove="1" noResize="1" noEditPoints="1" noAdjustHandles="1" noChangeArrowheads="1" noChangeShapeType="1" noTextEdit="1"/>
          </p:cNvSpPr>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a:solidFill>
                  <a:schemeClr val="accent1">
                    <a:shade val="50000"/>
                  </a:schemeClr>
                </a:solidFill>
                <a:prstDash val="solid"/>
                <a:miter lim="800000"/>
                <a:headEnd/>
                <a:tailEn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p:cNvSpPr>
            <a:spLocks noGrp="1" noRot="1" noChangeAspect="1" noMove="1" noResize="1" noEditPoints="1" noAdjustHandles="1" noChangeArrowheads="1" noChangeShapeType="1" noTextEdit="1"/>
          </p:cNvSpPr>
          <p:nvPr/>
        </p:nvSpPr>
        <p:spPr>
          <a:xfrm flipH="1">
            <a:off x="-1" y="-1"/>
            <a:ext cx="12191998" cy="1590742"/>
          </a:xfrm>
          <a:prstGeom prst="rect">
            <a:avLst/>
          </a:prstGeom>
          <a:gradFill>
            <a:gsLst>
              <a:gs pos="0">
                <a:srgbClr val="000000"/>
              </a:gs>
              <a:gs pos="100000">
                <a:schemeClr val="accent1">
                  <a:lumMod val="75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p:cNvSpPr>
            <a:spLocks noGrp="1" noRot="1" noChangeAspect="1" noMove="1" noResize="1" noEditPoints="1" noAdjustHandles="1" noChangeArrowheads="1" noChangeShapeType="1" noTextEdit="1"/>
          </p:cNvSpPr>
          <p:nvPr/>
        </p:nvSpPr>
        <p:spPr>
          <a:xfrm rot="10800000" flipH="1">
            <a:off x="-3" y="0"/>
            <a:ext cx="8115306" cy="1590742"/>
          </a:xfrm>
          <a:prstGeom prst="rect">
            <a:avLst/>
          </a:prstGeom>
          <a:gradFill>
            <a:gsLst>
              <a:gs pos="20000">
                <a:schemeClr val="accent1">
                  <a:alpha val="0"/>
                </a:schemeClr>
              </a:gs>
              <a:gs pos="100000">
                <a:schemeClr val="accent1">
                  <a:lumMod val="50000"/>
                  <a:alpha val="55000"/>
                </a:schemeClr>
              </a:gs>
            </a:gsLst>
            <a:lin ang="13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p:cNvSpPr>
            <a:spLocks noGrp="1" noRot="1" noChangeAspect="1" noMove="1" noResize="1" noEditPoints="1" noAdjustHandles="1" noChangeArrowheads="1" noChangeShapeType="1" noTextEdit="1"/>
          </p:cNvSpPr>
          <p:nvPr/>
        </p:nvSpPr>
        <p:spPr>
          <a:xfrm flipH="1">
            <a:off x="8115299" y="-1"/>
            <a:ext cx="4076698" cy="1590742"/>
          </a:xfrm>
          <a:prstGeom prst="rect">
            <a:avLst/>
          </a:prstGeom>
          <a:gradFill>
            <a:gsLst>
              <a:gs pos="0">
                <a:schemeClr val="accent1">
                  <a:alpha val="66000"/>
                </a:schemeClr>
              </a:gs>
              <a:gs pos="100000">
                <a:srgbClr val="000000">
                  <a:alpha val="30000"/>
                </a:srgbClr>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p:cNvSpPr>
            <a:spLocks noGrp="1" noRot="1" noChangeAspect="1" noMove="1" noResize="1" noEditPoints="1" noAdjustHandles="1" noChangeArrowheads="1" noChangeShapeType="1" noTextEdit="1"/>
          </p:cNvSpPr>
          <p:nvPr/>
        </p:nvSpPr>
        <p:spPr>
          <a:xfrm>
            <a:off x="459350" y="-1"/>
            <a:ext cx="11732646" cy="1597433"/>
          </a:xfrm>
          <a:prstGeom prst="rect">
            <a:avLst/>
          </a:prstGeom>
          <a:gradFill>
            <a:gsLst>
              <a:gs pos="50000">
                <a:srgbClr val="000000">
                  <a:alpha val="0"/>
                </a:srgbClr>
              </a:gs>
              <a:gs pos="99000">
                <a:schemeClr val="accent1">
                  <a:lumMod val="50000"/>
                  <a:alpha val="52000"/>
                </a:schemeClr>
              </a:gs>
            </a:gsLst>
            <a:lin ang="16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1371599" y="294538"/>
            <a:ext cx="9895951" cy="1033669"/>
          </a:xfrm>
        </p:spPr>
        <p:txBody>
          <a:bodyPr>
            <a:normAutofit/>
          </a:bodyPr>
          <a:lstStyle/>
          <a:p>
            <a:endParaRPr lang="ar-EG" sz="4000">
              <a:solidFill>
                <a:srgbClr val="FFFFFF"/>
              </a:solidFill>
            </a:endParaRPr>
          </a:p>
        </p:txBody>
      </p:sp>
      <p:sp>
        <p:nvSpPr>
          <p:cNvPr id="3" name="Content Placeholder 2"/>
          <p:cNvSpPr>
            <a:spLocks noGrp="1"/>
          </p:cNvSpPr>
          <p:nvPr>
            <p:ph idx="1"/>
          </p:nvPr>
        </p:nvSpPr>
        <p:spPr>
          <a:xfrm>
            <a:off x="1371599" y="2318197"/>
            <a:ext cx="9724031" cy="3683358"/>
          </a:xfrm>
        </p:spPr>
        <p:txBody>
          <a:bodyPr anchor="ctr">
            <a:normAutofit/>
          </a:bodyPr>
          <a:lstStyle/>
          <a:p>
            <a:r>
              <a:rPr lang="ar-EG" sz="2000" dirty="0" err="1"/>
              <a:t>The</a:t>
            </a:r>
            <a:r>
              <a:rPr lang="ar-EG" sz="2000" dirty="0"/>
              <a:t> </a:t>
            </a:r>
            <a:r>
              <a:rPr lang="ar-EG" sz="2000" dirty="0" err="1"/>
              <a:t>formula</a:t>
            </a:r>
            <a:r>
              <a:rPr lang="ar-EG" sz="2000" dirty="0"/>
              <a:t> </a:t>
            </a:r>
            <a:r>
              <a:rPr lang="ar-EG" sz="2000" dirty="0" err="1"/>
              <a:t>for</a:t>
            </a:r>
            <a:r>
              <a:rPr lang="ar-EG" sz="2000" dirty="0"/>
              <a:t> ROUGE </a:t>
            </a:r>
            <a:r>
              <a:rPr lang="ar-EG" sz="2000" dirty="0" err="1"/>
              <a:t>score</a:t>
            </a:r>
            <a:r>
              <a:rPr lang="ar-EG" sz="2000" dirty="0"/>
              <a:t> </a:t>
            </a:r>
            <a:r>
              <a:rPr lang="ar-EG" sz="2000" dirty="0" err="1"/>
              <a:t>is</a:t>
            </a:r>
            <a:r>
              <a:rPr lang="ar-EG" sz="2000" dirty="0"/>
              <a:t> </a:t>
            </a:r>
            <a:r>
              <a:rPr lang="ar-EG" sz="2000" dirty="0" err="1"/>
              <a:t>as</a:t>
            </a:r>
            <a:r>
              <a:rPr lang="ar-EG" sz="2000" dirty="0"/>
              <a:t> </a:t>
            </a:r>
            <a:r>
              <a:rPr lang="ar-EG" sz="2000" dirty="0" err="1"/>
              <a:t>follows</a:t>
            </a:r>
            <a:r>
              <a:rPr lang="ar-EG" sz="2000" dirty="0"/>
              <a:t>:</a:t>
            </a:r>
            <a:endParaRPr lang="en-US" sz="2000" dirty="0"/>
          </a:p>
          <a:p>
            <a:pPr marL="0" indent="0">
              <a:buNone/>
            </a:pPr>
            <a:r>
              <a:rPr lang="en-US" sz="2000" dirty="0"/>
              <a:t>	</a:t>
            </a:r>
            <a:r>
              <a:rPr lang="ar-EG" sz="2000" dirty="0"/>
              <a:t>ROUGE</a:t>
            </a:r>
            <a:r>
              <a:rPr lang="en-US" sz="2000" dirty="0"/>
              <a:t> = ∑ (Recall of n-grams)</a:t>
            </a:r>
            <a:endParaRPr lang="ar-EG" sz="2000" dirty="0"/>
          </a:p>
          <a:p>
            <a:pPr marL="0" indent="0">
              <a:buNone/>
            </a:pPr>
            <a:endParaRPr lang="ar-EG" sz="2000" dirty="0"/>
          </a:p>
          <a:p>
            <a:pPr marL="0" indent="0">
              <a:buNone/>
            </a:pPr>
            <a:r>
              <a:rPr lang="ar-EG" sz="2000" dirty="0" err="1"/>
              <a:t>Where</a:t>
            </a:r>
            <a:r>
              <a:rPr lang="ar-EG" sz="2000" dirty="0"/>
              <a:t>:</a:t>
            </a:r>
          </a:p>
          <a:p>
            <a:r>
              <a:rPr lang="en-US" sz="2000" dirty="0"/>
              <a:t>Recall of n-grams is the number of n-grams that appear in both the machine-generated summary and the reference summaries divided by the total number of n-grams in the reference summaries.</a:t>
            </a:r>
          </a:p>
        </p:txBody>
      </p:sp>
      <p:sp>
        <p:nvSpPr>
          <p:cNvPr id="5" name="Slide Number Placeholder 4"/>
          <p:cNvSpPr>
            <a:spLocks noGrp="1"/>
          </p:cNvSpPr>
          <p:nvPr>
            <p:ph type="sldNum" sz="quarter" idx="12"/>
          </p:nvPr>
        </p:nvSpPr>
        <p:spPr/>
        <p:txBody>
          <a:bodyPr/>
          <a:lstStyle/>
          <a:p>
            <a:fld id="{A6FE5CD1-1D4A-4749-8CDD-9D133F900870}" type="slidenum">
              <a:rPr lang="ar-EG" smtClean="0"/>
              <a:t>23</a:t>
            </a:fld>
            <a:endParaRPr lang="ar-EG"/>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ar-EG"/>
          </a:p>
        </p:txBody>
      </p:sp>
      <p:sp>
        <p:nvSpPr>
          <p:cNvPr id="3" name="Content Placeholder 2"/>
          <p:cNvSpPr>
            <a:spLocks noGrp="1"/>
          </p:cNvSpPr>
          <p:nvPr>
            <p:ph idx="1"/>
          </p:nvPr>
        </p:nvSpPr>
        <p:spPr/>
        <p:txBody>
          <a:bodyPr/>
          <a:lstStyle/>
          <a:p>
            <a:endParaRPr lang="ar-EG"/>
          </a:p>
        </p:txBody>
      </p:sp>
      <p:sp>
        <p:nvSpPr>
          <p:cNvPr id="4" name="Slide Number Placeholder 3"/>
          <p:cNvSpPr>
            <a:spLocks noGrp="1"/>
          </p:cNvSpPr>
          <p:nvPr>
            <p:ph type="sldNum" sz="quarter" idx="12"/>
          </p:nvPr>
        </p:nvSpPr>
        <p:spPr/>
        <p:txBody>
          <a:bodyPr/>
          <a:lstStyle/>
          <a:p>
            <a:fld id="{A6FE5CD1-1D4A-4749-8CDD-9D133F900870}" type="slidenum">
              <a:rPr lang="ar-EG" smtClean="0"/>
              <a:t>24</a:t>
            </a:fld>
            <a:endParaRPr lang="ar-EG"/>
          </a:p>
        </p:txBody>
      </p:sp>
      <p:pic>
        <p:nvPicPr>
          <p:cNvPr id="6" name="Picture 5"/>
          <p:cNvPicPr>
            <a:picLocks noChangeAspect="1"/>
          </p:cNvPicPr>
          <p:nvPr/>
        </p:nvPicPr>
        <p:blipFill>
          <a:blip r:embed="rId2"/>
          <a:stretch>
            <a:fillRect/>
          </a:stretch>
        </p:blipFill>
        <p:spPr>
          <a:xfrm>
            <a:off x="0" y="41275"/>
            <a:ext cx="12192000" cy="6816725"/>
          </a:xfrm>
          <a:prstGeom prst="rect">
            <a:avLst/>
          </a:prstGeom>
        </p:spPr>
      </p:pic>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p:cNvSpPr>
            <a:spLocks noGrp="1" noRot="1" noChangeAspect="1" noMove="1" noResize="1" noEditPoints="1" noAdjustHandles="1" noChangeArrowheads="1" noChangeShapeType="1" noTextEdit="1"/>
          </p:cNvSpPr>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a:solidFill>
                  <a:schemeClr val="accent1">
                    <a:shade val="50000"/>
                  </a:schemeClr>
                </a:solidFill>
                <a:prstDash val="solid"/>
                <a:miter lim="800000"/>
                <a:headEnd/>
                <a:tailEn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p:cNvSpPr>
            <a:spLocks noGrp="1" noRot="1" noChangeAspect="1" noMove="1" noResize="1" noEditPoints="1" noAdjustHandles="1" noChangeArrowheads="1" noChangeShapeType="1" noTextEdit="1"/>
          </p:cNvSpPr>
          <p:nvPr/>
        </p:nvSpPr>
        <p:spPr>
          <a:xfrm flipH="1">
            <a:off x="-1" y="-1"/>
            <a:ext cx="12191998" cy="1590742"/>
          </a:xfrm>
          <a:prstGeom prst="rect">
            <a:avLst/>
          </a:prstGeom>
          <a:gradFill>
            <a:gsLst>
              <a:gs pos="0">
                <a:srgbClr val="000000"/>
              </a:gs>
              <a:gs pos="100000">
                <a:schemeClr val="accent1">
                  <a:lumMod val="75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p:cNvSpPr>
            <a:spLocks noGrp="1" noRot="1" noChangeAspect="1" noMove="1" noResize="1" noEditPoints="1" noAdjustHandles="1" noChangeArrowheads="1" noChangeShapeType="1" noTextEdit="1"/>
          </p:cNvSpPr>
          <p:nvPr/>
        </p:nvSpPr>
        <p:spPr>
          <a:xfrm rot="10800000" flipH="1">
            <a:off x="-3" y="0"/>
            <a:ext cx="8115306" cy="1590742"/>
          </a:xfrm>
          <a:prstGeom prst="rect">
            <a:avLst/>
          </a:prstGeom>
          <a:gradFill>
            <a:gsLst>
              <a:gs pos="20000">
                <a:schemeClr val="accent1">
                  <a:alpha val="0"/>
                </a:schemeClr>
              </a:gs>
              <a:gs pos="100000">
                <a:schemeClr val="accent1">
                  <a:lumMod val="50000"/>
                  <a:alpha val="55000"/>
                </a:schemeClr>
              </a:gs>
            </a:gsLst>
            <a:lin ang="13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p:cNvSpPr>
            <a:spLocks noGrp="1" noRot="1" noChangeAspect="1" noMove="1" noResize="1" noEditPoints="1" noAdjustHandles="1" noChangeArrowheads="1" noChangeShapeType="1" noTextEdit="1"/>
          </p:cNvSpPr>
          <p:nvPr/>
        </p:nvSpPr>
        <p:spPr>
          <a:xfrm flipH="1">
            <a:off x="8115299" y="-1"/>
            <a:ext cx="4076698" cy="1590742"/>
          </a:xfrm>
          <a:prstGeom prst="rect">
            <a:avLst/>
          </a:prstGeom>
          <a:gradFill>
            <a:gsLst>
              <a:gs pos="0">
                <a:schemeClr val="accent1">
                  <a:alpha val="66000"/>
                </a:schemeClr>
              </a:gs>
              <a:gs pos="100000">
                <a:srgbClr val="000000">
                  <a:alpha val="30000"/>
                </a:srgbClr>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p:cNvSpPr>
            <a:spLocks noGrp="1" noRot="1" noChangeAspect="1" noMove="1" noResize="1" noEditPoints="1" noAdjustHandles="1" noChangeArrowheads="1" noChangeShapeType="1" noTextEdit="1"/>
          </p:cNvSpPr>
          <p:nvPr/>
        </p:nvSpPr>
        <p:spPr>
          <a:xfrm>
            <a:off x="459350" y="-1"/>
            <a:ext cx="11732646" cy="1597433"/>
          </a:xfrm>
          <a:prstGeom prst="rect">
            <a:avLst/>
          </a:prstGeom>
          <a:gradFill>
            <a:gsLst>
              <a:gs pos="50000">
                <a:srgbClr val="000000">
                  <a:alpha val="0"/>
                </a:srgbClr>
              </a:gs>
              <a:gs pos="99000">
                <a:schemeClr val="accent1">
                  <a:lumMod val="50000"/>
                  <a:alpha val="52000"/>
                </a:schemeClr>
              </a:gs>
            </a:gsLst>
            <a:lin ang="16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1371599" y="294538"/>
            <a:ext cx="9895951" cy="1033669"/>
          </a:xfrm>
        </p:spPr>
        <p:txBody>
          <a:bodyPr>
            <a:normAutofit/>
          </a:bodyPr>
          <a:lstStyle/>
          <a:p>
            <a:endParaRPr lang="ar-EG" sz="4000">
              <a:solidFill>
                <a:srgbClr val="FFFFFF"/>
              </a:solidFill>
            </a:endParaRPr>
          </a:p>
        </p:txBody>
      </p:sp>
      <p:sp>
        <p:nvSpPr>
          <p:cNvPr id="3" name="Content Placeholder 2"/>
          <p:cNvSpPr>
            <a:spLocks noGrp="1"/>
          </p:cNvSpPr>
          <p:nvPr>
            <p:ph idx="1"/>
          </p:nvPr>
        </p:nvSpPr>
        <p:spPr>
          <a:xfrm>
            <a:off x="1371599" y="2318197"/>
            <a:ext cx="9724031" cy="3683358"/>
          </a:xfrm>
        </p:spPr>
        <p:txBody>
          <a:bodyPr anchor="ctr">
            <a:normAutofit/>
          </a:bodyPr>
          <a:lstStyle/>
          <a:p>
            <a:r>
              <a:rPr lang="en-US" sz="2000"/>
              <a:t>ROUGE score ranges from 0 to 1, with higher values indicating better summary quality. Like BLEU score, a perfect summary would have a ROUGE score of 1, while a completely incorrect summary would have a ROUGE score of 0.</a:t>
            </a:r>
            <a:endParaRPr lang="ar-EG" sz="2000"/>
          </a:p>
        </p:txBody>
      </p:sp>
      <p:sp>
        <p:nvSpPr>
          <p:cNvPr id="5" name="Slide Number Placeholder 4"/>
          <p:cNvSpPr>
            <a:spLocks noGrp="1"/>
          </p:cNvSpPr>
          <p:nvPr>
            <p:ph type="sldNum" sz="quarter" idx="12"/>
          </p:nvPr>
        </p:nvSpPr>
        <p:spPr/>
        <p:txBody>
          <a:bodyPr/>
          <a:lstStyle/>
          <a:p>
            <a:fld id="{A6FE5CD1-1D4A-4749-8CDD-9D133F900870}" type="slidenum">
              <a:rPr lang="ar-EG" smtClean="0"/>
              <a:t>25</a:t>
            </a:fld>
            <a:endParaRPr lang="ar-EG"/>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p:cNvSpPr>
            <a:spLocks noGrp="1" noRot="1" noChangeAspect="1" noMove="1" noResize="1" noEditPoints="1" noAdjustHandles="1" noChangeArrowheads="1" noChangeShapeType="1" noTextEdit="1"/>
          </p:cNvSpPr>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a:solidFill>
                  <a:schemeClr val="accent1">
                    <a:shade val="50000"/>
                  </a:schemeClr>
                </a:solidFill>
                <a:prstDash val="solid"/>
                <a:miter lim="800000"/>
                <a:headEnd/>
                <a:tailEn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p:cNvSpPr>
            <a:spLocks noGrp="1" noRot="1" noChangeAspect="1" noMove="1" noResize="1" noEditPoints="1" noAdjustHandles="1" noChangeArrowheads="1" noChangeShapeType="1" noTextEdit="1"/>
          </p:cNvSpPr>
          <p:nvPr/>
        </p:nvSpPr>
        <p:spPr>
          <a:xfrm flipH="1">
            <a:off x="-1" y="-1"/>
            <a:ext cx="12191998" cy="1590742"/>
          </a:xfrm>
          <a:prstGeom prst="rect">
            <a:avLst/>
          </a:prstGeom>
          <a:gradFill>
            <a:gsLst>
              <a:gs pos="0">
                <a:srgbClr val="000000"/>
              </a:gs>
              <a:gs pos="100000">
                <a:schemeClr val="accent1">
                  <a:lumMod val="75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p:cNvSpPr>
            <a:spLocks noGrp="1" noRot="1" noChangeAspect="1" noMove="1" noResize="1" noEditPoints="1" noAdjustHandles="1" noChangeArrowheads="1" noChangeShapeType="1" noTextEdit="1"/>
          </p:cNvSpPr>
          <p:nvPr/>
        </p:nvSpPr>
        <p:spPr>
          <a:xfrm rot="10800000" flipH="1">
            <a:off x="-3" y="0"/>
            <a:ext cx="8115306" cy="1590742"/>
          </a:xfrm>
          <a:prstGeom prst="rect">
            <a:avLst/>
          </a:prstGeom>
          <a:gradFill>
            <a:gsLst>
              <a:gs pos="20000">
                <a:schemeClr val="accent1">
                  <a:alpha val="0"/>
                </a:schemeClr>
              </a:gs>
              <a:gs pos="100000">
                <a:schemeClr val="accent1">
                  <a:lumMod val="50000"/>
                  <a:alpha val="55000"/>
                </a:schemeClr>
              </a:gs>
            </a:gsLst>
            <a:lin ang="13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p:cNvSpPr>
            <a:spLocks noGrp="1" noRot="1" noChangeAspect="1" noMove="1" noResize="1" noEditPoints="1" noAdjustHandles="1" noChangeArrowheads="1" noChangeShapeType="1" noTextEdit="1"/>
          </p:cNvSpPr>
          <p:nvPr/>
        </p:nvSpPr>
        <p:spPr>
          <a:xfrm flipH="1">
            <a:off x="8115299" y="-1"/>
            <a:ext cx="4076698" cy="1590742"/>
          </a:xfrm>
          <a:prstGeom prst="rect">
            <a:avLst/>
          </a:prstGeom>
          <a:gradFill>
            <a:gsLst>
              <a:gs pos="0">
                <a:schemeClr val="accent1">
                  <a:alpha val="66000"/>
                </a:schemeClr>
              </a:gs>
              <a:gs pos="100000">
                <a:srgbClr val="000000">
                  <a:alpha val="30000"/>
                </a:srgbClr>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p:cNvSpPr>
            <a:spLocks noGrp="1" noRot="1" noChangeAspect="1" noMove="1" noResize="1" noEditPoints="1" noAdjustHandles="1" noChangeArrowheads="1" noChangeShapeType="1" noTextEdit="1"/>
          </p:cNvSpPr>
          <p:nvPr/>
        </p:nvSpPr>
        <p:spPr>
          <a:xfrm>
            <a:off x="459350" y="-1"/>
            <a:ext cx="11732646" cy="1597433"/>
          </a:xfrm>
          <a:prstGeom prst="rect">
            <a:avLst/>
          </a:prstGeom>
          <a:gradFill>
            <a:gsLst>
              <a:gs pos="50000">
                <a:srgbClr val="000000">
                  <a:alpha val="0"/>
                </a:srgbClr>
              </a:gs>
              <a:gs pos="99000">
                <a:schemeClr val="accent1">
                  <a:lumMod val="50000"/>
                  <a:alpha val="52000"/>
                </a:schemeClr>
              </a:gs>
            </a:gsLst>
            <a:lin ang="16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1371599" y="294538"/>
            <a:ext cx="9895951" cy="1033669"/>
          </a:xfrm>
        </p:spPr>
        <p:txBody>
          <a:bodyPr>
            <a:normAutofit/>
          </a:bodyPr>
          <a:lstStyle/>
          <a:p>
            <a:r>
              <a:rPr lang="ar-EG" sz="4000">
                <a:solidFill>
                  <a:srgbClr val="FFFFFF"/>
                </a:solidFill>
              </a:rPr>
              <a:t>ROUGE scores are branched into</a:t>
            </a:r>
          </a:p>
        </p:txBody>
      </p:sp>
      <p:sp>
        <p:nvSpPr>
          <p:cNvPr id="3" name="Content Placeholder 2"/>
          <p:cNvSpPr>
            <a:spLocks noGrp="1"/>
          </p:cNvSpPr>
          <p:nvPr>
            <p:ph idx="1"/>
          </p:nvPr>
        </p:nvSpPr>
        <p:spPr>
          <a:xfrm>
            <a:off x="1371599" y="2318197"/>
            <a:ext cx="9724031" cy="3683358"/>
          </a:xfrm>
        </p:spPr>
        <p:txBody>
          <a:bodyPr anchor="ctr">
            <a:normAutofit/>
          </a:bodyPr>
          <a:lstStyle/>
          <a:p>
            <a:r>
              <a:rPr lang="ar-EG" sz="2000"/>
              <a:t>ROUGE-N,</a:t>
            </a:r>
          </a:p>
          <a:p>
            <a:r>
              <a:rPr lang="ar-EG" sz="2000"/>
              <a:t>ROUGE-L, and </a:t>
            </a:r>
          </a:p>
          <a:p>
            <a:r>
              <a:rPr lang="ar-EG" sz="2000"/>
              <a:t>ROUGE-S.</a:t>
            </a:r>
          </a:p>
        </p:txBody>
      </p:sp>
      <p:sp>
        <p:nvSpPr>
          <p:cNvPr id="5" name="Slide Number Placeholder 4"/>
          <p:cNvSpPr>
            <a:spLocks noGrp="1"/>
          </p:cNvSpPr>
          <p:nvPr>
            <p:ph type="sldNum" sz="quarter" idx="12"/>
          </p:nvPr>
        </p:nvSpPr>
        <p:spPr/>
        <p:txBody>
          <a:bodyPr/>
          <a:lstStyle/>
          <a:p>
            <a:fld id="{A6FE5CD1-1D4A-4749-8CDD-9D133F900870}" type="slidenum">
              <a:rPr lang="ar-EG" smtClean="0"/>
              <a:t>26</a:t>
            </a:fld>
            <a:endParaRPr lang="ar-EG"/>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p:cNvSpPr>
            <a:spLocks noGrp="1" noRot="1" noChangeAspect="1" noMove="1" noResize="1" noEditPoints="1" noAdjustHandles="1" noChangeArrowheads="1" noChangeShapeType="1" noTextEdit="1"/>
          </p:cNvSpPr>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a:solidFill>
                  <a:schemeClr val="accent1">
                    <a:shade val="50000"/>
                  </a:schemeClr>
                </a:solidFill>
                <a:prstDash val="solid"/>
                <a:miter lim="800000"/>
                <a:headEnd/>
                <a:tailEn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p:cNvSpPr>
            <a:spLocks noGrp="1" noRot="1" noChangeAspect="1" noMove="1" noResize="1" noEditPoints="1" noAdjustHandles="1" noChangeArrowheads="1" noChangeShapeType="1" noTextEdit="1"/>
          </p:cNvSpPr>
          <p:nvPr/>
        </p:nvSpPr>
        <p:spPr>
          <a:xfrm flipH="1">
            <a:off x="-1" y="-1"/>
            <a:ext cx="12191998" cy="1590742"/>
          </a:xfrm>
          <a:prstGeom prst="rect">
            <a:avLst/>
          </a:prstGeom>
          <a:gradFill>
            <a:gsLst>
              <a:gs pos="0">
                <a:srgbClr val="000000"/>
              </a:gs>
              <a:gs pos="100000">
                <a:schemeClr val="accent1">
                  <a:lumMod val="75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p:cNvSpPr>
            <a:spLocks noGrp="1" noRot="1" noChangeAspect="1" noMove="1" noResize="1" noEditPoints="1" noAdjustHandles="1" noChangeArrowheads="1" noChangeShapeType="1" noTextEdit="1"/>
          </p:cNvSpPr>
          <p:nvPr/>
        </p:nvSpPr>
        <p:spPr>
          <a:xfrm rot="10800000" flipH="1">
            <a:off x="-3" y="0"/>
            <a:ext cx="8115306" cy="1590742"/>
          </a:xfrm>
          <a:prstGeom prst="rect">
            <a:avLst/>
          </a:prstGeom>
          <a:gradFill>
            <a:gsLst>
              <a:gs pos="20000">
                <a:schemeClr val="accent1">
                  <a:alpha val="0"/>
                </a:schemeClr>
              </a:gs>
              <a:gs pos="100000">
                <a:schemeClr val="accent1">
                  <a:lumMod val="50000"/>
                  <a:alpha val="55000"/>
                </a:schemeClr>
              </a:gs>
            </a:gsLst>
            <a:lin ang="13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p:cNvSpPr>
            <a:spLocks noGrp="1" noRot="1" noChangeAspect="1" noMove="1" noResize="1" noEditPoints="1" noAdjustHandles="1" noChangeArrowheads="1" noChangeShapeType="1" noTextEdit="1"/>
          </p:cNvSpPr>
          <p:nvPr/>
        </p:nvSpPr>
        <p:spPr>
          <a:xfrm flipH="1">
            <a:off x="8115299" y="-1"/>
            <a:ext cx="4076698" cy="1590742"/>
          </a:xfrm>
          <a:prstGeom prst="rect">
            <a:avLst/>
          </a:prstGeom>
          <a:gradFill>
            <a:gsLst>
              <a:gs pos="0">
                <a:schemeClr val="accent1">
                  <a:alpha val="66000"/>
                </a:schemeClr>
              </a:gs>
              <a:gs pos="100000">
                <a:srgbClr val="000000">
                  <a:alpha val="30000"/>
                </a:srgbClr>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p:cNvSpPr>
            <a:spLocks noGrp="1" noRot="1" noChangeAspect="1" noMove="1" noResize="1" noEditPoints="1" noAdjustHandles="1" noChangeArrowheads="1" noChangeShapeType="1" noTextEdit="1"/>
          </p:cNvSpPr>
          <p:nvPr/>
        </p:nvSpPr>
        <p:spPr>
          <a:xfrm>
            <a:off x="459350" y="-1"/>
            <a:ext cx="11732646" cy="1597433"/>
          </a:xfrm>
          <a:prstGeom prst="rect">
            <a:avLst/>
          </a:prstGeom>
          <a:gradFill>
            <a:gsLst>
              <a:gs pos="50000">
                <a:srgbClr val="000000">
                  <a:alpha val="0"/>
                </a:srgbClr>
              </a:gs>
              <a:gs pos="99000">
                <a:schemeClr val="accent1">
                  <a:lumMod val="50000"/>
                  <a:alpha val="52000"/>
                </a:schemeClr>
              </a:gs>
            </a:gsLst>
            <a:lin ang="16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1371599" y="294538"/>
            <a:ext cx="9895951" cy="1033669"/>
          </a:xfrm>
        </p:spPr>
        <p:txBody>
          <a:bodyPr>
            <a:normAutofit/>
          </a:bodyPr>
          <a:lstStyle/>
          <a:p>
            <a:r>
              <a:rPr lang="en-US" sz="4000">
                <a:solidFill>
                  <a:srgbClr val="FFFFFF"/>
                </a:solidFill>
              </a:rPr>
              <a:t>ROUGE-N</a:t>
            </a:r>
            <a:endParaRPr lang="ar-EG" sz="4000">
              <a:solidFill>
                <a:srgbClr val="FFFFFF"/>
              </a:solidFill>
            </a:endParaRPr>
          </a:p>
        </p:txBody>
      </p:sp>
      <p:sp>
        <p:nvSpPr>
          <p:cNvPr id="3" name="Content Placeholder 2"/>
          <p:cNvSpPr>
            <a:spLocks noGrp="1"/>
          </p:cNvSpPr>
          <p:nvPr>
            <p:ph idx="1"/>
          </p:nvPr>
        </p:nvSpPr>
        <p:spPr>
          <a:xfrm>
            <a:off x="1371599" y="2318197"/>
            <a:ext cx="9724031" cy="3683358"/>
          </a:xfrm>
        </p:spPr>
        <p:txBody>
          <a:bodyPr anchor="ctr">
            <a:normAutofit/>
          </a:bodyPr>
          <a:lstStyle/>
          <a:p>
            <a:r>
              <a:rPr lang="en-US" sz="2000"/>
              <a:t>ROUGE-N measures the overlap of n-grams (contiguous sequences of n words) between the candidate text and the reference text. It computes the precision, recall, and F1-score based on the n-gram overlap. </a:t>
            </a:r>
          </a:p>
          <a:p>
            <a:endParaRPr lang="en-US" sz="2000"/>
          </a:p>
          <a:p>
            <a:r>
              <a:rPr lang="en-US" sz="2000"/>
              <a:t>For example, ROUGE-1 (unigram) measures the overlap of single words, ROUGE-2 (bigram) measures the overlap of two-word sequences, and so on. ROUGE-N is often used to evaluate the grammatical correctness and fluency of generated text.</a:t>
            </a:r>
            <a:endParaRPr lang="ar-EG" sz="2000"/>
          </a:p>
        </p:txBody>
      </p:sp>
      <p:sp>
        <p:nvSpPr>
          <p:cNvPr id="5" name="Slide Number Placeholder 4"/>
          <p:cNvSpPr>
            <a:spLocks noGrp="1"/>
          </p:cNvSpPr>
          <p:nvPr>
            <p:ph type="sldNum" sz="quarter" idx="12"/>
          </p:nvPr>
        </p:nvSpPr>
        <p:spPr/>
        <p:txBody>
          <a:bodyPr/>
          <a:lstStyle/>
          <a:p>
            <a:fld id="{A6FE5CD1-1D4A-4749-8CDD-9D133F900870}" type="slidenum">
              <a:rPr lang="ar-EG" smtClean="0"/>
              <a:t>27</a:t>
            </a:fld>
            <a:endParaRPr lang="ar-EG"/>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p:cNvSpPr>
            <a:spLocks noGrp="1" noRot="1" noChangeAspect="1" noMove="1" noResize="1" noEditPoints="1" noAdjustHandles="1" noChangeArrowheads="1" noChangeShapeType="1" noTextEdit="1"/>
          </p:cNvSpPr>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a:solidFill>
                  <a:schemeClr val="accent1">
                    <a:shade val="50000"/>
                  </a:schemeClr>
                </a:solidFill>
                <a:prstDash val="solid"/>
                <a:miter lim="800000"/>
                <a:headEnd/>
                <a:tailEn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p:cNvSpPr>
            <a:spLocks noGrp="1" noRot="1" noChangeAspect="1" noMove="1" noResize="1" noEditPoints="1" noAdjustHandles="1" noChangeArrowheads="1" noChangeShapeType="1" noTextEdit="1"/>
          </p:cNvSpPr>
          <p:nvPr/>
        </p:nvSpPr>
        <p:spPr>
          <a:xfrm flipH="1">
            <a:off x="-1" y="-1"/>
            <a:ext cx="12191998" cy="1590742"/>
          </a:xfrm>
          <a:prstGeom prst="rect">
            <a:avLst/>
          </a:prstGeom>
          <a:gradFill>
            <a:gsLst>
              <a:gs pos="0">
                <a:srgbClr val="000000"/>
              </a:gs>
              <a:gs pos="100000">
                <a:schemeClr val="accent1">
                  <a:lumMod val="75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p:cNvSpPr>
            <a:spLocks noGrp="1" noRot="1" noChangeAspect="1" noMove="1" noResize="1" noEditPoints="1" noAdjustHandles="1" noChangeArrowheads="1" noChangeShapeType="1" noTextEdit="1"/>
          </p:cNvSpPr>
          <p:nvPr/>
        </p:nvSpPr>
        <p:spPr>
          <a:xfrm rot="10800000" flipH="1">
            <a:off x="-3" y="0"/>
            <a:ext cx="8115306" cy="1590742"/>
          </a:xfrm>
          <a:prstGeom prst="rect">
            <a:avLst/>
          </a:prstGeom>
          <a:gradFill>
            <a:gsLst>
              <a:gs pos="20000">
                <a:schemeClr val="accent1">
                  <a:alpha val="0"/>
                </a:schemeClr>
              </a:gs>
              <a:gs pos="100000">
                <a:schemeClr val="accent1">
                  <a:lumMod val="50000"/>
                  <a:alpha val="55000"/>
                </a:schemeClr>
              </a:gs>
            </a:gsLst>
            <a:lin ang="13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p:cNvSpPr>
            <a:spLocks noGrp="1" noRot="1" noChangeAspect="1" noMove="1" noResize="1" noEditPoints="1" noAdjustHandles="1" noChangeArrowheads="1" noChangeShapeType="1" noTextEdit="1"/>
          </p:cNvSpPr>
          <p:nvPr/>
        </p:nvSpPr>
        <p:spPr>
          <a:xfrm flipH="1">
            <a:off x="8115299" y="-1"/>
            <a:ext cx="4076698" cy="1590742"/>
          </a:xfrm>
          <a:prstGeom prst="rect">
            <a:avLst/>
          </a:prstGeom>
          <a:gradFill>
            <a:gsLst>
              <a:gs pos="0">
                <a:schemeClr val="accent1">
                  <a:alpha val="66000"/>
                </a:schemeClr>
              </a:gs>
              <a:gs pos="100000">
                <a:srgbClr val="000000">
                  <a:alpha val="30000"/>
                </a:srgbClr>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p:cNvSpPr>
            <a:spLocks noGrp="1" noRot="1" noChangeAspect="1" noMove="1" noResize="1" noEditPoints="1" noAdjustHandles="1" noChangeArrowheads="1" noChangeShapeType="1" noTextEdit="1"/>
          </p:cNvSpPr>
          <p:nvPr/>
        </p:nvSpPr>
        <p:spPr>
          <a:xfrm>
            <a:off x="459350" y="-1"/>
            <a:ext cx="11732646" cy="1597433"/>
          </a:xfrm>
          <a:prstGeom prst="rect">
            <a:avLst/>
          </a:prstGeom>
          <a:gradFill>
            <a:gsLst>
              <a:gs pos="50000">
                <a:srgbClr val="000000">
                  <a:alpha val="0"/>
                </a:srgbClr>
              </a:gs>
              <a:gs pos="99000">
                <a:schemeClr val="accent1">
                  <a:lumMod val="50000"/>
                  <a:alpha val="52000"/>
                </a:schemeClr>
              </a:gs>
            </a:gsLst>
            <a:lin ang="16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1371599" y="294538"/>
            <a:ext cx="9895951" cy="1033669"/>
          </a:xfrm>
        </p:spPr>
        <p:txBody>
          <a:bodyPr>
            <a:normAutofit/>
          </a:bodyPr>
          <a:lstStyle/>
          <a:p>
            <a:r>
              <a:rPr lang="en-US" sz="4000">
                <a:solidFill>
                  <a:srgbClr val="FFFFFF"/>
                </a:solidFill>
              </a:rPr>
              <a:t>ROUGE-L</a:t>
            </a:r>
            <a:endParaRPr lang="ar-EG" sz="4000">
              <a:solidFill>
                <a:srgbClr val="FFFFFF"/>
              </a:solidFill>
            </a:endParaRPr>
          </a:p>
        </p:txBody>
      </p:sp>
      <p:sp>
        <p:nvSpPr>
          <p:cNvPr id="3" name="Content Placeholder 2"/>
          <p:cNvSpPr>
            <a:spLocks noGrp="1"/>
          </p:cNvSpPr>
          <p:nvPr>
            <p:ph idx="1"/>
          </p:nvPr>
        </p:nvSpPr>
        <p:spPr>
          <a:xfrm>
            <a:off x="1371599" y="2318197"/>
            <a:ext cx="9724031" cy="3683358"/>
          </a:xfrm>
        </p:spPr>
        <p:txBody>
          <a:bodyPr anchor="ctr">
            <a:normAutofit/>
          </a:bodyPr>
          <a:lstStyle/>
          <a:p>
            <a:r>
              <a:rPr lang="en-US" sz="2000"/>
              <a:t>ROUGE-L measures the longest common subsequence (LCS) between the candidate text and the reference text. It computes the precision, recall, and F1-score based on the length of the LCS. ROUGE-L is often used to evaluate the semantic similarity and content coverage of generated text, as it considers the common subsequence regardless of word order.</a:t>
            </a:r>
            <a:endParaRPr lang="ar-EG" sz="2000"/>
          </a:p>
        </p:txBody>
      </p:sp>
      <p:sp>
        <p:nvSpPr>
          <p:cNvPr id="5" name="Slide Number Placeholder 4"/>
          <p:cNvSpPr>
            <a:spLocks noGrp="1"/>
          </p:cNvSpPr>
          <p:nvPr>
            <p:ph type="sldNum" sz="quarter" idx="12"/>
          </p:nvPr>
        </p:nvSpPr>
        <p:spPr/>
        <p:txBody>
          <a:bodyPr/>
          <a:lstStyle/>
          <a:p>
            <a:fld id="{A6FE5CD1-1D4A-4749-8CDD-9D133F900870}" type="slidenum">
              <a:rPr lang="ar-EG" smtClean="0"/>
              <a:t>28</a:t>
            </a:fld>
            <a:endParaRPr lang="ar-EG"/>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p:cNvSpPr>
            <a:spLocks noGrp="1" noRot="1" noChangeAspect="1" noMove="1" noResize="1" noEditPoints="1" noAdjustHandles="1" noChangeArrowheads="1" noChangeShapeType="1" noTextEdit="1"/>
          </p:cNvSpPr>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a:solidFill>
                  <a:schemeClr val="accent1">
                    <a:shade val="50000"/>
                  </a:schemeClr>
                </a:solidFill>
                <a:prstDash val="solid"/>
                <a:miter lim="800000"/>
                <a:headEnd/>
                <a:tailEn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p:cNvSpPr>
            <a:spLocks noGrp="1" noRot="1" noChangeAspect="1" noMove="1" noResize="1" noEditPoints="1" noAdjustHandles="1" noChangeArrowheads="1" noChangeShapeType="1" noTextEdit="1"/>
          </p:cNvSpPr>
          <p:nvPr/>
        </p:nvSpPr>
        <p:spPr>
          <a:xfrm flipH="1">
            <a:off x="-1" y="-1"/>
            <a:ext cx="12191998" cy="1590742"/>
          </a:xfrm>
          <a:prstGeom prst="rect">
            <a:avLst/>
          </a:prstGeom>
          <a:gradFill>
            <a:gsLst>
              <a:gs pos="0">
                <a:srgbClr val="000000"/>
              </a:gs>
              <a:gs pos="100000">
                <a:schemeClr val="accent1">
                  <a:lumMod val="75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p:cNvSpPr>
            <a:spLocks noGrp="1" noRot="1" noChangeAspect="1" noMove="1" noResize="1" noEditPoints="1" noAdjustHandles="1" noChangeArrowheads="1" noChangeShapeType="1" noTextEdit="1"/>
          </p:cNvSpPr>
          <p:nvPr/>
        </p:nvSpPr>
        <p:spPr>
          <a:xfrm rot="10800000" flipH="1">
            <a:off x="-3" y="0"/>
            <a:ext cx="8115306" cy="1590742"/>
          </a:xfrm>
          <a:prstGeom prst="rect">
            <a:avLst/>
          </a:prstGeom>
          <a:gradFill>
            <a:gsLst>
              <a:gs pos="20000">
                <a:schemeClr val="accent1">
                  <a:alpha val="0"/>
                </a:schemeClr>
              </a:gs>
              <a:gs pos="100000">
                <a:schemeClr val="accent1">
                  <a:lumMod val="50000"/>
                  <a:alpha val="55000"/>
                </a:schemeClr>
              </a:gs>
            </a:gsLst>
            <a:lin ang="13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p:cNvSpPr>
            <a:spLocks noGrp="1" noRot="1" noChangeAspect="1" noMove="1" noResize="1" noEditPoints="1" noAdjustHandles="1" noChangeArrowheads="1" noChangeShapeType="1" noTextEdit="1"/>
          </p:cNvSpPr>
          <p:nvPr/>
        </p:nvSpPr>
        <p:spPr>
          <a:xfrm flipH="1">
            <a:off x="8115299" y="-1"/>
            <a:ext cx="4076698" cy="1590742"/>
          </a:xfrm>
          <a:prstGeom prst="rect">
            <a:avLst/>
          </a:prstGeom>
          <a:gradFill>
            <a:gsLst>
              <a:gs pos="0">
                <a:schemeClr val="accent1">
                  <a:alpha val="66000"/>
                </a:schemeClr>
              </a:gs>
              <a:gs pos="100000">
                <a:srgbClr val="000000">
                  <a:alpha val="30000"/>
                </a:srgbClr>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p:cNvSpPr>
            <a:spLocks noGrp="1" noRot="1" noChangeAspect="1" noMove="1" noResize="1" noEditPoints="1" noAdjustHandles="1" noChangeArrowheads="1" noChangeShapeType="1" noTextEdit="1"/>
          </p:cNvSpPr>
          <p:nvPr/>
        </p:nvSpPr>
        <p:spPr>
          <a:xfrm>
            <a:off x="459350" y="-1"/>
            <a:ext cx="11732646" cy="1597433"/>
          </a:xfrm>
          <a:prstGeom prst="rect">
            <a:avLst/>
          </a:prstGeom>
          <a:gradFill>
            <a:gsLst>
              <a:gs pos="50000">
                <a:srgbClr val="000000">
                  <a:alpha val="0"/>
                </a:srgbClr>
              </a:gs>
              <a:gs pos="99000">
                <a:schemeClr val="accent1">
                  <a:lumMod val="50000"/>
                  <a:alpha val="52000"/>
                </a:schemeClr>
              </a:gs>
            </a:gsLst>
            <a:lin ang="16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1371599" y="294538"/>
            <a:ext cx="9895951" cy="1033669"/>
          </a:xfrm>
        </p:spPr>
        <p:txBody>
          <a:bodyPr>
            <a:normAutofit/>
          </a:bodyPr>
          <a:lstStyle/>
          <a:p>
            <a:r>
              <a:rPr lang="en-US" sz="4000">
                <a:solidFill>
                  <a:srgbClr val="FFFFFF"/>
                </a:solidFill>
              </a:rPr>
              <a:t>ROUGE-S</a:t>
            </a:r>
            <a:endParaRPr lang="ar-EG" sz="4000">
              <a:solidFill>
                <a:srgbClr val="FFFFFF"/>
              </a:solidFill>
            </a:endParaRPr>
          </a:p>
        </p:txBody>
      </p:sp>
      <p:sp>
        <p:nvSpPr>
          <p:cNvPr id="3" name="Content Placeholder 2"/>
          <p:cNvSpPr>
            <a:spLocks noGrp="1"/>
          </p:cNvSpPr>
          <p:nvPr>
            <p:ph idx="1"/>
          </p:nvPr>
        </p:nvSpPr>
        <p:spPr>
          <a:xfrm>
            <a:off x="1371599" y="2318197"/>
            <a:ext cx="9724031" cy="3683358"/>
          </a:xfrm>
        </p:spPr>
        <p:txBody>
          <a:bodyPr anchor="ctr">
            <a:normAutofit/>
          </a:bodyPr>
          <a:lstStyle/>
          <a:p>
            <a:r>
              <a:rPr lang="en-US" sz="2000"/>
              <a:t>ROUGE-S measures the skip-bigram (bi-gram with at most one intervening word) overlap between the candidate text and the reference text. It computes the precision, recall, and F1-score based on the skip-bigram overlap. ROUGE-S is often used to evaluate the coherence and local cohesion of generated text, as it captures the semantic similarity between adjacent words.</a:t>
            </a:r>
            <a:endParaRPr lang="ar-EG" sz="2000"/>
          </a:p>
        </p:txBody>
      </p:sp>
      <p:sp>
        <p:nvSpPr>
          <p:cNvPr id="5" name="Slide Number Placeholder 4"/>
          <p:cNvSpPr>
            <a:spLocks noGrp="1"/>
          </p:cNvSpPr>
          <p:nvPr>
            <p:ph type="sldNum" sz="quarter" idx="12"/>
          </p:nvPr>
        </p:nvSpPr>
        <p:spPr/>
        <p:txBody>
          <a:bodyPr/>
          <a:lstStyle/>
          <a:p>
            <a:fld id="{A6FE5CD1-1D4A-4749-8CDD-9D133F900870}" type="slidenum">
              <a:rPr lang="ar-EG" smtClean="0"/>
              <a:t>29</a:t>
            </a:fld>
            <a:endParaRPr lang="ar-EG"/>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p:cNvSpPr>
            <a:spLocks noGrp="1" noRot="1" noChangeAspect="1" noMove="1" noResize="1" noEditPoints="1" noAdjustHandles="1" noChangeArrowheads="1" noChangeShapeType="1" noTextEdit="1"/>
          </p:cNvSpPr>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a:solidFill>
                  <a:schemeClr val="accent1">
                    <a:shade val="50000"/>
                  </a:schemeClr>
                </a:solidFill>
                <a:prstDash val="solid"/>
                <a:miter lim="800000"/>
                <a:headEnd/>
                <a:tailEn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p:cNvSpPr>
            <a:spLocks noGrp="1" noRot="1" noChangeAspect="1" noMove="1" noResize="1" noEditPoints="1" noAdjustHandles="1" noChangeArrowheads="1" noChangeShapeType="1" noTextEdit="1"/>
          </p:cNvSpPr>
          <p:nvPr/>
        </p:nvSpPr>
        <p:spPr>
          <a:xfrm flipH="1">
            <a:off x="-1" y="-1"/>
            <a:ext cx="12191998" cy="1590742"/>
          </a:xfrm>
          <a:prstGeom prst="rect">
            <a:avLst/>
          </a:prstGeom>
          <a:gradFill>
            <a:gsLst>
              <a:gs pos="0">
                <a:srgbClr val="000000"/>
              </a:gs>
              <a:gs pos="100000">
                <a:schemeClr val="accent1">
                  <a:lumMod val="75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p:cNvSpPr>
            <a:spLocks noGrp="1" noRot="1" noChangeAspect="1" noMove="1" noResize="1" noEditPoints="1" noAdjustHandles="1" noChangeArrowheads="1" noChangeShapeType="1" noTextEdit="1"/>
          </p:cNvSpPr>
          <p:nvPr/>
        </p:nvSpPr>
        <p:spPr>
          <a:xfrm rot="10800000" flipH="1">
            <a:off x="-3" y="0"/>
            <a:ext cx="8115306" cy="1590742"/>
          </a:xfrm>
          <a:prstGeom prst="rect">
            <a:avLst/>
          </a:prstGeom>
          <a:gradFill>
            <a:gsLst>
              <a:gs pos="20000">
                <a:schemeClr val="accent1">
                  <a:alpha val="0"/>
                </a:schemeClr>
              </a:gs>
              <a:gs pos="100000">
                <a:schemeClr val="accent1">
                  <a:lumMod val="50000"/>
                  <a:alpha val="55000"/>
                </a:schemeClr>
              </a:gs>
            </a:gsLst>
            <a:lin ang="13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p:cNvSpPr>
            <a:spLocks noGrp="1" noRot="1" noChangeAspect="1" noMove="1" noResize="1" noEditPoints="1" noAdjustHandles="1" noChangeArrowheads="1" noChangeShapeType="1" noTextEdit="1"/>
          </p:cNvSpPr>
          <p:nvPr/>
        </p:nvSpPr>
        <p:spPr>
          <a:xfrm flipH="1">
            <a:off x="8115299" y="-1"/>
            <a:ext cx="4076698" cy="1590742"/>
          </a:xfrm>
          <a:prstGeom prst="rect">
            <a:avLst/>
          </a:prstGeom>
          <a:gradFill>
            <a:gsLst>
              <a:gs pos="0">
                <a:schemeClr val="accent1">
                  <a:alpha val="66000"/>
                </a:schemeClr>
              </a:gs>
              <a:gs pos="100000">
                <a:srgbClr val="000000">
                  <a:alpha val="30000"/>
                </a:srgbClr>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p:cNvSpPr>
            <a:spLocks noGrp="1" noRot="1" noChangeAspect="1" noMove="1" noResize="1" noEditPoints="1" noAdjustHandles="1" noChangeArrowheads="1" noChangeShapeType="1" noTextEdit="1"/>
          </p:cNvSpPr>
          <p:nvPr/>
        </p:nvSpPr>
        <p:spPr>
          <a:xfrm>
            <a:off x="459350" y="-1"/>
            <a:ext cx="11732646" cy="1597433"/>
          </a:xfrm>
          <a:prstGeom prst="rect">
            <a:avLst/>
          </a:prstGeom>
          <a:gradFill>
            <a:gsLst>
              <a:gs pos="50000">
                <a:srgbClr val="000000">
                  <a:alpha val="0"/>
                </a:srgbClr>
              </a:gs>
              <a:gs pos="99000">
                <a:schemeClr val="accent1">
                  <a:lumMod val="50000"/>
                  <a:alpha val="52000"/>
                </a:schemeClr>
              </a:gs>
            </a:gsLst>
            <a:lin ang="16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1371599" y="294538"/>
            <a:ext cx="9895951" cy="1033669"/>
          </a:xfrm>
        </p:spPr>
        <p:txBody>
          <a:bodyPr>
            <a:normAutofit/>
          </a:bodyPr>
          <a:lstStyle/>
          <a:p>
            <a:endParaRPr lang="ar-EG" sz="4000">
              <a:solidFill>
                <a:srgbClr val="FFFFFF"/>
              </a:solidFill>
            </a:endParaRPr>
          </a:p>
        </p:txBody>
      </p:sp>
      <p:sp>
        <p:nvSpPr>
          <p:cNvPr id="3" name="Content Placeholder 2"/>
          <p:cNvSpPr>
            <a:spLocks noGrp="1"/>
          </p:cNvSpPr>
          <p:nvPr>
            <p:ph idx="1"/>
          </p:nvPr>
        </p:nvSpPr>
        <p:spPr>
          <a:xfrm>
            <a:off x="1371599" y="2318197"/>
            <a:ext cx="9724031" cy="3683358"/>
          </a:xfrm>
        </p:spPr>
        <p:txBody>
          <a:bodyPr anchor="ctr">
            <a:normAutofit/>
          </a:bodyPr>
          <a:lstStyle/>
          <a:p>
            <a:r>
              <a:rPr lang="en-US" sz="2000"/>
              <a:t>In summary, ROUGE-N measures the overlap of n-grams, ROUGE-L measures the longest common subsequence, and ROUGE-S measures the skip-bigram overlap between the candidate and reference text.</a:t>
            </a:r>
            <a:endParaRPr lang="ar-EG" sz="2000"/>
          </a:p>
        </p:txBody>
      </p:sp>
      <p:sp>
        <p:nvSpPr>
          <p:cNvPr id="5" name="Slide Number Placeholder 4"/>
          <p:cNvSpPr>
            <a:spLocks noGrp="1"/>
          </p:cNvSpPr>
          <p:nvPr>
            <p:ph type="sldNum" sz="quarter" idx="12"/>
          </p:nvPr>
        </p:nvSpPr>
        <p:spPr/>
        <p:txBody>
          <a:bodyPr/>
          <a:lstStyle/>
          <a:p>
            <a:fld id="{A6FE5CD1-1D4A-4749-8CDD-9D133F900870}" type="slidenum">
              <a:rPr lang="ar-EG" smtClean="0"/>
              <a:t>30</a:t>
            </a:fld>
            <a:endParaRPr lang="ar-EG"/>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p:cNvSpPr>
            <a:spLocks noGrp="1" noRot="1" noChangeAspect="1" noMove="1" noResize="1" noEditPoints="1" noAdjustHandles="1" noChangeArrowheads="1" noChangeShapeType="1" noTextEdit="1"/>
          </p:cNvSpPr>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a:solidFill>
                  <a:schemeClr val="accent1">
                    <a:shade val="50000"/>
                  </a:schemeClr>
                </a:solidFill>
                <a:prstDash val="solid"/>
                <a:miter lim="800000"/>
                <a:headEnd/>
                <a:tailEn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p:cNvSpPr>
            <a:spLocks noGrp="1" noRot="1" noChangeAspect="1" noMove="1" noResize="1" noEditPoints="1" noAdjustHandles="1" noChangeArrowheads="1" noChangeShapeType="1" noTextEdit="1"/>
          </p:cNvSpPr>
          <p:nvPr/>
        </p:nvSpPr>
        <p:spPr>
          <a:xfrm flipH="1">
            <a:off x="-1" y="-1"/>
            <a:ext cx="12191998" cy="1590742"/>
          </a:xfrm>
          <a:prstGeom prst="rect">
            <a:avLst/>
          </a:prstGeom>
          <a:gradFill>
            <a:gsLst>
              <a:gs pos="0">
                <a:srgbClr val="000000"/>
              </a:gs>
              <a:gs pos="100000">
                <a:schemeClr val="accent1">
                  <a:lumMod val="75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p:cNvSpPr>
            <a:spLocks noGrp="1" noRot="1" noChangeAspect="1" noMove="1" noResize="1" noEditPoints="1" noAdjustHandles="1" noChangeArrowheads="1" noChangeShapeType="1" noTextEdit="1"/>
          </p:cNvSpPr>
          <p:nvPr/>
        </p:nvSpPr>
        <p:spPr>
          <a:xfrm rot="10800000" flipH="1">
            <a:off x="-3" y="0"/>
            <a:ext cx="8115306" cy="1590742"/>
          </a:xfrm>
          <a:prstGeom prst="rect">
            <a:avLst/>
          </a:prstGeom>
          <a:gradFill>
            <a:gsLst>
              <a:gs pos="20000">
                <a:schemeClr val="accent1">
                  <a:alpha val="0"/>
                </a:schemeClr>
              </a:gs>
              <a:gs pos="100000">
                <a:schemeClr val="accent1">
                  <a:lumMod val="50000"/>
                  <a:alpha val="55000"/>
                </a:schemeClr>
              </a:gs>
            </a:gsLst>
            <a:lin ang="13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p:cNvSpPr>
            <a:spLocks noGrp="1" noRot="1" noChangeAspect="1" noMove="1" noResize="1" noEditPoints="1" noAdjustHandles="1" noChangeArrowheads="1" noChangeShapeType="1" noTextEdit="1"/>
          </p:cNvSpPr>
          <p:nvPr/>
        </p:nvSpPr>
        <p:spPr>
          <a:xfrm flipH="1">
            <a:off x="8115299" y="-1"/>
            <a:ext cx="4076698" cy="1590742"/>
          </a:xfrm>
          <a:prstGeom prst="rect">
            <a:avLst/>
          </a:prstGeom>
          <a:gradFill>
            <a:gsLst>
              <a:gs pos="0">
                <a:schemeClr val="accent1">
                  <a:alpha val="66000"/>
                </a:schemeClr>
              </a:gs>
              <a:gs pos="100000">
                <a:srgbClr val="000000">
                  <a:alpha val="30000"/>
                </a:srgbClr>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p:cNvSpPr>
            <a:spLocks noGrp="1" noRot="1" noChangeAspect="1" noMove="1" noResize="1" noEditPoints="1" noAdjustHandles="1" noChangeArrowheads="1" noChangeShapeType="1" noTextEdit="1"/>
          </p:cNvSpPr>
          <p:nvPr/>
        </p:nvSpPr>
        <p:spPr>
          <a:xfrm>
            <a:off x="459350" y="-1"/>
            <a:ext cx="11732646" cy="1597433"/>
          </a:xfrm>
          <a:prstGeom prst="rect">
            <a:avLst/>
          </a:prstGeom>
          <a:gradFill>
            <a:gsLst>
              <a:gs pos="50000">
                <a:srgbClr val="000000">
                  <a:alpha val="0"/>
                </a:srgbClr>
              </a:gs>
              <a:gs pos="99000">
                <a:schemeClr val="accent1">
                  <a:lumMod val="50000"/>
                  <a:alpha val="52000"/>
                </a:schemeClr>
              </a:gs>
            </a:gsLst>
            <a:lin ang="16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1371599" y="294538"/>
            <a:ext cx="9895951" cy="1033669"/>
          </a:xfrm>
        </p:spPr>
        <p:txBody>
          <a:bodyPr>
            <a:normAutofit/>
          </a:bodyPr>
          <a:lstStyle/>
          <a:p>
            <a:r>
              <a:rPr lang="en-US" sz="4000">
                <a:solidFill>
                  <a:srgbClr val="FFFFFF"/>
                </a:solidFill>
              </a:rPr>
              <a:t>Significance of ROUGE score</a:t>
            </a:r>
            <a:endParaRPr lang="ar-EG" sz="4000">
              <a:solidFill>
                <a:srgbClr val="FFFFFF"/>
              </a:solidFill>
            </a:endParaRPr>
          </a:p>
        </p:txBody>
      </p:sp>
      <p:sp>
        <p:nvSpPr>
          <p:cNvPr id="3" name="Content Placeholder 2"/>
          <p:cNvSpPr>
            <a:spLocks noGrp="1"/>
          </p:cNvSpPr>
          <p:nvPr>
            <p:ph idx="1"/>
          </p:nvPr>
        </p:nvSpPr>
        <p:spPr>
          <a:xfrm>
            <a:off x="1371599" y="2318197"/>
            <a:ext cx="9724031" cy="3683358"/>
          </a:xfrm>
        </p:spPr>
        <p:txBody>
          <a:bodyPr anchor="ctr">
            <a:normAutofit/>
          </a:bodyPr>
          <a:lstStyle/>
          <a:p>
            <a:endParaRPr lang="en-US" sz="2000"/>
          </a:p>
          <a:p>
            <a:r>
              <a:rPr lang="en-US" sz="2000"/>
              <a:t>ROUGE score is widely used in text summarization tasks as it provides a way to objectively assess the quality of machine-generated summaries compared to reference summaries. It takes into account the overlap of n-grams, which helps in capturing the important content of the summary. </a:t>
            </a:r>
          </a:p>
          <a:p>
            <a:endParaRPr lang="en-US" sz="2000"/>
          </a:p>
          <a:p>
            <a:r>
              <a:rPr lang="en-US" sz="2000"/>
              <a:t>ROUGE score is also flexible as it allows the use of different n-gram lengths based on the task requirements. However, similar to BLEU score, ROUGE score also has limitations. It may not fully capture the semantic meaning or coherence of the summary, and it relies solely on the n-gram overlap, which may not always be an accurate measure of summary quality.</a:t>
            </a:r>
            <a:endParaRPr lang="ar-EG" sz="2000"/>
          </a:p>
        </p:txBody>
      </p:sp>
      <p:sp>
        <p:nvSpPr>
          <p:cNvPr id="5" name="Slide Number Placeholder 4"/>
          <p:cNvSpPr>
            <a:spLocks noGrp="1"/>
          </p:cNvSpPr>
          <p:nvPr>
            <p:ph type="sldNum" sz="quarter" idx="12"/>
          </p:nvPr>
        </p:nvSpPr>
        <p:spPr/>
        <p:txBody>
          <a:bodyPr/>
          <a:lstStyle/>
          <a:p>
            <a:fld id="{A6FE5CD1-1D4A-4749-8CDD-9D133F900870}" type="slidenum">
              <a:rPr lang="ar-EG" smtClean="0"/>
              <a:t>31</a:t>
            </a:fld>
            <a:endParaRPr lang="ar-EG"/>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5" name="Rectangle 14"/>
          <p:cNvSpPr>
            <a:spLocks noGrp="1" noRot="1" noChangeAspect="1" noMove="1" noResize="1" noEditPoints="1" noAdjustHandles="1" noChangeArrowheads="1" noChangeShapeType="1" noTextEdit="1"/>
          </p:cNvSpPr>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a:solidFill>
                  <a:schemeClr val="accent1">
                    <a:shade val="50000"/>
                  </a:schemeClr>
                </a:solidFill>
                <a:prstDash val="solid"/>
                <a:miter lim="800000"/>
                <a:headEnd/>
                <a:tailEn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Rectangle 16"/>
          <p:cNvSpPr>
            <a:spLocks noGrp="1" noRot="1" noChangeAspect="1" noMove="1" noResize="1" noEditPoints="1" noAdjustHandles="1" noChangeArrowheads="1" noChangeShapeType="1" noTextEdit="1"/>
          </p:cNvSpPr>
          <p:nvPr/>
        </p:nvSpPr>
        <p:spPr>
          <a:xfrm rot="10800000" flipH="1">
            <a:off x="2" y="0"/>
            <a:ext cx="12191998" cy="1575955"/>
          </a:xfrm>
          <a:prstGeom prst="rect">
            <a:avLst/>
          </a:prstGeom>
          <a:gradFill>
            <a:gsLst>
              <a:gs pos="0">
                <a:srgbClr val="000000">
                  <a:alpha val="96000"/>
                </a:srgbClr>
              </a:gs>
              <a:gs pos="100000">
                <a:schemeClr val="accent1">
                  <a:lumMod val="75000"/>
                </a:schemeClr>
              </a:gs>
            </a:gsLst>
            <a:lin ang="6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Rectangle 18"/>
          <p:cNvSpPr>
            <a:spLocks noGrp="1" noRot="1" noChangeAspect="1" noMove="1" noResize="1" noEditPoints="1" noAdjustHandles="1" noChangeArrowheads="1" noChangeShapeType="1" noTextEdit="1"/>
          </p:cNvSpPr>
          <p:nvPr/>
        </p:nvSpPr>
        <p:spPr>
          <a:xfrm>
            <a:off x="0" y="0"/>
            <a:ext cx="8128856" cy="1575461"/>
          </a:xfrm>
          <a:prstGeom prst="rect">
            <a:avLst/>
          </a:prstGeom>
          <a:gradFill>
            <a:gsLst>
              <a:gs pos="0">
                <a:schemeClr val="accent1">
                  <a:alpha val="41000"/>
                </a:schemeClr>
              </a:gs>
              <a:gs pos="74000">
                <a:schemeClr val="accent1">
                  <a:lumMod val="60000"/>
                  <a:lumOff val="40000"/>
                  <a:alpha val="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Rectangle 20"/>
          <p:cNvSpPr>
            <a:spLocks noGrp="1" noRot="1" noChangeAspect="1" noMove="1" noResize="1" noEditPoints="1" noAdjustHandles="1" noChangeArrowheads="1" noChangeShapeType="1" noTextEdit="1"/>
          </p:cNvSpPr>
          <p:nvPr/>
        </p:nvSpPr>
        <p:spPr>
          <a:xfrm flipH="1">
            <a:off x="-3" y="-1"/>
            <a:ext cx="12192002" cy="1574311"/>
          </a:xfrm>
          <a:prstGeom prst="rect">
            <a:avLst/>
          </a:prstGeom>
          <a:gradFill>
            <a:gsLst>
              <a:gs pos="0">
                <a:srgbClr val="000000">
                  <a:alpha val="63000"/>
                </a:srgbClr>
              </a:gs>
              <a:gs pos="78000">
                <a:schemeClr val="accent1">
                  <a:alpha val="15000"/>
                </a:schemeClr>
              </a:gs>
            </a:gsLst>
            <a:lin ang="15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699713" y="248038"/>
            <a:ext cx="7063721" cy="1159200"/>
          </a:xfrm>
        </p:spPr>
        <p:txBody>
          <a:bodyPr vert="horz" lIns="91440" tIns="45720" rIns="91440" bIns="45720" rtlCol="0" anchor="ctr">
            <a:normAutofit/>
          </a:bodyPr>
          <a:lstStyle/>
          <a:p>
            <a:r>
              <a:rPr lang="en-US" sz="3700" kern="1200">
                <a:solidFill>
                  <a:srgbClr val="FFFFFF"/>
                </a:solidFill>
                <a:latin typeface="+mj-lt"/>
                <a:ea typeface="+mj-ea"/>
                <a:cs typeface="+mj-cs"/>
              </a:rPr>
              <a:t>Code for calculating ROUGE score</a:t>
            </a:r>
          </a:p>
        </p:txBody>
      </p:sp>
      <p:pic>
        <p:nvPicPr>
          <p:cNvPr id="5" name="Picture 4"/>
          <p:cNvPicPr>
            <a:picLocks noChangeAspect="1"/>
          </p:cNvPicPr>
          <p:nvPr/>
        </p:nvPicPr>
        <p:blipFill>
          <a:blip r:embed="rId2"/>
          <a:stretch>
            <a:fillRect/>
          </a:stretch>
        </p:blipFill>
        <p:spPr>
          <a:xfrm>
            <a:off x="1334332" y="1966293"/>
            <a:ext cx="9523335" cy="4452160"/>
          </a:xfrm>
          <a:prstGeom prst="rect">
            <a:avLst/>
          </a:prstGeom>
        </p:spPr>
      </p:pic>
      <p:sp>
        <p:nvSpPr>
          <p:cNvPr id="7" name="Slide Number Placeholder 6"/>
          <p:cNvSpPr>
            <a:spLocks noGrp="1"/>
          </p:cNvSpPr>
          <p:nvPr>
            <p:ph type="sldNum" sz="quarter" idx="12"/>
          </p:nvPr>
        </p:nvSpPr>
        <p:spPr/>
        <p:txBody>
          <a:bodyPr/>
          <a:lstStyle/>
          <a:p>
            <a:fld id="{A6FE5CD1-1D4A-4749-8CDD-9D133F900870}" type="slidenum">
              <a:rPr lang="ar-EG" smtClean="0"/>
              <a:t>32</a:t>
            </a:fld>
            <a:endParaRPr lang="ar-EG"/>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p:cNvSpPr>
            <a:spLocks noGrp="1" noRot="1" noChangeAspect="1" noMove="1" noResize="1" noEditPoints="1" noAdjustHandles="1" noChangeArrowheads="1" noChangeShapeType="1" noTextEdit="1"/>
          </p:cNvSpPr>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Picture 4"/>
          <p:cNvPicPr>
            <a:picLocks noChangeAspect="1"/>
          </p:cNvPicPr>
          <p:nvPr/>
        </p:nvPicPr>
        <p:blipFill>
          <a:blip r:embed="rId2"/>
          <a:stretch>
            <a:fillRect/>
          </a:stretch>
        </p:blipFill>
        <p:spPr>
          <a:xfrm>
            <a:off x="1043976" y="3544071"/>
            <a:ext cx="9613397" cy="865206"/>
          </a:xfrm>
          <a:prstGeom prst="rect">
            <a:avLst/>
          </a:prstGeom>
        </p:spPr>
      </p:pic>
      <p:sp>
        <p:nvSpPr>
          <p:cNvPr id="12" name="Right Triangle 11"/>
          <p:cNvSpPr>
            <a:spLocks noGrp="1" noRot="1" noChangeAspect="1" noMove="1" noResize="1" noEditPoints="1" noAdjustHandles="1" noChangeArrowheads="1" noChangeShapeType="1" noTextEdit="1"/>
          </p:cNvSpPr>
          <p:nvPr/>
        </p:nvSpPr>
        <p:spPr>
          <a:xfrm flipH="1">
            <a:off x="8576720" y="3335867"/>
            <a:ext cx="3291840" cy="3200400"/>
          </a:xfrm>
          <a:prstGeom prst="rtTriangl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4" name="Rectangle 13"/>
          <p:cNvSpPr>
            <a:spLocks noGrp="1" noRot="1" noChangeAspect="1" noMove="1" noResize="1" noEditPoints="1" noAdjustHandles="1" noChangeArrowheads="1" noChangeShapeType="1" noTextEdit="1"/>
          </p:cNvSpPr>
          <p:nvPr/>
        </p:nvSpPr>
        <p:spPr>
          <a:xfrm>
            <a:off x="641774" y="623275"/>
            <a:ext cx="10905053" cy="5607882"/>
          </a:xfrm>
          <a:prstGeom prst="rect">
            <a:avLst/>
          </a:prstGeom>
          <a:noFill/>
          <a:ln w="19050">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1043976" y="1018817"/>
            <a:ext cx="8921672" cy="1713305"/>
          </a:xfrm>
        </p:spPr>
        <p:txBody>
          <a:bodyPr vert="horz" lIns="91440" tIns="45720" rIns="91440" bIns="45720" rtlCol="0" anchor="b">
            <a:normAutofit/>
          </a:bodyPr>
          <a:lstStyle/>
          <a:p>
            <a:r>
              <a:rPr lang="en-US" sz="8000" kern="1200" dirty="0">
                <a:solidFill>
                  <a:schemeClr val="tx1"/>
                </a:solidFill>
                <a:latin typeface="+mj-lt"/>
                <a:ea typeface="+mj-ea"/>
                <a:cs typeface="+mj-cs"/>
              </a:rPr>
              <a:t>Results</a:t>
            </a:r>
          </a:p>
        </p:txBody>
      </p:sp>
      <p:sp>
        <p:nvSpPr>
          <p:cNvPr id="7" name="Slide Number Placeholder 6"/>
          <p:cNvSpPr>
            <a:spLocks noGrp="1"/>
          </p:cNvSpPr>
          <p:nvPr>
            <p:ph type="sldNum" sz="quarter" idx="12"/>
          </p:nvPr>
        </p:nvSpPr>
        <p:spPr/>
        <p:txBody>
          <a:bodyPr/>
          <a:lstStyle/>
          <a:p>
            <a:fld id="{A6FE5CD1-1D4A-4749-8CDD-9D133F900870}" type="slidenum">
              <a:rPr lang="ar-EG" smtClean="0"/>
              <a:t>33</a:t>
            </a:fld>
            <a:endParaRPr lang="ar-EG"/>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p:cNvSpPr>
            <a:spLocks noGrp="1" noRot="1" noChangeAspect="1" noMove="1" noResize="1" noEditPoints="1" noAdjustHandles="1" noChangeArrowheads="1" noChangeShapeType="1" noTextEdit="1"/>
          </p:cNvSpPr>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a:solidFill>
                  <a:schemeClr val="accent1">
                    <a:shade val="50000"/>
                  </a:schemeClr>
                </a:solidFill>
                <a:prstDash val="solid"/>
                <a:miter lim="800000"/>
                <a:headEnd/>
                <a:tailEn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p:cNvSpPr>
            <a:spLocks noGrp="1" noRot="1" noChangeAspect="1" noMove="1" noResize="1" noEditPoints="1" noAdjustHandles="1" noChangeArrowheads="1" noChangeShapeType="1" noTextEdit="1"/>
          </p:cNvSpPr>
          <p:nvPr/>
        </p:nvSpPr>
        <p:spPr>
          <a:xfrm flipH="1">
            <a:off x="-1" y="-1"/>
            <a:ext cx="12191998" cy="1590742"/>
          </a:xfrm>
          <a:prstGeom prst="rect">
            <a:avLst/>
          </a:prstGeom>
          <a:gradFill>
            <a:gsLst>
              <a:gs pos="0">
                <a:srgbClr val="000000"/>
              </a:gs>
              <a:gs pos="100000">
                <a:schemeClr val="accent1">
                  <a:lumMod val="75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p:cNvSpPr>
            <a:spLocks noGrp="1" noRot="1" noChangeAspect="1" noMove="1" noResize="1" noEditPoints="1" noAdjustHandles="1" noChangeArrowheads="1" noChangeShapeType="1" noTextEdit="1"/>
          </p:cNvSpPr>
          <p:nvPr/>
        </p:nvSpPr>
        <p:spPr>
          <a:xfrm rot="10800000" flipH="1">
            <a:off x="-3" y="0"/>
            <a:ext cx="8115306" cy="1590742"/>
          </a:xfrm>
          <a:prstGeom prst="rect">
            <a:avLst/>
          </a:prstGeom>
          <a:gradFill>
            <a:gsLst>
              <a:gs pos="20000">
                <a:schemeClr val="accent1">
                  <a:alpha val="0"/>
                </a:schemeClr>
              </a:gs>
              <a:gs pos="100000">
                <a:schemeClr val="accent1">
                  <a:lumMod val="50000"/>
                  <a:alpha val="55000"/>
                </a:schemeClr>
              </a:gs>
            </a:gsLst>
            <a:lin ang="13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p:cNvSpPr>
            <a:spLocks noGrp="1" noRot="1" noChangeAspect="1" noMove="1" noResize="1" noEditPoints="1" noAdjustHandles="1" noChangeArrowheads="1" noChangeShapeType="1" noTextEdit="1"/>
          </p:cNvSpPr>
          <p:nvPr/>
        </p:nvSpPr>
        <p:spPr>
          <a:xfrm flipH="1">
            <a:off x="8115299" y="-1"/>
            <a:ext cx="4076698" cy="1590742"/>
          </a:xfrm>
          <a:prstGeom prst="rect">
            <a:avLst/>
          </a:prstGeom>
          <a:gradFill>
            <a:gsLst>
              <a:gs pos="0">
                <a:schemeClr val="accent1">
                  <a:alpha val="66000"/>
                </a:schemeClr>
              </a:gs>
              <a:gs pos="100000">
                <a:srgbClr val="000000">
                  <a:alpha val="30000"/>
                </a:srgbClr>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p:cNvSpPr>
            <a:spLocks noGrp="1" noRot="1" noChangeAspect="1" noMove="1" noResize="1" noEditPoints="1" noAdjustHandles="1" noChangeArrowheads="1" noChangeShapeType="1" noTextEdit="1"/>
          </p:cNvSpPr>
          <p:nvPr/>
        </p:nvSpPr>
        <p:spPr>
          <a:xfrm>
            <a:off x="459350" y="-1"/>
            <a:ext cx="11732646" cy="1597433"/>
          </a:xfrm>
          <a:prstGeom prst="rect">
            <a:avLst/>
          </a:prstGeom>
          <a:gradFill>
            <a:gsLst>
              <a:gs pos="50000">
                <a:srgbClr val="000000">
                  <a:alpha val="0"/>
                </a:srgbClr>
              </a:gs>
              <a:gs pos="99000">
                <a:schemeClr val="accent1">
                  <a:lumMod val="50000"/>
                  <a:alpha val="52000"/>
                </a:schemeClr>
              </a:gs>
            </a:gsLst>
            <a:lin ang="16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1371599" y="294538"/>
            <a:ext cx="9895951" cy="1033669"/>
          </a:xfrm>
        </p:spPr>
        <p:txBody>
          <a:bodyPr>
            <a:normAutofit/>
          </a:bodyPr>
          <a:lstStyle/>
          <a:p>
            <a:r>
              <a:rPr lang="en-US" sz="4000">
                <a:solidFill>
                  <a:srgbClr val="FFFFFF"/>
                </a:solidFill>
              </a:rPr>
              <a:t>Conclusion</a:t>
            </a:r>
            <a:endParaRPr lang="ar-EG" sz="4000">
              <a:solidFill>
                <a:srgbClr val="FFFFFF"/>
              </a:solidFill>
            </a:endParaRPr>
          </a:p>
        </p:txBody>
      </p:sp>
      <p:sp>
        <p:nvSpPr>
          <p:cNvPr id="3" name="Content Placeholder 2"/>
          <p:cNvSpPr>
            <a:spLocks noGrp="1"/>
          </p:cNvSpPr>
          <p:nvPr>
            <p:ph idx="1"/>
          </p:nvPr>
        </p:nvSpPr>
        <p:spPr>
          <a:xfrm>
            <a:off x="1371599" y="2318197"/>
            <a:ext cx="9724031" cy="3683358"/>
          </a:xfrm>
        </p:spPr>
        <p:txBody>
          <a:bodyPr anchor="ctr">
            <a:normAutofit/>
          </a:bodyPr>
          <a:lstStyle/>
          <a:p>
            <a:r>
              <a:rPr lang="en-US" sz="2000"/>
              <a:t>In the field of NLP evaluation, BLEU and ROUGE scores are commonly used metrics to assess the quality of machine-generated translations and summaries, respectively. While BLEU score is primarily used for machine translation tasks, ROUGE score is used for text summarization tasks. </a:t>
            </a:r>
          </a:p>
          <a:p>
            <a:r>
              <a:rPr lang="en-US" sz="2000"/>
              <a:t>Both metrics rely on n-gram overlap to measure similarity between the machine-generated output and the reference translations or summaries. They provide a simple and effective way to evaluate NLP models, but they also have limitations in capturing the overall meaning, fluency, and coherence of the output. It is important to consider the specific requirements of the task and the limitations of these metrics while using them for NLP evaluation.</a:t>
            </a:r>
            <a:endParaRPr lang="ar-EG" sz="2000"/>
          </a:p>
        </p:txBody>
      </p:sp>
      <p:sp>
        <p:nvSpPr>
          <p:cNvPr id="5" name="Slide Number Placeholder 4"/>
          <p:cNvSpPr>
            <a:spLocks noGrp="1"/>
          </p:cNvSpPr>
          <p:nvPr>
            <p:ph type="sldNum" sz="quarter" idx="12"/>
          </p:nvPr>
        </p:nvSpPr>
        <p:spPr/>
        <p:txBody>
          <a:bodyPr/>
          <a:lstStyle/>
          <a:p>
            <a:fld id="{A6FE5CD1-1D4A-4749-8CDD-9D133F900870}" type="slidenum">
              <a:rPr lang="ar-EG" smtClean="0"/>
              <a:t>34</a:t>
            </a:fld>
            <a:endParaRPr lang="ar-EG"/>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p:cNvSpPr>
            <a:spLocks noGrp="1" noRot="1" noChangeAspect="1" noMove="1" noResize="1" noEditPoints="1" noAdjustHandles="1" noChangeArrowheads="1" noChangeShapeType="1" noTextEdit="1"/>
          </p:cNvSpPr>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a:solidFill>
                  <a:schemeClr val="accent1">
                    <a:shade val="50000"/>
                  </a:schemeClr>
                </a:solidFill>
                <a:prstDash val="solid"/>
                <a:miter lim="800000"/>
                <a:headEnd/>
                <a:tailEn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p:cNvSpPr>
            <a:spLocks noGrp="1" noRot="1" noChangeAspect="1" noMove="1" noResize="1" noEditPoints="1" noAdjustHandles="1" noChangeArrowheads="1" noChangeShapeType="1" noTextEdit="1"/>
          </p:cNvSpPr>
          <p:nvPr/>
        </p:nvSpPr>
        <p:spPr>
          <a:xfrm flipH="1">
            <a:off x="-1" y="-1"/>
            <a:ext cx="12191998" cy="1590742"/>
          </a:xfrm>
          <a:prstGeom prst="rect">
            <a:avLst/>
          </a:prstGeom>
          <a:gradFill>
            <a:gsLst>
              <a:gs pos="0">
                <a:srgbClr val="000000"/>
              </a:gs>
              <a:gs pos="100000">
                <a:schemeClr val="accent1">
                  <a:lumMod val="75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p:cNvSpPr>
            <a:spLocks noGrp="1" noRot="1" noChangeAspect="1" noMove="1" noResize="1" noEditPoints="1" noAdjustHandles="1" noChangeArrowheads="1" noChangeShapeType="1" noTextEdit="1"/>
          </p:cNvSpPr>
          <p:nvPr/>
        </p:nvSpPr>
        <p:spPr>
          <a:xfrm rot="10800000" flipH="1">
            <a:off x="-3" y="0"/>
            <a:ext cx="8115306" cy="1590742"/>
          </a:xfrm>
          <a:prstGeom prst="rect">
            <a:avLst/>
          </a:prstGeom>
          <a:gradFill>
            <a:gsLst>
              <a:gs pos="20000">
                <a:schemeClr val="accent1">
                  <a:alpha val="0"/>
                </a:schemeClr>
              </a:gs>
              <a:gs pos="100000">
                <a:schemeClr val="accent1">
                  <a:lumMod val="50000"/>
                  <a:alpha val="55000"/>
                </a:schemeClr>
              </a:gs>
            </a:gsLst>
            <a:lin ang="13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p:cNvSpPr>
            <a:spLocks noGrp="1" noRot="1" noChangeAspect="1" noMove="1" noResize="1" noEditPoints="1" noAdjustHandles="1" noChangeArrowheads="1" noChangeShapeType="1" noTextEdit="1"/>
          </p:cNvSpPr>
          <p:nvPr/>
        </p:nvSpPr>
        <p:spPr>
          <a:xfrm flipH="1">
            <a:off x="8115299" y="-1"/>
            <a:ext cx="4076698" cy="1590742"/>
          </a:xfrm>
          <a:prstGeom prst="rect">
            <a:avLst/>
          </a:prstGeom>
          <a:gradFill>
            <a:gsLst>
              <a:gs pos="0">
                <a:schemeClr val="accent1">
                  <a:alpha val="66000"/>
                </a:schemeClr>
              </a:gs>
              <a:gs pos="100000">
                <a:srgbClr val="000000">
                  <a:alpha val="30000"/>
                </a:srgbClr>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p:cNvSpPr>
            <a:spLocks noGrp="1" noRot="1" noChangeAspect="1" noMove="1" noResize="1" noEditPoints="1" noAdjustHandles="1" noChangeArrowheads="1" noChangeShapeType="1" noTextEdit="1"/>
          </p:cNvSpPr>
          <p:nvPr/>
        </p:nvSpPr>
        <p:spPr>
          <a:xfrm>
            <a:off x="459350" y="-1"/>
            <a:ext cx="11732646" cy="1597433"/>
          </a:xfrm>
          <a:prstGeom prst="rect">
            <a:avLst/>
          </a:prstGeom>
          <a:gradFill>
            <a:gsLst>
              <a:gs pos="50000">
                <a:srgbClr val="000000">
                  <a:alpha val="0"/>
                </a:srgbClr>
              </a:gs>
              <a:gs pos="99000">
                <a:schemeClr val="accent1">
                  <a:lumMod val="50000"/>
                  <a:alpha val="52000"/>
                </a:schemeClr>
              </a:gs>
            </a:gsLst>
            <a:lin ang="16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1371599" y="294538"/>
            <a:ext cx="9895951" cy="1033669"/>
          </a:xfrm>
        </p:spPr>
        <p:txBody>
          <a:bodyPr>
            <a:normAutofit/>
          </a:bodyPr>
          <a:lstStyle/>
          <a:p>
            <a:endParaRPr lang="ar-EG" sz="4000">
              <a:solidFill>
                <a:srgbClr val="FFFFFF"/>
              </a:solidFill>
            </a:endParaRPr>
          </a:p>
        </p:txBody>
      </p:sp>
      <p:sp>
        <p:nvSpPr>
          <p:cNvPr id="3" name="Content Placeholder 2"/>
          <p:cNvSpPr>
            <a:spLocks noGrp="1"/>
          </p:cNvSpPr>
          <p:nvPr>
            <p:ph idx="1"/>
          </p:nvPr>
        </p:nvSpPr>
        <p:spPr>
          <a:xfrm>
            <a:off x="1371599" y="2318197"/>
            <a:ext cx="9724031" cy="3683358"/>
          </a:xfrm>
        </p:spPr>
        <p:txBody>
          <a:bodyPr anchor="ctr">
            <a:normAutofit/>
          </a:bodyPr>
          <a:lstStyle/>
          <a:p>
            <a:r>
              <a:rPr lang="en-US" sz="2000"/>
              <a:t>In conclusion, BLEU and ROUGE scores are valuable tools for evaluating the performance of NLP models in machine translation and text summarization tasks, respectively. They provide a quantitative measure of similarity between the machine-generated output and the reference translations or summaries, allowing researchers and practitioners to assess the quality of their models objectively.</a:t>
            </a:r>
            <a:endParaRPr lang="ar-EG" sz="2000"/>
          </a:p>
        </p:txBody>
      </p:sp>
      <p:sp>
        <p:nvSpPr>
          <p:cNvPr id="5" name="Slide Number Placeholder 4"/>
          <p:cNvSpPr>
            <a:spLocks noGrp="1"/>
          </p:cNvSpPr>
          <p:nvPr>
            <p:ph type="sldNum" sz="quarter" idx="12"/>
          </p:nvPr>
        </p:nvSpPr>
        <p:spPr/>
        <p:txBody>
          <a:bodyPr/>
          <a:lstStyle/>
          <a:p>
            <a:fld id="{A6FE5CD1-1D4A-4749-8CDD-9D133F900870}" type="slidenum">
              <a:rPr lang="ar-EG" smtClean="0"/>
              <a:t>35</a:t>
            </a:fld>
            <a:endParaRPr lang="ar-EG"/>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5" name="Rectangle 14"/>
          <p:cNvSpPr>
            <a:spLocks noGrp="1" noRot="1" noChangeAspect="1" noMove="1" noResize="1" noEditPoints="1" noAdjustHandles="1" noChangeArrowheads="1" noChangeShapeType="1" noTextEdit="1"/>
          </p:cNvSpPr>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a:solidFill>
                  <a:schemeClr val="accent1">
                    <a:shade val="50000"/>
                  </a:schemeClr>
                </a:solidFill>
                <a:prstDash val="solid"/>
                <a:miter lim="800000"/>
                <a:headEnd/>
                <a:tailEn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Rectangle 16"/>
          <p:cNvSpPr>
            <a:spLocks noGrp="1" noRot="1" noChangeAspect="1" noMove="1" noResize="1" noEditPoints="1" noAdjustHandles="1" noChangeArrowheads="1" noChangeShapeType="1" noTextEdit="1"/>
          </p:cNvSpPr>
          <p:nvPr/>
        </p:nvSpPr>
        <p:spPr>
          <a:xfrm rot="10800000" flipH="1">
            <a:off x="2" y="0"/>
            <a:ext cx="12191998" cy="1575955"/>
          </a:xfrm>
          <a:prstGeom prst="rect">
            <a:avLst/>
          </a:prstGeom>
          <a:gradFill>
            <a:gsLst>
              <a:gs pos="0">
                <a:srgbClr val="000000">
                  <a:alpha val="96000"/>
                </a:srgbClr>
              </a:gs>
              <a:gs pos="100000">
                <a:schemeClr val="accent1">
                  <a:lumMod val="75000"/>
                </a:schemeClr>
              </a:gs>
            </a:gsLst>
            <a:lin ang="6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Rectangle 18"/>
          <p:cNvSpPr>
            <a:spLocks noGrp="1" noRot="1" noChangeAspect="1" noMove="1" noResize="1" noEditPoints="1" noAdjustHandles="1" noChangeArrowheads="1" noChangeShapeType="1" noTextEdit="1"/>
          </p:cNvSpPr>
          <p:nvPr/>
        </p:nvSpPr>
        <p:spPr>
          <a:xfrm>
            <a:off x="0" y="0"/>
            <a:ext cx="8128856" cy="1575461"/>
          </a:xfrm>
          <a:prstGeom prst="rect">
            <a:avLst/>
          </a:prstGeom>
          <a:gradFill>
            <a:gsLst>
              <a:gs pos="0">
                <a:schemeClr val="accent1">
                  <a:alpha val="41000"/>
                </a:schemeClr>
              </a:gs>
              <a:gs pos="74000">
                <a:schemeClr val="accent1">
                  <a:lumMod val="60000"/>
                  <a:lumOff val="40000"/>
                  <a:alpha val="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Rectangle 20"/>
          <p:cNvSpPr>
            <a:spLocks noGrp="1" noRot="1" noChangeAspect="1" noMove="1" noResize="1" noEditPoints="1" noAdjustHandles="1" noChangeArrowheads="1" noChangeShapeType="1" noTextEdit="1"/>
          </p:cNvSpPr>
          <p:nvPr/>
        </p:nvSpPr>
        <p:spPr>
          <a:xfrm flipH="1">
            <a:off x="-3" y="-1"/>
            <a:ext cx="12192002" cy="1574311"/>
          </a:xfrm>
          <a:prstGeom prst="rect">
            <a:avLst/>
          </a:prstGeom>
          <a:gradFill>
            <a:gsLst>
              <a:gs pos="0">
                <a:srgbClr val="000000">
                  <a:alpha val="63000"/>
                </a:srgbClr>
              </a:gs>
              <a:gs pos="78000">
                <a:schemeClr val="accent1">
                  <a:alpha val="15000"/>
                </a:schemeClr>
              </a:gs>
            </a:gsLst>
            <a:lin ang="15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699713" y="248038"/>
            <a:ext cx="7063721" cy="1159200"/>
          </a:xfrm>
        </p:spPr>
        <p:txBody>
          <a:bodyPr vert="horz" lIns="91440" tIns="45720" rIns="91440" bIns="45720" rtlCol="0" anchor="ctr">
            <a:normAutofit/>
          </a:bodyPr>
          <a:lstStyle/>
          <a:p>
            <a:r>
              <a:rPr lang="en-US" sz="4000" kern="1200">
                <a:solidFill>
                  <a:srgbClr val="FFFFFF"/>
                </a:solidFill>
                <a:latin typeface="+mj-lt"/>
                <a:ea typeface="+mj-ea"/>
                <a:cs typeface="+mj-cs"/>
              </a:rPr>
              <a:t>Key Differences</a:t>
            </a:r>
          </a:p>
        </p:txBody>
      </p:sp>
      <p:pic>
        <p:nvPicPr>
          <p:cNvPr id="5" name="Picture 4"/>
          <p:cNvPicPr>
            <a:picLocks noChangeAspect="1"/>
          </p:cNvPicPr>
          <p:nvPr/>
        </p:nvPicPr>
        <p:blipFill>
          <a:blip r:embed="rId2"/>
          <a:stretch>
            <a:fillRect/>
          </a:stretch>
        </p:blipFill>
        <p:spPr>
          <a:xfrm>
            <a:off x="666536" y="1966293"/>
            <a:ext cx="10858927" cy="4452160"/>
          </a:xfrm>
          <a:prstGeom prst="rect">
            <a:avLst/>
          </a:prstGeom>
        </p:spPr>
      </p:pic>
      <p:sp>
        <p:nvSpPr>
          <p:cNvPr id="7" name="Slide Number Placeholder 6"/>
          <p:cNvSpPr>
            <a:spLocks noGrp="1"/>
          </p:cNvSpPr>
          <p:nvPr>
            <p:ph type="sldNum" sz="quarter" idx="12"/>
          </p:nvPr>
        </p:nvSpPr>
        <p:spPr/>
        <p:txBody>
          <a:bodyPr/>
          <a:lstStyle/>
          <a:p>
            <a:fld id="{A6FE5CD1-1D4A-4749-8CDD-9D133F900870}" type="slidenum">
              <a:rPr lang="ar-EG" smtClean="0"/>
              <a:t>36</a:t>
            </a:fld>
            <a:endParaRPr lang="ar-EG"/>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p:cNvSpPr>
            <a:spLocks noGrp="1" noRot="1" noChangeAspect="1" noMove="1" noResize="1" noEditPoints="1" noAdjustHandles="1" noChangeArrowheads="1" noChangeShapeType="1" noTextEdit="1"/>
          </p:cNvSpPr>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a:solidFill>
                  <a:schemeClr val="accent1">
                    <a:shade val="50000"/>
                  </a:schemeClr>
                </a:solidFill>
                <a:prstDash val="solid"/>
                <a:miter lim="800000"/>
                <a:headEnd/>
                <a:tailEn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p:cNvSpPr>
            <a:spLocks noGrp="1" noRot="1" noChangeAspect="1" noMove="1" noResize="1" noEditPoints="1" noAdjustHandles="1" noChangeArrowheads="1" noChangeShapeType="1" noTextEdit="1"/>
          </p:cNvSpPr>
          <p:nvPr/>
        </p:nvSpPr>
        <p:spPr>
          <a:xfrm rot="10800000" flipH="1">
            <a:off x="2" y="0"/>
            <a:ext cx="12191998" cy="1575955"/>
          </a:xfrm>
          <a:prstGeom prst="rect">
            <a:avLst/>
          </a:prstGeom>
          <a:gradFill>
            <a:gsLst>
              <a:gs pos="0">
                <a:srgbClr val="000000">
                  <a:alpha val="96000"/>
                </a:srgbClr>
              </a:gs>
              <a:gs pos="100000">
                <a:schemeClr val="accent1">
                  <a:lumMod val="75000"/>
                </a:schemeClr>
              </a:gs>
            </a:gsLst>
            <a:lin ang="6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p:cNvSpPr>
            <a:spLocks noGrp="1" noRot="1" noChangeAspect="1" noMove="1" noResize="1" noEditPoints="1" noAdjustHandles="1" noChangeArrowheads="1" noChangeShapeType="1" noTextEdit="1"/>
          </p:cNvSpPr>
          <p:nvPr/>
        </p:nvSpPr>
        <p:spPr>
          <a:xfrm>
            <a:off x="0" y="0"/>
            <a:ext cx="8128856" cy="1575461"/>
          </a:xfrm>
          <a:prstGeom prst="rect">
            <a:avLst/>
          </a:prstGeom>
          <a:gradFill>
            <a:gsLst>
              <a:gs pos="0">
                <a:schemeClr val="accent1">
                  <a:alpha val="41000"/>
                </a:schemeClr>
              </a:gs>
              <a:gs pos="74000">
                <a:schemeClr val="accent1">
                  <a:lumMod val="60000"/>
                  <a:lumOff val="40000"/>
                  <a:alpha val="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p:cNvSpPr>
            <a:spLocks noGrp="1" noRot="1" noChangeAspect="1" noMove="1" noResize="1" noEditPoints="1" noAdjustHandles="1" noChangeArrowheads="1" noChangeShapeType="1" noTextEdit="1"/>
          </p:cNvSpPr>
          <p:nvPr/>
        </p:nvSpPr>
        <p:spPr>
          <a:xfrm flipH="1">
            <a:off x="-3" y="-1"/>
            <a:ext cx="12192002" cy="1574311"/>
          </a:xfrm>
          <a:prstGeom prst="rect">
            <a:avLst/>
          </a:prstGeom>
          <a:gradFill>
            <a:gsLst>
              <a:gs pos="0">
                <a:srgbClr val="000000">
                  <a:alpha val="63000"/>
                </a:srgbClr>
              </a:gs>
              <a:gs pos="78000">
                <a:schemeClr val="accent1">
                  <a:alpha val="15000"/>
                </a:schemeClr>
              </a:gs>
            </a:gsLst>
            <a:lin ang="15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699713" y="248038"/>
            <a:ext cx="7063721" cy="1159200"/>
          </a:xfrm>
        </p:spPr>
        <p:txBody>
          <a:bodyPr vert="horz" lIns="91440" tIns="45720" rIns="91440" bIns="45720" rtlCol="0" anchor="ctr">
            <a:normAutofit/>
          </a:bodyPr>
          <a:lstStyle/>
          <a:p>
            <a:r>
              <a:rPr lang="en-US" sz="4000" i="1" kern="1200">
                <a:solidFill>
                  <a:srgbClr val="FFFFFF"/>
                </a:solidFill>
                <a:latin typeface="+mj-lt"/>
                <a:ea typeface="+mj-ea"/>
                <a:cs typeface="+mj-cs"/>
              </a:rPr>
              <a:t>Thank you</a:t>
            </a:r>
          </a:p>
        </p:txBody>
      </p:sp>
      <p:pic>
        <p:nvPicPr>
          <p:cNvPr id="7" name="Graphic 6" descr="Smiling Face with No Fill"/>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3869919" y="1966293"/>
            <a:ext cx="4452160" cy="4452160"/>
          </a:xfrm>
          <a:prstGeom prst="rect">
            <a:avLst/>
          </a:prstGeom>
        </p:spPr>
      </p:pic>
      <p:sp>
        <p:nvSpPr>
          <p:cNvPr id="5" name="Slide Number Placeholder 4"/>
          <p:cNvSpPr>
            <a:spLocks noGrp="1"/>
          </p:cNvSpPr>
          <p:nvPr>
            <p:ph type="sldNum" sz="quarter" idx="12"/>
          </p:nvPr>
        </p:nvSpPr>
        <p:spPr/>
        <p:txBody>
          <a:bodyPr/>
          <a:lstStyle/>
          <a:p>
            <a:fld id="{A6FE5CD1-1D4A-4749-8CDD-9D133F900870}" type="slidenum">
              <a:rPr lang="ar-EG" smtClean="0"/>
              <a:t>37</a:t>
            </a:fld>
            <a:endParaRPr lang="ar-EG"/>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pto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pto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167</TotalTime>
  <Words>1762</Words>
  <Application>Microsoft Office PowerPoint</Application>
  <PresentationFormat>Widescreen</PresentationFormat>
  <Paragraphs>140</Paragraphs>
  <Slides>37</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37</vt:i4>
      </vt:variant>
    </vt:vector>
  </HeadingPairs>
  <TitlesOfParts>
    <vt:vector size="43" baseType="lpstr">
      <vt:lpstr>Aptos</vt:lpstr>
      <vt:lpstr>Aptos Display</vt:lpstr>
      <vt:lpstr>Arial</vt:lpstr>
      <vt:lpstr>Times New Roman</vt:lpstr>
      <vt:lpstr>Wingdings</vt:lpstr>
      <vt:lpstr>Office Theme</vt:lpstr>
      <vt:lpstr>PowerPoint Presentation</vt:lpstr>
      <vt:lpstr>Understanding BLEU and ROUGE score for NLP evaluation</vt:lpstr>
      <vt:lpstr>Introduction</vt:lpstr>
      <vt:lpstr>BLEU (Bilingual Evaluation Understudy) Score</vt:lpstr>
      <vt:lpstr>How does BLEU score work?</vt:lpstr>
      <vt:lpstr>PowerPoint Presentation</vt:lpstr>
      <vt:lpstr>Step-by-Step Example </vt:lpstr>
      <vt:lpstr>Step 1: Calculate Unigram (1-gram) Precision</vt:lpstr>
      <vt:lpstr>Step 2: Calculate N-gram Precisions</vt:lpstr>
      <vt:lpstr>PowerPoint Presentation</vt:lpstr>
      <vt:lpstr>PowerPoint Presentation</vt:lpstr>
      <vt:lpstr>PowerPoint Presentation</vt:lpstr>
      <vt:lpstr>Step 3: Calculate Brevity Penalty</vt:lpstr>
      <vt:lpstr>Step 4: Final Score</vt:lpstr>
      <vt:lpstr>What Happens With a Bad/Different Translation?</vt:lpstr>
      <vt:lpstr>BLEU score ranges</vt:lpstr>
      <vt:lpstr>Significance of BLEU score</vt:lpstr>
      <vt:lpstr>Code for calculating BLEU score:</vt:lpstr>
      <vt:lpstr>PowerPoint Presentation</vt:lpstr>
      <vt:lpstr>Results</vt:lpstr>
      <vt:lpstr>ROUGE (Recall-Oriented Understudy for Gisting Evaluation) Score</vt:lpstr>
      <vt:lpstr>How does ROUGE score work?</vt:lpstr>
      <vt:lpstr>PowerPoint Presentation</vt:lpstr>
      <vt:lpstr>PowerPoint Presentation</vt:lpstr>
      <vt:lpstr>PowerPoint Presentation</vt:lpstr>
      <vt:lpstr>ROUGE scores are branched into</vt:lpstr>
      <vt:lpstr>ROUGE-N</vt:lpstr>
      <vt:lpstr>ROUGE-L</vt:lpstr>
      <vt:lpstr>ROUGE-S</vt:lpstr>
      <vt:lpstr>PowerPoint Presentation</vt:lpstr>
      <vt:lpstr>Significance of ROUGE score</vt:lpstr>
      <vt:lpstr>Code for calculating ROUGE score</vt:lpstr>
      <vt:lpstr>Results</vt:lpstr>
      <vt:lpstr>Conclusion</vt:lpstr>
      <vt:lpstr>PowerPoint Presentation</vt:lpstr>
      <vt:lpstr>Key Differences</vt:lpstr>
      <vt:lpstr>Thank you</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Alaa Hamdy</dc:creator>
  <cp:lastModifiedBy>Admin</cp:lastModifiedBy>
  <cp:revision>51</cp:revision>
  <dcterms:created xsi:type="dcterms:W3CDTF">2026-07-19T22:03:00Z</dcterms:created>
  <dcterms:modified xsi:type="dcterms:W3CDTF">2026-07-20T11:40:02Z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DFB427A67FE344DA8F9C35B545B89FB0_12</vt:lpwstr>
  </property>
  <property fmtid="{D5CDD505-2E9C-101B-9397-08002B2CF9AE}" pid="3" name="KSOProductBuildVer">
    <vt:lpwstr>1033-12.1.0.26880</vt:lpwstr>
  </property>
</Properties>
</file>