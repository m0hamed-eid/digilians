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22"/>
  </p:notesMasterIdLst>
  <p:handoutMasterIdLst>
    <p:handoutMasterId r:id="rId23"/>
  </p:handoutMasterIdLst>
  <p:sldIdLst>
    <p:sldId id="257" r:id="rId2"/>
    <p:sldId id="259" r:id="rId3"/>
    <p:sldId id="274" r:id="rId4"/>
    <p:sldId id="275" r:id="rId5"/>
    <p:sldId id="276" r:id="rId6"/>
    <p:sldId id="277" r:id="rId7"/>
    <p:sldId id="278" r:id="rId8"/>
    <p:sldId id="279" r:id="rId9"/>
    <p:sldId id="280" r:id="rId10"/>
    <p:sldId id="285" r:id="rId11"/>
    <p:sldId id="284" r:id="rId12"/>
    <p:sldId id="283" r:id="rId13"/>
    <p:sldId id="281" r:id="rId14"/>
    <p:sldId id="286" r:id="rId15"/>
    <p:sldId id="287" r:id="rId16"/>
    <p:sldId id="288" r:id="rId17"/>
    <p:sldId id="289" r:id="rId18"/>
    <p:sldId id="290" r:id="rId19"/>
    <p:sldId id="291" r:id="rId20"/>
    <p:sldId id="272" r:id="rId2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howGuides="1">
      <p:cViewPr varScale="1">
        <p:scale>
          <a:sx n="57" d="100"/>
          <a:sy n="57" d="100"/>
        </p:scale>
        <p:origin x="68" y="128"/>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4/7/2026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4/7/2026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a:t>
            </a:fld>
            <a:endParaRPr lang="en-US"/>
          </a:p>
        </p:txBody>
      </p:sp>
    </p:spTree>
    <p:extLst>
      <p:ext uri="{BB962C8B-B14F-4D97-AF65-F5344CB8AC3E}">
        <p14:creationId xmlns:p14="http://schemas.microsoft.com/office/powerpoint/2010/main" val="3673945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a:t>
            </a:fld>
            <a:endParaRPr lang="en-US"/>
          </a:p>
        </p:txBody>
      </p:sp>
    </p:spTree>
    <p:extLst>
      <p:ext uri="{BB962C8B-B14F-4D97-AF65-F5344CB8AC3E}">
        <p14:creationId xmlns:p14="http://schemas.microsoft.com/office/powerpoint/2010/main" val="3188553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a:t>
            </a:fld>
            <a:endParaRPr lang="en-US"/>
          </a:p>
        </p:txBody>
      </p:sp>
    </p:spTree>
    <p:extLst>
      <p:ext uri="{BB962C8B-B14F-4D97-AF65-F5344CB8AC3E}">
        <p14:creationId xmlns:p14="http://schemas.microsoft.com/office/powerpoint/2010/main" val="2720809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a:t>
            </a:fld>
            <a:endParaRPr lang="en-US"/>
          </a:p>
        </p:txBody>
      </p:sp>
    </p:spTree>
    <p:extLst>
      <p:ext uri="{BB962C8B-B14F-4D97-AF65-F5344CB8AC3E}">
        <p14:creationId xmlns:p14="http://schemas.microsoft.com/office/powerpoint/2010/main" val="1984666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7</a:t>
            </a:fld>
            <a:endParaRPr lang="en-US"/>
          </a:p>
        </p:txBody>
      </p:sp>
    </p:spTree>
    <p:extLst>
      <p:ext uri="{BB962C8B-B14F-4D97-AF65-F5344CB8AC3E}">
        <p14:creationId xmlns:p14="http://schemas.microsoft.com/office/powerpoint/2010/main" val="2116287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8</a:t>
            </a:fld>
            <a:endParaRPr lang="en-US"/>
          </a:p>
        </p:txBody>
      </p:sp>
    </p:spTree>
    <p:extLst>
      <p:ext uri="{BB962C8B-B14F-4D97-AF65-F5344CB8AC3E}">
        <p14:creationId xmlns:p14="http://schemas.microsoft.com/office/powerpoint/2010/main" val="2596159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9</a:t>
            </a:fld>
            <a:endParaRPr lang="en-US"/>
          </a:p>
        </p:txBody>
      </p:sp>
    </p:spTree>
    <p:extLst>
      <p:ext uri="{BB962C8B-B14F-4D97-AF65-F5344CB8AC3E}">
        <p14:creationId xmlns:p14="http://schemas.microsoft.com/office/powerpoint/2010/main" val="15491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10</a:t>
            </a:fld>
            <a:endParaRPr lang="en-US"/>
          </a:p>
        </p:txBody>
      </p:sp>
    </p:spTree>
    <p:extLst>
      <p:ext uri="{BB962C8B-B14F-4D97-AF65-F5344CB8AC3E}">
        <p14:creationId xmlns:p14="http://schemas.microsoft.com/office/powerpoint/2010/main" val="2311787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11</a:t>
            </a:fld>
            <a:endParaRPr lang="en-US"/>
          </a:p>
        </p:txBody>
      </p:sp>
    </p:spTree>
    <p:extLst>
      <p:ext uri="{BB962C8B-B14F-4D97-AF65-F5344CB8AC3E}">
        <p14:creationId xmlns:p14="http://schemas.microsoft.com/office/powerpoint/2010/main" val="32990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12</a:t>
            </a:fld>
            <a:endParaRPr lang="en-US"/>
          </a:p>
        </p:txBody>
      </p:sp>
    </p:spTree>
    <p:extLst>
      <p:ext uri="{BB962C8B-B14F-4D97-AF65-F5344CB8AC3E}">
        <p14:creationId xmlns:p14="http://schemas.microsoft.com/office/powerpoint/2010/main" val="1028603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13</a:t>
            </a:fld>
            <a:endParaRPr lang="en-US"/>
          </a:p>
        </p:txBody>
      </p:sp>
    </p:spTree>
    <p:extLst>
      <p:ext uri="{BB962C8B-B14F-4D97-AF65-F5344CB8AC3E}">
        <p14:creationId xmlns:p14="http://schemas.microsoft.com/office/powerpoint/2010/main" val="2319154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14</a:t>
            </a:fld>
            <a:endParaRPr lang="en-US"/>
          </a:p>
        </p:txBody>
      </p:sp>
    </p:spTree>
    <p:extLst>
      <p:ext uri="{BB962C8B-B14F-4D97-AF65-F5344CB8AC3E}">
        <p14:creationId xmlns:p14="http://schemas.microsoft.com/office/powerpoint/2010/main" val="774569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15</a:t>
            </a:fld>
            <a:endParaRPr lang="en-US"/>
          </a:p>
        </p:txBody>
      </p:sp>
    </p:spTree>
    <p:extLst>
      <p:ext uri="{BB962C8B-B14F-4D97-AF65-F5344CB8AC3E}">
        <p14:creationId xmlns:p14="http://schemas.microsoft.com/office/powerpoint/2010/main" val="3250758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16</a:t>
            </a:fld>
            <a:endParaRPr lang="en-US"/>
          </a:p>
        </p:txBody>
      </p:sp>
    </p:spTree>
    <p:extLst>
      <p:ext uri="{BB962C8B-B14F-4D97-AF65-F5344CB8AC3E}">
        <p14:creationId xmlns:p14="http://schemas.microsoft.com/office/powerpoint/2010/main" val="2309768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17</a:t>
            </a:fld>
            <a:endParaRPr lang="en-US"/>
          </a:p>
        </p:txBody>
      </p:sp>
    </p:spTree>
    <p:extLst>
      <p:ext uri="{BB962C8B-B14F-4D97-AF65-F5344CB8AC3E}">
        <p14:creationId xmlns:p14="http://schemas.microsoft.com/office/powerpoint/2010/main" val="2997076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18</a:t>
            </a:fld>
            <a:endParaRPr lang="en-US"/>
          </a:p>
        </p:txBody>
      </p:sp>
    </p:spTree>
    <p:extLst>
      <p:ext uri="{BB962C8B-B14F-4D97-AF65-F5344CB8AC3E}">
        <p14:creationId xmlns:p14="http://schemas.microsoft.com/office/powerpoint/2010/main" val="1607032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19</a:t>
            </a:fld>
            <a:endParaRPr lang="en-US"/>
          </a:p>
        </p:txBody>
      </p:sp>
    </p:spTree>
    <p:extLst>
      <p:ext uri="{BB962C8B-B14F-4D97-AF65-F5344CB8AC3E}">
        <p14:creationId xmlns:p14="http://schemas.microsoft.com/office/powerpoint/2010/main" val="198199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20</a:t>
            </a:fld>
            <a:endParaRPr lang="en-US"/>
          </a:p>
        </p:txBody>
      </p:sp>
    </p:spTree>
    <p:extLst>
      <p:ext uri="{BB962C8B-B14F-4D97-AF65-F5344CB8AC3E}">
        <p14:creationId xmlns:p14="http://schemas.microsoft.com/office/powerpoint/2010/main" val="32579124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4/7/2026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4/7/2026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4/7/2026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4/7/2026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4/7/2026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4/7/2026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4/7/2026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4/7/2026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4/7/2026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4/7/2026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4/7/2026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4/7/2026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79346" y="2438400"/>
            <a:ext cx="7008574" cy="1368426"/>
          </a:xfrm>
        </p:spPr>
        <p:txBody>
          <a:bodyPr>
            <a:normAutofit/>
          </a:bodyPr>
          <a:lstStyle/>
          <a:p>
            <a:pPr algn="ctr"/>
            <a:r>
              <a:rPr lang="en-US" sz="3600" b="1" dirty="0"/>
              <a:t>Natural Language Processing</a:t>
            </a:r>
          </a:p>
        </p:txBody>
      </p:sp>
      <p:sp>
        <p:nvSpPr>
          <p:cNvPr id="4" name="Subtitle 3">
            <a:extLst>
              <a:ext uri="{FF2B5EF4-FFF2-40B4-BE49-F238E27FC236}">
                <a16:creationId xmlns:a16="http://schemas.microsoft.com/office/drawing/2014/main" id="{79F160C5-1489-470B-A870-B84509B987B9}"/>
              </a:ext>
            </a:extLst>
          </p:cNvPr>
          <p:cNvSpPr>
            <a:spLocks noGrp="1"/>
          </p:cNvSpPr>
          <p:nvPr>
            <p:ph type="subTitle" idx="1"/>
          </p:nvPr>
        </p:nvSpPr>
        <p:spPr/>
        <p:txBody>
          <a:bodyPr/>
          <a:lstStyle/>
          <a:p>
            <a:r>
              <a:rPr lang="en-US" b="1" dirty="0"/>
              <a:t>Text Representations</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Outline</a:t>
            </a:r>
          </a:p>
        </p:txBody>
      </p:sp>
      <p:sp>
        <p:nvSpPr>
          <p:cNvPr id="3" name="Content Placeholder 2"/>
          <p:cNvSpPr>
            <a:spLocks noGrp="1"/>
          </p:cNvSpPr>
          <p:nvPr>
            <p:ph idx="1"/>
          </p:nvPr>
        </p:nvSpPr>
        <p:spPr/>
        <p:txBody>
          <a:bodyPr>
            <a:normAutofit/>
          </a:bodyPr>
          <a:lstStyle/>
          <a:p>
            <a:r>
              <a:rPr lang="en-US" sz="2000" b="1" dirty="0"/>
              <a:t>Introduction</a:t>
            </a:r>
          </a:p>
          <a:p>
            <a:r>
              <a:rPr lang="en-US" sz="2000" b="1" dirty="0"/>
              <a:t>One-Hot Encoding</a:t>
            </a:r>
          </a:p>
          <a:p>
            <a:r>
              <a:rPr lang="en-US" sz="2000" b="1" dirty="0"/>
              <a:t>Bag of Words</a:t>
            </a:r>
          </a:p>
          <a:p>
            <a:r>
              <a:rPr lang="en-US" sz="2000" b="1" dirty="0"/>
              <a:t>Count Vectorizer</a:t>
            </a:r>
            <a:endParaRPr lang="ar-EG" sz="2000" b="1" dirty="0"/>
          </a:p>
          <a:p>
            <a:r>
              <a:rPr lang="en-US" sz="2000" b="1" dirty="0"/>
              <a:t>TF – IDF</a:t>
            </a:r>
          </a:p>
          <a:p>
            <a:r>
              <a:rPr lang="en-US" sz="2000" b="1" dirty="0"/>
              <a:t>N-Gram</a:t>
            </a:r>
          </a:p>
          <a:p>
            <a:r>
              <a:rPr lang="en-US" sz="2000" b="1" dirty="0"/>
              <a:t>Occurrence Matrix &amp; Co-Occurrence Matrix</a:t>
            </a:r>
          </a:p>
          <a:p>
            <a:endParaRPr lang="en-US" b="1" dirty="0"/>
          </a:p>
          <a:p>
            <a:endParaRPr lang="en-US" dirty="0"/>
          </a:p>
        </p:txBody>
      </p:sp>
    </p:spTree>
    <p:extLst>
      <p:ext uri="{BB962C8B-B14F-4D97-AF65-F5344CB8AC3E}">
        <p14:creationId xmlns:p14="http://schemas.microsoft.com/office/powerpoint/2010/main" val="342289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Introduction</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dirty="0"/>
              <a:t>Computers are brilliant when dealing with </a:t>
            </a:r>
            <a:r>
              <a:rPr lang="en-US" sz="2000" b="1" dirty="0"/>
              <a:t>numbers</a:t>
            </a:r>
            <a:r>
              <a:rPr lang="en-US" sz="2000" dirty="0"/>
              <a:t>. </a:t>
            </a:r>
          </a:p>
          <a:p>
            <a:pPr algn="just"/>
            <a:r>
              <a:rPr lang="en-US" sz="2000" dirty="0"/>
              <a:t>They are faster than humans in calculations &amp; decoding patterns.</a:t>
            </a:r>
          </a:p>
          <a:p>
            <a:pPr algn="just"/>
            <a:r>
              <a:rPr lang="en-US" sz="2000" dirty="0"/>
              <a:t>But what if the data is not numerical? </a:t>
            </a:r>
          </a:p>
          <a:p>
            <a:pPr algn="just"/>
            <a:r>
              <a:rPr lang="en-US" sz="2000" dirty="0"/>
              <a:t>What if it's language? </a:t>
            </a:r>
          </a:p>
          <a:p>
            <a:pPr algn="just"/>
            <a:r>
              <a:rPr lang="en-US" sz="2000" dirty="0"/>
              <a:t>What happens when the data is in characters, words &amp; sentences? </a:t>
            </a:r>
          </a:p>
          <a:p>
            <a:pPr algn="just"/>
            <a:r>
              <a:rPr lang="en-US" sz="2000" b="1" dirty="0">
                <a:solidFill>
                  <a:srgbClr val="FF0000"/>
                </a:solidFill>
              </a:rPr>
              <a:t>How</a:t>
            </a:r>
            <a:r>
              <a:rPr lang="en-US" sz="2000" dirty="0"/>
              <a:t> do we make computers process our language?</a:t>
            </a:r>
          </a:p>
          <a:p>
            <a:pPr algn="just"/>
            <a:r>
              <a:rPr lang="en-US" sz="2000" b="1" dirty="0">
                <a:solidFill>
                  <a:srgbClr val="FF0000"/>
                </a:solidFill>
              </a:rPr>
              <a:t>How</a:t>
            </a:r>
            <a:r>
              <a:rPr lang="en-US" sz="2000" dirty="0"/>
              <a:t> we </a:t>
            </a:r>
            <a:r>
              <a:rPr lang="en-US" sz="2000" b="1" dirty="0"/>
              <a:t>represent words</a:t>
            </a:r>
            <a:r>
              <a:rPr lang="en-US" sz="2000" dirty="0"/>
              <a:t> as input for all the NLP tasks.</a:t>
            </a:r>
          </a:p>
          <a:p>
            <a:pPr algn="just"/>
            <a:r>
              <a:rPr lang="en-US" sz="2000" b="1" dirty="0">
                <a:solidFill>
                  <a:srgbClr val="FF0000"/>
                </a:solidFill>
              </a:rPr>
              <a:t>How</a:t>
            </a:r>
            <a:r>
              <a:rPr lang="en-US" sz="2000" dirty="0"/>
              <a:t> we </a:t>
            </a:r>
            <a:r>
              <a:rPr lang="en-US" sz="2000" b="1" dirty="0"/>
              <a:t>represent </a:t>
            </a:r>
            <a:r>
              <a:rPr lang="en-US" sz="2000" b="1" u="sng" dirty="0"/>
              <a:t>meaning</a:t>
            </a:r>
            <a:r>
              <a:rPr lang="en-US" sz="2000" b="1" dirty="0"/>
              <a:t> of words</a:t>
            </a:r>
            <a:r>
              <a:rPr lang="en-US" sz="2000" dirty="0"/>
              <a:t> as input for all the NLP tasks.</a:t>
            </a:r>
          </a:p>
          <a:p>
            <a:pPr algn="just"/>
            <a:endParaRPr lang="en-US" sz="2000" dirty="0"/>
          </a:p>
          <a:p>
            <a:pPr algn="just"/>
            <a:endParaRPr lang="en-US" sz="2000" dirty="0"/>
          </a:p>
          <a:p>
            <a:endParaRPr lang="en-US" sz="1800" dirty="0"/>
          </a:p>
          <a:p>
            <a:endParaRPr lang="en-US" sz="1800" dirty="0"/>
          </a:p>
        </p:txBody>
      </p:sp>
    </p:spTree>
    <p:extLst>
      <p:ext uri="{BB962C8B-B14F-4D97-AF65-F5344CB8AC3E}">
        <p14:creationId xmlns:p14="http://schemas.microsoft.com/office/powerpoint/2010/main" val="27074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Introduction</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b="1" dirty="0"/>
              <a:t>Text Representation </a:t>
            </a:r>
            <a:r>
              <a:rPr lang="en-US" sz="2000" dirty="0"/>
              <a:t>the essential step that is important for most NLP tasks.</a:t>
            </a:r>
          </a:p>
          <a:p>
            <a:pPr algn="just"/>
            <a:r>
              <a:rPr lang="en-US" sz="2000" b="1" dirty="0"/>
              <a:t>Text Representation </a:t>
            </a:r>
            <a:r>
              <a:rPr lang="en-US" sz="2000" dirty="0"/>
              <a:t>is the conversion of text into </a:t>
            </a:r>
            <a:r>
              <a:rPr lang="en-US" sz="2000" b="1" dirty="0"/>
              <a:t>numbers (vectors)</a:t>
            </a:r>
            <a:r>
              <a:rPr lang="en-US" sz="2000" dirty="0"/>
              <a:t> for machines to understand and decode patterns within a language.</a:t>
            </a:r>
          </a:p>
          <a:p>
            <a:pPr algn="just"/>
            <a:r>
              <a:rPr lang="en-US" sz="2000" b="1" dirty="0"/>
              <a:t>Text representation </a:t>
            </a:r>
            <a:r>
              <a:rPr lang="en-US" sz="2000" dirty="0"/>
              <a:t>plays an important role in defining </a:t>
            </a:r>
            <a:r>
              <a:rPr lang="en-US" sz="2000" b="1" dirty="0"/>
              <a:t>features</a:t>
            </a:r>
            <a:r>
              <a:rPr lang="en-US" sz="2000" dirty="0"/>
              <a:t> for machine and deep learning models.</a:t>
            </a:r>
          </a:p>
          <a:p>
            <a:pPr algn="just"/>
            <a:r>
              <a:rPr lang="en-US" sz="1800" dirty="0"/>
              <a:t>There are many basic and advanced feature engineering </a:t>
            </a:r>
            <a:r>
              <a:rPr lang="en-US" sz="1800" b="1" dirty="0"/>
              <a:t>(text to features) </a:t>
            </a:r>
            <a:r>
              <a:rPr lang="en-US" sz="1800" dirty="0"/>
              <a:t>methods.</a:t>
            </a:r>
          </a:p>
          <a:p>
            <a:pPr algn="just"/>
            <a:r>
              <a:rPr lang="en-US" sz="1800" dirty="0"/>
              <a:t>These methods vary from </a:t>
            </a:r>
            <a:r>
              <a:rPr lang="en-US" sz="1800" b="1" dirty="0"/>
              <a:t>One-Hot</a:t>
            </a:r>
            <a:r>
              <a:rPr lang="en-US" sz="1800" dirty="0"/>
              <a:t> vector to </a:t>
            </a:r>
            <a:r>
              <a:rPr lang="en-US" sz="1800" b="1" dirty="0"/>
              <a:t>embedding</a:t>
            </a:r>
            <a:r>
              <a:rPr lang="en-US" sz="1800" dirty="0"/>
              <a:t> techniques. </a:t>
            </a:r>
          </a:p>
          <a:p>
            <a:pPr algn="just"/>
            <a:endParaRPr lang="en-US" sz="1800" dirty="0"/>
          </a:p>
          <a:p>
            <a:pPr algn="just"/>
            <a:endParaRPr lang="en-US" sz="1800" dirty="0"/>
          </a:p>
          <a:p>
            <a:pPr algn="just"/>
            <a:endParaRPr lang="en-US" sz="1800" dirty="0"/>
          </a:p>
        </p:txBody>
      </p:sp>
      <p:pic>
        <p:nvPicPr>
          <p:cNvPr id="1026" name="Picture 2">
            <a:extLst>
              <a:ext uri="{FF2B5EF4-FFF2-40B4-BE49-F238E27FC236}">
                <a16:creationId xmlns:a16="http://schemas.microsoft.com/office/drawing/2014/main" id="{3847201F-EE4C-B818-4425-AC38F205F6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7498" y="4191000"/>
            <a:ext cx="6276975" cy="248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055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One-Hot Encoding</a:t>
            </a:r>
          </a:p>
        </p:txBody>
      </p:sp>
      <p:sp>
        <p:nvSpPr>
          <p:cNvPr id="3" name="Content Placeholder 2"/>
          <p:cNvSpPr>
            <a:spLocks noGrp="1"/>
          </p:cNvSpPr>
          <p:nvPr>
            <p:ph idx="1"/>
          </p:nvPr>
        </p:nvSpPr>
        <p:spPr>
          <a:xfrm>
            <a:off x="455612" y="1041400"/>
            <a:ext cx="11125199" cy="2616200"/>
          </a:xfrm>
        </p:spPr>
        <p:txBody>
          <a:bodyPr>
            <a:normAutofit/>
          </a:bodyPr>
          <a:lstStyle/>
          <a:p>
            <a:pPr algn="just"/>
            <a:r>
              <a:rPr lang="en-US" sz="2000" b="1" dirty="0"/>
              <a:t>One-hot</a:t>
            </a:r>
            <a:r>
              <a:rPr lang="en-US" sz="2000" dirty="0"/>
              <a:t> encoding is a vector representation of words in a “</a:t>
            </a:r>
            <a:r>
              <a:rPr lang="en-US" sz="2000" b="1" dirty="0"/>
              <a:t>Vocabulary</a:t>
            </a:r>
            <a:r>
              <a:rPr lang="en-US" sz="2000" dirty="0"/>
              <a:t>”.</a:t>
            </a:r>
          </a:p>
          <a:p>
            <a:pPr algn="just"/>
            <a:r>
              <a:rPr lang="en-US" sz="2000" dirty="0"/>
              <a:t>Each word in the vocabulary is represented by a vector of size </a:t>
            </a:r>
            <a:r>
              <a:rPr lang="en-US" sz="2000" b="1" dirty="0"/>
              <a:t>N</a:t>
            </a:r>
            <a:r>
              <a:rPr lang="en-US" sz="2000" dirty="0"/>
              <a:t> where </a:t>
            </a:r>
            <a:r>
              <a:rPr lang="en-US" sz="2000" b="1" dirty="0"/>
              <a:t>N</a:t>
            </a:r>
            <a:r>
              <a:rPr lang="en-US" sz="2000" dirty="0"/>
              <a:t> is the total number of words in the vocabulary. </a:t>
            </a:r>
          </a:p>
          <a:p>
            <a:pPr algn="just"/>
            <a:r>
              <a:rPr lang="en-US" sz="2000" dirty="0"/>
              <a:t>For instance, if a vocabulary contains 8 words, then the vector will have a size of 8. </a:t>
            </a:r>
          </a:p>
          <a:p>
            <a:pPr algn="just"/>
            <a:r>
              <a:rPr lang="en-US" sz="2000" dirty="0"/>
              <a:t>The encoding of a given word is simply the vector in which the corresponding element is set to </a:t>
            </a:r>
            <a:r>
              <a:rPr lang="en-US" sz="2000" b="1" dirty="0"/>
              <a:t>one</a:t>
            </a:r>
            <a:r>
              <a:rPr lang="en-US" sz="2000" dirty="0"/>
              <a:t>, and all other elements are </a:t>
            </a:r>
            <a:r>
              <a:rPr lang="en-US" sz="2000" b="1" dirty="0"/>
              <a:t>zero</a:t>
            </a:r>
            <a:r>
              <a:rPr lang="en-US" sz="2000" dirty="0"/>
              <a:t>.</a:t>
            </a:r>
          </a:p>
          <a:p>
            <a:pPr algn="just"/>
            <a:endParaRPr lang="en-US" sz="1800" dirty="0"/>
          </a:p>
        </p:txBody>
      </p:sp>
      <p:pic>
        <p:nvPicPr>
          <p:cNvPr id="2050" name="Picture 2">
            <a:extLst>
              <a:ext uri="{FF2B5EF4-FFF2-40B4-BE49-F238E27FC236}">
                <a16:creationId xmlns:a16="http://schemas.microsoft.com/office/drawing/2014/main" id="{93E8218D-C77C-DADB-2BC6-61DFF6596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376" y="3810000"/>
            <a:ext cx="6941635" cy="28194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76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One-Hot Encoding (Limitations)</a:t>
            </a:r>
          </a:p>
        </p:txBody>
      </p:sp>
      <p:sp>
        <p:nvSpPr>
          <p:cNvPr id="3" name="Content Placeholder 2"/>
          <p:cNvSpPr>
            <a:spLocks noGrp="1"/>
          </p:cNvSpPr>
          <p:nvPr>
            <p:ph idx="1"/>
          </p:nvPr>
        </p:nvSpPr>
        <p:spPr>
          <a:xfrm>
            <a:off x="455612" y="1041400"/>
            <a:ext cx="11125199" cy="3683000"/>
          </a:xfrm>
        </p:spPr>
        <p:txBody>
          <a:bodyPr>
            <a:normAutofit/>
          </a:bodyPr>
          <a:lstStyle/>
          <a:p>
            <a:pPr algn="just"/>
            <a:r>
              <a:rPr lang="en-US" sz="2000" b="1" dirty="0"/>
              <a:t>The curse of dimensionality, </a:t>
            </a:r>
            <a:r>
              <a:rPr lang="en-US" sz="2000" dirty="0"/>
              <a:t>which refers to all sorts of problems that arise with data in high dimensions. </a:t>
            </a:r>
          </a:p>
          <a:p>
            <a:pPr algn="just"/>
            <a:r>
              <a:rPr lang="en-US" sz="2000" dirty="0"/>
              <a:t>Most of the matrix is taken up by zeros, so useful data becomes </a:t>
            </a:r>
            <a:r>
              <a:rPr lang="en-US" sz="2000" b="1" dirty="0"/>
              <a:t>sparse</a:t>
            </a:r>
            <a:r>
              <a:rPr lang="en-US" sz="2000" dirty="0"/>
              <a:t>.</a:t>
            </a:r>
          </a:p>
          <a:p>
            <a:pPr algn="just"/>
            <a:r>
              <a:rPr lang="en-US" sz="2000" dirty="0"/>
              <a:t>Imagine we have a vocabulary of 50,000. </a:t>
            </a:r>
          </a:p>
          <a:p>
            <a:pPr algn="just"/>
            <a:r>
              <a:rPr lang="en-US" sz="2000" dirty="0"/>
              <a:t>Each word is represented with 49,999 zeros and a single one.</a:t>
            </a:r>
          </a:p>
          <a:p>
            <a:pPr algn="just"/>
            <a:r>
              <a:rPr lang="en-US" sz="2000" dirty="0"/>
              <a:t>We need 50,000 squared = 2.5 billion units of memory space.</a:t>
            </a:r>
            <a:endParaRPr lang="en-US" sz="1800" dirty="0"/>
          </a:p>
        </p:txBody>
      </p:sp>
    </p:spTree>
    <p:extLst>
      <p:ext uri="{BB962C8B-B14F-4D97-AF65-F5344CB8AC3E}">
        <p14:creationId xmlns:p14="http://schemas.microsoft.com/office/powerpoint/2010/main" val="221756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One-Hot Encoding (Limitations)</a:t>
            </a:r>
          </a:p>
        </p:txBody>
      </p:sp>
      <p:sp>
        <p:nvSpPr>
          <p:cNvPr id="3" name="Content Placeholder 2"/>
          <p:cNvSpPr>
            <a:spLocks noGrp="1"/>
          </p:cNvSpPr>
          <p:nvPr>
            <p:ph idx="1"/>
          </p:nvPr>
        </p:nvSpPr>
        <p:spPr>
          <a:xfrm>
            <a:off x="455612" y="1041400"/>
            <a:ext cx="11125199" cy="5588000"/>
          </a:xfrm>
        </p:spPr>
        <p:txBody>
          <a:bodyPr>
            <a:normAutofit/>
          </a:bodyPr>
          <a:lstStyle/>
          <a:p>
            <a:pPr algn="just"/>
            <a:r>
              <a:rPr lang="en-US" sz="2000" dirty="0"/>
              <a:t>It is </a:t>
            </a:r>
            <a:r>
              <a:rPr lang="en-US" sz="2000" b="1" dirty="0"/>
              <a:t>hard to extract meanings</a:t>
            </a:r>
            <a:r>
              <a:rPr lang="en-US" sz="2000" dirty="0"/>
              <a:t>. </a:t>
            </a:r>
          </a:p>
          <a:p>
            <a:pPr algn="just"/>
            <a:r>
              <a:rPr lang="en-US" sz="2000" dirty="0"/>
              <a:t>Each word is embedded in </a:t>
            </a:r>
            <a:r>
              <a:rPr lang="en-US" sz="2000" b="1" dirty="0"/>
              <a:t>isolation </a:t>
            </a:r>
            <a:r>
              <a:rPr lang="en-US" sz="2000" dirty="0"/>
              <a:t>from other words.</a:t>
            </a:r>
          </a:p>
          <a:p>
            <a:pPr algn="just"/>
            <a:r>
              <a:rPr lang="en-US" sz="2000" dirty="0"/>
              <a:t>The resulting set of vectors do not say much about one another. </a:t>
            </a:r>
          </a:p>
          <a:p>
            <a:pPr algn="just"/>
            <a:r>
              <a:rPr lang="en-US" sz="2000" dirty="0"/>
              <a:t>If our vocabulary had “orange,” “banana,” and “watermelon,” we can see the similarity between those words, such as the fact that they are types of fruit, or that they usually follow some form of the verb “eat.” </a:t>
            </a:r>
          </a:p>
          <a:p>
            <a:pPr algn="just"/>
            <a:r>
              <a:rPr lang="en-US" sz="2000" dirty="0"/>
              <a:t>We can easily form a mental map or cluster where these words exist close to each other.</a:t>
            </a:r>
          </a:p>
          <a:p>
            <a:pPr algn="just"/>
            <a:r>
              <a:rPr lang="en-US" sz="2000" b="1" dirty="0"/>
              <a:t>But with one-hot vectors, all words are equal distance apart: </a:t>
            </a:r>
            <a:endParaRPr lang="en-US" sz="2000" dirty="0"/>
          </a:p>
          <a:p>
            <a:pPr lvl="1" algn="just">
              <a:buFont typeface="Wingdings" panose="05000000000000000000" pitchFamily="2" charset="2"/>
              <a:buChar char="q"/>
            </a:pPr>
            <a:r>
              <a:rPr lang="en-US" sz="1800" b="1" dirty="0"/>
              <a:t>There’s no meaningful comparison.</a:t>
            </a:r>
          </a:p>
          <a:p>
            <a:pPr lvl="1" algn="just">
              <a:buFont typeface="Wingdings" panose="05000000000000000000" pitchFamily="2" charset="2"/>
              <a:buChar char="q"/>
            </a:pPr>
            <a:r>
              <a:rPr lang="en-US" sz="1800" b="1" dirty="0"/>
              <a:t>Context information is not utilized.</a:t>
            </a:r>
          </a:p>
          <a:p>
            <a:pPr lvl="1" algn="just">
              <a:buFont typeface="Wingdings" panose="05000000000000000000" pitchFamily="2" charset="2"/>
              <a:buChar char="q"/>
            </a:pPr>
            <a:r>
              <a:rPr lang="en-US" sz="1800" b="1" dirty="0"/>
              <a:t>Does not consider the frequency of a word.</a:t>
            </a:r>
          </a:p>
          <a:p>
            <a:pPr algn="just"/>
            <a:endParaRPr lang="en-US" sz="2000" dirty="0"/>
          </a:p>
        </p:txBody>
      </p:sp>
    </p:spTree>
    <p:extLst>
      <p:ext uri="{BB962C8B-B14F-4D97-AF65-F5344CB8AC3E}">
        <p14:creationId xmlns:p14="http://schemas.microsoft.com/office/powerpoint/2010/main" val="1066944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One-Hot Encoding (Example)</a:t>
            </a:r>
          </a:p>
        </p:txBody>
      </p:sp>
      <p:pic>
        <p:nvPicPr>
          <p:cNvPr id="7" name="Picture 6">
            <a:extLst>
              <a:ext uri="{FF2B5EF4-FFF2-40B4-BE49-F238E27FC236}">
                <a16:creationId xmlns:a16="http://schemas.microsoft.com/office/drawing/2014/main" id="{58C211C1-8A91-B084-D988-B43F90BD2FBC}"/>
              </a:ext>
            </a:extLst>
          </p:cNvPr>
          <p:cNvPicPr>
            <a:picLocks noChangeAspect="1"/>
          </p:cNvPicPr>
          <p:nvPr/>
        </p:nvPicPr>
        <p:blipFill>
          <a:blip r:embed="rId3"/>
          <a:stretch>
            <a:fillRect/>
          </a:stretch>
        </p:blipFill>
        <p:spPr>
          <a:xfrm>
            <a:off x="1903413" y="990600"/>
            <a:ext cx="8458199" cy="5715769"/>
          </a:xfrm>
          <a:prstGeom prst="rect">
            <a:avLst/>
          </a:prstGeom>
        </p:spPr>
      </p:pic>
    </p:spTree>
    <p:extLst>
      <p:ext uri="{BB962C8B-B14F-4D97-AF65-F5344CB8AC3E}">
        <p14:creationId xmlns:p14="http://schemas.microsoft.com/office/powerpoint/2010/main" val="3329099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Bag of Words</a:t>
            </a:r>
          </a:p>
        </p:txBody>
      </p:sp>
      <p:sp>
        <p:nvSpPr>
          <p:cNvPr id="3" name="Content Placeholder 2"/>
          <p:cNvSpPr>
            <a:spLocks noGrp="1"/>
          </p:cNvSpPr>
          <p:nvPr>
            <p:ph idx="1"/>
          </p:nvPr>
        </p:nvSpPr>
        <p:spPr>
          <a:xfrm>
            <a:off x="455612" y="1041400"/>
            <a:ext cx="11125199" cy="4216400"/>
          </a:xfrm>
        </p:spPr>
        <p:txBody>
          <a:bodyPr>
            <a:normAutofit fontScale="40000" lnSpcReduction="20000"/>
          </a:bodyPr>
          <a:lstStyle/>
          <a:p>
            <a:pPr algn="just">
              <a:lnSpc>
                <a:spcPct val="115000"/>
              </a:lnSpc>
            </a:pPr>
            <a:r>
              <a:rPr lang="en-US" sz="5000" dirty="0"/>
              <a:t>A </a:t>
            </a:r>
            <a:r>
              <a:rPr lang="en-US" sz="5000" b="1" dirty="0"/>
              <a:t>bag-of-words</a:t>
            </a:r>
            <a:r>
              <a:rPr lang="en-US" sz="5000" dirty="0"/>
              <a:t> model, or </a:t>
            </a:r>
            <a:r>
              <a:rPr lang="en-US" sz="5000" b="1" dirty="0" err="1"/>
              <a:t>BoW</a:t>
            </a:r>
            <a:r>
              <a:rPr lang="en-US" sz="5000" dirty="0"/>
              <a:t> for short, is a way of extracting features from text for use in modeling, such as with machine learning algorithms.</a:t>
            </a:r>
          </a:p>
          <a:p>
            <a:pPr algn="just">
              <a:lnSpc>
                <a:spcPct val="115000"/>
              </a:lnSpc>
            </a:pPr>
            <a:r>
              <a:rPr lang="en-US" sz="5000" dirty="0"/>
              <a:t>A bag-of-words is a representation of text that describes the occurrence of words within a document. It involves two things:</a:t>
            </a:r>
          </a:p>
          <a:p>
            <a:pPr lvl="1" algn="just">
              <a:lnSpc>
                <a:spcPct val="115000"/>
              </a:lnSpc>
              <a:buFont typeface="Wingdings" panose="05000000000000000000" pitchFamily="2" charset="2"/>
              <a:buChar char="q"/>
            </a:pPr>
            <a:r>
              <a:rPr lang="en-US" sz="4600" dirty="0"/>
              <a:t>A </a:t>
            </a:r>
            <a:r>
              <a:rPr lang="en-US" sz="4600" b="1" dirty="0"/>
              <a:t>vocabulary</a:t>
            </a:r>
            <a:r>
              <a:rPr lang="en-US" sz="4600" dirty="0"/>
              <a:t> of known words.</a:t>
            </a:r>
          </a:p>
          <a:p>
            <a:pPr lvl="1" algn="just">
              <a:lnSpc>
                <a:spcPct val="115000"/>
              </a:lnSpc>
              <a:buFont typeface="Wingdings" panose="05000000000000000000" pitchFamily="2" charset="2"/>
              <a:buChar char="q"/>
            </a:pPr>
            <a:r>
              <a:rPr lang="en-US" sz="4600" dirty="0"/>
              <a:t>A </a:t>
            </a:r>
            <a:r>
              <a:rPr lang="en-US" sz="4600" b="1" dirty="0"/>
              <a:t>measure</a:t>
            </a:r>
            <a:r>
              <a:rPr lang="en-US" sz="4600" dirty="0"/>
              <a:t> of the presence of known words.</a:t>
            </a:r>
          </a:p>
          <a:p>
            <a:pPr algn="just">
              <a:lnSpc>
                <a:spcPct val="115000"/>
              </a:lnSpc>
            </a:pPr>
            <a:r>
              <a:rPr lang="en-US" sz="5000" dirty="0"/>
              <a:t>It is called a “bag” of words, because any information about the order or structure of words in the document is discarded. </a:t>
            </a:r>
          </a:p>
          <a:p>
            <a:pPr algn="just">
              <a:lnSpc>
                <a:spcPct val="115000"/>
              </a:lnSpc>
            </a:pPr>
            <a:r>
              <a:rPr lang="en-US" sz="5000" dirty="0"/>
              <a:t>The model is only concerned with whether known words appear in the document, </a:t>
            </a:r>
            <a:br>
              <a:rPr lang="en-US" sz="5000" dirty="0"/>
            </a:br>
            <a:r>
              <a:rPr lang="en-US" sz="5000" b="1" dirty="0"/>
              <a:t>not</a:t>
            </a:r>
            <a:r>
              <a:rPr lang="en-US" sz="5000" dirty="0"/>
              <a:t> </a:t>
            </a:r>
            <a:r>
              <a:rPr lang="en-US" sz="5000" b="1" dirty="0"/>
              <a:t>where</a:t>
            </a:r>
            <a:r>
              <a:rPr lang="en-US" sz="5000" dirty="0"/>
              <a:t> in the document.</a:t>
            </a:r>
          </a:p>
          <a:p>
            <a:endParaRPr lang="en-US" sz="1800" dirty="0"/>
          </a:p>
          <a:p>
            <a:endParaRPr lang="en-US" sz="1800" dirty="0"/>
          </a:p>
        </p:txBody>
      </p:sp>
      <p:pic>
        <p:nvPicPr>
          <p:cNvPr id="6" name="Picture 5">
            <a:extLst>
              <a:ext uri="{FF2B5EF4-FFF2-40B4-BE49-F238E27FC236}">
                <a16:creationId xmlns:a16="http://schemas.microsoft.com/office/drawing/2014/main" id="{0BAB2090-78F4-847B-2C2F-1EC835489860}"/>
              </a:ext>
            </a:extLst>
          </p:cNvPr>
          <p:cNvPicPr>
            <a:picLocks noChangeAspect="1"/>
          </p:cNvPicPr>
          <p:nvPr/>
        </p:nvPicPr>
        <p:blipFill>
          <a:blip r:embed="rId3"/>
          <a:stretch>
            <a:fillRect/>
          </a:stretch>
        </p:blipFill>
        <p:spPr>
          <a:xfrm>
            <a:off x="1719236" y="5027886"/>
            <a:ext cx="8953500" cy="1714500"/>
          </a:xfrm>
          <a:prstGeom prst="rect">
            <a:avLst/>
          </a:prstGeom>
        </p:spPr>
      </p:pic>
    </p:spTree>
    <p:extLst>
      <p:ext uri="{BB962C8B-B14F-4D97-AF65-F5344CB8AC3E}">
        <p14:creationId xmlns:p14="http://schemas.microsoft.com/office/powerpoint/2010/main" val="283124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Bag of Words (Limitations)</a:t>
            </a:r>
          </a:p>
        </p:txBody>
      </p:sp>
      <p:sp>
        <p:nvSpPr>
          <p:cNvPr id="3" name="Content Placeholder 2"/>
          <p:cNvSpPr>
            <a:spLocks noGrp="1"/>
          </p:cNvSpPr>
          <p:nvPr>
            <p:ph idx="1"/>
          </p:nvPr>
        </p:nvSpPr>
        <p:spPr>
          <a:xfrm>
            <a:off x="455612" y="1041400"/>
            <a:ext cx="11125199" cy="5435600"/>
          </a:xfrm>
        </p:spPr>
        <p:txBody>
          <a:bodyPr>
            <a:normAutofit fontScale="40000" lnSpcReduction="20000"/>
          </a:bodyPr>
          <a:lstStyle/>
          <a:p>
            <a:pPr algn="just">
              <a:lnSpc>
                <a:spcPct val="115000"/>
              </a:lnSpc>
            </a:pPr>
            <a:r>
              <a:rPr lang="en-US" sz="5000" b="1" dirty="0"/>
              <a:t>Vocabulary</a:t>
            </a:r>
            <a:r>
              <a:rPr lang="en-US" sz="5000" dirty="0"/>
              <a:t>: </a:t>
            </a:r>
          </a:p>
          <a:p>
            <a:pPr lvl="1" algn="just">
              <a:lnSpc>
                <a:spcPct val="115000"/>
              </a:lnSpc>
              <a:buFont typeface="Wingdings" panose="05000000000000000000" pitchFamily="2" charset="2"/>
              <a:buChar char="q"/>
            </a:pPr>
            <a:r>
              <a:rPr lang="en-US" sz="4600" dirty="0"/>
              <a:t>The vocabulary requires </a:t>
            </a:r>
            <a:r>
              <a:rPr lang="en-US" sz="4600" b="1" dirty="0"/>
              <a:t>careful design </a:t>
            </a:r>
            <a:r>
              <a:rPr lang="en-US" sz="4600" dirty="0"/>
              <a:t>and applying some </a:t>
            </a:r>
            <a:r>
              <a:rPr lang="en-US" sz="4600" b="1" dirty="0"/>
              <a:t>preprocessing</a:t>
            </a:r>
            <a:r>
              <a:rPr lang="en-US" sz="4600" dirty="0"/>
              <a:t> tasks such as stop word removing, stemming and lemmatization. </a:t>
            </a:r>
          </a:p>
          <a:p>
            <a:pPr algn="just">
              <a:lnSpc>
                <a:spcPct val="115000"/>
              </a:lnSpc>
            </a:pPr>
            <a:r>
              <a:rPr lang="en-US" sz="5000" b="1" dirty="0"/>
              <a:t>Sparsity</a:t>
            </a:r>
            <a:r>
              <a:rPr lang="en-US" sz="5000" dirty="0"/>
              <a:t>: </a:t>
            </a:r>
          </a:p>
          <a:p>
            <a:pPr lvl="1" algn="just">
              <a:lnSpc>
                <a:spcPct val="115000"/>
              </a:lnSpc>
              <a:buFont typeface="Wingdings" panose="05000000000000000000" pitchFamily="2" charset="2"/>
              <a:buChar char="q"/>
            </a:pPr>
            <a:r>
              <a:rPr lang="en-US" sz="4600" dirty="0"/>
              <a:t>Sparse representations are harder to model both for </a:t>
            </a:r>
            <a:r>
              <a:rPr lang="en-US" sz="4600" b="1" dirty="0"/>
              <a:t>computational reasons </a:t>
            </a:r>
            <a:r>
              <a:rPr lang="en-US" sz="4600" dirty="0"/>
              <a:t>(space and time complexity) and for </a:t>
            </a:r>
            <a:r>
              <a:rPr lang="en-US" sz="4600" b="1" dirty="0"/>
              <a:t>information reasons</a:t>
            </a:r>
            <a:r>
              <a:rPr lang="en-US" sz="4600" dirty="0"/>
              <a:t>. </a:t>
            </a:r>
          </a:p>
          <a:p>
            <a:pPr lvl="1" algn="just">
              <a:lnSpc>
                <a:spcPct val="115000"/>
              </a:lnSpc>
              <a:buFont typeface="Wingdings" panose="05000000000000000000" pitchFamily="2" charset="2"/>
              <a:buChar char="q"/>
            </a:pPr>
            <a:r>
              <a:rPr lang="en-US" sz="4600" dirty="0"/>
              <a:t>The challenge is for the models to harness so little information in such a large representational space.</a:t>
            </a:r>
          </a:p>
          <a:p>
            <a:pPr algn="just">
              <a:lnSpc>
                <a:spcPct val="115000"/>
              </a:lnSpc>
            </a:pPr>
            <a:r>
              <a:rPr lang="en-US" sz="5000" b="1" dirty="0"/>
              <a:t>Meaning</a:t>
            </a:r>
            <a:r>
              <a:rPr lang="en-US" sz="5000" dirty="0"/>
              <a:t>: </a:t>
            </a:r>
          </a:p>
          <a:p>
            <a:pPr lvl="1" algn="just">
              <a:lnSpc>
                <a:spcPct val="115000"/>
              </a:lnSpc>
              <a:buFont typeface="Wingdings" panose="05000000000000000000" pitchFamily="2" charset="2"/>
              <a:buChar char="q"/>
            </a:pPr>
            <a:r>
              <a:rPr lang="en-US" sz="4600" dirty="0"/>
              <a:t>Discarding </a:t>
            </a:r>
            <a:r>
              <a:rPr lang="en-US" sz="4600" b="1" dirty="0"/>
              <a:t>word order</a:t>
            </a:r>
            <a:r>
              <a:rPr lang="en-US" sz="4600" dirty="0"/>
              <a:t> ignores the context, and in turn meaning of words in the document (semantics). </a:t>
            </a:r>
          </a:p>
          <a:p>
            <a:pPr lvl="1" algn="just">
              <a:lnSpc>
                <a:spcPct val="115000"/>
              </a:lnSpc>
              <a:buFont typeface="Wingdings" panose="05000000000000000000" pitchFamily="2" charset="2"/>
              <a:buChar char="q"/>
            </a:pPr>
            <a:r>
              <a:rPr lang="en-US" sz="4600" b="1" dirty="0"/>
              <a:t>Context and meaning </a:t>
            </a:r>
            <a:r>
              <a:rPr lang="en-US" sz="4600" dirty="0"/>
              <a:t>can offer a lot to the model, that if modeled could tell the difference between the same words differently arranged (“this is interesting” vs “is this interesting”), synonyms (“old bike” vs “used bike”). </a:t>
            </a:r>
            <a:endParaRPr lang="en-US" sz="1400" dirty="0"/>
          </a:p>
          <a:p>
            <a:endParaRPr lang="en-US" sz="1800" dirty="0"/>
          </a:p>
        </p:txBody>
      </p:sp>
    </p:spTree>
    <p:extLst>
      <p:ext uri="{BB962C8B-B14F-4D97-AF65-F5344CB8AC3E}">
        <p14:creationId xmlns:p14="http://schemas.microsoft.com/office/powerpoint/2010/main" val="748078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Count Vectorizer</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dirty="0"/>
              <a:t>On an elementary level, the bag of words is implemented using </a:t>
            </a:r>
            <a:r>
              <a:rPr lang="en-US" sz="2000" b="1" dirty="0"/>
              <a:t>Count Vectorizer</a:t>
            </a:r>
            <a:r>
              <a:rPr lang="en-US" sz="2000" dirty="0"/>
              <a:t>.</a:t>
            </a:r>
          </a:p>
          <a:p>
            <a:pPr algn="just"/>
            <a:r>
              <a:rPr lang="en-US" sz="2000" b="1" dirty="0"/>
              <a:t>Count vectorizer</a:t>
            </a:r>
            <a:r>
              <a:rPr lang="en-US" sz="2000" dirty="0"/>
              <a:t> is based on term frequencies and can squeeze an entire sentence or document into a single vector. </a:t>
            </a:r>
          </a:p>
          <a:p>
            <a:pPr algn="just"/>
            <a:r>
              <a:rPr lang="en-US" sz="2000" dirty="0"/>
              <a:t>Each position of a count vector is assigned to a particular token and its value represents the </a:t>
            </a:r>
            <a:r>
              <a:rPr lang="en-US" sz="2000" b="1" dirty="0"/>
              <a:t>number of appearances </a:t>
            </a:r>
            <a:r>
              <a:rPr lang="en-US" sz="2000" dirty="0"/>
              <a:t>that token has in the sentence or document.</a:t>
            </a:r>
          </a:p>
          <a:p>
            <a:pPr algn="just"/>
            <a:r>
              <a:rPr lang="en-US" sz="2000" dirty="0"/>
              <a:t>Tokens are first generated from the </a:t>
            </a:r>
            <a:r>
              <a:rPr lang="en-US" sz="2000" b="1" dirty="0"/>
              <a:t>corpus</a:t>
            </a:r>
            <a:r>
              <a:rPr lang="en-US" sz="2000" dirty="0"/>
              <a:t> and </a:t>
            </a:r>
            <a:r>
              <a:rPr lang="en-US" sz="2000" b="1" dirty="0"/>
              <a:t>vocabulary</a:t>
            </a:r>
            <a:r>
              <a:rPr lang="en-US" sz="2000" dirty="0"/>
              <a:t> is built to map the tokens to their corresponding IDs. </a:t>
            </a:r>
          </a:p>
          <a:p>
            <a:pPr algn="just"/>
            <a:r>
              <a:rPr lang="en-US" sz="2000" dirty="0"/>
              <a:t>Instead of building one vector for each token, a count vector simply counts how many times each token appeared in a sentence or document and places that number in their corresponding position in the vector.</a:t>
            </a:r>
          </a:p>
          <a:p>
            <a:pPr algn="just"/>
            <a:r>
              <a:rPr lang="en-US" sz="2000" b="1" dirty="0"/>
              <a:t>Hashing vectorizer </a:t>
            </a:r>
            <a:r>
              <a:rPr lang="en-US" sz="2000" dirty="0"/>
              <a:t> is memory efficient, and instead of storing tokens as strings, the vectorizer applies the </a:t>
            </a:r>
            <a:r>
              <a:rPr lang="en-US" sz="2000" b="1" dirty="0"/>
              <a:t>hashing trick (Hash Function) </a:t>
            </a:r>
            <a:r>
              <a:rPr lang="en-US" sz="2000" dirty="0"/>
              <a:t>to encode them as numerical </a:t>
            </a:r>
            <a:r>
              <a:rPr lang="en-US" sz="2000" b="1" dirty="0"/>
              <a:t>indexes</a:t>
            </a:r>
            <a:r>
              <a:rPr lang="en-US" sz="2000" dirty="0"/>
              <a:t>. </a:t>
            </a:r>
          </a:p>
          <a:p>
            <a:pPr algn="just"/>
            <a:endParaRPr lang="en-US" sz="2000" b="1" dirty="0"/>
          </a:p>
          <a:p>
            <a:pPr algn="just"/>
            <a:endParaRPr lang="en-US" sz="2000" dirty="0"/>
          </a:p>
          <a:p>
            <a:endParaRPr lang="en-US" sz="1800" dirty="0"/>
          </a:p>
          <a:p>
            <a:endParaRPr lang="en-US" sz="1800" dirty="0"/>
          </a:p>
        </p:txBody>
      </p:sp>
    </p:spTree>
    <p:extLst>
      <p:ext uri="{BB962C8B-B14F-4D97-AF65-F5344CB8AC3E}">
        <p14:creationId xmlns:p14="http://schemas.microsoft.com/office/powerpoint/2010/main" val="1493898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TF-IDF</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b="1" dirty="0"/>
              <a:t>Term Frequency (TF)</a:t>
            </a:r>
            <a:r>
              <a:rPr lang="en-US" sz="2000" dirty="0"/>
              <a:t> is how often a word appears in a document, divided by how many words there are.</a:t>
            </a:r>
          </a:p>
          <a:p>
            <a:pPr lvl="1" algn="just">
              <a:buFont typeface="Wingdings" panose="05000000000000000000" pitchFamily="2" charset="2"/>
              <a:buChar char="q"/>
            </a:pPr>
            <a:r>
              <a:rPr lang="en-US" sz="1600" b="1" dirty="0"/>
              <a:t>TF(t) = (Number of times term t appears in a document) / (Total number of terms in the document)</a:t>
            </a:r>
          </a:p>
          <a:p>
            <a:pPr marL="426645" lvl="1" indent="0" algn="just">
              <a:buNone/>
            </a:pPr>
            <a:endParaRPr lang="en-US" sz="1600" b="1" dirty="0"/>
          </a:p>
          <a:p>
            <a:pPr algn="just"/>
            <a:r>
              <a:rPr lang="en-US" sz="2000" b="1" dirty="0"/>
              <a:t> Inverse Document Frequency (IDF)</a:t>
            </a:r>
            <a:r>
              <a:rPr lang="en-US" sz="2000" dirty="0"/>
              <a:t> is how unique or rare a word is.</a:t>
            </a:r>
          </a:p>
          <a:p>
            <a:pPr lvl="1" algn="just">
              <a:buFont typeface="Wingdings" panose="05000000000000000000" pitchFamily="2" charset="2"/>
              <a:buChar char="q"/>
            </a:pPr>
            <a:r>
              <a:rPr lang="en-US" sz="1600" b="1" dirty="0"/>
              <a:t>IDF(t) = log(Total number of documents / Number of documents with term t in it)</a:t>
            </a:r>
          </a:p>
          <a:p>
            <a:pPr marL="426645" lvl="1" indent="0" algn="just">
              <a:buNone/>
            </a:pPr>
            <a:r>
              <a:rPr lang="en-US" sz="1600" b="1" dirty="0">
                <a:solidFill>
                  <a:srgbClr val="FF0000"/>
                </a:solidFill>
              </a:rPr>
              <a:t>Hint: Some packages use another updated formula. </a:t>
            </a:r>
          </a:p>
          <a:p>
            <a:pPr marL="426645" lvl="1" indent="0" algn="just">
              <a:buNone/>
            </a:pPr>
            <a:endParaRPr lang="en-US" sz="1600" b="1" dirty="0"/>
          </a:p>
          <a:p>
            <a:pPr algn="just"/>
            <a:r>
              <a:rPr lang="en-US" sz="2000" dirty="0"/>
              <a:t>A High weight in </a:t>
            </a:r>
            <a:r>
              <a:rPr lang="en-US" sz="2000" b="1" dirty="0"/>
              <a:t>TF-IDF</a:t>
            </a:r>
            <a:r>
              <a:rPr lang="en-US" sz="2000" dirty="0"/>
              <a:t> is reached by a </a:t>
            </a:r>
            <a:r>
              <a:rPr lang="en-US" sz="2000" b="1" dirty="0"/>
              <a:t>high term frequency</a:t>
            </a:r>
            <a:r>
              <a:rPr lang="en-US" sz="2000" dirty="0"/>
              <a:t>(in the given document) and a </a:t>
            </a:r>
            <a:r>
              <a:rPr lang="en-US" sz="2000" b="1" dirty="0"/>
              <a:t>low document frequency</a:t>
            </a:r>
            <a:r>
              <a:rPr lang="en-US" sz="2000" dirty="0"/>
              <a:t> of the term in the whole collection of documents.</a:t>
            </a:r>
          </a:p>
          <a:p>
            <a:pPr algn="just"/>
            <a:endParaRPr lang="en-US" sz="2000" dirty="0"/>
          </a:p>
          <a:p>
            <a:pPr algn="just"/>
            <a:r>
              <a:rPr lang="en-US" sz="2000" b="1" dirty="0"/>
              <a:t>TF-IDF</a:t>
            </a:r>
            <a:r>
              <a:rPr lang="en-US" sz="2000" dirty="0"/>
              <a:t> algorithm is made of 2 algorithms multiplied together.</a:t>
            </a:r>
          </a:p>
          <a:p>
            <a:pPr algn="just"/>
            <a:endParaRPr lang="en-US" sz="2000" dirty="0"/>
          </a:p>
          <a:p>
            <a:endParaRPr lang="en-US" sz="1800" dirty="0"/>
          </a:p>
          <a:p>
            <a:endParaRPr lang="en-US" sz="1800" dirty="0"/>
          </a:p>
        </p:txBody>
      </p:sp>
      <p:pic>
        <p:nvPicPr>
          <p:cNvPr id="5" name="Picture 4">
            <a:extLst>
              <a:ext uri="{FF2B5EF4-FFF2-40B4-BE49-F238E27FC236}">
                <a16:creationId xmlns:a16="http://schemas.microsoft.com/office/drawing/2014/main" id="{A203F4A2-74F6-126D-B205-9239868A271D}"/>
              </a:ext>
            </a:extLst>
          </p:cNvPr>
          <p:cNvPicPr>
            <a:picLocks noChangeAspect="1"/>
          </p:cNvPicPr>
          <p:nvPr/>
        </p:nvPicPr>
        <p:blipFill>
          <a:blip r:embed="rId3"/>
          <a:stretch>
            <a:fillRect/>
          </a:stretch>
        </p:blipFill>
        <p:spPr>
          <a:xfrm>
            <a:off x="6323012" y="3429000"/>
            <a:ext cx="4648198" cy="762452"/>
          </a:xfrm>
          <a:prstGeom prst="rect">
            <a:avLst/>
          </a:prstGeom>
        </p:spPr>
      </p:pic>
    </p:spTree>
    <p:extLst>
      <p:ext uri="{BB962C8B-B14F-4D97-AF65-F5344CB8AC3E}">
        <p14:creationId xmlns:p14="http://schemas.microsoft.com/office/powerpoint/2010/main" val="320582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TF-IDF (Example)</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dirty="0"/>
              <a:t>Consider a document containing </a:t>
            </a:r>
            <a:r>
              <a:rPr lang="en-US" sz="2000" b="1" dirty="0"/>
              <a:t>100 words</a:t>
            </a:r>
            <a:r>
              <a:rPr lang="en-US" sz="2000" dirty="0"/>
              <a:t> wherein the word </a:t>
            </a:r>
            <a:r>
              <a:rPr lang="en-US" sz="2000" b="1" dirty="0"/>
              <a:t>apple appears 5 times</a:t>
            </a:r>
            <a:r>
              <a:rPr lang="en-US" sz="2000" dirty="0"/>
              <a:t>. The term frequency (i.e., TF) for apple is then </a:t>
            </a:r>
            <a:r>
              <a:rPr lang="en-US" sz="2000" b="1" dirty="0"/>
              <a:t>(5 / 100) = 0.05</a:t>
            </a:r>
            <a:r>
              <a:rPr lang="en-US" sz="2000" dirty="0"/>
              <a:t>.</a:t>
            </a:r>
          </a:p>
          <a:p>
            <a:pPr algn="just"/>
            <a:endParaRPr lang="en-US" sz="2000" dirty="0"/>
          </a:p>
          <a:p>
            <a:pPr algn="just"/>
            <a:r>
              <a:rPr lang="en-US" sz="2000" dirty="0"/>
              <a:t>Assume we have </a:t>
            </a:r>
            <a:r>
              <a:rPr lang="en-US" sz="2000" b="1" dirty="0"/>
              <a:t>10 million documents</a:t>
            </a:r>
            <a:r>
              <a:rPr lang="en-US" sz="2000" dirty="0"/>
              <a:t>, and the word apple appears in </a:t>
            </a:r>
            <a:r>
              <a:rPr lang="en-US" sz="2000" b="1" dirty="0"/>
              <a:t>one thousand of these</a:t>
            </a:r>
            <a:r>
              <a:rPr lang="en-US" sz="2000" dirty="0"/>
              <a:t>. Then, the inverse document frequency (i.e., IDF) is calculated as l</a:t>
            </a:r>
            <a:r>
              <a:rPr lang="en-US" sz="2000" b="1" dirty="0"/>
              <a:t>og(10,000,000 / 1,000) = 4</a:t>
            </a:r>
            <a:r>
              <a:rPr lang="en-US" sz="2000" dirty="0"/>
              <a:t>.</a:t>
            </a:r>
          </a:p>
          <a:p>
            <a:pPr algn="just"/>
            <a:endParaRPr lang="en-US" sz="2000" dirty="0"/>
          </a:p>
          <a:p>
            <a:pPr algn="just"/>
            <a:r>
              <a:rPr lang="en-US" sz="2000" dirty="0"/>
              <a:t>Thus, the TF-IDF weight is the product of these quantities:</a:t>
            </a:r>
            <a:r>
              <a:rPr lang="en-US" sz="2000" b="1" dirty="0"/>
              <a:t> 0.05 * 4 = 0.20.</a:t>
            </a:r>
          </a:p>
          <a:p>
            <a:pPr algn="just"/>
            <a:endParaRPr lang="en-US" sz="2000" b="1" dirty="0"/>
          </a:p>
          <a:p>
            <a:pPr algn="just"/>
            <a:endParaRPr lang="en-US" sz="2000" b="1" dirty="0"/>
          </a:p>
          <a:p>
            <a:pPr algn="just"/>
            <a:endParaRPr lang="en-US" sz="2000" dirty="0"/>
          </a:p>
          <a:p>
            <a:endParaRPr lang="en-US" sz="1800" dirty="0"/>
          </a:p>
          <a:p>
            <a:endParaRPr lang="en-US" sz="1800" dirty="0"/>
          </a:p>
        </p:txBody>
      </p:sp>
    </p:spTree>
    <p:extLst>
      <p:ext uri="{BB962C8B-B14F-4D97-AF65-F5344CB8AC3E}">
        <p14:creationId xmlns:p14="http://schemas.microsoft.com/office/powerpoint/2010/main" val="36635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Count Vectorizer &amp; TF-IDF (Example)</a:t>
            </a:r>
          </a:p>
        </p:txBody>
      </p:sp>
      <p:pic>
        <p:nvPicPr>
          <p:cNvPr id="7" name="Picture 6">
            <a:extLst>
              <a:ext uri="{FF2B5EF4-FFF2-40B4-BE49-F238E27FC236}">
                <a16:creationId xmlns:a16="http://schemas.microsoft.com/office/drawing/2014/main" id="{2B89D6BB-8CD7-B244-0064-7CD86E4E5D8E}"/>
              </a:ext>
            </a:extLst>
          </p:cNvPr>
          <p:cNvPicPr>
            <a:picLocks noChangeAspect="1"/>
          </p:cNvPicPr>
          <p:nvPr/>
        </p:nvPicPr>
        <p:blipFill>
          <a:blip r:embed="rId3"/>
          <a:stretch>
            <a:fillRect/>
          </a:stretch>
        </p:blipFill>
        <p:spPr>
          <a:xfrm>
            <a:off x="303212" y="990600"/>
            <a:ext cx="9300993" cy="4285159"/>
          </a:xfrm>
          <a:prstGeom prst="rect">
            <a:avLst/>
          </a:prstGeom>
        </p:spPr>
      </p:pic>
      <p:pic>
        <p:nvPicPr>
          <p:cNvPr id="9" name="Picture 8">
            <a:extLst>
              <a:ext uri="{FF2B5EF4-FFF2-40B4-BE49-F238E27FC236}">
                <a16:creationId xmlns:a16="http://schemas.microsoft.com/office/drawing/2014/main" id="{0D039EA1-0B70-FFEC-F848-3F9D7388E4F9}"/>
              </a:ext>
            </a:extLst>
          </p:cNvPr>
          <p:cNvPicPr>
            <a:picLocks noChangeAspect="1"/>
          </p:cNvPicPr>
          <p:nvPr/>
        </p:nvPicPr>
        <p:blipFill>
          <a:blip r:embed="rId4"/>
          <a:stretch>
            <a:fillRect/>
          </a:stretch>
        </p:blipFill>
        <p:spPr>
          <a:xfrm>
            <a:off x="6627812" y="4549098"/>
            <a:ext cx="4248150" cy="22517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8874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N-Gram</a:t>
            </a:r>
          </a:p>
        </p:txBody>
      </p:sp>
      <p:sp>
        <p:nvSpPr>
          <p:cNvPr id="3" name="Content Placeholder 2"/>
          <p:cNvSpPr>
            <a:spLocks noGrp="1"/>
          </p:cNvSpPr>
          <p:nvPr>
            <p:ph idx="1"/>
          </p:nvPr>
        </p:nvSpPr>
        <p:spPr>
          <a:xfrm>
            <a:off x="455612" y="1041400"/>
            <a:ext cx="11125199" cy="5207000"/>
          </a:xfrm>
        </p:spPr>
        <p:txBody>
          <a:bodyPr>
            <a:normAutofit/>
          </a:bodyPr>
          <a:lstStyle/>
          <a:p>
            <a:pPr algn="just"/>
            <a:r>
              <a:rPr lang="en-US" sz="2000" b="1" dirty="0"/>
              <a:t>N-Gram </a:t>
            </a:r>
            <a:r>
              <a:rPr lang="en-US" sz="2000" dirty="0"/>
              <a:t>representation is similar  to the Count Vectorizer bag words model. </a:t>
            </a:r>
          </a:p>
          <a:p>
            <a:pPr algn="just"/>
            <a:r>
              <a:rPr lang="en-US" sz="2000" dirty="0"/>
              <a:t>The only difference is that instead of calculating the frequency of one word we calculate the frequency of </a:t>
            </a:r>
            <a:r>
              <a:rPr lang="en-US" sz="2000" b="1" dirty="0"/>
              <a:t>groups of words</a:t>
            </a:r>
            <a:r>
              <a:rPr lang="en-US" sz="2000" dirty="0"/>
              <a:t> (in groups of two or more) occurring together in the corpus. </a:t>
            </a:r>
          </a:p>
          <a:p>
            <a:pPr algn="just"/>
            <a:r>
              <a:rPr lang="en-US" sz="2000" dirty="0"/>
              <a:t>In this way, we get a better understanding of the </a:t>
            </a:r>
            <a:r>
              <a:rPr lang="en-US" sz="2000" b="1" dirty="0"/>
              <a:t>text sequence</a:t>
            </a:r>
            <a:r>
              <a:rPr lang="en-US" sz="2000" dirty="0"/>
              <a:t>. </a:t>
            </a:r>
          </a:p>
          <a:p>
            <a:pPr algn="just"/>
            <a:r>
              <a:rPr lang="en-US" sz="2000" dirty="0"/>
              <a:t>Based on the number of words grouped together, the model has termed </a:t>
            </a:r>
            <a:br>
              <a:rPr lang="en-US" sz="2000" dirty="0"/>
            </a:br>
            <a:r>
              <a:rPr lang="en-US" sz="2000" dirty="0"/>
              <a:t>a </a:t>
            </a:r>
            <a:r>
              <a:rPr lang="en-US" sz="2000" b="1" dirty="0"/>
              <a:t>bigram </a:t>
            </a:r>
            <a:r>
              <a:rPr lang="en-US" sz="2000" dirty="0"/>
              <a:t>(2 words), </a:t>
            </a:r>
            <a:r>
              <a:rPr lang="en-US" sz="2000" b="1" dirty="0"/>
              <a:t>trigram</a:t>
            </a:r>
            <a:r>
              <a:rPr lang="en-US" sz="2000" dirty="0"/>
              <a:t>(3 words), and so on.</a:t>
            </a:r>
            <a:endParaRPr lang="en-US" sz="2000" b="1" dirty="0"/>
          </a:p>
          <a:p>
            <a:pPr algn="just"/>
            <a:endParaRPr lang="en-US" sz="2000" b="1" dirty="0"/>
          </a:p>
          <a:p>
            <a:pPr algn="just"/>
            <a:endParaRPr lang="en-US" sz="2000" dirty="0"/>
          </a:p>
          <a:p>
            <a:endParaRPr lang="en-US" sz="1800" dirty="0"/>
          </a:p>
          <a:p>
            <a:endParaRPr lang="en-US" sz="1800" dirty="0"/>
          </a:p>
        </p:txBody>
      </p:sp>
      <p:pic>
        <p:nvPicPr>
          <p:cNvPr id="5" name="Picture 4">
            <a:extLst>
              <a:ext uri="{FF2B5EF4-FFF2-40B4-BE49-F238E27FC236}">
                <a16:creationId xmlns:a16="http://schemas.microsoft.com/office/drawing/2014/main" id="{AABC862E-4A9D-3E6D-9FF9-F110E57413FB}"/>
              </a:ext>
            </a:extLst>
          </p:cNvPr>
          <p:cNvPicPr>
            <a:picLocks noChangeAspect="1"/>
          </p:cNvPicPr>
          <p:nvPr/>
        </p:nvPicPr>
        <p:blipFill>
          <a:blip r:embed="rId3"/>
          <a:stretch>
            <a:fillRect/>
          </a:stretch>
        </p:blipFill>
        <p:spPr>
          <a:xfrm>
            <a:off x="3503612" y="4092203"/>
            <a:ext cx="6143625" cy="26133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0230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N-Gram</a:t>
            </a:r>
          </a:p>
        </p:txBody>
      </p:sp>
      <p:pic>
        <p:nvPicPr>
          <p:cNvPr id="7" name="Picture 6">
            <a:extLst>
              <a:ext uri="{FF2B5EF4-FFF2-40B4-BE49-F238E27FC236}">
                <a16:creationId xmlns:a16="http://schemas.microsoft.com/office/drawing/2014/main" id="{30F0707C-4548-03CB-B161-3205A3C0F37E}"/>
              </a:ext>
            </a:extLst>
          </p:cNvPr>
          <p:cNvPicPr>
            <a:picLocks noChangeAspect="1"/>
          </p:cNvPicPr>
          <p:nvPr/>
        </p:nvPicPr>
        <p:blipFill>
          <a:blip r:embed="rId3"/>
          <a:stretch>
            <a:fillRect/>
          </a:stretch>
        </p:blipFill>
        <p:spPr>
          <a:xfrm>
            <a:off x="292931" y="1524000"/>
            <a:ext cx="11602962" cy="4038600"/>
          </a:xfrm>
          <a:prstGeom prst="rect">
            <a:avLst/>
          </a:prstGeom>
        </p:spPr>
      </p:pic>
    </p:spTree>
    <p:extLst>
      <p:ext uri="{BB962C8B-B14F-4D97-AF65-F5344CB8AC3E}">
        <p14:creationId xmlns:p14="http://schemas.microsoft.com/office/powerpoint/2010/main" val="92932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3" y="76200"/>
            <a:ext cx="10820399" cy="787400"/>
          </a:xfrm>
        </p:spPr>
        <p:txBody>
          <a:bodyPr>
            <a:noAutofit/>
          </a:bodyPr>
          <a:lstStyle/>
          <a:p>
            <a:r>
              <a:rPr lang="en-US" sz="3600" b="1" dirty="0"/>
              <a:t>Occurrence Matrix &amp; Co-Occurrence Matrix </a:t>
            </a:r>
          </a:p>
        </p:txBody>
      </p:sp>
      <p:sp>
        <p:nvSpPr>
          <p:cNvPr id="3" name="Content Placeholder 2"/>
          <p:cNvSpPr>
            <a:spLocks noGrp="1"/>
          </p:cNvSpPr>
          <p:nvPr>
            <p:ph idx="1"/>
          </p:nvPr>
        </p:nvSpPr>
        <p:spPr>
          <a:xfrm>
            <a:off x="455612" y="1041400"/>
            <a:ext cx="11125199" cy="2844800"/>
          </a:xfrm>
        </p:spPr>
        <p:txBody>
          <a:bodyPr>
            <a:normAutofit/>
          </a:bodyPr>
          <a:lstStyle/>
          <a:p>
            <a:pPr algn="just"/>
            <a:r>
              <a:rPr lang="en-US" sz="2000" b="1" dirty="0"/>
              <a:t>Distributional Representations: </a:t>
            </a:r>
            <a:r>
              <a:rPr lang="en-US" sz="2000" b="1" dirty="0">
                <a:solidFill>
                  <a:srgbClr val="C00000"/>
                </a:solidFill>
              </a:rPr>
              <a:t>“ A word can be identified by the company it keeps ”</a:t>
            </a:r>
            <a:endParaRPr lang="en-US" sz="2000" dirty="0"/>
          </a:p>
          <a:p>
            <a:pPr algn="just"/>
            <a:r>
              <a:rPr lang="en-US" sz="2000" b="1" dirty="0"/>
              <a:t>Occurrence</a:t>
            </a:r>
            <a:r>
              <a:rPr lang="en-US" sz="2000" dirty="0"/>
              <a:t> is the one which creates a matrix which has </a:t>
            </a:r>
            <a:r>
              <a:rPr lang="en-US" sz="2000" b="1" dirty="0"/>
              <a:t>context</a:t>
            </a:r>
            <a:r>
              <a:rPr lang="en-US" sz="2000" dirty="0"/>
              <a:t> on one axis (document, sentence, tweet, post) and </a:t>
            </a:r>
            <a:r>
              <a:rPr lang="en-US" sz="2000" b="1" dirty="0"/>
              <a:t>terms</a:t>
            </a:r>
            <a:r>
              <a:rPr lang="en-US" sz="2000" dirty="0"/>
              <a:t> (unique word with stop word removal i.e. Vocabulary ) on the other axis.</a:t>
            </a:r>
          </a:p>
          <a:p>
            <a:pPr algn="just"/>
            <a:r>
              <a:rPr lang="en-US" sz="2000" b="1" dirty="0"/>
              <a:t>Occurrence matrix</a:t>
            </a:r>
            <a:r>
              <a:rPr lang="en-US" sz="2000" dirty="0"/>
              <a:t> is also called </a:t>
            </a:r>
            <a:r>
              <a:rPr lang="en-US" sz="2000" b="1" dirty="0"/>
              <a:t>Term-Document (Document-Term) Matrix.</a:t>
            </a:r>
          </a:p>
          <a:p>
            <a:pPr algn="just"/>
            <a:r>
              <a:rPr lang="en-US" sz="2000" dirty="0"/>
              <a:t>Each cell contains </a:t>
            </a:r>
            <a:r>
              <a:rPr lang="en-US" sz="2000" b="1" dirty="0"/>
              <a:t>0/1</a:t>
            </a:r>
            <a:r>
              <a:rPr lang="en-US" sz="2000" dirty="0"/>
              <a:t> , the </a:t>
            </a:r>
            <a:r>
              <a:rPr lang="en-US" sz="2000" b="1" dirty="0"/>
              <a:t>Frequency</a:t>
            </a:r>
            <a:r>
              <a:rPr lang="en-US" sz="2000" dirty="0"/>
              <a:t> or the </a:t>
            </a:r>
            <a:r>
              <a:rPr lang="en-US" sz="2000" b="1" dirty="0"/>
              <a:t>TF-IDF</a:t>
            </a:r>
            <a:r>
              <a:rPr lang="en-US" sz="2000" dirty="0"/>
              <a:t> score. </a:t>
            </a:r>
            <a:endParaRPr lang="en-US" sz="1800" dirty="0"/>
          </a:p>
          <a:p>
            <a:endParaRPr lang="en-US" sz="1800" dirty="0"/>
          </a:p>
        </p:txBody>
      </p:sp>
      <p:pic>
        <p:nvPicPr>
          <p:cNvPr id="7" name="Picture 6">
            <a:extLst>
              <a:ext uri="{FF2B5EF4-FFF2-40B4-BE49-F238E27FC236}">
                <a16:creationId xmlns:a16="http://schemas.microsoft.com/office/drawing/2014/main" id="{D3402EC2-455C-A6BC-27B6-9C56EC655FF8}"/>
              </a:ext>
            </a:extLst>
          </p:cNvPr>
          <p:cNvPicPr>
            <a:picLocks noChangeAspect="1"/>
          </p:cNvPicPr>
          <p:nvPr/>
        </p:nvPicPr>
        <p:blipFill>
          <a:blip r:embed="rId3"/>
          <a:stretch>
            <a:fillRect/>
          </a:stretch>
        </p:blipFill>
        <p:spPr>
          <a:xfrm>
            <a:off x="2055812" y="3886200"/>
            <a:ext cx="7503675" cy="2438400"/>
          </a:xfrm>
          <a:prstGeom prst="rect">
            <a:avLst/>
          </a:prstGeom>
        </p:spPr>
      </p:pic>
    </p:spTree>
    <p:extLst>
      <p:ext uri="{BB962C8B-B14F-4D97-AF65-F5344CB8AC3E}">
        <p14:creationId xmlns:p14="http://schemas.microsoft.com/office/powerpoint/2010/main" val="289482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3" y="76200"/>
            <a:ext cx="10820399" cy="787400"/>
          </a:xfrm>
        </p:spPr>
        <p:txBody>
          <a:bodyPr>
            <a:noAutofit/>
          </a:bodyPr>
          <a:lstStyle/>
          <a:p>
            <a:r>
              <a:rPr lang="en-US" sz="3600" b="1" dirty="0"/>
              <a:t>Occurrence Matrix &amp; Co-Occurrence Matrix </a:t>
            </a:r>
          </a:p>
        </p:txBody>
      </p:sp>
      <p:sp>
        <p:nvSpPr>
          <p:cNvPr id="3" name="Content Placeholder 2"/>
          <p:cNvSpPr>
            <a:spLocks noGrp="1"/>
          </p:cNvSpPr>
          <p:nvPr>
            <p:ph idx="1"/>
          </p:nvPr>
        </p:nvSpPr>
        <p:spPr>
          <a:xfrm>
            <a:off x="455612" y="1041400"/>
            <a:ext cx="11125199" cy="4978400"/>
          </a:xfrm>
        </p:spPr>
        <p:txBody>
          <a:bodyPr>
            <a:normAutofit lnSpcReduction="10000"/>
          </a:bodyPr>
          <a:lstStyle/>
          <a:p>
            <a:pPr algn="just"/>
            <a:r>
              <a:rPr lang="en-US" sz="2000" dirty="0"/>
              <a:t>Unlike the Occurrence matrix which is a rectangular matrix, the </a:t>
            </a:r>
            <a:r>
              <a:rPr lang="en-US" sz="2000" b="1" dirty="0"/>
              <a:t>Co-Occurrence</a:t>
            </a:r>
            <a:r>
              <a:rPr lang="en-US" sz="2000" dirty="0"/>
              <a:t> matrix is a </a:t>
            </a:r>
            <a:r>
              <a:rPr lang="en-US" sz="2000" b="1" dirty="0"/>
              <a:t>square</a:t>
            </a:r>
            <a:r>
              <a:rPr lang="en-US" sz="2000" dirty="0"/>
              <a:t> matrix where it depicts the co-occurrence of two terms in a context.</a:t>
            </a:r>
          </a:p>
          <a:p>
            <a:pPr algn="just"/>
            <a:r>
              <a:rPr lang="en-US" sz="2000" dirty="0"/>
              <a:t>The co-occurrence matrix is also called the Term-Term matrix. </a:t>
            </a:r>
          </a:p>
          <a:p>
            <a:pPr algn="just"/>
            <a:r>
              <a:rPr lang="en-US" sz="2000" dirty="0"/>
              <a:t>It’s a square matrix as the it’s a matrix between each term and another term.</a:t>
            </a:r>
          </a:p>
          <a:p>
            <a:pPr algn="just"/>
            <a:r>
              <a:rPr lang="en-US" sz="1800" b="1" dirty="0"/>
              <a:t>Co-Occurrence</a:t>
            </a:r>
            <a:r>
              <a:rPr lang="en-US" sz="1800" dirty="0"/>
              <a:t> matrix can be constructed using </a:t>
            </a:r>
            <a:r>
              <a:rPr lang="en-US" sz="1800" b="1" dirty="0"/>
              <a:t>two approaches</a:t>
            </a:r>
            <a:r>
              <a:rPr lang="en-US" sz="1800" dirty="0"/>
              <a:t>: </a:t>
            </a:r>
          </a:p>
          <a:p>
            <a:pPr algn="just"/>
            <a:endParaRPr lang="en-US" sz="1800" dirty="0"/>
          </a:p>
          <a:p>
            <a:pPr lvl="1" algn="just">
              <a:buFont typeface="Wingdings" panose="05000000000000000000" pitchFamily="2" charset="2"/>
              <a:buChar char="q"/>
            </a:pPr>
            <a:r>
              <a:rPr lang="en-US" sz="1800" b="1" dirty="0"/>
              <a:t>Full Document : </a:t>
            </a:r>
            <a:r>
              <a:rPr lang="en-US" sz="1800" dirty="0"/>
              <a:t>Two terms occur in the same document. </a:t>
            </a:r>
          </a:p>
          <a:p>
            <a:pPr lvl="2" algn="just">
              <a:buFont typeface="Wingdings" panose="05000000000000000000" pitchFamily="2" charset="2"/>
              <a:buChar char="q"/>
            </a:pPr>
            <a:r>
              <a:rPr lang="en-US" sz="1900" dirty="0"/>
              <a:t>All sports terms will have similar entries. </a:t>
            </a:r>
          </a:p>
          <a:p>
            <a:pPr lvl="2" algn="just">
              <a:buFont typeface="Wingdings" panose="05000000000000000000" pitchFamily="2" charset="2"/>
              <a:buChar char="q"/>
            </a:pPr>
            <a:endParaRPr lang="en-US" sz="1900" dirty="0"/>
          </a:p>
          <a:p>
            <a:pPr lvl="1" algn="just">
              <a:buFont typeface="Wingdings" panose="05000000000000000000" pitchFamily="2" charset="2"/>
              <a:buChar char="q"/>
            </a:pPr>
            <a:r>
              <a:rPr lang="en-US" sz="1800" b="1" dirty="0"/>
              <a:t>Window: </a:t>
            </a:r>
            <a:r>
              <a:rPr lang="en-US" sz="1800" dirty="0"/>
              <a:t> Two terms occur in the same window (Context). </a:t>
            </a:r>
          </a:p>
          <a:p>
            <a:pPr lvl="2" algn="just">
              <a:buFont typeface="Wingdings" panose="05000000000000000000" pitchFamily="2" charset="2"/>
              <a:buChar char="q"/>
            </a:pPr>
            <a:r>
              <a:rPr lang="en-US" sz="1900" dirty="0"/>
              <a:t>Sliding a window with given size. </a:t>
            </a:r>
          </a:p>
          <a:p>
            <a:pPr lvl="2" algn="just">
              <a:buFont typeface="Wingdings" panose="05000000000000000000" pitchFamily="2" charset="2"/>
              <a:buChar char="q"/>
            </a:pPr>
            <a:r>
              <a:rPr lang="en-US" sz="1900" dirty="0"/>
              <a:t>Captures both syntactic and semantic information. </a:t>
            </a:r>
          </a:p>
          <a:p>
            <a:pPr lvl="1" algn="just"/>
            <a:endParaRPr lang="en-US" sz="1400" dirty="0"/>
          </a:p>
        </p:txBody>
      </p:sp>
    </p:spTree>
    <p:extLst>
      <p:ext uri="{BB962C8B-B14F-4D97-AF65-F5344CB8AC3E}">
        <p14:creationId xmlns:p14="http://schemas.microsoft.com/office/powerpoint/2010/main" val="561752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3" y="76200"/>
            <a:ext cx="10820399" cy="787400"/>
          </a:xfrm>
        </p:spPr>
        <p:txBody>
          <a:bodyPr>
            <a:noAutofit/>
          </a:bodyPr>
          <a:lstStyle/>
          <a:p>
            <a:r>
              <a:rPr lang="en-US" sz="3600" b="1" dirty="0"/>
              <a:t>Occurrence Matrix &amp; Co-Occurrence Matrix </a:t>
            </a:r>
          </a:p>
        </p:txBody>
      </p:sp>
      <p:sp>
        <p:nvSpPr>
          <p:cNvPr id="3" name="Content Placeholder 2"/>
          <p:cNvSpPr>
            <a:spLocks noGrp="1"/>
          </p:cNvSpPr>
          <p:nvPr>
            <p:ph idx="1"/>
          </p:nvPr>
        </p:nvSpPr>
        <p:spPr>
          <a:xfrm>
            <a:off x="455612" y="1041400"/>
            <a:ext cx="11125199" cy="5816600"/>
          </a:xfrm>
        </p:spPr>
        <p:txBody>
          <a:bodyPr>
            <a:normAutofit/>
          </a:bodyPr>
          <a:lstStyle/>
          <a:p>
            <a:pPr algn="just"/>
            <a:r>
              <a:rPr lang="en-US" sz="2000" dirty="0"/>
              <a:t>Example corpus:	(</a:t>
            </a:r>
            <a:r>
              <a:rPr lang="en-US" sz="2000" b="1" dirty="0"/>
              <a:t>I like deep learning.</a:t>
            </a:r>
            <a:r>
              <a:rPr lang="en-US" sz="2000" dirty="0"/>
              <a:t>, </a:t>
            </a:r>
            <a:r>
              <a:rPr lang="en-US" sz="2000" b="1" dirty="0"/>
              <a:t>I like NLP.</a:t>
            </a:r>
            <a:r>
              <a:rPr lang="en-US" sz="2000" dirty="0"/>
              <a:t>, </a:t>
            </a:r>
            <a:r>
              <a:rPr lang="en-US" sz="2000" b="1" dirty="0"/>
              <a:t>I enjoy flying.</a:t>
            </a:r>
            <a:r>
              <a:rPr lang="en-US" sz="2000" dirty="0"/>
              <a:t>)</a:t>
            </a:r>
          </a:p>
          <a:p>
            <a:pPr algn="just"/>
            <a:r>
              <a:rPr lang="en-US" sz="2000" dirty="0"/>
              <a:t>Similar words tend to occur together and will have similar contexts</a:t>
            </a:r>
          </a:p>
          <a:p>
            <a:pPr algn="just"/>
            <a:r>
              <a:rPr lang="en-US" sz="2000" b="1" dirty="0"/>
              <a:t>Window length 1 </a:t>
            </a:r>
            <a:r>
              <a:rPr lang="en-US" sz="2000" dirty="0"/>
              <a:t>(more common: 3,5,7,9)</a:t>
            </a:r>
          </a:p>
          <a:p>
            <a:pPr algn="just"/>
            <a:r>
              <a:rPr lang="en-US" sz="2000" dirty="0"/>
              <a:t>Symmetric:</a:t>
            </a:r>
          </a:p>
          <a:p>
            <a:pPr marL="0" indent="0" algn="just">
              <a:buNone/>
            </a:pPr>
            <a:r>
              <a:rPr lang="en-US" sz="2000" b="1" dirty="0"/>
              <a:t>(irrelevant whether left or right context)</a:t>
            </a:r>
          </a:p>
          <a:p>
            <a:pPr marL="0" indent="0" algn="just">
              <a:buNone/>
            </a:pPr>
            <a:endParaRPr lang="en-US" sz="2000" dirty="0"/>
          </a:p>
          <a:p>
            <a:pPr algn="just"/>
            <a:r>
              <a:rPr lang="en-US" sz="2000" b="1" dirty="0"/>
              <a:t>Co-occurrences limitations: </a:t>
            </a:r>
          </a:p>
          <a:p>
            <a:pPr lvl="1" algn="just">
              <a:buFont typeface="Wingdings" panose="05000000000000000000" pitchFamily="2" charset="2"/>
              <a:buChar char="q"/>
            </a:pPr>
            <a:r>
              <a:rPr lang="en-US" dirty="0"/>
              <a:t>Increase in size with vocabulary</a:t>
            </a:r>
          </a:p>
          <a:p>
            <a:pPr lvl="1" algn="just">
              <a:buFont typeface="Wingdings" panose="05000000000000000000" pitchFamily="2" charset="2"/>
              <a:buChar char="q"/>
            </a:pPr>
            <a:r>
              <a:rPr lang="en-US" dirty="0"/>
              <a:t>Very high dimensional: require a lot of storage </a:t>
            </a:r>
          </a:p>
          <a:p>
            <a:pPr lvl="2" algn="just">
              <a:buFont typeface="Wingdings" panose="05000000000000000000" pitchFamily="2" charset="2"/>
              <a:buChar char="q"/>
            </a:pPr>
            <a:r>
              <a:rPr lang="en-US" sz="1600" dirty="0"/>
              <a:t>Needs dimensionality reduction technique such as Singular Value Decomposition (</a:t>
            </a:r>
            <a:r>
              <a:rPr lang="en-US" sz="1600" b="1" dirty="0"/>
              <a:t>SVD</a:t>
            </a:r>
            <a:r>
              <a:rPr lang="en-US" sz="1600" dirty="0"/>
              <a:t>)</a:t>
            </a:r>
          </a:p>
          <a:p>
            <a:pPr lvl="1" algn="just">
              <a:buFont typeface="Wingdings" panose="05000000000000000000" pitchFamily="2" charset="2"/>
              <a:buChar char="q"/>
            </a:pPr>
            <a:r>
              <a:rPr lang="en-US" dirty="0"/>
              <a:t>Hard to incorporate new words or documents</a:t>
            </a:r>
          </a:p>
        </p:txBody>
      </p:sp>
      <p:pic>
        <p:nvPicPr>
          <p:cNvPr id="5" name="Picture 4">
            <a:extLst>
              <a:ext uri="{FF2B5EF4-FFF2-40B4-BE49-F238E27FC236}">
                <a16:creationId xmlns:a16="http://schemas.microsoft.com/office/drawing/2014/main" id="{8929CBA1-5C8D-D5DC-55DD-11EB7EF91A3C}"/>
              </a:ext>
            </a:extLst>
          </p:cNvPr>
          <p:cNvPicPr>
            <a:picLocks noChangeAspect="1"/>
          </p:cNvPicPr>
          <p:nvPr/>
        </p:nvPicPr>
        <p:blipFill>
          <a:blip r:embed="rId3"/>
          <a:stretch>
            <a:fillRect/>
          </a:stretch>
        </p:blipFill>
        <p:spPr>
          <a:xfrm>
            <a:off x="6094412" y="2142827"/>
            <a:ext cx="5486398" cy="2572345"/>
          </a:xfrm>
          <a:prstGeom prst="rect">
            <a:avLst/>
          </a:prstGeom>
        </p:spPr>
      </p:pic>
    </p:spTree>
    <p:extLst>
      <p:ext uri="{BB962C8B-B14F-4D97-AF65-F5344CB8AC3E}">
        <p14:creationId xmlns:p14="http://schemas.microsoft.com/office/powerpoint/2010/main" val="3432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Yesno Question Testimony Question Text PNG free download">
            <a:extLst>
              <a:ext uri="{FF2B5EF4-FFF2-40B4-BE49-F238E27FC236}">
                <a16:creationId xmlns:a16="http://schemas.microsoft.com/office/drawing/2014/main" id="{4E02AB21-02EA-468E-808A-C1C4C015F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3412" y="1828800"/>
            <a:ext cx="5184968" cy="3733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74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6805</TotalTime>
  <Words>1532</Words>
  <Application>Microsoft Office PowerPoint</Application>
  <PresentationFormat>Custom</PresentationFormat>
  <Paragraphs>153</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vt:lpstr>
      <vt:lpstr>Class open house presentation</vt:lpstr>
      <vt:lpstr>Natural Language Processing</vt:lpstr>
      <vt:lpstr>Outline</vt:lpstr>
      <vt:lpstr>Introduction</vt:lpstr>
      <vt:lpstr>Introduction</vt:lpstr>
      <vt:lpstr>One-Hot Encoding</vt:lpstr>
      <vt:lpstr>One-Hot Encoding (Limitations)</vt:lpstr>
      <vt:lpstr>One-Hot Encoding (Limitations)</vt:lpstr>
      <vt:lpstr>One-Hot Encoding (Example)</vt:lpstr>
      <vt:lpstr>Bag of Words</vt:lpstr>
      <vt:lpstr>Bag of Words (Limitations)</vt:lpstr>
      <vt:lpstr>Count Vectorizer</vt:lpstr>
      <vt:lpstr>TF-IDF</vt:lpstr>
      <vt:lpstr>TF-IDF (Example)</vt:lpstr>
      <vt:lpstr>Count Vectorizer &amp; TF-IDF (Example)</vt:lpstr>
      <vt:lpstr>N-Gram</vt:lpstr>
      <vt:lpstr>N-Gram</vt:lpstr>
      <vt:lpstr>Occurrence Matrix &amp; Co-Occurrence Matrix </vt:lpstr>
      <vt:lpstr>Occurrence Matrix &amp; Co-Occurrence Matrix </vt:lpstr>
      <vt:lpstr>Occurrence Matrix &amp; Co-Occurrence Matrix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Tapping Into The Power of Text Similarity</dc:title>
  <dc:creator>Wael Gomaa</dc:creator>
  <cp:lastModifiedBy>Alaa Hamdy</cp:lastModifiedBy>
  <cp:revision>354</cp:revision>
  <dcterms:created xsi:type="dcterms:W3CDTF">2021-10-27T21:07:48Z</dcterms:created>
  <dcterms:modified xsi:type="dcterms:W3CDTF">2026-04-07T15:13:31Z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