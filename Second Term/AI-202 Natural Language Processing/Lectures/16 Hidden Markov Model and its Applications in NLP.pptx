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53" autoAdjust="0"/>
    <p:restoredTop sz="94660"/>
  </p:normalViewPr>
  <p:slideViewPr>
    <p:cSldViewPr snapToGrid="0">
      <p:cViewPr>
        <p:scale>
          <a:sx n="80" d="100"/>
          <a:sy n="80" d="100"/>
        </p:scale>
        <p:origin x="4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F1489A-A6AB-4C9D-964C-A6A6A692A225}" type="datetimeFigureOut">
              <a:rPr lang="en-US" smtClean="0"/>
              <a:t>6/4/2024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1A3EFB-2466-44FC-A066-E9EB33EDE9FA}" type="slidenum">
              <a:rPr lang="en-US" smtClean="0"/>
              <a:t>‹#›</a:t>
            </a:fld>
            <a:endParaRPr lang="en-US"/>
          </a:p>
        </p:txBody>
      </p:sp>
    </p:spTree>
    <p:extLst>
      <p:ext uri="{BB962C8B-B14F-4D97-AF65-F5344CB8AC3E}">
        <p14:creationId xmlns:p14="http://schemas.microsoft.com/office/powerpoint/2010/main" val="2513576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1B7F4BA-5249-4835-A729-8F37E8C2F588}" type="datetime1">
              <a:rPr lang="en-US" smtClean="0"/>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2574447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6AACF-6CA8-4C71-9104-8DEE3E60090D}" type="datetime1">
              <a:rPr lang="en-US" smtClean="0"/>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273205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B1A692F-70A5-4BEA-BCD6-4DE776F738F7}" type="datetime1">
              <a:rPr lang="en-US" smtClean="0"/>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1483670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1B55FB-D069-4570-98BC-77FB081B1A0C}" type="datetime1">
              <a:rPr lang="en-US" smtClean="0"/>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2390182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275C59-69BE-4D3F-981F-6ADA9A5B0D90}" type="datetime1">
              <a:rPr lang="en-US" smtClean="0"/>
              <a:t>6/4/2024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3635595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DC7C76-82A9-4247-A87F-6C0AB29F1C70}" type="datetime1">
              <a:rPr lang="en-US" smtClean="0"/>
              <a:t>6/4/2024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669091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8CDC72-7B2F-45EF-9348-5F4C44785FD3}" type="datetime1">
              <a:rPr lang="en-US" smtClean="0"/>
              <a:t>6/4/2024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1341566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5440421-7DD5-4488-A109-16C2D0BCF6F3}" type="datetime1">
              <a:rPr lang="en-US" smtClean="0"/>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117745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B885A36-9637-4794-859A-A9C9B5689E81}" type="datetime1">
              <a:rPr lang="en-US" smtClean="0"/>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3249570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969720-8EBC-4E4E-B6EF-E6433DF85D4C}" type="datetime1">
              <a:rPr lang="en-US" smtClean="0"/>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2493212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6929A-7866-4642-AF26-30E42FDED17D}" type="datetime1">
              <a:rPr lang="en-US" smtClean="0"/>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B0D4F-CAB0-40F9-A1C9-99A3F6579EAB}" type="slidenum">
              <a:rPr lang="en-US" smtClean="0"/>
              <a:t>‹#›</a:t>
            </a:fld>
            <a:endParaRPr lang="en-US"/>
          </a:p>
        </p:txBody>
      </p:sp>
    </p:spTree>
    <p:extLst>
      <p:ext uri="{BB962C8B-B14F-4D97-AF65-F5344CB8AC3E}">
        <p14:creationId xmlns:p14="http://schemas.microsoft.com/office/powerpoint/2010/main" val="2783727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1B2866-32ED-47B8-AD46-FEB499915152}" type="datetime1">
              <a:rPr lang="en-US" smtClean="0"/>
              <a:t>6/4/2024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EB0D4F-CAB0-40F9-A1C9-99A3F6579EAB}" type="slidenum">
              <a:rPr lang="en-US" smtClean="0"/>
              <a:t>‹#›</a:t>
            </a:fld>
            <a:endParaRPr lang="en-US"/>
          </a:p>
        </p:txBody>
      </p:sp>
    </p:spTree>
    <p:extLst>
      <p:ext uri="{BB962C8B-B14F-4D97-AF65-F5344CB8AC3E}">
        <p14:creationId xmlns:p14="http://schemas.microsoft.com/office/powerpoint/2010/main" val="4021755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i="1" dirty="0"/>
              <a:t>Hidden Markov Model and its Applications in NLP</a:t>
            </a:r>
            <a:endParaRPr lang="en-US" dirty="0"/>
          </a:p>
        </p:txBody>
      </p:sp>
      <p:sp>
        <p:nvSpPr>
          <p:cNvPr id="3" name="Subtitle 2"/>
          <p:cNvSpPr>
            <a:spLocks noGrp="1"/>
          </p:cNvSpPr>
          <p:nvPr>
            <p:ph type="subTitle" idx="1"/>
          </p:nvPr>
        </p:nvSpPr>
        <p:spPr>
          <a:xfrm>
            <a:off x="1524000" y="3856038"/>
            <a:ext cx="9144000" cy="1655762"/>
          </a:xfrm>
        </p:spPr>
        <p:txBody>
          <a:bodyPr/>
          <a:lstStyle/>
          <a:p>
            <a:r>
              <a:rPr lang="en-US" i="1" dirty="0"/>
              <a:t>Prof. Alaa Hamdy</a:t>
            </a:r>
          </a:p>
        </p:txBody>
      </p:sp>
      <p:sp>
        <p:nvSpPr>
          <p:cNvPr id="4" name="Slide Number Placeholder 3"/>
          <p:cNvSpPr>
            <a:spLocks noGrp="1"/>
          </p:cNvSpPr>
          <p:nvPr>
            <p:ph type="sldNum" sz="quarter" idx="12"/>
          </p:nvPr>
        </p:nvSpPr>
        <p:spPr/>
        <p:txBody>
          <a:bodyPr/>
          <a:lstStyle/>
          <a:p>
            <a:fld id="{FBEB0D4F-CAB0-40F9-A1C9-99A3F6579EAB}" type="slidenum">
              <a:rPr lang="en-US" smtClean="0"/>
              <a:t>1</a:t>
            </a:fld>
            <a:endParaRPr lang="en-US"/>
          </a:p>
        </p:txBody>
      </p:sp>
    </p:spTree>
    <p:extLst>
      <p:ext uri="{BB962C8B-B14F-4D97-AF65-F5344CB8AC3E}">
        <p14:creationId xmlns:p14="http://schemas.microsoft.com/office/powerpoint/2010/main" val="3431902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A Hidden Markov Model (HMM) is a statistical model which is also used in machine learning. It can be used to describe the evolution of observable events that depend on internal factors, which are not directly observable.</a:t>
            </a:r>
          </a:p>
        </p:txBody>
      </p:sp>
      <p:sp>
        <p:nvSpPr>
          <p:cNvPr id="4" name="Slide Number Placeholder 3"/>
          <p:cNvSpPr>
            <a:spLocks noGrp="1"/>
          </p:cNvSpPr>
          <p:nvPr>
            <p:ph type="sldNum" sz="quarter" idx="12"/>
          </p:nvPr>
        </p:nvSpPr>
        <p:spPr/>
        <p:txBody>
          <a:bodyPr/>
          <a:lstStyle/>
          <a:p>
            <a:fld id="{FBEB0D4F-CAB0-40F9-A1C9-99A3F6579EAB}" type="slidenum">
              <a:rPr lang="en-US" smtClean="0"/>
              <a:t>2</a:t>
            </a:fld>
            <a:endParaRPr lang="en-US"/>
          </a:p>
        </p:txBody>
      </p:sp>
    </p:spTree>
    <p:extLst>
      <p:ext uri="{BB962C8B-B14F-4D97-AF65-F5344CB8AC3E}">
        <p14:creationId xmlns:p14="http://schemas.microsoft.com/office/powerpoint/2010/main" val="1357456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The use of HMM for </a:t>
            </a:r>
            <a:r>
              <a:rPr lang="en-US" dirty="0" err="1"/>
              <a:t>PoS</a:t>
            </a:r>
            <a:r>
              <a:rPr lang="en-US" dirty="0"/>
              <a:t> tagging</a:t>
            </a:r>
          </a:p>
        </p:txBody>
      </p:sp>
      <p:sp>
        <p:nvSpPr>
          <p:cNvPr id="3" name="Content Placeholder 2"/>
          <p:cNvSpPr>
            <a:spLocks noGrp="1"/>
          </p:cNvSpPr>
          <p:nvPr>
            <p:ph idx="1"/>
          </p:nvPr>
        </p:nvSpPr>
        <p:spPr/>
        <p:txBody>
          <a:bodyPr/>
          <a:lstStyle/>
          <a:p>
            <a:pPr marL="0" indent="0">
              <a:buNone/>
            </a:pPr>
            <a:r>
              <a:rPr lang="en-US" b="1" dirty="0"/>
              <a:t>What is POS-tagging?</a:t>
            </a:r>
          </a:p>
          <a:p>
            <a:endParaRPr lang="en-US" b="1" dirty="0"/>
          </a:p>
          <a:p>
            <a:r>
              <a:rPr lang="en-US" dirty="0"/>
              <a:t>There are commonly nine parts of speeches; </a:t>
            </a:r>
            <a:r>
              <a:rPr lang="en-US" dirty="0">
                <a:solidFill>
                  <a:schemeClr val="accent1">
                    <a:lumMod val="75000"/>
                  </a:schemeClr>
                </a:solidFill>
              </a:rPr>
              <a:t>noun</a:t>
            </a:r>
            <a:r>
              <a:rPr lang="en-US" dirty="0"/>
              <a:t>, </a:t>
            </a:r>
            <a:r>
              <a:rPr lang="en-US" dirty="0">
                <a:solidFill>
                  <a:schemeClr val="accent1">
                    <a:lumMod val="75000"/>
                  </a:schemeClr>
                </a:solidFill>
              </a:rPr>
              <a:t>pronoun</a:t>
            </a:r>
            <a:r>
              <a:rPr lang="en-US" dirty="0"/>
              <a:t>, </a:t>
            </a:r>
            <a:r>
              <a:rPr lang="en-US" dirty="0">
                <a:solidFill>
                  <a:schemeClr val="accent1">
                    <a:lumMod val="75000"/>
                  </a:schemeClr>
                </a:solidFill>
              </a:rPr>
              <a:t>verb</a:t>
            </a:r>
            <a:r>
              <a:rPr lang="en-US" dirty="0"/>
              <a:t>, </a:t>
            </a:r>
            <a:r>
              <a:rPr lang="en-US" dirty="0">
                <a:solidFill>
                  <a:schemeClr val="accent1">
                    <a:lumMod val="75000"/>
                  </a:schemeClr>
                </a:solidFill>
              </a:rPr>
              <a:t>adverb</a:t>
            </a:r>
            <a:r>
              <a:rPr lang="en-US" dirty="0"/>
              <a:t>, </a:t>
            </a:r>
            <a:r>
              <a:rPr lang="en-US" dirty="0">
                <a:solidFill>
                  <a:schemeClr val="accent1">
                    <a:lumMod val="75000"/>
                  </a:schemeClr>
                </a:solidFill>
              </a:rPr>
              <a:t>article</a:t>
            </a:r>
            <a:r>
              <a:rPr lang="en-US" dirty="0"/>
              <a:t>, </a:t>
            </a:r>
            <a:r>
              <a:rPr lang="en-US" dirty="0">
                <a:solidFill>
                  <a:schemeClr val="accent1">
                    <a:lumMod val="75000"/>
                  </a:schemeClr>
                </a:solidFill>
              </a:rPr>
              <a:t>adjective</a:t>
            </a:r>
            <a:r>
              <a:rPr lang="en-US" dirty="0"/>
              <a:t>, </a:t>
            </a:r>
            <a:r>
              <a:rPr lang="en-US" dirty="0">
                <a:solidFill>
                  <a:schemeClr val="accent1">
                    <a:lumMod val="75000"/>
                  </a:schemeClr>
                </a:solidFill>
              </a:rPr>
              <a:t>preposition</a:t>
            </a:r>
            <a:r>
              <a:rPr lang="en-US" dirty="0"/>
              <a:t>, </a:t>
            </a:r>
            <a:r>
              <a:rPr lang="en-US" dirty="0">
                <a:solidFill>
                  <a:schemeClr val="accent1">
                    <a:lumMod val="75000"/>
                  </a:schemeClr>
                </a:solidFill>
              </a:rPr>
              <a:t>conjunction</a:t>
            </a:r>
            <a:r>
              <a:rPr lang="en-US" dirty="0"/>
              <a:t>, </a:t>
            </a:r>
            <a:r>
              <a:rPr lang="en-US" dirty="0">
                <a:solidFill>
                  <a:schemeClr val="accent1">
                    <a:lumMod val="75000"/>
                  </a:schemeClr>
                </a:solidFill>
              </a:rPr>
              <a:t>interjection</a:t>
            </a:r>
            <a:r>
              <a:rPr lang="en-US" dirty="0"/>
              <a:t>, and a </a:t>
            </a:r>
            <a:r>
              <a:rPr lang="en-US" dirty="0">
                <a:solidFill>
                  <a:schemeClr val="accent1">
                    <a:lumMod val="75000"/>
                  </a:schemeClr>
                </a:solidFill>
              </a:rPr>
              <a:t>word</a:t>
            </a:r>
            <a:r>
              <a:rPr lang="en-US" dirty="0"/>
              <a:t> need to be fit into the proper part of speech to make sense in the sentence. </a:t>
            </a:r>
          </a:p>
        </p:txBody>
      </p:sp>
      <p:sp>
        <p:nvSpPr>
          <p:cNvPr id="4" name="Slide Number Placeholder 3"/>
          <p:cNvSpPr>
            <a:spLocks noGrp="1"/>
          </p:cNvSpPr>
          <p:nvPr>
            <p:ph type="sldNum" sz="quarter" idx="12"/>
          </p:nvPr>
        </p:nvSpPr>
        <p:spPr/>
        <p:txBody>
          <a:bodyPr/>
          <a:lstStyle/>
          <a:p>
            <a:fld id="{FBEB0D4F-CAB0-40F9-A1C9-99A3F6579EAB}" type="slidenum">
              <a:rPr lang="en-US" smtClean="0"/>
              <a:t>3</a:t>
            </a:fld>
            <a:endParaRPr lang="en-US"/>
          </a:p>
        </p:txBody>
      </p:sp>
    </p:spTree>
    <p:extLst>
      <p:ext uri="{BB962C8B-B14F-4D97-AF65-F5344CB8AC3E}">
        <p14:creationId xmlns:p14="http://schemas.microsoft.com/office/powerpoint/2010/main" val="1913692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Let’s take the sentence “</a:t>
            </a:r>
            <a:r>
              <a:rPr lang="en-US" dirty="0">
                <a:solidFill>
                  <a:srgbClr val="FF0000"/>
                </a:solidFill>
              </a:rPr>
              <a:t>Anthony will eat food</a:t>
            </a:r>
            <a:r>
              <a:rPr lang="en-US" dirty="0"/>
              <a:t>” where </a:t>
            </a:r>
            <a:r>
              <a:rPr lang="en-US" dirty="0">
                <a:solidFill>
                  <a:srgbClr val="FF0000"/>
                </a:solidFill>
              </a:rPr>
              <a:t>Anthony</a:t>
            </a:r>
            <a:r>
              <a:rPr lang="en-US" dirty="0"/>
              <a:t> is a noun, will is a modal, eat is a verb and food is also a noun, so the probability for a word to be in a particular class of part of speech is called the Emission probability.</a:t>
            </a:r>
          </a:p>
          <a:p>
            <a:r>
              <a:rPr lang="en-US" dirty="0"/>
              <a:t>As we can seen in the example of the HMM process in POS tagging the transition probability is the likelihood of any sequence for example what are the chances for a noun word to come after any modal and a modal after a verb and a verb after a noun.</a:t>
            </a:r>
          </a:p>
        </p:txBody>
      </p:sp>
      <p:sp>
        <p:nvSpPr>
          <p:cNvPr id="4" name="Slide Number Placeholder 3"/>
          <p:cNvSpPr>
            <a:spLocks noGrp="1"/>
          </p:cNvSpPr>
          <p:nvPr>
            <p:ph type="sldNum" sz="quarter" idx="12"/>
          </p:nvPr>
        </p:nvSpPr>
        <p:spPr/>
        <p:txBody>
          <a:bodyPr/>
          <a:lstStyle/>
          <a:p>
            <a:fld id="{FBEB0D4F-CAB0-40F9-A1C9-99A3F6579EAB}" type="slidenum">
              <a:rPr lang="en-US" smtClean="0"/>
              <a:t>4</a:t>
            </a:fld>
            <a:endParaRPr lang="en-US"/>
          </a:p>
        </p:txBody>
      </p:sp>
    </p:spTree>
    <p:extLst>
      <p:ext uri="{BB962C8B-B14F-4D97-AF65-F5344CB8AC3E}">
        <p14:creationId xmlns:p14="http://schemas.microsoft.com/office/powerpoint/2010/main" val="4099689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Let’s take a look at how we can calculate these two probabilities for a set of sentences:</a:t>
            </a:r>
            <a:br>
              <a:rPr lang="en-US" dirty="0"/>
            </a:br>
            <a:endParaRPr lang="en-US" dirty="0"/>
          </a:p>
        </p:txBody>
      </p:sp>
      <p:sp>
        <p:nvSpPr>
          <p:cNvPr id="3" name="Content Placeholder 2"/>
          <p:cNvSpPr>
            <a:spLocks noGrp="1"/>
          </p:cNvSpPr>
          <p:nvPr>
            <p:ph idx="1"/>
          </p:nvPr>
        </p:nvSpPr>
        <p:spPr/>
        <p:txBody>
          <a:bodyPr/>
          <a:lstStyle/>
          <a:p>
            <a:pPr fontAlgn="base"/>
            <a:r>
              <a:rPr lang="en-US" dirty="0"/>
              <a:t>Mary Jane can see will </a:t>
            </a:r>
          </a:p>
          <a:p>
            <a:pPr fontAlgn="base"/>
            <a:r>
              <a:rPr lang="en-US" dirty="0"/>
              <a:t>The spot will see Mary</a:t>
            </a:r>
          </a:p>
          <a:p>
            <a:pPr fontAlgn="base"/>
            <a:r>
              <a:rPr lang="en-US" dirty="0"/>
              <a:t>Will Jane spot Mary?</a:t>
            </a:r>
          </a:p>
          <a:p>
            <a:pPr fontAlgn="base"/>
            <a:r>
              <a:rPr lang="en-US" dirty="0"/>
              <a:t>Mary will pat Spot</a:t>
            </a:r>
          </a:p>
          <a:p>
            <a:endParaRPr lang="en-US" dirty="0"/>
          </a:p>
        </p:txBody>
      </p:sp>
      <p:sp>
        <p:nvSpPr>
          <p:cNvPr id="4" name="Slide Number Placeholder 3"/>
          <p:cNvSpPr>
            <a:spLocks noGrp="1"/>
          </p:cNvSpPr>
          <p:nvPr>
            <p:ph type="sldNum" sz="quarter" idx="12"/>
          </p:nvPr>
        </p:nvSpPr>
        <p:spPr/>
        <p:txBody>
          <a:bodyPr/>
          <a:lstStyle/>
          <a:p>
            <a:fld id="{FBEB0D4F-CAB0-40F9-A1C9-99A3F6579EAB}" type="slidenum">
              <a:rPr lang="en-US" smtClean="0"/>
              <a:t>5</a:t>
            </a:fld>
            <a:endParaRPr lang="en-US"/>
          </a:p>
        </p:txBody>
      </p:sp>
    </p:spTree>
    <p:extLst>
      <p:ext uri="{BB962C8B-B14F-4D97-AF65-F5344CB8AC3E}">
        <p14:creationId xmlns:p14="http://schemas.microsoft.com/office/powerpoint/2010/main" val="57302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below table is a counting tableau for the words with their part of speech type</a:t>
            </a:r>
          </a:p>
        </p:txBody>
      </p:sp>
      <p:pic>
        <p:nvPicPr>
          <p:cNvPr id="5" name="Picture 4"/>
          <p:cNvPicPr>
            <a:picLocks noChangeAspect="1"/>
          </p:cNvPicPr>
          <p:nvPr/>
        </p:nvPicPr>
        <p:blipFill>
          <a:blip r:embed="rId2"/>
          <a:stretch>
            <a:fillRect/>
          </a:stretch>
        </p:blipFill>
        <p:spPr>
          <a:xfrm>
            <a:off x="5299438" y="2035810"/>
            <a:ext cx="6622324" cy="3588944"/>
          </a:xfrm>
          <a:prstGeom prst="rect">
            <a:avLst/>
          </a:prstGeom>
        </p:spPr>
      </p:pic>
      <p:sp>
        <p:nvSpPr>
          <p:cNvPr id="6" name="Content Placeholder 2"/>
          <p:cNvSpPr txBox="1">
            <a:spLocks/>
          </p:cNvSpPr>
          <p:nvPr/>
        </p:nvSpPr>
        <p:spPr>
          <a:xfrm>
            <a:off x="507275" y="203581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dirty="0"/>
              <a:t>Mary Jane can see will </a:t>
            </a:r>
          </a:p>
          <a:p>
            <a:pPr fontAlgn="base"/>
            <a:r>
              <a:rPr lang="en-US" dirty="0"/>
              <a:t>The spot will see Mary</a:t>
            </a:r>
          </a:p>
          <a:p>
            <a:pPr fontAlgn="base"/>
            <a:r>
              <a:rPr lang="en-US" dirty="0"/>
              <a:t>Will Jane spot Mary?</a:t>
            </a:r>
          </a:p>
          <a:p>
            <a:pPr fontAlgn="base"/>
            <a:r>
              <a:rPr lang="en-US" dirty="0"/>
              <a:t>Mary will pat Spot</a:t>
            </a:r>
          </a:p>
          <a:p>
            <a:endParaRPr lang="en-US" dirty="0"/>
          </a:p>
        </p:txBody>
      </p:sp>
      <p:sp>
        <p:nvSpPr>
          <p:cNvPr id="7" name="Slide Number Placeholder 6"/>
          <p:cNvSpPr>
            <a:spLocks noGrp="1"/>
          </p:cNvSpPr>
          <p:nvPr>
            <p:ph type="sldNum" sz="quarter" idx="12"/>
          </p:nvPr>
        </p:nvSpPr>
        <p:spPr/>
        <p:txBody>
          <a:bodyPr/>
          <a:lstStyle/>
          <a:p>
            <a:fld id="{FBEB0D4F-CAB0-40F9-A1C9-99A3F6579EAB}" type="slidenum">
              <a:rPr lang="en-US" smtClean="0"/>
              <a:t>6</a:t>
            </a:fld>
            <a:endParaRPr lang="en-US"/>
          </a:p>
        </p:txBody>
      </p:sp>
      <p:sp>
        <p:nvSpPr>
          <p:cNvPr id="8" name="Right Arrow 7"/>
          <p:cNvSpPr/>
          <p:nvPr/>
        </p:nvSpPr>
        <p:spPr>
          <a:xfrm>
            <a:off x="4258492" y="2769325"/>
            <a:ext cx="875211" cy="7968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905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Let’s divide each word’s appearance by the total number of every part of speech in the set of sentences.</a:t>
            </a:r>
          </a:p>
        </p:txBody>
      </p:sp>
      <p:pic>
        <p:nvPicPr>
          <p:cNvPr id="5" name="Content Placeholder 4"/>
          <p:cNvPicPr>
            <a:picLocks noGrp="1" noChangeAspect="1"/>
          </p:cNvPicPr>
          <p:nvPr>
            <p:ph idx="1"/>
          </p:nvPr>
        </p:nvPicPr>
        <p:blipFill>
          <a:blip r:embed="rId2"/>
          <a:stretch>
            <a:fillRect/>
          </a:stretch>
        </p:blipFill>
        <p:spPr>
          <a:xfrm>
            <a:off x="6757850" y="2117867"/>
            <a:ext cx="5250729" cy="3146463"/>
          </a:xfrm>
          <a:prstGeom prst="rect">
            <a:avLst/>
          </a:prstGeom>
        </p:spPr>
      </p:pic>
      <p:sp>
        <p:nvSpPr>
          <p:cNvPr id="4" name="Slide Number Placeholder 3"/>
          <p:cNvSpPr>
            <a:spLocks noGrp="1"/>
          </p:cNvSpPr>
          <p:nvPr>
            <p:ph type="sldNum" sz="quarter" idx="12"/>
          </p:nvPr>
        </p:nvSpPr>
        <p:spPr/>
        <p:txBody>
          <a:bodyPr/>
          <a:lstStyle/>
          <a:p>
            <a:fld id="{FBEB0D4F-CAB0-40F9-A1C9-99A3F6579EAB}" type="slidenum">
              <a:rPr lang="en-US" smtClean="0"/>
              <a:t>7</a:t>
            </a:fld>
            <a:endParaRPr lang="en-US"/>
          </a:p>
        </p:txBody>
      </p:sp>
      <p:pic>
        <p:nvPicPr>
          <p:cNvPr id="6" name="Picture 5"/>
          <p:cNvPicPr>
            <a:picLocks noChangeAspect="1"/>
          </p:cNvPicPr>
          <p:nvPr/>
        </p:nvPicPr>
        <p:blipFill>
          <a:blip r:embed="rId3"/>
          <a:stretch>
            <a:fillRect/>
          </a:stretch>
        </p:blipFill>
        <p:spPr>
          <a:xfrm>
            <a:off x="156755" y="2117868"/>
            <a:ext cx="5277394" cy="3146463"/>
          </a:xfrm>
          <a:prstGeom prst="rect">
            <a:avLst/>
          </a:prstGeom>
        </p:spPr>
      </p:pic>
      <p:sp>
        <p:nvSpPr>
          <p:cNvPr id="7" name="Right Arrow 6"/>
          <p:cNvSpPr/>
          <p:nvPr/>
        </p:nvSpPr>
        <p:spPr>
          <a:xfrm>
            <a:off x="5658394" y="3292681"/>
            <a:ext cx="875211" cy="7968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248525" y="5487174"/>
            <a:ext cx="4560298" cy="646331"/>
          </a:xfrm>
          <a:prstGeom prst="rect">
            <a:avLst/>
          </a:prstGeom>
        </p:spPr>
        <p:txBody>
          <a:bodyPr wrap="square">
            <a:spAutoFit/>
          </a:bodyPr>
          <a:lstStyle/>
          <a:p>
            <a:pPr algn="ctr"/>
            <a:r>
              <a:rPr lang="en-US" b="0" i="0" dirty="0">
                <a:solidFill>
                  <a:srgbClr val="0B0E29"/>
                </a:solidFill>
                <a:effectLst/>
                <a:latin typeface="DM Sans"/>
              </a:rPr>
              <a:t>Here in the table, we can see the emission probabilities of every word.</a:t>
            </a:r>
            <a:endParaRPr lang="en-US" dirty="0"/>
          </a:p>
        </p:txBody>
      </p:sp>
    </p:spTree>
    <p:extLst>
      <p:ext uri="{BB962C8B-B14F-4D97-AF65-F5344CB8AC3E}">
        <p14:creationId xmlns:p14="http://schemas.microsoft.com/office/powerpoint/2010/main" val="427324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FBEB0D4F-CAB0-40F9-A1C9-99A3F6579EAB}" type="slidenum">
              <a:rPr lang="en-US" smtClean="0"/>
              <a:t>8</a:t>
            </a:fld>
            <a:endParaRPr lang="en-US"/>
          </a:p>
        </p:txBody>
      </p:sp>
      <p:pic>
        <p:nvPicPr>
          <p:cNvPr id="5" name="Picture 4"/>
          <p:cNvPicPr>
            <a:picLocks noChangeAspect="1"/>
          </p:cNvPicPr>
          <p:nvPr/>
        </p:nvPicPr>
        <p:blipFill>
          <a:blip r:embed="rId2"/>
          <a:stretch>
            <a:fillRect/>
          </a:stretch>
        </p:blipFill>
        <p:spPr>
          <a:xfrm>
            <a:off x="5667375" y="1870075"/>
            <a:ext cx="5686425" cy="1962150"/>
          </a:xfrm>
          <a:prstGeom prst="rect">
            <a:avLst/>
          </a:prstGeom>
        </p:spPr>
      </p:pic>
      <p:sp>
        <p:nvSpPr>
          <p:cNvPr id="6" name="Content Placeholder 2"/>
          <p:cNvSpPr>
            <a:spLocks noGrp="1"/>
          </p:cNvSpPr>
          <p:nvPr>
            <p:ph idx="1"/>
          </p:nvPr>
        </p:nvSpPr>
        <p:spPr/>
        <p:txBody>
          <a:bodyPr/>
          <a:lstStyle/>
          <a:p>
            <a:pPr fontAlgn="base"/>
            <a:r>
              <a:rPr lang="en-US" dirty="0"/>
              <a:t>Mary Jane can see will </a:t>
            </a:r>
          </a:p>
          <a:p>
            <a:pPr fontAlgn="base"/>
            <a:r>
              <a:rPr lang="en-US" dirty="0"/>
              <a:t>The spot will see Mary</a:t>
            </a:r>
          </a:p>
          <a:p>
            <a:pPr fontAlgn="base"/>
            <a:r>
              <a:rPr lang="en-US" dirty="0"/>
              <a:t>Will Jane spot Mary?</a:t>
            </a:r>
          </a:p>
          <a:p>
            <a:pPr fontAlgn="base"/>
            <a:r>
              <a:rPr lang="en-US" dirty="0"/>
              <a:t>Mary will pat Spot</a:t>
            </a:r>
          </a:p>
          <a:p>
            <a:endParaRPr lang="en-US" dirty="0"/>
          </a:p>
        </p:txBody>
      </p:sp>
      <p:sp>
        <p:nvSpPr>
          <p:cNvPr id="7" name="Right Arrow 6"/>
          <p:cNvSpPr/>
          <p:nvPr/>
        </p:nvSpPr>
        <p:spPr>
          <a:xfrm>
            <a:off x="4626428" y="2452733"/>
            <a:ext cx="875211" cy="7968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462587" y="4066933"/>
            <a:ext cx="6096000" cy="646331"/>
          </a:xfrm>
          <a:prstGeom prst="rect">
            <a:avLst/>
          </a:prstGeom>
        </p:spPr>
        <p:txBody>
          <a:bodyPr>
            <a:spAutoFit/>
          </a:bodyPr>
          <a:lstStyle/>
          <a:p>
            <a:pPr algn="ctr"/>
            <a:r>
              <a:rPr lang="en-US" b="0" i="0" dirty="0">
                <a:solidFill>
                  <a:srgbClr val="0B0E29"/>
                </a:solidFill>
                <a:effectLst/>
                <a:latin typeface="DM Sans"/>
              </a:rPr>
              <a:t>Here the above values in the table are the respective transition values for a given set of sentences.</a:t>
            </a:r>
            <a:endParaRPr lang="en-US" dirty="0"/>
          </a:p>
        </p:txBody>
      </p:sp>
    </p:spTree>
    <p:extLst>
      <p:ext uri="{BB962C8B-B14F-4D97-AF65-F5344CB8AC3E}">
        <p14:creationId xmlns:p14="http://schemas.microsoft.com/office/powerpoint/2010/main" val="3956139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017" y="260622"/>
            <a:ext cx="11197046" cy="2576467"/>
          </a:xfrm>
        </p:spPr>
        <p:txBody>
          <a:bodyPr>
            <a:normAutofit/>
          </a:bodyPr>
          <a:lstStyle/>
          <a:p>
            <a:r>
              <a:rPr lang="en-US" dirty="0"/>
              <a:t>Let’s take the sentence “</a:t>
            </a:r>
            <a:r>
              <a:rPr lang="en-US" dirty="0">
                <a:solidFill>
                  <a:schemeClr val="accent1">
                    <a:lumMod val="75000"/>
                  </a:schemeClr>
                </a:solidFill>
              </a:rPr>
              <a:t>Will Jane spot Mary?</a:t>
            </a:r>
            <a:r>
              <a:rPr lang="en-US" dirty="0"/>
              <a:t>” out from the set and now we can calculate the probabilities for every part of speech using the above calculations.</a:t>
            </a:r>
          </a:p>
        </p:txBody>
      </p:sp>
      <p:sp>
        <p:nvSpPr>
          <p:cNvPr id="3" name="Content Placeholder 2"/>
          <p:cNvSpPr>
            <a:spLocks noGrp="1"/>
          </p:cNvSpPr>
          <p:nvPr>
            <p:ph idx="1"/>
          </p:nvPr>
        </p:nvSpPr>
        <p:spPr>
          <a:xfrm>
            <a:off x="838200" y="2941591"/>
            <a:ext cx="10515600" cy="3235371"/>
          </a:xfrm>
        </p:spPr>
        <p:txBody>
          <a:bodyPr/>
          <a:lstStyle/>
          <a:p>
            <a:endParaRPr lang="en-US" dirty="0"/>
          </a:p>
        </p:txBody>
      </p:sp>
      <p:sp>
        <p:nvSpPr>
          <p:cNvPr id="4" name="Slide Number Placeholder 3"/>
          <p:cNvSpPr>
            <a:spLocks noGrp="1"/>
          </p:cNvSpPr>
          <p:nvPr>
            <p:ph type="sldNum" sz="quarter" idx="12"/>
          </p:nvPr>
        </p:nvSpPr>
        <p:spPr/>
        <p:txBody>
          <a:bodyPr/>
          <a:lstStyle/>
          <a:p>
            <a:fld id="{FBEB0D4F-CAB0-40F9-A1C9-99A3F6579EAB}" type="slidenum">
              <a:rPr lang="en-US" smtClean="0"/>
              <a:t>9</a:t>
            </a:fld>
            <a:endParaRPr lang="en-US"/>
          </a:p>
        </p:txBody>
      </p:sp>
      <p:sp>
        <p:nvSpPr>
          <p:cNvPr id="6" name="Rectangle 5"/>
          <p:cNvSpPr/>
          <p:nvPr/>
        </p:nvSpPr>
        <p:spPr>
          <a:xfrm>
            <a:off x="576943" y="6254531"/>
            <a:ext cx="11615057" cy="646331"/>
          </a:xfrm>
          <a:prstGeom prst="rect">
            <a:avLst/>
          </a:prstGeom>
        </p:spPr>
        <p:txBody>
          <a:bodyPr wrap="square">
            <a:spAutoFit/>
          </a:bodyPr>
          <a:lstStyle/>
          <a:p>
            <a:r>
              <a:rPr lang="en-US" b="0" i="0" dirty="0">
                <a:solidFill>
                  <a:srgbClr val="0B0E29"/>
                </a:solidFill>
                <a:effectLst/>
                <a:latin typeface="DM Sans"/>
              </a:rPr>
              <a:t>In the above image, we can see that we have emission probabilities of the words in the sentence given in the vertical lines and the horizontal lines are representing all the transition probabilities. </a:t>
            </a:r>
            <a:endParaRPr lang="en-US" dirty="0"/>
          </a:p>
        </p:txBody>
      </p:sp>
      <p:pic>
        <p:nvPicPr>
          <p:cNvPr id="8" name="Picture 7">
            <a:extLst>
              <a:ext uri="{FF2B5EF4-FFF2-40B4-BE49-F238E27FC236}">
                <a16:creationId xmlns:a16="http://schemas.microsoft.com/office/drawing/2014/main" id="{36EA9C14-7E2F-7F32-F6D0-C756FC843C4F}"/>
              </a:ext>
            </a:extLst>
          </p:cNvPr>
          <p:cNvPicPr>
            <a:picLocks noChangeAspect="1"/>
          </p:cNvPicPr>
          <p:nvPr/>
        </p:nvPicPr>
        <p:blipFill>
          <a:blip r:embed="rId2"/>
          <a:stretch>
            <a:fillRect/>
          </a:stretch>
        </p:blipFill>
        <p:spPr>
          <a:xfrm>
            <a:off x="838200" y="2938908"/>
            <a:ext cx="10410825" cy="2886075"/>
          </a:xfrm>
          <a:prstGeom prst="rect">
            <a:avLst/>
          </a:prstGeom>
        </p:spPr>
      </p:pic>
    </p:spTree>
    <p:extLst>
      <p:ext uri="{BB962C8B-B14F-4D97-AF65-F5344CB8AC3E}">
        <p14:creationId xmlns:p14="http://schemas.microsoft.com/office/powerpoint/2010/main" val="2315488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BEB0D4F-CAB0-40F9-A1C9-99A3F6579EAB}" type="slidenum">
              <a:rPr lang="en-US" smtClean="0"/>
              <a:t>10</a:t>
            </a:fld>
            <a:endParaRPr lang="en-US"/>
          </a:p>
        </p:txBody>
      </p:sp>
      <p:sp>
        <p:nvSpPr>
          <p:cNvPr id="5" name="Rectangle 4"/>
          <p:cNvSpPr/>
          <p:nvPr/>
        </p:nvSpPr>
        <p:spPr>
          <a:xfrm>
            <a:off x="838200" y="1297671"/>
            <a:ext cx="10515600" cy="1477328"/>
          </a:xfrm>
          <a:prstGeom prst="rect">
            <a:avLst/>
          </a:prstGeom>
        </p:spPr>
        <p:txBody>
          <a:bodyPr wrap="square">
            <a:spAutoFit/>
          </a:bodyPr>
          <a:lstStyle/>
          <a:p>
            <a:pPr marL="285750" indent="-285750">
              <a:buFont typeface="Arial" panose="020B0604020202020204" pitchFamily="34" charset="0"/>
              <a:buChar char="•"/>
            </a:pPr>
            <a:r>
              <a:rPr lang="en-US" b="0" i="0" dirty="0">
                <a:solidFill>
                  <a:srgbClr val="0B0E29"/>
                </a:solidFill>
                <a:effectLst/>
                <a:latin typeface="DM Sans"/>
              </a:rPr>
              <a:t>Now the correctness of the POS tagging is measured by the product of all these probabilities. The product of probabilities represents the likelihood that the sequence is right.</a:t>
            </a:r>
          </a:p>
          <a:p>
            <a:endParaRPr lang="en-US" b="0" i="0" dirty="0">
              <a:solidFill>
                <a:srgbClr val="0B0E29"/>
              </a:solidFill>
              <a:effectLst/>
              <a:latin typeface="DM Sans"/>
            </a:endParaRPr>
          </a:p>
          <a:p>
            <a:pPr marL="285750" indent="-285750">
              <a:buFont typeface="Arial" panose="020B0604020202020204" pitchFamily="34" charset="0"/>
              <a:buChar char="•"/>
            </a:pPr>
            <a:r>
              <a:rPr lang="en-US" b="0" i="0" dirty="0">
                <a:solidFill>
                  <a:srgbClr val="0B0E29"/>
                </a:solidFill>
                <a:effectLst/>
                <a:latin typeface="DM Sans"/>
              </a:rPr>
              <a:t>Let’s just check for the rightness of the POS tagging.</a:t>
            </a:r>
          </a:p>
          <a:p>
            <a:r>
              <a:rPr lang="en-US" b="0" i="0" dirty="0">
                <a:solidFill>
                  <a:srgbClr val="0B0E29"/>
                </a:solidFill>
                <a:effectLst/>
                <a:latin typeface="DM Sans"/>
              </a:rPr>
              <a:t>	¼*¾*¼*2/9*1/9*¼*1/1*4/9*4/9 </a:t>
            </a:r>
            <a:r>
              <a:rPr lang="en-US" b="0" i="0">
                <a:solidFill>
                  <a:srgbClr val="0B0E29"/>
                </a:solidFill>
                <a:effectLst/>
                <a:latin typeface="DM Sans"/>
              </a:rPr>
              <a:t>= 5.7155921353452217649748513946045e-5</a:t>
            </a:r>
            <a:endParaRPr lang="en-US" b="0" i="0" dirty="0">
              <a:solidFill>
                <a:srgbClr val="0B0E29"/>
              </a:solidFill>
              <a:effectLst/>
              <a:latin typeface="DM Sans"/>
            </a:endParaRPr>
          </a:p>
        </p:txBody>
      </p:sp>
      <p:sp>
        <p:nvSpPr>
          <p:cNvPr id="7" name="Rectangle 6"/>
          <p:cNvSpPr/>
          <p:nvPr/>
        </p:nvSpPr>
        <p:spPr>
          <a:xfrm>
            <a:off x="992071" y="6033184"/>
            <a:ext cx="10515600" cy="646331"/>
          </a:xfrm>
          <a:prstGeom prst="rect">
            <a:avLst/>
          </a:prstGeom>
        </p:spPr>
        <p:txBody>
          <a:bodyPr wrap="square">
            <a:spAutoFit/>
          </a:bodyPr>
          <a:lstStyle/>
          <a:p>
            <a:pPr marL="285750" indent="-285750">
              <a:buFont typeface="Arial" panose="020B0604020202020204" pitchFamily="34" charset="0"/>
              <a:buChar char="•"/>
            </a:pPr>
            <a:r>
              <a:rPr lang="en-US" b="0" i="0" dirty="0">
                <a:solidFill>
                  <a:srgbClr val="0B0E29"/>
                </a:solidFill>
                <a:effectLst/>
                <a:latin typeface="DM Sans"/>
              </a:rPr>
              <a:t>Here we can see that the product is higher than zero which means the POS tagging we have performed is correct and if the result is zero then the tagging performed will not be correct.</a:t>
            </a:r>
            <a:endParaRPr lang="en-US" dirty="0"/>
          </a:p>
        </p:txBody>
      </p:sp>
      <p:sp>
        <p:nvSpPr>
          <p:cNvPr id="2" name="Rectangle 1"/>
          <p:cNvSpPr/>
          <p:nvPr/>
        </p:nvSpPr>
        <p:spPr>
          <a:xfrm>
            <a:off x="1831122" y="153328"/>
            <a:ext cx="8151078" cy="769441"/>
          </a:xfrm>
          <a:prstGeom prst="rect">
            <a:avLst/>
          </a:prstGeom>
        </p:spPr>
        <p:txBody>
          <a:bodyPr wrap="none">
            <a:spAutoFit/>
          </a:bodyPr>
          <a:lstStyle/>
          <a:p>
            <a:r>
              <a:rPr lang="en-US" sz="4400" dirty="0">
                <a:latin typeface="+mj-lt"/>
                <a:ea typeface="+mj-ea"/>
                <a:cs typeface="+mj-cs"/>
              </a:rPr>
              <a:t>The correctness of the POS tagging</a:t>
            </a:r>
            <a:r>
              <a:rPr lang="en-US" dirty="0">
                <a:solidFill>
                  <a:srgbClr val="0B0E29"/>
                </a:solidFill>
                <a:latin typeface="DM Sans"/>
              </a:rPr>
              <a:t> </a:t>
            </a:r>
            <a:endParaRPr lang="en-US" dirty="0"/>
          </a:p>
        </p:txBody>
      </p:sp>
      <p:pic>
        <p:nvPicPr>
          <p:cNvPr id="8" name="Picture 7">
            <a:extLst>
              <a:ext uri="{FF2B5EF4-FFF2-40B4-BE49-F238E27FC236}">
                <a16:creationId xmlns:a16="http://schemas.microsoft.com/office/drawing/2014/main" id="{9635782F-B16C-1C5F-33C0-FF2B415702A5}"/>
              </a:ext>
            </a:extLst>
          </p:cNvPr>
          <p:cNvPicPr>
            <a:picLocks noChangeAspect="1"/>
          </p:cNvPicPr>
          <p:nvPr/>
        </p:nvPicPr>
        <p:blipFill>
          <a:blip r:embed="rId2"/>
          <a:stretch>
            <a:fillRect/>
          </a:stretch>
        </p:blipFill>
        <p:spPr>
          <a:xfrm>
            <a:off x="942975" y="2774999"/>
            <a:ext cx="10410825" cy="2886075"/>
          </a:xfrm>
          <a:prstGeom prst="rect">
            <a:avLst/>
          </a:prstGeom>
        </p:spPr>
      </p:pic>
    </p:spTree>
    <p:extLst>
      <p:ext uri="{BB962C8B-B14F-4D97-AF65-F5344CB8AC3E}">
        <p14:creationId xmlns:p14="http://schemas.microsoft.com/office/powerpoint/2010/main" val="2994788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So here we have seen how the HMM,s algorithm works for providing the POS tagging to the sentences but the example was small where we had only 3 kinds of POS tags but there are 81 different kinds of POS tags available. </a:t>
            </a:r>
          </a:p>
        </p:txBody>
      </p:sp>
      <p:sp>
        <p:nvSpPr>
          <p:cNvPr id="4" name="Slide Number Placeholder 3"/>
          <p:cNvSpPr>
            <a:spLocks noGrp="1"/>
          </p:cNvSpPr>
          <p:nvPr>
            <p:ph type="sldNum" sz="quarter" idx="12"/>
          </p:nvPr>
        </p:nvSpPr>
        <p:spPr/>
        <p:txBody>
          <a:bodyPr/>
          <a:lstStyle/>
          <a:p>
            <a:fld id="{FBEB0D4F-CAB0-40F9-A1C9-99A3F6579EAB}" type="slidenum">
              <a:rPr lang="en-US" smtClean="0"/>
              <a:t>11</a:t>
            </a:fld>
            <a:endParaRPr lang="en-US"/>
          </a:p>
        </p:txBody>
      </p:sp>
    </p:spTree>
    <p:extLst>
      <p:ext uri="{BB962C8B-B14F-4D97-AF65-F5344CB8AC3E}">
        <p14:creationId xmlns:p14="http://schemas.microsoft.com/office/powerpoint/2010/main" val="2439063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772400" cy="1768475"/>
          </a:xfrm>
        </p:spPr>
        <p:txBody>
          <a:bodyPr>
            <a:normAutofit fontScale="90000"/>
          </a:bodyPr>
          <a:lstStyle/>
          <a:p>
            <a:r>
              <a:rPr lang="en-US" dirty="0"/>
              <a:t>The image shown is a representation of the words with the tags on them presented in the dataset.</a:t>
            </a:r>
          </a:p>
        </p:txBody>
      </p:sp>
      <p:sp>
        <p:nvSpPr>
          <p:cNvPr id="4" name="Slide Number Placeholder 3"/>
          <p:cNvSpPr>
            <a:spLocks noGrp="1"/>
          </p:cNvSpPr>
          <p:nvPr>
            <p:ph type="sldNum" sz="quarter" idx="12"/>
          </p:nvPr>
        </p:nvSpPr>
        <p:spPr/>
        <p:txBody>
          <a:bodyPr/>
          <a:lstStyle/>
          <a:p>
            <a:fld id="{FBEB0D4F-CAB0-40F9-A1C9-99A3F6579EAB}" type="slidenum">
              <a:rPr lang="en-US" smtClean="0"/>
              <a:t>12</a:t>
            </a:fld>
            <a:endParaRPr lang="en-US"/>
          </a:p>
        </p:txBody>
      </p:sp>
      <p:pic>
        <p:nvPicPr>
          <p:cNvPr id="5" name="Picture 4"/>
          <p:cNvPicPr>
            <a:picLocks noChangeAspect="1"/>
          </p:cNvPicPr>
          <p:nvPr/>
        </p:nvPicPr>
        <p:blipFill>
          <a:blip r:embed="rId2"/>
          <a:stretch>
            <a:fillRect/>
          </a:stretch>
        </p:blipFill>
        <p:spPr>
          <a:xfrm>
            <a:off x="9103974" y="210207"/>
            <a:ext cx="2877819" cy="6511268"/>
          </a:xfrm>
          <a:prstGeom prst="rect">
            <a:avLst/>
          </a:prstGeom>
        </p:spPr>
      </p:pic>
      <p:sp>
        <p:nvSpPr>
          <p:cNvPr id="6" name="Rectangle 1"/>
          <p:cNvSpPr>
            <a:spLocks noChangeArrowheads="1"/>
          </p:cNvSpPr>
          <p:nvPr/>
        </p:nvSpPr>
        <p:spPr bwMode="auto">
          <a:xfrm>
            <a:off x="688680" y="3075057"/>
            <a:ext cx="1202858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rgbClr val="0B0E29"/>
                </a:solidFill>
                <a:effectLst/>
                <a:latin typeface="DM Sans"/>
              </a:rPr>
              <a:t>In the data which we are using we have 12 unique tags on it. Like the following image.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0" name="Picture 2" descr="https://analyticsindiamag.com/wp-content/uploads/2021/10/image-8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959001"/>
            <a:ext cx="6501843" cy="528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8642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below image represents the transition probability table.</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FBEB0D4F-CAB0-40F9-A1C9-99A3F6579EAB}" type="slidenum">
              <a:rPr lang="en-US" smtClean="0"/>
              <a:t>13</a:t>
            </a:fld>
            <a:endParaRPr lang="en-US"/>
          </a:p>
        </p:txBody>
      </p:sp>
      <p:pic>
        <p:nvPicPr>
          <p:cNvPr id="5" name="Picture 4"/>
          <p:cNvPicPr>
            <a:picLocks noChangeAspect="1"/>
          </p:cNvPicPr>
          <p:nvPr/>
        </p:nvPicPr>
        <p:blipFill>
          <a:blip r:embed="rId2"/>
          <a:stretch>
            <a:fillRect/>
          </a:stretch>
        </p:blipFill>
        <p:spPr>
          <a:xfrm>
            <a:off x="890041" y="1870075"/>
            <a:ext cx="9770851" cy="4306888"/>
          </a:xfrm>
          <a:prstGeom prst="rect">
            <a:avLst/>
          </a:prstGeom>
        </p:spPr>
      </p:pic>
    </p:spTree>
    <p:extLst>
      <p:ext uri="{BB962C8B-B14F-4D97-AF65-F5344CB8AC3E}">
        <p14:creationId xmlns:p14="http://schemas.microsoft.com/office/powerpoint/2010/main" val="1912031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796086"/>
          </a:xfrm>
        </p:spPr>
        <p:txBody>
          <a:bodyPr>
            <a:normAutofit/>
          </a:bodyPr>
          <a:lstStyle/>
          <a:p>
            <a:r>
              <a:rPr lang="en-US" dirty="0"/>
              <a:t>In the table we can see that we have almost no zero values. By this also we can say the tagging on the data is almost correct also we can optimize it using the Viterbi algorithm.</a:t>
            </a:r>
          </a:p>
        </p:txBody>
      </p:sp>
      <p:sp>
        <p:nvSpPr>
          <p:cNvPr id="4" name="Slide Number Placeholder 3"/>
          <p:cNvSpPr>
            <a:spLocks noGrp="1"/>
          </p:cNvSpPr>
          <p:nvPr>
            <p:ph type="sldNum" sz="quarter" idx="12"/>
          </p:nvPr>
        </p:nvSpPr>
        <p:spPr/>
        <p:txBody>
          <a:bodyPr/>
          <a:lstStyle/>
          <a:p>
            <a:fld id="{FBEB0D4F-CAB0-40F9-A1C9-99A3F6579EAB}" type="slidenum">
              <a:rPr lang="en-US" smtClean="0"/>
              <a:t>14</a:t>
            </a:fld>
            <a:endParaRPr lang="en-US"/>
          </a:p>
        </p:txBody>
      </p:sp>
      <p:pic>
        <p:nvPicPr>
          <p:cNvPr id="7" name="Picture 6"/>
          <p:cNvPicPr>
            <a:picLocks noChangeAspect="1"/>
          </p:cNvPicPr>
          <p:nvPr/>
        </p:nvPicPr>
        <p:blipFill>
          <a:blip r:embed="rId2"/>
          <a:stretch>
            <a:fillRect/>
          </a:stretch>
        </p:blipFill>
        <p:spPr>
          <a:xfrm>
            <a:off x="432842" y="3406047"/>
            <a:ext cx="6137776" cy="3164570"/>
          </a:xfrm>
          <a:prstGeom prst="rect">
            <a:avLst/>
          </a:prstGeom>
        </p:spPr>
      </p:pic>
      <p:pic>
        <p:nvPicPr>
          <p:cNvPr id="6" name="Picture 5"/>
          <p:cNvPicPr>
            <a:picLocks noChangeAspect="1"/>
          </p:cNvPicPr>
          <p:nvPr/>
        </p:nvPicPr>
        <p:blipFill>
          <a:blip r:embed="rId3"/>
          <a:stretch>
            <a:fillRect/>
          </a:stretch>
        </p:blipFill>
        <p:spPr>
          <a:xfrm>
            <a:off x="6953113" y="3544660"/>
            <a:ext cx="4825792" cy="687705"/>
          </a:xfrm>
          <a:prstGeom prst="rect">
            <a:avLst/>
          </a:prstGeom>
        </p:spPr>
      </p:pic>
      <p:sp>
        <p:nvSpPr>
          <p:cNvPr id="8" name="Rectangle 7"/>
          <p:cNvSpPr/>
          <p:nvPr/>
        </p:nvSpPr>
        <p:spPr>
          <a:xfrm>
            <a:off x="7206283" y="4615814"/>
            <a:ext cx="4319452" cy="923330"/>
          </a:xfrm>
          <a:prstGeom prst="rect">
            <a:avLst/>
          </a:prstGeom>
        </p:spPr>
        <p:txBody>
          <a:bodyPr wrap="square">
            <a:spAutoFit/>
          </a:bodyPr>
          <a:lstStyle/>
          <a:p>
            <a:r>
              <a:rPr lang="en-US" b="0" i="0" dirty="0">
                <a:solidFill>
                  <a:srgbClr val="0B0E29"/>
                </a:solidFill>
                <a:effectLst/>
                <a:latin typeface="DM Sans"/>
              </a:rPr>
              <a:t>The table is a result of ten sentences of the data set where we can see that we almost get 94% accuracy. </a:t>
            </a:r>
            <a:endParaRPr lang="en-US" dirty="0"/>
          </a:p>
        </p:txBody>
      </p:sp>
    </p:spTree>
    <p:extLst>
      <p:ext uri="{BB962C8B-B14F-4D97-AF65-F5344CB8AC3E}">
        <p14:creationId xmlns:p14="http://schemas.microsoft.com/office/powerpoint/2010/main" val="3391035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690</Words>
  <Application>Microsoft Office PowerPoint</Application>
  <PresentationFormat>Widescreen</PresentationFormat>
  <Paragraphs>57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DM Sans</vt:lpstr>
      <vt:lpstr>Office Theme</vt:lpstr>
      <vt:lpstr>Hidden Markov Model and its Applications in NLP</vt:lpstr>
      <vt:lpstr>Introduction</vt:lpstr>
      <vt:lpstr>The use of HMM for PoS tagging</vt:lpstr>
      <vt:lpstr>Example</vt:lpstr>
      <vt:lpstr>Let’s take a look at how we can calculate these two probabilities for a set of sentences: </vt:lpstr>
      <vt:lpstr>The below table is a counting tableau for the words with their part of speech type</vt:lpstr>
      <vt:lpstr>Let’s divide each word’s appearance by the total number of every part of speech in the set of sentences.</vt:lpstr>
      <vt:lpstr>PowerPoint Presentation</vt:lpstr>
      <vt:lpstr>Let’s take the sentence “Will Jane spot Mary?” out from the set and now we can calculate the probabilities for every part of speech using the above calculations.</vt:lpstr>
      <vt:lpstr>PowerPoint Presentation</vt:lpstr>
      <vt:lpstr>PowerPoint Presentation</vt:lpstr>
      <vt:lpstr>The image shown is a representation of the words with the tags on them presented in the dataset.</vt:lpstr>
      <vt:lpstr>The below image represents the transition probability table.</vt:lpstr>
      <vt:lpstr>In the table we can see that we have almost no zero values. By this also we can say the tagging on the data is almost correct also we can optimize it using the Viterbi algorithm.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Hidden Markov Model and its Applications in NLP</dc:title>
  <dc:creator>Instructor 314</dc:creator>
  <cp:lastModifiedBy>Alaa Hamdy</cp:lastModifiedBy>
  <cp:revision>28</cp:revision>
  <dcterms:created xsi:type="dcterms:W3CDTF">2024-03-13T11:11:58Z</dcterms:created>
  <dcterms:modified xsi:type="dcterms:W3CDTF">2024-06-04T15:39:13Z</dcterms:modified>
</cp:coreProperties>
</file>