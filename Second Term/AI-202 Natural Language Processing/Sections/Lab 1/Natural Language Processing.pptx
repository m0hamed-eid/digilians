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g"/>
  <Override PartName="/ppt/media/image34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9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41"/>
  </p:notesMasterIdLst>
  <p:handoutMasterIdLst>
    <p:handoutMasterId r:id="rId42"/>
  </p:handoutMasterIdLst>
  <p:sldIdLst>
    <p:sldId id="418" r:id="rId3"/>
    <p:sldId id="258" r:id="rId4"/>
    <p:sldId id="261" r:id="rId5"/>
    <p:sldId id="279" r:id="rId6"/>
    <p:sldId id="262" r:id="rId7"/>
    <p:sldId id="289" r:id="rId8"/>
    <p:sldId id="420" r:id="rId9"/>
    <p:sldId id="429" r:id="rId10"/>
    <p:sldId id="448" r:id="rId11"/>
    <p:sldId id="449" r:id="rId12"/>
    <p:sldId id="443" r:id="rId13"/>
    <p:sldId id="424" r:id="rId14"/>
    <p:sldId id="445" r:id="rId15"/>
    <p:sldId id="427" r:id="rId16"/>
    <p:sldId id="446" r:id="rId17"/>
    <p:sldId id="436" r:id="rId18"/>
    <p:sldId id="447" r:id="rId19"/>
    <p:sldId id="430" r:id="rId20"/>
    <p:sldId id="437" r:id="rId21"/>
    <p:sldId id="435" r:id="rId22"/>
    <p:sldId id="438" r:id="rId23"/>
    <p:sldId id="439" r:id="rId24"/>
    <p:sldId id="296" r:id="rId25"/>
    <p:sldId id="283" r:id="rId26"/>
    <p:sldId id="300" r:id="rId27"/>
    <p:sldId id="303" r:id="rId28"/>
    <p:sldId id="305" r:id="rId29"/>
    <p:sldId id="444" r:id="rId30"/>
    <p:sldId id="308" r:id="rId31"/>
    <p:sldId id="310" r:id="rId32"/>
    <p:sldId id="309" r:id="rId33"/>
    <p:sldId id="311" r:id="rId34"/>
    <p:sldId id="313" r:id="rId35"/>
    <p:sldId id="315" r:id="rId36"/>
    <p:sldId id="440" r:id="rId37"/>
    <p:sldId id="441" r:id="rId38"/>
    <p:sldId id="442" r:id="rId39"/>
    <p:sldId id="40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8000"/>
    <a:srgbClr val="FFF9E7"/>
    <a:srgbClr val="0FAB7D"/>
    <a:srgbClr val="336EA8"/>
    <a:srgbClr val="94B9D6"/>
    <a:srgbClr val="1869A6"/>
    <a:srgbClr val="2AA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9D18C-F614-AA06-7896-C2537A503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33310-1084-80E5-77A5-58D9FF978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934D-986A-461F-A56A-008EB77503FA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369A7-2F8D-89A0-ECB3-4F455C56F7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0CFA2-3CB1-B738-9B34-7A952AF88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49821-D232-445A-BEEB-776290B88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1070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01773-843B-402D-B943-E7367BE302C1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223A7-FDE5-4555-AB7B-2BBB96A8A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9031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48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B26E85-A47D-4EB8-AACC-5D71388BF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96502-5A71-49D7-91EF-E9D795A0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02CB4-0340-43A8-A558-65E5F6C9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7D51-1B41-4AAB-838C-EF900F85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0C4BE-FE7F-4C02-9A3E-71BC3A48C6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5" name="Freeform 6">
            <a:extLst>
              <a:ext uri="{FF2B5EF4-FFF2-40B4-BE49-F238E27FC236}">
                <a16:creationId xmlns:a16="http://schemas.microsoft.com/office/drawing/2014/main" id="{5140D0A2-F8A9-7918-6D42-0B21462A7985}"/>
              </a:ext>
            </a:extLst>
          </p:cNvPr>
          <p:cNvSpPr/>
          <p:nvPr userDrawn="1"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9A13-D855-42EA-8471-DDA8E13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0B6D-1D51-4444-8393-E35BA63F1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446-D5C8-48D6-8362-2691AC20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07058-AB46-40A5-B5AE-E9862D3C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426E-5AEB-4C83-A17B-24163816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28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BE44-49C7-449D-9550-1E7B6597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A4F7-FE01-4FEF-BC23-4EBFFF37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387F4-F1D2-4A96-86BB-A4831077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4A87DE-453B-43B6-A2E7-B7ACAB1CBB72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BA3-57A0-4B4B-A089-2C5CE870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FDF6D-CD2D-433E-84D7-E83F8FCE5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2BDD0D-C88D-431E-BC92-4367CEB006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BEB5-E386-9685-E6D3-A062E9E4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37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25BB-1073-4118-9189-772DE573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C724-756A-4777-8D83-3CD9AFD1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FC4DE-2AB7-4E43-BFBA-6FF436D9B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CCFF-F409-4BF2-9883-91BA170B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19074-3525-4C53-BB5F-EDBE2C3919B2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82A71-7516-408D-862B-A5F34041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613D0-7994-4BCE-AE17-12E991FE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1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C53-ADBE-4538-BDCF-8A6C0C07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37BC3-80C1-40A0-B8BD-B9E9F564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B7EDB-C158-4B0F-AC48-1D7DE7DC8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E96D1-3002-4810-98AF-A275B6334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DBB9A-2C9B-4E96-9E5C-6C3BE6449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99CCF-14FE-46E4-AEF3-3520D66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7DF3FA-3BBB-4E21-B01F-8E78166C2641}" type="datetime1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493FD-6F8C-4BED-896C-CBA26D0E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F6D6A-EFFC-4E81-9BDD-C595B6C9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75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16566-0B23-4F08-ACF0-2DDFF54A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96B25-2A2B-41A7-AF6D-57D505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51039-3078-40BB-9654-06ADED92961B}" type="datetime1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5C9F0-C082-4566-AEB4-F08316DE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F48D6-A9E0-485D-BA28-15D5DACA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21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2526D-307A-4059-80C4-1413758A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B2CCE6-15BD-43D7-B1E2-4DA008F6C4FD}" type="datetime1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1822F-3DE8-45A0-9F67-6061DB1F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1B196-D439-43FF-B35C-F9A301B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48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350E-3F73-4F95-89B8-BF9D660E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E4F2-B1FE-4665-B99F-04C8EBAA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1F0C4-D797-433C-B73A-9C3B4D1BA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3DABF-2DE9-4FD5-B4A8-5E200B98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84D01C-F978-47A5-82BB-936A35605786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32E28-C4D1-4761-BD12-20FBE94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CF5A0-DC82-4F6C-8E49-2C9987C4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7410-9CC3-4CD7-A18A-2A1FBD8F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7FFE-99AB-4F61-A4A2-7D7A5832C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EFC75-BA25-436F-A339-F8970D50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E525-9C27-44A4-ADC4-FEBFF450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F1BF65-6261-4506-9B18-09D466A4862C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2E2F3-7DBB-4D25-9537-D2D24B0D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7A639-0697-4DE3-8BE3-94C24D6F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37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7062-6971-4C1F-A975-AC85DCD0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55ECB-B9CD-4FA5-AACA-CDD01AACF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F606B-F0E0-4BB1-94D6-738E49DF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5B0235-769B-4CA0-A62B-C6A5AB72DE14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5738-7A1D-4D54-ADFC-91C34D4F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7C986-B0A0-4B82-9134-1B7676F5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8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5B8BC-3AC4-4059-BB3C-B12B6148A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C1D0E-02A9-4DFB-8CA3-A94A10E72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F7A1-D368-4F71-BA41-54CA742F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1D8335-0A38-47E0-BDB5-15E3DCC52633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9678-2347-4C47-858A-5508F838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0E8F-0367-4945-87E5-F2D254AD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47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8A88-1EE1-3422-84E1-7CB361B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1FC91-FAA2-D65F-E901-C6884F9C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227FE5-55EA-4524-9391-07C0F38E76CE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48D4D-60AF-93C1-9BF4-DCE9AEF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D901-3047-7838-FFFA-C6F934BA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37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168" y="814605"/>
            <a:ext cx="1167766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129D2-17F6-4B39-943E-17309EE20ADE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835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72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20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99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87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01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33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21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98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58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821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8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F972D6-1319-4F4E-A35B-D719D3F5F86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5C812-25A0-4E40-A6AB-B4A290A6315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1E89A-F8E2-4201-95AC-F9DBA9C318F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BE728FAA-6989-49E4-827F-768285FCB943}"/>
              </a:ext>
            </a:extLst>
          </p:cNvPr>
          <p:cNvSpPr/>
          <p:nvPr userDrawn="1"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A08C-8FDB-46C4-8ADC-9425CB5F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7012-56A5-4A5F-AE60-B293BCF52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2B0E-0FEF-49F7-B246-1C5E6D54C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E8069-45EF-4F1D-8025-75594D26D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3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1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2557145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489" y="3469241"/>
            <a:ext cx="6429744" cy="2102108"/>
          </a:xfrm>
        </p:spPr>
        <p:txBody>
          <a:bodyPr anchor="t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Lab4</a:t>
            </a:r>
          </a:p>
          <a:p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Visión - Iconos gratis de computadora">
            <a:extLst>
              <a:ext uri="{FF2B5EF4-FFF2-40B4-BE49-F238E27FC236}">
                <a16:creationId xmlns:a16="http://schemas.microsoft.com/office/drawing/2014/main" id="{49AA78AA-A709-087F-383E-59E9AA762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392" y="74764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blue lines and a letter h&#10;&#10;Description automatically generated">
            <a:extLst>
              <a:ext uri="{FF2B5EF4-FFF2-40B4-BE49-F238E27FC236}">
                <a16:creationId xmlns:a16="http://schemas.microsoft.com/office/drawing/2014/main" id="{C9B122F7-7E2F-6114-9CF4-7B48B5849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1" r="17967"/>
          <a:stretch/>
        </p:blipFill>
        <p:spPr>
          <a:xfrm>
            <a:off x="7461299" y="1903445"/>
            <a:ext cx="3182522" cy="21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228" y="119254"/>
            <a:ext cx="11440516" cy="639492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lang="en-US" sz="4000" b="1" spc="1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4000" b="1" spc="-2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000" b="1" spc="-2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1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Processing(NLP) ?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B38A8-575A-2DD3-0187-876C0929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</a:t>
            </a:fld>
            <a:endParaRPr 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B15599-AC24-BB34-025C-3E66836E8822}"/>
              </a:ext>
            </a:extLst>
          </p:cNvPr>
          <p:cNvSpPr txBox="1"/>
          <p:nvPr/>
        </p:nvSpPr>
        <p:spPr>
          <a:xfrm>
            <a:off x="145943" y="1144017"/>
            <a:ext cx="6562865" cy="50748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How to make language  understandable to computers?</a:t>
            </a: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endParaRPr lang="en-US" sz="2300" spc="-7" dirty="0">
              <a:latin typeface="Arial"/>
              <a:cs typeface="Arial"/>
            </a:endParaRP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NLP is deeply tied to the sequential nature of language. </a:t>
            </a: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Sequences of words, phrases, or sentences are key to understanding meaning, context, and relationships between different parts of text.</a:t>
            </a: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endParaRPr lang="en-US" sz="2300" spc="-7" dirty="0">
              <a:latin typeface="Arial"/>
              <a:cs typeface="Arial"/>
            </a:endParaRP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Then develop algorithms to operate  on the input language:</a:t>
            </a:r>
          </a:p>
          <a:p>
            <a:pPr marL="680714" lvl="1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CS</a:t>
            </a:r>
          </a:p>
          <a:p>
            <a:pPr marL="680714" lvl="1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AI</a:t>
            </a:r>
          </a:p>
          <a:p>
            <a:pPr marL="680714" lvl="1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Linguistics </a:t>
            </a:r>
            <a:r>
              <a:rPr lang="ar-SA" sz="2300" spc="-7" dirty="0">
                <a:latin typeface="Arial"/>
                <a:cs typeface="Arial"/>
              </a:rPr>
              <a:t>اللغويات</a:t>
            </a:r>
          </a:p>
        </p:txBody>
      </p:sp>
      <p:pic>
        <p:nvPicPr>
          <p:cNvPr id="3076" name="Picture 4" descr="NLP-practitioner - Practice Test Geeks">
            <a:extLst>
              <a:ext uri="{FF2B5EF4-FFF2-40B4-BE49-F238E27FC236}">
                <a16:creationId xmlns:a16="http://schemas.microsoft.com/office/drawing/2014/main" id="{0844C28D-1238-0F8B-16FC-63199A73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981" y="1338380"/>
            <a:ext cx="5017970" cy="501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atural Language Processing (NLP) Task Examples">
            <a:extLst>
              <a:ext uri="{FF2B5EF4-FFF2-40B4-BE49-F238E27FC236}">
                <a16:creationId xmlns:a16="http://schemas.microsoft.com/office/drawing/2014/main" id="{578CF24E-EE9C-CB9E-0761-7A0FE43CD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1" r="20524"/>
          <a:stretch/>
        </p:blipFill>
        <p:spPr bwMode="auto">
          <a:xfrm>
            <a:off x="4794503" y="0"/>
            <a:ext cx="70713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3974" y="2304510"/>
            <a:ext cx="2824482" cy="13304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NLP tasks?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B9A0E6-5691-2A2C-9371-E70F2BF7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388" y="552795"/>
            <a:ext cx="971922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b="1" spc="-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Encoder-Decoder</a:t>
            </a:r>
            <a:r>
              <a:rPr b="1" spc="-1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r="19275"/>
          <a:stretch/>
        </p:blipFill>
        <p:spPr>
          <a:xfrm>
            <a:off x="1752600" y="1786312"/>
            <a:ext cx="8488680" cy="40307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0B1B6-F393-BDE2-8E2A-3E8D5020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C4ECA-4AEE-295D-CDF7-FABE50DA658D}"/>
              </a:ext>
            </a:extLst>
          </p:cNvPr>
          <p:cNvSpPr txBox="1"/>
          <p:nvPr/>
        </p:nvSpPr>
        <p:spPr>
          <a:xfrm>
            <a:off x="1492758" y="5935873"/>
            <a:ext cx="1652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-7" dirty="0">
                <a:latin typeface="Arial"/>
                <a:cs typeface="Arial"/>
              </a:rPr>
              <a:t>image</a:t>
            </a:r>
            <a:r>
              <a:rPr lang="en-US" sz="1800" b="1" spc="-13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classification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583E2-AEBD-A8B6-A43B-F778F176EEA2}"/>
              </a:ext>
            </a:extLst>
          </p:cNvPr>
          <p:cNvSpPr txBox="1"/>
          <p:nvPr/>
        </p:nvSpPr>
        <p:spPr>
          <a:xfrm>
            <a:off x="3339846" y="5902029"/>
            <a:ext cx="1369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-7" dirty="0">
                <a:latin typeface="Arial"/>
                <a:cs typeface="Arial"/>
              </a:rPr>
              <a:t>image </a:t>
            </a:r>
            <a:r>
              <a:rPr lang="en-US" sz="1800" b="1" dirty="0">
                <a:latin typeface="Arial"/>
                <a:cs typeface="Arial"/>
              </a:rPr>
              <a:t>captioning 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CA379-1AC4-4A58-4E9F-F8756415DE0B}"/>
              </a:ext>
            </a:extLst>
          </p:cNvPr>
          <p:cNvSpPr txBox="1"/>
          <p:nvPr/>
        </p:nvSpPr>
        <p:spPr>
          <a:xfrm>
            <a:off x="5287518" y="5935872"/>
            <a:ext cx="178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"/>
                <a:cs typeface="Arial"/>
              </a:rPr>
              <a:t>sentiment </a:t>
            </a:r>
            <a:r>
              <a:rPr lang="en-US" sz="1800" b="1" spc="-7" dirty="0">
                <a:latin typeface="Arial"/>
                <a:cs typeface="Arial"/>
              </a:rPr>
              <a:t>analysis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9574-14B2-D37D-AD2A-773CC7B81610}"/>
              </a:ext>
            </a:extLst>
          </p:cNvPr>
          <p:cNvSpPr txBox="1"/>
          <p:nvPr/>
        </p:nvSpPr>
        <p:spPr>
          <a:xfrm>
            <a:off x="7841742" y="5902029"/>
            <a:ext cx="14516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"/>
                <a:cs typeface="Arial"/>
              </a:rPr>
              <a:t>Machine </a:t>
            </a:r>
            <a:r>
              <a:rPr lang="en-US" sz="1800" b="1" spc="-13" dirty="0">
                <a:latin typeface="Arial"/>
                <a:cs typeface="Arial"/>
              </a:rPr>
              <a:t>Translation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2623" y="462309"/>
            <a:ext cx="497044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b="1" spc="-1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hard?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8103" y="1727493"/>
            <a:ext cx="5605273" cy="474489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13"/>
              </a:lnSpc>
            </a:pPr>
            <a:r>
              <a:rPr sz="3600" spc="-7" dirty="0">
                <a:highlight>
                  <a:srgbClr val="FFFF00"/>
                </a:highlight>
                <a:latin typeface="Arial"/>
                <a:cs typeface="Arial"/>
              </a:rPr>
              <a:t>Human</a:t>
            </a:r>
            <a:r>
              <a:rPr sz="3600" spc="-47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600" spc="-7" dirty="0">
                <a:highlight>
                  <a:srgbClr val="FFFF00"/>
                </a:highlight>
                <a:latin typeface="Arial"/>
                <a:cs typeface="Arial"/>
              </a:rPr>
              <a:t>Language</a:t>
            </a:r>
            <a:r>
              <a:rPr sz="3600" spc="-4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600" spc="-7" dirty="0">
                <a:highlight>
                  <a:srgbClr val="FFFF00"/>
                </a:highlight>
                <a:latin typeface="Arial"/>
                <a:cs typeface="Arial"/>
              </a:rPr>
              <a:t>is</a:t>
            </a:r>
            <a:r>
              <a:rPr sz="3600" spc="-4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600" spc="-13" dirty="0">
                <a:highlight>
                  <a:srgbClr val="FFFF00"/>
                </a:highlight>
                <a:latin typeface="Arial"/>
                <a:cs typeface="Arial"/>
              </a:rPr>
              <a:t>difficult</a:t>
            </a:r>
            <a:endParaRPr sz="3600" dirty="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896" y="2610349"/>
            <a:ext cx="11512296" cy="33239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Symbolic: Uses symbols to convey meaning. </a:t>
            </a:r>
            <a:r>
              <a:rPr lang="ar-EG" sz="2400" spc="-7" dirty="0">
                <a:latin typeface="Arial"/>
                <a:cs typeface="Arial"/>
              </a:rPr>
              <a:t>الرموز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Implicit Meaning: Includes indirect cues (e.g., sarcasm).</a:t>
            </a:r>
            <a:r>
              <a:rPr lang="ar-EG" sz="2400" spc="-7" dirty="0">
                <a:latin typeface="Arial"/>
                <a:cs typeface="Arial"/>
              </a:rPr>
              <a:t> سخرية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Multiple Encodings: Same meaning can have different expressions (gestures, emoticons, speech).</a:t>
            </a:r>
            <a:r>
              <a:rPr lang="ar-EG" sz="2400" spc="-7" dirty="0">
                <a:latin typeface="Arial"/>
                <a:cs typeface="Arial"/>
              </a:rPr>
              <a:t> نفس المعنى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Sparse Vocabulary: Huge vocabulary set.</a:t>
            </a:r>
            <a:r>
              <a:rPr lang="ar-EG" sz="2400" spc="-7" dirty="0">
                <a:latin typeface="Arial"/>
                <a:cs typeface="Arial"/>
              </a:rPr>
              <a:t>  كلمات كثيرة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Diverse: Encompasses multiple languages, dialects, and accents</a:t>
            </a:r>
            <a:r>
              <a:rPr lang="ar-EG" sz="2400" spc="-7" dirty="0">
                <a:latin typeface="Arial"/>
                <a:cs typeface="Arial"/>
              </a:rPr>
              <a:t>.</a:t>
            </a:r>
            <a:r>
              <a:rPr lang="en-US" sz="2400" spc="-7" dirty="0">
                <a:latin typeface="Arial"/>
                <a:cs typeface="Arial"/>
              </a:rPr>
              <a:t> </a:t>
            </a:r>
            <a:r>
              <a:rPr lang="ar-EG" sz="2400" spc="-7" dirty="0">
                <a:latin typeface="Arial"/>
                <a:cs typeface="Arial"/>
              </a:rPr>
              <a:t>لغات ولهجات مختلفة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F5594-6215-520A-FAB4-E662B20B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792" y="371769"/>
            <a:ext cx="11570208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8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of Natural Language Processing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75ACE-8AE7-310D-E7A1-4F4D8A6C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</a:t>
            </a:fld>
            <a:endParaRPr lang="en-US" dirty="0"/>
          </a:p>
        </p:txBody>
      </p:sp>
      <p:pic>
        <p:nvPicPr>
          <p:cNvPr id="1026" name="Picture 2" descr="Data Preprocessing in Machine Learning [Steps &amp; Techniques]">
            <a:extLst>
              <a:ext uri="{FF2B5EF4-FFF2-40B4-BE49-F238E27FC236}">
                <a16:creationId xmlns:a16="http://schemas.microsoft.com/office/drawing/2014/main" id="{91760321-2E8A-7C17-B86A-863306CE7A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1" b="13685"/>
          <a:stretch/>
        </p:blipFill>
        <p:spPr bwMode="auto">
          <a:xfrm>
            <a:off x="1086635" y="1389078"/>
            <a:ext cx="9864725" cy="533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4C2E7C-DFD4-A2C3-9B63-98D8224E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E3F7F-A5FF-90F6-5692-EAC8D33D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2E03FC-AB32-7D0F-5D9B-A2B4BCF6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48" y="0"/>
            <a:ext cx="9553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9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19763-4D7C-660F-C734-D5AE0955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6614E8A-AF75-9B02-994D-AC7BDE76F901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 spc="-13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Data Cleaning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7C58C-0698-9989-950F-10AAC5597F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1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0F1DB-BE2E-BCF7-A3D3-BF0933A5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2959B2BC-8CAA-0AF4-7BCA-3B0578B3D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A9DF16CE-297F-940B-CFDA-81E96CFAF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5A6573EA-093A-9455-03D1-A3C69548C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4B8BE33-76ED-E121-AC8C-789CB93F1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F855D-DC1C-8C05-8EE2-B4AC73A256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1A51C-F712-0E6A-B7EF-FBDFB57D6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79" y="1109379"/>
            <a:ext cx="9839325" cy="5724525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58A0B486-8D77-AE51-7198-349ECF25CDDC}"/>
              </a:ext>
            </a:extLst>
          </p:cNvPr>
          <p:cNvSpPr txBox="1"/>
          <p:nvPr/>
        </p:nvSpPr>
        <p:spPr>
          <a:xfrm>
            <a:off x="1523997" y="136525"/>
            <a:ext cx="9144000" cy="748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spc="-13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Regular Expression (re)</a:t>
            </a:r>
          </a:p>
        </p:txBody>
      </p:sp>
    </p:spTree>
    <p:extLst>
      <p:ext uri="{BB962C8B-B14F-4D97-AF65-F5344CB8AC3E}">
        <p14:creationId xmlns:p14="http://schemas.microsoft.com/office/powerpoint/2010/main" val="74865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2C1A9-3A53-D3B8-997D-F042F01F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5AAA9AFB-5EDE-5D0A-20A8-D4E07BA26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F85B1570-C765-C65C-CFDF-A8D51188D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4DA047A7-93AC-42DF-2000-AA8123777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39BFBFB-6333-DB96-6480-D303E476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D24B5-D145-66F6-C4D4-551DF5CB03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45770-417D-F56F-D1A8-87410ADE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622"/>
          <a:stretch>
            <a:fillRect/>
          </a:stretch>
        </p:blipFill>
        <p:spPr>
          <a:xfrm>
            <a:off x="1176337" y="1627053"/>
            <a:ext cx="9839325" cy="36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5716D-0AFF-2071-24E6-491C0F4E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87" y="2114888"/>
            <a:ext cx="8791575" cy="1238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714B0C-70B9-5D67-5ACF-40A3E6ACF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813" y="3313593"/>
            <a:ext cx="8829675" cy="1743075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A311A129-B5A2-94D5-7BF3-AB0F6A1DA0D5}"/>
              </a:ext>
            </a:extLst>
          </p:cNvPr>
          <p:cNvSpPr txBox="1"/>
          <p:nvPr/>
        </p:nvSpPr>
        <p:spPr>
          <a:xfrm>
            <a:off x="1523997" y="136525"/>
            <a:ext cx="9144000" cy="748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spc="-13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Regular Expression (re)</a:t>
            </a:r>
          </a:p>
        </p:txBody>
      </p:sp>
    </p:spTree>
    <p:extLst>
      <p:ext uri="{BB962C8B-B14F-4D97-AF65-F5344CB8AC3E}">
        <p14:creationId xmlns:p14="http://schemas.microsoft.com/office/powerpoint/2010/main" val="216662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71B09-30A0-163A-04FB-91F11420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B68D5FDF-7CF4-D7B8-C618-38251C092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D1A4EF84-632E-3929-CD27-74EAC202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C275376F-4153-5AB7-8EBC-5DF1110EA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A682CD5-4E84-8EF7-8232-67D1F6A37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00F01-5DF6-C2BC-F09D-149705976F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95E59-7E0D-4160-E144-51598A51B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93" y="1088136"/>
            <a:ext cx="8546014" cy="2340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8DAF79-4A97-B4AB-4109-30981E918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62" y="3838969"/>
            <a:ext cx="994867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4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0A3912-E583-5DE5-D5E4-006F1633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EB4D7-3187-1EE2-7BB1-A099E93A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B689D48-9FF7-461B-20D2-3057DBAF51A6}"/>
              </a:ext>
            </a:extLst>
          </p:cNvPr>
          <p:cNvSpPr txBox="1"/>
          <p:nvPr/>
        </p:nvSpPr>
        <p:spPr>
          <a:xfrm>
            <a:off x="838200" y="-18288"/>
            <a:ext cx="10582656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html tags using Regular expressions</a:t>
            </a:r>
            <a:endParaRPr lang="en-US" sz="40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397F7-21D1-B585-C5DF-87CA983C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35" y="1042416"/>
            <a:ext cx="10005524" cy="2620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0BAE5D-6CCB-CA3B-8C68-4CD667FC7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18" y="3820471"/>
            <a:ext cx="10564699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4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D51E31-41D6-D52B-0B45-59C4ACAA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1DDADB-8781-E35C-A45D-E53B6B59CBFF}"/>
              </a:ext>
            </a:extLst>
          </p:cNvPr>
          <p:cNvSpPr txBox="1"/>
          <p:nvPr/>
        </p:nvSpPr>
        <p:spPr>
          <a:xfrm>
            <a:off x="810768" y="501650"/>
            <a:ext cx="10015728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Removing URLs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3CAA5-27F3-A9A1-6888-04563A33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2C457-702F-7A65-DC9E-4961B774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02" y="1389164"/>
            <a:ext cx="9465500" cy="2369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B209E-6933-9A47-6B4C-AB49A4782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3792"/>
            <a:ext cx="12192000" cy="198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9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E58849-D0F2-06C3-739A-F8677693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6A6C69-0F71-3B7A-FF45-C8CC9405D28C}"/>
              </a:ext>
            </a:extLst>
          </p:cNvPr>
          <p:cNvSpPr txBox="1"/>
          <p:nvPr/>
        </p:nvSpPr>
        <p:spPr>
          <a:xfrm>
            <a:off x="838200" y="101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Handling emojis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28F0B-E15A-F935-9CE6-0D42C44F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FA392-C26D-8C7A-60A8-EB2714A6D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992" y="1604932"/>
            <a:ext cx="7833360" cy="18926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7E78A1-B375-8DA4-7313-2EDF4A446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16" y="4114896"/>
            <a:ext cx="10712484" cy="100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4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D97AEA-FD0E-EEFA-322B-287609AA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785B2-D374-14A5-1B12-5F8F40F6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81E4DC-2149-21B8-87AD-4F0AACCCF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88" y="1545477"/>
            <a:ext cx="8145012" cy="2172003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C5A19B77-D833-12C0-7CBA-47A4A35F3831}"/>
              </a:ext>
            </a:extLst>
          </p:cNvPr>
          <p:cNvSpPr txBox="1"/>
          <p:nvPr/>
        </p:nvSpPr>
        <p:spPr>
          <a:xfrm>
            <a:off x="451265" y="3887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digits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6FFAC-FF29-E455-504B-CC6FED22D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857" y="3873102"/>
            <a:ext cx="8545118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2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BD2D61-3BB6-9339-D918-773FAB53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E878751-CEE2-D648-0954-D78DCEA6A418}"/>
              </a:ext>
            </a:extLst>
          </p:cNvPr>
          <p:cNvSpPr txBox="1"/>
          <p:nvPr/>
        </p:nvSpPr>
        <p:spPr>
          <a:xfrm>
            <a:off x="804672" y="210312"/>
            <a:ext cx="10582656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13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Punctuation</a:t>
            </a:r>
            <a:endParaRPr lang="en-US" sz="4000" b="1" kern="1200" spc="-13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C2A91-613B-7567-1178-1E546C28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37" y="1084076"/>
            <a:ext cx="8887326" cy="543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81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0937CD-0BAA-E41B-4975-B559A899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1619059-E5FA-BE44-DD62-981D59ECF315}"/>
              </a:ext>
            </a:extLst>
          </p:cNvPr>
          <p:cNvSpPr txBox="1"/>
          <p:nvPr/>
        </p:nvSpPr>
        <p:spPr>
          <a:xfrm>
            <a:off x="804672" y="210312"/>
            <a:ext cx="10582656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13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Punctuation</a:t>
            </a:r>
            <a:endParaRPr lang="en-US" sz="4000" b="1" kern="1200" spc="-13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ED810-7BB3-650B-6587-2151A28D2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162"/>
            <a:ext cx="12192000" cy="276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1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77AF63-4897-AEDA-7036-186BB411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5A5EA2-8EBE-6A61-4CA6-34BE40908BB8}"/>
              </a:ext>
            </a:extLst>
          </p:cNvPr>
          <p:cNvSpPr txBox="1"/>
          <p:nvPr/>
        </p:nvSpPr>
        <p:spPr>
          <a:xfrm>
            <a:off x="838200" y="-542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Spelling correction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9CB5D-9F5B-7E04-25FF-E8A8792E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9960D-E0D6-19F0-7BD7-774CD36F9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1271267"/>
            <a:ext cx="8116433" cy="2448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201F34-B8FD-894E-D212-6544A9ED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3719534"/>
            <a:ext cx="8087854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D976D7-9BD5-9DAE-5F5E-39EBA15A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3EA932-E948-EEA2-F59E-045DFCA090FA}"/>
              </a:ext>
            </a:extLst>
          </p:cNvPr>
          <p:cNvSpPr txBox="1"/>
          <p:nvPr/>
        </p:nvSpPr>
        <p:spPr>
          <a:xfrm>
            <a:off x="992204" y="0"/>
            <a:ext cx="10515600" cy="1027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Removing </a:t>
            </a:r>
            <a:r>
              <a:rPr lang="en-US" sz="4400" b="1" kern="1200" spc="-13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StopWords</a:t>
            </a:r>
            <a:endParaRPr lang="en-US" sz="4400" b="1" kern="1200" spc="-13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2F43F-3EAF-8EC6-FB8E-3DE12E47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0D390-F80B-94C4-7B9A-AA445DC3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9" y="958046"/>
            <a:ext cx="4458322" cy="5763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44030F-80C3-AD2B-F1EC-28EF8C312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251" y="2289947"/>
            <a:ext cx="10196620" cy="1848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4FC1E3-B536-5EDD-726A-539C8B254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073" y="4301684"/>
            <a:ext cx="9300152" cy="225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DBA95E-56AD-46FF-70B6-67710E72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769812-3A7D-5208-1559-58E9EFD5D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52" y="361764"/>
            <a:ext cx="6022848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Arial"/>
                <a:cs typeface="Arial"/>
              </a:rPr>
              <a:t>Stemming &amp; </a:t>
            </a:r>
            <a:r>
              <a:rPr sz="3600" b="1" spc="-7" dirty="0">
                <a:solidFill>
                  <a:srgbClr val="FF0000"/>
                </a:solidFill>
                <a:latin typeface="Arial"/>
                <a:cs typeface="Arial"/>
              </a:rPr>
              <a:t>Lemmatization</a:t>
            </a:r>
            <a:endParaRPr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C7D6B-4835-DA00-FBA0-9D6B12B6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3B73FE-59C0-9C1F-9194-BCD2763B6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793778"/>
            <a:ext cx="6179003" cy="10642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194F65-1F68-4AD3-D317-B716C3766960}"/>
              </a:ext>
            </a:extLst>
          </p:cNvPr>
          <p:cNvSpPr txBox="1"/>
          <p:nvPr/>
        </p:nvSpPr>
        <p:spPr>
          <a:xfrm>
            <a:off x="73152" y="1178446"/>
            <a:ext cx="6022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Stemming</a:t>
            </a:r>
            <a:r>
              <a:rPr lang="en-US" dirty="0"/>
              <a:t> is the process of shortening words by removing suffixes, often resulting in non-precise words. It relies on simple rules, such as removing suffixes, without considering the meaning of the word.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E7EF6-10BF-AB42-1AD4-6D2F66016972}"/>
              </a:ext>
            </a:extLst>
          </p:cNvPr>
          <p:cNvSpPr txBox="1"/>
          <p:nvPr/>
        </p:nvSpPr>
        <p:spPr>
          <a:xfrm>
            <a:off x="73152" y="2580659"/>
            <a:ext cx="5952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Lemmatization </a:t>
            </a:r>
            <a:r>
              <a:rPr lang="en-US" dirty="0"/>
              <a:t>is the process of converting a word to its correct linguistic base form, called the "lemma," considering the word’s meaning and context. </a:t>
            </a:r>
          </a:p>
          <a:p>
            <a:r>
              <a:rPr lang="en-US" b="1" dirty="0">
                <a:solidFill>
                  <a:srgbClr val="FF0000"/>
                </a:solidFill>
              </a:rPr>
              <a:t>Lemmatization</a:t>
            </a:r>
            <a:r>
              <a:rPr lang="en-US" dirty="0"/>
              <a:t> usually requires advanced libraries and grammar rules.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A3ECA7-235F-B00E-7F2C-078308BAEDB5}"/>
              </a:ext>
            </a:extLst>
          </p:cNvPr>
          <p:cNvSpPr txBox="1"/>
          <p:nvPr/>
        </p:nvSpPr>
        <p:spPr>
          <a:xfrm>
            <a:off x="73152" y="4259872"/>
            <a:ext cx="602284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Difference</a:t>
            </a:r>
          </a:p>
          <a:p>
            <a:endParaRPr lang="en-US" sz="6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 Stemming</a:t>
            </a:r>
            <a:r>
              <a:rPr lang="en-US" dirty="0"/>
              <a:t> is </a:t>
            </a:r>
            <a:r>
              <a:rPr lang="en-US" dirty="0">
                <a:highlight>
                  <a:srgbClr val="FFFF00"/>
                </a:highlight>
              </a:rPr>
              <a:t>faster</a:t>
            </a:r>
            <a:r>
              <a:rPr lang="en-US" dirty="0"/>
              <a:t> but may yield imprecise roots.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 Lemmatization</a:t>
            </a:r>
            <a:r>
              <a:rPr lang="en-US" dirty="0"/>
              <a:t> is </a:t>
            </a:r>
            <a:r>
              <a:rPr lang="en-US" dirty="0">
                <a:highlight>
                  <a:srgbClr val="FFFF00"/>
                </a:highlight>
              </a:rPr>
              <a:t>more accurate </a:t>
            </a:r>
            <a:r>
              <a:rPr lang="en-US" dirty="0"/>
              <a:t>and considers grammatical meaning, but it is </a:t>
            </a:r>
            <a:r>
              <a:rPr lang="en-US" dirty="0">
                <a:highlight>
                  <a:srgbClr val="FFFF00"/>
                </a:highlight>
              </a:rPr>
              <a:t>slower</a:t>
            </a:r>
            <a:r>
              <a:rPr lang="en-US" dirty="0"/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31152F1-83D3-39B3-012B-1868C53B2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106" y="0"/>
            <a:ext cx="6022848" cy="31175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87DACB-70A9-4168-2FD6-E1B82797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696" y="3082944"/>
            <a:ext cx="5858258" cy="27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49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15B8D8-DFD9-ED0D-A7BE-CA38DB9A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9304A1-EA35-0F5B-8E7C-8C471A980FFD}"/>
              </a:ext>
            </a:extLst>
          </p:cNvPr>
          <p:cNvSpPr txBox="1"/>
          <p:nvPr/>
        </p:nvSpPr>
        <p:spPr>
          <a:xfrm>
            <a:off x="838200" y="101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Tokenization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E9F90-22D9-7BB9-B9CC-03F5CDBE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508" y="4019265"/>
            <a:ext cx="10175292" cy="2519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77C5BD-41FD-AF1C-13F8-754F60D6AC60}"/>
              </a:ext>
            </a:extLst>
          </p:cNvPr>
          <p:cNvSpPr txBox="1"/>
          <p:nvPr/>
        </p:nvSpPr>
        <p:spPr>
          <a:xfrm>
            <a:off x="0" y="1329518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lang="en-US" b="1" spc="-33" dirty="0">
                <a:solidFill>
                  <a:srgbClr val="FF0000"/>
                </a:solidFill>
                <a:latin typeface="Arial"/>
                <a:cs typeface="Arial"/>
              </a:rPr>
              <a:t>Tokenization</a:t>
            </a:r>
            <a:r>
              <a:rPr lang="en-US" spc="-33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Splitting the text into individual words or tokens. For example, "Hello world!" becomes ["Hello", "world", "!"].</a:t>
            </a:r>
          </a:p>
          <a:p>
            <a:pPr marL="352205" marR="6773" indent="-336118">
              <a:buFontTx/>
              <a:buChar char="•"/>
              <a:tabLst>
                <a:tab pos="351358" algn="l"/>
                <a:tab pos="353051" algn="l"/>
              </a:tabLst>
            </a:pP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final Goal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US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33" dirty="0">
                <a:solidFill>
                  <a:srgbClr val="FF0000"/>
                </a:solidFill>
                <a:latin typeface="Arial"/>
                <a:cs typeface="Arial"/>
              </a:rPr>
              <a:t>Tokenization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Creating </a:t>
            </a:r>
            <a:r>
              <a:rPr lang="en-US" spc="-20" dirty="0">
                <a:solidFill>
                  <a:srgbClr val="FF0000"/>
                </a:solidFill>
                <a:latin typeface="Arial"/>
                <a:cs typeface="Arial"/>
              </a:rPr>
              <a:t>Vocabulary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B6DA0-4482-2FF3-AF92-1DD72434ED22}"/>
              </a:ext>
            </a:extLst>
          </p:cNvPr>
          <p:cNvSpPr txBox="1"/>
          <p:nvPr/>
        </p:nvSpPr>
        <p:spPr>
          <a:xfrm>
            <a:off x="-493776" y="2359374"/>
            <a:ext cx="50749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2176" indent="-285750">
              <a:spcBef>
                <a:spcPts val="507"/>
              </a:spcBef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13" dirty="0">
                <a:latin typeface="Arial"/>
                <a:cs typeface="Arial"/>
              </a:rPr>
              <a:t>Python’s </a:t>
            </a:r>
            <a:r>
              <a:rPr lang="en-US" dirty="0">
                <a:latin typeface="Arial"/>
                <a:cs typeface="Arial"/>
              </a:rPr>
              <a:t>split()</a:t>
            </a:r>
            <a:r>
              <a:rPr lang="en-US" spc="-13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function</a:t>
            </a:r>
            <a:endParaRPr lang="en-US" dirty="0">
              <a:latin typeface="Arial"/>
              <a:cs typeface="Arial"/>
            </a:endParaRP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7" dirty="0">
                <a:latin typeface="Arial"/>
                <a:cs typeface="Arial"/>
              </a:rPr>
              <a:t>Regular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Expressions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RegEx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53" dirty="0">
                <a:latin typeface="Arial"/>
                <a:cs typeface="Arial"/>
              </a:rPr>
              <a:t>NLTK </a:t>
            </a:r>
            <a:r>
              <a:rPr lang="en-US" spc="-7" dirty="0">
                <a:latin typeface="Arial"/>
                <a:cs typeface="Arial"/>
              </a:rPr>
              <a:t>library</a:t>
            </a:r>
            <a:endParaRPr lang="en-US" dirty="0">
              <a:latin typeface="Arial"/>
              <a:cs typeface="Arial"/>
            </a:endParaRP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dirty="0" err="1">
                <a:latin typeface="Arial"/>
                <a:cs typeface="Arial"/>
              </a:rPr>
              <a:t>SpaCy</a:t>
            </a:r>
            <a:r>
              <a:rPr lang="en-US" spc="-13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library</a:t>
            </a:r>
            <a:endParaRPr lang="en-US" spc="-13" dirty="0">
              <a:latin typeface="Arial"/>
              <a:cs typeface="Arial"/>
            </a:endParaRP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7" dirty="0" err="1">
                <a:latin typeface="Arial"/>
                <a:cs typeface="Arial"/>
              </a:rPr>
              <a:t>Gensim</a:t>
            </a:r>
            <a:r>
              <a:rPr lang="en-US" spc="-7" dirty="0">
                <a:latin typeface="Arial"/>
                <a:cs typeface="Arial"/>
              </a:rPr>
              <a:t> library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6071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0561C4-E38D-DE3D-26F9-CA35F9F7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29A294-81E8-0ED6-B64A-93578C9AEFBA}"/>
              </a:ext>
            </a:extLst>
          </p:cNvPr>
          <p:cNvSpPr txBox="1"/>
          <p:nvPr/>
        </p:nvSpPr>
        <p:spPr>
          <a:xfrm>
            <a:off x="838200" y="101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Tokenization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1A1D1-5ABD-7211-07DF-9AF2545D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E6138-5A97-5FE9-6652-BECDFE24C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44" y="4123945"/>
            <a:ext cx="10892744" cy="22122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5768E-74B3-A049-A4B2-7BE7CB5F5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35" y="1627926"/>
            <a:ext cx="10529274" cy="21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14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0721" y="324898"/>
            <a:ext cx="5893646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267" spc="-13" dirty="0">
                <a:solidFill>
                  <a:srgbClr val="FF0000"/>
                </a:solidFill>
                <a:latin typeface="Arial"/>
                <a:cs typeface="Arial"/>
              </a:rPr>
              <a:t>Part-of-Speech (POS)</a:t>
            </a:r>
            <a:endParaRPr lang="en-US" sz="4267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354" y="1353640"/>
            <a:ext cx="5893647" cy="25357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lang="en-US" b="1" dirty="0"/>
              <a:t>Part-of-Speech (POS) Tagging</a:t>
            </a:r>
            <a:r>
              <a:rPr lang="en-US" dirty="0"/>
              <a:t> is the process of identifying the </a:t>
            </a:r>
            <a:r>
              <a:rPr lang="en-US" dirty="0">
                <a:solidFill>
                  <a:srgbClr val="FF0000"/>
                </a:solidFill>
              </a:rPr>
              <a:t>grammatical</a:t>
            </a:r>
            <a:r>
              <a:rPr lang="en-US" dirty="0"/>
              <a:t> category of each word in a text, such as noun, verb, adjective, etc. </a:t>
            </a:r>
          </a:p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lang="en-US" dirty="0"/>
              <a:t>POS tagging is crucial in Natural Language Processing (NLP) as it helps </a:t>
            </a:r>
            <a:r>
              <a:rPr lang="en-US" dirty="0">
                <a:solidFill>
                  <a:srgbClr val="FF0000"/>
                </a:solidFill>
              </a:rPr>
              <a:t>understand the structure and meaning of sentences</a:t>
            </a:r>
            <a:r>
              <a:rPr lang="en-US" dirty="0"/>
              <a:t>. </a:t>
            </a:r>
          </a:p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lang="en-US" dirty="0"/>
              <a:t>Each word in a sentence is assigned a tag representing its part of speech, which provides information about the word’s role in the sentence.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A5016-8B84-69E2-7E0E-071539B3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F8594-AE49-1D19-A432-0FB7707D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644" y="195940"/>
            <a:ext cx="5020376" cy="4086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FCEF30-DD4A-FBBB-D381-1D34FDF14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675" y="4311314"/>
            <a:ext cx="3191320" cy="2438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A6663A-2E63-8C00-BBDA-E1FBDE4BE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21" y="4282735"/>
            <a:ext cx="2705478" cy="1952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98304E-22EE-621D-AC9F-5C2801A39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554" y="4311314"/>
            <a:ext cx="2181529" cy="19243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" y="393565"/>
            <a:ext cx="66421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b="1" dirty="0">
                <a:solidFill>
                  <a:srgbClr val="FF0000"/>
                </a:solidFill>
              </a:rPr>
              <a:t>Bag of Words (</a:t>
            </a:r>
            <a:r>
              <a:rPr lang="en-US" b="1" dirty="0" err="1">
                <a:solidFill>
                  <a:srgbClr val="FF0000"/>
                </a:solidFill>
              </a:rPr>
              <a:t>BoW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spc="-7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4480" y="1366521"/>
            <a:ext cx="664210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894058">
              <a:spcBef>
                <a:spcPts val="133"/>
              </a:spcBef>
            </a:pPr>
            <a:r>
              <a:rPr lang="en-US" sz="2000" b="1" dirty="0">
                <a:solidFill>
                  <a:srgbClr val="FF0000"/>
                </a:solidFill>
              </a:rPr>
              <a:t>Bag of Words (</a:t>
            </a:r>
            <a:r>
              <a:rPr lang="en-US" sz="2000" b="1" dirty="0" err="1">
                <a:solidFill>
                  <a:srgbClr val="FF0000"/>
                </a:solidFill>
              </a:rPr>
              <a:t>BoW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is represented as a collection of words without considering grammar, order, or structure. This method focuses on the presence and frequency of words, making it a simple yet effective approach for converting text into numerical features for machine learning models.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2075" y="1087772"/>
            <a:ext cx="5159925" cy="47745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9B49A-A6E8-E18F-910F-F225C2CF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9FA360-0702-54AF-3ABA-9C7EE6F2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" y="3814857"/>
            <a:ext cx="69314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Tokenization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Break down each document into individual words (tokens).</a:t>
            </a:r>
          </a:p>
          <a:p>
            <a:pPr marL="285750" marR="0" lvl="0" indent="-28575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Vocabulary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Creation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Create a set of unique words (vocabulary) across all documents in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Vectorization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Represent each document as a vector of word counts based on the vocabulary.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670" y="252037"/>
            <a:ext cx="652289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800" spc="-33" dirty="0">
                <a:solidFill>
                  <a:srgbClr val="FF0000"/>
                </a:solidFill>
                <a:latin typeface="Arial"/>
                <a:cs typeface="Arial"/>
              </a:rPr>
              <a:t>Vectorization</a:t>
            </a:r>
            <a:endParaRPr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670" y="1165690"/>
            <a:ext cx="11948330" cy="24921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9005" marR="300559" indent="-457200">
              <a:spcBef>
                <a:spcPts val="133"/>
              </a:spcBef>
              <a:buFont typeface="+mj-lt"/>
              <a:buAutoNum type="arabicPeriod"/>
              <a:tabLst>
                <a:tab pos="397077" algn="l"/>
                <a:tab pos="397923" algn="l"/>
              </a:tabLst>
            </a:pPr>
            <a:r>
              <a:rPr sz="2000" spc="-20" dirty="0">
                <a:latin typeface="Arial"/>
                <a:cs typeface="Arial"/>
              </a:rPr>
              <a:t>Vectorizing </a:t>
            </a:r>
            <a:r>
              <a:rPr sz="2000" dirty="0">
                <a:latin typeface="Arial"/>
                <a:cs typeface="Arial"/>
              </a:rPr>
              <a:t>: </a:t>
            </a:r>
            <a:r>
              <a:rPr sz="2000" spc="-7" dirty="0">
                <a:latin typeface="Arial"/>
                <a:cs typeface="Arial"/>
              </a:rPr>
              <a:t>The process that we use to </a:t>
            </a:r>
            <a:r>
              <a:rPr sz="2000" dirty="0">
                <a:latin typeface="Arial"/>
                <a:cs typeface="Arial"/>
              </a:rPr>
              <a:t>convert </a:t>
            </a:r>
            <a:r>
              <a:rPr sz="2000" spc="-7" dirty="0">
                <a:latin typeface="Arial"/>
                <a:cs typeface="Arial"/>
              </a:rPr>
              <a:t>text to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form that Python and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machine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learning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understand</a:t>
            </a:r>
            <a:endParaRPr sz="2000" dirty="0">
              <a:latin typeface="Arial"/>
              <a:cs typeface="Arial"/>
            </a:endParaRPr>
          </a:p>
          <a:p>
            <a:pPr marL="519005" indent="-457200">
              <a:buFont typeface="+mj-lt"/>
              <a:buAutoNum type="arabicPeriod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It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defined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process of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encoding 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integers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create</a:t>
            </a:r>
            <a:r>
              <a:rPr sz="2000" spc="-7" dirty="0">
                <a:latin typeface="Arial"/>
                <a:cs typeface="Arial"/>
              </a:rPr>
              <a:t> feature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vectors</a:t>
            </a:r>
            <a:endParaRPr lang="en-US" sz="2000" dirty="0">
              <a:latin typeface="Arial"/>
              <a:cs typeface="Arial"/>
            </a:endParaRPr>
          </a:p>
          <a:p>
            <a:pPr marL="473287" indent="-457200">
              <a:spcBef>
                <a:spcPts val="133"/>
              </a:spcBef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Build</a:t>
            </a:r>
            <a:r>
              <a:rPr lang="en-US" sz="2000" spc="-67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vocab</a:t>
            </a:r>
          </a:p>
          <a:p>
            <a:pPr marL="473287" indent="-457200"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Register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the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index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of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the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word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from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the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vocab</a:t>
            </a:r>
          </a:p>
          <a:p>
            <a:pPr marL="473287" indent="-457200"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Not</a:t>
            </a:r>
            <a:r>
              <a:rPr lang="en-US" sz="2000" spc="-27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in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vocab?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305" dirty="0">
                <a:latin typeface="Arial"/>
                <a:cs typeface="Arial"/>
              </a:rPr>
              <a:t>□</a:t>
            </a:r>
            <a:r>
              <a:rPr lang="en-US" sz="2000" spc="-27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store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as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UNK</a:t>
            </a:r>
            <a:endParaRPr lang="en-US" sz="2000" dirty="0">
              <a:latin typeface="Arial"/>
              <a:cs typeface="Arial"/>
            </a:endParaRPr>
          </a:p>
          <a:p>
            <a:pPr marL="473287" indent="-457200"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Need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to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pad?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305" dirty="0">
                <a:latin typeface="Arial"/>
                <a:cs typeface="Arial"/>
              </a:rPr>
              <a:t>□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encode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as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60" dirty="0">
                <a:latin typeface="Arial"/>
                <a:cs typeface="Arial"/>
              </a:rPr>
              <a:t>PAD = 0</a:t>
            </a:r>
            <a:endParaRPr lang="en-US" sz="2000" dirty="0">
              <a:latin typeface="Arial"/>
              <a:cs typeface="Arial"/>
            </a:endParaRPr>
          </a:p>
          <a:p>
            <a:pPr marL="519005" indent="-457200">
              <a:buFont typeface="+mj-lt"/>
              <a:buAutoNum type="arabicPeriod"/>
              <a:tabLst>
                <a:tab pos="397077" algn="l"/>
                <a:tab pos="397923" algn="l"/>
              </a:tabLst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45C2-83D9-F2F4-3699-D3ADCF0C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25</a:t>
            </a:fld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243670" y="5049982"/>
            <a:ext cx="11156527" cy="15559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There are </a:t>
            </a:r>
            <a:r>
              <a:rPr sz="2000" dirty="0">
                <a:latin typeface="Arial"/>
                <a:cs typeface="Arial"/>
              </a:rPr>
              <a:t>many vectorization </a:t>
            </a:r>
            <a:r>
              <a:rPr sz="2000" spc="-7" dirty="0">
                <a:latin typeface="Arial"/>
                <a:cs typeface="Arial"/>
              </a:rPr>
              <a:t>techniques, we will focus on the three widely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vectorization</a:t>
            </a:r>
            <a:r>
              <a:rPr sz="2000" spc="-7" dirty="0">
                <a:latin typeface="Arial"/>
                <a:cs typeface="Arial"/>
              </a:rPr>
              <a:t> techniques:</a:t>
            </a:r>
            <a:endParaRPr sz="2000" dirty="0">
              <a:latin typeface="Arial"/>
              <a:cs typeface="Arial"/>
            </a:endParaRP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Count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vectorization</a:t>
            </a: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N-Grams.</a:t>
            </a:r>
            <a:endParaRPr sz="2000" dirty="0">
              <a:latin typeface="Arial"/>
              <a:cs typeface="Arial"/>
            </a:endParaRP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80" dirty="0">
                <a:latin typeface="Arial"/>
                <a:cs typeface="Arial"/>
              </a:rPr>
              <a:t>Term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frequency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inverse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document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frequency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(TF-IDF)</a:t>
            </a: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2" y="2851786"/>
            <a:ext cx="7053072" cy="19968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159" y="347027"/>
            <a:ext cx="11328569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Count vectorization- Document term 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980" y="1193458"/>
            <a:ext cx="11005820" cy="2171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8403" indent="-412316">
              <a:spcBef>
                <a:spcPts val="133"/>
              </a:spcBef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means,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particular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 appears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times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7" dirty="0">
                <a:latin typeface="Arial"/>
                <a:cs typeface="Arial"/>
              </a:rPr>
              <a:t> 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ham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</a:p>
          <a:p>
            <a:pPr marL="428403" marR="752668"/>
            <a:r>
              <a:rPr sz="2000" spc="-7" dirty="0">
                <a:latin typeface="Arial"/>
                <a:cs typeface="Arial"/>
              </a:rPr>
              <a:t>,then the particular word has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high predictive power of determining if 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7" dirty="0">
                <a:latin typeface="Arial"/>
                <a:cs typeface="Arial"/>
              </a:rPr>
              <a:t> 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ham 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>
              <a:spcBef>
                <a:spcPts val="13"/>
              </a:spcBef>
            </a:pP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interesting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good</a:t>
            </a: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Don’t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like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good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subject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85" y="3836811"/>
            <a:ext cx="9503410" cy="164995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54681-D2C3-14AD-BA46-D2C56992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583" y="43800"/>
            <a:ext cx="1129199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Count vectorization- Document term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9733A-0534-82E2-BCF7-F27D3CED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57E00-6F03-CF21-E0A4-136A18A7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082"/>
            <a:ext cx="8878539" cy="61056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B67F80-0FEA-3B99-11BD-D1C589E4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E58B52-7145-F468-DB58-2BADEE90A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583" y="43800"/>
            <a:ext cx="1129199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Count vectorization- Document term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F59A9-5EBA-A1A9-02A8-9F61BDE6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C40DB0-74A8-F41A-71FD-66985737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57" y="978138"/>
            <a:ext cx="6506483" cy="1486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61DBC5-CA18-3CAC-DBE0-D28DAB0E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256" y="1097216"/>
            <a:ext cx="1876687" cy="12479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E9D859-88E5-FFF5-290C-14F634E5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389" y="2862173"/>
            <a:ext cx="8053448" cy="1419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9FF7B3-1E35-6412-6E09-FE0829147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389" y="4921304"/>
            <a:ext cx="826885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40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183" y="406734"/>
            <a:ext cx="637950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399" y="1490755"/>
            <a:ext cx="1112774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6773" indent="-336118">
              <a:spcBef>
                <a:spcPts val="133"/>
              </a:spcBef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The n-grams process </a:t>
            </a:r>
            <a:r>
              <a:rPr sz="2000" dirty="0">
                <a:latin typeface="Arial"/>
                <a:cs typeface="Arial"/>
              </a:rPr>
              <a:t>creates a </a:t>
            </a:r>
            <a:r>
              <a:rPr sz="2000" spc="-7" dirty="0">
                <a:latin typeface="Arial"/>
                <a:cs typeface="Arial"/>
              </a:rPr>
              <a:t>document-term </a:t>
            </a:r>
            <a:r>
              <a:rPr sz="2000" dirty="0">
                <a:latin typeface="Arial"/>
                <a:cs typeface="Arial"/>
              </a:rPr>
              <a:t>matrix </a:t>
            </a:r>
            <a:r>
              <a:rPr sz="2000" spc="-7" dirty="0">
                <a:latin typeface="Arial"/>
                <a:cs typeface="Arial"/>
              </a:rPr>
              <a:t>like we </a:t>
            </a:r>
            <a:r>
              <a:rPr sz="2000" dirty="0">
                <a:latin typeface="Arial"/>
                <a:cs typeface="Arial"/>
              </a:rPr>
              <a:t>saw </a:t>
            </a:r>
            <a:r>
              <a:rPr sz="2000" spc="-7" dirty="0">
                <a:latin typeface="Arial"/>
                <a:cs typeface="Arial"/>
              </a:rPr>
              <a:t>before. Now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have one </a:t>
            </a:r>
            <a:r>
              <a:rPr sz="2000" dirty="0">
                <a:latin typeface="Arial"/>
                <a:cs typeface="Arial"/>
              </a:rPr>
              <a:t>row </a:t>
            </a:r>
            <a:r>
              <a:rPr sz="2000" spc="-7" dirty="0">
                <a:latin typeface="Arial"/>
                <a:cs typeface="Arial"/>
              </a:rPr>
              <a:t>per text </a:t>
            </a:r>
            <a:r>
              <a:rPr sz="2000" dirty="0">
                <a:latin typeface="Arial"/>
                <a:cs typeface="Arial"/>
              </a:rPr>
              <a:t>message </a:t>
            </a:r>
            <a:r>
              <a:rPr sz="2000" spc="-7" dirty="0">
                <a:latin typeface="Arial"/>
                <a:cs typeface="Arial"/>
              </a:rPr>
              <a:t>and we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have </a:t>
            </a:r>
            <a:r>
              <a:rPr sz="2000" dirty="0">
                <a:latin typeface="Arial"/>
                <a:cs typeface="Arial"/>
              </a:rPr>
              <a:t>counts </a:t>
            </a:r>
            <a:r>
              <a:rPr sz="2000" spc="-7" dirty="0">
                <a:latin typeface="Arial"/>
                <a:cs typeface="Arial"/>
              </a:rPr>
              <a:t>that occupy 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individual </a:t>
            </a:r>
            <a:r>
              <a:rPr sz="2000" dirty="0">
                <a:latin typeface="Arial"/>
                <a:cs typeface="Arial"/>
              </a:rPr>
              <a:t>cells </a:t>
            </a:r>
            <a:r>
              <a:rPr sz="2000" spc="-7" dirty="0">
                <a:latin typeface="Arial"/>
                <a:cs typeface="Arial"/>
              </a:rPr>
              <a:t>but instead of the </a:t>
            </a:r>
            <a:r>
              <a:rPr sz="2000" dirty="0">
                <a:latin typeface="Arial"/>
                <a:cs typeface="Arial"/>
              </a:rPr>
              <a:t>columns representing single </a:t>
            </a:r>
            <a:r>
              <a:rPr sz="2000" spc="-7" dirty="0">
                <a:latin typeface="Arial"/>
                <a:cs typeface="Arial"/>
              </a:rPr>
              <a:t>terms ,here ;all </a:t>
            </a:r>
            <a:r>
              <a:rPr sz="2000" dirty="0">
                <a:latin typeface="Arial"/>
                <a:cs typeface="Arial"/>
              </a:rPr>
              <a:t> combinations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adjacent words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length 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7" dirty="0">
                <a:latin typeface="Arial"/>
                <a:cs typeface="Arial"/>
              </a:rPr>
              <a:t> text.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As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example,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let's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Natural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Language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Processing.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8805" y="3867439"/>
            <a:ext cx="5637270" cy="18476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4E86-7E45-2D5D-07F4-9A2645C4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751" y="364864"/>
            <a:ext cx="744236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vectorizing(1,2)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26061-C95F-D3BD-6E74-DB923C7F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2198E-3940-C1C8-294C-20275A7F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366" y="1220325"/>
            <a:ext cx="8916644" cy="55919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99" y="374656"/>
            <a:ext cx="647513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</a:t>
            </a:r>
            <a:r>
              <a:rPr sz="4000" b="1" spc="-10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vectorizing(2,2)</a:t>
            </a: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6F21D-CC3D-A9C3-988D-902499D5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11884-CF5D-E170-EC25-6F34B30E4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01" y="1177151"/>
            <a:ext cx="9050013" cy="55443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975" y="432460"/>
            <a:ext cx="718125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vectorizing(1,3)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2F0FA-C17C-0A45-13D4-92043DBC0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FECEAF-1B31-8CF0-21CD-1BE3C0D3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37" y="1065111"/>
            <a:ext cx="8907118" cy="55062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51" y="69862"/>
            <a:ext cx="11815695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Term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en-US" sz="3600" b="1" spc="-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(TF-IDF)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250" y="752677"/>
            <a:ext cx="11515598" cy="16721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marR="361518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TF-IDF </a:t>
            </a:r>
            <a:r>
              <a:rPr sz="2000" dirty="0">
                <a:latin typeface="Arial"/>
                <a:cs typeface="Arial"/>
              </a:rPr>
              <a:t>creates a </a:t>
            </a:r>
            <a:r>
              <a:rPr sz="2000" spc="-7" dirty="0">
                <a:latin typeface="Arial"/>
                <a:cs typeface="Arial"/>
              </a:rPr>
              <a:t>document term </a:t>
            </a:r>
            <a:r>
              <a:rPr sz="2000" dirty="0">
                <a:latin typeface="Arial"/>
                <a:cs typeface="Arial"/>
              </a:rPr>
              <a:t>matrix, </a:t>
            </a:r>
            <a:r>
              <a:rPr sz="2000" spc="-7" dirty="0">
                <a:latin typeface="Arial"/>
                <a:cs typeface="Arial"/>
              </a:rPr>
              <a:t>where there's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one </a:t>
            </a:r>
            <a:r>
              <a:rPr sz="2000" dirty="0">
                <a:latin typeface="Arial"/>
                <a:cs typeface="Arial"/>
              </a:rPr>
              <a:t>row </a:t>
            </a:r>
            <a:r>
              <a:rPr sz="2000" spc="-7" dirty="0">
                <a:latin typeface="Arial"/>
                <a:cs typeface="Arial"/>
              </a:rPr>
              <a:t>per text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columns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still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7" dirty="0">
                <a:latin typeface="Arial"/>
                <a:cs typeface="Arial"/>
              </a:rPr>
              <a:t> unique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terms.</a:t>
            </a:r>
            <a:endParaRPr sz="2000"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But instead of the </a:t>
            </a:r>
            <a:r>
              <a:rPr sz="2000" dirty="0">
                <a:latin typeface="Arial"/>
                <a:cs typeface="Arial"/>
              </a:rPr>
              <a:t>cells representing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count,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cells represent a </a:t>
            </a:r>
            <a:r>
              <a:rPr sz="2000" spc="-7" dirty="0">
                <a:latin typeface="Arial"/>
                <a:cs typeface="Arial"/>
              </a:rPr>
              <a:t>weighting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that's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identify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how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important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individual 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message.</a:t>
            </a:r>
          </a:p>
          <a:p>
            <a:pPr marL="352205" indent="-321725">
              <a:lnSpc>
                <a:spcPts val="3827"/>
              </a:lnSpc>
              <a:buChar char="•"/>
              <a:tabLst>
                <a:tab pos="351358" algn="l"/>
                <a:tab pos="353051" algn="l"/>
              </a:tabLst>
            </a:pPr>
            <a:r>
              <a:rPr sz="2000" b="1" spc="-7" dirty="0">
                <a:latin typeface="Arial"/>
                <a:cs typeface="Arial"/>
              </a:rPr>
              <a:t>weighting</a:t>
            </a:r>
            <a:r>
              <a:rPr sz="2000" b="1" spc="-5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53" dirty="0">
                <a:latin typeface="Arial"/>
                <a:cs typeface="Arial"/>
              </a:rPr>
              <a:t> </a:t>
            </a:r>
            <a:r>
              <a:rPr sz="2000" b="1" spc="-7" dirty="0">
                <a:latin typeface="Arial"/>
                <a:cs typeface="Arial"/>
              </a:rPr>
              <a:t>TF*IDF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D3983-22C6-CC4F-8326-DB18BF5D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0358"/>
            <a:ext cx="2743200" cy="365125"/>
          </a:xfrm>
        </p:spPr>
        <p:txBody>
          <a:bodyPr/>
          <a:lstStyle/>
          <a:p>
            <a:fld id="{5EE24C92-1265-4741-8F9F-404A15D9386E}" type="slidenum">
              <a:rPr lang="en-US" smtClean="0"/>
              <a:t>33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73CC23-D95D-191A-7D5C-A91276FE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85" y="2879005"/>
            <a:ext cx="7640116" cy="952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1CE266-5D54-62ED-E342-92667A71A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582" y="4383745"/>
            <a:ext cx="7449590" cy="1124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217831-C6A4-C4AD-1582-66734FA61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733" y="5928809"/>
            <a:ext cx="4534533" cy="8192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F3CBD6-6E61-C9DD-5892-870F101DCC73}"/>
              </a:ext>
            </a:extLst>
          </p:cNvPr>
          <p:cNvSpPr txBox="1"/>
          <p:nvPr/>
        </p:nvSpPr>
        <p:spPr>
          <a:xfrm>
            <a:off x="355002" y="2607171"/>
            <a:ext cx="12019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 (TF):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measures how frequently a term appears in a document. It is often calculated as: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DAD49-00C4-0DA5-07E8-5BEDD9BA5248}"/>
              </a:ext>
            </a:extLst>
          </p:cNvPr>
          <p:cNvSpPr txBox="1"/>
          <p:nvPr/>
        </p:nvSpPr>
        <p:spPr>
          <a:xfrm>
            <a:off x="410294" y="3900338"/>
            <a:ext cx="1159355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Document Frequency (IDF):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measures how important a term is across the entire corpus. It helps to down weight common words that appear in many documents. IDF is calculated as: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66268-6AAD-8D08-45DD-FE01A78A80C5}"/>
              </a:ext>
            </a:extLst>
          </p:cNvPr>
          <p:cNvSpPr txBox="1"/>
          <p:nvPr/>
        </p:nvSpPr>
        <p:spPr>
          <a:xfrm>
            <a:off x="355002" y="5655882"/>
            <a:ext cx="10757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Calculation: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TF-IDF score for a term is the product of its TF and IDF scores: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054" y="380818"/>
            <a:ext cx="574124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TF-IDF-</a:t>
            </a:r>
            <a:r>
              <a:rPr sz="3600"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3600"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6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F8AD3-52DC-C2FE-AA54-77A2C1C3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36C39-3340-8A66-DE45-6639126FF6A8}"/>
              </a:ext>
            </a:extLst>
          </p:cNvPr>
          <p:cNvSpPr txBox="1"/>
          <p:nvPr/>
        </p:nvSpPr>
        <p:spPr>
          <a:xfrm>
            <a:off x="0" y="1329071"/>
            <a:ext cx="121919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Documents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D1</a:t>
            </a:r>
            <a:r>
              <a:rPr lang="en-US" sz="2400" b="1" dirty="0">
                <a:highlight>
                  <a:srgbClr val="FFFF00"/>
                </a:highlight>
              </a:rPr>
              <a:t>: "the cat sat on the mat“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D2</a:t>
            </a:r>
            <a:r>
              <a:rPr lang="en-US" sz="2400" b="1" dirty="0">
                <a:highlight>
                  <a:srgbClr val="FFFF00"/>
                </a:highlight>
              </a:rPr>
              <a:t>: "the dog sat on the log“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D3:</a:t>
            </a:r>
            <a:r>
              <a:rPr lang="en-US" sz="2400" b="1" dirty="0">
                <a:highlight>
                  <a:srgbClr val="FFFF00"/>
                </a:highlight>
              </a:rPr>
              <a:t> "the cat chased the dog"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911CD8-6205-1C17-6EEB-76F04900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93" y="2891758"/>
            <a:ext cx="5782482" cy="2867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71875A-134E-86F6-C5D8-6982D6D4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25" y="3777706"/>
            <a:ext cx="3219899" cy="19814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69CDE2-1332-CD3E-FAE0-CB52A9E71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100" y="3641951"/>
            <a:ext cx="3960156" cy="23810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3EC763-2E6C-5CC4-37B0-C8916C56BC6F}"/>
              </a:ext>
            </a:extLst>
          </p:cNvPr>
          <p:cNvSpPr/>
          <p:nvPr/>
        </p:nvSpPr>
        <p:spPr>
          <a:xfrm>
            <a:off x="3593592" y="3401568"/>
            <a:ext cx="548640" cy="348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0F9801-022A-E44A-C565-9991333A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5E0717-BC45-0541-E86F-A6311EFC4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05" y="2644206"/>
            <a:ext cx="9650172" cy="4077269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5A6DA66-9FEE-D8E2-F4EA-7867722E7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054" y="380818"/>
            <a:ext cx="574124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TF-IDF-</a:t>
            </a:r>
            <a:r>
              <a:rPr lang="en-US" sz="3600"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3600"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endParaRPr sz="3600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B512C-BE3E-F7B1-01C1-8E328DCB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1FAEF-6F91-F502-93BB-1709FDEE9883}"/>
              </a:ext>
            </a:extLst>
          </p:cNvPr>
          <p:cNvSpPr txBox="1"/>
          <p:nvPr/>
        </p:nvSpPr>
        <p:spPr>
          <a:xfrm>
            <a:off x="1" y="1213284"/>
            <a:ext cx="121919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Documents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D1</a:t>
            </a:r>
            <a:r>
              <a:rPr lang="en-US" sz="2400" b="1" dirty="0">
                <a:highlight>
                  <a:srgbClr val="FFFF00"/>
                </a:highlight>
              </a:rPr>
              <a:t>: "the cat sat on the mat“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D2</a:t>
            </a:r>
            <a:r>
              <a:rPr lang="en-US" sz="2400" b="1" dirty="0">
                <a:highlight>
                  <a:srgbClr val="FFFF00"/>
                </a:highlight>
              </a:rPr>
              <a:t>: "the dog sat on the log“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D3:</a:t>
            </a:r>
            <a:r>
              <a:rPr lang="en-US" sz="2400" b="1" dirty="0">
                <a:highlight>
                  <a:srgbClr val="FFFF00"/>
                </a:highlight>
              </a:rPr>
              <a:t> "the cat chased the dog"</a:t>
            </a:r>
          </a:p>
        </p:txBody>
      </p:sp>
    </p:spTree>
    <p:extLst>
      <p:ext uri="{BB962C8B-B14F-4D97-AF65-F5344CB8AC3E}">
        <p14:creationId xmlns:p14="http://schemas.microsoft.com/office/powerpoint/2010/main" val="1282142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87E5CF-B9B6-5D42-47B7-CC8A8A8A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616603-5F7E-8AA1-58AF-E4D19B81F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054" y="380818"/>
            <a:ext cx="574124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TF-IDF-</a:t>
            </a:r>
            <a:r>
              <a:rPr lang="en-US" sz="3600"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3600"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endParaRPr sz="3600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BF78-356E-D8F3-28D2-66DC1B75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6FF3B-88B0-686F-EF60-ACC88762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81" t="66982"/>
          <a:stretch/>
        </p:blipFill>
        <p:spPr>
          <a:xfrm>
            <a:off x="7693813" y="380818"/>
            <a:ext cx="3956133" cy="975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B19994-FA31-4CF1-C3D4-135210CB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81136"/>
            <a:ext cx="10250384" cy="55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59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8A6BD7-9F05-D786-5408-B5E472D6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402AF3-8248-2220-5C10-C53D18B19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307824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Term frequency - inverse document frequency (TF-IDF)</a:t>
            </a:r>
            <a:endParaRPr sz="3600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09B3-EFD6-0CA4-6145-DC250058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E893B-D70E-E7B3-53C9-D23EA58B4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781"/>
            <a:ext cx="6630325" cy="6049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90D23-FFEA-0966-C34A-E62355B80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325" y="2497948"/>
            <a:ext cx="551065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58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34368" y="2432493"/>
            <a:ext cx="394123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8800" b="1" spc="-13" dirty="0">
                <a:solidFill>
                  <a:srgbClr val="FF0000"/>
                </a:solidFill>
              </a:rPr>
              <a:t>Thanks</a:t>
            </a:r>
            <a:endParaRPr sz="88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1A882-7B02-BB3B-0C3C-81B0A094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660406-D9F6-47C5-9F8B-77EE2BBA59AB}">
  <we:reference id="4b785c87-866c-4bad-85d8-5d1ae467ac9a" version="3.14.3.0" store="EXCatalog" storeType="EXCatalog"/>
  <we:alternateReferences>
    <we:reference id="WA104381909" version="3.14.3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8132</TotalTime>
  <Words>1074</Words>
  <Application>Microsoft Office PowerPoint</Application>
  <PresentationFormat>Widescreen</PresentationFormat>
  <Paragraphs>148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Times New Roman</vt:lpstr>
      <vt:lpstr>Office Theme</vt:lpstr>
      <vt:lpstr>1_Office Theme</vt:lpstr>
      <vt:lpstr>Deep Learning  (DL)</vt:lpstr>
      <vt:lpstr>What is Natural Language Processing(NLP) ?</vt:lpstr>
      <vt:lpstr>What are NLP tasks?</vt:lpstr>
      <vt:lpstr>Encoder-Decoder pattern</vt:lpstr>
      <vt:lpstr>Why NLP is hard?</vt:lpstr>
      <vt:lpstr>Cycle of 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Stemming &amp; Lemmatization</vt:lpstr>
      <vt:lpstr>PowerPoint Presentation</vt:lpstr>
      <vt:lpstr>PowerPoint Presentation</vt:lpstr>
      <vt:lpstr>Part-of-Speech (POS)</vt:lpstr>
      <vt:lpstr>Bag of Words (BoW) </vt:lpstr>
      <vt:lpstr>Vectorization</vt:lpstr>
      <vt:lpstr>1- Count vectorization- Document term matrix</vt:lpstr>
      <vt:lpstr>1- Count vectorization- Document term matrix</vt:lpstr>
      <vt:lpstr>1- Count vectorization- Document term matrix</vt:lpstr>
      <vt:lpstr>2- N-gram vectorizing</vt:lpstr>
      <vt:lpstr>2.1 N-gram vectorizing(1,2)</vt:lpstr>
      <vt:lpstr>2.2 N-gram vectorizing(2,2) </vt:lpstr>
      <vt:lpstr>2.3 N-gram vectorizing(1,3)</vt:lpstr>
      <vt:lpstr>3. Term frequency - inverse document frequency (TF-IDF)</vt:lpstr>
      <vt:lpstr>3. TF-IDF- How to Compute:</vt:lpstr>
      <vt:lpstr>3. TF-IDF- How to Compute:</vt:lpstr>
      <vt:lpstr>3. TF-IDF- How to Compute:</vt:lpstr>
      <vt:lpstr>3. Term frequency - inverse document frequency (TF-IDF)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حسام السيد محمد فاخر</cp:lastModifiedBy>
  <cp:revision>78</cp:revision>
  <dcterms:created xsi:type="dcterms:W3CDTF">2024-03-14T10:03:54Z</dcterms:created>
  <dcterms:modified xsi:type="dcterms:W3CDTF">2025-09-12T13:09:32Z</dcterms:modified>
</cp:coreProperties>
</file>