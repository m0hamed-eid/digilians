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3" r:id="rId2"/>
  </p:sldMasterIdLst>
  <p:notesMasterIdLst>
    <p:notesMasterId r:id="rId69"/>
  </p:notesMasterIdLst>
  <p:handoutMasterIdLst>
    <p:handoutMasterId r:id="rId70"/>
  </p:handoutMasterIdLst>
  <p:sldIdLst>
    <p:sldId id="418" r:id="rId3"/>
    <p:sldId id="483" r:id="rId4"/>
    <p:sldId id="425" r:id="rId5"/>
    <p:sldId id="419" r:id="rId6"/>
    <p:sldId id="352" r:id="rId7"/>
    <p:sldId id="458" r:id="rId8"/>
    <p:sldId id="426" r:id="rId9"/>
    <p:sldId id="320" r:id="rId10"/>
    <p:sldId id="443" r:id="rId11"/>
    <p:sldId id="434" r:id="rId12"/>
    <p:sldId id="321" r:id="rId13"/>
    <p:sldId id="427" r:id="rId14"/>
    <p:sldId id="457" r:id="rId15"/>
    <p:sldId id="459" r:id="rId16"/>
    <p:sldId id="460" r:id="rId17"/>
    <p:sldId id="461" r:id="rId18"/>
    <p:sldId id="456" r:id="rId19"/>
    <p:sldId id="433" r:id="rId20"/>
    <p:sldId id="478" r:id="rId21"/>
    <p:sldId id="322" r:id="rId22"/>
    <p:sldId id="462" r:id="rId23"/>
    <p:sldId id="463" r:id="rId24"/>
    <p:sldId id="466" r:id="rId25"/>
    <p:sldId id="464" r:id="rId26"/>
    <p:sldId id="359" r:id="rId27"/>
    <p:sldId id="429" r:id="rId28"/>
    <p:sldId id="474" r:id="rId29"/>
    <p:sldId id="428" r:id="rId30"/>
    <p:sldId id="484" r:id="rId31"/>
    <p:sldId id="326" r:id="rId32"/>
    <p:sldId id="431" r:id="rId33"/>
    <p:sldId id="435" r:id="rId34"/>
    <p:sldId id="436" r:id="rId35"/>
    <p:sldId id="437" r:id="rId36"/>
    <p:sldId id="438" r:id="rId37"/>
    <p:sldId id="439" r:id="rId38"/>
    <p:sldId id="440" r:id="rId39"/>
    <p:sldId id="441" r:id="rId40"/>
    <p:sldId id="442" r:id="rId41"/>
    <p:sldId id="432" r:id="rId42"/>
    <p:sldId id="412" r:id="rId43"/>
    <p:sldId id="430" r:id="rId44"/>
    <p:sldId id="475" r:id="rId45"/>
    <p:sldId id="447" r:id="rId46"/>
    <p:sldId id="334" r:id="rId47"/>
    <p:sldId id="485" r:id="rId48"/>
    <p:sldId id="444" r:id="rId49"/>
    <p:sldId id="445" r:id="rId50"/>
    <p:sldId id="487" r:id="rId51"/>
    <p:sldId id="468" r:id="rId52"/>
    <p:sldId id="469" r:id="rId53"/>
    <p:sldId id="470" r:id="rId54"/>
    <p:sldId id="471" r:id="rId55"/>
    <p:sldId id="472" r:id="rId56"/>
    <p:sldId id="473" r:id="rId57"/>
    <p:sldId id="446" r:id="rId58"/>
    <p:sldId id="448" r:id="rId59"/>
    <p:sldId id="476" r:id="rId60"/>
    <p:sldId id="413" r:id="rId61"/>
    <p:sldId id="486" r:id="rId62"/>
    <p:sldId id="453" r:id="rId63"/>
    <p:sldId id="455" r:id="rId64"/>
    <p:sldId id="452" r:id="rId65"/>
    <p:sldId id="467" r:id="rId66"/>
    <p:sldId id="477" r:id="rId67"/>
    <p:sldId id="407"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9E9E"/>
    <a:srgbClr val="9C9C9C"/>
    <a:srgbClr val="FFFFFF"/>
    <a:srgbClr val="FFF9E7"/>
    <a:srgbClr val="0FAB7D"/>
    <a:srgbClr val="336EA8"/>
    <a:srgbClr val="94B9D6"/>
    <a:srgbClr val="1869A6"/>
    <a:srgbClr val="2AAF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290" autoAdjust="0"/>
  </p:normalViewPr>
  <p:slideViewPr>
    <p:cSldViewPr snapToGrid="0">
      <p:cViewPr varScale="1">
        <p:scale>
          <a:sx n="78" d="100"/>
          <a:sy n="78" d="100"/>
        </p:scale>
        <p:origin x="850" y="62"/>
      </p:cViewPr>
      <p:guideLst/>
    </p:cSldViewPr>
  </p:slideViewPr>
  <p:notesTextViewPr>
    <p:cViewPr>
      <p:scale>
        <a:sx n="1" d="1"/>
        <a:sy n="1" d="1"/>
      </p:scale>
      <p:origin x="0" y="0"/>
    </p:cViewPr>
  </p:notesTextViewPr>
  <p:sorterViewPr>
    <p:cViewPr>
      <p:scale>
        <a:sx n="100" d="100"/>
        <a:sy n="100" d="100"/>
      </p:scale>
      <p:origin x="0" y="-336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69D18C-F614-AA06-7896-C2537A503F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90233310-1084-80E5-77A5-58D9FF9781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2A934D-986A-461F-A56A-008EB77503FA}" type="datetimeFigureOut">
              <a:rPr lang="en-GB" smtClean="0"/>
              <a:t>05/04/2026</a:t>
            </a:fld>
            <a:endParaRPr lang="en-GB"/>
          </a:p>
        </p:txBody>
      </p:sp>
      <p:sp>
        <p:nvSpPr>
          <p:cNvPr id="4" name="Footer Placeholder 3">
            <a:extLst>
              <a:ext uri="{FF2B5EF4-FFF2-40B4-BE49-F238E27FC236}">
                <a16:creationId xmlns:a16="http://schemas.microsoft.com/office/drawing/2014/main" id="{D20369A7-2F8D-89A0-ECB3-4F455C56F7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6D0CFA2-3CB1-B738-9B34-7A952AF88B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649821-D232-445A-BEEB-776290B883D8}" type="slidenum">
              <a:rPr lang="en-GB" smtClean="0"/>
              <a:t>‹#›</a:t>
            </a:fld>
            <a:endParaRPr lang="en-GB"/>
          </a:p>
        </p:txBody>
      </p:sp>
    </p:spTree>
    <p:extLst>
      <p:ext uri="{BB962C8B-B14F-4D97-AF65-F5344CB8AC3E}">
        <p14:creationId xmlns:p14="http://schemas.microsoft.com/office/powerpoint/2010/main" val="73210709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601773-843B-402D-B943-E7367BE302C1}" type="datetimeFigureOut">
              <a:rPr lang="en-US" smtClean="0"/>
              <a:t>4/5/2026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223A7-FDE5-4555-AB7B-2BBB96A8A41E}" type="slidenum">
              <a:rPr lang="en-US" smtClean="0"/>
              <a:t>‹#›</a:t>
            </a:fld>
            <a:endParaRPr lang="en-US"/>
          </a:p>
        </p:txBody>
      </p:sp>
    </p:spTree>
    <p:extLst>
      <p:ext uri="{BB962C8B-B14F-4D97-AF65-F5344CB8AC3E}">
        <p14:creationId xmlns:p14="http://schemas.microsoft.com/office/powerpoint/2010/main" val="154529031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33223A7-FDE5-4555-AB7B-2BBB96A8A41E}" type="slidenum">
              <a:rPr lang="en-US" smtClean="0"/>
              <a:t>19</a:t>
            </a:fld>
            <a:endParaRPr lang="en-US"/>
          </a:p>
        </p:txBody>
      </p:sp>
    </p:spTree>
    <p:extLst>
      <p:ext uri="{BB962C8B-B14F-4D97-AF65-F5344CB8AC3E}">
        <p14:creationId xmlns:p14="http://schemas.microsoft.com/office/powerpoint/2010/main" val="3164733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33223A7-FDE5-4555-AB7B-2BBB96A8A41E}" type="slidenum">
              <a:rPr lang="en-US" smtClean="0"/>
              <a:t>20</a:t>
            </a:fld>
            <a:endParaRPr lang="en-US"/>
          </a:p>
        </p:txBody>
      </p:sp>
    </p:spTree>
    <p:extLst>
      <p:ext uri="{BB962C8B-B14F-4D97-AF65-F5344CB8AC3E}">
        <p14:creationId xmlns:p14="http://schemas.microsoft.com/office/powerpoint/2010/main" val="3164733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33F21-D865-7CF3-0CDE-CFAD0C0C3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07F430-538E-361B-DEC3-CFC34865B8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16DA4D-E9BD-18F3-B4B4-C99A04121F34}"/>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2168F1E9-C05F-169A-9B02-E20D37A454F0}"/>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8A62D3FB-15A8-FC7B-DB67-65AA414D9DD9}"/>
              </a:ext>
            </a:extLst>
          </p:cNvPr>
          <p:cNvSpPr>
            <a:spLocks noGrp="1"/>
          </p:cNvSpPr>
          <p:nvPr>
            <p:ph type="sldNum" sz="quarter" idx="5"/>
          </p:nvPr>
        </p:nvSpPr>
        <p:spPr/>
        <p:txBody>
          <a:bodyPr/>
          <a:lstStyle/>
          <a:p>
            <a:fld id="{933223A7-FDE5-4555-AB7B-2BBB96A8A41E}" type="slidenum">
              <a:rPr lang="en-US" smtClean="0"/>
              <a:t>21</a:t>
            </a:fld>
            <a:endParaRPr lang="en-US"/>
          </a:p>
        </p:txBody>
      </p:sp>
    </p:spTree>
    <p:extLst>
      <p:ext uri="{BB962C8B-B14F-4D97-AF65-F5344CB8AC3E}">
        <p14:creationId xmlns:p14="http://schemas.microsoft.com/office/powerpoint/2010/main" val="4084944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D4A6C-E198-4055-C2F3-227E84A3C2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48DB0D-C6DC-FF95-EB24-F6EA1410A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ED97A3-DCD8-83A0-DBFF-FE358E1B90C5}"/>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E3D9841C-F094-8101-FB80-C1B857A905B3}"/>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E0D00F51-90FB-FD4D-DD12-408C4ABA25D3}"/>
              </a:ext>
            </a:extLst>
          </p:cNvPr>
          <p:cNvSpPr>
            <a:spLocks noGrp="1"/>
          </p:cNvSpPr>
          <p:nvPr>
            <p:ph type="sldNum" sz="quarter" idx="5"/>
          </p:nvPr>
        </p:nvSpPr>
        <p:spPr/>
        <p:txBody>
          <a:bodyPr/>
          <a:lstStyle/>
          <a:p>
            <a:fld id="{933223A7-FDE5-4555-AB7B-2BBB96A8A41E}" type="slidenum">
              <a:rPr lang="en-US" smtClean="0"/>
              <a:t>22</a:t>
            </a:fld>
            <a:endParaRPr lang="en-US"/>
          </a:p>
        </p:txBody>
      </p:sp>
    </p:spTree>
    <p:extLst>
      <p:ext uri="{BB962C8B-B14F-4D97-AF65-F5344CB8AC3E}">
        <p14:creationId xmlns:p14="http://schemas.microsoft.com/office/powerpoint/2010/main" val="4054141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99E0F-F0CA-D868-8797-32F2FC991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18B8E8-4AC4-EBB0-F0EE-6BC18207C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62979-3773-E446-A47C-64B8906687E7}"/>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A9D14D4F-8DF0-0359-4B4F-A16A901BD9B9}"/>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143A6B06-A83B-915E-6697-F61E1B601185}"/>
              </a:ext>
            </a:extLst>
          </p:cNvPr>
          <p:cNvSpPr>
            <a:spLocks noGrp="1"/>
          </p:cNvSpPr>
          <p:nvPr>
            <p:ph type="sldNum" sz="quarter" idx="5"/>
          </p:nvPr>
        </p:nvSpPr>
        <p:spPr/>
        <p:txBody>
          <a:bodyPr/>
          <a:lstStyle/>
          <a:p>
            <a:fld id="{933223A7-FDE5-4555-AB7B-2BBB96A8A41E}" type="slidenum">
              <a:rPr lang="en-US" smtClean="0"/>
              <a:t>23</a:t>
            </a:fld>
            <a:endParaRPr lang="en-US"/>
          </a:p>
        </p:txBody>
      </p:sp>
    </p:spTree>
    <p:extLst>
      <p:ext uri="{BB962C8B-B14F-4D97-AF65-F5344CB8AC3E}">
        <p14:creationId xmlns:p14="http://schemas.microsoft.com/office/powerpoint/2010/main" val="4087590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CA61F-B9A9-CE37-C167-81777621A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DCA38-BB76-DF69-5FC7-720FC5AD9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DEDCA-C647-FD3F-429B-F18AF4662DFD}"/>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9F35151E-6D73-EB20-5B93-C95B544A5C9D}"/>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086837FF-B053-AE3C-CFD5-CB41BEE28FBB}"/>
              </a:ext>
            </a:extLst>
          </p:cNvPr>
          <p:cNvSpPr>
            <a:spLocks noGrp="1"/>
          </p:cNvSpPr>
          <p:nvPr>
            <p:ph type="sldNum" sz="quarter" idx="5"/>
          </p:nvPr>
        </p:nvSpPr>
        <p:spPr/>
        <p:txBody>
          <a:bodyPr/>
          <a:lstStyle/>
          <a:p>
            <a:fld id="{933223A7-FDE5-4555-AB7B-2BBB96A8A41E}" type="slidenum">
              <a:rPr lang="en-US" smtClean="0"/>
              <a:t>24</a:t>
            </a:fld>
            <a:endParaRPr lang="en-US"/>
          </a:p>
        </p:txBody>
      </p:sp>
    </p:spTree>
    <p:extLst>
      <p:ext uri="{BB962C8B-B14F-4D97-AF65-F5344CB8AC3E}">
        <p14:creationId xmlns:p14="http://schemas.microsoft.com/office/powerpoint/2010/main" val="3232219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33223A7-FDE5-4555-AB7B-2BBB96A8A41E}" type="slidenum">
              <a:rPr lang="en-US" smtClean="0"/>
              <a:t>30</a:t>
            </a:fld>
            <a:endParaRPr lang="en-US"/>
          </a:p>
        </p:txBody>
      </p:sp>
    </p:spTree>
    <p:extLst>
      <p:ext uri="{BB962C8B-B14F-4D97-AF65-F5344CB8AC3E}">
        <p14:creationId xmlns:p14="http://schemas.microsoft.com/office/powerpoint/2010/main" val="4082153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c(t)</a:t>
            </a:r>
            <a:r>
              <a:rPr lang="en-US" dirty="0"/>
              <a:t>: </a:t>
            </a:r>
            <a:r>
              <a:rPr lang="ar-EG" dirty="0"/>
              <a:t>مخزن المعرفة على المدى الطويل؛ بيتغير ببطء وبشكل تراكمي.</a:t>
            </a:r>
          </a:p>
          <a:p>
            <a:r>
              <a:rPr lang="en-US" b="1" dirty="0"/>
              <a:t>h(t)</a:t>
            </a:r>
            <a:r>
              <a:rPr lang="en-US" dirty="0"/>
              <a:t>: </a:t>
            </a:r>
            <a:r>
              <a:rPr lang="ar-EG" dirty="0"/>
              <a:t>الإخراج اللحظي “المرئي” للطبقات اللاحقة؛ ملخّص قصير المدى للحظة الحالية.</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33223A7-FDE5-4555-AB7B-2BBB96A8A41E}" type="slidenum">
              <a:rPr lang="en-US" smtClean="0"/>
              <a:t>32</a:t>
            </a:fld>
            <a:endParaRPr lang="en-US"/>
          </a:p>
        </p:txBody>
      </p:sp>
    </p:spTree>
    <p:extLst>
      <p:ext uri="{BB962C8B-B14F-4D97-AF65-F5344CB8AC3E}">
        <p14:creationId xmlns:p14="http://schemas.microsoft.com/office/powerpoint/2010/main" val="199855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33223A7-FDE5-4555-AB7B-2BBB96A8A41E}" type="slidenum">
              <a:rPr lang="en-US" smtClean="0"/>
              <a:t>41</a:t>
            </a:fld>
            <a:endParaRPr lang="en-US"/>
          </a:p>
        </p:txBody>
      </p:sp>
    </p:spTree>
    <p:extLst>
      <p:ext uri="{BB962C8B-B14F-4D97-AF65-F5344CB8AC3E}">
        <p14:creationId xmlns:p14="http://schemas.microsoft.com/office/powerpoint/2010/main" val="2827097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b="1" dirty="0"/>
              <a:t>🧠 </a:t>
            </a:r>
            <a:r>
              <a:rPr lang="ar-EG" b="1" dirty="0"/>
              <a:t>أولاً: الفكرة العامة</a:t>
            </a:r>
          </a:p>
          <a:p>
            <a:pPr algn="r" rtl="1"/>
            <a:r>
              <a:rPr lang="ar-EG" dirty="0"/>
              <a:t>خلية الـ </a:t>
            </a:r>
            <a:r>
              <a:rPr lang="en-US" b="1" dirty="0"/>
              <a:t>GRU</a:t>
            </a:r>
            <a:r>
              <a:rPr lang="en-US" dirty="0"/>
              <a:t> </a:t>
            </a:r>
            <a:r>
              <a:rPr lang="ar-EG" dirty="0" err="1"/>
              <a:t>بتحاول</a:t>
            </a:r>
            <a:r>
              <a:rPr lang="ar-EG" dirty="0"/>
              <a:t> تحل مشكلة </a:t>
            </a:r>
            <a:r>
              <a:rPr lang="ar-EG" b="1" dirty="0"/>
              <a:t>نسيان المعلومات القديمة</a:t>
            </a:r>
            <a:r>
              <a:rPr lang="ar-EG" dirty="0"/>
              <a:t> أو </a:t>
            </a:r>
            <a:r>
              <a:rPr lang="ar-EG" b="1" dirty="0"/>
              <a:t>الـ </a:t>
            </a:r>
            <a:r>
              <a:rPr lang="en-US" b="1" dirty="0"/>
              <a:t>vanishing gradient</a:t>
            </a:r>
            <a:r>
              <a:rPr lang="en-US" dirty="0"/>
              <a:t> </a:t>
            </a:r>
            <a:r>
              <a:rPr lang="ar-EG" dirty="0"/>
              <a:t>اللي كانت موجودة في الـ </a:t>
            </a:r>
            <a:r>
              <a:rPr lang="en-US" dirty="0"/>
              <a:t>RNN </a:t>
            </a:r>
            <a:r>
              <a:rPr lang="ar-EG" dirty="0"/>
              <a:t>العادية.</a:t>
            </a:r>
            <a:br>
              <a:rPr lang="ar-EG" dirty="0"/>
            </a:br>
            <a:r>
              <a:rPr lang="ar-EG" dirty="0" err="1"/>
              <a:t>بتعمل</a:t>
            </a:r>
            <a:r>
              <a:rPr lang="ar-EG" dirty="0"/>
              <a:t> كده عن طريق </a:t>
            </a:r>
            <a:r>
              <a:rPr lang="ar-EG" b="1" dirty="0"/>
              <a:t>بوابات (</a:t>
            </a:r>
            <a:r>
              <a:rPr lang="en-US" b="1" dirty="0"/>
              <a:t>Gates)</a:t>
            </a:r>
            <a:r>
              <a:rPr lang="en-US" dirty="0"/>
              <a:t> </a:t>
            </a:r>
            <a:r>
              <a:rPr lang="ar-EG" dirty="0"/>
              <a:t>تتحكم في المعلومات اللي </a:t>
            </a:r>
            <a:r>
              <a:rPr lang="ar-EG" dirty="0" err="1"/>
              <a:t>تتخزن</a:t>
            </a:r>
            <a:r>
              <a:rPr lang="ar-EG" dirty="0"/>
              <a:t> أو تتنسى.</a:t>
            </a:r>
          </a:p>
          <a:p>
            <a:pPr algn="r" rtl="1"/>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33223A7-FDE5-4555-AB7B-2BBB96A8A41E}" type="slidenum">
              <a:rPr lang="en-US" smtClean="0"/>
              <a:t>48</a:t>
            </a:fld>
            <a:endParaRPr lang="en-US"/>
          </a:p>
        </p:txBody>
      </p:sp>
    </p:spTree>
    <p:extLst>
      <p:ext uri="{BB962C8B-B14F-4D97-AF65-F5344CB8AC3E}">
        <p14:creationId xmlns:p14="http://schemas.microsoft.com/office/powerpoint/2010/main" val="1934476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59AC2-7199-6FB8-0E24-9EF07B584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49AB4-0B82-6918-E0AF-280482BBA8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4640C-9A72-BD4A-7497-925A6C09C0B5}"/>
              </a:ext>
            </a:extLst>
          </p:cNvPr>
          <p:cNvSpPr>
            <a:spLocks noGrp="1"/>
          </p:cNvSpPr>
          <p:nvPr>
            <p:ph type="body" idx="1"/>
          </p:nvPr>
        </p:nvSpPr>
        <p:spPr/>
        <p:txBody>
          <a:bodyPr/>
          <a:lstStyle/>
          <a:p>
            <a:pPr algn="r" rtl="1"/>
            <a:r>
              <a:rPr lang="en-US" b="1" dirty="0"/>
              <a:t>🧠 </a:t>
            </a:r>
            <a:r>
              <a:rPr lang="ar-EG" b="1" dirty="0"/>
              <a:t>أولاً: الفكرة العامة</a:t>
            </a:r>
          </a:p>
          <a:p>
            <a:pPr algn="r" rtl="1"/>
            <a:r>
              <a:rPr lang="ar-EG" dirty="0"/>
              <a:t>خلية الـ </a:t>
            </a:r>
            <a:r>
              <a:rPr lang="en-US" b="1" dirty="0"/>
              <a:t>GRU</a:t>
            </a:r>
            <a:r>
              <a:rPr lang="en-US" dirty="0"/>
              <a:t> </a:t>
            </a:r>
            <a:r>
              <a:rPr lang="ar-EG" dirty="0" err="1"/>
              <a:t>بتحاول</a:t>
            </a:r>
            <a:r>
              <a:rPr lang="ar-EG" dirty="0"/>
              <a:t> تحل مشكلة </a:t>
            </a:r>
            <a:r>
              <a:rPr lang="ar-EG" b="1" dirty="0"/>
              <a:t>نسيان المعلومات القديمة</a:t>
            </a:r>
            <a:r>
              <a:rPr lang="ar-EG" dirty="0"/>
              <a:t> أو </a:t>
            </a:r>
            <a:r>
              <a:rPr lang="ar-EG" b="1" dirty="0"/>
              <a:t>الـ </a:t>
            </a:r>
            <a:r>
              <a:rPr lang="en-US" b="1" dirty="0"/>
              <a:t>vanishing gradient</a:t>
            </a:r>
            <a:r>
              <a:rPr lang="en-US" dirty="0"/>
              <a:t> </a:t>
            </a:r>
            <a:r>
              <a:rPr lang="ar-EG" dirty="0"/>
              <a:t>اللي كانت موجودة في الـ </a:t>
            </a:r>
            <a:r>
              <a:rPr lang="en-US" dirty="0"/>
              <a:t>RNN </a:t>
            </a:r>
            <a:r>
              <a:rPr lang="ar-EG" dirty="0"/>
              <a:t>العادية.</a:t>
            </a:r>
            <a:br>
              <a:rPr lang="ar-EG" dirty="0"/>
            </a:br>
            <a:r>
              <a:rPr lang="ar-EG" dirty="0" err="1"/>
              <a:t>بتعمل</a:t>
            </a:r>
            <a:r>
              <a:rPr lang="ar-EG" dirty="0"/>
              <a:t> كده عن طريق </a:t>
            </a:r>
            <a:r>
              <a:rPr lang="ar-EG" b="1" dirty="0"/>
              <a:t>بوابات (</a:t>
            </a:r>
            <a:r>
              <a:rPr lang="en-US" b="1" dirty="0"/>
              <a:t>Gates)</a:t>
            </a:r>
            <a:r>
              <a:rPr lang="en-US" dirty="0"/>
              <a:t> </a:t>
            </a:r>
            <a:r>
              <a:rPr lang="ar-EG" dirty="0"/>
              <a:t>تتحكم في المعلومات اللي </a:t>
            </a:r>
            <a:r>
              <a:rPr lang="ar-EG" dirty="0" err="1"/>
              <a:t>تتخزن</a:t>
            </a:r>
            <a:r>
              <a:rPr lang="ar-EG" dirty="0"/>
              <a:t> أو تتنسى.</a:t>
            </a:r>
          </a:p>
          <a:p>
            <a:pPr algn="r" rtl="1"/>
            <a:endParaRPr lang="en-US" dirty="0"/>
          </a:p>
        </p:txBody>
      </p:sp>
      <p:sp>
        <p:nvSpPr>
          <p:cNvPr id="4" name="Footer Placeholder 3">
            <a:extLst>
              <a:ext uri="{FF2B5EF4-FFF2-40B4-BE49-F238E27FC236}">
                <a16:creationId xmlns:a16="http://schemas.microsoft.com/office/drawing/2014/main" id="{8B632EDC-B6AB-0C3E-1D8B-E2B96142A0E6}"/>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995CFBF1-E5BB-CF59-A091-D7860C0B9950}"/>
              </a:ext>
            </a:extLst>
          </p:cNvPr>
          <p:cNvSpPr>
            <a:spLocks noGrp="1"/>
          </p:cNvSpPr>
          <p:nvPr>
            <p:ph type="sldNum" sz="quarter" idx="5"/>
          </p:nvPr>
        </p:nvSpPr>
        <p:spPr/>
        <p:txBody>
          <a:bodyPr/>
          <a:lstStyle/>
          <a:p>
            <a:fld id="{933223A7-FDE5-4555-AB7B-2BBB96A8A41E}" type="slidenum">
              <a:rPr lang="en-US" smtClean="0"/>
              <a:t>49</a:t>
            </a:fld>
            <a:endParaRPr lang="en-US"/>
          </a:p>
        </p:txBody>
      </p:sp>
    </p:spTree>
    <p:extLst>
      <p:ext uri="{BB962C8B-B14F-4D97-AF65-F5344CB8AC3E}">
        <p14:creationId xmlns:p14="http://schemas.microsoft.com/office/powerpoint/2010/main" val="19294799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EG" b="1" dirty="0"/>
              <a:t>1️⃣ المدخلات (</a:t>
            </a:r>
            <a:r>
              <a:rPr lang="en-US" b="1" dirty="0"/>
              <a:t>Inputs)</a:t>
            </a:r>
          </a:p>
          <a:p>
            <a:pPr algn="r" rtl="1"/>
            <a:r>
              <a:rPr lang="ar-EG" dirty="0"/>
              <a:t>عندك في الأسفل </a:t>
            </a:r>
            <a:r>
              <a:rPr lang="en-US" b="1" dirty="0"/>
              <a:t>xₜ</a:t>
            </a:r>
            <a:r>
              <a:rPr lang="en-US" dirty="0"/>
              <a:t> (</a:t>
            </a:r>
            <a:r>
              <a:rPr lang="ar-EG" dirty="0"/>
              <a:t>باللون الأخضر) → ده </a:t>
            </a:r>
            <a:r>
              <a:rPr lang="ar-EG" b="1" dirty="0"/>
              <a:t>المدخل الحالي</a:t>
            </a:r>
            <a:r>
              <a:rPr lang="ar-EG" dirty="0"/>
              <a:t> (مثلاً الكلمة الحالية في الجملة).</a:t>
            </a:r>
          </a:p>
          <a:p>
            <a:pPr algn="r" rtl="1"/>
            <a:r>
              <a:rPr lang="ar-EG" dirty="0"/>
              <a:t>وعندك في الشمال </a:t>
            </a:r>
            <a:r>
              <a:rPr lang="en-US" b="1" dirty="0"/>
              <a:t>hₜ₋₁</a:t>
            </a:r>
            <a:r>
              <a:rPr lang="en-US" dirty="0"/>
              <a:t> (</a:t>
            </a:r>
            <a:r>
              <a:rPr lang="ar-EG" dirty="0"/>
              <a:t>باللون الأحمر) → ده </a:t>
            </a:r>
            <a:r>
              <a:rPr lang="ar-EG" b="1" dirty="0"/>
              <a:t>الـ </a:t>
            </a:r>
            <a:r>
              <a:rPr lang="en-US" b="1" dirty="0"/>
              <a:t>hidden state </a:t>
            </a:r>
            <a:r>
              <a:rPr lang="ar-EG" b="1" dirty="0"/>
              <a:t>القديم</a:t>
            </a:r>
            <a:r>
              <a:rPr lang="ar-EG" dirty="0"/>
              <a:t> اللي جاي من الخطوة السابقة (الذاكرة السابقة).</a:t>
            </a:r>
          </a:p>
          <a:p>
            <a:pPr algn="r" rtl="1"/>
            <a:r>
              <a:rPr lang="ar-EG" dirty="0" err="1"/>
              <a:t>الاتنين</a:t>
            </a:r>
            <a:r>
              <a:rPr lang="ar-EG" dirty="0"/>
              <a:t> دول </a:t>
            </a:r>
            <a:r>
              <a:rPr lang="ar-EG" dirty="0" err="1"/>
              <a:t>بيتجمعوا</a:t>
            </a:r>
            <a:r>
              <a:rPr lang="ar-EG" dirty="0"/>
              <a:t> مع بعض في البداية:</a:t>
            </a:r>
          </a:p>
          <a:p>
            <a:pPr algn="r" rtl="1"/>
            <a:r>
              <a:rPr lang="en-US" dirty="0"/>
              <a:t>⮕ </a:t>
            </a:r>
            <a:r>
              <a:rPr lang="en-US" b="1" dirty="0"/>
              <a:t>concatenate (</a:t>
            </a:r>
            <a:r>
              <a:rPr lang="ar-EG" b="1" dirty="0"/>
              <a:t>دمج)</a:t>
            </a:r>
            <a:r>
              <a:rPr lang="ar-EG" dirty="0"/>
              <a:t> علشان الخلية تشوف المدخل الحالي </a:t>
            </a:r>
            <a:r>
              <a:rPr lang="ar-EG" dirty="0" err="1"/>
              <a:t>ومعاه</a:t>
            </a:r>
            <a:r>
              <a:rPr lang="ar-EG" dirty="0"/>
              <a:t> الذاكرة القديمة.</a:t>
            </a:r>
          </a:p>
          <a:p>
            <a:pPr algn="r" rtl="1"/>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33223A7-FDE5-4555-AB7B-2BBB96A8A41E}" type="slidenum">
              <a:rPr lang="en-US" smtClean="0"/>
              <a:t>50</a:t>
            </a:fld>
            <a:endParaRPr lang="en-US"/>
          </a:p>
        </p:txBody>
      </p:sp>
    </p:spTree>
    <p:extLst>
      <p:ext uri="{BB962C8B-B14F-4D97-AF65-F5344CB8AC3E}">
        <p14:creationId xmlns:p14="http://schemas.microsoft.com/office/powerpoint/2010/main" val="3492271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5F18B-66B8-68B1-D8B8-C375F7C64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4FFFE-7069-6C88-3062-1090F2C56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9A7542-83A6-63F9-7063-6BA26F40E1FA}"/>
              </a:ext>
            </a:extLst>
          </p:cNvPr>
          <p:cNvSpPr>
            <a:spLocks noGrp="1"/>
          </p:cNvSpPr>
          <p:nvPr>
            <p:ph type="body" idx="1"/>
          </p:nvPr>
        </p:nvSpPr>
        <p:spPr/>
        <p:txBody>
          <a:bodyPr/>
          <a:lstStyle/>
          <a:p>
            <a:pPr algn="r" rtl="1"/>
            <a:r>
              <a:rPr lang="en-US" b="1" dirty="0"/>
              <a:t>2️⃣ Reset Gate (</a:t>
            </a:r>
            <a:r>
              <a:rPr lang="ar-EG" b="1" dirty="0"/>
              <a:t>بوابة إعادة الضبط)</a:t>
            </a:r>
          </a:p>
          <a:p>
            <a:pPr algn="r" rtl="1"/>
            <a:r>
              <a:rPr lang="ar-EG" dirty="0"/>
              <a:t>شايف الجزء اللي مكتوب عليه </a:t>
            </a:r>
            <a:r>
              <a:rPr lang="en-US" b="1" dirty="0"/>
              <a:t>reset gate</a:t>
            </a:r>
            <a:r>
              <a:rPr lang="en-US" dirty="0"/>
              <a:t>؟</a:t>
            </a:r>
          </a:p>
          <a:p>
            <a:pPr algn="r" rtl="1"/>
            <a:r>
              <a:rPr lang="ar-EG" dirty="0"/>
              <a:t>البوابة دي </a:t>
            </a:r>
            <a:r>
              <a:rPr lang="ar-EG" dirty="0" err="1"/>
              <a:t>بتقرر</a:t>
            </a:r>
            <a:r>
              <a:rPr lang="ar-EG" dirty="0"/>
              <a:t>:</a:t>
            </a:r>
          </a:p>
          <a:p>
            <a:pPr algn="r" rtl="1"/>
            <a:r>
              <a:rPr lang="ar-EG" dirty="0"/>
              <a:t>"هل أحتاج أستفيد من الذاكرة القديمة (</a:t>
            </a:r>
            <a:r>
              <a:rPr lang="en-US" dirty="0"/>
              <a:t>hₜ₋₁)؟ </a:t>
            </a:r>
            <a:r>
              <a:rPr lang="ar-EG" dirty="0"/>
              <a:t>ولا أبدأ من جديد؟"</a:t>
            </a:r>
          </a:p>
          <a:p>
            <a:pPr algn="r" rtl="1"/>
            <a:r>
              <a:rPr lang="ar-EG" dirty="0"/>
              <a:t>المعادلة تقريبًا هي:</a:t>
            </a:r>
          </a:p>
          <a:p>
            <a:pPr algn="r" rtl="1"/>
            <a:r>
              <a:rPr lang="en-US" sz="1200" kern="1200" dirty="0">
                <a:solidFill>
                  <a:schemeClr val="tx1"/>
                </a:solidFill>
                <a:latin typeface="+mn-lt"/>
                <a:ea typeface="+mn-ea"/>
                <a:cs typeface="+mn-cs"/>
              </a:rPr>
              <a:t>rₜ = sigmoid(Wᵣ * [hₜ₋₁, xₜ])</a:t>
            </a:r>
          </a:p>
          <a:p>
            <a:pPr algn="r" rtl="1"/>
            <a:r>
              <a:rPr lang="ar-EG" dirty="0"/>
              <a:t>الناتج (</a:t>
            </a:r>
            <a:r>
              <a:rPr lang="en-US" dirty="0"/>
              <a:t>rₜ) </a:t>
            </a:r>
            <a:r>
              <a:rPr lang="ar-EG" dirty="0"/>
              <a:t>قيم بين 0 و 1:</a:t>
            </a:r>
          </a:p>
          <a:p>
            <a:pPr lvl="1" algn="r" rtl="1"/>
            <a:r>
              <a:rPr lang="ar-EG" dirty="0"/>
              <a:t>لو قريب من 0 → ننسى الذاكرة القديمة.</a:t>
            </a:r>
          </a:p>
          <a:p>
            <a:pPr lvl="1" algn="r" rtl="1"/>
            <a:r>
              <a:rPr lang="ar-EG" dirty="0"/>
              <a:t>لو قريب من 1 → نستخدمها بالكامل.</a:t>
            </a:r>
          </a:p>
          <a:p>
            <a:pPr algn="r" rtl="1"/>
            <a:r>
              <a:rPr lang="ar-EG" dirty="0"/>
              <a:t>⚡ </a:t>
            </a:r>
            <a:r>
              <a:rPr lang="ar-EG" b="1" dirty="0"/>
              <a:t>الهدف:</a:t>
            </a:r>
            <a:r>
              <a:rPr lang="ar-EG" dirty="0"/>
              <a:t> التحكم في "كمية الماضي" اللي </a:t>
            </a:r>
            <a:r>
              <a:rPr lang="ar-EG" dirty="0" err="1"/>
              <a:t>هندخلها</a:t>
            </a:r>
            <a:r>
              <a:rPr lang="ar-EG" dirty="0"/>
              <a:t> في الحسابات الجديدة.</a:t>
            </a:r>
          </a:p>
          <a:p>
            <a:pPr algn="r" rtl="1"/>
            <a:endParaRPr lang="en-US" dirty="0"/>
          </a:p>
        </p:txBody>
      </p:sp>
      <p:sp>
        <p:nvSpPr>
          <p:cNvPr id="4" name="Footer Placeholder 3">
            <a:extLst>
              <a:ext uri="{FF2B5EF4-FFF2-40B4-BE49-F238E27FC236}">
                <a16:creationId xmlns:a16="http://schemas.microsoft.com/office/drawing/2014/main" id="{4744FBCC-1CA8-68F2-CF7B-AE98E76DC179}"/>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16A90BA7-CE85-DBD8-3841-D5944A9A89C2}"/>
              </a:ext>
            </a:extLst>
          </p:cNvPr>
          <p:cNvSpPr>
            <a:spLocks noGrp="1"/>
          </p:cNvSpPr>
          <p:nvPr>
            <p:ph type="sldNum" sz="quarter" idx="5"/>
          </p:nvPr>
        </p:nvSpPr>
        <p:spPr/>
        <p:txBody>
          <a:bodyPr/>
          <a:lstStyle/>
          <a:p>
            <a:fld id="{933223A7-FDE5-4555-AB7B-2BBB96A8A41E}" type="slidenum">
              <a:rPr lang="en-US" smtClean="0"/>
              <a:t>51</a:t>
            </a:fld>
            <a:endParaRPr lang="en-US"/>
          </a:p>
        </p:txBody>
      </p:sp>
    </p:spTree>
    <p:extLst>
      <p:ext uri="{BB962C8B-B14F-4D97-AF65-F5344CB8AC3E}">
        <p14:creationId xmlns:p14="http://schemas.microsoft.com/office/powerpoint/2010/main" val="33959119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41E8A-BDCE-092F-E7C3-3472EC87E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7AB18-943E-0705-ACC4-95360C94E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BDCA1-589A-EAFF-1875-8E56F7392F24}"/>
              </a:ext>
            </a:extLst>
          </p:cNvPr>
          <p:cNvSpPr>
            <a:spLocks noGrp="1"/>
          </p:cNvSpPr>
          <p:nvPr>
            <p:ph type="body" idx="1"/>
          </p:nvPr>
        </p:nvSpPr>
        <p:spPr/>
        <p:txBody>
          <a:bodyPr/>
          <a:lstStyle/>
          <a:p>
            <a:pPr algn="r" rtl="1"/>
            <a:r>
              <a:rPr lang="en-US" b="1" dirty="0"/>
              <a:t>3️⃣ Update Gate (</a:t>
            </a:r>
            <a:r>
              <a:rPr lang="ar-EG" b="1" dirty="0"/>
              <a:t>بوابة التحديث)</a:t>
            </a:r>
          </a:p>
          <a:p>
            <a:pPr algn="r" rtl="1"/>
            <a:r>
              <a:rPr lang="ar-EG" dirty="0"/>
              <a:t>الجزء المكتوب عليه </a:t>
            </a:r>
            <a:r>
              <a:rPr lang="en-US" b="1" dirty="0"/>
              <a:t>update gate</a:t>
            </a:r>
            <a:r>
              <a:rPr lang="en-US" dirty="0"/>
              <a:t> </a:t>
            </a:r>
            <a:r>
              <a:rPr lang="ar-EG" dirty="0" err="1"/>
              <a:t>بيحسب</a:t>
            </a:r>
            <a:r>
              <a:rPr lang="ar-EG" dirty="0"/>
              <a:t>:</a:t>
            </a:r>
          </a:p>
          <a:p>
            <a:pPr algn="r" rtl="1"/>
            <a:r>
              <a:rPr lang="en-US" sz="1200" kern="1200" dirty="0">
                <a:solidFill>
                  <a:schemeClr val="tx1"/>
                </a:solidFill>
                <a:latin typeface="+mn-lt"/>
                <a:ea typeface="+mn-ea"/>
                <a:cs typeface="+mn-cs"/>
              </a:rPr>
              <a:t>zₜ = sigmoid(</a:t>
            </a:r>
            <a:r>
              <a:rPr lang="en-US" sz="1200" kern="1200" dirty="0" err="1">
                <a:solidFill>
                  <a:schemeClr val="tx1"/>
                </a:solidFill>
                <a:latin typeface="+mn-lt"/>
                <a:ea typeface="+mn-ea"/>
                <a:cs typeface="+mn-cs"/>
              </a:rPr>
              <a:t>W_z</a:t>
            </a:r>
            <a:r>
              <a:rPr lang="en-US" sz="1200" kern="1200" dirty="0">
                <a:solidFill>
                  <a:schemeClr val="tx1"/>
                </a:solidFill>
                <a:latin typeface="+mn-lt"/>
                <a:ea typeface="+mn-ea"/>
                <a:cs typeface="+mn-cs"/>
              </a:rPr>
              <a:t> * [hₜ₋₁, xₜ])</a:t>
            </a:r>
          </a:p>
          <a:p>
            <a:pPr algn="r" rtl="1"/>
            <a:r>
              <a:rPr lang="ar-EG" dirty="0"/>
              <a:t>دي </a:t>
            </a:r>
            <a:r>
              <a:rPr lang="ar-EG" dirty="0" err="1"/>
              <a:t>بتتحكم</a:t>
            </a:r>
            <a:r>
              <a:rPr lang="ar-EG" dirty="0"/>
              <a:t> في "هل أحتفظ بالمعلومة القديمة ولا أبدلها بالجديدة؟"</a:t>
            </a:r>
          </a:p>
          <a:p>
            <a:pPr algn="r" rtl="1"/>
            <a:r>
              <a:rPr lang="ar-EG" dirty="0"/>
              <a:t>قيمها بين 0 و 1:</a:t>
            </a:r>
          </a:p>
          <a:p>
            <a:pPr lvl="1" algn="r" rtl="1"/>
            <a:r>
              <a:rPr lang="ar-EG" dirty="0"/>
              <a:t>0 → تجاهل القديم، استخدم الجديد.</a:t>
            </a:r>
          </a:p>
          <a:p>
            <a:pPr lvl="1" algn="r" rtl="1"/>
            <a:r>
              <a:rPr lang="ar-EG" dirty="0"/>
              <a:t>1 → حافظ على القديم كما هو.</a:t>
            </a:r>
          </a:p>
          <a:p>
            <a:pPr algn="r" rtl="1"/>
            <a:r>
              <a:rPr lang="ar-EG" dirty="0"/>
              <a:t>⚡ </a:t>
            </a:r>
            <a:r>
              <a:rPr lang="ar-EG" b="1" dirty="0"/>
              <a:t>الهدف:</a:t>
            </a:r>
            <a:r>
              <a:rPr lang="ar-EG" dirty="0"/>
              <a:t> تعمل "توازن" بين الذاكرة القديمة والجديدة.</a:t>
            </a:r>
          </a:p>
          <a:p>
            <a:pPr algn="r" rtl="1"/>
            <a:endParaRPr lang="en-US" dirty="0"/>
          </a:p>
        </p:txBody>
      </p:sp>
      <p:sp>
        <p:nvSpPr>
          <p:cNvPr id="4" name="Footer Placeholder 3">
            <a:extLst>
              <a:ext uri="{FF2B5EF4-FFF2-40B4-BE49-F238E27FC236}">
                <a16:creationId xmlns:a16="http://schemas.microsoft.com/office/drawing/2014/main" id="{D8BF1071-070E-A11E-8F85-8EA80E5C1AE8}"/>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94CB3CA2-2930-B8F3-C543-3849095A9957}"/>
              </a:ext>
            </a:extLst>
          </p:cNvPr>
          <p:cNvSpPr>
            <a:spLocks noGrp="1"/>
          </p:cNvSpPr>
          <p:nvPr>
            <p:ph type="sldNum" sz="quarter" idx="5"/>
          </p:nvPr>
        </p:nvSpPr>
        <p:spPr/>
        <p:txBody>
          <a:bodyPr/>
          <a:lstStyle/>
          <a:p>
            <a:fld id="{933223A7-FDE5-4555-AB7B-2BBB96A8A41E}" type="slidenum">
              <a:rPr lang="en-US" smtClean="0"/>
              <a:t>52</a:t>
            </a:fld>
            <a:endParaRPr lang="en-US"/>
          </a:p>
        </p:txBody>
      </p:sp>
    </p:spTree>
    <p:extLst>
      <p:ext uri="{BB962C8B-B14F-4D97-AF65-F5344CB8AC3E}">
        <p14:creationId xmlns:p14="http://schemas.microsoft.com/office/powerpoint/2010/main" val="379994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1B6F6-32CE-3DBF-706F-85259A8AD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B0D16-4E0C-D862-9C55-BB0C967E5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A5045-D47A-6EA1-782C-D89CFC29E2C7}"/>
              </a:ext>
            </a:extLst>
          </p:cNvPr>
          <p:cNvSpPr>
            <a:spLocks noGrp="1"/>
          </p:cNvSpPr>
          <p:nvPr>
            <p:ph type="body" idx="1"/>
          </p:nvPr>
        </p:nvSpPr>
        <p:spPr/>
        <p:txBody>
          <a:bodyPr/>
          <a:lstStyle/>
          <a:p>
            <a:pPr algn="r" rtl="1"/>
            <a:r>
              <a:rPr lang="en-US" b="1" dirty="0"/>
              <a:t>4️⃣ Candidate Hidden State (</a:t>
            </a:r>
            <a:r>
              <a:rPr lang="ar-EG" b="1" dirty="0"/>
              <a:t>الحالة الجديدة المقترحة)</a:t>
            </a:r>
          </a:p>
          <a:p>
            <a:pPr algn="r" rtl="1"/>
            <a:r>
              <a:rPr lang="ar-EG" dirty="0"/>
              <a:t>بعد الـ </a:t>
            </a:r>
            <a:r>
              <a:rPr lang="en-US" dirty="0"/>
              <a:t>reset gate، </a:t>
            </a:r>
            <a:r>
              <a:rPr lang="ar-EG" dirty="0"/>
              <a:t>ندمج </a:t>
            </a:r>
            <a:r>
              <a:rPr lang="en-US" sz="1200" kern="1200" dirty="0">
                <a:solidFill>
                  <a:schemeClr val="tx1"/>
                </a:solidFill>
                <a:latin typeface="+mn-lt"/>
                <a:ea typeface="+mn-ea"/>
                <a:cs typeface="+mn-cs"/>
              </a:rPr>
              <a:t>rₜ ⊙ hₜ₋₁</a:t>
            </a:r>
            <a:r>
              <a:rPr lang="en-US" dirty="0"/>
              <a:t> (</a:t>
            </a:r>
            <a:r>
              <a:rPr lang="ar-EG" dirty="0"/>
              <a:t>يعني نضربهم عنصر بعنصر) مع </a:t>
            </a:r>
            <a:r>
              <a:rPr lang="en-US" sz="1200" kern="1200" dirty="0">
                <a:solidFill>
                  <a:schemeClr val="tx1"/>
                </a:solidFill>
                <a:latin typeface="+mn-lt"/>
                <a:ea typeface="+mn-ea"/>
                <a:cs typeface="+mn-cs"/>
              </a:rPr>
              <a:t>xₜ</a:t>
            </a:r>
            <a:r>
              <a:rPr lang="en-US" dirty="0"/>
              <a:t> </a:t>
            </a:r>
            <a:r>
              <a:rPr lang="ar-EG" dirty="0"/>
              <a:t>عشان نولد </a:t>
            </a:r>
            <a:r>
              <a:rPr lang="ar-EG" b="1" dirty="0"/>
              <a:t>مرشح الحالة الجديدة</a:t>
            </a:r>
            <a:r>
              <a:rPr lang="ar-EG" dirty="0"/>
              <a:t>:</a:t>
            </a:r>
          </a:p>
          <a:p>
            <a:pPr algn="r" rtl="1"/>
            <a:r>
              <a:rPr lang="en-US" sz="1200" kern="1200" dirty="0">
                <a:solidFill>
                  <a:schemeClr val="tx1"/>
                </a:solidFill>
                <a:latin typeface="+mn-lt"/>
                <a:ea typeface="+mn-ea"/>
                <a:cs typeface="+mn-cs"/>
              </a:rPr>
              <a:t>h̃ₜ = tanh(W * [rₜ ⊙ hₜ₋₁, xₜ])</a:t>
            </a:r>
          </a:p>
          <a:p>
            <a:pPr algn="r" rtl="1"/>
            <a:r>
              <a:rPr lang="en-US" dirty="0"/>
              <a:t>⚡ </a:t>
            </a:r>
            <a:r>
              <a:rPr lang="ar-EG" b="1" dirty="0"/>
              <a:t>الهدف:</a:t>
            </a:r>
            <a:r>
              <a:rPr lang="ar-EG" dirty="0"/>
              <a:t> توليد نسخة جديدة محتملة من الذاكرة — لكن مش بالضرورة نستبدل القديمة بيها بالكامل.</a:t>
            </a:r>
          </a:p>
          <a:p>
            <a:pPr algn="r" rtl="1"/>
            <a:endParaRPr lang="en-US" dirty="0"/>
          </a:p>
        </p:txBody>
      </p:sp>
      <p:sp>
        <p:nvSpPr>
          <p:cNvPr id="4" name="Footer Placeholder 3">
            <a:extLst>
              <a:ext uri="{FF2B5EF4-FFF2-40B4-BE49-F238E27FC236}">
                <a16:creationId xmlns:a16="http://schemas.microsoft.com/office/drawing/2014/main" id="{263115EB-5785-9B0C-4F84-32E8EB687DD2}"/>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3A63D362-C2B3-942B-4A39-9E602BC4673C}"/>
              </a:ext>
            </a:extLst>
          </p:cNvPr>
          <p:cNvSpPr>
            <a:spLocks noGrp="1"/>
          </p:cNvSpPr>
          <p:nvPr>
            <p:ph type="sldNum" sz="quarter" idx="5"/>
          </p:nvPr>
        </p:nvSpPr>
        <p:spPr/>
        <p:txBody>
          <a:bodyPr/>
          <a:lstStyle/>
          <a:p>
            <a:fld id="{933223A7-FDE5-4555-AB7B-2BBB96A8A41E}" type="slidenum">
              <a:rPr lang="en-US" smtClean="0"/>
              <a:t>53</a:t>
            </a:fld>
            <a:endParaRPr lang="en-US"/>
          </a:p>
        </p:txBody>
      </p:sp>
    </p:spTree>
    <p:extLst>
      <p:ext uri="{BB962C8B-B14F-4D97-AF65-F5344CB8AC3E}">
        <p14:creationId xmlns:p14="http://schemas.microsoft.com/office/powerpoint/2010/main" val="425162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F917C-32D4-0C1D-EC23-09B7F045E4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603D4-00E6-8425-309F-1024DA5AA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03FB5-0F09-C037-380B-C96BB3251E6A}"/>
              </a:ext>
            </a:extLst>
          </p:cNvPr>
          <p:cNvSpPr>
            <a:spLocks noGrp="1"/>
          </p:cNvSpPr>
          <p:nvPr>
            <p:ph type="body" idx="1"/>
          </p:nvPr>
        </p:nvSpPr>
        <p:spPr/>
        <p:txBody>
          <a:bodyPr/>
          <a:lstStyle/>
          <a:p>
            <a:pPr algn="r" rtl="1"/>
            <a:r>
              <a:rPr lang="en-US" b="1" dirty="0"/>
              <a:t>5️⃣ Final Hidden State (</a:t>
            </a:r>
            <a:r>
              <a:rPr lang="ar-EG" b="1" dirty="0"/>
              <a:t>الحالة النهائية الجديدة)</a:t>
            </a:r>
          </a:p>
          <a:p>
            <a:pPr algn="r" rtl="1"/>
            <a:r>
              <a:rPr lang="ar-EG" dirty="0" err="1"/>
              <a:t>دلوقتي</a:t>
            </a:r>
            <a:r>
              <a:rPr lang="ar-EG" dirty="0"/>
              <a:t> </a:t>
            </a:r>
            <a:r>
              <a:rPr lang="ar-EG" dirty="0" err="1"/>
              <a:t>بنستخدم</a:t>
            </a:r>
            <a:r>
              <a:rPr lang="ar-EG" dirty="0"/>
              <a:t> </a:t>
            </a:r>
            <a:r>
              <a:rPr lang="en-US" b="1" dirty="0"/>
              <a:t>update gate</a:t>
            </a:r>
            <a:r>
              <a:rPr lang="en-US" dirty="0"/>
              <a:t> </a:t>
            </a:r>
            <a:r>
              <a:rPr lang="ar-EG" dirty="0"/>
              <a:t>لدمج القديم والجديد:</a:t>
            </a:r>
          </a:p>
          <a:p>
            <a:pPr algn="r" rtl="1"/>
            <a:r>
              <a:rPr lang="en-US" sz="1200" kern="1200" dirty="0">
                <a:solidFill>
                  <a:schemeClr val="tx1"/>
                </a:solidFill>
                <a:latin typeface="+mn-lt"/>
                <a:ea typeface="+mn-ea"/>
                <a:cs typeface="+mn-cs"/>
              </a:rPr>
              <a:t>hₜ = (1 - zₜ) ⊙ h̃ₜ + zₜ ⊙ hₜ₋₁</a:t>
            </a:r>
          </a:p>
          <a:p>
            <a:pPr algn="r" rtl="1"/>
            <a:r>
              <a:rPr lang="ar-EG" dirty="0"/>
              <a:t>المعنى:</a:t>
            </a:r>
          </a:p>
          <a:p>
            <a:pPr lvl="1" algn="r" rtl="1"/>
            <a:r>
              <a:rPr lang="ar-EG" dirty="0"/>
              <a:t>لو </a:t>
            </a:r>
            <a:r>
              <a:rPr lang="en-US" dirty="0"/>
              <a:t>zₜ ≈ 1 → </a:t>
            </a:r>
            <a:r>
              <a:rPr lang="ar-EG" dirty="0"/>
              <a:t>نحافظ على الذاكرة القديمة (ننسى الجديد)</a:t>
            </a:r>
          </a:p>
          <a:p>
            <a:pPr lvl="1" algn="r" rtl="1"/>
            <a:r>
              <a:rPr lang="ar-EG" dirty="0"/>
              <a:t>لو </a:t>
            </a:r>
            <a:r>
              <a:rPr lang="en-US" dirty="0"/>
              <a:t>zₜ ≈ 0 → </a:t>
            </a:r>
            <a:r>
              <a:rPr lang="ar-EG" dirty="0"/>
              <a:t>نستخدم الذاكرة الجديدة</a:t>
            </a:r>
          </a:p>
          <a:p>
            <a:pPr algn="r" rtl="1"/>
            <a:r>
              <a:rPr lang="ar-EG" dirty="0"/>
              <a:t>⚡ </a:t>
            </a:r>
            <a:r>
              <a:rPr lang="ar-EG" b="1" dirty="0"/>
              <a:t>الهدف:</a:t>
            </a:r>
            <a:r>
              <a:rPr lang="ar-EG" dirty="0"/>
              <a:t> تحديث الذاكرة بطريقة ذكية — بحيث نحافظ على المهم ونستبدل الباقي</a:t>
            </a:r>
          </a:p>
          <a:p>
            <a:pPr algn="r" rtl="1"/>
            <a:endParaRPr lang="en-US" dirty="0"/>
          </a:p>
        </p:txBody>
      </p:sp>
      <p:sp>
        <p:nvSpPr>
          <p:cNvPr id="4" name="Footer Placeholder 3">
            <a:extLst>
              <a:ext uri="{FF2B5EF4-FFF2-40B4-BE49-F238E27FC236}">
                <a16:creationId xmlns:a16="http://schemas.microsoft.com/office/drawing/2014/main" id="{54614947-A6C2-BED1-4CE1-5B6B982725EF}"/>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B99EA41D-C965-519B-22C5-7502DA6990B9}"/>
              </a:ext>
            </a:extLst>
          </p:cNvPr>
          <p:cNvSpPr>
            <a:spLocks noGrp="1"/>
          </p:cNvSpPr>
          <p:nvPr>
            <p:ph type="sldNum" sz="quarter" idx="5"/>
          </p:nvPr>
        </p:nvSpPr>
        <p:spPr/>
        <p:txBody>
          <a:bodyPr/>
          <a:lstStyle/>
          <a:p>
            <a:fld id="{933223A7-FDE5-4555-AB7B-2BBB96A8A41E}" type="slidenum">
              <a:rPr lang="en-US" smtClean="0"/>
              <a:t>54</a:t>
            </a:fld>
            <a:endParaRPr lang="en-US"/>
          </a:p>
        </p:txBody>
      </p:sp>
    </p:spTree>
    <p:extLst>
      <p:ext uri="{BB962C8B-B14F-4D97-AF65-F5344CB8AC3E}">
        <p14:creationId xmlns:p14="http://schemas.microsoft.com/office/powerpoint/2010/main" val="3278549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BC33E-9589-52FA-EC7D-E260DED2C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CB3B94-35F5-8D02-0509-F7A6E33246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41A19-4277-3481-8201-25C12308130C}"/>
              </a:ext>
            </a:extLst>
          </p:cNvPr>
          <p:cNvSpPr>
            <a:spLocks noGrp="1"/>
          </p:cNvSpPr>
          <p:nvPr>
            <p:ph type="body" idx="1"/>
          </p:nvPr>
        </p:nvSpPr>
        <p:spPr/>
        <p:txBody>
          <a:bodyPr/>
          <a:lstStyle/>
          <a:p>
            <a:pPr algn="r" rtl="1"/>
            <a:r>
              <a:rPr lang="en-US" b="1" dirty="0"/>
              <a:t>🎯 </a:t>
            </a:r>
            <a:r>
              <a:rPr lang="ar-EG" b="1" dirty="0"/>
              <a:t>الهدف العام</a:t>
            </a:r>
          </a:p>
          <a:p>
            <a:pPr algn="r" rtl="1"/>
            <a:r>
              <a:rPr lang="ar-EG" dirty="0"/>
              <a:t>خلية </a:t>
            </a:r>
            <a:r>
              <a:rPr lang="en-US" dirty="0"/>
              <a:t>GRU </a:t>
            </a:r>
            <a:r>
              <a:rPr lang="ar-EG" dirty="0" err="1"/>
              <a:t>بتتعلم</a:t>
            </a:r>
            <a:r>
              <a:rPr lang="ar-EG" dirty="0"/>
              <a:t> مع الوقت:</a:t>
            </a:r>
          </a:p>
          <a:p>
            <a:pPr algn="r" rtl="1"/>
            <a:r>
              <a:rPr lang="ar-EG" dirty="0"/>
              <a:t>متى تتذكر المعلومات القديمة؟</a:t>
            </a:r>
          </a:p>
          <a:p>
            <a:pPr algn="r" rtl="1"/>
            <a:r>
              <a:rPr lang="ar-EG" dirty="0"/>
              <a:t>متى تمسحها وتتعلم جديدة؟</a:t>
            </a:r>
          </a:p>
          <a:p>
            <a:pPr algn="r" rtl="1"/>
            <a:r>
              <a:rPr lang="ar-EG" dirty="0"/>
              <a:t>وده </a:t>
            </a:r>
            <a:r>
              <a:rPr lang="ar-EG" dirty="0" err="1"/>
              <a:t>بيخليها</a:t>
            </a:r>
            <a:r>
              <a:rPr lang="ar-EG" dirty="0"/>
              <a:t> ممتازة في التعامل مع </a:t>
            </a:r>
            <a:r>
              <a:rPr lang="ar-EG" b="1" dirty="0"/>
              <a:t>الجمل الطويلة أو الفيديوهات</a:t>
            </a:r>
            <a:r>
              <a:rPr lang="ar-EG" dirty="0"/>
              <a:t>، لأنها مش </a:t>
            </a:r>
            <a:r>
              <a:rPr lang="ar-EG" dirty="0" err="1"/>
              <a:t>بتنسى</a:t>
            </a:r>
            <a:r>
              <a:rPr lang="ar-EG" dirty="0"/>
              <a:t> بسهولة زي الـ </a:t>
            </a:r>
            <a:r>
              <a:rPr lang="en-US" dirty="0"/>
              <a:t>RNN </a:t>
            </a:r>
            <a:r>
              <a:rPr lang="ar-EG" dirty="0"/>
              <a:t>العادية.</a:t>
            </a:r>
          </a:p>
          <a:p>
            <a:pPr algn="r" rtl="1"/>
            <a:endParaRPr lang="en-US" dirty="0"/>
          </a:p>
        </p:txBody>
      </p:sp>
      <p:sp>
        <p:nvSpPr>
          <p:cNvPr id="4" name="Footer Placeholder 3">
            <a:extLst>
              <a:ext uri="{FF2B5EF4-FFF2-40B4-BE49-F238E27FC236}">
                <a16:creationId xmlns:a16="http://schemas.microsoft.com/office/drawing/2014/main" id="{B8C26C55-796A-AC27-3FED-25004BD690B4}"/>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44182BC5-65F2-448A-96FB-64B8CFF0644A}"/>
              </a:ext>
            </a:extLst>
          </p:cNvPr>
          <p:cNvSpPr>
            <a:spLocks noGrp="1"/>
          </p:cNvSpPr>
          <p:nvPr>
            <p:ph type="sldNum" sz="quarter" idx="5"/>
          </p:nvPr>
        </p:nvSpPr>
        <p:spPr/>
        <p:txBody>
          <a:bodyPr/>
          <a:lstStyle/>
          <a:p>
            <a:fld id="{933223A7-FDE5-4555-AB7B-2BBB96A8A41E}" type="slidenum">
              <a:rPr lang="en-US" smtClean="0"/>
              <a:t>55</a:t>
            </a:fld>
            <a:endParaRPr lang="en-US"/>
          </a:p>
        </p:txBody>
      </p:sp>
    </p:spTree>
    <p:extLst>
      <p:ext uri="{BB962C8B-B14F-4D97-AF65-F5344CB8AC3E}">
        <p14:creationId xmlns:p14="http://schemas.microsoft.com/office/powerpoint/2010/main" val="4604605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33223A7-FDE5-4555-AB7B-2BBB96A8A41E}" type="slidenum">
              <a:rPr lang="en-US" smtClean="0"/>
              <a:t>56</a:t>
            </a:fld>
            <a:endParaRPr lang="en-US"/>
          </a:p>
        </p:txBody>
      </p:sp>
    </p:spTree>
    <p:extLst>
      <p:ext uri="{BB962C8B-B14F-4D97-AF65-F5344CB8AC3E}">
        <p14:creationId xmlns:p14="http://schemas.microsoft.com/office/powerpoint/2010/main" val="23116599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3223A7-FDE5-4555-AB7B-2BBB96A8A4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54531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3223A7-FDE5-4555-AB7B-2BBB96A8A4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8166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6B139-107E-409B-2ED4-D4A7DD4C59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41A52A-93FE-785E-2FA6-2FAEDC3507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9F14E7-9A9A-4F42-8931-10DE7C905D98}"/>
              </a:ext>
            </a:extLst>
          </p:cNvPr>
          <p:cNvSpPr>
            <a:spLocks noGrp="1"/>
          </p:cNvSpPr>
          <p:nvPr>
            <p:ph type="dt" sz="half" idx="10"/>
          </p:nvPr>
        </p:nvSpPr>
        <p:spPr/>
        <p:txBody>
          <a:bodyPr/>
          <a:lstStyle/>
          <a:p>
            <a:fld id="{D208048B-57AF-4F53-BC84-8E0A1033FBEC}" type="datetimeFigureOut">
              <a:rPr lang="en-US" smtClean="0"/>
              <a:t>4/5/2026</a:t>
            </a:fld>
            <a:endParaRPr lang="en-US"/>
          </a:p>
        </p:txBody>
      </p:sp>
      <p:sp>
        <p:nvSpPr>
          <p:cNvPr id="5" name="Footer Placeholder 4">
            <a:extLst>
              <a:ext uri="{FF2B5EF4-FFF2-40B4-BE49-F238E27FC236}">
                <a16:creationId xmlns:a16="http://schemas.microsoft.com/office/drawing/2014/main" id="{E52CFF7A-F30C-A6D9-3895-30612B80FD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F90A2-3B62-6325-470A-B9B73EA9304E}"/>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876896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869DA-E42A-FE27-AA41-731BF2052E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559706-A550-C6E9-2720-CCB282CECC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620CA7-9C9A-0577-4CCD-3B87820F6DD3}"/>
              </a:ext>
            </a:extLst>
          </p:cNvPr>
          <p:cNvSpPr>
            <a:spLocks noGrp="1"/>
          </p:cNvSpPr>
          <p:nvPr>
            <p:ph type="dt" sz="half" idx="10"/>
          </p:nvPr>
        </p:nvSpPr>
        <p:spPr/>
        <p:txBody>
          <a:bodyPr/>
          <a:lstStyle/>
          <a:p>
            <a:fld id="{D208048B-57AF-4F53-BC84-8E0A1033FBEC}" type="datetimeFigureOut">
              <a:rPr lang="en-US" smtClean="0"/>
              <a:t>4/5/2026</a:t>
            </a:fld>
            <a:endParaRPr lang="en-US"/>
          </a:p>
        </p:txBody>
      </p:sp>
      <p:sp>
        <p:nvSpPr>
          <p:cNvPr id="5" name="Footer Placeholder 4">
            <a:extLst>
              <a:ext uri="{FF2B5EF4-FFF2-40B4-BE49-F238E27FC236}">
                <a16:creationId xmlns:a16="http://schemas.microsoft.com/office/drawing/2014/main" id="{37F4383E-53DD-9D18-FC66-F2C5FF94A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1E639E-9C8E-E271-40E4-1C19C8C0C842}"/>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829878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27F23-6EBB-5E3A-30D0-D948972C01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FA5F3C-F325-379C-B4CA-0108AA6C9F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FDA449-FEEC-643B-9141-070D4A94D592}"/>
              </a:ext>
            </a:extLst>
          </p:cNvPr>
          <p:cNvSpPr>
            <a:spLocks noGrp="1"/>
          </p:cNvSpPr>
          <p:nvPr>
            <p:ph type="dt" sz="half" idx="10"/>
          </p:nvPr>
        </p:nvSpPr>
        <p:spPr/>
        <p:txBody>
          <a:bodyPr/>
          <a:lstStyle/>
          <a:p>
            <a:fld id="{D208048B-57AF-4F53-BC84-8E0A1033FBEC}" type="datetimeFigureOut">
              <a:rPr lang="en-US" smtClean="0"/>
              <a:t>4/5/2026</a:t>
            </a:fld>
            <a:endParaRPr lang="en-US"/>
          </a:p>
        </p:txBody>
      </p:sp>
      <p:sp>
        <p:nvSpPr>
          <p:cNvPr id="5" name="Footer Placeholder 4">
            <a:extLst>
              <a:ext uri="{FF2B5EF4-FFF2-40B4-BE49-F238E27FC236}">
                <a16:creationId xmlns:a16="http://schemas.microsoft.com/office/drawing/2014/main" id="{113BE56D-096C-E0A5-180D-02A6773F39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F5F4F-7E6C-8842-D7E6-3F331FDBEACC}"/>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467225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6DB9F-C686-3FDA-8C23-FE9672E97A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06D82F-B545-0F57-871B-B0D3E0AE4A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4FC397-DA15-A6B6-C3B1-040DAD2EBB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234DF6-DAD6-0A6C-C15A-E2CE1F6AB0CD}"/>
              </a:ext>
            </a:extLst>
          </p:cNvPr>
          <p:cNvSpPr>
            <a:spLocks noGrp="1"/>
          </p:cNvSpPr>
          <p:nvPr>
            <p:ph type="dt" sz="half" idx="10"/>
          </p:nvPr>
        </p:nvSpPr>
        <p:spPr/>
        <p:txBody>
          <a:bodyPr/>
          <a:lstStyle/>
          <a:p>
            <a:fld id="{D208048B-57AF-4F53-BC84-8E0A1033FBEC}" type="datetimeFigureOut">
              <a:rPr lang="en-US" smtClean="0"/>
              <a:t>4/5/2026</a:t>
            </a:fld>
            <a:endParaRPr lang="en-US"/>
          </a:p>
        </p:txBody>
      </p:sp>
      <p:sp>
        <p:nvSpPr>
          <p:cNvPr id="6" name="Footer Placeholder 5">
            <a:extLst>
              <a:ext uri="{FF2B5EF4-FFF2-40B4-BE49-F238E27FC236}">
                <a16:creationId xmlns:a16="http://schemas.microsoft.com/office/drawing/2014/main" id="{0362694A-D2A5-D287-CFF3-E6CFA0070D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575350-79E3-62A1-BA99-47777829C6B8}"/>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837641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F5BEB-3BB7-9510-AC43-7603A6E625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BFBA45-26C3-EFE3-C70B-12B9C735A2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ECCCDA-CF94-D76F-FE8D-315A5E9BBC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465874-5205-B359-3B7A-BA141F61D9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991210-59C7-9C12-7645-7567F15635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C59402-73BF-384F-8C22-742ABA88B584}"/>
              </a:ext>
            </a:extLst>
          </p:cNvPr>
          <p:cNvSpPr>
            <a:spLocks noGrp="1"/>
          </p:cNvSpPr>
          <p:nvPr>
            <p:ph type="dt" sz="half" idx="10"/>
          </p:nvPr>
        </p:nvSpPr>
        <p:spPr/>
        <p:txBody>
          <a:bodyPr/>
          <a:lstStyle/>
          <a:p>
            <a:fld id="{D208048B-57AF-4F53-BC84-8E0A1033FBEC}" type="datetimeFigureOut">
              <a:rPr lang="en-US" smtClean="0"/>
              <a:t>4/5/2026</a:t>
            </a:fld>
            <a:endParaRPr lang="en-US"/>
          </a:p>
        </p:txBody>
      </p:sp>
      <p:sp>
        <p:nvSpPr>
          <p:cNvPr id="8" name="Footer Placeholder 7">
            <a:extLst>
              <a:ext uri="{FF2B5EF4-FFF2-40B4-BE49-F238E27FC236}">
                <a16:creationId xmlns:a16="http://schemas.microsoft.com/office/drawing/2014/main" id="{7C1C473C-376E-933E-4CDD-63D0596BA4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869F79-D83E-A230-AC6B-14EA1EDF58E1}"/>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460021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A40C-46FF-F138-A81F-6594AEDFA9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3D89BE-0076-61C4-2228-F37D0B5A1B15}"/>
              </a:ext>
            </a:extLst>
          </p:cNvPr>
          <p:cNvSpPr>
            <a:spLocks noGrp="1"/>
          </p:cNvSpPr>
          <p:nvPr>
            <p:ph type="dt" sz="half" idx="10"/>
          </p:nvPr>
        </p:nvSpPr>
        <p:spPr/>
        <p:txBody>
          <a:bodyPr/>
          <a:lstStyle/>
          <a:p>
            <a:fld id="{D208048B-57AF-4F53-BC84-8E0A1033FBEC}" type="datetimeFigureOut">
              <a:rPr lang="en-US" smtClean="0"/>
              <a:t>4/5/2026</a:t>
            </a:fld>
            <a:endParaRPr lang="en-US"/>
          </a:p>
        </p:txBody>
      </p:sp>
      <p:sp>
        <p:nvSpPr>
          <p:cNvPr id="4" name="Footer Placeholder 3">
            <a:extLst>
              <a:ext uri="{FF2B5EF4-FFF2-40B4-BE49-F238E27FC236}">
                <a16:creationId xmlns:a16="http://schemas.microsoft.com/office/drawing/2014/main" id="{27878F3C-E92F-F7FD-7457-84D9EC10D7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7360B0-9F7A-3F31-5FD8-5227DC5BEA0C}"/>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863878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47AD4A-540A-390C-B2A0-10FF2477F552}"/>
              </a:ext>
            </a:extLst>
          </p:cNvPr>
          <p:cNvSpPr>
            <a:spLocks noGrp="1"/>
          </p:cNvSpPr>
          <p:nvPr>
            <p:ph type="dt" sz="half" idx="10"/>
          </p:nvPr>
        </p:nvSpPr>
        <p:spPr/>
        <p:txBody>
          <a:bodyPr/>
          <a:lstStyle/>
          <a:p>
            <a:fld id="{D208048B-57AF-4F53-BC84-8E0A1033FBEC}" type="datetimeFigureOut">
              <a:rPr lang="en-US" smtClean="0"/>
              <a:t>4/5/2026</a:t>
            </a:fld>
            <a:endParaRPr lang="en-US"/>
          </a:p>
        </p:txBody>
      </p:sp>
      <p:sp>
        <p:nvSpPr>
          <p:cNvPr id="3" name="Footer Placeholder 2">
            <a:extLst>
              <a:ext uri="{FF2B5EF4-FFF2-40B4-BE49-F238E27FC236}">
                <a16:creationId xmlns:a16="http://schemas.microsoft.com/office/drawing/2014/main" id="{D1138C24-6E50-16FE-9199-C0884CCC86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0242A5-58B1-2A09-BAF7-831A0ED91300}"/>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244071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E3468-0DFC-1009-E8E1-9C49B5D504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6CBE10-5665-6F86-E6B6-A73F1C0EFB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528356-C29C-6313-AF1D-ADB1E5A82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A6CB27-29DF-BD60-24EE-3BCF9D3319A3}"/>
              </a:ext>
            </a:extLst>
          </p:cNvPr>
          <p:cNvSpPr>
            <a:spLocks noGrp="1"/>
          </p:cNvSpPr>
          <p:nvPr>
            <p:ph type="dt" sz="half" idx="10"/>
          </p:nvPr>
        </p:nvSpPr>
        <p:spPr/>
        <p:txBody>
          <a:bodyPr/>
          <a:lstStyle/>
          <a:p>
            <a:fld id="{D208048B-57AF-4F53-BC84-8E0A1033FBEC}" type="datetimeFigureOut">
              <a:rPr lang="en-US" smtClean="0"/>
              <a:t>4/5/2026</a:t>
            </a:fld>
            <a:endParaRPr lang="en-US"/>
          </a:p>
        </p:txBody>
      </p:sp>
      <p:sp>
        <p:nvSpPr>
          <p:cNvPr id="6" name="Footer Placeholder 5">
            <a:extLst>
              <a:ext uri="{FF2B5EF4-FFF2-40B4-BE49-F238E27FC236}">
                <a16:creationId xmlns:a16="http://schemas.microsoft.com/office/drawing/2014/main" id="{BC6F8643-E1BC-6E17-B879-BC99195B74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D9D382-5555-B048-A326-EA35597093BA}"/>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22055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79A6B-2CF1-39AE-15A7-BA13C15B91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87C3373-1EC9-E4B7-6811-9F53587928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09B7A5-F627-82B4-6EB7-4EC6BAAD49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2F0924-9A1B-ADC7-8C25-31EA87FC3148}"/>
              </a:ext>
            </a:extLst>
          </p:cNvPr>
          <p:cNvSpPr>
            <a:spLocks noGrp="1"/>
          </p:cNvSpPr>
          <p:nvPr>
            <p:ph type="dt" sz="half" idx="10"/>
          </p:nvPr>
        </p:nvSpPr>
        <p:spPr/>
        <p:txBody>
          <a:bodyPr/>
          <a:lstStyle/>
          <a:p>
            <a:fld id="{D208048B-57AF-4F53-BC84-8E0A1033FBEC}" type="datetimeFigureOut">
              <a:rPr lang="en-US" smtClean="0"/>
              <a:t>4/5/2026</a:t>
            </a:fld>
            <a:endParaRPr lang="en-US"/>
          </a:p>
        </p:txBody>
      </p:sp>
      <p:sp>
        <p:nvSpPr>
          <p:cNvPr id="6" name="Footer Placeholder 5">
            <a:extLst>
              <a:ext uri="{FF2B5EF4-FFF2-40B4-BE49-F238E27FC236}">
                <a16:creationId xmlns:a16="http://schemas.microsoft.com/office/drawing/2014/main" id="{17F42CC3-849C-1BB4-E9D5-7B8FB930D9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F189ED-E57A-B354-B83D-48ED9C9F09AE}"/>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519900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BA469-1C75-CF6A-53BC-9C9D35B5BC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B319B9-1033-848C-A76C-699B343BE8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76D228-3DFD-30BA-5759-323799AC0E3D}"/>
              </a:ext>
            </a:extLst>
          </p:cNvPr>
          <p:cNvSpPr>
            <a:spLocks noGrp="1"/>
          </p:cNvSpPr>
          <p:nvPr>
            <p:ph type="dt" sz="half" idx="10"/>
          </p:nvPr>
        </p:nvSpPr>
        <p:spPr/>
        <p:txBody>
          <a:bodyPr/>
          <a:lstStyle/>
          <a:p>
            <a:fld id="{D208048B-57AF-4F53-BC84-8E0A1033FBEC}" type="datetimeFigureOut">
              <a:rPr lang="en-US" smtClean="0"/>
              <a:t>4/5/2026</a:t>
            </a:fld>
            <a:endParaRPr lang="en-US"/>
          </a:p>
        </p:txBody>
      </p:sp>
      <p:sp>
        <p:nvSpPr>
          <p:cNvPr id="5" name="Footer Placeholder 4">
            <a:extLst>
              <a:ext uri="{FF2B5EF4-FFF2-40B4-BE49-F238E27FC236}">
                <a16:creationId xmlns:a16="http://schemas.microsoft.com/office/drawing/2014/main" id="{4814A193-9DC3-8403-8915-1ECB15D9D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738746-1675-A898-C3BA-D00B1691190B}"/>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844483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40EC28-665D-BA5B-52B4-18F905411E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362566-2EDA-004B-AFC3-81E755CED4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57600-E167-4DD2-97FF-B5DE6FCBED18}"/>
              </a:ext>
            </a:extLst>
          </p:cNvPr>
          <p:cNvSpPr>
            <a:spLocks noGrp="1"/>
          </p:cNvSpPr>
          <p:nvPr>
            <p:ph type="dt" sz="half" idx="10"/>
          </p:nvPr>
        </p:nvSpPr>
        <p:spPr/>
        <p:txBody>
          <a:bodyPr/>
          <a:lstStyle/>
          <a:p>
            <a:fld id="{D208048B-57AF-4F53-BC84-8E0A1033FBEC}" type="datetimeFigureOut">
              <a:rPr lang="en-US" smtClean="0"/>
              <a:t>4/5/2026</a:t>
            </a:fld>
            <a:endParaRPr lang="en-US"/>
          </a:p>
        </p:txBody>
      </p:sp>
      <p:sp>
        <p:nvSpPr>
          <p:cNvPr id="5" name="Footer Placeholder 4">
            <a:extLst>
              <a:ext uri="{FF2B5EF4-FFF2-40B4-BE49-F238E27FC236}">
                <a16:creationId xmlns:a16="http://schemas.microsoft.com/office/drawing/2014/main" id="{56D83542-C3EB-2B0B-1AF7-5119932DC4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93BAB-A4B8-CE77-B6D9-573117916E18}"/>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034733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68A88-1EE1-3422-84E1-7CB361B1DA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A1FC91-FAA2-D65F-E901-C6884F9C6163}"/>
              </a:ext>
            </a:extLst>
          </p:cNvPr>
          <p:cNvSpPr>
            <a:spLocks noGrp="1"/>
          </p:cNvSpPr>
          <p:nvPr>
            <p:ph type="dt" sz="half" idx="10"/>
          </p:nvPr>
        </p:nvSpPr>
        <p:spPr>
          <a:xfrm>
            <a:off x="838200" y="6356350"/>
            <a:ext cx="2743200" cy="365125"/>
          </a:xfrm>
          <a:prstGeom prst="rect">
            <a:avLst/>
          </a:prstGeom>
        </p:spPr>
        <p:txBody>
          <a:bodyPr/>
          <a:lstStyle/>
          <a:p>
            <a:fld id="{16227FE5-55EA-4524-9391-07C0F38E76CE}" type="datetime1">
              <a:rPr lang="en-US" smtClean="0"/>
              <a:t>4/5/2026</a:t>
            </a:fld>
            <a:endParaRPr lang="en-US" dirty="0"/>
          </a:p>
        </p:txBody>
      </p:sp>
      <p:sp>
        <p:nvSpPr>
          <p:cNvPr id="4" name="Footer Placeholder 3">
            <a:extLst>
              <a:ext uri="{FF2B5EF4-FFF2-40B4-BE49-F238E27FC236}">
                <a16:creationId xmlns:a16="http://schemas.microsoft.com/office/drawing/2014/main" id="{92948D4D-60AF-93C1-9BF4-DCE9AEF780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6FDD901-3047-7838-FFFA-C6F934BAA0F0}"/>
              </a:ext>
            </a:extLst>
          </p:cNvPr>
          <p:cNvSpPr>
            <a:spLocks noGrp="1"/>
          </p:cNvSpPr>
          <p:nvPr>
            <p:ph type="sldNum" sz="quarter" idx="12"/>
          </p:nvPr>
        </p:nvSpPr>
        <p:spPr/>
        <p:txBody>
          <a:bodyPr/>
          <a:lstStyle/>
          <a:p>
            <a:fld id="{5EE24C92-1265-4741-8F9F-404A15D9386E}" type="slidenum">
              <a:rPr lang="en-US" smtClean="0"/>
              <a:pPr/>
              <a:t>‹#›</a:t>
            </a:fld>
            <a:endParaRPr lang="en-US" dirty="0"/>
          </a:p>
        </p:txBody>
      </p:sp>
    </p:spTree>
    <p:extLst>
      <p:ext uri="{BB962C8B-B14F-4D97-AF65-F5344CB8AC3E}">
        <p14:creationId xmlns:p14="http://schemas.microsoft.com/office/powerpoint/2010/main" val="957837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53810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rgbClr val="FF0066"/>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48976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rgbClr val="FF0066"/>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931969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rgbClr val="FF0066"/>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565434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211910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74364F-4A4B-7386-A435-22F321D8F7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D483A6-1F3F-7B65-8E8D-2AB48AF224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AC05A4-6C72-63AF-337A-BC58AB896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08048B-57AF-4F53-BC84-8E0A1033FBEC}" type="datetimeFigureOut">
              <a:rPr lang="en-US" smtClean="0"/>
              <a:pPr/>
              <a:t>4/5/2026</a:t>
            </a:fld>
            <a:endParaRPr lang="en-US" dirty="0"/>
          </a:p>
        </p:txBody>
      </p:sp>
      <p:sp>
        <p:nvSpPr>
          <p:cNvPr id="5" name="Footer Placeholder 4">
            <a:extLst>
              <a:ext uri="{FF2B5EF4-FFF2-40B4-BE49-F238E27FC236}">
                <a16:creationId xmlns:a16="http://schemas.microsoft.com/office/drawing/2014/main" id="{36588EB7-673A-EA28-C197-EC276A7899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712AE80-9F80-5AFE-CF88-CA7E60583C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8A8A1B-4E1E-43EF-8A39-7D4A3879B941}" type="slidenum">
              <a:rPr lang="en-US" smtClean="0"/>
              <a:pPr/>
              <a:t>‹#›</a:t>
            </a:fld>
            <a:endParaRPr lang="en-US" dirty="0"/>
          </a:p>
        </p:txBody>
      </p:sp>
    </p:spTree>
    <p:extLst>
      <p:ext uri="{BB962C8B-B14F-4D97-AF65-F5344CB8AC3E}">
        <p14:creationId xmlns:p14="http://schemas.microsoft.com/office/powerpoint/2010/main" val="157245495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274189" y="3107258"/>
            <a:ext cx="8543290" cy="391795"/>
          </a:xfrm>
          <a:prstGeom prst="rect">
            <a:avLst/>
          </a:prstGeom>
        </p:spPr>
        <p:txBody>
          <a:bodyPr wrap="square" lIns="0" tIns="0" rIns="0" bIns="0">
            <a:spAutoFit/>
          </a:bodyPr>
          <a:lstStyle>
            <a:lvl1pPr>
              <a:defRPr sz="2200" b="0" i="0">
                <a:solidFill>
                  <a:srgbClr val="FF0066"/>
                </a:solidFill>
                <a:latin typeface="Cambria"/>
                <a:cs typeface="Cambria"/>
              </a:defRPr>
            </a:lvl1pPr>
          </a:lstStyle>
          <a:p>
            <a:endParaRPr/>
          </a:p>
        </p:txBody>
      </p:sp>
      <p:sp>
        <p:nvSpPr>
          <p:cNvPr id="3" name="Holder 3"/>
          <p:cNvSpPr>
            <a:spLocks noGrp="1"/>
          </p:cNvSpPr>
          <p:nvPr>
            <p:ph type="body" idx="1"/>
          </p:nvPr>
        </p:nvSpPr>
        <p:spPr>
          <a:xfrm>
            <a:off x="1296161" y="1775586"/>
            <a:ext cx="9599676" cy="204977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15944620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6.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3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3.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4.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5.png"/><Relationship Id="rId1" Type="http://schemas.openxmlformats.org/officeDocument/2006/relationships/slideLayout" Target="../slideLayouts/slideLayout16.xml"/><Relationship Id="rId5" Type="http://schemas.openxmlformats.org/officeDocument/2006/relationships/image" Target="../media/image37.png"/><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8.pn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39.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50.emf"/></Relationships>
</file>

<file path=ppt/slides/_rels/slide49.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52.gi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6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hyperlink" Target="https://youtu.be/dfTD6eeMZHE?si=GhQtLee--Ybouhqh" TargetMode="External"/><Relationship Id="rId7" Type="http://schemas.openxmlformats.org/officeDocument/2006/relationships/hyperlink" Target="https://youtu.be/0VMbGsg4LCs?si=Sendb-kUvJPZJCHy" TargetMode="External"/><Relationship Id="rId2" Type="http://schemas.openxmlformats.org/officeDocument/2006/relationships/hyperlink" Target="https://youtu.be/7Zz-hQfp5xM?si=DrBV9O2r7jTQFX3U" TargetMode="External"/><Relationship Id="rId1" Type="http://schemas.openxmlformats.org/officeDocument/2006/relationships/slideLayout" Target="../slideLayouts/slideLayout6.xml"/><Relationship Id="rId6" Type="http://schemas.openxmlformats.org/officeDocument/2006/relationships/hyperlink" Target="https://youtu.be/s2x_NMayknc?si=deQpQIWacioX6phF" TargetMode="External"/><Relationship Id="rId5" Type="http://schemas.openxmlformats.org/officeDocument/2006/relationships/hyperlink" Target="https://youtu.be/n4VOB733v98?si=Dh1DEg4Q9XGj6tAe" TargetMode="External"/><Relationship Id="rId4" Type="http://schemas.openxmlformats.org/officeDocument/2006/relationships/hyperlink" Target="https://youtu.be/qWcTretvSVQ?si=H-XmRr4pZixiCtVW"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2841B8-39D1-60C9-71F3-BFD49476A622}"/>
              </a:ext>
            </a:extLst>
          </p:cNvPr>
          <p:cNvSpPr>
            <a:spLocks noGrp="1"/>
          </p:cNvSpPr>
          <p:nvPr>
            <p:ph type="ctrTitle"/>
          </p:nvPr>
        </p:nvSpPr>
        <p:spPr>
          <a:xfrm>
            <a:off x="874815" y="798703"/>
            <a:ext cx="5221185" cy="2557145"/>
          </a:xfrm>
        </p:spPr>
        <p:txBody>
          <a:bodyPr anchor="b">
            <a:normAutofit/>
          </a:bodyPr>
          <a:lstStyle/>
          <a:p>
            <a:r>
              <a:rPr lang="en-US" b="1" dirty="0">
                <a:latin typeface="Times New Roman" panose="02020603050405020304" pitchFamily="18" charset="0"/>
                <a:cs typeface="Times New Roman" panose="02020603050405020304" pitchFamily="18" charset="0"/>
              </a:rPr>
              <a:t>Deep Learning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(DL)</a:t>
            </a:r>
          </a:p>
        </p:txBody>
      </p:sp>
      <p:sp>
        <p:nvSpPr>
          <p:cNvPr id="3" name="Subtitle 2">
            <a:extLst>
              <a:ext uri="{FF2B5EF4-FFF2-40B4-BE49-F238E27FC236}">
                <a16:creationId xmlns:a16="http://schemas.microsoft.com/office/drawing/2014/main" id="{72D633AC-863C-395F-7D50-076B7E4228AA}"/>
              </a:ext>
            </a:extLst>
          </p:cNvPr>
          <p:cNvSpPr>
            <a:spLocks noGrp="1"/>
          </p:cNvSpPr>
          <p:nvPr>
            <p:ph type="subTitle" idx="1"/>
          </p:nvPr>
        </p:nvSpPr>
        <p:spPr>
          <a:xfrm>
            <a:off x="440663" y="3078283"/>
            <a:ext cx="6429744" cy="3779717"/>
          </a:xfrm>
        </p:spPr>
        <p:txBody>
          <a:bodyPr anchor="t">
            <a:normAutofit lnSpcReduction="10000"/>
          </a:bodyPr>
          <a:lstStyle/>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Lab6</a:t>
            </a:r>
          </a:p>
          <a:p>
            <a:br>
              <a:rPr lang="en-US" sz="700" dirty="0">
                <a:latin typeface="Times New Roman" panose="02020603050405020304" pitchFamily="18" charset="0"/>
                <a:cs typeface="Times New Roman" panose="02020603050405020304" pitchFamily="18" charset="0"/>
              </a:rPr>
            </a:br>
            <a:r>
              <a:rPr lang="en-GB" sz="2800" b="1" dirty="0">
                <a:latin typeface="Times New Roman" panose="02020603050405020304" pitchFamily="18" charset="0"/>
                <a:cs typeface="Times New Roman" panose="02020603050405020304" pitchFamily="18" charset="0"/>
              </a:rPr>
              <a:t>Natural Language Processing (NLP)</a:t>
            </a:r>
          </a:p>
          <a:p>
            <a:r>
              <a:rPr lang="en-US" sz="2800" b="1" dirty="0">
                <a:solidFill>
                  <a:srgbClr val="FF0000"/>
                </a:solidFill>
                <a:latin typeface="Times New Roman" panose="02020603050405020304" pitchFamily="18" charset="0"/>
                <a:cs typeface="Times New Roman" panose="02020603050405020304" pitchFamily="18" charset="0"/>
              </a:rPr>
              <a:t> </a:t>
            </a:r>
          </a:p>
          <a:p>
            <a:r>
              <a:rPr lang="en-US" sz="2800" b="1" dirty="0">
                <a:solidFill>
                  <a:srgbClr val="FF0000"/>
                </a:solidFill>
                <a:latin typeface="Times New Roman" panose="02020603050405020304" pitchFamily="18" charset="0"/>
                <a:cs typeface="Times New Roman" panose="02020603050405020304" pitchFamily="18" charset="0"/>
              </a:rPr>
              <a:t>Recurrent Neural Network (RNN)</a:t>
            </a:r>
          </a:p>
          <a:p>
            <a:r>
              <a:rPr lang="en-US" sz="2800" b="1" dirty="0">
                <a:solidFill>
                  <a:srgbClr val="FF0000"/>
                </a:solidFill>
                <a:latin typeface="Times New Roman" panose="02020603050405020304" pitchFamily="18" charset="0"/>
                <a:cs typeface="Times New Roman" panose="02020603050405020304" pitchFamily="18" charset="0"/>
              </a:rPr>
              <a:t>Long Short-Term Memory(LSTM)</a:t>
            </a:r>
          </a:p>
          <a:p>
            <a:r>
              <a:rPr lang="en-US" sz="2800" b="1" dirty="0">
                <a:solidFill>
                  <a:srgbClr val="FF0000"/>
                </a:solidFill>
                <a:latin typeface="Times New Roman" panose="02020603050405020304" pitchFamily="18" charset="0"/>
                <a:cs typeface="Times New Roman" panose="02020603050405020304" pitchFamily="18" charset="0"/>
              </a:rPr>
              <a:t>Gated Recurrent Unit (GRU)</a:t>
            </a:r>
          </a:p>
          <a:p>
            <a:r>
              <a:rPr lang="en-US" sz="2800" b="1" dirty="0">
                <a:solidFill>
                  <a:srgbClr val="FF0000"/>
                </a:solidFill>
                <a:latin typeface="Times New Roman" panose="02020603050405020304" pitchFamily="18" charset="0"/>
                <a:cs typeface="Times New Roman" panose="02020603050405020304" pitchFamily="18" charset="0"/>
              </a:rPr>
              <a:t>Bidirectional LSTM</a:t>
            </a:r>
          </a:p>
        </p:txBody>
      </p:sp>
      <p:sp>
        <p:nvSpPr>
          <p:cNvPr id="63" name="Freeform: Shape 62">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Shape 64">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Freeform: Shape 66">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Freeform: Shape 68">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Freeform: Shape 78">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98" name="Picture 2" descr="Visión - Iconos gratis de computadora">
            <a:extLst>
              <a:ext uri="{FF2B5EF4-FFF2-40B4-BE49-F238E27FC236}">
                <a16:creationId xmlns:a16="http://schemas.microsoft.com/office/drawing/2014/main" id="{49AA78AA-A709-087F-383E-59E9AA762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9392" y="747640"/>
            <a:ext cx="48768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logo with blue lines and a letter h&#10;&#10;Description automatically generated">
            <a:extLst>
              <a:ext uri="{FF2B5EF4-FFF2-40B4-BE49-F238E27FC236}">
                <a16:creationId xmlns:a16="http://schemas.microsoft.com/office/drawing/2014/main" id="{C9B122F7-7E2F-6114-9CF4-7B48B5849D80}"/>
              </a:ext>
            </a:extLst>
          </p:cNvPr>
          <p:cNvPicPr>
            <a:picLocks noChangeAspect="1"/>
          </p:cNvPicPr>
          <p:nvPr/>
        </p:nvPicPr>
        <p:blipFill>
          <a:blip r:embed="rId3">
            <a:extLst>
              <a:ext uri="{28A0092B-C50C-407E-A947-70E740481C1C}">
                <a14:useLocalDpi xmlns:a14="http://schemas.microsoft.com/office/drawing/2010/main" val="0"/>
              </a:ext>
            </a:extLst>
          </a:blip>
          <a:srcRect l="18741" r="17967"/>
          <a:stretch/>
        </p:blipFill>
        <p:spPr>
          <a:xfrm>
            <a:off x="7461299" y="1903445"/>
            <a:ext cx="3182522" cy="2164702"/>
          </a:xfrm>
          <a:prstGeom prst="rect">
            <a:avLst/>
          </a:prstGeom>
        </p:spPr>
      </p:pic>
    </p:spTree>
    <p:extLst>
      <p:ext uri="{BB962C8B-B14F-4D97-AF65-F5344CB8AC3E}">
        <p14:creationId xmlns:p14="http://schemas.microsoft.com/office/powerpoint/2010/main" val="165457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A284BB-4123-4E07-5F13-22360829E5BF}"/>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DB4D04D6-6726-5D96-3E27-8D2EE8138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3B1E548-F515-4664-7466-28A9427BCD16}"/>
              </a:ext>
            </a:extLst>
          </p:cNvPr>
          <p:cNvSpPr>
            <a:spLocks noGrp="1"/>
          </p:cNvSpPr>
          <p:nvPr>
            <p:ph type="ctrTitle"/>
          </p:nvPr>
        </p:nvSpPr>
        <p:spPr>
          <a:xfrm>
            <a:off x="874815" y="798703"/>
            <a:ext cx="5221185" cy="2557145"/>
          </a:xfrm>
        </p:spPr>
        <p:txBody>
          <a:bodyPr anchor="b">
            <a:normAutofit/>
          </a:bodyPr>
          <a:lstStyle/>
          <a:p>
            <a:r>
              <a:rPr lang="en-US" b="1" dirty="0">
                <a:latin typeface="Times New Roman" panose="02020603050405020304" pitchFamily="18" charset="0"/>
                <a:cs typeface="Times New Roman" panose="02020603050405020304" pitchFamily="18" charset="0"/>
              </a:rPr>
              <a:t>Deep Learning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(DL)</a:t>
            </a:r>
          </a:p>
        </p:txBody>
      </p:sp>
      <p:sp>
        <p:nvSpPr>
          <p:cNvPr id="3" name="Subtitle 2">
            <a:extLst>
              <a:ext uri="{FF2B5EF4-FFF2-40B4-BE49-F238E27FC236}">
                <a16:creationId xmlns:a16="http://schemas.microsoft.com/office/drawing/2014/main" id="{D0D3E8F1-73AA-AACB-9939-793B84F60639}"/>
              </a:ext>
            </a:extLst>
          </p:cNvPr>
          <p:cNvSpPr>
            <a:spLocks noGrp="1"/>
          </p:cNvSpPr>
          <p:nvPr>
            <p:ph type="subTitle" idx="1"/>
          </p:nvPr>
        </p:nvSpPr>
        <p:spPr>
          <a:xfrm>
            <a:off x="440663" y="3078283"/>
            <a:ext cx="6429744" cy="3779717"/>
          </a:xfrm>
        </p:spPr>
        <p:txBody>
          <a:bodyPr anchor="t">
            <a:normAutofit/>
          </a:bodyPr>
          <a:lstStyle/>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Lab6</a:t>
            </a:r>
          </a:p>
          <a:p>
            <a:br>
              <a:rPr lang="en-US" sz="700" dirty="0">
                <a:latin typeface="Times New Roman" panose="02020603050405020304" pitchFamily="18" charset="0"/>
                <a:cs typeface="Times New Roman" panose="02020603050405020304" pitchFamily="18" charset="0"/>
              </a:rPr>
            </a:br>
            <a:r>
              <a:rPr lang="en-GB" sz="2800" b="1" dirty="0">
                <a:latin typeface="Times New Roman" panose="02020603050405020304" pitchFamily="18" charset="0"/>
                <a:cs typeface="Times New Roman" panose="02020603050405020304" pitchFamily="18" charset="0"/>
              </a:rPr>
              <a:t>Natural Language Processing (NLP)</a:t>
            </a:r>
          </a:p>
          <a:p>
            <a:r>
              <a:rPr lang="en-US" sz="2800" b="1" dirty="0">
                <a:solidFill>
                  <a:srgbClr val="FF0000"/>
                </a:solidFill>
                <a:latin typeface="Times New Roman" panose="02020603050405020304" pitchFamily="18" charset="0"/>
                <a:cs typeface="Times New Roman" panose="02020603050405020304" pitchFamily="18" charset="0"/>
              </a:rPr>
              <a:t> </a:t>
            </a:r>
          </a:p>
          <a:p>
            <a:r>
              <a:rPr lang="en-US" sz="2800" b="1" dirty="0">
                <a:solidFill>
                  <a:srgbClr val="FF0000"/>
                </a:solidFill>
                <a:latin typeface="Times New Roman" panose="02020603050405020304" pitchFamily="18" charset="0"/>
                <a:cs typeface="Times New Roman" panose="02020603050405020304" pitchFamily="18" charset="0"/>
              </a:rPr>
              <a:t>Recurrent Neural Network (RNN)</a:t>
            </a:r>
          </a:p>
        </p:txBody>
      </p:sp>
      <p:sp>
        <p:nvSpPr>
          <p:cNvPr id="63" name="Freeform: Shape 62">
            <a:extLst>
              <a:ext uri="{FF2B5EF4-FFF2-40B4-BE49-F238E27FC236}">
                <a16:creationId xmlns:a16="http://schemas.microsoft.com/office/drawing/2014/main" id="{7D401630-AFC2-23C6-3A0A-0B89FD68B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Shape 64">
            <a:extLst>
              <a:ext uri="{FF2B5EF4-FFF2-40B4-BE49-F238E27FC236}">
                <a16:creationId xmlns:a16="http://schemas.microsoft.com/office/drawing/2014/main" id="{E9780698-2935-9B53-CD51-CEC08AC9C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Freeform: Shape 66">
            <a:extLst>
              <a:ext uri="{FF2B5EF4-FFF2-40B4-BE49-F238E27FC236}">
                <a16:creationId xmlns:a16="http://schemas.microsoft.com/office/drawing/2014/main" id="{D142EC35-BD09-11A0-7AE4-BBBC3993A2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Freeform: Shape 68">
            <a:extLst>
              <a:ext uri="{FF2B5EF4-FFF2-40B4-BE49-F238E27FC236}">
                <a16:creationId xmlns:a16="http://schemas.microsoft.com/office/drawing/2014/main" id="{E60BD212-8BB5-EABC-3E45-13C4777A47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DAC5AAEC-50CF-7135-36FB-07CC5E2A4A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Freeform: Shape 78">
            <a:extLst>
              <a:ext uri="{FF2B5EF4-FFF2-40B4-BE49-F238E27FC236}">
                <a16:creationId xmlns:a16="http://schemas.microsoft.com/office/drawing/2014/main" id="{E5A96EE8-369B-2FD3-BC44-2E2DBAA00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98" name="Picture 2" descr="Visión - Iconos gratis de computadora">
            <a:extLst>
              <a:ext uri="{FF2B5EF4-FFF2-40B4-BE49-F238E27FC236}">
                <a16:creationId xmlns:a16="http://schemas.microsoft.com/office/drawing/2014/main" id="{1C785A0B-8D03-DB55-3EB3-45B88F4B96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9392" y="747640"/>
            <a:ext cx="48768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logo with blue lines and a letter h&#10;&#10;Description automatically generated">
            <a:extLst>
              <a:ext uri="{FF2B5EF4-FFF2-40B4-BE49-F238E27FC236}">
                <a16:creationId xmlns:a16="http://schemas.microsoft.com/office/drawing/2014/main" id="{FCA349AF-ABBD-4A57-3579-787E492A98E2}"/>
              </a:ext>
            </a:extLst>
          </p:cNvPr>
          <p:cNvPicPr>
            <a:picLocks noChangeAspect="1"/>
          </p:cNvPicPr>
          <p:nvPr/>
        </p:nvPicPr>
        <p:blipFill>
          <a:blip r:embed="rId3">
            <a:extLst>
              <a:ext uri="{28A0092B-C50C-407E-A947-70E740481C1C}">
                <a14:useLocalDpi xmlns:a14="http://schemas.microsoft.com/office/drawing/2010/main" val="0"/>
              </a:ext>
            </a:extLst>
          </a:blip>
          <a:srcRect l="18741" r="17967"/>
          <a:stretch/>
        </p:blipFill>
        <p:spPr>
          <a:xfrm>
            <a:off x="7461299" y="1903445"/>
            <a:ext cx="3182522" cy="2164702"/>
          </a:xfrm>
          <a:prstGeom prst="rect">
            <a:avLst/>
          </a:prstGeom>
        </p:spPr>
      </p:pic>
    </p:spTree>
    <p:extLst>
      <p:ext uri="{BB962C8B-B14F-4D97-AF65-F5344CB8AC3E}">
        <p14:creationId xmlns:p14="http://schemas.microsoft.com/office/powerpoint/2010/main" val="1729236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C5BF4F4-5FAF-DADF-C521-1A9A5B7C3882}"/>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EE954D34-7616-0F44-7105-0B337B8BE362}"/>
              </a:ext>
            </a:extLst>
          </p:cNvPr>
          <p:cNvSpPr txBox="1">
            <a:spLocks noGrp="1"/>
          </p:cNvSpPr>
          <p:nvPr>
            <p:ph type="ctrTitle"/>
          </p:nvPr>
        </p:nvSpPr>
        <p:spPr>
          <a:xfrm>
            <a:off x="1524000" y="1606995"/>
            <a:ext cx="9144000" cy="2387600"/>
          </a:xfrm>
        </p:spPr>
        <p:txBody>
          <a:bodyPr vert="horz" lIns="0" tIns="16933" rIns="0" bIns="0" rtlCol="0" anchor="b">
            <a:normAutofit/>
          </a:bodyPr>
          <a:lstStyle/>
          <a:p>
            <a:pPr marL="16933">
              <a:spcBef>
                <a:spcPts val="133"/>
              </a:spcBef>
            </a:pPr>
            <a:r>
              <a:rPr lang="en-GB" b="1" dirty="0">
                <a:latin typeface="Times New Roman" panose="02020603050405020304" pitchFamily="18" charset="0"/>
                <a:cs typeface="Times New Roman" panose="02020603050405020304" pitchFamily="18" charset="0"/>
              </a:rPr>
              <a:t>Recurrent Neural Networks (RNN)</a:t>
            </a:r>
          </a:p>
        </p:txBody>
      </p:sp>
      <p:sp>
        <p:nvSpPr>
          <p:cNvPr id="2" name="Slide Number Placeholder 1">
            <a:extLst>
              <a:ext uri="{FF2B5EF4-FFF2-40B4-BE49-F238E27FC236}">
                <a16:creationId xmlns:a16="http://schemas.microsoft.com/office/drawing/2014/main" id="{F2DBD51E-730A-F461-5A86-0BDCCB5363FD}"/>
              </a:ext>
            </a:extLst>
          </p:cNvPr>
          <p:cNvSpPr>
            <a:spLocks noGrp="1"/>
          </p:cNvSpPr>
          <p:nvPr>
            <p:ph type="sldNum" sz="quarter" idx="12"/>
          </p:nvPr>
        </p:nvSpPr>
        <p:spPr/>
        <p:txBody>
          <a:bodyPr anchor="ctr">
            <a:normAutofit/>
          </a:bodyPr>
          <a:lstStyle/>
          <a:p>
            <a:pPr>
              <a:spcAft>
                <a:spcPts val="600"/>
              </a:spcAft>
            </a:pPr>
            <a:fld id="{5EE24C92-1265-4741-8F9F-404A15D9386E}" type="slidenum">
              <a:rPr lang="en-US" smtClean="0"/>
              <a:pPr>
                <a:spcAft>
                  <a:spcPts val="600"/>
                </a:spcAft>
              </a:pPr>
              <a:t>3</a:t>
            </a:fld>
            <a:endParaRPr lang="en-US"/>
          </a:p>
        </p:txBody>
      </p:sp>
    </p:spTree>
    <p:extLst>
      <p:ext uri="{BB962C8B-B14F-4D97-AF65-F5344CB8AC3E}">
        <p14:creationId xmlns:p14="http://schemas.microsoft.com/office/powerpoint/2010/main" val="4013282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E87E186-2BBC-2C0E-6F6F-64383A2E60E7}"/>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E574E9E2-1174-211D-256E-B650914461F8}"/>
              </a:ext>
            </a:extLst>
          </p:cNvPr>
          <p:cNvSpPr txBox="1">
            <a:spLocks noGrp="1"/>
          </p:cNvSpPr>
          <p:nvPr>
            <p:ph type="title"/>
          </p:nvPr>
        </p:nvSpPr>
        <p:spPr>
          <a:xfrm>
            <a:off x="357463" y="266482"/>
            <a:ext cx="9917057" cy="694207"/>
          </a:xfrm>
          <a:prstGeom prst="rect">
            <a:avLst/>
          </a:prstGeom>
        </p:spPr>
        <p:txBody>
          <a:bodyPr vert="horz" wrap="square" lIns="0" tIns="16933" rIns="0" bIns="0" rtlCol="0" anchor="ctr">
            <a:spAutoFit/>
          </a:bodyPr>
          <a:lstStyle/>
          <a:p>
            <a:pPr marL="16933">
              <a:lnSpc>
                <a:spcPct val="100000"/>
              </a:lnSpc>
              <a:spcBef>
                <a:spcPts val="133"/>
              </a:spcBef>
            </a:pPr>
            <a:r>
              <a:rPr spc="133" dirty="0">
                <a:solidFill>
                  <a:srgbClr val="1A1A1A"/>
                </a:solidFill>
                <a:latin typeface="Trebuchet MS"/>
                <a:cs typeface="Trebuchet MS"/>
              </a:rPr>
              <a:t>R</a:t>
            </a:r>
            <a:r>
              <a:rPr spc="13" dirty="0">
                <a:solidFill>
                  <a:srgbClr val="1A1A1A"/>
                </a:solidFill>
                <a:latin typeface="Trebuchet MS"/>
                <a:cs typeface="Trebuchet MS"/>
              </a:rPr>
              <a:t>ecur</a:t>
            </a:r>
            <a:r>
              <a:rPr spc="-13" dirty="0">
                <a:solidFill>
                  <a:srgbClr val="1A1A1A"/>
                </a:solidFill>
                <a:latin typeface="Trebuchet MS"/>
                <a:cs typeface="Trebuchet MS"/>
              </a:rPr>
              <a:t>r</a:t>
            </a:r>
            <a:r>
              <a:rPr spc="67" dirty="0">
                <a:solidFill>
                  <a:srgbClr val="1A1A1A"/>
                </a:solidFill>
                <a:latin typeface="Trebuchet MS"/>
                <a:cs typeface="Trebuchet MS"/>
              </a:rPr>
              <a:t>e</a:t>
            </a:r>
            <a:r>
              <a:rPr spc="53" dirty="0">
                <a:solidFill>
                  <a:srgbClr val="1A1A1A"/>
                </a:solidFill>
                <a:latin typeface="Trebuchet MS"/>
                <a:cs typeface="Trebuchet MS"/>
              </a:rPr>
              <a:t>n</a:t>
            </a:r>
            <a:r>
              <a:rPr spc="-47" dirty="0">
                <a:solidFill>
                  <a:srgbClr val="1A1A1A"/>
                </a:solidFill>
                <a:latin typeface="Trebuchet MS"/>
                <a:cs typeface="Trebuchet MS"/>
              </a:rPr>
              <a:t>t</a:t>
            </a:r>
            <a:r>
              <a:rPr spc="-233" dirty="0">
                <a:solidFill>
                  <a:srgbClr val="1A1A1A"/>
                </a:solidFill>
                <a:latin typeface="Trebuchet MS"/>
                <a:cs typeface="Trebuchet MS"/>
              </a:rPr>
              <a:t> </a:t>
            </a:r>
            <a:r>
              <a:rPr spc="320" dirty="0">
                <a:solidFill>
                  <a:srgbClr val="1A1A1A"/>
                </a:solidFill>
                <a:latin typeface="Trebuchet MS"/>
                <a:cs typeface="Trebuchet MS"/>
              </a:rPr>
              <a:t>N</a:t>
            </a:r>
            <a:r>
              <a:rPr spc="13" dirty="0">
                <a:solidFill>
                  <a:srgbClr val="1A1A1A"/>
                </a:solidFill>
                <a:latin typeface="Trebuchet MS"/>
                <a:cs typeface="Trebuchet MS"/>
              </a:rPr>
              <a:t>eu</a:t>
            </a:r>
            <a:r>
              <a:rPr spc="-7" dirty="0">
                <a:solidFill>
                  <a:srgbClr val="1A1A1A"/>
                </a:solidFill>
                <a:latin typeface="Trebuchet MS"/>
                <a:cs typeface="Trebuchet MS"/>
              </a:rPr>
              <a:t>r</a:t>
            </a:r>
            <a:r>
              <a:rPr spc="113" dirty="0">
                <a:solidFill>
                  <a:srgbClr val="1A1A1A"/>
                </a:solidFill>
                <a:latin typeface="Trebuchet MS"/>
                <a:cs typeface="Trebuchet MS"/>
              </a:rPr>
              <a:t>al</a:t>
            </a:r>
            <a:r>
              <a:rPr spc="-327" dirty="0">
                <a:solidFill>
                  <a:srgbClr val="1A1A1A"/>
                </a:solidFill>
                <a:latin typeface="Trebuchet MS"/>
                <a:cs typeface="Trebuchet MS"/>
              </a:rPr>
              <a:t> </a:t>
            </a:r>
            <a:r>
              <a:rPr spc="320" dirty="0">
                <a:solidFill>
                  <a:srgbClr val="1A1A1A"/>
                </a:solidFill>
                <a:latin typeface="Trebuchet MS"/>
                <a:cs typeface="Trebuchet MS"/>
              </a:rPr>
              <a:t>N</a:t>
            </a:r>
            <a:r>
              <a:rPr spc="67" dirty="0">
                <a:solidFill>
                  <a:srgbClr val="1A1A1A"/>
                </a:solidFill>
                <a:latin typeface="Trebuchet MS"/>
                <a:cs typeface="Trebuchet MS"/>
              </a:rPr>
              <a:t>e</a:t>
            </a:r>
            <a:r>
              <a:rPr spc="-53" dirty="0">
                <a:solidFill>
                  <a:srgbClr val="1A1A1A"/>
                </a:solidFill>
                <a:latin typeface="Trebuchet MS"/>
                <a:cs typeface="Trebuchet MS"/>
              </a:rPr>
              <a:t>t</a:t>
            </a:r>
            <a:r>
              <a:rPr spc="133" dirty="0">
                <a:solidFill>
                  <a:srgbClr val="1A1A1A"/>
                </a:solidFill>
                <a:latin typeface="Trebuchet MS"/>
                <a:cs typeface="Trebuchet MS"/>
              </a:rPr>
              <a:t>w</a:t>
            </a:r>
            <a:r>
              <a:rPr spc="7" dirty="0">
                <a:solidFill>
                  <a:srgbClr val="1A1A1A"/>
                </a:solidFill>
                <a:latin typeface="Trebuchet MS"/>
                <a:cs typeface="Trebuchet MS"/>
              </a:rPr>
              <a:t>or</a:t>
            </a:r>
            <a:r>
              <a:rPr spc="-7" dirty="0">
                <a:solidFill>
                  <a:srgbClr val="1A1A1A"/>
                </a:solidFill>
                <a:latin typeface="Trebuchet MS"/>
                <a:cs typeface="Trebuchet MS"/>
              </a:rPr>
              <a:t>k</a:t>
            </a:r>
            <a:r>
              <a:rPr spc="233" dirty="0">
                <a:solidFill>
                  <a:srgbClr val="1A1A1A"/>
                </a:solidFill>
                <a:latin typeface="Trebuchet MS"/>
                <a:cs typeface="Trebuchet MS"/>
              </a:rPr>
              <a:t>s</a:t>
            </a:r>
            <a:r>
              <a:rPr spc="-233" dirty="0">
                <a:solidFill>
                  <a:srgbClr val="1A1A1A"/>
                </a:solidFill>
                <a:latin typeface="Trebuchet MS"/>
                <a:cs typeface="Trebuchet MS"/>
              </a:rPr>
              <a:t> </a:t>
            </a:r>
            <a:r>
              <a:rPr spc="93" dirty="0">
                <a:solidFill>
                  <a:srgbClr val="1A1A1A"/>
                </a:solidFill>
                <a:latin typeface="Trebuchet MS"/>
                <a:cs typeface="Trebuchet MS"/>
              </a:rPr>
              <a:t>(RNN)</a:t>
            </a:r>
          </a:p>
        </p:txBody>
      </p:sp>
      <p:sp>
        <p:nvSpPr>
          <p:cNvPr id="2" name="Slide Number Placeholder 1">
            <a:extLst>
              <a:ext uri="{FF2B5EF4-FFF2-40B4-BE49-F238E27FC236}">
                <a16:creationId xmlns:a16="http://schemas.microsoft.com/office/drawing/2014/main" id="{0511082C-127E-C331-E140-E0B3507ADF28}"/>
              </a:ext>
            </a:extLst>
          </p:cNvPr>
          <p:cNvSpPr>
            <a:spLocks noGrp="1"/>
          </p:cNvSpPr>
          <p:nvPr>
            <p:ph type="sldNum" sz="quarter" idx="12"/>
          </p:nvPr>
        </p:nvSpPr>
        <p:spPr/>
        <p:txBody>
          <a:bodyPr/>
          <a:lstStyle/>
          <a:p>
            <a:fld id="{5EE24C92-1265-4741-8F9F-404A15D9386E}" type="slidenum">
              <a:rPr lang="en-US" smtClean="0"/>
              <a:t>4</a:t>
            </a:fld>
            <a:endParaRPr lang="en-US"/>
          </a:p>
        </p:txBody>
      </p:sp>
      <p:pic>
        <p:nvPicPr>
          <p:cNvPr id="7" name="object 7">
            <a:extLst>
              <a:ext uri="{FF2B5EF4-FFF2-40B4-BE49-F238E27FC236}">
                <a16:creationId xmlns:a16="http://schemas.microsoft.com/office/drawing/2014/main" id="{C8F2596B-1A97-ABF1-A001-5AB85739876A}"/>
              </a:ext>
            </a:extLst>
          </p:cNvPr>
          <p:cNvPicPr/>
          <p:nvPr/>
        </p:nvPicPr>
        <p:blipFill>
          <a:blip r:embed="rId2" cstate="print"/>
          <a:stretch>
            <a:fillRect/>
          </a:stretch>
        </p:blipFill>
        <p:spPr>
          <a:xfrm>
            <a:off x="1749807" y="4106887"/>
            <a:ext cx="7912353" cy="1852354"/>
          </a:xfrm>
          <a:prstGeom prst="rect">
            <a:avLst/>
          </a:prstGeom>
        </p:spPr>
      </p:pic>
      <p:sp>
        <p:nvSpPr>
          <p:cNvPr id="8" name="object 8">
            <a:extLst>
              <a:ext uri="{FF2B5EF4-FFF2-40B4-BE49-F238E27FC236}">
                <a16:creationId xmlns:a16="http://schemas.microsoft.com/office/drawing/2014/main" id="{4EDD90C8-5DD0-5199-F8FC-839ED60D1A15}"/>
              </a:ext>
            </a:extLst>
          </p:cNvPr>
          <p:cNvSpPr txBox="1"/>
          <p:nvPr/>
        </p:nvSpPr>
        <p:spPr>
          <a:xfrm>
            <a:off x="1427182" y="6205088"/>
            <a:ext cx="9337633" cy="386430"/>
          </a:xfrm>
          <a:prstGeom prst="rect">
            <a:avLst/>
          </a:prstGeom>
        </p:spPr>
        <p:txBody>
          <a:bodyPr vert="horz" wrap="square" lIns="0" tIns="16933" rIns="0" bIns="0" rtlCol="0">
            <a:spAutoFit/>
          </a:bodyPr>
          <a:lstStyle/>
          <a:p>
            <a:pPr marL="16933" marR="6773" algn="ctr">
              <a:spcBef>
                <a:spcPts val="133"/>
              </a:spcBef>
            </a:pPr>
            <a:r>
              <a:rPr sz="2400" spc="-7" dirty="0">
                <a:latin typeface="Times New Roman" panose="02020603050405020304" pitchFamily="18" charset="0"/>
                <a:cs typeface="Times New Roman" panose="02020603050405020304" pitchFamily="18" charset="0"/>
              </a:rPr>
              <a:t>Where the </a:t>
            </a:r>
            <a:r>
              <a:rPr sz="2400" dirty="0">
                <a:latin typeface="Times New Roman" panose="02020603050405020304" pitchFamily="18" charset="0"/>
                <a:cs typeface="Times New Roman" panose="02020603050405020304" pitchFamily="18" charset="0"/>
              </a:rPr>
              <a:t> </a:t>
            </a:r>
            <a:r>
              <a:rPr sz="2400" spc="-7" dirty="0">
                <a:latin typeface="Times New Roman" panose="02020603050405020304" pitchFamily="18" charset="0"/>
                <a:cs typeface="Times New Roman" panose="02020603050405020304" pitchFamily="18" charset="0"/>
              </a:rPr>
              <a:t>network uses </a:t>
            </a:r>
            <a:r>
              <a:rPr sz="2400" dirty="0">
                <a:latin typeface="Times New Roman" panose="02020603050405020304" pitchFamily="18" charset="0"/>
                <a:cs typeface="Times New Roman" panose="02020603050405020304" pitchFamily="18" charset="0"/>
              </a:rPr>
              <a:t> </a:t>
            </a:r>
            <a:r>
              <a:rPr sz="2400" spc="-7" dirty="0">
                <a:latin typeface="Times New Roman" panose="02020603050405020304" pitchFamily="18" charset="0"/>
                <a:cs typeface="Times New Roman" panose="02020603050405020304" pitchFamily="18" charset="0"/>
              </a:rPr>
              <a:t>the</a:t>
            </a:r>
            <a:r>
              <a:rPr sz="2400" spc="-47" dirty="0">
                <a:latin typeface="Times New Roman" panose="02020603050405020304" pitchFamily="18" charset="0"/>
                <a:cs typeface="Times New Roman" panose="02020603050405020304" pitchFamily="18" charset="0"/>
              </a:rPr>
              <a:t> </a:t>
            </a:r>
            <a:r>
              <a:rPr sz="2400" spc="-7" dirty="0">
                <a:latin typeface="Times New Roman" panose="02020603050405020304" pitchFamily="18" charset="0"/>
                <a:cs typeface="Times New Roman" panose="02020603050405020304" pitchFamily="18" charset="0"/>
              </a:rPr>
              <a:t>output</a:t>
            </a:r>
            <a:r>
              <a:rPr sz="2400" spc="-40" dirty="0">
                <a:latin typeface="Times New Roman" panose="02020603050405020304" pitchFamily="18" charset="0"/>
                <a:cs typeface="Times New Roman" panose="02020603050405020304" pitchFamily="18" charset="0"/>
              </a:rPr>
              <a:t> </a:t>
            </a:r>
            <a:r>
              <a:rPr sz="2400" spc="-7" dirty="0">
                <a:latin typeface="Times New Roman" panose="02020603050405020304" pitchFamily="18" charset="0"/>
                <a:cs typeface="Times New Roman" panose="02020603050405020304" pitchFamily="18" charset="0"/>
              </a:rPr>
              <a:t>as</a:t>
            </a:r>
            <a:r>
              <a:rPr sz="2400" spc="-47" dirty="0">
                <a:latin typeface="Times New Roman" panose="02020603050405020304" pitchFamily="18" charset="0"/>
                <a:cs typeface="Times New Roman" panose="02020603050405020304" pitchFamily="18" charset="0"/>
              </a:rPr>
              <a:t> </a:t>
            </a:r>
            <a:r>
              <a:rPr sz="2400" spc="-7" dirty="0">
                <a:latin typeface="Times New Roman" panose="02020603050405020304" pitchFamily="18" charset="0"/>
                <a:cs typeface="Times New Roman" panose="02020603050405020304" pitchFamily="18" charset="0"/>
              </a:rPr>
              <a:t>an </a:t>
            </a:r>
            <a:r>
              <a:rPr sz="2400" spc="-645" dirty="0">
                <a:latin typeface="Times New Roman" panose="02020603050405020304" pitchFamily="18" charset="0"/>
                <a:cs typeface="Times New Roman" panose="02020603050405020304" pitchFamily="18" charset="0"/>
              </a:rPr>
              <a:t> </a:t>
            </a:r>
            <a:r>
              <a:rPr sz="2400" spc="-7" dirty="0">
                <a:latin typeface="Times New Roman" panose="02020603050405020304" pitchFamily="18" charset="0"/>
                <a:cs typeface="Times New Roman" panose="02020603050405020304" pitchFamily="18" charset="0"/>
              </a:rPr>
              <a:t>input</a:t>
            </a:r>
            <a:r>
              <a:rPr sz="2400" spc="-27" dirty="0">
                <a:latin typeface="Times New Roman" panose="02020603050405020304" pitchFamily="18" charset="0"/>
                <a:cs typeface="Times New Roman" panose="02020603050405020304" pitchFamily="18" charset="0"/>
              </a:rPr>
              <a:t> </a:t>
            </a:r>
            <a:r>
              <a:rPr sz="2400" spc="-7" dirty="0">
                <a:latin typeface="Times New Roman" panose="02020603050405020304" pitchFamily="18" charset="0"/>
                <a:cs typeface="Times New Roman" panose="02020603050405020304" pitchFamily="18" charset="0"/>
              </a:rPr>
              <a:t>again.</a:t>
            </a:r>
            <a:endParaRPr sz="2400" dirty="0">
              <a:latin typeface="Times New Roman" panose="02020603050405020304" pitchFamily="18" charset="0"/>
              <a:cs typeface="Times New Roman" panose="02020603050405020304" pitchFamily="18" charset="0"/>
            </a:endParaRPr>
          </a:p>
        </p:txBody>
      </p:sp>
      <p:sp>
        <p:nvSpPr>
          <p:cNvPr id="9" name="object 8">
            <a:extLst>
              <a:ext uri="{FF2B5EF4-FFF2-40B4-BE49-F238E27FC236}">
                <a16:creationId xmlns:a16="http://schemas.microsoft.com/office/drawing/2014/main" id="{39617A83-9FCA-01CC-F7A3-092CD25E4F64}"/>
              </a:ext>
            </a:extLst>
          </p:cNvPr>
          <p:cNvSpPr txBox="1"/>
          <p:nvPr/>
        </p:nvSpPr>
        <p:spPr>
          <a:xfrm>
            <a:off x="437303" y="1339015"/>
            <a:ext cx="11468185" cy="2258738"/>
          </a:xfrm>
          <a:prstGeom prst="rect">
            <a:avLst/>
          </a:prstGeom>
        </p:spPr>
        <p:txBody>
          <a:bodyPr vert="horz" wrap="square" lIns="0" tIns="16933" rIns="0" bIns="0" rtlCol="0">
            <a:spAutoFit/>
          </a:bodyPr>
          <a:lstStyle/>
          <a:p>
            <a:pPr marL="16933" marR="6773">
              <a:spcBef>
                <a:spcPts val="133"/>
              </a:spcBef>
            </a:pPr>
            <a:r>
              <a:rPr lang="en-US" sz="2400" spc="-7" dirty="0">
                <a:latin typeface="Arial"/>
                <a:cs typeface="Arial"/>
              </a:rPr>
              <a:t>It's used with </a:t>
            </a:r>
            <a:r>
              <a:rPr lang="en-US" sz="2400" spc="-7" dirty="0">
                <a:solidFill>
                  <a:srgbClr val="FF0000"/>
                </a:solidFill>
                <a:latin typeface="Arial"/>
                <a:cs typeface="Arial"/>
              </a:rPr>
              <a:t>sequential data</a:t>
            </a:r>
            <a:r>
              <a:rPr lang="en-US" sz="2400" spc="-7" dirty="0">
                <a:latin typeface="Arial"/>
                <a:cs typeface="Arial"/>
              </a:rPr>
              <a:t>, and it's based on the </a:t>
            </a:r>
            <a:r>
              <a:rPr lang="en-US" sz="2400" spc="-7" dirty="0">
                <a:solidFill>
                  <a:srgbClr val="FF0000"/>
                </a:solidFill>
                <a:latin typeface="Arial"/>
                <a:cs typeface="Arial"/>
              </a:rPr>
              <a:t>element of time</a:t>
            </a:r>
            <a:r>
              <a:rPr lang="en-US" sz="2400" spc="-7" dirty="0">
                <a:latin typeface="Arial"/>
                <a:cs typeface="Arial"/>
              </a:rPr>
              <a:t>, like </a:t>
            </a:r>
            <a:r>
              <a:rPr lang="en-US" sz="2400" spc="-7" dirty="0">
                <a:solidFill>
                  <a:srgbClr val="FF0000"/>
                </a:solidFill>
                <a:latin typeface="Arial"/>
                <a:cs typeface="Arial"/>
              </a:rPr>
              <a:t>stock</a:t>
            </a:r>
            <a:r>
              <a:rPr lang="en-US" sz="2400" spc="-7" dirty="0">
                <a:latin typeface="Arial"/>
                <a:cs typeface="Arial"/>
              </a:rPr>
              <a:t> </a:t>
            </a:r>
            <a:r>
              <a:rPr lang="en-US" sz="2400" spc="-7" dirty="0">
                <a:solidFill>
                  <a:srgbClr val="FF0000"/>
                </a:solidFill>
                <a:latin typeface="Arial"/>
                <a:cs typeface="Arial"/>
              </a:rPr>
              <a:t>prices</a:t>
            </a:r>
            <a:r>
              <a:rPr lang="en-US" sz="2400" spc="-7" dirty="0">
                <a:latin typeface="Arial"/>
                <a:cs typeface="Arial"/>
              </a:rPr>
              <a:t>  or </a:t>
            </a:r>
            <a:r>
              <a:rPr lang="en-US" sz="2400" spc="-7" dirty="0">
                <a:solidFill>
                  <a:srgbClr val="FF0000"/>
                </a:solidFill>
                <a:latin typeface="Arial"/>
                <a:cs typeface="Arial"/>
              </a:rPr>
              <a:t>weather</a:t>
            </a:r>
            <a:r>
              <a:rPr lang="en-US" sz="2400" spc="-7" dirty="0">
                <a:latin typeface="Arial"/>
                <a:cs typeface="Arial"/>
              </a:rPr>
              <a:t> </a:t>
            </a:r>
            <a:r>
              <a:rPr lang="en-US" sz="2400" spc="-7" dirty="0">
                <a:solidFill>
                  <a:srgbClr val="FF0000"/>
                </a:solidFill>
                <a:latin typeface="Arial"/>
                <a:cs typeface="Arial"/>
              </a:rPr>
              <a:t>data</a:t>
            </a:r>
            <a:r>
              <a:rPr lang="en-US" sz="2400" spc="-7" dirty="0">
                <a:latin typeface="Arial"/>
                <a:cs typeface="Arial"/>
              </a:rPr>
              <a:t>, also the </a:t>
            </a:r>
            <a:r>
              <a:rPr lang="en-US" sz="2400" spc="-7" dirty="0">
                <a:solidFill>
                  <a:srgbClr val="FF0000"/>
                </a:solidFill>
                <a:latin typeface="Arial"/>
                <a:cs typeface="Arial"/>
              </a:rPr>
              <a:t>texts</a:t>
            </a:r>
            <a:r>
              <a:rPr lang="en-US" sz="2400" spc="-7" dirty="0">
                <a:latin typeface="Arial"/>
                <a:cs typeface="Arial"/>
              </a:rPr>
              <a:t>, because “</a:t>
            </a:r>
            <a:r>
              <a:rPr lang="en-US" sz="2400" spc="-7" dirty="0">
                <a:solidFill>
                  <a:srgbClr val="FF0000"/>
                </a:solidFill>
                <a:latin typeface="Arial"/>
                <a:cs typeface="Arial"/>
              </a:rPr>
              <a:t>she spoke to her husband</a:t>
            </a:r>
            <a:r>
              <a:rPr lang="en-US" sz="2400" spc="-7" dirty="0">
                <a:latin typeface="Arial"/>
                <a:cs typeface="Arial"/>
              </a:rPr>
              <a:t>”, ‘</a:t>
            </a:r>
            <a:r>
              <a:rPr lang="en-US" sz="2400" spc="-7" dirty="0">
                <a:solidFill>
                  <a:srgbClr val="FF0000"/>
                </a:solidFill>
                <a:latin typeface="Arial"/>
                <a:cs typeface="Arial"/>
              </a:rPr>
              <a:t>her</a:t>
            </a:r>
            <a:r>
              <a:rPr lang="en-US" sz="2400" spc="-7" dirty="0">
                <a:latin typeface="Arial"/>
                <a:cs typeface="Arial"/>
              </a:rPr>
              <a:t>’ word  depends on ‘</a:t>
            </a:r>
            <a:r>
              <a:rPr lang="en-US" sz="2400" spc="-7" dirty="0">
                <a:solidFill>
                  <a:srgbClr val="FF0000"/>
                </a:solidFill>
                <a:latin typeface="Arial"/>
                <a:cs typeface="Arial"/>
              </a:rPr>
              <a:t>she</a:t>
            </a:r>
            <a:r>
              <a:rPr lang="en-US" sz="2400" spc="-7" dirty="0">
                <a:latin typeface="Arial"/>
                <a:cs typeface="Arial"/>
              </a:rPr>
              <a:t>’.</a:t>
            </a:r>
          </a:p>
          <a:p>
            <a:pPr marL="16933" marR="6773">
              <a:spcBef>
                <a:spcPts val="133"/>
              </a:spcBef>
            </a:pPr>
            <a:r>
              <a:rPr lang="en-US" sz="2400" spc="-7" dirty="0">
                <a:latin typeface="Arial"/>
                <a:cs typeface="Arial"/>
              </a:rPr>
              <a:t>RNN looks quite like a traditional NN, except that a  memory-state is added to the neurons.</a:t>
            </a:r>
          </a:p>
          <a:p>
            <a:pPr marL="16933" marR="6773">
              <a:spcBef>
                <a:spcPts val="133"/>
              </a:spcBef>
            </a:pPr>
            <a:r>
              <a:rPr lang="en-US" sz="2400" spc="-7" dirty="0">
                <a:latin typeface="Arial"/>
                <a:cs typeface="Arial"/>
              </a:rPr>
              <a:t>The structure is as follows:</a:t>
            </a:r>
          </a:p>
        </p:txBody>
      </p:sp>
    </p:spTree>
    <p:extLst>
      <p:ext uri="{BB962C8B-B14F-4D97-AF65-F5344CB8AC3E}">
        <p14:creationId xmlns:p14="http://schemas.microsoft.com/office/powerpoint/2010/main" val="1019192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7661B53-7307-89AE-2F29-70A1C9EB22F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F1FCB5E-D8C3-33CC-50B7-3E2FEB857F61}"/>
              </a:ext>
            </a:extLst>
          </p:cNvPr>
          <p:cNvSpPr txBox="1">
            <a:spLocks noGrp="1"/>
          </p:cNvSpPr>
          <p:nvPr>
            <p:ph type="title"/>
          </p:nvPr>
        </p:nvSpPr>
        <p:spPr>
          <a:xfrm>
            <a:off x="520899" y="649305"/>
            <a:ext cx="6659880" cy="755762"/>
          </a:xfrm>
          <a:prstGeom prst="rect">
            <a:avLst/>
          </a:prstGeom>
        </p:spPr>
        <p:txBody>
          <a:bodyPr vert="horz" wrap="square" lIns="0" tIns="16933" rIns="0" bIns="0" rtlCol="0" anchor="ctr">
            <a:spAutoFit/>
          </a:bodyPr>
          <a:lstStyle/>
          <a:p>
            <a:pPr marL="16933">
              <a:lnSpc>
                <a:spcPct val="100000"/>
              </a:lnSpc>
              <a:spcBef>
                <a:spcPts val="133"/>
              </a:spcBef>
            </a:pPr>
            <a:r>
              <a:rPr sz="4800" spc="353" dirty="0">
                <a:solidFill>
                  <a:srgbClr val="1A1A1A"/>
                </a:solidFill>
                <a:latin typeface="Trebuchet MS"/>
                <a:cs typeface="Trebuchet MS"/>
              </a:rPr>
              <a:t>RN</a:t>
            </a:r>
            <a:r>
              <a:rPr sz="4800" spc="-612" dirty="0">
                <a:solidFill>
                  <a:srgbClr val="1A1A1A"/>
                </a:solidFill>
                <a:uFill>
                  <a:solidFill>
                    <a:srgbClr val="1A9988"/>
                  </a:solidFill>
                </a:uFill>
                <a:latin typeface="Trebuchet MS"/>
                <a:cs typeface="Trebuchet MS"/>
              </a:rPr>
              <a:t>N</a:t>
            </a:r>
            <a:r>
              <a:rPr sz="4800" dirty="0">
                <a:solidFill>
                  <a:srgbClr val="1A1A1A"/>
                </a:solidFill>
                <a:uFill>
                  <a:solidFill>
                    <a:srgbClr val="1A9988"/>
                  </a:solidFill>
                </a:uFill>
                <a:latin typeface="Times New Roman"/>
                <a:cs typeface="Times New Roman"/>
              </a:rPr>
              <a:t> </a:t>
            </a:r>
            <a:r>
              <a:rPr sz="4800" spc="-187" dirty="0">
                <a:solidFill>
                  <a:srgbClr val="1A1A1A"/>
                </a:solidFill>
                <a:uFill>
                  <a:solidFill>
                    <a:srgbClr val="1A9988"/>
                  </a:solidFill>
                </a:uFill>
                <a:latin typeface="Times New Roman"/>
                <a:cs typeface="Times New Roman"/>
              </a:rPr>
              <a:t> </a:t>
            </a:r>
            <a:r>
              <a:rPr sz="4800" spc="1125" dirty="0">
                <a:solidFill>
                  <a:srgbClr val="1A1A1A"/>
                </a:solidFill>
                <a:uFill>
                  <a:solidFill>
                    <a:srgbClr val="1A9988"/>
                  </a:solidFill>
                </a:uFill>
                <a:latin typeface="Trebuchet MS"/>
                <a:cs typeface="Trebuchet MS"/>
              </a:rPr>
              <a:t>–</a:t>
            </a:r>
            <a:r>
              <a:rPr sz="4800" spc="-300" dirty="0">
                <a:solidFill>
                  <a:srgbClr val="1A1A1A"/>
                </a:solidFill>
                <a:latin typeface="Trebuchet MS"/>
                <a:cs typeface="Trebuchet MS"/>
              </a:rPr>
              <a:t> </a:t>
            </a:r>
            <a:r>
              <a:rPr sz="4800" dirty="0">
                <a:solidFill>
                  <a:srgbClr val="1A1A1A"/>
                </a:solidFill>
                <a:latin typeface="Trebuchet MS"/>
                <a:cs typeface="Trebuchet MS"/>
              </a:rPr>
              <a:t>un</a:t>
            </a:r>
            <a:r>
              <a:rPr sz="4800" spc="-33" dirty="0">
                <a:solidFill>
                  <a:srgbClr val="1A1A1A"/>
                </a:solidFill>
                <a:latin typeface="Trebuchet MS"/>
                <a:cs typeface="Trebuchet MS"/>
              </a:rPr>
              <a:t>r</a:t>
            </a:r>
            <a:r>
              <a:rPr sz="4800" spc="160" dirty="0">
                <a:solidFill>
                  <a:srgbClr val="1A1A1A"/>
                </a:solidFill>
                <a:latin typeface="Trebuchet MS"/>
                <a:cs typeface="Trebuchet MS"/>
              </a:rPr>
              <a:t>olled</a:t>
            </a:r>
            <a:r>
              <a:rPr sz="4800" spc="-300" dirty="0">
                <a:solidFill>
                  <a:srgbClr val="1A1A1A"/>
                </a:solidFill>
                <a:latin typeface="Trebuchet MS"/>
                <a:cs typeface="Trebuchet MS"/>
              </a:rPr>
              <a:t> </a:t>
            </a:r>
            <a:r>
              <a:rPr sz="4800" spc="-73" dirty="0">
                <a:solidFill>
                  <a:srgbClr val="1A1A1A"/>
                </a:solidFill>
                <a:latin typeface="Trebuchet MS"/>
                <a:cs typeface="Trebuchet MS"/>
              </a:rPr>
              <a:t>in</a:t>
            </a:r>
            <a:r>
              <a:rPr sz="4800" spc="-300" dirty="0">
                <a:solidFill>
                  <a:srgbClr val="1A1A1A"/>
                </a:solidFill>
                <a:latin typeface="Trebuchet MS"/>
                <a:cs typeface="Trebuchet MS"/>
              </a:rPr>
              <a:t> </a:t>
            </a:r>
            <a:r>
              <a:rPr sz="4800" spc="47" dirty="0">
                <a:solidFill>
                  <a:srgbClr val="1A1A1A"/>
                </a:solidFill>
                <a:latin typeface="Trebuchet MS"/>
                <a:cs typeface="Trebuchet MS"/>
              </a:rPr>
              <a:t>time</a:t>
            </a:r>
            <a:endParaRPr sz="4800" dirty="0">
              <a:latin typeface="Trebuchet MS"/>
              <a:cs typeface="Trebuchet MS"/>
            </a:endParaRPr>
          </a:p>
        </p:txBody>
      </p:sp>
      <p:sp>
        <p:nvSpPr>
          <p:cNvPr id="4" name="Slide Number Placeholder 3">
            <a:extLst>
              <a:ext uri="{FF2B5EF4-FFF2-40B4-BE49-F238E27FC236}">
                <a16:creationId xmlns:a16="http://schemas.microsoft.com/office/drawing/2014/main" id="{AA312F38-A589-14A1-CA8D-72602DF45A9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3074" name="Picture 2" descr="Structure of simple recurrent neural network (RNN) and unfolded RNN ...">
            <a:extLst>
              <a:ext uri="{FF2B5EF4-FFF2-40B4-BE49-F238E27FC236}">
                <a16:creationId xmlns:a16="http://schemas.microsoft.com/office/drawing/2014/main" id="{2B47D323-1619-6356-2743-9B0EC0FB5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2218" y="1808145"/>
            <a:ext cx="8096250" cy="440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6570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2EEDA9C-B6AD-3597-31A9-E12D1EC50B5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55D1CD-1271-AB47-9E5B-122A3E3AF2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9542198-382B-EC14-844C-7C3253F96FE8}"/>
              </a:ext>
            </a:extLst>
          </p:cNvPr>
          <p:cNvPicPr>
            <a:picLocks noChangeAspect="1"/>
          </p:cNvPicPr>
          <p:nvPr/>
        </p:nvPicPr>
        <p:blipFill>
          <a:blip r:embed="rId2"/>
          <a:stretch>
            <a:fillRect/>
          </a:stretch>
        </p:blipFill>
        <p:spPr>
          <a:xfrm>
            <a:off x="895350" y="57150"/>
            <a:ext cx="10401300" cy="6743700"/>
          </a:xfrm>
          <a:prstGeom prst="rect">
            <a:avLst/>
          </a:prstGeom>
        </p:spPr>
      </p:pic>
    </p:spTree>
    <p:extLst>
      <p:ext uri="{BB962C8B-B14F-4D97-AF65-F5344CB8AC3E}">
        <p14:creationId xmlns:p14="http://schemas.microsoft.com/office/powerpoint/2010/main" val="4148286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FAD2E9B-6A38-290A-76FF-F95B49DC070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4E09BC-3FB5-C485-A1DF-AED1D95B56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098" name="Picture 2" descr="Setting up a deep RNN model | R Deep Learning Cookbook">
            <a:extLst>
              <a:ext uri="{FF2B5EF4-FFF2-40B4-BE49-F238E27FC236}">
                <a16:creationId xmlns:a16="http://schemas.microsoft.com/office/drawing/2014/main" id="{C07A249A-B78F-C283-39BE-E64E1A22D6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5" y="768544"/>
            <a:ext cx="10925175" cy="5591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14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365556" y="4164990"/>
            <a:ext cx="11749405" cy="2535555"/>
          </a:xfrm>
          <a:prstGeom prst="rect">
            <a:avLst/>
          </a:prstGeom>
        </p:spPr>
        <p:txBody>
          <a:bodyPr vert="horz" wrap="square" lIns="0" tIns="12700" rIns="0" bIns="0" rtlCol="0">
            <a:spAutoFit/>
          </a:bodyPr>
          <a:lstStyle/>
          <a:p>
            <a:pPr marL="241300" marR="5715" lvl="0" indent="-228600" algn="l" defTabSz="914400" rtl="0" eaLnBrk="1" fontAlgn="auto" latinLnBrk="0" hangingPunct="1">
              <a:lnSpc>
                <a:spcPct val="150100"/>
              </a:lnSpc>
              <a:spcBef>
                <a:spcPts val="100"/>
              </a:spcBef>
              <a:spcAft>
                <a:spcPts val="0"/>
              </a:spcAft>
              <a:buClr>
                <a:srgbClr val="4189B3"/>
              </a:buClr>
              <a:buSzPct val="75000"/>
              <a:buFont typeface="Wingdings"/>
              <a:buChar char=""/>
              <a:tabLst>
                <a:tab pos="241300" algn="l"/>
              </a:tabLst>
              <a:defRPr/>
            </a:pPr>
            <a:r>
              <a:rPr kumimoji="0" sz="2200" b="0" i="0" u="none" strike="noStrike" kern="1200" cap="none" spc="40" normalizeH="0" baseline="0" noProof="0" dirty="0">
                <a:ln>
                  <a:noFill/>
                </a:ln>
                <a:solidFill>
                  <a:srgbClr val="252525"/>
                </a:solidFill>
                <a:effectLst/>
                <a:uLnTx/>
                <a:uFillTx/>
                <a:latin typeface="Cambria"/>
                <a:ea typeface="+mn-ea"/>
                <a:cs typeface="Cambria"/>
              </a:rPr>
              <a:t>Let</a:t>
            </a:r>
            <a:r>
              <a:rPr kumimoji="0" sz="2200" b="0" i="0" u="none" strike="noStrike" kern="1200" cap="none" spc="40" normalizeH="0" baseline="0" noProof="0" dirty="0">
                <a:ln>
                  <a:noFill/>
                </a:ln>
                <a:solidFill>
                  <a:srgbClr val="252525"/>
                </a:solidFill>
                <a:effectLst/>
                <a:uLnTx/>
                <a:uFillTx/>
                <a:latin typeface="Trebuchet MS"/>
                <a:ea typeface="+mn-ea"/>
                <a:cs typeface="Trebuchet MS"/>
              </a:rPr>
              <a:t>’</a:t>
            </a:r>
            <a:r>
              <a:rPr kumimoji="0" sz="2200" b="0" i="0" u="none" strike="noStrike" kern="1200" cap="none" spc="40" normalizeH="0" baseline="0" noProof="0" dirty="0">
                <a:ln>
                  <a:noFill/>
                </a:ln>
                <a:solidFill>
                  <a:srgbClr val="252525"/>
                </a:solidFill>
                <a:effectLst/>
                <a:uLnTx/>
                <a:uFillTx/>
                <a:latin typeface="Cambria"/>
                <a:ea typeface="+mn-ea"/>
                <a:cs typeface="Cambria"/>
              </a:rPr>
              <a:t>s</a:t>
            </a:r>
            <a:r>
              <a:rPr kumimoji="0" sz="2200" b="0" i="0" u="none" strike="noStrike" kern="1200" cap="none" spc="385" normalizeH="0" baseline="0" noProof="0" dirty="0">
                <a:ln>
                  <a:noFill/>
                </a:ln>
                <a:solidFill>
                  <a:srgbClr val="252525"/>
                </a:solidFill>
                <a:effectLst/>
                <a:uLnTx/>
                <a:uFillTx/>
                <a:latin typeface="Cambria"/>
                <a:ea typeface="+mn-ea"/>
                <a:cs typeface="Cambria"/>
              </a:rPr>
              <a:t> </a:t>
            </a:r>
            <a:r>
              <a:rPr kumimoji="0" sz="2200" b="0" i="0" u="none" strike="noStrike" kern="1200" cap="none" spc="100" normalizeH="0" baseline="0" noProof="0" dirty="0">
                <a:ln>
                  <a:noFill/>
                </a:ln>
                <a:solidFill>
                  <a:srgbClr val="252525"/>
                </a:solidFill>
                <a:effectLst/>
                <a:uLnTx/>
                <a:uFillTx/>
                <a:latin typeface="Cambria"/>
                <a:ea typeface="+mn-ea"/>
                <a:cs typeface="Cambria"/>
              </a:rPr>
              <a:t>give</a:t>
            </a:r>
            <a:r>
              <a:rPr kumimoji="0" sz="2200" b="0" i="0" u="none" strike="noStrike" kern="1200" cap="none" spc="395" normalizeH="0" baseline="0" noProof="0" dirty="0">
                <a:ln>
                  <a:noFill/>
                </a:ln>
                <a:solidFill>
                  <a:srgbClr val="252525"/>
                </a:solidFill>
                <a:effectLst/>
                <a:uLnTx/>
                <a:uFillTx/>
                <a:latin typeface="Cambria"/>
                <a:ea typeface="+mn-ea"/>
                <a:cs typeface="Cambria"/>
              </a:rPr>
              <a:t> </a:t>
            </a:r>
            <a:r>
              <a:rPr kumimoji="0" sz="2200" b="0" i="0" u="none" strike="noStrike" kern="1200" cap="none" spc="105" normalizeH="0" baseline="0" noProof="0" dirty="0">
                <a:ln>
                  <a:noFill/>
                </a:ln>
                <a:solidFill>
                  <a:srgbClr val="252525"/>
                </a:solidFill>
                <a:effectLst/>
                <a:uLnTx/>
                <a:uFillTx/>
                <a:latin typeface="Cambria"/>
                <a:ea typeface="+mn-ea"/>
                <a:cs typeface="Cambria"/>
              </a:rPr>
              <a:t>word</a:t>
            </a:r>
            <a:r>
              <a:rPr kumimoji="0" sz="2200" b="0" i="0" u="none" strike="noStrike" kern="1200" cap="none" spc="405" normalizeH="0" baseline="0" noProof="0" dirty="0">
                <a:ln>
                  <a:noFill/>
                </a:ln>
                <a:solidFill>
                  <a:srgbClr val="252525"/>
                </a:solidFill>
                <a:effectLst/>
                <a:uLnTx/>
                <a:uFillTx/>
                <a:latin typeface="Cambria"/>
                <a:ea typeface="+mn-ea"/>
                <a:cs typeface="Cambria"/>
              </a:rPr>
              <a:t> </a:t>
            </a:r>
            <a:r>
              <a:rPr kumimoji="0" sz="2200" b="0" i="0" u="none" strike="noStrike" kern="1200" cap="none" spc="90" normalizeH="0" baseline="0" noProof="0" dirty="0">
                <a:ln>
                  <a:noFill/>
                </a:ln>
                <a:solidFill>
                  <a:srgbClr val="FF0066"/>
                </a:solidFill>
                <a:effectLst/>
                <a:uLnTx/>
                <a:uFillTx/>
                <a:latin typeface="Cambria"/>
                <a:ea typeface="+mn-ea"/>
                <a:cs typeface="Cambria"/>
              </a:rPr>
              <a:t>"</a:t>
            </a:r>
            <a:r>
              <a:rPr lang="en-US" sz="2200" spc="90" dirty="0">
                <a:solidFill>
                  <a:srgbClr val="FF0066"/>
                </a:solidFill>
                <a:latin typeface="Cambria"/>
                <a:cs typeface="Cambria"/>
              </a:rPr>
              <a:t>Recurrent</a:t>
            </a:r>
            <a:r>
              <a:rPr kumimoji="0" sz="2200" b="0" i="0" u="none" strike="noStrike" kern="1200" cap="none" spc="90" normalizeH="0" baseline="0" noProof="0" dirty="0">
                <a:ln>
                  <a:noFill/>
                </a:ln>
                <a:solidFill>
                  <a:srgbClr val="FF0066"/>
                </a:solidFill>
                <a:effectLst/>
                <a:uLnTx/>
                <a:uFillTx/>
                <a:latin typeface="Cambria"/>
                <a:ea typeface="+mn-ea"/>
                <a:cs typeface="Cambria"/>
              </a:rPr>
              <a:t>"</a:t>
            </a:r>
            <a:r>
              <a:rPr kumimoji="0" sz="2200" b="0" i="0" u="none" strike="noStrike" kern="1200" cap="none" spc="415" normalizeH="0" baseline="0" noProof="0" dirty="0">
                <a:ln>
                  <a:noFill/>
                </a:ln>
                <a:solidFill>
                  <a:srgbClr val="FF0066"/>
                </a:solidFill>
                <a:effectLst/>
                <a:uLnTx/>
                <a:uFillTx/>
                <a:latin typeface="Cambria"/>
                <a:ea typeface="+mn-ea"/>
                <a:cs typeface="Cambria"/>
              </a:rPr>
              <a:t> </a:t>
            </a:r>
            <a:r>
              <a:rPr kumimoji="0" sz="2200" b="0" i="0" u="none" strike="noStrike" kern="1200" cap="none" spc="135" normalizeH="0" baseline="0" noProof="0" dirty="0">
                <a:ln>
                  <a:noFill/>
                </a:ln>
                <a:solidFill>
                  <a:srgbClr val="252525"/>
                </a:solidFill>
                <a:effectLst/>
                <a:uLnTx/>
                <a:uFillTx/>
                <a:latin typeface="Cambria"/>
                <a:ea typeface="+mn-ea"/>
                <a:cs typeface="Cambria"/>
              </a:rPr>
              <a:t>as</a:t>
            </a:r>
            <a:r>
              <a:rPr kumimoji="0" sz="2200" b="0" i="0" u="none" strike="noStrike" kern="1200" cap="none" spc="415" normalizeH="0" baseline="0" noProof="0" dirty="0">
                <a:ln>
                  <a:noFill/>
                </a:ln>
                <a:solidFill>
                  <a:srgbClr val="252525"/>
                </a:solidFill>
                <a:effectLst/>
                <a:uLnTx/>
                <a:uFillTx/>
                <a:latin typeface="Cambria"/>
                <a:ea typeface="+mn-ea"/>
                <a:cs typeface="Cambria"/>
              </a:rPr>
              <a:t> </a:t>
            </a:r>
            <a:r>
              <a:rPr kumimoji="0" sz="2200" b="0" i="0" u="none" strike="noStrike" kern="1200" cap="none" spc="140" normalizeH="0" baseline="0" noProof="0" dirty="0">
                <a:ln>
                  <a:noFill/>
                </a:ln>
                <a:solidFill>
                  <a:srgbClr val="252525"/>
                </a:solidFill>
                <a:effectLst/>
                <a:uLnTx/>
                <a:uFillTx/>
                <a:latin typeface="Cambria"/>
                <a:ea typeface="+mn-ea"/>
                <a:cs typeface="Cambria"/>
              </a:rPr>
              <a:t>an</a:t>
            </a:r>
            <a:r>
              <a:rPr kumimoji="0" sz="2200" b="0" i="0" u="none" strike="noStrike" kern="1200" cap="none" spc="380" normalizeH="0" baseline="0" noProof="0" dirty="0">
                <a:ln>
                  <a:noFill/>
                </a:ln>
                <a:solidFill>
                  <a:srgbClr val="252525"/>
                </a:solidFill>
                <a:effectLst/>
                <a:uLnTx/>
                <a:uFillTx/>
                <a:latin typeface="Cambria"/>
                <a:ea typeface="+mn-ea"/>
                <a:cs typeface="Cambria"/>
              </a:rPr>
              <a:t> </a:t>
            </a:r>
            <a:r>
              <a:rPr kumimoji="0" sz="2200" b="0" i="0" u="none" strike="noStrike" kern="1200" cap="none" spc="135" normalizeH="0" baseline="0" noProof="0" dirty="0">
                <a:ln>
                  <a:noFill/>
                </a:ln>
                <a:solidFill>
                  <a:srgbClr val="252525"/>
                </a:solidFill>
                <a:effectLst/>
                <a:uLnTx/>
                <a:uFillTx/>
                <a:latin typeface="Cambria"/>
                <a:ea typeface="+mn-ea"/>
                <a:cs typeface="Cambria"/>
              </a:rPr>
              <a:t>input</a:t>
            </a:r>
            <a:r>
              <a:rPr kumimoji="0" sz="2200" b="0" i="0" u="none" strike="noStrike" kern="1200" cap="none" spc="409" normalizeH="0" baseline="0" noProof="0" dirty="0">
                <a:ln>
                  <a:noFill/>
                </a:ln>
                <a:solidFill>
                  <a:srgbClr val="252525"/>
                </a:solidFill>
                <a:effectLst/>
                <a:uLnTx/>
                <a:uFillTx/>
                <a:latin typeface="Cambria"/>
                <a:ea typeface="+mn-ea"/>
                <a:cs typeface="Cambria"/>
              </a:rPr>
              <a:t> </a:t>
            </a:r>
            <a:r>
              <a:rPr kumimoji="0" sz="2200" b="0" i="0" u="none" strike="noStrike" kern="1200" cap="none" spc="140" normalizeH="0" baseline="0" noProof="0" dirty="0">
                <a:ln>
                  <a:noFill/>
                </a:ln>
                <a:solidFill>
                  <a:srgbClr val="252525"/>
                </a:solidFill>
                <a:effectLst/>
                <a:uLnTx/>
                <a:uFillTx/>
                <a:latin typeface="Cambria"/>
                <a:ea typeface="+mn-ea"/>
                <a:cs typeface="Cambria"/>
              </a:rPr>
              <a:t>to</a:t>
            </a:r>
            <a:r>
              <a:rPr kumimoji="0" sz="2200" b="0" i="0" u="none" strike="noStrike" kern="1200" cap="none" spc="400" normalizeH="0" baseline="0" noProof="0" dirty="0">
                <a:ln>
                  <a:noFill/>
                </a:ln>
                <a:solidFill>
                  <a:srgbClr val="252525"/>
                </a:solidFill>
                <a:effectLst/>
                <a:uLnTx/>
                <a:uFillTx/>
                <a:latin typeface="Cambria"/>
                <a:ea typeface="+mn-ea"/>
                <a:cs typeface="Cambria"/>
              </a:rPr>
              <a:t> </a:t>
            </a:r>
            <a:r>
              <a:rPr kumimoji="0" sz="2200" b="0" i="0" u="none" strike="noStrike" kern="1200" cap="none" spc="65" normalizeH="0" baseline="0" noProof="0" dirty="0">
                <a:ln>
                  <a:noFill/>
                </a:ln>
                <a:solidFill>
                  <a:srgbClr val="252525"/>
                </a:solidFill>
                <a:effectLst/>
                <a:uLnTx/>
                <a:uFillTx/>
                <a:latin typeface="Cambria"/>
                <a:ea typeface="+mn-ea"/>
                <a:cs typeface="Cambria"/>
              </a:rPr>
              <a:t>FF-NN</a:t>
            </a:r>
            <a:r>
              <a:rPr kumimoji="0" sz="2200" b="0" i="0" u="none" strike="noStrike" kern="1200" cap="none" spc="400" normalizeH="0" baseline="0" noProof="0" dirty="0">
                <a:ln>
                  <a:noFill/>
                </a:ln>
                <a:solidFill>
                  <a:srgbClr val="252525"/>
                </a:solidFill>
                <a:effectLst/>
                <a:uLnTx/>
                <a:uFillTx/>
                <a:latin typeface="Cambria"/>
                <a:ea typeface="+mn-ea"/>
                <a:cs typeface="Cambria"/>
              </a:rPr>
              <a:t> </a:t>
            </a:r>
            <a:r>
              <a:rPr kumimoji="0" sz="2200" b="0" i="0" u="none" strike="noStrike" kern="1200" cap="none" spc="150" normalizeH="0" baseline="0" noProof="0" dirty="0">
                <a:ln>
                  <a:noFill/>
                </a:ln>
                <a:solidFill>
                  <a:srgbClr val="252525"/>
                </a:solidFill>
                <a:effectLst/>
                <a:uLnTx/>
                <a:uFillTx/>
                <a:latin typeface="Cambria"/>
                <a:ea typeface="+mn-ea"/>
                <a:cs typeface="Cambria"/>
              </a:rPr>
              <a:t>and</a:t>
            </a:r>
            <a:r>
              <a:rPr kumimoji="0" sz="2200" b="0" i="0" u="none" strike="noStrike" kern="1200" cap="none" spc="409" normalizeH="0" baseline="0" noProof="0" dirty="0">
                <a:ln>
                  <a:noFill/>
                </a:ln>
                <a:solidFill>
                  <a:srgbClr val="252525"/>
                </a:solidFill>
                <a:effectLst/>
                <a:uLnTx/>
                <a:uFillTx/>
                <a:latin typeface="Cambria"/>
                <a:ea typeface="+mn-ea"/>
                <a:cs typeface="Cambria"/>
              </a:rPr>
              <a:t> </a:t>
            </a:r>
            <a:r>
              <a:rPr kumimoji="0" sz="2200" b="0" i="0" u="none" strike="noStrike" kern="1200" cap="none" spc="90" normalizeH="0" baseline="0" noProof="0" dirty="0">
                <a:ln>
                  <a:noFill/>
                </a:ln>
                <a:solidFill>
                  <a:srgbClr val="252525"/>
                </a:solidFill>
                <a:effectLst/>
                <a:uLnTx/>
                <a:uFillTx/>
                <a:latin typeface="Cambria"/>
                <a:ea typeface="+mn-ea"/>
                <a:cs typeface="Cambria"/>
              </a:rPr>
              <a:t>it</a:t>
            </a:r>
            <a:r>
              <a:rPr kumimoji="0" sz="2200" b="0" i="0" u="none" strike="noStrike" kern="1200" cap="none" spc="395" normalizeH="0" baseline="0" noProof="0" dirty="0">
                <a:ln>
                  <a:noFill/>
                </a:ln>
                <a:solidFill>
                  <a:srgbClr val="252525"/>
                </a:solidFill>
                <a:effectLst/>
                <a:uLnTx/>
                <a:uFillTx/>
                <a:latin typeface="Cambria"/>
                <a:ea typeface="+mn-ea"/>
                <a:cs typeface="Cambria"/>
              </a:rPr>
              <a:t> </a:t>
            </a:r>
            <a:r>
              <a:rPr kumimoji="0" sz="2200" b="0" i="0" u="none" strike="noStrike" kern="1200" cap="none" spc="130" normalizeH="0" baseline="0" noProof="0" dirty="0">
                <a:ln>
                  <a:noFill/>
                </a:ln>
                <a:solidFill>
                  <a:srgbClr val="252525"/>
                </a:solidFill>
                <a:effectLst/>
                <a:uLnTx/>
                <a:uFillTx/>
                <a:latin typeface="Cambria"/>
                <a:ea typeface="+mn-ea"/>
                <a:cs typeface="Cambria"/>
              </a:rPr>
              <a:t>processes</a:t>
            </a:r>
            <a:r>
              <a:rPr kumimoji="0" sz="2200" b="0" i="0" u="none" strike="noStrike" kern="1200" cap="none" spc="415" normalizeH="0" baseline="0" noProof="0" dirty="0">
                <a:ln>
                  <a:noFill/>
                </a:ln>
                <a:solidFill>
                  <a:srgbClr val="252525"/>
                </a:solidFill>
                <a:effectLst/>
                <a:uLnTx/>
                <a:uFillTx/>
                <a:latin typeface="Cambria"/>
                <a:ea typeface="+mn-ea"/>
                <a:cs typeface="Cambria"/>
              </a:rPr>
              <a:t> </a:t>
            </a:r>
            <a:r>
              <a:rPr kumimoji="0" sz="2200" b="0" i="0" u="none" strike="noStrike" kern="1200" cap="none" spc="125" normalizeH="0" baseline="0" noProof="0" dirty="0">
                <a:ln>
                  <a:noFill/>
                </a:ln>
                <a:solidFill>
                  <a:srgbClr val="252525"/>
                </a:solidFill>
                <a:effectLst/>
                <a:uLnTx/>
                <a:uFillTx/>
                <a:latin typeface="Cambria"/>
                <a:ea typeface="+mn-ea"/>
                <a:cs typeface="Cambria"/>
              </a:rPr>
              <a:t>the</a:t>
            </a:r>
            <a:r>
              <a:rPr kumimoji="0" sz="2200" b="0" i="0" u="none" strike="noStrike" kern="1200" cap="none" spc="385" normalizeH="0" baseline="0" noProof="0" dirty="0">
                <a:ln>
                  <a:noFill/>
                </a:ln>
                <a:solidFill>
                  <a:srgbClr val="252525"/>
                </a:solidFill>
                <a:effectLst/>
                <a:uLnTx/>
                <a:uFillTx/>
                <a:latin typeface="Cambria"/>
                <a:ea typeface="+mn-ea"/>
                <a:cs typeface="Cambria"/>
              </a:rPr>
              <a:t> </a:t>
            </a:r>
            <a:r>
              <a:rPr kumimoji="0" sz="2200" b="0" i="0" u="none" strike="noStrike" kern="1200" cap="none" spc="110" normalizeH="0" baseline="0" noProof="0" dirty="0">
                <a:ln>
                  <a:noFill/>
                </a:ln>
                <a:solidFill>
                  <a:srgbClr val="252525"/>
                </a:solidFill>
                <a:effectLst/>
                <a:uLnTx/>
                <a:uFillTx/>
                <a:latin typeface="Cambria"/>
                <a:ea typeface="+mn-ea"/>
                <a:cs typeface="Cambria"/>
              </a:rPr>
              <a:t>word</a:t>
            </a:r>
            <a:r>
              <a:rPr kumimoji="0" sz="2200" b="0" i="0" u="none" strike="noStrike" kern="1200" cap="none" spc="415" normalizeH="0" baseline="0" noProof="0" dirty="0">
                <a:ln>
                  <a:noFill/>
                </a:ln>
                <a:solidFill>
                  <a:srgbClr val="252525"/>
                </a:solidFill>
                <a:effectLst/>
                <a:uLnTx/>
                <a:uFillTx/>
                <a:latin typeface="Cambria"/>
                <a:ea typeface="+mn-ea"/>
                <a:cs typeface="Cambria"/>
              </a:rPr>
              <a:t> </a:t>
            </a:r>
            <a:r>
              <a:rPr kumimoji="0" sz="2200" b="0" i="0" u="none" strike="noStrike" kern="1200" cap="none" spc="114" normalizeH="0" baseline="0" noProof="0" dirty="0">
                <a:ln>
                  <a:noFill/>
                </a:ln>
                <a:solidFill>
                  <a:srgbClr val="252525"/>
                </a:solidFill>
                <a:effectLst/>
                <a:uLnTx/>
                <a:uFillTx/>
                <a:latin typeface="Cambria"/>
                <a:ea typeface="+mn-ea"/>
                <a:cs typeface="Cambria"/>
              </a:rPr>
              <a:t>character </a:t>
            </a:r>
            <a:r>
              <a:rPr kumimoji="0" sz="2200" b="0" i="0" u="none" strike="noStrike" kern="1200" cap="none" spc="-470" normalizeH="0" baseline="0" noProof="0" dirty="0">
                <a:ln>
                  <a:noFill/>
                </a:ln>
                <a:solidFill>
                  <a:srgbClr val="252525"/>
                </a:solidFill>
                <a:effectLst/>
                <a:uLnTx/>
                <a:uFillTx/>
                <a:latin typeface="Cambria"/>
                <a:ea typeface="+mn-ea"/>
                <a:cs typeface="Cambria"/>
              </a:rPr>
              <a:t> </a:t>
            </a:r>
            <a:r>
              <a:rPr kumimoji="0" sz="2200" b="0" i="0" u="none" strike="noStrike" kern="1200" cap="none" spc="120" normalizeH="0" baseline="0" noProof="0" dirty="0">
                <a:ln>
                  <a:noFill/>
                </a:ln>
                <a:solidFill>
                  <a:srgbClr val="252525"/>
                </a:solidFill>
                <a:effectLst/>
                <a:uLnTx/>
                <a:uFillTx/>
                <a:latin typeface="Cambria"/>
                <a:ea typeface="+mn-ea"/>
                <a:cs typeface="Cambria"/>
              </a:rPr>
              <a:t>by</a:t>
            </a:r>
            <a:r>
              <a:rPr kumimoji="0" sz="2200" b="0" i="0" u="none" strike="noStrike" kern="1200" cap="none" spc="195" normalizeH="0" baseline="0" noProof="0" dirty="0">
                <a:ln>
                  <a:noFill/>
                </a:ln>
                <a:solidFill>
                  <a:srgbClr val="252525"/>
                </a:solidFill>
                <a:effectLst/>
                <a:uLnTx/>
                <a:uFillTx/>
                <a:latin typeface="Cambria"/>
                <a:ea typeface="+mn-ea"/>
                <a:cs typeface="Cambria"/>
              </a:rPr>
              <a:t> </a:t>
            </a:r>
            <a:r>
              <a:rPr kumimoji="0" sz="2200" b="0" i="0" u="none" strike="noStrike" kern="1200" cap="none" spc="110" normalizeH="0" baseline="0" noProof="0" dirty="0">
                <a:ln>
                  <a:noFill/>
                </a:ln>
                <a:solidFill>
                  <a:srgbClr val="252525"/>
                </a:solidFill>
                <a:effectLst/>
                <a:uLnTx/>
                <a:uFillTx/>
                <a:latin typeface="Cambria"/>
                <a:ea typeface="+mn-ea"/>
                <a:cs typeface="Cambria"/>
              </a:rPr>
              <a:t>character</a:t>
            </a:r>
            <a:r>
              <a:rPr kumimoji="0" sz="2200" b="0" i="0" u="none" strike="noStrike" kern="1200" cap="none" spc="110" normalizeH="0" baseline="0" noProof="0" dirty="0">
                <a:ln>
                  <a:noFill/>
                </a:ln>
                <a:solidFill>
                  <a:srgbClr val="5E5E5E"/>
                </a:solidFill>
                <a:effectLst/>
                <a:uLnTx/>
                <a:uFillTx/>
                <a:latin typeface="Cambria"/>
                <a:ea typeface="+mn-ea"/>
                <a:cs typeface="Cambria"/>
              </a:rPr>
              <a:t>.</a:t>
            </a:r>
            <a:endParaRPr kumimoji="0" sz="2200" b="0" i="0" u="none" strike="noStrike" kern="1200" cap="none" spc="0" normalizeH="0" baseline="0" noProof="0" dirty="0">
              <a:ln>
                <a:noFill/>
              </a:ln>
              <a:solidFill>
                <a:prstClr val="black"/>
              </a:solidFill>
              <a:effectLst/>
              <a:uLnTx/>
              <a:uFillTx/>
              <a:latin typeface="Cambria"/>
              <a:ea typeface="+mn-ea"/>
              <a:cs typeface="Cambria"/>
            </a:endParaRPr>
          </a:p>
          <a:p>
            <a:pPr marL="0" marR="0" lvl="0" indent="0" algn="l" defTabSz="914400" rtl="0" eaLnBrk="1" fontAlgn="auto" latinLnBrk="0" hangingPunct="1">
              <a:lnSpc>
                <a:spcPct val="100000"/>
              </a:lnSpc>
              <a:spcBef>
                <a:spcPts val="25"/>
              </a:spcBef>
              <a:spcAft>
                <a:spcPts val="0"/>
              </a:spcAft>
              <a:buClr>
                <a:srgbClr val="4189B3"/>
              </a:buClr>
              <a:buSzTx/>
              <a:buFont typeface="Wingdings"/>
              <a:buChar char=""/>
              <a:tabLst/>
              <a:defRPr/>
            </a:pPr>
            <a:endParaRPr kumimoji="0" sz="2800" b="0" i="0" u="none" strike="noStrike" kern="1200" cap="none" spc="0" normalizeH="0" baseline="0" noProof="0" dirty="0">
              <a:ln>
                <a:noFill/>
              </a:ln>
              <a:solidFill>
                <a:prstClr val="black"/>
              </a:solidFill>
              <a:effectLst/>
              <a:uLnTx/>
              <a:uFillTx/>
              <a:latin typeface="Cambria"/>
              <a:ea typeface="+mn-ea"/>
              <a:cs typeface="Cambria"/>
            </a:endParaRPr>
          </a:p>
          <a:p>
            <a:pPr marL="241300" marR="0" lvl="0" indent="-228600" algn="l" defTabSz="914400" rtl="0" eaLnBrk="1" fontAlgn="auto" latinLnBrk="0" hangingPunct="1">
              <a:lnSpc>
                <a:spcPct val="100000"/>
              </a:lnSpc>
              <a:spcBef>
                <a:spcPts val="5"/>
              </a:spcBef>
              <a:spcAft>
                <a:spcPts val="0"/>
              </a:spcAft>
              <a:buClr>
                <a:srgbClr val="4189B3"/>
              </a:buClr>
              <a:buSzPct val="75000"/>
              <a:buFont typeface="Wingdings"/>
              <a:buChar char=""/>
              <a:tabLst>
                <a:tab pos="241300" algn="l"/>
              </a:tabLst>
              <a:defRPr/>
            </a:pPr>
            <a:r>
              <a:rPr kumimoji="0" sz="2200" b="0" i="0" u="none" strike="noStrike" kern="1200" cap="none" spc="105" normalizeH="0" baseline="0" noProof="0" dirty="0">
                <a:ln>
                  <a:noFill/>
                </a:ln>
                <a:solidFill>
                  <a:srgbClr val="252525"/>
                </a:solidFill>
                <a:effectLst/>
                <a:uLnTx/>
                <a:uFillTx/>
                <a:latin typeface="Cambria"/>
                <a:ea typeface="+mn-ea"/>
                <a:cs typeface="Cambria"/>
              </a:rPr>
              <a:t>When</a:t>
            </a:r>
            <a:r>
              <a:rPr kumimoji="0" sz="2200" b="0" i="0" u="none" strike="noStrike" kern="1200" cap="none" spc="345" normalizeH="0" baseline="0" noProof="0" dirty="0">
                <a:ln>
                  <a:noFill/>
                </a:ln>
                <a:solidFill>
                  <a:srgbClr val="252525"/>
                </a:solidFill>
                <a:effectLst/>
                <a:uLnTx/>
                <a:uFillTx/>
                <a:latin typeface="Cambria"/>
                <a:ea typeface="+mn-ea"/>
                <a:cs typeface="Cambria"/>
              </a:rPr>
              <a:t> </a:t>
            </a:r>
            <a:r>
              <a:rPr kumimoji="0" sz="2200" b="0" i="0" u="none" strike="noStrike" kern="1200" cap="none" spc="90" normalizeH="0" baseline="0" noProof="0" dirty="0">
                <a:ln>
                  <a:noFill/>
                </a:ln>
                <a:solidFill>
                  <a:srgbClr val="252525"/>
                </a:solidFill>
                <a:effectLst/>
                <a:uLnTx/>
                <a:uFillTx/>
                <a:latin typeface="Cambria"/>
                <a:ea typeface="+mn-ea"/>
                <a:cs typeface="Cambria"/>
              </a:rPr>
              <a:t>it</a:t>
            </a:r>
            <a:r>
              <a:rPr kumimoji="0" sz="2200" b="0" i="0" u="none" strike="noStrike" kern="1200" cap="none" spc="365" normalizeH="0" baseline="0" noProof="0" dirty="0">
                <a:ln>
                  <a:noFill/>
                </a:ln>
                <a:solidFill>
                  <a:srgbClr val="252525"/>
                </a:solidFill>
                <a:effectLst/>
                <a:uLnTx/>
                <a:uFillTx/>
                <a:latin typeface="Cambria"/>
                <a:ea typeface="+mn-ea"/>
                <a:cs typeface="Cambria"/>
              </a:rPr>
              <a:t> </a:t>
            </a:r>
            <a:r>
              <a:rPr kumimoji="0" sz="2200" b="0" i="0" u="none" strike="noStrike" kern="1200" cap="none" spc="114" normalizeH="0" baseline="0" noProof="0" dirty="0">
                <a:ln>
                  <a:noFill/>
                </a:ln>
                <a:solidFill>
                  <a:srgbClr val="252525"/>
                </a:solidFill>
                <a:effectLst/>
                <a:uLnTx/>
                <a:uFillTx/>
                <a:latin typeface="Cambria"/>
                <a:ea typeface="+mn-ea"/>
                <a:cs typeface="Cambria"/>
              </a:rPr>
              <a:t>reach</a:t>
            </a:r>
            <a:r>
              <a:rPr kumimoji="0" sz="2200" b="0" i="0" u="none" strike="noStrike" kern="1200" cap="none" spc="370" normalizeH="0" baseline="0" noProof="0" dirty="0">
                <a:ln>
                  <a:noFill/>
                </a:ln>
                <a:solidFill>
                  <a:srgbClr val="252525"/>
                </a:solidFill>
                <a:effectLst/>
                <a:uLnTx/>
                <a:uFillTx/>
                <a:latin typeface="Cambria"/>
                <a:ea typeface="+mn-ea"/>
                <a:cs typeface="Cambria"/>
              </a:rPr>
              <a:t> </a:t>
            </a:r>
            <a:r>
              <a:rPr kumimoji="0" sz="2200" b="0" i="0" u="none" strike="noStrike" kern="1200" cap="none" spc="140" normalizeH="0" baseline="0" noProof="0" dirty="0">
                <a:ln>
                  <a:noFill/>
                </a:ln>
                <a:solidFill>
                  <a:srgbClr val="252525"/>
                </a:solidFill>
                <a:effectLst/>
                <a:uLnTx/>
                <a:uFillTx/>
                <a:latin typeface="Cambria"/>
                <a:ea typeface="+mn-ea"/>
                <a:cs typeface="Cambria"/>
              </a:rPr>
              <a:t>to</a:t>
            </a:r>
            <a:r>
              <a:rPr kumimoji="0" sz="2200" b="0" i="0" u="none" strike="noStrike" kern="1200" cap="none" spc="355" normalizeH="0" baseline="0" noProof="0" dirty="0">
                <a:ln>
                  <a:noFill/>
                </a:ln>
                <a:solidFill>
                  <a:srgbClr val="252525"/>
                </a:solidFill>
                <a:effectLst/>
                <a:uLnTx/>
                <a:uFillTx/>
                <a:latin typeface="Cambria"/>
                <a:ea typeface="+mn-ea"/>
                <a:cs typeface="Cambria"/>
              </a:rPr>
              <a:t> </a:t>
            </a:r>
            <a:r>
              <a:rPr kumimoji="0" sz="2200" b="0" i="0" u="none" strike="noStrike" kern="1200" cap="none" spc="35" normalizeH="0" baseline="0" noProof="0" dirty="0">
                <a:ln>
                  <a:noFill/>
                </a:ln>
                <a:solidFill>
                  <a:srgbClr val="FF0066"/>
                </a:solidFill>
                <a:effectLst/>
                <a:uLnTx/>
                <a:uFillTx/>
                <a:latin typeface="Cambria"/>
                <a:ea typeface="+mn-ea"/>
                <a:cs typeface="Cambria"/>
              </a:rPr>
              <a:t>"</a:t>
            </a:r>
            <a:r>
              <a:rPr kumimoji="0" lang="en-US" sz="2200" b="0" i="0" u="none" strike="noStrike" kern="1200" cap="none" spc="35" normalizeH="0" baseline="0" noProof="0" dirty="0">
                <a:ln>
                  <a:noFill/>
                </a:ln>
                <a:solidFill>
                  <a:srgbClr val="FF0066"/>
                </a:solidFill>
                <a:effectLst/>
                <a:uLnTx/>
                <a:uFillTx/>
                <a:latin typeface="Cambria"/>
                <a:ea typeface="+mn-ea"/>
                <a:cs typeface="Cambria"/>
              </a:rPr>
              <a:t>u</a:t>
            </a:r>
            <a:r>
              <a:rPr kumimoji="0" sz="2200" b="0" i="0" u="none" strike="noStrike" kern="1200" cap="none" spc="35" normalizeH="0" baseline="0" noProof="0" dirty="0">
                <a:ln>
                  <a:noFill/>
                </a:ln>
                <a:solidFill>
                  <a:srgbClr val="FF0066"/>
                </a:solidFill>
                <a:effectLst/>
                <a:uLnTx/>
                <a:uFillTx/>
                <a:latin typeface="Cambria"/>
                <a:ea typeface="+mn-ea"/>
                <a:cs typeface="Cambria"/>
              </a:rPr>
              <a:t>,"</a:t>
            </a:r>
            <a:r>
              <a:rPr kumimoji="0" sz="2200" b="0" i="0" u="none" strike="noStrike" kern="1200" cap="none" spc="380" normalizeH="0" baseline="0" noProof="0" dirty="0">
                <a:ln>
                  <a:noFill/>
                </a:ln>
                <a:solidFill>
                  <a:srgbClr val="FF0066"/>
                </a:solidFill>
                <a:effectLst/>
                <a:uLnTx/>
                <a:uFillTx/>
                <a:latin typeface="Cambria"/>
                <a:ea typeface="+mn-ea"/>
                <a:cs typeface="Cambria"/>
              </a:rPr>
              <a:t> </a:t>
            </a:r>
            <a:r>
              <a:rPr kumimoji="0" sz="2200" b="0" i="0" u="none" strike="noStrike" kern="1200" cap="none" spc="90" normalizeH="0" baseline="0" noProof="0" dirty="0">
                <a:ln>
                  <a:noFill/>
                </a:ln>
                <a:solidFill>
                  <a:srgbClr val="252525"/>
                </a:solidFill>
                <a:effectLst/>
                <a:uLnTx/>
                <a:uFillTx/>
                <a:latin typeface="Cambria"/>
                <a:ea typeface="+mn-ea"/>
                <a:cs typeface="Cambria"/>
              </a:rPr>
              <a:t>it</a:t>
            </a:r>
            <a:r>
              <a:rPr kumimoji="0" sz="2200" b="0" i="0" u="none" strike="noStrike" kern="1200" cap="none" spc="370" normalizeH="0" baseline="0" noProof="0" dirty="0">
                <a:ln>
                  <a:noFill/>
                </a:ln>
                <a:solidFill>
                  <a:srgbClr val="252525"/>
                </a:solidFill>
                <a:effectLst/>
                <a:uLnTx/>
                <a:uFillTx/>
                <a:latin typeface="Cambria"/>
                <a:ea typeface="+mn-ea"/>
                <a:cs typeface="Cambria"/>
              </a:rPr>
              <a:t> </a:t>
            </a:r>
            <a:r>
              <a:rPr kumimoji="0" sz="2200" b="0" i="0" u="none" strike="noStrike" kern="1200" cap="none" spc="145" normalizeH="0" baseline="0" noProof="0" dirty="0">
                <a:ln>
                  <a:noFill/>
                </a:ln>
                <a:solidFill>
                  <a:srgbClr val="252525"/>
                </a:solidFill>
                <a:effectLst/>
                <a:uLnTx/>
                <a:uFillTx/>
                <a:latin typeface="Cambria"/>
                <a:ea typeface="+mn-ea"/>
                <a:cs typeface="Cambria"/>
              </a:rPr>
              <a:t>has</a:t>
            </a:r>
            <a:r>
              <a:rPr kumimoji="0" sz="2200" b="0" i="0" u="none" strike="noStrike" kern="1200" cap="none" spc="370" normalizeH="0" baseline="0" noProof="0" dirty="0">
                <a:ln>
                  <a:noFill/>
                </a:ln>
                <a:solidFill>
                  <a:srgbClr val="252525"/>
                </a:solidFill>
                <a:effectLst/>
                <a:uLnTx/>
                <a:uFillTx/>
                <a:latin typeface="Cambria"/>
                <a:ea typeface="+mn-ea"/>
                <a:cs typeface="Cambria"/>
              </a:rPr>
              <a:t> </a:t>
            </a:r>
            <a:r>
              <a:rPr kumimoji="0" sz="2200" b="0" i="0" u="none" strike="noStrike" kern="1200" cap="none" spc="105" normalizeH="0" baseline="0" noProof="0" dirty="0">
                <a:ln>
                  <a:noFill/>
                </a:ln>
                <a:solidFill>
                  <a:srgbClr val="252525"/>
                </a:solidFill>
                <a:effectLst/>
                <a:uLnTx/>
                <a:uFillTx/>
                <a:latin typeface="Cambria"/>
                <a:ea typeface="+mn-ea"/>
                <a:cs typeface="Cambria"/>
              </a:rPr>
              <a:t>already</a:t>
            </a:r>
            <a:r>
              <a:rPr kumimoji="0" sz="2200" b="0" i="0" u="none" strike="noStrike" kern="1200" cap="none" spc="370" normalizeH="0" baseline="0" noProof="0" dirty="0">
                <a:ln>
                  <a:noFill/>
                </a:ln>
                <a:solidFill>
                  <a:srgbClr val="252525"/>
                </a:solidFill>
                <a:effectLst/>
                <a:uLnTx/>
                <a:uFillTx/>
                <a:latin typeface="Cambria"/>
                <a:ea typeface="+mn-ea"/>
                <a:cs typeface="Cambria"/>
              </a:rPr>
              <a:t> </a:t>
            </a:r>
            <a:r>
              <a:rPr kumimoji="0" sz="2200" b="0" i="0" u="none" strike="noStrike" kern="1200" cap="none" spc="135" normalizeH="0" baseline="0" noProof="0" dirty="0">
                <a:ln>
                  <a:noFill/>
                </a:ln>
                <a:solidFill>
                  <a:srgbClr val="252525"/>
                </a:solidFill>
                <a:effectLst/>
                <a:uLnTx/>
                <a:uFillTx/>
                <a:latin typeface="Cambria"/>
                <a:ea typeface="+mn-ea"/>
                <a:cs typeface="Cambria"/>
              </a:rPr>
              <a:t>forgotten</a:t>
            </a:r>
            <a:r>
              <a:rPr kumimoji="0" sz="2200" b="0" i="0" u="none" strike="noStrike" kern="1200" cap="none" spc="370" normalizeH="0" baseline="0" noProof="0" dirty="0">
                <a:ln>
                  <a:noFill/>
                </a:ln>
                <a:solidFill>
                  <a:srgbClr val="252525"/>
                </a:solidFill>
                <a:effectLst/>
                <a:uLnTx/>
                <a:uFillTx/>
                <a:latin typeface="Cambria"/>
                <a:ea typeface="+mn-ea"/>
                <a:cs typeface="Cambria"/>
              </a:rPr>
              <a:t> </a:t>
            </a:r>
            <a:r>
              <a:rPr kumimoji="0" sz="2200" b="0" i="0" u="none" strike="noStrike" kern="1200" cap="none" spc="135" normalizeH="0" baseline="0" noProof="0" dirty="0">
                <a:ln>
                  <a:noFill/>
                </a:ln>
                <a:solidFill>
                  <a:srgbClr val="252525"/>
                </a:solidFill>
                <a:effectLst/>
                <a:uLnTx/>
                <a:uFillTx/>
                <a:latin typeface="Cambria"/>
                <a:ea typeface="+mn-ea"/>
                <a:cs typeface="Cambria"/>
              </a:rPr>
              <a:t>about</a:t>
            </a:r>
            <a:r>
              <a:rPr kumimoji="0" sz="2200" b="0" i="0" u="none" strike="noStrike" kern="1200" cap="none" spc="375" normalizeH="0" baseline="0" noProof="0" dirty="0">
                <a:ln>
                  <a:noFill/>
                </a:ln>
                <a:solidFill>
                  <a:srgbClr val="252525"/>
                </a:solidFill>
                <a:effectLst/>
                <a:uLnTx/>
                <a:uFillTx/>
                <a:latin typeface="Cambria"/>
                <a:ea typeface="+mn-ea"/>
                <a:cs typeface="Cambria"/>
              </a:rPr>
              <a:t> </a:t>
            </a:r>
            <a:r>
              <a:rPr kumimoji="0" sz="2200" b="0" i="0" u="none" strike="noStrike" kern="1200" cap="none" spc="65" normalizeH="0" baseline="0" noProof="0" dirty="0">
                <a:ln>
                  <a:noFill/>
                </a:ln>
                <a:solidFill>
                  <a:srgbClr val="FF0066"/>
                </a:solidFill>
                <a:effectLst/>
                <a:uLnTx/>
                <a:uFillTx/>
                <a:latin typeface="Cambria"/>
                <a:ea typeface="+mn-ea"/>
                <a:cs typeface="Cambria"/>
              </a:rPr>
              <a:t>"</a:t>
            </a:r>
            <a:r>
              <a:rPr kumimoji="0" lang="en-US" sz="2200" b="0" i="0" u="none" strike="noStrike" kern="1200" cap="none" spc="65" normalizeH="0" baseline="0" noProof="0" dirty="0">
                <a:ln>
                  <a:noFill/>
                </a:ln>
                <a:solidFill>
                  <a:srgbClr val="FF0066"/>
                </a:solidFill>
                <a:effectLst/>
                <a:uLnTx/>
                <a:uFillTx/>
                <a:latin typeface="Cambria"/>
                <a:ea typeface="+mn-ea"/>
                <a:cs typeface="Cambria"/>
              </a:rPr>
              <a:t>R</a:t>
            </a:r>
            <a:r>
              <a:rPr kumimoji="0" sz="2200" b="0" i="0" u="none" strike="noStrike" kern="1200" cap="none" spc="65" normalizeH="0" baseline="0" noProof="0" dirty="0">
                <a:ln>
                  <a:noFill/>
                </a:ln>
                <a:solidFill>
                  <a:srgbClr val="FF0066"/>
                </a:solidFill>
                <a:effectLst/>
                <a:uLnTx/>
                <a:uFillTx/>
                <a:latin typeface="Cambria"/>
                <a:ea typeface="+mn-ea"/>
                <a:cs typeface="Cambria"/>
              </a:rPr>
              <a:t>,"</a:t>
            </a:r>
            <a:r>
              <a:rPr kumimoji="0" sz="2200" b="0" i="0" u="none" strike="noStrike" kern="1200" cap="none" spc="370" normalizeH="0" baseline="0" noProof="0" dirty="0">
                <a:ln>
                  <a:noFill/>
                </a:ln>
                <a:solidFill>
                  <a:srgbClr val="FF0066"/>
                </a:solidFill>
                <a:effectLst/>
                <a:uLnTx/>
                <a:uFillTx/>
                <a:latin typeface="Cambria"/>
                <a:ea typeface="+mn-ea"/>
                <a:cs typeface="Cambria"/>
              </a:rPr>
              <a:t> </a:t>
            </a:r>
            <a:r>
              <a:rPr kumimoji="0" sz="2200" b="0" i="0" u="none" strike="noStrike" kern="1200" cap="none" spc="15" normalizeH="0" baseline="0" noProof="0" dirty="0">
                <a:ln>
                  <a:noFill/>
                </a:ln>
                <a:solidFill>
                  <a:srgbClr val="FF0066"/>
                </a:solidFill>
                <a:effectLst/>
                <a:uLnTx/>
                <a:uFillTx/>
                <a:latin typeface="Cambria"/>
                <a:ea typeface="+mn-ea"/>
                <a:cs typeface="Cambria"/>
              </a:rPr>
              <a:t>"e"</a:t>
            </a:r>
            <a:r>
              <a:rPr kumimoji="0" sz="2200" b="0" i="0" u="none" strike="noStrike" kern="1200" cap="none" spc="370" normalizeH="0" baseline="0" noProof="0" dirty="0">
                <a:ln>
                  <a:noFill/>
                </a:ln>
                <a:solidFill>
                  <a:srgbClr val="FF0066"/>
                </a:solidFill>
                <a:effectLst/>
                <a:uLnTx/>
                <a:uFillTx/>
                <a:latin typeface="Cambria"/>
                <a:ea typeface="+mn-ea"/>
                <a:cs typeface="Cambria"/>
              </a:rPr>
              <a:t> </a:t>
            </a:r>
            <a:r>
              <a:rPr kumimoji="0" sz="2200" b="0" i="0" u="none" strike="noStrike" kern="1200" cap="none" spc="150" normalizeH="0" baseline="0" noProof="0" dirty="0">
                <a:ln>
                  <a:noFill/>
                </a:ln>
                <a:solidFill>
                  <a:srgbClr val="252525"/>
                </a:solidFill>
                <a:effectLst/>
                <a:uLnTx/>
                <a:uFillTx/>
                <a:latin typeface="Cambria"/>
                <a:ea typeface="+mn-ea"/>
                <a:cs typeface="Cambria"/>
              </a:rPr>
              <a:t>and</a:t>
            </a:r>
            <a:r>
              <a:rPr kumimoji="0" sz="2200" b="0" i="0" u="none" strike="noStrike" kern="1200" cap="none" spc="365" normalizeH="0" baseline="0" noProof="0" dirty="0">
                <a:ln>
                  <a:noFill/>
                </a:ln>
                <a:solidFill>
                  <a:srgbClr val="252525"/>
                </a:solidFill>
                <a:effectLst/>
                <a:uLnTx/>
                <a:uFillTx/>
                <a:latin typeface="Cambria"/>
                <a:ea typeface="+mn-ea"/>
                <a:cs typeface="Cambria"/>
              </a:rPr>
              <a:t> </a:t>
            </a:r>
            <a:r>
              <a:rPr kumimoji="0" sz="2200" b="0" i="0" u="none" strike="noStrike" kern="1200" cap="none" spc="65" normalizeH="0" baseline="0" noProof="0" dirty="0">
                <a:ln>
                  <a:noFill/>
                </a:ln>
                <a:solidFill>
                  <a:srgbClr val="FF0066"/>
                </a:solidFill>
                <a:effectLst/>
                <a:uLnTx/>
                <a:uFillTx/>
                <a:latin typeface="Cambria"/>
                <a:ea typeface="+mn-ea"/>
                <a:cs typeface="Cambria"/>
              </a:rPr>
              <a:t>"</a:t>
            </a:r>
            <a:r>
              <a:rPr lang="en-US" sz="2200" spc="65" dirty="0">
                <a:solidFill>
                  <a:srgbClr val="FF0066"/>
                </a:solidFill>
                <a:latin typeface="Cambria"/>
                <a:cs typeface="Cambria"/>
              </a:rPr>
              <a:t>c</a:t>
            </a:r>
            <a:r>
              <a:rPr kumimoji="0" sz="2200" b="0" i="0" u="none" strike="noStrike" kern="1200" cap="none" spc="65" normalizeH="0" baseline="0" noProof="0" dirty="0">
                <a:ln>
                  <a:noFill/>
                </a:ln>
                <a:solidFill>
                  <a:srgbClr val="FF0066"/>
                </a:solidFill>
                <a:effectLst/>
                <a:uLnTx/>
                <a:uFillTx/>
                <a:latin typeface="Cambria"/>
                <a:ea typeface="+mn-ea"/>
                <a:cs typeface="Cambria"/>
              </a:rPr>
              <a:t>,"</a:t>
            </a:r>
            <a:r>
              <a:rPr kumimoji="0" sz="2200" b="0" i="0" u="none" strike="noStrike" kern="1200" cap="none" spc="370" normalizeH="0" baseline="0" noProof="0" dirty="0">
                <a:ln>
                  <a:noFill/>
                </a:ln>
                <a:solidFill>
                  <a:srgbClr val="FF0066"/>
                </a:solidFill>
                <a:effectLst/>
                <a:uLnTx/>
                <a:uFillTx/>
                <a:latin typeface="Cambria"/>
                <a:ea typeface="+mn-ea"/>
                <a:cs typeface="Cambria"/>
              </a:rPr>
              <a:t> </a:t>
            </a:r>
            <a:r>
              <a:rPr kumimoji="0" sz="2200" b="0" i="0" u="none" strike="noStrike" kern="1200" cap="none" spc="114" normalizeH="0" baseline="0" noProof="0" dirty="0">
                <a:ln>
                  <a:noFill/>
                </a:ln>
                <a:solidFill>
                  <a:srgbClr val="252525"/>
                </a:solidFill>
                <a:effectLst/>
                <a:uLnTx/>
                <a:uFillTx/>
                <a:latin typeface="Cambria"/>
                <a:ea typeface="+mn-ea"/>
                <a:cs typeface="Cambria"/>
              </a:rPr>
              <a:t>which</a:t>
            </a:r>
            <a:r>
              <a:rPr kumimoji="0" sz="2200" b="0" i="0" u="none" strike="noStrike" kern="1200" cap="none" spc="375" normalizeH="0" baseline="0" noProof="0" dirty="0">
                <a:ln>
                  <a:noFill/>
                </a:ln>
                <a:solidFill>
                  <a:srgbClr val="252525"/>
                </a:solidFill>
                <a:effectLst/>
                <a:uLnTx/>
                <a:uFillTx/>
                <a:latin typeface="Cambria"/>
                <a:ea typeface="+mn-ea"/>
                <a:cs typeface="Cambria"/>
              </a:rPr>
              <a:t> </a:t>
            </a:r>
            <a:r>
              <a:rPr kumimoji="0" sz="2200" b="0" i="0" u="none" strike="noStrike" kern="1200" cap="none" spc="155" normalizeH="0" baseline="0" noProof="0" dirty="0">
                <a:ln>
                  <a:noFill/>
                </a:ln>
                <a:solidFill>
                  <a:srgbClr val="252525"/>
                </a:solidFill>
                <a:effectLst/>
                <a:uLnTx/>
                <a:uFillTx/>
                <a:latin typeface="Cambria"/>
                <a:ea typeface="+mn-ea"/>
                <a:cs typeface="Cambria"/>
              </a:rPr>
              <a:t>makes</a:t>
            </a:r>
            <a:r>
              <a:rPr kumimoji="0" sz="2200" b="0" i="0" u="none" strike="noStrike" kern="1200" cap="none" spc="360" normalizeH="0" baseline="0" noProof="0" dirty="0">
                <a:ln>
                  <a:noFill/>
                </a:ln>
                <a:solidFill>
                  <a:srgbClr val="252525"/>
                </a:solidFill>
                <a:effectLst/>
                <a:uLnTx/>
                <a:uFillTx/>
                <a:latin typeface="Cambria"/>
                <a:ea typeface="+mn-ea"/>
                <a:cs typeface="Cambria"/>
              </a:rPr>
              <a:t> </a:t>
            </a:r>
            <a:r>
              <a:rPr kumimoji="0" sz="2200" b="0" i="0" u="none" strike="noStrike" kern="1200" cap="none" spc="95" normalizeH="0" baseline="0" noProof="0" dirty="0">
                <a:ln>
                  <a:noFill/>
                </a:ln>
                <a:solidFill>
                  <a:srgbClr val="252525"/>
                </a:solidFill>
                <a:effectLst/>
                <a:uLnTx/>
                <a:uFillTx/>
                <a:latin typeface="Cambria"/>
                <a:ea typeface="+mn-ea"/>
                <a:cs typeface="Cambria"/>
              </a:rPr>
              <a:t>it</a:t>
            </a:r>
            <a:endParaRPr kumimoji="0" sz="2200" b="0" i="0" u="none" strike="noStrike" kern="1200" cap="none" spc="0" normalizeH="0" baseline="0" noProof="0" dirty="0">
              <a:ln>
                <a:noFill/>
              </a:ln>
              <a:solidFill>
                <a:prstClr val="black"/>
              </a:solidFill>
              <a:effectLst/>
              <a:uLnTx/>
              <a:uFillTx/>
              <a:latin typeface="Cambria"/>
              <a:ea typeface="+mn-ea"/>
              <a:cs typeface="Cambria"/>
            </a:endParaRPr>
          </a:p>
          <a:p>
            <a:pPr marL="241300" marR="0" lvl="0" indent="0" algn="l" defTabSz="914400" rtl="0" eaLnBrk="1" fontAlgn="auto" latinLnBrk="0" hangingPunct="1">
              <a:lnSpc>
                <a:spcPct val="100000"/>
              </a:lnSpc>
              <a:spcBef>
                <a:spcPts val="1320"/>
              </a:spcBef>
              <a:spcAft>
                <a:spcPts val="0"/>
              </a:spcAft>
              <a:buClrTx/>
              <a:buSzTx/>
              <a:buFontTx/>
              <a:buNone/>
              <a:tabLst/>
              <a:defRPr/>
            </a:pPr>
            <a:r>
              <a:rPr kumimoji="0" sz="2200" b="0" i="0" u="none" strike="noStrike" kern="1200" cap="none" spc="130" normalizeH="0" baseline="0" noProof="0" dirty="0">
                <a:ln>
                  <a:noFill/>
                </a:ln>
                <a:solidFill>
                  <a:srgbClr val="252525"/>
                </a:solidFill>
                <a:effectLst/>
                <a:uLnTx/>
                <a:uFillTx/>
                <a:latin typeface="Cambria"/>
                <a:ea typeface="+mn-ea"/>
                <a:cs typeface="Cambria"/>
              </a:rPr>
              <a:t>impossible</a:t>
            </a:r>
            <a:r>
              <a:rPr kumimoji="0" sz="2200" b="0" i="0" u="none" strike="noStrike" kern="1200" cap="none" spc="220" normalizeH="0" baseline="0" noProof="0" dirty="0">
                <a:ln>
                  <a:noFill/>
                </a:ln>
                <a:solidFill>
                  <a:srgbClr val="252525"/>
                </a:solidFill>
                <a:effectLst/>
                <a:uLnTx/>
                <a:uFillTx/>
                <a:latin typeface="Cambria"/>
                <a:ea typeface="+mn-ea"/>
                <a:cs typeface="Cambria"/>
              </a:rPr>
              <a:t> </a:t>
            </a:r>
            <a:r>
              <a:rPr kumimoji="0" sz="2200" b="0" i="0" u="none" strike="noStrike" kern="1200" cap="none" spc="135" normalizeH="0" baseline="0" noProof="0" dirty="0">
                <a:ln>
                  <a:noFill/>
                </a:ln>
                <a:solidFill>
                  <a:srgbClr val="252525"/>
                </a:solidFill>
                <a:effectLst/>
                <a:uLnTx/>
                <a:uFillTx/>
                <a:latin typeface="Cambria"/>
                <a:ea typeface="+mn-ea"/>
                <a:cs typeface="Cambria"/>
              </a:rPr>
              <a:t>for</a:t>
            </a:r>
            <a:r>
              <a:rPr kumimoji="0" sz="2200" b="0" i="0" u="none" strike="noStrike" kern="1200" cap="none" spc="204" normalizeH="0" baseline="0" noProof="0" dirty="0">
                <a:ln>
                  <a:noFill/>
                </a:ln>
                <a:solidFill>
                  <a:srgbClr val="252525"/>
                </a:solidFill>
                <a:effectLst/>
                <a:uLnTx/>
                <a:uFillTx/>
                <a:latin typeface="Cambria"/>
                <a:ea typeface="+mn-ea"/>
                <a:cs typeface="Cambria"/>
              </a:rPr>
              <a:t> </a:t>
            </a:r>
            <a:r>
              <a:rPr kumimoji="0" sz="2200" b="0" i="0" u="none" strike="noStrike" kern="1200" cap="none" spc="125" normalizeH="0" baseline="0" noProof="0" dirty="0">
                <a:ln>
                  <a:noFill/>
                </a:ln>
                <a:solidFill>
                  <a:srgbClr val="252525"/>
                </a:solidFill>
                <a:effectLst/>
                <a:uLnTx/>
                <a:uFillTx/>
                <a:latin typeface="Cambria"/>
                <a:ea typeface="+mn-ea"/>
                <a:cs typeface="Cambria"/>
              </a:rPr>
              <a:t>this</a:t>
            </a:r>
            <a:r>
              <a:rPr kumimoji="0" sz="2200" b="0" i="0" u="none" strike="noStrike" kern="1200" cap="none" spc="190" normalizeH="0" baseline="0" noProof="0" dirty="0">
                <a:ln>
                  <a:noFill/>
                </a:ln>
                <a:solidFill>
                  <a:srgbClr val="252525"/>
                </a:solidFill>
                <a:effectLst/>
                <a:uLnTx/>
                <a:uFillTx/>
                <a:latin typeface="Cambria"/>
                <a:ea typeface="+mn-ea"/>
                <a:cs typeface="Cambria"/>
              </a:rPr>
              <a:t> </a:t>
            </a:r>
            <a:r>
              <a:rPr kumimoji="0" sz="2200" b="0" i="0" u="none" strike="noStrike" kern="1200" cap="none" spc="110" normalizeH="0" baseline="0" noProof="0" dirty="0">
                <a:ln>
                  <a:noFill/>
                </a:ln>
                <a:solidFill>
                  <a:srgbClr val="252525"/>
                </a:solidFill>
                <a:effectLst/>
                <a:uLnTx/>
                <a:uFillTx/>
                <a:latin typeface="Cambria"/>
                <a:ea typeface="+mn-ea"/>
                <a:cs typeface="Cambria"/>
              </a:rPr>
              <a:t>type</a:t>
            </a:r>
            <a:r>
              <a:rPr kumimoji="0" sz="2200" b="0" i="0" u="none" strike="noStrike" kern="1200" cap="none" spc="245" normalizeH="0" baseline="0" noProof="0" dirty="0">
                <a:ln>
                  <a:noFill/>
                </a:ln>
                <a:solidFill>
                  <a:srgbClr val="252525"/>
                </a:solidFill>
                <a:effectLst/>
                <a:uLnTx/>
                <a:uFillTx/>
                <a:latin typeface="Cambria"/>
                <a:ea typeface="+mn-ea"/>
                <a:cs typeface="Cambria"/>
              </a:rPr>
              <a:t> </a:t>
            </a:r>
            <a:r>
              <a:rPr kumimoji="0" sz="2200" b="0" i="0" u="none" strike="noStrike" kern="1200" cap="none" spc="175" normalizeH="0" baseline="0" noProof="0" dirty="0">
                <a:ln>
                  <a:noFill/>
                </a:ln>
                <a:solidFill>
                  <a:srgbClr val="252525"/>
                </a:solidFill>
                <a:effectLst/>
                <a:uLnTx/>
                <a:uFillTx/>
                <a:latin typeface="Cambria"/>
                <a:ea typeface="+mn-ea"/>
                <a:cs typeface="Cambria"/>
              </a:rPr>
              <a:t>of</a:t>
            </a:r>
            <a:r>
              <a:rPr kumimoji="0" sz="2200" b="0" i="0" u="none" strike="noStrike" kern="1200" cap="none" spc="215" normalizeH="0" baseline="0" noProof="0" dirty="0">
                <a:ln>
                  <a:noFill/>
                </a:ln>
                <a:solidFill>
                  <a:srgbClr val="252525"/>
                </a:solidFill>
                <a:effectLst/>
                <a:uLnTx/>
                <a:uFillTx/>
                <a:latin typeface="Cambria"/>
                <a:ea typeface="+mn-ea"/>
                <a:cs typeface="Cambria"/>
              </a:rPr>
              <a:t> </a:t>
            </a:r>
            <a:r>
              <a:rPr kumimoji="0" sz="2200" b="0" i="0" u="none" strike="noStrike" kern="1200" cap="none" spc="140" normalizeH="0" baseline="0" noProof="0" dirty="0">
                <a:ln>
                  <a:noFill/>
                </a:ln>
                <a:solidFill>
                  <a:srgbClr val="252525"/>
                </a:solidFill>
                <a:effectLst/>
                <a:uLnTx/>
                <a:uFillTx/>
                <a:latin typeface="Cambria"/>
                <a:ea typeface="+mn-ea"/>
                <a:cs typeface="Cambria"/>
              </a:rPr>
              <a:t>NN</a:t>
            </a:r>
            <a:r>
              <a:rPr kumimoji="0" sz="2200" b="0" i="0" u="none" strike="noStrike" kern="1200" cap="none" spc="204" normalizeH="0" baseline="0" noProof="0" dirty="0">
                <a:ln>
                  <a:noFill/>
                </a:ln>
                <a:solidFill>
                  <a:srgbClr val="252525"/>
                </a:solidFill>
                <a:effectLst/>
                <a:uLnTx/>
                <a:uFillTx/>
                <a:latin typeface="Cambria"/>
                <a:ea typeface="+mn-ea"/>
                <a:cs typeface="Cambria"/>
              </a:rPr>
              <a:t> </a:t>
            </a:r>
            <a:r>
              <a:rPr kumimoji="0" sz="2200" b="0" i="0" u="none" strike="noStrike" kern="1200" cap="none" spc="135" normalizeH="0" baseline="0" noProof="0" dirty="0">
                <a:ln>
                  <a:noFill/>
                </a:ln>
                <a:solidFill>
                  <a:srgbClr val="252525"/>
                </a:solidFill>
                <a:effectLst/>
                <a:uLnTx/>
                <a:uFillTx/>
                <a:latin typeface="Cambria"/>
                <a:ea typeface="+mn-ea"/>
                <a:cs typeface="Cambria"/>
              </a:rPr>
              <a:t>to</a:t>
            </a:r>
            <a:r>
              <a:rPr kumimoji="0" sz="2200" b="0" i="0" u="none" strike="noStrike" kern="1200" cap="none" spc="190" normalizeH="0" baseline="0" noProof="0" dirty="0">
                <a:ln>
                  <a:noFill/>
                </a:ln>
                <a:solidFill>
                  <a:srgbClr val="252525"/>
                </a:solidFill>
                <a:effectLst/>
                <a:uLnTx/>
                <a:uFillTx/>
                <a:latin typeface="Cambria"/>
                <a:ea typeface="+mn-ea"/>
                <a:cs typeface="Cambria"/>
              </a:rPr>
              <a:t> </a:t>
            </a:r>
            <a:r>
              <a:rPr kumimoji="0" sz="2200" b="0" i="0" u="none" strike="noStrike" kern="1200" cap="none" spc="114" normalizeH="0" baseline="0" noProof="0" dirty="0">
                <a:ln>
                  <a:noFill/>
                </a:ln>
                <a:solidFill>
                  <a:srgbClr val="252525"/>
                </a:solidFill>
                <a:effectLst/>
                <a:uLnTx/>
                <a:uFillTx/>
                <a:latin typeface="Cambria"/>
                <a:ea typeface="+mn-ea"/>
                <a:cs typeface="Cambria"/>
              </a:rPr>
              <a:t>predict</a:t>
            </a:r>
            <a:r>
              <a:rPr kumimoji="0" sz="2200" b="0" i="0" u="none" strike="noStrike" kern="1200" cap="none" spc="235" normalizeH="0" baseline="0" noProof="0" dirty="0">
                <a:ln>
                  <a:noFill/>
                </a:ln>
                <a:solidFill>
                  <a:srgbClr val="252525"/>
                </a:solidFill>
                <a:effectLst/>
                <a:uLnTx/>
                <a:uFillTx/>
                <a:latin typeface="Cambria"/>
                <a:ea typeface="+mn-ea"/>
                <a:cs typeface="Cambria"/>
              </a:rPr>
              <a:t> </a:t>
            </a:r>
            <a:r>
              <a:rPr kumimoji="0" sz="2200" b="0" i="0" u="none" strike="noStrike" kern="1200" cap="none" spc="114" normalizeH="0" baseline="0" noProof="0" dirty="0">
                <a:ln>
                  <a:noFill/>
                </a:ln>
                <a:solidFill>
                  <a:srgbClr val="252525"/>
                </a:solidFill>
                <a:effectLst/>
                <a:uLnTx/>
                <a:uFillTx/>
                <a:latin typeface="Cambria"/>
                <a:ea typeface="+mn-ea"/>
                <a:cs typeface="Cambria"/>
              </a:rPr>
              <a:t>which</a:t>
            </a:r>
            <a:r>
              <a:rPr kumimoji="0" sz="2200" b="0" i="0" u="none" strike="noStrike" kern="1200" cap="none" spc="220" normalizeH="0" baseline="0" noProof="0" dirty="0">
                <a:ln>
                  <a:noFill/>
                </a:ln>
                <a:solidFill>
                  <a:srgbClr val="252525"/>
                </a:solidFill>
                <a:effectLst/>
                <a:uLnTx/>
                <a:uFillTx/>
                <a:latin typeface="Cambria"/>
                <a:ea typeface="+mn-ea"/>
                <a:cs typeface="Cambria"/>
              </a:rPr>
              <a:t> </a:t>
            </a:r>
            <a:r>
              <a:rPr kumimoji="0" sz="2200" b="0" i="0" u="none" strike="noStrike" kern="1200" cap="none" spc="105" normalizeH="0" baseline="0" noProof="0" dirty="0">
                <a:ln>
                  <a:noFill/>
                </a:ln>
                <a:solidFill>
                  <a:srgbClr val="252525"/>
                </a:solidFill>
                <a:effectLst/>
                <a:uLnTx/>
                <a:uFillTx/>
                <a:latin typeface="Cambria"/>
                <a:ea typeface="+mn-ea"/>
                <a:cs typeface="Cambria"/>
              </a:rPr>
              <a:t>character</a:t>
            </a:r>
            <a:r>
              <a:rPr kumimoji="0" sz="2200" b="0" i="0" u="none" strike="noStrike" kern="1200" cap="none" spc="240" normalizeH="0" baseline="0" noProof="0" dirty="0">
                <a:ln>
                  <a:noFill/>
                </a:ln>
                <a:solidFill>
                  <a:srgbClr val="252525"/>
                </a:solidFill>
                <a:effectLst/>
                <a:uLnTx/>
                <a:uFillTx/>
                <a:latin typeface="Cambria"/>
                <a:ea typeface="+mn-ea"/>
                <a:cs typeface="Cambria"/>
              </a:rPr>
              <a:t> </a:t>
            </a:r>
            <a:r>
              <a:rPr kumimoji="0" sz="2200" b="0" i="0" u="none" strike="noStrike" kern="1200" cap="none" spc="125" normalizeH="0" baseline="0" noProof="0" dirty="0">
                <a:ln>
                  <a:noFill/>
                </a:ln>
                <a:solidFill>
                  <a:srgbClr val="252525"/>
                </a:solidFill>
                <a:effectLst/>
                <a:uLnTx/>
                <a:uFillTx/>
                <a:latin typeface="Cambria"/>
                <a:ea typeface="+mn-ea"/>
                <a:cs typeface="Cambria"/>
              </a:rPr>
              <a:t>would</a:t>
            </a:r>
            <a:r>
              <a:rPr kumimoji="0" sz="2200" b="0" i="0" u="none" strike="noStrike" kern="1200" cap="none" spc="204" normalizeH="0" baseline="0" noProof="0" dirty="0">
                <a:ln>
                  <a:noFill/>
                </a:ln>
                <a:solidFill>
                  <a:srgbClr val="252525"/>
                </a:solidFill>
                <a:effectLst/>
                <a:uLnTx/>
                <a:uFillTx/>
                <a:latin typeface="Cambria"/>
                <a:ea typeface="+mn-ea"/>
                <a:cs typeface="Cambria"/>
              </a:rPr>
              <a:t> </a:t>
            </a:r>
            <a:r>
              <a:rPr kumimoji="0" sz="2200" b="0" i="0" u="none" strike="noStrike" kern="1200" cap="none" spc="150" normalizeH="0" baseline="0" noProof="0" dirty="0">
                <a:ln>
                  <a:noFill/>
                </a:ln>
                <a:solidFill>
                  <a:srgbClr val="252525"/>
                </a:solidFill>
                <a:effectLst/>
                <a:uLnTx/>
                <a:uFillTx/>
                <a:latin typeface="Cambria"/>
                <a:ea typeface="+mn-ea"/>
                <a:cs typeface="Cambria"/>
              </a:rPr>
              <a:t>come</a:t>
            </a:r>
            <a:r>
              <a:rPr kumimoji="0" sz="2200" b="0" i="0" u="none" strike="noStrike" kern="1200" cap="none" spc="215" normalizeH="0" baseline="0" noProof="0" dirty="0">
                <a:ln>
                  <a:noFill/>
                </a:ln>
                <a:solidFill>
                  <a:srgbClr val="252525"/>
                </a:solidFill>
                <a:effectLst/>
                <a:uLnTx/>
                <a:uFillTx/>
                <a:latin typeface="Cambria"/>
                <a:ea typeface="+mn-ea"/>
                <a:cs typeface="Cambria"/>
              </a:rPr>
              <a:t> </a:t>
            </a:r>
            <a:r>
              <a:rPr kumimoji="0" sz="2200" b="0" i="0" u="none" strike="noStrike" kern="1200" cap="none" spc="130" normalizeH="0" baseline="0" noProof="0" dirty="0">
                <a:ln>
                  <a:noFill/>
                </a:ln>
                <a:solidFill>
                  <a:srgbClr val="252525"/>
                </a:solidFill>
                <a:effectLst/>
                <a:uLnTx/>
                <a:uFillTx/>
                <a:latin typeface="Cambria"/>
                <a:ea typeface="+mn-ea"/>
                <a:cs typeface="Cambria"/>
              </a:rPr>
              <a:t>next.</a:t>
            </a:r>
            <a:endParaRPr kumimoji="0" sz="2200" b="0" i="0" u="none" strike="noStrike" kern="1200" cap="none" spc="0" normalizeH="0" baseline="0" noProof="0" dirty="0">
              <a:ln>
                <a:noFill/>
              </a:ln>
              <a:solidFill>
                <a:prstClr val="black"/>
              </a:solidFill>
              <a:effectLst/>
              <a:uLnTx/>
              <a:uFillTx/>
              <a:latin typeface="Cambria"/>
              <a:ea typeface="+mn-ea"/>
              <a:cs typeface="Cambria"/>
            </a:endParaRPr>
          </a:p>
          <a:p>
            <a:pPr marL="0" marR="292735" lvl="0" indent="0" algn="r" defTabSz="914400" rtl="0" eaLnBrk="1" fontAlgn="auto" latinLnBrk="0" hangingPunct="1">
              <a:lnSpc>
                <a:spcPct val="100000"/>
              </a:lnSpc>
              <a:spcBef>
                <a:spcPts val="600"/>
              </a:spcBef>
              <a:spcAft>
                <a:spcPts val="0"/>
              </a:spcAft>
              <a:buClrTx/>
              <a:buSzTx/>
              <a:buFontTx/>
              <a:buNone/>
              <a:tabLst/>
              <a:defRPr/>
            </a:pPr>
            <a:r>
              <a:rPr kumimoji="0" sz="1100" b="0" i="0" u="none" strike="noStrike" kern="1200" cap="none" spc="45" normalizeH="0" baseline="0" noProof="0" dirty="0">
                <a:ln>
                  <a:noFill/>
                </a:ln>
                <a:solidFill>
                  <a:srgbClr val="585858"/>
                </a:solidFill>
                <a:effectLst/>
                <a:uLnTx/>
                <a:uFillTx/>
                <a:latin typeface="Cambria"/>
                <a:ea typeface="+mn-ea"/>
                <a:cs typeface="Cambria"/>
              </a:rPr>
              <a:t>March</a:t>
            </a:r>
            <a:r>
              <a:rPr kumimoji="0" sz="1100" b="0" i="0" u="none" strike="noStrike" kern="1200" cap="none" spc="0" normalizeH="0" baseline="0" noProof="0" dirty="0">
                <a:ln>
                  <a:noFill/>
                </a:ln>
                <a:solidFill>
                  <a:srgbClr val="585858"/>
                </a:solidFill>
                <a:effectLst/>
                <a:uLnTx/>
                <a:uFillTx/>
                <a:latin typeface="Cambria"/>
                <a:ea typeface="+mn-ea"/>
                <a:cs typeface="Cambria"/>
              </a:rPr>
              <a:t> </a:t>
            </a:r>
            <a:r>
              <a:rPr kumimoji="0" sz="1100" b="0" i="0" u="none" strike="noStrike" kern="1200" cap="none" spc="25" normalizeH="0" baseline="0" noProof="0" dirty="0">
                <a:ln>
                  <a:noFill/>
                </a:ln>
                <a:solidFill>
                  <a:srgbClr val="585858"/>
                </a:solidFill>
                <a:effectLst/>
                <a:uLnTx/>
                <a:uFillTx/>
                <a:latin typeface="Cambria"/>
                <a:ea typeface="+mn-ea"/>
                <a:cs typeface="Cambria"/>
              </a:rPr>
              <a:t>28,</a:t>
            </a:r>
            <a:r>
              <a:rPr kumimoji="0" sz="1100" b="0" i="0" u="none" strike="noStrike" kern="1200" cap="none" spc="5" normalizeH="0" baseline="0" noProof="0" dirty="0">
                <a:ln>
                  <a:noFill/>
                </a:ln>
                <a:solidFill>
                  <a:srgbClr val="585858"/>
                </a:solidFill>
                <a:effectLst/>
                <a:uLnTx/>
                <a:uFillTx/>
                <a:latin typeface="Cambria"/>
                <a:ea typeface="+mn-ea"/>
                <a:cs typeface="Cambria"/>
              </a:rPr>
              <a:t> </a:t>
            </a:r>
            <a:r>
              <a:rPr kumimoji="0" sz="1100" b="0" i="0" u="none" strike="noStrike" kern="1200" cap="none" spc="-10" normalizeH="0" baseline="0" noProof="0" dirty="0">
                <a:ln>
                  <a:noFill/>
                </a:ln>
                <a:solidFill>
                  <a:srgbClr val="585858"/>
                </a:solidFill>
                <a:effectLst/>
                <a:uLnTx/>
                <a:uFillTx/>
                <a:latin typeface="Cambria"/>
                <a:ea typeface="+mn-ea"/>
                <a:cs typeface="Cambria"/>
              </a:rPr>
              <a:t>2022</a:t>
            </a:r>
            <a:endParaRPr kumimoji="0" sz="1100" b="0" i="0" u="none" strike="noStrike" kern="1200" cap="none" spc="0" normalizeH="0" baseline="0" noProof="0" dirty="0">
              <a:ln>
                <a:noFill/>
              </a:ln>
              <a:solidFill>
                <a:prstClr val="black"/>
              </a:solidFill>
              <a:effectLst/>
              <a:uLnTx/>
              <a:uFillTx/>
              <a:latin typeface="Cambria"/>
              <a:ea typeface="+mn-ea"/>
              <a:cs typeface="Cambria"/>
            </a:endParaRPr>
          </a:p>
        </p:txBody>
      </p:sp>
      <p:sp>
        <p:nvSpPr>
          <p:cNvPr id="9" name="object 9"/>
          <p:cNvSpPr txBox="1"/>
          <p:nvPr/>
        </p:nvSpPr>
        <p:spPr>
          <a:xfrm>
            <a:off x="11509375" y="339597"/>
            <a:ext cx="217804" cy="2393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0" i="0" u="none" strike="noStrike" kern="1200" cap="none" spc="-20" normalizeH="0" baseline="0" noProof="0" dirty="0">
                <a:ln>
                  <a:noFill/>
                </a:ln>
                <a:solidFill>
                  <a:srgbClr val="FFFFFF"/>
                </a:solidFill>
                <a:effectLst/>
                <a:uLnTx/>
                <a:uFillTx/>
                <a:latin typeface="Cambria"/>
                <a:ea typeface="+mn-ea"/>
                <a:cs typeface="Cambria"/>
              </a:rPr>
              <a:t>64</a:t>
            </a:r>
            <a:endParaRPr kumimoji="0" sz="1400" b="0" i="0" u="none" strike="noStrike" kern="1200" cap="none" spc="0" normalizeH="0" baseline="0" noProof="0">
              <a:ln>
                <a:noFill/>
              </a:ln>
              <a:solidFill>
                <a:prstClr val="black"/>
              </a:solidFill>
              <a:effectLst/>
              <a:uLnTx/>
              <a:uFillTx/>
              <a:latin typeface="Cambria"/>
              <a:ea typeface="+mn-ea"/>
              <a:cs typeface="Cambria"/>
            </a:endParaRPr>
          </a:p>
        </p:txBody>
      </p:sp>
      <p:pic>
        <p:nvPicPr>
          <p:cNvPr id="10" name="object 10"/>
          <p:cNvPicPr/>
          <p:nvPr/>
        </p:nvPicPr>
        <p:blipFill>
          <a:blip r:embed="rId2" cstate="print"/>
          <a:stretch>
            <a:fillRect/>
          </a:stretch>
        </p:blipFill>
        <p:spPr>
          <a:xfrm>
            <a:off x="1751076" y="731519"/>
            <a:ext cx="7187183" cy="3432048"/>
          </a:xfrm>
          <a:prstGeom prst="rect">
            <a:avLst/>
          </a:prstGeom>
        </p:spPr>
      </p:pic>
      <p:sp>
        <p:nvSpPr>
          <p:cNvPr id="3" name="object 5">
            <a:extLst>
              <a:ext uri="{FF2B5EF4-FFF2-40B4-BE49-F238E27FC236}">
                <a16:creationId xmlns:a16="http://schemas.microsoft.com/office/drawing/2014/main" id="{819B6E74-2E3C-120E-98F0-5C9B06CCFCEB}"/>
              </a:ext>
            </a:extLst>
          </p:cNvPr>
          <p:cNvSpPr txBox="1">
            <a:spLocks/>
          </p:cNvSpPr>
          <p:nvPr/>
        </p:nvSpPr>
        <p:spPr>
          <a:xfrm>
            <a:off x="365556" y="35889"/>
            <a:ext cx="9917057" cy="694207"/>
          </a:xfrm>
          <a:prstGeom prst="rect">
            <a:avLst/>
          </a:prstGeom>
        </p:spPr>
        <p:txBody>
          <a:bodyPr vert="horz" wrap="square" lIns="0" tIns="16933"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6933">
              <a:lnSpc>
                <a:spcPct val="100000"/>
              </a:lnSpc>
              <a:spcBef>
                <a:spcPts val="133"/>
              </a:spcBef>
            </a:pPr>
            <a:r>
              <a:rPr lang="en-US" spc="133">
                <a:solidFill>
                  <a:srgbClr val="1A1A1A"/>
                </a:solidFill>
                <a:latin typeface="Trebuchet MS"/>
                <a:cs typeface="Trebuchet MS"/>
              </a:rPr>
              <a:t>R</a:t>
            </a:r>
            <a:r>
              <a:rPr lang="en-US" spc="13">
                <a:solidFill>
                  <a:srgbClr val="1A1A1A"/>
                </a:solidFill>
                <a:latin typeface="Trebuchet MS"/>
                <a:cs typeface="Trebuchet MS"/>
              </a:rPr>
              <a:t>ecur</a:t>
            </a:r>
            <a:r>
              <a:rPr lang="en-US" spc="-13">
                <a:solidFill>
                  <a:srgbClr val="1A1A1A"/>
                </a:solidFill>
                <a:latin typeface="Trebuchet MS"/>
                <a:cs typeface="Trebuchet MS"/>
              </a:rPr>
              <a:t>r</a:t>
            </a:r>
            <a:r>
              <a:rPr lang="en-US" spc="67">
                <a:solidFill>
                  <a:srgbClr val="1A1A1A"/>
                </a:solidFill>
                <a:latin typeface="Trebuchet MS"/>
                <a:cs typeface="Trebuchet MS"/>
              </a:rPr>
              <a:t>e</a:t>
            </a:r>
            <a:r>
              <a:rPr lang="en-US" spc="53">
                <a:solidFill>
                  <a:srgbClr val="1A1A1A"/>
                </a:solidFill>
                <a:latin typeface="Trebuchet MS"/>
                <a:cs typeface="Trebuchet MS"/>
              </a:rPr>
              <a:t>n</a:t>
            </a:r>
            <a:r>
              <a:rPr lang="en-US" spc="-47">
                <a:solidFill>
                  <a:srgbClr val="1A1A1A"/>
                </a:solidFill>
                <a:latin typeface="Trebuchet MS"/>
                <a:cs typeface="Trebuchet MS"/>
              </a:rPr>
              <a:t>t</a:t>
            </a:r>
            <a:r>
              <a:rPr lang="en-US" spc="-233">
                <a:solidFill>
                  <a:srgbClr val="1A1A1A"/>
                </a:solidFill>
                <a:latin typeface="Trebuchet MS"/>
                <a:cs typeface="Trebuchet MS"/>
              </a:rPr>
              <a:t> </a:t>
            </a:r>
            <a:r>
              <a:rPr lang="en-US" spc="320">
                <a:solidFill>
                  <a:srgbClr val="1A1A1A"/>
                </a:solidFill>
                <a:latin typeface="Trebuchet MS"/>
                <a:cs typeface="Trebuchet MS"/>
              </a:rPr>
              <a:t>N</a:t>
            </a:r>
            <a:r>
              <a:rPr lang="en-US" spc="13">
                <a:solidFill>
                  <a:srgbClr val="1A1A1A"/>
                </a:solidFill>
                <a:latin typeface="Trebuchet MS"/>
                <a:cs typeface="Trebuchet MS"/>
              </a:rPr>
              <a:t>eu</a:t>
            </a:r>
            <a:r>
              <a:rPr lang="en-US" spc="-7">
                <a:solidFill>
                  <a:srgbClr val="1A1A1A"/>
                </a:solidFill>
                <a:latin typeface="Trebuchet MS"/>
                <a:cs typeface="Trebuchet MS"/>
              </a:rPr>
              <a:t>r</a:t>
            </a:r>
            <a:r>
              <a:rPr lang="en-US" spc="113">
                <a:solidFill>
                  <a:srgbClr val="1A1A1A"/>
                </a:solidFill>
                <a:latin typeface="Trebuchet MS"/>
                <a:cs typeface="Trebuchet MS"/>
              </a:rPr>
              <a:t>al</a:t>
            </a:r>
            <a:r>
              <a:rPr lang="en-US" spc="-327">
                <a:solidFill>
                  <a:srgbClr val="1A1A1A"/>
                </a:solidFill>
                <a:latin typeface="Trebuchet MS"/>
                <a:cs typeface="Trebuchet MS"/>
              </a:rPr>
              <a:t> </a:t>
            </a:r>
            <a:r>
              <a:rPr lang="en-US" spc="320">
                <a:solidFill>
                  <a:srgbClr val="1A1A1A"/>
                </a:solidFill>
                <a:latin typeface="Trebuchet MS"/>
                <a:cs typeface="Trebuchet MS"/>
              </a:rPr>
              <a:t>N</a:t>
            </a:r>
            <a:r>
              <a:rPr lang="en-US" spc="67">
                <a:solidFill>
                  <a:srgbClr val="1A1A1A"/>
                </a:solidFill>
                <a:latin typeface="Trebuchet MS"/>
                <a:cs typeface="Trebuchet MS"/>
              </a:rPr>
              <a:t>e</a:t>
            </a:r>
            <a:r>
              <a:rPr lang="en-US" spc="-53">
                <a:solidFill>
                  <a:srgbClr val="1A1A1A"/>
                </a:solidFill>
                <a:latin typeface="Trebuchet MS"/>
                <a:cs typeface="Trebuchet MS"/>
              </a:rPr>
              <a:t>t</a:t>
            </a:r>
            <a:r>
              <a:rPr lang="en-US" spc="133">
                <a:solidFill>
                  <a:srgbClr val="1A1A1A"/>
                </a:solidFill>
                <a:latin typeface="Trebuchet MS"/>
                <a:cs typeface="Trebuchet MS"/>
              </a:rPr>
              <a:t>w</a:t>
            </a:r>
            <a:r>
              <a:rPr lang="en-US" spc="7">
                <a:solidFill>
                  <a:srgbClr val="1A1A1A"/>
                </a:solidFill>
                <a:latin typeface="Trebuchet MS"/>
                <a:cs typeface="Trebuchet MS"/>
              </a:rPr>
              <a:t>or</a:t>
            </a:r>
            <a:r>
              <a:rPr lang="en-US" spc="-7">
                <a:solidFill>
                  <a:srgbClr val="1A1A1A"/>
                </a:solidFill>
                <a:latin typeface="Trebuchet MS"/>
                <a:cs typeface="Trebuchet MS"/>
              </a:rPr>
              <a:t>k</a:t>
            </a:r>
            <a:r>
              <a:rPr lang="en-US" spc="233">
                <a:solidFill>
                  <a:srgbClr val="1A1A1A"/>
                </a:solidFill>
                <a:latin typeface="Trebuchet MS"/>
                <a:cs typeface="Trebuchet MS"/>
              </a:rPr>
              <a:t>s</a:t>
            </a:r>
            <a:r>
              <a:rPr lang="en-US" spc="-233">
                <a:solidFill>
                  <a:srgbClr val="1A1A1A"/>
                </a:solidFill>
                <a:latin typeface="Trebuchet MS"/>
                <a:cs typeface="Trebuchet MS"/>
              </a:rPr>
              <a:t> </a:t>
            </a:r>
            <a:r>
              <a:rPr lang="en-US" spc="93">
                <a:solidFill>
                  <a:srgbClr val="1A1A1A"/>
                </a:solidFill>
                <a:latin typeface="Trebuchet MS"/>
                <a:cs typeface="Trebuchet MS"/>
              </a:rPr>
              <a:t>(RNN)</a:t>
            </a:r>
            <a:endParaRPr lang="en-US" spc="93" dirty="0">
              <a:solidFill>
                <a:srgbClr val="1A1A1A"/>
              </a:solidFill>
              <a:latin typeface="Trebuchet MS"/>
              <a:cs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743508" y="802284"/>
            <a:ext cx="9918065" cy="2326005"/>
          </a:xfrm>
          <a:prstGeom prst="rect">
            <a:avLst/>
          </a:prstGeom>
        </p:spPr>
        <p:txBody>
          <a:bodyPr vert="horz" wrap="square" lIns="0" tIns="12700" rIns="0" bIns="0" rtlCol="0">
            <a:spAutoFit/>
          </a:bodyPr>
          <a:lstStyle/>
          <a:p>
            <a:pPr marL="355600" marR="5080" lvl="0" indent="-342900" algn="l" defTabSz="914400" rtl="0" eaLnBrk="1" fontAlgn="auto" latinLnBrk="0" hangingPunct="1">
              <a:lnSpc>
                <a:spcPct val="150000"/>
              </a:lnSpc>
              <a:spcBef>
                <a:spcPts val="100"/>
              </a:spcBef>
              <a:spcAft>
                <a:spcPts val="0"/>
              </a:spcAft>
              <a:buClr>
                <a:srgbClr val="4189B3"/>
              </a:buClr>
              <a:buSzPct val="75000"/>
              <a:buFont typeface="Arial" panose="020B0604020202020204" pitchFamily="34" charset="0"/>
              <a:buChar char="•"/>
              <a:tabLst>
                <a:tab pos="241300" algn="l"/>
                <a:tab pos="1016635" algn="l"/>
                <a:tab pos="1416050" algn="l"/>
                <a:tab pos="2143125" algn="l"/>
                <a:tab pos="2591435" algn="l"/>
                <a:tab pos="4147820" algn="l"/>
                <a:tab pos="5062220" algn="l"/>
                <a:tab pos="6639559" algn="l"/>
                <a:tab pos="7891145" algn="l"/>
                <a:tab pos="8339455" algn="l"/>
                <a:tab pos="8846820" algn="l"/>
              </a:tabLst>
              <a:defRPr/>
            </a:pPr>
            <a:r>
              <a:rPr kumimoji="0" sz="2200" b="0" i="0" u="none" strike="noStrike" kern="1200" cap="none" spc="130" normalizeH="0" baseline="0" noProof="0" dirty="0">
                <a:ln>
                  <a:noFill/>
                </a:ln>
                <a:solidFill>
                  <a:srgbClr val="252525"/>
                </a:solidFill>
                <a:effectLst/>
                <a:uLnTx/>
                <a:uFillTx/>
                <a:latin typeface="Cambria"/>
                <a:ea typeface="+mn-ea"/>
                <a:cs typeface="Cambria"/>
              </a:rPr>
              <a:t>RN</a:t>
            </a:r>
            <a:r>
              <a:rPr kumimoji="0" sz="2200" b="0" i="0" u="none" strike="noStrike" kern="1200" cap="none" spc="150" normalizeH="0" baseline="0" noProof="0" dirty="0">
                <a:ln>
                  <a:noFill/>
                </a:ln>
                <a:solidFill>
                  <a:srgbClr val="252525"/>
                </a:solidFill>
                <a:effectLst/>
                <a:uLnTx/>
                <a:uFillTx/>
                <a:latin typeface="Cambria"/>
                <a:ea typeface="+mn-ea"/>
                <a:cs typeface="Cambria"/>
              </a:rPr>
              <a:t>N</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90" normalizeH="0" baseline="0" noProof="0" dirty="0">
                <a:ln>
                  <a:noFill/>
                </a:ln>
                <a:solidFill>
                  <a:srgbClr val="252525"/>
                </a:solidFill>
                <a:effectLst/>
                <a:uLnTx/>
                <a:uFillTx/>
                <a:latin typeface="Cambria"/>
                <a:ea typeface="+mn-ea"/>
                <a:cs typeface="Cambria"/>
              </a:rPr>
              <a:t>i</a:t>
            </a:r>
            <a:r>
              <a:rPr kumimoji="0" sz="2200" b="0" i="0" u="none" strike="noStrike" kern="1200" cap="none" spc="135" normalizeH="0" baseline="0" noProof="0" dirty="0">
                <a:ln>
                  <a:noFill/>
                </a:ln>
                <a:solidFill>
                  <a:srgbClr val="252525"/>
                </a:solidFill>
                <a:effectLst/>
                <a:uLnTx/>
                <a:uFillTx/>
                <a:latin typeface="Cambria"/>
                <a:ea typeface="+mn-ea"/>
                <a:cs typeface="Cambria"/>
              </a:rPr>
              <a:t>s</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120" normalizeH="0" baseline="0" noProof="0" dirty="0">
                <a:ln>
                  <a:noFill/>
                </a:ln>
                <a:solidFill>
                  <a:srgbClr val="252525"/>
                </a:solidFill>
                <a:effectLst/>
                <a:uLnTx/>
                <a:uFillTx/>
                <a:latin typeface="Cambria"/>
                <a:ea typeface="+mn-ea"/>
                <a:cs typeface="Cambria"/>
              </a:rPr>
              <a:t>a</a:t>
            </a:r>
            <a:r>
              <a:rPr kumimoji="0" sz="2200" b="0" i="0" u="none" strike="noStrike" kern="1200" cap="none" spc="140" normalizeH="0" baseline="0" noProof="0" dirty="0">
                <a:ln>
                  <a:noFill/>
                </a:ln>
                <a:solidFill>
                  <a:srgbClr val="252525"/>
                </a:solidFill>
                <a:effectLst/>
                <a:uLnTx/>
                <a:uFillTx/>
                <a:latin typeface="Cambria"/>
                <a:ea typeface="+mn-ea"/>
                <a:cs typeface="Cambria"/>
              </a:rPr>
              <a:t>b</a:t>
            </a:r>
            <a:r>
              <a:rPr kumimoji="0" sz="2200" b="0" i="0" u="none" strike="noStrike" kern="1200" cap="none" spc="55" normalizeH="0" baseline="0" noProof="0" dirty="0">
                <a:ln>
                  <a:noFill/>
                </a:ln>
                <a:solidFill>
                  <a:srgbClr val="252525"/>
                </a:solidFill>
                <a:effectLst/>
                <a:uLnTx/>
                <a:uFillTx/>
                <a:latin typeface="Cambria"/>
                <a:ea typeface="+mn-ea"/>
                <a:cs typeface="Cambria"/>
              </a:rPr>
              <a:t>l</a:t>
            </a:r>
            <a:r>
              <a:rPr kumimoji="0" sz="2200" b="0" i="0" u="none" strike="noStrike" kern="1200" cap="none" spc="114" normalizeH="0" baseline="0" noProof="0" dirty="0">
                <a:ln>
                  <a:noFill/>
                </a:ln>
                <a:solidFill>
                  <a:srgbClr val="252525"/>
                </a:solidFill>
                <a:effectLst/>
                <a:uLnTx/>
                <a:uFillTx/>
                <a:latin typeface="Cambria"/>
                <a:ea typeface="+mn-ea"/>
                <a:cs typeface="Cambria"/>
              </a:rPr>
              <a:t>e</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120" normalizeH="0" baseline="0" noProof="0" dirty="0">
                <a:ln>
                  <a:noFill/>
                </a:ln>
                <a:solidFill>
                  <a:srgbClr val="252525"/>
                </a:solidFill>
                <a:effectLst/>
                <a:uLnTx/>
                <a:uFillTx/>
                <a:latin typeface="Cambria"/>
                <a:ea typeface="+mn-ea"/>
                <a:cs typeface="Cambria"/>
              </a:rPr>
              <a:t>t</a:t>
            </a:r>
            <a:r>
              <a:rPr kumimoji="0" sz="2200" b="0" i="0" u="none" strike="noStrike" kern="1200" cap="none" spc="165" normalizeH="0" baseline="0" noProof="0" dirty="0">
                <a:ln>
                  <a:noFill/>
                </a:ln>
                <a:solidFill>
                  <a:srgbClr val="252525"/>
                </a:solidFill>
                <a:effectLst/>
                <a:uLnTx/>
                <a:uFillTx/>
                <a:latin typeface="Cambria"/>
                <a:ea typeface="+mn-ea"/>
                <a:cs typeface="Cambria"/>
              </a:rPr>
              <a:t>o</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125" normalizeH="0" baseline="0" noProof="0" dirty="0">
                <a:ln>
                  <a:noFill/>
                </a:ln>
                <a:solidFill>
                  <a:srgbClr val="FF0066"/>
                </a:solidFill>
                <a:effectLst/>
                <a:uLnTx/>
                <a:uFillTx/>
                <a:latin typeface="Cambria"/>
                <a:ea typeface="+mn-ea"/>
                <a:cs typeface="Cambria"/>
              </a:rPr>
              <a:t>rem</a:t>
            </a:r>
            <a:r>
              <a:rPr kumimoji="0" sz="2200" b="0" i="0" u="none" strike="noStrike" kern="1200" cap="none" spc="95" normalizeH="0" baseline="0" noProof="0" dirty="0">
                <a:ln>
                  <a:noFill/>
                </a:ln>
                <a:solidFill>
                  <a:srgbClr val="FF0066"/>
                </a:solidFill>
                <a:effectLst/>
                <a:uLnTx/>
                <a:uFillTx/>
                <a:latin typeface="Cambria"/>
                <a:ea typeface="+mn-ea"/>
                <a:cs typeface="Cambria"/>
              </a:rPr>
              <a:t>e</a:t>
            </a:r>
            <a:r>
              <a:rPr kumimoji="0" sz="2200" b="0" i="0" u="none" strike="noStrike" kern="1200" cap="none" spc="250" normalizeH="0" baseline="0" noProof="0" dirty="0">
                <a:ln>
                  <a:noFill/>
                </a:ln>
                <a:solidFill>
                  <a:srgbClr val="FF0066"/>
                </a:solidFill>
                <a:effectLst/>
                <a:uLnTx/>
                <a:uFillTx/>
                <a:latin typeface="Cambria"/>
                <a:ea typeface="+mn-ea"/>
                <a:cs typeface="Cambria"/>
              </a:rPr>
              <a:t>m</a:t>
            </a:r>
            <a:r>
              <a:rPr kumimoji="0" sz="2200" b="0" i="0" u="none" strike="noStrike" kern="1200" cap="none" spc="95" normalizeH="0" baseline="0" noProof="0" dirty="0">
                <a:ln>
                  <a:noFill/>
                </a:ln>
                <a:solidFill>
                  <a:srgbClr val="FF0066"/>
                </a:solidFill>
                <a:effectLst/>
                <a:uLnTx/>
                <a:uFillTx/>
                <a:latin typeface="Cambria"/>
                <a:ea typeface="+mn-ea"/>
                <a:cs typeface="Cambria"/>
              </a:rPr>
              <a:t>be</a:t>
            </a:r>
            <a:r>
              <a:rPr kumimoji="0" sz="2200" b="0" i="0" u="none" strike="noStrike" kern="1200" cap="none" spc="80" normalizeH="0" baseline="0" noProof="0" dirty="0">
                <a:ln>
                  <a:noFill/>
                </a:ln>
                <a:solidFill>
                  <a:srgbClr val="FF0066"/>
                </a:solidFill>
                <a:effectLst/>
                <a:uLnTx/>
                <a:uFillTx/>
                <a:latin typeface="Cambria"/>
                <a:ea typeface="+mn-ea"/>
                <a:cs typeface="Cambria"/>
              </a:rPr>
              <a:t>r</a:t>
            </a:r>
            <a:r>
              <a:rPr kumimoji="0" sz="2200" b="0" i="0" u="none" strike="noStrike" kern="1200" cap="none" spc="0" normalizeH="0" baseline="0" noProof="0" dirty="0">
                <a:ln>
                  <a:noFill/>
                </a:ln>
                <a:solidFill>
                  <a:srgbClr val="FF0066"/>
                </a:solidFill>
                <a:effectLst/>
                <a:uLnTx/>
                <a:uFillTx/>
                <a:latin typeface="Cambria"/>
                <a:ea typeface="+mn-ea"/>
                <a:cs typeface="Cambria"/>
              </a:rPr>
              <a:t>	</a:t>
            </a:r>
            <a:r>
              <a:rPr kumimoji="0" sz="2200" b="0" i="0" u="none" strike="noStrike" kern="1200" cap="none" spc="110" normalizeH="0" baseline="0" noProof="0" dirty="0">
                <a:ln>
                  <a:noFill/>
                </a:ln>
                <a:solidFill>
                  <a:srgbClr val="252525"/>
                </a:solidFill>
                <a:effectLst/>
                <a:uLnTx/>
                <a:uFillTx/>
                <a:latin typeface="Cambria"/>
                <a:ea typeface="+mn-ea"/>
                <a:cs typeface="Cambria"/>
              </a:rPr>
              <a:t>t</a:t>
            </a:r>
            <a:r>
              <a:rPr kumimoji="0" sz="2200" b="0" i="0" u="none" strike="noStrike" kern="1200" cap="none" spc="180" normalizeH="0" baseline="0" noProof="0" dirty="0">
                <a:ln>
                  <a:noFill/>
                </a:ln>
                <a:solidFill>
                  <a:srgbClr val="252525"/>
                </a:solidFill>
                <a:effectLst/>
                <a:uLnTx/>
                <a:uFillTx/>
                <a:latin typeface="Cambria"/>
                <a:ea typeface="+mn-ea"/>
                <a:cs typeface="Cambria"/>
              </a:rPr>
              <a:t>h</a:t>
            </a:r>
            <a:r>
              <a:rPr kumimoji="0" sz="2200" b="0" i="0" u="none" strike="noStrike" kern="1200" cap="none" spc="135" normalizeH="0" baseline="0" noProof="0" dirty="0">
                <a:ln>
                  <a:noFill/>
                </a:ln>
                <a:solidFill>
                  <a:srgbClr val="252525"/>
                </a:solidFill>
                <a:effectLst/>
                <a:uLnTx/>
                <a:uFillTx/>
                <a:latin typeface="Cambria"/>
                <a:ea typeface="+mn-ea"/>
                <a:cs typeface="Cambria"/>
              </a:rPr>
              <a:t>ose</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120" normalizeH="0" baseline="0" noProof="0" dirty="0">
                <a:ln>
                  <a:noFill/>
                </a:ln>
                <a:solidFill>
                  <a:srgbClr val="FF0066"/>
                </a:solidFill>
                <a:effectLst/>
                <a:uLnTx/>
                <a:uFillTx/>
                <a:latin typeface="Cambria"/>
                <a:ea typeface="+mn-ea"/>
                <a:cs typeface="Cambria"/>
              </a:rPr>
              <a:t>char</a:t>
            </a:r>
            <a:r>
              <a:rPr kumimoji="0" sz="2200" b="0" i="0" u="none" strike="noStrike" kern="1200" cap="none" spc="130" normalizeH="0" baseline="0" noProof="0" dirty="0">
                <a:ln>
                  <a:noFill/>
                </a:ln>
                <a:solidFill>
                  <a:srgbClr val="FF0066"/>
                </a:solidFill>
                <a:effectLst/>
                <a:uLnTx/>
                <a:uFillTx/>
                <a:latin typeface="Cambria"/>
                <a:ea typeface="+mn-ea"/>
                <a:cs typeface="Cambria"/>
              </a:rPr>
              <a:t>a</a:t>
            </a:r>
            <a:r>
              <a:rPr kumimoji="0" sz="2200" b="0" i="0" u="none" strike="noStrike" kern="1200" cap="none" spc="110" normalizeH="0" baseline="0" noProof="0" dirty="0">
                <a:ln>
                  <a:noFill/>
                </a:ln>
                <a:solidFill>
                  <a:srgbClr val="FF0066"/>
                </a:solidFill>
                <a:effectLst/>
                <a:uLnTx/>
                <a:uFillTx/>
                <a:latin typeface="Cambria"/>
                <a:ea typeface="+mn-ea"/>
                <a:cs typeface="Cambria"/>
              </a:rPr>
              <a:t>cters</a:t>
            </a:r>
            <a:r>
              <a:rPr kumimoji="0" sz="2200" b="0" i="0" u="none" strike="noStrike" kern="1200" cap="none" spc="0" normalizeH="0" baseline="0" noProof="0" dirty="0">
                <a:ln>
                  <a:noFill/>
                </a:ln>
                <a:solidFill>
                  <a:srgbClr val="FF0066"/>
                </a:solidFill>
                <a:effectLst/>
                <a:uLnTx/>
                <a:uFillTx/>
                <a:latin typeface="Cambria"/>
                <a:ea typeface="+mn-ea"/>
                <a:cs typeface="Cambria"/>
              </a:rPr>
              <a:t>	</a:t>
            </a:r>
            <a:r>
              <a:rPr kumimoji="0" sz="2200" b="0" i="0" u="none" strike="noStrike" kern="1200" cap="none" spc="114" normalizeH="0" baseline="0" noProof="0" dirty="0">
                <a:ln>
                  <a:noFill/>
                </a:ln>
                <a:solidFill>
                  <a:srgbClr val="252525"/>
                </a:solidFill>
                <a:effectLst/>
                <a:uLnTx/>
                <a:uFillTx/>
                <a:latin typeface="Cambria"/>
                <a:ea typeface="+mn-ea"/>
                <a:cs typeface="Cambria"/>
              </a:rPr>
              <a:t>be</a:t>
            </a:r>
            <a:r>
              <a:rPr kumimoji="0" sz="2200" b="0" i="0" u="none" strike="noStrike" kern="1200" cap="none" spc="135" normalizeH="0" baseline="0" noProof="0" dirty="0">
                <a:ln>
                  <a:noFill/>
                </a:ln>
                <a:solidFill>
                  <a:srgbClr val="252525"/>
                </a:solidFill>
                <a:effectLst/>
                <a:uLnTx/>
                <a:uFillTx/>
                <a:latin typeface="Cambria"/>
                <a:ea typeface="+mn-ea"/>
                <a:cs typeface="Cambria"/>
              </a:rPr>
              <a:t>ca</a:t>
            </a:r>
            <a:r>
              <a:rPr kumimoji="0" sz="2200" b="0" i="0" u="none" strike="noStrike" kern="1200" cap="none" spc="165" normalizeH="0" baseline="0" noProof="0" dirty="0">
                <a:ln>
                  <a:noFill/>
                </a:ln>
                <a:solidFill>
                  <a:srgbClr val="252525"/>
                </a:solidFill>
                <a:effectLst/>
                <a:uLnTx/>
                <a:uFillTx/>
                <a:latin typeface="Cambria"/>
                <a:ea typeface="+mn-ea"/>
                <a:cs typeface="Cambria"/>
              </a:rPr>
              <a:t>u</a:t>
            </a:r>
            <a:r>
              <a:rPr kumimoji="0" sz="2200" b="0" i="0" u="none" strike="noStrike" kern="1200" cap="none" spc="125" normalizeH="0" baseline="0" noProof="0" dirty="0">
                <a:ln>
                  <a:noFill/>
                </a:ln>
                <a:solidFill>
                  <a:srgbClr val="252525"/>
                </a:solidFill>
                <a:effectLst/>
                <a:uLnTx/>
                <a:uFillTx/>
                <a:latin typeface="Cambria"/>
                <a:ea typeface="+mn-ea"/>
                <a:cs typeface="Cambria"/>
              </a:rPr>
              <a:t>se</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215" normalizeH="0" baseline="0" noProof="0" dirty="0">
                <a:ln>
                  <a:noFill/>
                </a:ln>
                <a:solidFill>
                  <a:srgbClr val="252525"/>
                </a:solidFill>
                <a:effectLst/>
                <a:uLnTx/>
                <a:uFillTx/>
                <a:latin typeface="Cambria"/>
                <a:ea typeface="+mn-ea"/>
                <a:cs typeface="Cambria"/>
              </a:rPr>
              <a:t>o</a:t>
            </a:r>
            <a:r>
              <a:rPr kumimoji="0" sz="2200" b="0" i="0" u="none" strike="noStrike" kern="1200" cap="none" spc="135" normalizeH="0" baseline="0" noProof="0" dirty="0">
                <a:ln>
                  <a:noFill/>
                </a:ln>
                <a:solidFill>
                  <a:srgbClr val="252525"/>
                </a:solidFill>
                <a:effectLst/>
                <a:uLnTx/>
                <a:uFillTx/>
                <a:latin typeface="Cambria"/>
                <a:ea typeface="+mn-ea"/>
                <a:cs typeface="Cambria"/>
              </a:rPr>
              <a:t>f</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65" normalizeH="0" baseline="0" noProof="0" dirty="0">
                <a:ln>
                  <a:noFill/>
                </a:ln>
                <a:solidFill>
                  <a:srgbClr val="252525"/>
                </a:solidFill>
                <a:effectLst/>
                <a:uLnTx/>
                <a:uFillTx/>
                <a:latin typeface="Cambria"/>
                <a:ea typeface="+mn-ea"/>
                <a:cs typeface="Cambria"/>
              </a:rPr>
              <a:t>i</a:t>
            </a:r>
            <a:r>
              <a:rPr kumimoji="0" sz="2200" b="0" i="0" u="none" strike="noStrike" kern="1200" cap="none" spc="135" normalizeH="0" baseline="0" noProof="0" dirty="0">
                <a:ln>
                  <a:noFill/>
                </a:ln>
                <a:solidFill>
                  <a:srgbClr val="252525"/>
                </a:solidFill>
                <a:effectLst/>
                <a:uLnTx/>
                <a:uFillTx/>
                <a:latin typeface="Cambria"/>
                <a:ea typeface="+mn-ea"/>
                <a:cs typeface="Cambria"/>
              </a:rPr>
              <a:t>ts</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65" normalizeH="0" baseline="0" noProof="0" dirty="0">
                <a:ln>
                  <a:noFill/>
                </a:ln>
                <a:solidFill>
                  <a:srgbClr val="FF0066"/>
                </a:solidFill>
                <a:effectLst/>
                <a:uLnTx/>
                <a:uFillTx/>
                <a:latin typeface="Cambria"/>
                <a:ea typeface="+mn-ea"/>
                <a:cs typeface="Cambria"/>
              </a:rPr>
              <a:t>i</a:t>
            </a:r>
            <a:r>
              <a:rPr kumimoji="0" sz="2200" b="0" i="0" u="none" strike="noStrike" kern="1200" cap="none" spc="150" normalizeH="0" baseline="0" noProof="0" dirty="0">
                <a:ln>
                  <a:noFill/>
                </a:ln>
                <a:solidFill>
                  <a:srgbClr val="FF0066"/>
                </a:solidFill>
                <a:effectLst/>
                <a:uLnTx/>
                <a:uFillTx/>
                <a:latin typeface="Cambria"/>
                <a:ea typeface="+mn-ea"/>
                <a:cs typeface="Cambria"/>
              </a:rPr>
              <a:t>n</a:t>
            </a:r>
            <a:r>
              <a:rPr kumimoji="0" sz="2200" b="0" i="0" u="none" strike="noStrike" kern="1200" cap="none" spc="105" normalizeH="0" baseline="0" noProof="0" dirty="0">
                <a:ln>
                  <a:noFill/>
                </a:ln>
                <a:solidFill>
                  <a:srgbClr val="FF0066"/>
                </a:solidFill>
                <a:effectLst/>
                <a:uLnTx/>
                <a:uFillTx/>
                <a:latin typeface="Cambria"/>
                <a:ea typeface="+mn-ea"/>
                <a:cs typeface="Cambria"/>
              </a:rPr>
              <a:t>tern</a:t>
            </a:r>
            <a:r>
              <a:rPr kumimoji="0" sz="2200" b="0" i="0" u="none" strike="noStrike" kern="1200" cap="none" spc="120" normalizeH="0" baseline="0" noProof="0" dirty="0">
                <a:ln>
                  <a:noFill/>
                </a:ln>
                <a:solidFill>
                  <a:srgbClr val="FF0066"/>
                </a:solidFill>
                <a:effectLst/>
                <a:uLnTx/>
                <a:uFillTx/>
                <a:latin typeface="Cambria"/>
                <a:ea typeface="+mn-ea"/>
                <a:cs typeface="Cambria"/>
              </a:rPr>
              <a:t>a</a:t>
            </a:r>
            <a:r>
              <a:rPr kumimoji="0" sz="2200" b="0" i="0" u="none" strike="noStrike" kern="1200" cap="none" spc="75" normalizeH="0" baseline="0" noProof="0" dirty="0">
                <a:ln>
                  <a:noFill/>
                </a:ln>
                <a:solidFill>
                  <a:srgbClr val="FF0066"/>
                </a:solidFill>
                <a:effectLst/>
                <a:uLnTx/>
                <a:uFillTx/>
                <a:latin typeface="Cambria"/>
                <a:ea typeface="+mn-ea"/>
                <a:cs typeface="Cambria"/>
              </a:rPr>
              <a:t>l  </a:t>
            </a:r>
            <a:r>
              <a:rPr kumimoji="0" sz="2200" b="0" i="0" u="none" strike="noStrike" kern="1200" cap="none" spc="140" normalizeH="0" baseline="0" noProof="0" dirty="0">
                <a:ln>
                  <a:noFill/>
                </a:ln>
                <a:solidFill>
                  <a:srgbClr val="FF0066"/>
                </a:solidFill>
                <a:effectLst/>
                <a:uLnTx/>
                <a:uFillTx/>
                <a:latin typeface="Cambria"/>
                <a:ea typeface="+mn-ea"/>
                <a:cs typeface="Cambria"/>
              </a:rPr>
              <a:t>memory</a:t>
            </a:r>
            <a:r>
              <a:rPr kumimoji="0" sz="2200" b="0" i="0" u="none" strike="noStrike" kern="1200" cap="none" spc="140" normalizeH="0" baseline="0" noProof="0" dirty="0">
                <a:ln>
                  <a:noFill/>
                </a:ln>
                <a:solidFill>
                  <a:srgbClr val="252525"/>
                </a:solidFill>
                <a:effectLst/>
                <a:uLnTx/>
                <a:uFillTx/>
                <a:latin typeface="Cambria"/>
                <a:ea typeface="+mn-ea"/>
                <a:cs typeface="Cambria"/>
              </a:rPr>
              <a:t>.</a:t>
            </a:r>
            <a:endParaRPr kumimoji="0" sz="2200" b="0" i="0" u="none" strike="noStrike" kern="1200" cap="none" spc="0" normalizeH="0" baseline="0" noProof="0" dirty="0">
              <a:ln>
                <a:noFill/>
              </a:ln>
              <a:solidFill>
                <a:prstClr val="black"/>
              </a:solidFill>
              <a:effectLst/>
              <a:uLnTx/>
              <a:uFillTx/>
              <a:latin typeface="Cambria"/>
              <a:ea typeface="+mn-ea"/>
              <a:cs typeface="Cambria"/>
            </a:endParaRPr>
          </a:p>
          <a:p>
            <a:pPr marL="355600" marR="5715" lvl="0" indent="-342900" algn="l" defTabSz="914400" rtl="0" eaLnBrk="1" fontAlgn="auto" latinLnBrk="0" hangingPunct="1">
              <a:lnSpc>
                <a:spcPct val="160500"/>
              </a:lnSpc>
              <a:spcBef>
                <a:spcPts val="1714"/>
              </a:spcBef>
              <a:spcAft>
                <a:spcPts val="0"/>
              </a:spcAft>
              <a:buClr>
                <a:srgbClr val="4189B3"/>
              </a:buClr>
              <a:buSzPct val="75000"/>
              <a:buFont typeface="Arial" panose="020B0604020202020204" pitchFamily="34" charset="0"/>
              <a:buChar char="•"/>
              <a:tabLst>
                <a:tab pos="241300" algn="l"/>
                <a:tab pos="609600" algn="l"/>
                <a:tab pos="2030730" algn="l"/>
                <a:tab pos="3188970" algn="l"/>
                <a:tab pos="4218940" algn="l"/>
                <a:tab pos="4933950" algn="l"/>
                <a:tab pos="6019165" algn="l"/>
                <a:tab pos="6691630" algn="l"/>
                <a:tab pos="7601584" algn="l"/>
                <a:tab pos="7965440" algn="l"/>
                <a:tab pos="8764270" algn="l"/>
                <a:tab pos="9469755" algn="l"/>
              </a:tabLst>
              <a:defRPr/>
            </a:pPr>
            <a:r>
              <a:rPr kumimoji="0" sz="2200" b="0" i="0" u="none" strike="noStrike" kern="1200" cap="none" spc="60" normalizeH="0" baseline="0" noProof="0" dirty="0">
                <a:ln>
                  <a:noFill/>
                </a:ln>
                <a:solidFill>
                  <a:srgbClr val="252525"/>
                </a:solidFill>
                <a:effectLst/>
                <a:uLnTx/>
                <a:uFillTx/>
                <a:latin typeface="Cambria"/>
                <a:ea typeface="+mn-ea"/>
                <a:cs typeface="Cambria"/>
              </a:rPr>
              <a:t>I</a:t>
            </a:r>
            <a:r>
              <a:rPr kumimoji="0" sz="2200" b="0" i="0" u="none" strike="noStrike" kern="1200" cap="none" spc="55" normalizeH="0" baseline="0" noProof="0" dirty="0">
                <a:ln>
                  <a:noFill/>
                </a:ln>
                <a:solidFill>
                  <a:srgbClr val="252525"/>
                </a:solidFill>
                <a:effectLst/>
                <a:uLnTx/>
                <a:uFillTx/>
                <a:latin typeface="Cambria"/>
                <a:ea typeface="+mn-ea"/>
                <a:cs typeface="Cambria"/>
              </a:rPr>
              <a:t>t</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155" normalizeH="0" baseline="0" noProof="0" dirty="0">
                <a:ln>
                  <a:noFill/>
                </a:ln>
                <a:solidFill>
                  <a:srgbClr val="252525"/>
                </a:solidFill>
                <a:effectLst/>
                <a:uLnTx/>
                <a:uFillTx/>
                <a:latin typeface="Cambria"/>
                <a:ea typeface="+mn-ea"/>
                <a:cs typeface="Cambria"/>
              </a:rPr>
              <a:t>p</a:t>
            </a:r>
            <a:r>
              <a:rPr kumimoji="0" sz="2200" b="0" i="0" u="none" strike="noStrike" kern="1200" cap="none" spc="135" normalizeH="0" baseline="0" noProof="0" dirty="0">
                <a:ln>
                  <a:noFill/>
                </a:ln>
                <a:solidFill>
                  <a:srgbClr val="252525"/>
                </a:solidFill>
                <a:effectLst/>
                <a:uLnTx/>
                <a:uFillTx/>
                <a:latin typeface="Cambria"/>
                <a:ea typeface="+mn-ea"/>
                <a:cs typeface="Cambria"/>
              </a:rPr>
              <a:t>rod</a:t>
            </a:r>
            <a:r>
              <a:rPr kumimoji="0" sz="2200" b="0" i="0" u="none" strike="noStrike" kern="1200" cap="none" spc="155" normalizeH="0" baseline="0" noProof="0" dirty="0">
                <a:ln>
                  <a:noFill/>
                </a:ln>
                <a:solidFill>
                  <a:srgbClr val="252525"/>
                </a:solidFill>
                <a:effectLst/>
                <a:uLnTx/>
                <a:uFillTx/>
                <a:latin typeface="Cambria"/>
                <a:ea typeface="+mn-ea"/>
                <a:cs typeface="Cambria"/>
              </a:rPr>
              <a:t>u</a:t>
            </a:r>
            <a:r>
              <a:rPr kumimoji="0" sz="2200" b="0" i="0" u="none" strike="noStrike" kern="1200" cap="none" spc="130" normalizeH="0" baseline="0" noProof="0" dirty="0">
                <a:ln>
                  <a:noFill/>
                </a:ln>
                <a:solidFill>
                  <a:srgbClr val="252525"/>
                </a:solidFill>
                <a:effectLst/>
                <a:uLnTx/>
                <a:uFillTx/>
                <a:latin typeface="Cambria"/>
                <a:ea typeface="+mn-ea"/>
                <a:cs typeface="Cambria"/>
              </a:rPr>
              <a:t>c</a:t>
            </a:r>
            <a:r>
              <a:rPr kumimoji="0" sz="2200" b="0" i="0" u="none" strike="noStrike" kern="1200" cap="none" spc="100" normalizeH="0" baseline="0" noProof="0" dirty="0">
                <a:ln>
                  <a:noFill/>
                </a:ln>
                <a:solidFill>
                  <a:srgbClr val="252525"/>
                </a:solidFill>
                <a:effectLst/>
                <a:uLnTx/>
                <a:uFillTx/>
                <a:latin typeface="Cambria"/>
                <a:ea typeface="+mn-ea"/>
                <a:cs typeface="Cambria"/>
              </a:rPr>
              <a:t>e</a:t>
            </a:r>
            <a:r>
              <a:rPr kumimoji="0" sz="2200" b="0" i="0" u="none" strike="noStrike" kern="1200" cap="none" spc="160" normalizeH="0" baseline="0" noProof="0" dirty="0">
                <a:ln>
                  <a:noFill/>
                </a:ln>
                <a:solidFill>
                  <a:srgbClr val="252525"/>
                </a:solidFill>
                <a:effectLst/>
                <a:uLnTx/>
                <a:uFillTx/>
                <a:latin typeface="Cambria"/>
                <a:ea typeface="+mn-ea"/>
                <a:cs typeface="Cambria"/>
              </a:rPr>
              <a:t>s</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140" normalizeH="0" baseline="0" noProof="0" dirty="0">
                <a:ln>
                  <a:noFill/>
                </a:ln>
                <a:solidFill>
                  <a:srgbClr val="FF0066"/>
                </a:solidFill>
                <a:effectLst/>
                <a:uLnTx/>
                <a:uFillTx/>
                <a:latin typeface="Cambria"/>
                <a:ea typeface="+mn-ea"/>
                <a:cs typeface="Cambria"/>
              </a:rPr>
              <a:t>o</a:t>
            </a:r>
            <a:r>
              <a:rPr kumimoji="0" sz="2200" b="0" i="0" u="none" strike="noStrike" kern="1200" cap="none" spc="170" normalizeH="0" baseline="0" noProof="0" dirty="0">
                <a:ln>
                  <a:noFill/>
                </a:ln>
                <a:solidFill>
                  <a:srgbClr val="FF0066"/>
                </a:solidFill>
                <a:effectLst/>
                <a:uLnTx/>
                <a:uFillTx/>
                <a:latin typeface="Cambria"/>
                <a:ea typeface="+mn-ea"/>
                <a:cs typeface="Cambria"/>
              </a:rPr>
              <a:t>u</a:t>
            </a:r>
            <a:r>
              <a:rPr kumimoji="0" sz="2200" b="0" i="0" u="none" strike="noStrike" kern="1200" cap="none" spc="120" normalizeH="0" baseline="0" noProof="0" dirty="0">
                <a:ln>
                  <a:noFill/>
                </a:ln>
                <a:solidFill>
                  <a:srgbClr val="FF0066"/>
                </a:solidFill>
                <a:effectLst/>
                <a:uLnTx/>
                <a:uFillTx/>
                <a:latin typeface="Cambria"/>
                <a:ea typeface="+mn-ea"/>
                <a:cs typeface="Cambria"/>
              </a:rPr>
              <a:t>t</a:t>
            </a:r>
            <a:r>
              <a:rPr kumimoji="0" sz="2200" b="0" i="0" u="none" strike="noStrike" kern="1200" cap="none" spc="165" normalizeH="0" baseline="0" noProof="0" dirty="0">
                <a:ln>
                  <a:noFill/>
                </a:ln>
                <a:solidFill>
                  <a:srgbClr val="FF0066"/>
                </a:solidFill>
                <a:effectLst/>
                <a:uLnTx/>
                <a:uFillTx/>
                <a:latin typeface="Cambria"/>
                <a:ea typeface="+mn-ea"/>
                <a:cs typeface="Cambria"/>
              </a:rPr>
              <a:t>p</a:t>
            </a:r>
            <a:r>
              <a:rPr kumimoji="0" sz="2200" b="0" i="0" u="none" strike="noStrike" kern="1200" cap="none" spc="170" normalizeH="0" baseline="0" noProof="0" dirty="0">
                <a:ln>
                  <a:noFill/>
                </a:ln>
                <a:solidFill>
                  <a:srgbClr val="FF0066"/>
                </a:solidFill>
                <a:effectLst/>
                <a:uLnTx/>
                <a:uFillTx/>
                <a:latin typeface="Cambria"/>
                <a:ea typeface="+mn-ea"/>
                <a:cs typeface="Cambria"/>
              </a:rPr>
              <a:t>u</a:t>
            </a:r>
            <a:r>
              <a:rPr kumimoji="0" sz="2200" b="0" i="0" u="none" strike="noStrike" kern="1200" cap="none" spc="114" normalizeH="0" baseline="0" noProof="0" dirty="0">
                <a:ln>
                  <a:noFill/>
                </a:ln>
                <a:solidFill>
                  <a:srgbClr val="FF0066"/>
                </a:solidFill>
                <a:effectLst/>
                <a:uLnTx/>
                <a:uFillTx/>
                <a:latin typeface="Cambria"/>
                <a:ea typeface="+mn-ea"/>
                <a:cs typeface="Cambria"/>
              </a:rPr>
              <a:t>t</a:t>
            </a:r>
            <a:r>
              <a:rPr kumimoji="0" sz="2200" b="0" i="0" u="none" strike="noStrike" kern="1200" cap="none" spc="130" normalizeH="0" baseline="0" noProof="0" dirty="0">
                <a:ln>
                  <a:noFill/>
                </a:ln>
                <a:solidFill>
                  <a:srgbClr val="252525"/>
                </a:solidFill>
                <a:effectLst/>
                <a:uLnTx/>
                <a:uFillTx/>
                <a:latin typeface="Cambria"/>
                <a:ea typeface="+mn-ea"/>
                <a:cs typeface="Cambria"/>
              </a:rPr>
              <a:t>,</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155" normalizeH="0" baseline="0" noProof="0" dirty="0">
                <a:ln>
                  <a:noFill/>
                </a:ln>
                <a:solidFill>
                  <a:srgbClr val="FF0066"/>
                </a:solidFill>
                <a:effectLst/>
                <a:uLnTx/>
                <a:uFillTx/>
                <a:latin typeface="Cambria"/>
                <a:ea typeface="+mn-ea"/>
                <a:cs typeface="Cambria"/>
              </a:rPr>
              <a:t>co</a:t>
            </a:r>
            <a:r>
              <a:rPr kumimoji="0" sz="2200" b="0" i="0" u="none" strike="noStrike" kern="1200" cap="none" spc="160" normalizeH="0" baseline="0" noProof="0" dirty="0">
                <a:ln>
                  <a:noFill/>
                </a:ln>
                <a:solidFill>
                  <a:srgbClr val="FF0066"/>
                </a:solidFill>
                <a:effectLst/>
                <a:uLnTx/>
                <a:uFillTx/>
                <a:latin typeface="Cambria"/>
                <a:ea typeface="+mn-ea"/>
                <a:cs typeface="Cambria"/>
              </a:rPr>
              <a:t>p</a:t>
            </a:r>
            <a:r>
              <a:rPr kumimoji="0" sz="2200" b="0" i="0" u="none" strike="noStrike" kern="1200" cap="none" spc="65" normalizeH="0" baseline="0" noProof="0" dirty="0">
                <a:ln>
                  <a:noFill/>
                </a:ln>
                <a:solidFill>
                  <a:srgbClr val="FF0066"/>
                </a:solidFill>
                <a:effectLst/>
                <a:uLnTx/>
                <a:uFillTx/>
                <a:latin typeface="Cambria"/>
                <a:ea typeface="+mn-ea"/>
                <a:cs typeface="Cambria"/>
              </a:rPr>
              <a:t>i</a:t>
            </a:r>
            <a:r>
              <a:rPr kumimoji="0" sz="2200" b="0" i="0" u="none" strike="noStrike" kern="1200" cap="none" spc="100" normalizeH="0" baseline="0" noProof="0" dirty="0">
                <a:ln>
                  <a:noFill/>
                </a:ln>
                <a:solidFill>
                  <a:srgbClr val="FF0066"/>
                </a:solidFill>
                <a:effectLst/>
                <a:uLnTx/>
                <a:uFillTx/>
                <a:latin typeface="Cambria"/>
                <a:ea typeface="+mn-ea"/>
                <a:cs typeface="Cambria"/>
              </a:rPr>
              <a:t>e</a:t>
            </a:r>
            <a:r>
              <a:rPr kumimoji="0" sz="2200" b="0" i="0" u="none" strike="noStrike" kern="1200" cap="none" spc="160" normalizeH="0" baseline="0" noProof="0" dirty="0">
                <a:ln>
                  <a:noFill/>
                </a:ln>
                <a:solidFill>
                  <a:srgbClr val="FF0066"/>
                </a:solidFill>
                <a:effectLst/>
                <a:uLnTx/>
                <a:uFillTx/>
                <a:latin typeface="Cambria"/>
                <a:ea typeface="+mn-ea"/>
                <a:cs typeface="Cambria"/>
              </a:rPr>
              <a:t>s</a:t>
            </a:r>
            <a:r>
              <a:rPr kumimoji="0" sz="2200" b="0" i="0" u="none" strike="noStrike" kern="1200" cap="none" spc="0" normalizeH="0" baseline="0" noProof="0" dirty="0">
                <a:ln>
                  <a:noFill/>
                </a:ln>
                <a:solidFill>
                  <a:srgbClr val="FF0066"/>
                </a:solidFill>
                <a:effectLst/>
                <a:uLnTx/>
                <a:uFillTx/>
                <a:latin typeface="Cambria"/>
                <a:ea typeface="+mn-ea"/>
                <a:cs typeface="Cambria"/>
              </a:rPr>
              <a:t>	</a:t>
            </a:r>
            <a:r>
              <a:rPr kumimoji="0" sz="2200" b="0" i="0" u="none" strike="noStrike" kern="1200" cap="none" spc="110" normalizeH="0" baseline="0" noProof="0" dirty="0">
                <a:ln>
                  <a:noFill/>
                </a:ln>
                <a:solidFill>
                  <a:srgbClr val="252525"/>
                </a:solidFill>
                <a:effectLst/>
                <a:uLnTx/>
                <a:uFillTx/>
                <a:latin typeface="Cambria"/>
                <a:ea typeface="+mn-ea"/>
                <a:cs typeface="Cambria"/>
              </a:rPr>
              <a:t>t</a:t>
            </a:r>
            <a:r>
              <a:rPr kumimoji="0" sz="2200" b="0" i="0" u="none" strike="noStrike" kern="1200" cap="none" spc="180" normalizeH="0" baseline="0" noProof="0" dirty="0">
                <a:ln>
                  <a:noFill/>
                </a:ln>
                <a:solidFill>
                  <a:srgbClr val="252525"/>
                </a:solidFill>
                <a:effectLst/>
                <a:uLnTx/>
                <a:uFillTx/>
                <a:latin typeface="Cambria"/>
                <a:ea typeface="+mn-ea"/>
                <a:cs typeface="Cambria"/>
              </a:rPr>
              <a:t>h</a:t>
            </a:r>
            <a:r>
              <a:rPr kumimoji="0" sz="2200" b="0" i="0" u="none" strike="noStrike" kern="1200" cap="none" spc="114" normalizeH="0" baseline="0" noProof="0" dirty="0">
                <a:ln>
                  <a:noFill/>
                </a:ln>
                <a:solidFill>
                  <a:srgbClr val="252525"/>
                </a:solidFill>
                <a:effectLst/>
                <a:uLnTx/>
                <a:uFillTx/>
                <a:latin typeface="Cambria"/>
                <a:ea typeface="+mn-ea"/>
                <a:cs typeface="Cambria"/>
              </a:rPr>
              <a:t>at</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140" normalizeH="0" baseline="0" noProof="0" dirty="0">
                <a:ln>
                  <a:noFill/>
                </a:ln>
                <a:solidFill>
                  <a:srgbClr val="252525"/>
                </a:solidFill>
                <a:effectLst/>
                <a:uLnTx/>
                <a:uFillTx/>
                <a:latin typeface="Cambria"/>
                <a:ea typeface="+mn-ea"/>
                <a:cs typeface="Cambria"/>
              </a:rPr>
              <a:t>o</a:t>
            </a:r>
            <a:r>
              <a:rPr kumimoji="0" sz="2200" b="0" i="0" u="none" strike="noStrike" kern="1200" cap="none" spc="170" normalizeH="0" baseline="0" noProof="0" dirty="0">
                <a:ln>
                  <a:noFill/>
                </a:ln>
                <a:solidFill>
                  <a:srgbClr val="252525"/>
                </a:solidFill>
                <a:effectLst/>
                <a:uLnTx/>
                <a:uFillTx/>
                <a:latin typeface="Cambria"/>
                <a:ea typeface="+mn-ea"/>
                <a:cs typeface="Cambria"/>
              </a:rPr>
              <a:t>u</a:t>
            </a:r>
            <a:r>
              <a:rPr kumimoji="0" sz="2200" b="0" i="0" u="none" strike="noStrike" kern="1200" cap="none" spc="120" normalizeH="0" baseline="0" noProof="0" dirty="0">
                <a:ln>
                  <a:noFill/>
                </a:ln>
                <a:solidFill>
                  <a:srgbClr val="252525"/>
                </a:solidFill>
                <a:effectLst/>
                <a:uLnTx/>
                <a:uFillTx/>
                <a:latin typeface="Cambria"/>
                <a:ea typeface="+mn-ea"/>
                <a:cs typeface="Cambria"/>
              </a:rPr>
              <a:t>t</a:t>
            </a:r>
            <a:r>
              <a:rPr kumimoji="0" sz="2200" b="0" i="0" u="none" strike="noStrike" kern="1200" cap="none" spc="165" normalizeH="0" baseline="0" noProof="0" dirty="0">
                <a:ln>
                  <a:noFill/>
                </a:ln>
                <a:solidFill>
                  <a:srgbClr val="252525"/>
                </a:solidFill>
                <a:effectLst/>
                <a:uLnTx/>
                <a:uFillTx/>
                <a:latin typeface="Cambria"/>
                <a:ea typeface="+mn-ea"/>
                <a:cs typeface="Cambria"/>
              </a:rPr>
              <a:t>p</a:t>
            </a:r>
            <a:r>
              <a:rPr kumimoji="0" sz="2200" b="0" i="0" u="none" strike="noStrike" kern="1200" cap="none" spc="170" normalizeH="0" baseline="0" noProof="0" dirty="0">
                <a:ln>
                  <a:noFill/>
                </a:ln>
                <a:solidFill>
                  <a:srgbClr val="252525"/>
                </a:solidFill>
                <a:effectLst/>
                <a:uLnTx/>
                <a:uFillTx/>
                <a:latin typeface="Cambria"/>
                <a:ea typeface="+mn-ea"/>
                <a:cs typeface="Cambria"/>
              </a:rPr>
              <a:t>u</a:t>
            </a:r>
            <a:r>
              <a:rPr kumimoji="0" sz="2200" b="0" i="0" u="none" strike="noStrike" kern="1200" cap="none" spc="105" normalizeH="0" baseline="0" noProof="0" dirty="0">
                <a:ln>
                  <a:noFill/>
                </a:ln>
                <a:solidFill>
                  <a:srgbClr val="252525"/>
                </a:solidFill>
                <a:effectLst/>
                <a:uLnTx/>
                <a:uFillTx/>
                <a:latin typeface="Cambria"/>
                <a:ea typeface="+mn-ea"/>
                <a:cs typeface="Cambria"/>
              </a:rPr>
              <a:t>t</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114" normalizeH="0" baseline="0" noProof="0" dirty="0">
                <a:ln>
                  <a:noFill/>
                </a:ln>
                <a:solidFill>
                  <a:srgbClr val="252525"/>
                </a:solidFill>
                <a:effectLst/>
                <a:uLnTx/>
                <a:uFillTx/>
                <a:latin typeface="Cambria"/>
                <a:ea typeface="+mn-ea"/>
                <a:cs typeface="Cambria"/>
              </a:rPr>
              <a:t>a</a:t>
            </a:r>
            <a:r>
              <a:rPr kumimoji="0" sz="2200" b="0" i="0" u="none" strike="noStrike" kern="1200" cap="none" spc="150" normalizeH="0" baseline="0" noProof="0" dirty="0">
                <a:ln>
                  <a:noFill/>
                </a:ln>
                <a:solidFill>
                  <a:srgbClr val="252525"/>
                </a:solidFill>
                <a:effectLst/>
                <a:uLnTx/>
                <a:uFillTx/>
                <a:latin typeface="Cambria"/>
                <a:ea typeface="+mn-ea"/>
                <a:cs typeface="Cambria"/>
              </a:rPr>
              <a:t>n</a:t>
            </a:r>
            <a:r>
              <a:rPr kumimoji="0" sz="2200" b="0" i="0" u="none" strike="noStrike" kern="1200" cap="none" spc="185" normalizeH="0" baseline="0" noProof="0" dirty="0">
                <a:ln>
                  <a:noFill/>
                </a:ln>
                <a:solidFill>
                  <a:srgbClr val="252525"/>
                </a:solidFill>
                <a:effectLst/>
                <a:uLnTx/>
                <a:uFillTx/>
                <a:latin typeface="Cambria"/>
                <a:ea typeface="+mn-ea"/>
                <a:cs typeface="Cambria"/>
              </a:rPr>
              <a:t>d</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95" normalizeH="0" baseline="0" noProof="0" dirty="0">
                <a:ln>
                  <a:noFill/>
                </a:ln>
                <a:solidFill>
                  <a:srgbClr val="FF0066"/>
                </a:solidFill>
                <a:effectLst/>
                <a:uLnTx/>
                <a:uFillTx/>
                <a:latin typeface="Cambria"/>
                <a:ea typeface="+mn-ea"/>
                <a:cs typeface="Cambria"/>
              </a:rPr>
              <a:t>l</a:t>
            </a:r>
            <a:r>
              <a:rPr kumimoji="0" sz="2200" b="0" i="0" u="none" strike="noStrike" kern="1200" cap="none" spc="160" normalizeH="0" baseline="0" noProof="0" dirty="0">
                <a:ln>
                  <a:noFill/>
                </a:ln>
                <a:solidFill>
                  <a:srgbClr val="FF0066"/>
                </a:solidFill>
                <a:effectLst/>
                <a:uLnTx/>
                <a:uFillTx/>
                <a:latin typeface="Cambria"/>
                <a:ea typeface="+mn-ea"/>
                <a:cs typeface="Cambria"/>
              </a:rPr>
              <a:t>oops</a:t>
            </a:r>
            <a:r>
              <a:rPr kumimoji="0" sz="2200" b="0" i="0" u="none" strike="noStrike" kern="1200" cap="none" spc="0" normalizeH="0" baseline="0" noProof="0" dirty="0">
                <a:ln>
                  <a:noFill/>
                </a:ln>
                <a:solidFill>
                  <a:srgbClr val="FF0066"/>
                </a:solidFill>
                <a:effectLst/>
                <a:uLnTx/>
                <a:uFillTx/>
                <a:latin typeface="Cambria"/>
                <a:ea typeface="+mn-ea"/>
                <a:cs typeface="Cambria"/>
              </a:rPr>
              <a:t>	</a:t>
            </a:r>
            <a:r>
              <a:rPr kumimoji="0" sz="2200" b="0" i="0" u="none" strike="noStrike" kern="1200" cap="none" spc="100" normalizeH="0" baseline="0" noProof="0" dirty="0">
                <a:ln>
                  <a:noFill/>
                </a:ln>
                <a:solidFill>
                  <a:srgbClr val="252525"/>
                </a:solidFill>
                <a:effectLst/>
                <a:uLnTx/>
                <a:uFillTx/>
                <a:latin typeface="Cambria"/>
                <a:ea typeface="+mn-ea"/>
                <a:cs typeface="Cambria"/>
              </a:rPr>
              <a:t>i</a:t>
            </a:r>
            <a:r>
              <a:rPr kumimoji="0" sz="2200" b="0" i="0" u="none" strike="noStrike" kern="1200" cap="none" spc="95" normalizeH="0" baseline="0" noProof="0" dirty="0">
                <a:ln>
                  <a:noFill/>
                </a:ln>
                <a:solidFill>
                  <a:srgbClr val="252525"/>
                </a:solidFill>
                <a:effectLst/>
                <a:uLnTx/>
                <a:uFillTx/>
                <a:latin typeface="Cambria"/>
                <a:ea typeface="+mn-ea"/>
                <a:cs typeface="Cambria"/>
              </a:rPr>
              <a:t>t</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130" normalizeH="0" baseline="0" noProof="0" dirty="0">
                <a:ln>
                  <a:noFill/>
                </a:ln>
                <a:solidFill>
                  <a:srgbClr val="252525"/>
                </a:solidFill>
                <a:effectLst/>
                <a:uLnTx/>
                <a:uFillTx/>
                <a:latin typeface="Cambria"/>
                <a:ea typeface="+mn-ea"/>
                <a:cs typeface="Cambria"/>
              </a:rPr>
              <a:t>ba</a:t>
            </a:r>
            <a:r>
              <a:rPr kumimoji="0" sz="2200" b="0" i="0" u="none" strike="noStrike" kern="1200" cap="none" spc="155" normalizeH="0" baseline="0" noProof="0" dirty="0">
                <a:ln>
                  <a:noFill/>
                </a:ln>
                <a:solidFill>
                  <a:srgbClr val="252525"/>
                </a:solidFill>
                <a:effectLst/>
                <a:uLnTx/>
                <a:uFillTx/>
                <a:latin typeface="Cambria"/>
                <a:ea typeface="+mn-ea"/>
                <a:cs typeface="Cambria"/>
              </a:rPr>
              <a:t>ck</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65" normalizeH="0" baseline="0" noProof="0" dirty="0">
                <a:ln>
                  <a:noFill/>
                </a:ln>
                <a:solidFill>
                  <a:srgbClr val="252525"/>
                </a:solidFill>
                <a:effectLst/>
                <a:uLnTx/>
                <a:uFillTx/>
                <a:latin typeface="Cambria"/>
                <a:ea typeface="+mn-ea"/>
                <a:cs typeface="Cambria"/>
              </a:rPr>
              <a:t>i</a:t>
            </a:r>
            <a:r>
              <a:rPr kumimoji="0" sz="2200" b="0" i="0" u="none" strike="noStrike" kern="1200" cap="none" spc="150" normalizeH="0" baseline="0" noProof="0" dirty="0">
                <a:ln>
                  <a:noFill/>
                </a:ln>
                <a:solidFill>
                  <a:srgbClr val="252525"/>
                </a:solidFill>
                <a:effectLst/>
                <a:uLnTx/>
                <a:uFillTx/>
                <a:latin typeface="Cambria"/>
                <a:ea typeface="+mn-ea"/>
                <a:cs typeface="Cambria"/>
              </a:rPr>
              <a:t>n</a:t>
            </a:r>
            <a:r>
              <a:rPr kumimoji="0" sz="2200" b="0" i="0" u="none" strike="noStrike" kern="1200" cap="none" spc="125" normalizeH="0" baseline="0" noProof="0" dirty="0">
                <a:ln>
                  <a:noFill/>
                </a:ln>
                <a:solidFill>
                  <a:srgbClr val="252525"/>
                </a:solidFill>
                <a:effectLst/>
                <a:uLnTx/>
                <a:uFillTx/>
                <a:latin typeface="Cambria"/>
                <a:ea typeface="+mn-ea"/>
                <a:cs typeface="Cambria"/>
              </a:rPr>
              <a:t>t</a:t>
            </a:r>
            <a:r>
              <a:rPr kumimoji="0" sz="2200" b="0" i="0" u="none" strike="noStrike" kern="1200" cap="none" spc="155" normalizeH="0" baseline="0" noProof="0" dirty="0">
                <a:ln>
                  <a:noFill/>
                </a:ln>
                <a:solidFill>
                  <a:srgbClr val="252525"/>
                </a:solidFill>
                <a:effectLst/>
                <a:uLnTx/>
                <a:uFillTx/>
                <a:latin typeface="Cambria"/>
                <a:ea typeface="+mn-ea"/>
                <a:cs typeface="Cambria"/>
              </a:rPr>
              <a:t>o</a:t>
            </a:r>
            <a:r>
              <a:rPr kumimoji="0" sz="2200" b="0" i="0" u="none" strike="noStrike" kern="1200" cap="none" spc="0" normalizeH="0" baseline="0" noProof="0" dirty="0">
                <a:ln>
                  <a:noFill/>
                </a:ln>
                <a:solidFill>
                  <a:srgbClr val="252525"/>
                </a:solidFill>
                <a:effectLst/>
                <a:uLnTx/>
                <a:uFillTx/>
                <a:latin typeface="Cambria"/>
                <a:ea typeface="+mn-ea"/>
                <a:cs typeface="Cambria"/>
              </a:rPr>
              <a:t>	</a:t>
            </a:r>
            <a:r>
              <a:rPr kumimoji="0" sz="2200" b="0" i="0" u="none" strike="noStrike" kern="1200" cap="none" spc="125" normalizeH="0" baseline="0" noProof="0" dirty="0">
                <a:ln>
                  <a:noFill/>
                </a:ln>
                <a:solidFill>
                  <a:srgbClr val="252525"/>
                </a:solidFill>
                <a:effectLst/>
                <a:uLnTx/>
                <a:uFillTx/>
                <a:latin typeface="Cambria"/>
                <a:ea typeface="+mn-ea"/>
                <a:cs typeface="Cambria"/>
              </a:rPr>
              <a:t>t</a:t>
            </a:r>
            <a:r>
              <a:rPr kumimoji="0" sz="2200" b="0" i="0" u="none" strike="noStrike" kern="1200" cap="none" spc="160" normalizeH="0" baseline="0" noProof="0" dirty="0">
                <a:ln>
                  <a:noFill/>
                </a:ln>
                <a:solidFill>
                  <a:srgbClr val="252525"/>
                </a:solidFill>
                <a:effectLst/>
                <a:uLnTx/>
                <a:uFillTx/>
                <a:latin typeface="Cambria"/>
                <a:ea typeface="+mn-ea"/>
                <a:cs typeface="Cambria"/>
              </a:rPr>
              <a:t>h</a:t>
            </a:r>
            <a:r>
              <a:rPr kumimoji="0" sz="2200" b="0" i="0" u="none" strike="noStrike" kern="1200" cap="none" spc="55" normalizeH="0" baseline="0" noProof="0" dirty="0">
                <a:ln>
                  <a:noFill/>
                </a:ln>
                <a:solidFill>
                  <a:srgbClr val="252525"/>
                </a:solidFill>
                <a:effectLst/>
                <a:uLnTx/>
                <a:uFillTx/>
                <a:latin typeface="Cambria"/>
                <a:ea typeface="+mn-ea"/>
                <a:cs typeface="Cambria"/>
              </a:rPr>
              <a:t>e  </a:t>
            </a:r>
            <a:r>
              <a:rPr kumimoji="0" sz="2200" b="0" i="0" u="none" strike="noStrike" kern="1200" cap="none" spc="110" normalizeH="0" baseline="0" noProof="0" dirty="0">
                <a:ln>
                  <a:noFill/>
                </a:ln>
                <a:solidFill>
                  <a:srgbClr val="252525"/>
                </a:solidFill>
                <a:effectLst/>
                <a:uLnTx/>
                <a:uFillTx/>
                <a:latin typeface="Cambria"/>
                <a:ea typeface="+mn-ea"/>
                <a:cs typeface="Cambria"/>
              </a:rPr>
              <a:t>network.</a:t>
            </a:r>
            <a:endParaRPr kumimoji="0" sz="2200" b="0" i="0" u="none" strike="noStrike" kern="1200" cap="none" spc="0" normalizeH="0" baseline="0" noProof="0" dirty="0">
              <a:ln>
                <a:noFill/>
              </a:ln>
              <a:solidFill>
                <a:prstClr val="black"/>
              </a:solidFill>
              <a:effectLst/>
              <a:uLnTx/>
              <a:uFillTx/>
              <a:latin typeface="Cambria"/>
              <a:ea typeface="+mn-ea"/>
              <a:cs typeface="Cambria"/>
            </a:endParaRPr>
          </a:p>
        </p:txBody>
      </p:sp>
      <p:sp>
        <p:nvSpPr>
          <p:cNvPr id="8" name="object 8"/>
          <p:cNvSpPr txBox="1"/>
          <p:nvPr/>
        </p:nvSpPr>
        <p:spPr>
          <a:xfrm>
            <a:off x="743508" y="4339209"/>
            <a:ext cx="9920605" cy="2122805"/>
          </a:xfrm>
          <a:prstGeom prst="rect">
            <a:avLst/>
          </a:prstGeom>
        </p:spPr>
        <p:txBody>
          <a:bodyPr vert="horz" wrap="square" lIns="0" tIns="12065" rIns="0" bIns="0" rtlCol="0">
            <a:spAutoFit/>
          </a:bodyPr>
          <a:lstStyle/>
          <a:p>
            <a:pPr marL="355600" marR="0" lvl="0" indent="-342900" algn="l" defTabSz="914400" rtl="0" eaLnBrk="1" fontAlgn="auto" latinLnBrk="0" hangingPunct="1">
              <a:lnSpc>
                <a:spcPct val="100000"/>
              </a:lnSpc>
              <a:spcBef>
                <a:spcPts val="95"/>
              </a:spcBef>
              <a:spcAft>
                <a:spcPts val="0"/>
              </a:spcAft>
              <a:buClr>
                <a:srgbClr val="4189B3"/>
              </a:buClr>
              <a:buSzPct val="75000"/>
              <a:buFont typeface="Arial" panose="020B0604020202020204" pitchFamily="34" charset="0"/>
              <a:buChar char="•"/>
              <a:tabLst>
                <a:tab pos="241300" algn="l"/>
              </a:tabLst>
              <a:defRPr/>
            </a:pPr>
            <a:r>
              <a:rPr kumimoji="0" sz="2200" b="0" i="0" u="none" strike="noStrike" kern="1200" cap="none" spc="114" normalizeH="0" baseline="0" noProof="0" dirty="0">
                <a:ln>
                  <a:noFill/>
                </a:ln>
                <a:solidFill>
                  <a:srgbClr val="252525"/>
                </a:solidFill>
                <a:effectLst/>
                <a:uLnTx/>
                <a:uFillTx/>
                <a:latin typeface="Cambria"/>
                <a:ea typeface="+mn-ea"/>
                <a:cs typeface="Cambria"/>
              </a:rPr>
              <a:t>Therefore,</a:t>
            </a:r>
            <a:r>
              <a:rPr kumimoji="0" sz="2200" b="0" i="0" u="none" strike="noStrike" kern="1200" cap="none" spc="220" normalizeH="0" baseline="0" noProof="0" dirty="0">
                <a:ln>
                  <a:noFill/>
                </a:ln>
                <a:solidFill>
                  <a:srgbClr val="252525"/>
                </a:solidFill>
                <a:effectLst/>
                <a:uLnTx/>
                <a:uFillTx/>
                <a:latin typeface="Cambria"/>
                <a:ea typeface="+mn-ea"/>
                <a:cs typeface="Cambria"/>
              </a:rPr>
              <a:t> </a:t>
            </a:r>
            <a:r>
              <a:rPr kumimoji="0" sz="2200" b="0" i="0" u="none" strike="noStrike" kern="1200" cap="none" spc="114" normalizeH="0" baseline="0" noProof="0" dirty="0">
                <a:ln>
                  <a:noFill/>
                </a:ln>
                <a:solidFill>
                  <a:srgbClr val="252525"/>
                </a:solidFill>
                <a:effectLst/>
                <a:uLnTx/>
                <a:uFillTx/>
                <a:latin typeface="Cambria"/>
                <a:ea typeface="+mn-ea"/>
                <a:cs typeface="Cambria"/>
              </a:rPr>
              <a:t>a</a:t>
            </a:r>
            <a:r>
              <a:rPr kumimoji="0" sz="2200" b="0" i="0" u="none" strike="noStrike" kern="1200" cap="none" spc="195" normalizeH="0" baseline="0" noProof="0" dirty="0">
                <a:ln>
                  <a:noFill/>
                </a:ln>
                <a:solidFill>
                  <a:srgbClr val="252525"/>
                </a:solidFill>
                <a:effectLst/>
                <a:uLnTx/>
                <a:uFillTx/>
                <a:latin typeface="Cambria"/>
                <a:ea typeface="+mn-ea"/>
                <a:cs typeface="Cambria"/>
              </a:rPr>
              <a:t> </a:t>
            </a:r>
            <a:r>
              <a:rPr kumimoji="0" sz="2200" b="0" i="0" u="none" strike="noStrike" kern="1200" cap="none" spc="135" normalizeH="0" baseline="0" noProof="0" dirty="0">
                <a:ln>
                  <a:noFill/>
                </a:ln>
                <a:solidFill>
                  <a:srgbClr val="252525"/>
                </a:solidFill>
                <a:effectLst/>
                <a:uLnTx/>
                <a:uFillTx/>
                <a:latin typeface="Cambria"/>
                <a:ea typeface="+mn-ea"/>
                <a:cs typeface="Cambria"/>
              </a:rPr>
              <a:t>RNN</a:t>
            </a:r>
            <a:r>
              <a:rPr kumimoji="0" sz="2200" b="0" i="0" u="none" strike="noStrike" kern="1200" cap="none" spc="215" normalizeH="0" baseline="0" noProof="0" dirty="0">
                <a:ln>
                  <a:noFill/>
                </a:ln>
                <a:solidFill>
                  <a:srgbClr val="252525"/>
                </a:solidFill>
                <a:effectLst/>
                <a:uLnTx/>
                <a:uFillTx/>
                <a:latin typeface="Cambria"/>
                <a:ea typeface="+mn-ea"/>
                <a:cs typeface="Cambria"/>
              </a:rPr>
              <a:t> </a:t>
            </a:r>
            <a:r>
              <a:rPr kumimoji="0" sz="2200" b="0" i="0" u="none" strike="noStrike" kern="1200" cap="none" spc="145" normalizeH="0" baseline="0" noProof="0" dirty="0">
                <a:ln>
                  <a:noFill/>
                </a:ln>
                <a:solidFill>
                  <a:srgbClr val="252525"/>
                </a:solidFill>
                <a:effectLst/>
                <a:uLnTx/>
                <a:uFillTx/>
                <a:latin typeface="Cambria"/>
                <a:ea typeface="+mn-ea"/>
                <a:cs typeface="Cambria"/>
              </a:rPr>
              <a:t>has</a:t>
            </a:r>
            <a:r>
              <a:rPr kumimoji="0" sz="2200" b="0" i="0" u="none" strike="noStrike" kern="1200" cap="none" spc="204" normalizeH="0" baseline="0" noProof="0" dirty="0">
                <a:ln>
                  <a:noFill/>
                </a:ln>
                <a:solidFill>
                  <a:srgbClr val="252525"/>
                </a:solidFill>
                <a:effectLst/>
                <a:uLnTx/>
                <a:uFillTx/>
                <a:latin typeface="Cambria"/>
                <a:ea typeface="+mn-ea"/>
                <a:cs typeface="Cambria"/>
              </a:rPr>
              <a:t> </a:t>
            </a:r>
            <a:r>
              <a:rPr kumimoji="0" sz="2200" b="0" i="0" u="none" strike="noStrike" kern="1200" cap="none" spc="105" normalizeH="0" baseline="0" noProof="0" dirty="0">
                <a:ln>
                  <a:noFill/>
                </a:ln>
                <a:solidFill>
                  <a:srgbClr val="252525"/>
                </a:solidFill>
                <a:effectLst/>
                <a:uLnTx/>
                <a:uFillTx/>
                <a:latin typeface="Cambria"/>
                <a:ea typeface="+mn-ea"/>
                <a:cs typeface="Cambria"/>
              </a:rPr>
              <a:t>two</a:t>
            </a:r>
            <a:r>
              <a:rPr kumimoji="0" sz="2200" b="0" i="0" u="none" strike="noStrike" kern="1200" cap="none" spc="195" normalizeH="0" baseline="0" noProof="0" dirty="0">
                <a:ln>
                  <a:noFill/>
                </a:ln>
                <a:solidFill>
                  <a:srgbClr val="252525"/>
                </a:solidFill>
                <a:effectLst/>
                <a:uLnTx/>
                <a:uFillTx/>
                <a:latin typeface="Cambria"/>
                <a:ea typeface="+mn-ea"/>
                <a:cs typeface="Cambria"/>
              </a:rPr>
              <a:t> </a:t>
            </a:r>
            <a:r>
              <a:rPr kumimoji="0" sz="2200" b="0" i="0" u="none" strike="noStrike" kern="1200" cap="none" spc="114" normalizeH="0" baseline="0" noProof="0" dirty="0">
                <a:ln>
                  <a:noFill/>
                </a:ln>
                <a:solidFill>
                  <a:srgbClr val="252525"/>
                </a:solidFill>
                <a:effectLst/>
                <a:uLnTx/>
                <a:uFillTx/>
                <a:latin typeface="Cambria"/>
                <a:ea typeface="+mn-ea"/>
                <a:cs typeface="Cambria"/>
              </a:rPr>
              <a:t>inputs:</a:t>
            </a:r>
            <a:r>
              <a:rPr kumimoji="0" sz="2200" b="0" i="0" u="none" strike="noStrike" kern="1200" cap="none" spc="225" normalizeH="0" baseline="0" noProof="0" dirty="0">
                <a:ln>
                  <a:noFill/>
                </a:ln>
                <a:solidFill>
                  <a:srgbClr val="252525"/>
                </a:solidFill>
                <a:effectLst/>
                <a:uLnTx/>
                <a:uFillTx/>
                <a:latin typeface="Cambria"/>
                <a:ea typeface="+mn-ea"/>
                <a:cs typeface="Cambria"/>
              </a:rPr>
              <a:t> </a:t>
            </a:r>
            <a:r>
              <a:rPr kumimoji="0" sz="2200" b="0" i="0" u="none" strike="noStrike" kern="1200" cap="none" spc="125" normalizeH="0" baseline="0" noProof="0" dirty="0">
                <a:ln>
                  <a:noFill/>
                </a:ln>
                <a:solidFill>
                  <a:srgbClr val="252525"/>
                </a:solidFill>
                <a:effectLst/>
                <a:uLnTx/>
                <a:uFillTx/>
                <a:latin typeface="Cambria"/>
                <a:ea typeface="+mn-ea"/>
                <a:cs typeface="Cambria"/>
              </a:rPr>
              <a:t>the</a:t>
            </a:r>
            <a:r>
              <a:rPr kumimoji="0" sz="2200" b="0" i="0" u="none" strike="noStrike" kern="1200" cap="none" spc="185" normalizeH="0" baseline="0" noProof="0" dirty="0">
                <a:ln>
                  <a:noFill/>
                </a:ln>
                <a:solidFill>
                  <a:srgbClr val="252525"/>
                </a:solidFill>
                <a:effectLst/>
                <a:uLnTx/>
                <a:uFillTx/>
                <a:latin typeface="Cambria"/>
                <a:ea typeface="+mn-ea"/>
                <a:cs typeface="Cambria"/>
              </a:rPr>
              <a:t> </a:t>
            </a:r>
            <a:r>
              <a:rPr kumimoji="0" sz="2200" b="0" i="0" u="none" strike="noStrike" kern="1200" cap="none" spc="114" normalizeH="0" baseline="0" noProof="0" dirty="0">
                <a:ln>
                  <a:noFill/>
                </a:ln>
                <a:solidFill>
                  <a:srgbClr val="FF0066"/>
                </a:solidFill>
                <a:effectLst/>
                <a:uLnTx/>
                <a:uFillTx/>
                <a:latin typeface="Cambria"/>
                <a:ea typeface="+mn-ea"/>
                <a:cs typeface="Cambria"/>
              </a:rPr>
              <a:t>present</a:t>
            </a:r>
            <a:r>
              <a:rPr kumimoji="0" sz="2200" b="0" i="0" u="none" strike="noStrike" kern="1200" cap="none" spc="240" normalizeH="0" baseline="0" noProof="0" dirty="0">
                <a:ln>
                  <a:noFill/>
                </a:ln>
                <a:solidFill>
                  <a:srgbClr val="FF0066"/>
                </a:solidFill>
                <a:effectLst/>
                <a:uLnTx/>
                <a:uFillTx/>
                <a:latin typeface="Cambria"/>
                <a:ea typeface="+mn-ea"/>
                <a:cs typeface="Cambria"/>
              </a:rPr>
              <a:t> </a:t>
            </a:r>
            <a:r>
              <a:rPr kumimoji="0" sz="2200" b="0" i="0" u="none" strike="noStrike" kern="1200" cap="none" spc="150" normalizeH="0" baseline="0" noProof="0" dirty="0">
                <a:ln>
                  <a:noFill/>
                </a:ln>
                <a:solidFill>
                  <a:srgbClr val="252525"/>
                </a:solidFill>
                <a:effectLst/>
                <a:uLnTx/>
                <a:uFillTx/>
                <a:latin typeface="Cambria"/>
                <a:ea typeface="+mn-ea"/>
                <a:cs typeface="Cambria"/>
              </a:rPr>
              <a:t>and</a:t>
            </a:r>
            <a:r>
              <a:rPr kumimoji="0" sz="2200" b="0" i="0" u="none" strike="noStrike" kern="1200" cap="none" spc="215" normalizeH="0" baseline="0" noProof="0" dirty="0">
                <a:ln>
                  <a:noFill/>
                </a:ln>
                <a:solidFill>
                  <a:srgbClr val="252525"/>
                </a:solidFill>
                <a:effectLst/>
                <a:uLnTx/>
                <a:uFillTx/>
                <a:latin typeface="Cambria"/>
                <a:ea typeface="+mn-ea"/>
                <a:cs typeface="Cambria"/>
              </a:rPr>
              <a:t> </a:t>
            </a:r>
            <a:r>
              <a:rPr kumimoji="0" sz="2200" b="0" i="0" u="none" strike="noStrike" kern="1200" cap="none" spc="125" normalizeH="0" baseline="0" noProof="0" dirty="0">
                <a:ln>
                  <a:noFill/>
                </a:ln>
                <a:solidFill>
                  <a:srgbClr val="252525"/>
                </a:solidFill>
                <a:effectLst/>
                <a:uLnTx/>
                <a:uFillTx/>
                <a:latin typeface="Cambria"/>
                <a:ea typeface="+mn-ea"/>
                <a:cs typeface="Cambria"/>
              </a:rPr>
              <a:t>the</a:t>
            </a:r>
            <a:r>
              <a:rPr kumimoji="0" sz="2200" b="0" i="0" u="none" strike="noStrike" kern="1200" cap="none" spc="190" normalizeH="0" baseline="0" noProof="0" dirty="0">
                <a:ln>
                  <a:noFill/>
                </a:ln>
                <a:solidFill>
                  <a:srgbClr val="252525"/>
                </a:solidFill>
                <a:effectLst/>
                <a:uLnTx/>
                <a:uFillTx/>
                <a:latin typeface="Cambria"/>
                <a:ea typeface="+mn-ea"/>
                <a:cs typeface="Cambria"/>
              </a:rPr>
              <a:t> </a:t>
            </a:r>
            <a:r>
              <a:rPr kumimoji="0" sz="2200" b="0" i="0" u="none" strike="noStrike" kern="1200" cap="none" spc="105" normalizeH="0" baseline="0" noProof="0" dirty="0">
                <a:ln>
                  <a:noFill/>
                </a:ln>
                <a:solidFill>
                  <a:srgbClr val="FF0066"/>
                </a:solidFill>
                <a:effectLst/>
                <a:uLnTx/>
                <a:uFillTx/>
                <a:latin typeface="Cambria"/>
                <a:ea typeface="+mn-ea"/>
                <a:cs typeface="Cambria"/>
              </a:rPr>
              <a:t>recent</a:t>
            </a:r>
            <a:r>
              <a:rPr kumimoji="0" sz="2200" b="0" i="0" u="none" strike="noStrike" kern="1200" cap="none" spc="215" normalizeH="0" baseline="0" noProof="0" dirty="0">
                <a:ln>
                  <a:noFill/>
                </a:ln>
                <a:solidFill>
                  <a:srgbClr val="FF0066"/>
                </a:solidFill>
                <a:effectLst/>
                <a:uLnTx/>
                <a:uFillTx/>
                <a:latin typeface="Cambria"/>
                <a:ea typeface="+mn-ea"/>
                <a:cs typeface="Cambria"/>
              </a:rPr>
              <a:t> </a:t>
            </a:r>
            <a:r>
              <a:rPr kumimoji="0" sz="2200" b="0" i="0" u="none" strike="noStrike" kern="1200" cap="none" spc="130" normalizeH="0" baseline="0" noProof="0" dirty="0">
                <a:ln>
                  <a:noFill/>
                </a:ln>
                <a:solidFill>
                  <a:srgbClr val="FF0066"/>
                </a:solidFill>
                <a:effectLst/>
                <a:uLnTx/>
                <a:uFillTx/>
                <a:latin typeface="Cambria"/>
                <a:ea typeface="+mn-ea"/>
                <a:cs typeface="Cambria"/>
              </a:rPr>
              <a:t>past</a:t>
            </a:r>
            <a:r>
              <a:rPr kumimoji="0" sz="2200" b="0" i="0" u="none" strike="noStrike" kern="1200" cap="none" spc="130" normalizeH="0" baseline="0" noProof="0" dirty="0">
                <a:ln>
                  <a:noFill/>
                </a:ln>
                <a:solidFill>
                  <a:srgbClr val="5E5E5E"/>
                </a:solidFill>
                <a:effectLst/>
                <a:uLnTx/>
                <a:uFillTx/>
                <a:latin typeface="Cambria"/>
                <a:ea typeface="+mn-ea"/>
                <a:cs typeface="Cambria"/>
              </a:rPr>
              <a:t>.</a:t>
            </a:r>
            <a:endParaRPr kumimoji="0" sz="2200" b="0" i="0" u="none" strike="noStrike" kern="1200" cap="none" spc="0" normalizeH="0" baseline="0" noProof="0" dirty="0">
              <a:ln>
                <a:noFill/>
              </a:ln>
              <a:solidFill>
                <a:prstClr val="black"/>
              </a:solidFill>
              <a:effectLst/>
              <a:uLnTx/>
              <a:uFillTx/>
              <a:latin typeface="Cambria"/>
              <a:ea typeface="+mn-ea"/>
              <a:cs typeface="Cambria"/>
            </a:endParaRPr>
          </a:p>
          <a:p>
            <a:pPr marL="355600" marR="5080" lvl="0" indent="-342900" algn="just" defTabSz="914400" rtl="0" eaLnBrk="1" fontAlgn="auto" latinLnBrk="0" hangingPunct="1">
              <a:lnSpc>
                <a:spcPct val="150000"/>
              </a:lnSpc>
              <a:spcBef>
                <a:spcPts val="1995"/>
              </a:spcBef>
              <a:spcAft>
                <a:spcPts val="0"/>
              </a:spcAft>
              <a:buClr>
                <a:srgbClr val="4189B3"/>
              </a:buClr>
              <a:buSzPct val="75000"/>
              <a:buFont typeface="Arial" panose="020B0604020202020204" pitchFamily="34" charset="0"/>
              <a:buChar char="•"/>
              <a:tabLst>
                <a:tab pos="241300" algn="l"/>
              </a:tabLst>
              <a:defRPr/>
            </a:pPr>
            <a:r>
              <a:rPr kumimoji="0" sz="2200" b="0" i="0" u="none" strike="noStrike" kern="1200" cap="none" spc="135" normalizeH="0" baseline="0" noProof="0" dirty="0">
                <a:ln>
                  <a:noFill/>
                </a:ln>
                <a:solidFill>
                  <a:srgbClr val="252525"/>
                </a:solidFill>
                <a:effectLst/>
                <a:uLnTx/>
                <a:uFillTx/>
                <a:latin typeface="Cambria"/>
                <a:ea typeface="+mn-ea"/>
                <a:cs typeface="Cambria"/>
              </a:rPr>
              <a:t>This</a:t>
            </a:r>
            <a:r>
              <a:rPr kumimoji="0" sz="2200" b="0" i="0" u="none" strike="noStrike" kern="1200" cap="none" spc="140" normalizeH="0" baseline="0" noProof="0" dirty="0">
                <a:ln>
                  <a:noFill/>
                </a:ln>
                <a:solidFill>
                  <a:srgbClr val="252525"/>
                </a:solidFill>
                <a:effectLst/>
                <a:uLnTx/>
                <a:uFillTx/>
                <a:latin typeface="Cambria"/>
                <a:ea typeface="+mn-ea"/>
                <a:cs typeface="Cambria"/>
              </a:rPr>
              <a:t> </a:t>
            </a:r>
            <a:r>
              <a:rPr kumimoji="0" sz="2200" b="0" i="0" u="none" strike="noStrike" kern="1200" cap="none" spc="110" normalizeH="0" baseline="0" noProof="0" dirty="0">
                <a:ln>
                  <a:noFill/>
                </a:ln>
                <a:solidFill>
                  <a:srgbClr val="252525"/>
                </a:solidFill>
                <a:effectLst/>
                <a:uLnTx/>
                <a:uFillTx/>
                <a:latin typeface="Cambria"/>
                <a:ea typeface="+mn-ea"/>
                <a:cs typeface="Cambria"/>
              </a:rPr>
              <a:t>is</a:t>
            </a:r>
            <a:r>
              <a:rPr kumimoji="0" sz="2200" b="0" i="0" u="none" strike="noStrike" kern="1200" cap="none" spc="114" normalizeH="0" baseline="0" noProof="0" dirty="0">
                <a:ln>
                  <a:noFill/>
                </a:ln>
                <a:solidFill>
                  <a:srgbClr val="252525"/>
                </a:solidFill>
                <a:effectLst/>
                <a:uLnTx/>
                <a:uFillTx/>
                <a:latin typeface="Cambria"/>
                <a:ea typeface="+mn-ea"/>
                <a:cs typeface="Cambria"/>
              </a:rPr>
              <a:t> </a:t>
            </a:r>
            <a:r>
              <a:rPr kumimoji="0" sz="2200" b="0" i="0" u="none" strike="noStrike" kern="1200" cap="none" spc="130" normalizeH="0" baseline="0" noProof="0" dirty="0">
                <a:ln>
                  <a:noFill/>
                </a:ln>
                <a:solidFill>
                  <a:srgbClr val="252525"/>
                </a:solidFill>
                <a:effectLst/>
                <a:uLnTx/>
                <a:uFillTx/>
                <a:latin typeface="Cambria"/>
                <a:ea typeface="+mn-ea"/>
                <a:cs typeface="Cambria"/>
              </a:rPr>
              <a:t>important</a:t>
            </a:r>
            <a:r>
              <a:rPr kumimoji="0" sz="2200" b="0" i="0" u="none" strike="noStrike" kern="1200" cap="none" spc="135" normalizeH="0" baseline="0" noProof="0" dirty="0">
                <a:ln>
                  <a:noFill/>
                </a:ln>
                <a:solidFill>
                  <a:srgbClr val="252525"/>
                </a:solidFill>
                <a:effectLst/>
                <a:uLnTx/>
                <a:uFillTx/>
                <a:latin typeface="Cambria"/>
                <a:ea typeface="+mn-ea"/>
                <a:cs typeface="Cambria"/>
              </a:rPr>
              <a:t> </a:t>
            </a:r>
            <a:r>
              <a:rPr kumimoji="0" sz="2200" b="0" i="0" u="none" strike="noStrike" kern="1200" cap="none" spc="130" normalizeH="0" baseline="0" noProof="0" dirty="0">
                <a:ln>
                  <a:noFill/>
                </a:ln>
                <a:solidFill>
                  <a:srgbClr val="252525"/>
                </a:solidFill>
                <a:effectLst/>
                <a:uLnTx/>
                <a:uFillTx/>
                <a:latin typeface="Cambria"/>
                <a:ea typeface="+mn-ea"/>
                <a:cs typeface="Cambria"/>
              </a:rPr>
              <a:t>because</a:t>
            </a:r>
            <a:r>
              <a:rPr kumimoji="0" sz="2200" b="0" i="0" u="none" strike="noStrike" kern="1200" cap="none" spc="135" normalizeH="0" baseline="0" noProof="0" dirty="0">
                <a:ln>
                  <a:noFill/>
                </a:ln>
                <a:solidFill>
                  <a:srgbClr val="252525"/>
                </a:solidFill>
                <a:effectLst/>
                <a:uLnTx/>
                <a:uFillTx/>
                <a:latin typeface="Cambria"/>
                <a:ea typeface="+mn-ea"/>
                <a:cs typeface="Cambria"/>
              </a:rPr>
              <a:t> </a:t>
            </a:r>
            <a:r>
              <a:rPr kumimoji="0" sz="2200" b="0" i="0" u="none" strike="noStrike" kern="1200" cap="none" spc="125" normalizeH="0" baseline="0" noProof="0" dirty="0">
                <a:ln>
                  <a:noFill/>
                </a:ln>
                <a:solidFill>
                  <a:srgbClr val="252525"/>
                </a:solidFill>
                <a:effectLst/>
                <a:uLnTx/>
                <a:uFillTx/>
                <a:latin typeface="Cambria"/>
                <a:ea typeface="+mn-ea"/>
                <a:cs typeface="Cambria"/>
              </a:rPr>
              <a:t>the</a:t>
            </a:r>
            <a:r>
              <a:rPr kumimoji="0" sz="2200" b="0" i="0" u="none" strike="noStrike" kern="1200" cap="none" spc="130" normalizeH="0" baseline="0" noProof="0" dirty="0">
                <a:ln>
                  <a:noFill/>
                </a:ln>
                <a:solidFill>
                  <a:srgbClr val="252525"/>
                </a:solidFill>
                <a:effectLst/>
                <a:uLnTx/>
                <a:uFillTx/>
                <a:latin typeface="Cambria"/>
                <a:ea typeface="+mn-ea"/>
                <a:cs typeface="Cambria"/>
              </a:rPr>
              <a:t> </a:t>
            </a:r>
            <a:r>
              <a:rPr kumimoji="0" sz="2200" b="0" i="0" u="none" strike="noStrike" kern="1200" cap="none" spc="130" normalizeH="0" baseline="0" noProof="0" dirty="0">
                <a:ln>
                  <a:noFill/>
                </a:ln>
                <a:solidFill>
                  <a:srgbClr val="FF0066"/>
                </a:solidFill>
                <a:effectLst/>
                <a:uLnTx/>
                <a:uFillTx/>
                <a:latin typeface="Cambria"/>
                <a:ea typeface="+mn-ea"/>
                <a:cs typeface="Cambria"/>
              </a:rPr>
              <a:t>sequence</a:t>
            </a:r>
            <a:r>
              <a:rPr kumimoji="0" sz="2200" b="0" i="0" u="none" strike="noStrike" kern="1200" cap="none" spc="135" normalizeH="0" baseline="0" noProof="0" dirty="0">
                <a:ln>
                  <a:noFill/>
                </a:ln>
                <a:solidFill>
                  <a:srgbClr val="FF0066"/>
                </a:solidFill>
                <a:effectLst/>
                <a:uLnTx/>
                <a:uFillTx/>
                <a:latin typeface="Cambria"/>
                <a:ea typeface="+mn-ea"/>
                <a:cs typeface="Cambria"/>
              </a:rPr>
              <a:t> </a:t>
            </a:r>
            <a:r>
              <a:rPr kumimoji="0" sz="2200" b="0" i="0" u="none" strike="noStrike" kern="1200" cap="none" spc="185" normalizeH="0" baseline="0" noProof="0" dirty="0">
                <a:ln>
                  <a:noFill/>
                </a:ln>
                <a:solidFill>
                  <a:srgbClr val="FF0066"/>
                </a:solidFill>
                <a:effectLst/>
                <a:uLnTx/>
                <a:uFillTx/>
                <a:latin typeface="Cambria"/>
                <a:ea typeface="+mn-ea"/>
                <a:cs typeface="Cambria"/>
              </a:rPr>
              <a:t>of</a:t>
            </a:r>
            <a:r>
              <a:rPr kumimoji="0" sz="2200" b="0" i="0" u="none" strike="noStrike" kern="1200" cap="none" spc="190" normalizeH="0" baseline="0" noProof="0" dirty="0">
                <a:ln>
                  <a:noFill/>
                </a:ln>
                <a:solidFill>
                  <a:srgbClr val="FF0066"/>
                </a:solidFill>
                <a:effectLst/>
                <a:uLnTx/>
                <a:uFillTx/>
                <a:latin typeface="Cambria"/>
                <a:ea typeface="+mn-ea"/>
                <a:cs typeface="Cambria"/>
              </a:rPr>
              <a:t> </a:t>
            </a:r>
            <a:r>
              <a:rPr kumimoji="0" sz="2200" b="0" i="0" u="none" strike="noStrike" kern="1200" cap="none" spc="135" normalizeH="0" baseline="0" noProof="0" dirty="0">
                <a:ln>
                  <a:noFill/>
                </a:ln>
                <a:solidFill>
                  <a:srgbClr val="FF0066"/>
                </a:solidFill>
                <a:effectLst/>
                <a:uLnTx/>
                <a:uFillTx/>
                <a:latin typeface="Cambria"/>
                <a:ea typeface="+mn-ea"/>
                <a:cs typeface="Cambria"/>
              </a:rPr>
              <a:t>data</a:t>
            </a:r>
            <a:r>
              <a:rPr kumimoji="0" sz="2200" b="0" i="0" u="none" strike="noStrike" kern="1200" cap="none" spc="140" normalizeH="0" baseline="0" noProof="0" dirty="0">
                <a:ln>
                  <a:noFill/>
                </a:ln>
                <a:solidFill>
                  <a:srgbClr val="FF0066"/>
                </a:solidFill>
                <a:effectLst/>
                <a:uLnTx/>
                <a:uFillTx/>
                <a:latin typeface="Cambria"/>
                <a:ea typeface="+mn-ea"/>
                <a:cs typeface="Cambria"/>
              </a:rPr>
              <a:t> </a:t>
            </a:r>
            <a:r>
              <a:rPr kumimoji="0" sz="2200" b="0" i="0" u="none" strike="noStrike" kern="1200" cap="none" spc="135" normalizeH="0" baseline="0" noProof="0" dirty="0">
                <a:ln>
                  <a:noFill/>
                </a:ln>
                <a:solidFill>
                  <a:srgbClr val="FF0066"/>
                </a:solidFill>
                <a:effectLst/>
                <a:uLnTx/>
                <a:uFillTx/>
                <a:latin typeface="Cambria"/>
                <a:ea typeface="+mn-ea"/>
                <a:cs typeface="Cambria"/>
              </a:rPr>
              <a:t>contains</a:t>
            </a:r>
            <a:r>
              <a:rPr kumimoji="0" sz="2200" b="0" i="0" u="none" strike="noStrike" kern="1200" cap="none" spc="140" normalizeH="0" baseline="0" noProof="0" dirty="0">
                <a:ln>
                  <a:noFill/>
                </a:ln>
                <a:solidFill>
                  <a:srgbClr val="FF0066"/>
                </a:solidFill>
                <a:effectLst/>
                <a:uLnTx/>
                <a:uFillTx/>
                <a:latin typeface="Cambria"/>
                <a:ea typeface="+mn-ea"/>
                <a:cs typeface="Cambria"/>
              </a:rPr>
              <a:t> </a:t>
            </a:r>
            <a:r>
              <a:rPr kumimoji="0" sz="2200" b="0" i="0" u="none" strike="noStrike" kern="1200" cap="none" spc="110" normalizeH="0" baseline="0" noProof="0" dirty="0">
                <a:ln>
                  <a:noFill/>
                </a:ln>
                <a:solidFill>
                  <a:srgbClr val="252525"/>
                </a:solidFill>
                <a:effectLst/>
                <a:uLnTx/>
                <a:uFillTx/>
                <a:latin typeface="Cambria"/>
                <a:ea typeface="+mn-ea"/>
                <a:cs typeface="Cambria"/>
              </a:rPr>
              <a:t>crucial </a:t>
            </a:r>
            <a:r>
              <a:rPr kumimoji="0" sz="2200" b="0" i="0" u="none" strike="noStrike" kern="1200" cap="none" spc="114" normalizeH="0" baseline="0" noProof="0" dirty="0">
                <a:ln>
                  <a:noFill/>
                </a:ln>
                <a:solidFill>
                  <a:srgbClr val="252525"/>
                </a:solidFill>
                <a:effectLst/>
                <a:uLnTx/>
                <a:uFillTx/>
                <a:latin typeface="Cambria"/>
                <a:ea typeface="+mn-ea"/>
                <a:cs typeface="Cambria"/>
              </a:rPr>
              <a:t> </a:t>
            </a:r>
            <a:r>
              <a:rPr kumimoji="0" sz="2200" b="0" i="0" u="none" strike="noStrike" kern="1200" cap="none" spc="135" normalizeH="0" baseline="0" noProof="0" dirty="0">
                <a:ln>
                  <a:noFill/>
                </a:ln>
                <a:solidFill>
                  <a:srgbClr val="FF0066"/>
                </a:solidFill>
                <a:effectLst/>
                <a:uLnTx/>
                <a:uFillTx/>
                <a:latin typeface="Cambria"/>
                <a:ea typeface="+mn-ea"/>
                <a:cs typeface="Cambria"/>
              </a:rPr>
              <a:t>information </a:t>
            </a:r>
            <a:r>
              <a:rPr kumimoji="0" sz="2200" b="0" i="0" u="none" strike="noStrike" kern="1200" cap="none" spc="135" normalizeH="0" baseline="0" noProof="0" dirty="0">
                <a:ln>
                  <a:noFill/>
                </a:ln>
                <a:solidFill>
                  <a:srgbClr val="252525"/>
                </a:solidFill>
                <a:effectLst/>
                <a:uLnTx/>
                <a:uFillTx/>
                <a:latin typeface="Cambria"/>
                <a:ea typeface="+mn-ea"/>
                <a:cs typeface="Cambria"/>
              </a:rPr>
              <a:t>about </a:t>
            </a:r>
            <a:r>
              <a:rPr kumimoji="0" sz="2200" b="0" i="0" u="none" strike="noStrike" kern="1200" cap="none" spc="110" normalizeH="0" baseline="0" noProof="0" dirty="0">
                <a:ln>
                  <a:noFill/>
                </a:ln>
                <a:solidFill>
                  <a:srgbClr val="252525"/>
                </a:solidFill>
                <a:effectLst/>
                <a:uLnTx/>
                <a:uFillTx/>
                <a:latin typeface="Cambria"/>
                <a:ea typeface="+mn-ea"/>
                <a:cs typeface="Cambria"/>
              </a:rPr>
              <a:t>what is </a:t>
            </a:r>
            <a:r>
              <a:rPr kumimoji="0" sz="2200" b="0" i="0" u="none" strike="noStrike" kern="1200" cap="none" spc="155" normalizeH="0" baseline="0" noProof="0" dirty="0">
                <a:ln>
                  <a:noFill/>
                </a:ln>
                <a:solidFill>
                  <a:srgbClr val="252525"/>
                </a:solidFill>
                <a:effectLst/>
                <a:uLnTx/>
                <a:uFillTx/>
                <a:latin typeface="Cambria"/>
                <a:ea typeface="+mn-ea"/>
                <a:cs typeface="Cambria"/>
              </a:rPr>
              <a:t>coming </a:t>
            </a:r>
            <a:r>
              <a:rPr kumimoji="0" sz="2200" b="0" i="0" u="none" strike="noStrike" kern="1200" cap="none" spc="125" normalizeH="0" baseline="0" noProof="0" dirty="0">
                <a:ln>
                  <a:noFill/>
                </a:ln>
                <a:solidFill>
                  <a:srgbClr val="252525"/>
                </a:solidFill>
                <a:effectLst/>
                <a:uLnTx/>
                <a:uFillTx/>
                <a:latin typeface="Cambria"/>
                <a:ea typeface="+mn-ea"/>
                <a:cs typeface="Cambria"/>
              </a:rPr>
              <a:t>next, </a:t>
            </a:r>
            <a:r>
              <a:rPr kumimoji="0" sz="2200" b="0" i="0" u="none" strike="noStrike" kern="1200" cap="none" spc="114" normalizeH="0" baseline="0" noProof="0" dirty="0">
                <a:ln>
                  <a:noFill/>
                </a:ln>
                <a:solidFill>
                  <a:srgbClr val="252525"/>
                </a:solidFill>
                <a:effectLst/>
                <a:uLnTx/>
                <a:uFillTx/>
                <a:latin typeface="Cambria"/>
                <a:ea typeface="+mn-ea"/>
                <a:cs typeface="Cambria"/>
              </a:rPr>
              <a:t>which </a:t>
            </a:r>
            <a:r>
              <a:rPr kumimoji="0" sz="2200" b="0" i="0" u="none" strike="noStrike" kern="1200" cap="none" spc="110" normalizeH="0" baseline="0" noProof="0" dirty="0">
                <a:ln>
                  <a:noFill/>
                </a:ln>
                <a:solidFill>
                  <a:srgbClr val="252525"/>
                </a:solidFill>
                <a:effectLst/>
                <a:uLnTx/>
                <a:uFillTx/>
                <a:latin typeface="Cambria"/>
                <a:ea typeface="+mn-ea"/>
                <a:cs typeface="Cambria"/>
              </a:rPr>
              <a:t>is </a:t>
            </a:r>
            <a:r>
              <a:rPr kumimoji="0" sz="2200" b="0" i="0" u="none" strike="noStrike" kern="1200" cap="none" spc="105" normalizeH="0" baseline="0" noProof="0" dirty="0">
                <a:ln>
                  <a:noFill/>
                </a:ln>
                <a:solidFill>
                  <a:srgbClr val="252525"/>
                </a:solidFill>
                <a:effectLst/>
                <a:uLnTx/>
                <a:uFillTx/>
                <a:latin typeface="Cambria"/>
                <a:ea typeface="+mn-ea"/>
                <a:cs typeface="Cambria"/>
              </a:rPr>
              <a:t>why </a:t>
            </a:r>
            <a:r>
              <a:rPr kumimoji="0" sz="2200" b="0" i="0" u="none" strike="noStrike" kern="1200" cap="none" spc="114" normalizeH="0" baseline="0" noProof="0" dirty="0">
                <a:ln>
                  <a:noFill/>
                </a:ln>
                <a:solidFill>
                  <a:srgbClr val="252525"/>
                </a:solidFill>
                <a:effectLst/>
                <a:uLnTx/>
                <a:uFillTx/>
                <a:latin typeface="Cambria"/>
                <a:ea typeface="+mn-ea"/>
                <a:cs typeface="Cambria"/>
              </a:rPr>
              <a:t>a </a:t>
            </a:r>
            <a:r>
              <a:rPr kumimoji="0" sz="2200" b="0" i="0" u="none" strike="noStrike" kern="1200" cap="none" spc="140" normalizeH="0" baseline="0" noProof="0" dirty="0">
                <a:ln>
                  <a:noFill/>
                </a:ln>
                <a:solidFill>
                  <a:srgbClr val="252525"/>
                </a:solidFill>
                <a:effectLst/>
                <a:uLnTx/>
                <a:uFillTx/>
                <a:latin typeface="Cambria"/>
                <a:ea typeface="+mn-ea"/>
                <a:cs typeface="Cambria"/>
              </a:rPr>
              <a:t>RNN can </a:t>
            </a:r>
            <a:r>
              <a:rPr kumimoji="0" sz="2200" b="0" i="0" u="none" strike="noStrike" kern="1200" cap="none" spc="175" normalizeH="0" baseline="0" noProof="0" dirty="0">
                <a:ln>
                  <a:noFill/>
                </a:ln>
                <a:solidFill>
                  <a:srgbClr val="252525"/>
                </a:solidFill>
                <a:effectLst/>
                <a:uLnTx/>
                <a:uFillTx/>
                <a:latin typeface="Cambria"/>
                <a:ea typeface="+mn-ea"/>
                <a:cs typeface="Cambria"/>
              </a:rPr>
              <a:t>do </a:t>
            </a:r>
            <a:r>
              <a:rPr kumimoji="0" sz="2200" b="0" i="0" u="none" strike="noStrike" kern="1200" cap="none" spc="180" normalizeH="0" baseline="0" noProof="0" dirty="0">
                <a:ln>
                  <a:noFill/>
                </a:ln>
                <a:solidFill>
                  <a:srgbClr val="252525"/>
                </a:solidFill>
                <a:effectLst/>
                <a:uLnTx/>
                <a:uFillTx/>
                <a:latin typeface="Cambria"/>
                <a:ea typeface="+mn-ea"/>
                <a:cs typeface="Cambria"/>
              </a:rPr>
              <a:t> </a:t>
            </a:r>
            <a:r>
              <a:rPr kumimoji="0" sz="2200" b="0" i="0" u="none" strike="noStrike" kern="1200" cap="none" spc="85" normalizeH="0" baseline="0" noProof="0" dirty="0">
                <a:ln>
                  <a:noFill/>
                </a:ln>
                <a:solidFill>
                  <a:srgbClr val="252525"/>
                </a:solidFill>
                <a:effectLst/>
                <a:uLnTx/>
                <a:uFillTx/>
                <a:latin typeface="Cambria"/>
                <a:ea typeface="+mn-ea"/>
                <a:cs typeface="Cambria"/>
              </a:rPr>
              <a:t>while</a:t>
            </a:r>
            <a:r>
              <a:rPr kumimoji="0" sz="2200" b="0" i="0" u="none" strike="noStrike" kern="1200" cap="none" spc="180" normalizeH="0" baseline="0" noProof="0" dirty="0">
                <a:ln>
                  <a:noFill/>
                </a:ln>
                <a:solidFill>
                  <a:srgbClr val="252525"/>
                </a:solidFill>
                <a:effectLst/>
                <a:uLnTx/>
                <a:uFillTx/>
                <a:latin typeface="Cambria"/>
                <a:ea typeface="+mn-ea"/>
                <a:cs typeface="Cambria"/>
              </a:rPr>
              <a:t> </a:t>
            </a:r>
            <a:r>
              <a:rPr kumimoji="0" sz="2200" b="0" i="0" u="none" strike="noStrike" kern="1200" cap="none" spc="110" normalizeH="0" baseline="0" noProof="0" dirty="0">
                <a:ln>
                  <a:noFill/>
                </a:ln>
                <a:solidFill>
                  <a:srgbClr val="252525"/>
                </a:solidFill>
                <a:effectLst/>
                <a:uLnTx/>
                <a:uFillTx/>
                <a:latin typeface="Cambria"/>
                <a:ea typeface="+mn-ea"/>
                <a:cs typeface="Cambria"/>
              </a:rPr>
              <a:t>other</a:t>
            </a:r>
            <a:r>
              <a:rPr kumimoji="0" sz="2200" b="0" i="0" u="none" strike="noStrike" kern="1200" cap="none" spc="200" normalizeH="0" baseline="0" noProof="0" dirty="0">
                <a:ln>
                  <a:noFill/>
                </a:ln>
                <a:solidFill>
                  <a:srgbClr val="252525"/>
                </a:solidFill>
                <a:effectLst/>
                <a:uLnTx/>
                <a:uFillTx/>
                <a:latin typeface="Cambria"/>
                <a:ea typeface="+mn-ea"/>
                <a:cs typeface="Cambria"/>
              </a:rPr>
              <a:t> </a:t>
            </a:r>
            <a:r>
              <a:rPr kumimoji="0" sz="2200" b="0" i="0" u="none" strike="noStrike" kern="1200" cap="none" spc="130" normalizeH="0" baseline="0" noProof="0" dirty="0">
                <a:ln>
                  <a:noFill/>
                </a:ln>
                <a:solidFill>
                  <a:srgbClr val="252525"/>
                </a:solidFill>
                <a:effectLst/>
                <a:uLnTx/>
                <a:uFillTx/>
                <a:latin typeface="Cambria"/>
                <a:ea typeface="+mn-ea"/>
                <a:cs typeface="Cambria"/>
              </a:rPr>
              <a:t>algorithms</a:t>
            </a:r>
            <a:r>
              <a:rPr kumimoji="0" sz="2200" b="0" i="0" u="none" strike="noStrike" kern="1200" cap="none" spc="215" normalizeH="0" baseline="0" noProof="0" dirty="0">
                <a:ln>
                  <a:noFill/>
                </a:ln>
                <a:solidFill>
                  <a:srgbClr val="252525"/>
                </a:solidFill>
                <a:effectLst/>
                <a:uLnTx/>
                <a:uFillTx/>
                <a:latin typeface="Cambria"/>
                <a:ea typeface="+mn-ea"/>
                <a:cs typeface="Cambria"/>
              </a:rPr>
              <a:t> </a:t>
            </a:r>
            <a:r>
              <a:rPr kumimoji="0" sz="2200" b="0" i="0" u="none" strike="noStrike" kern="1200" cap="none" spc="70" normalizeH="0" baseline="0" noProof="0" dirty="0">
                <a:ln>
                  <a:noFill/>
                </a:ln>
                <a:solidFill>
                  <a:srgbClr val="252525"/>
                </a:solidFill>
                <a:effectLst/>
                <a:uLnTx/>
                <a:uFillTx/>
                <a:latin typeface="Cambria"/>
                <a:ea typeface="+mn-ea"/>
                <a:cs typeface="Cambria"/>
              </a:rPr>
              <a:t>can</a:t>
            </a:r>
            <a:r>
              <a:rPr kumimoji="0" sz="2200" b="0" i="0" u="none" strike="noStrike" kern="1200" cap="none" spc="70" normalizeH="0" baseline="0" noProof="0" dirty="0">
                <a:ln>
                  <a:noFill/>
                </a:ln>
                <a:solidFill>
                  <a:srgbClr val="252525"/>
                </a:solidFill>
                <a:effectLst/>
                <a:uLnTx/>
                <a:uFillTx/>
                <a:latin typeface="Trebuchet MS"/>
                <a:ea typeface="+mn-ea"/>
                <a:cs typeface="Trebuchet MS"/>
              </a:rPr>
              <a:t>’</a:t>
            </a:r>
            <a:r>
              <a:rPr kumimoji="0" sz="2200" b="0" i="0" u="none" strike="noStrike" kern="1200" cap="none" spc="70" normalizeH="0" baseline="0" noProof="0" dirty="0">
                <a:ln>
                  <a:noFill/>
                </a:ln>
                <a:solidFill>
                  <a:srgbClr val="252525"/>
                </a:solidFill>
                <a:effectLst/>
                <a:uLnTx/>
                <a:uFillTx/>
                <a:latin typeface="Cambria"/>
                <a:ea typeface="+mn-ea"/>
                <a:cs typeface="Cambria"/>
              </a:rPr>
              <a:t>t.</a:t>
            </a:r>
            <a:endParaRPr kumimoji="0" sz="2200" b="0" i="0" u="none" strike="noStrike" kern="1200" cap="none" spc="0" normalizeH="0" baseline="0" noProof="0" dirty="0">
              <a:ln>
                <a:noFill/>
              </a:ln>
              <a:solidFill>
                <a:prstClr val="black"/>
              </a:solidFill>
              <a:effectLst/>
              <a:uLnTx/>
              <a:uFillTx/>
              <a:latin typeface="Cambria"/>
              <a:ea typeface="+mn-ea"/>
              <a:cs typeface="Cambria"/>
            </a:endParaRPr>
          </a:p>
        </p:txBody>
      </p:sp>
      <p:sp>
        <p:nvSpPr>
          <p:cNvPr id="10" name="object 10"/>
          <p:cNvSpPr txBox="1"/>
          <p:nvPr/>
        </p:nvSpPr>
        <p:spPr>
          <a:xfrm>
            <a:off x="10824464" y="6506057"/>
            <a:ext cx="1002665" cy="19431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45" normalizeH="0" baseline="0" noProof="0" dirty="0">
                <a:ln>
                  <a:noFill/>
                </a:ln>
                <a:solidFill>
                  <a:srgbClr val="585858"/>
                </a:solidFill>
                <a:effectLst/>
                <a:uLnTx/>
                <a:uFillTx/>
                <a:latin typeface="Cambria"/>
                <a:ea typeface="+mn-ea"/>
                <a:cs typeface="Cambria"/>
              </a:rPr>
              <a:t>March</a:t>
            </a:r>
            <a:r>
              <a:rPr kumimoji="0" sz="1100" b="0" i="0" u="none" strike="noStrike" kern="1200" cap="none" spc="-10" normalizeH="0" baseline="0" noProof="0" dirty="0">
                <a:ln>
                  <a:noFill/>
                </a:ln>
                <a:solidFill>
                  <a:srgbClr val="585858"/>
                </a:solidFill>
                <a:effectLst/>
                <a:uLnTx/>
                <a:uFillTx/>
                <a:latin typeface="Cambria"/>
                <a:ea typeface="+mn-ea"/>
                <a:cs typeface="Cambria"/>
              </a:rPr>
              <a:t> </a:t>
            </a:r>
            <a:r>
              <a:rPr kumimoji="0" sz="1100" b="0" i="0" u="none" strike="noStrike" kern="1200" cap="none" spc="25" normalizeH="0" baseline="0" noProof="0" dirty="0">
                <a:ln>
                  <a:noFill/>
                </a:ln>
                <a:solidFill>
                  <a:srgbClr val="585858"/>
                </a:solidFill>
                <a:effectLst/>
                <a:uLnTx/>
                <a:uFillTx/>
                <a:latin typeface="Cambria"/>
                <a:ea typeface="+mn-ea"/>
                <a:cs typeface="Cambria"/>
              </a:rPr>
              <a:t>28,</a:t>
            </a:r>
            <a:r>
              <a:rPr kumimoji="0" sz="1100" b="0" i="0" u="none" strike="noStrike" kern="1200" cap="none" spc="0" normalizeH="0" baseline="0" noProof="0" dirty="0">
                <a:ln>
                  <a:noFill/>
                </a:ln>
                <a:solidFill>
                  <a:srgbClr val="585858"/>
                </a:solidFill>
                <a:effectLst/>
                <a:uLnTx/>
                <a:uFillTx/>
                <a:latin typeface="Cambria"/>
                <a:ea typeface="+mn-ea"/>
                <a:cs typeface="Cambria"/>
              </a:rPr>
              <a:t> </a:t>
            </a:r>
            <a:r>
              <a:rPr kumimoji="0" sz="1100" b="0" i="0" u="none" strike="noStrike" kern="1200" cap="none" spc="-10" normalizeH="0" baseline="0" noProof="0" dirty="0">
                <a:ln>
                  <a:noFill/>
                </a:ln>
                <a:solidFill>
                  <a:srgbClr val="585858"/>
                </a:solidFill>
                <a:effectLst/>
                <a:uLnTx/>
                <a:uFillTx/>
                <a:latin typeface="Cambria"/>
                <a:ea typeface="+mn-ea"/>
                <a:cs typeface="Cambria"/>
              </a:rPr>
              <a:t>2022</a:t>
            </a:r>
            <a:endParaRPr kumimoji="0" sz="1100" b="0" i="0" u="none" strike="noStrike" kern="1200" cap="none" spc="0" normalizeH="0" baseline="0" noProof="0">
              <a:ln>
                <a:noFill/>
              </a:ln>
              <a:solidFill>
                <a:prstClr val="black"/>
              </a:solidFill>
              <a:effectLst/>
              <a:uLnTx/>
              <a:uFillTx/>
              <a:latin typeface="Cambria"/>
              <a:ea typeface="+mn-ea"/>
              <a:cs typeface="Cambria"/>
            </a:endParaRPr>
          </a:p>
        </p:txBody>
      </p:sp>
      <p:sp>
        <p:nvSpPr>
          <p:cNvPr id="11" name="object 11"/>
          <p:cNvSpPr txBox="1"/>
          <p:nvPr/>
        </p:nvSpPr>
        <p:spPr>
          <a:xfrm>
            <a:off x="11509375" y="339597"/>
            <a:ext cx="217804" cy="2393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0" i="0" u="none" strike="noStrike" kern="1200" cap="none" spc="-20" normalizeH="0" baseline="0" noProof="0" dirty="0">
                <a:ln>
                  <a:noFill/>
                </a:ln>
                <a:solidFill>
                  <a:srgbClr val="FFFFFF"/>
                </a:solidFill>
                <a:effectLst/>
                <a:uLnTx/>
                <a:uFillTx/>
                <a:latin typeface="Cambria"/>
                <a:ea typeface="+mn-ea"/>
                <a:cs typeface="Cambria"/>
              </a:rPr>
              <a:t>65</a:t>
            </a:r>
            <a:endParaRPr kumimoji="0" sz="1400" b="0" i="0" u="none" strike="noStrike" kern="1200" cap="none" spc="0" normalizeH="0" baseline="0" noProof="0">
              <a:ln>
                <a:noFill/>
              </a:ln>
              <a:solidFill>
                <a:prstClr val="black"/>
              </a:solidFill>
              <a:effectLst/>
              <a:uLnTx/>
              <a:uFillTx/>
              <a:latin typeface="Cambria"/>
              <a:ea typeface="+mn-ea"/>
              <a:cs typeface="Cambria"/>
            </a:endParaRPr>
          </a:p>
        </p:txBody>
      </p:sp>
      <p:sp>
        <p:nvSpPr>
          <p:cNvPr id="12" name="object 12"/>
          <p:cNvSpPr txBox="1"/>
          <p:nvPr/>
        </p:nvSpPr>
        <p:spPr>
          <a:xfrm>
            <a:off x="664463" y="3304032"/>
            <a:ext cx="10075545" cy="859790"/>
          </a:xfrm>
          <a:prstGeom prst="rect">
            <a:avLst/>
          </a:prstGeom>
          <a:solidFill>
            <a:schemeClr val="tx2">
              <a:lumMod val="20000"/>
              <a:lumOff val="80000"/>
            </a:schemeClr>
          </a:solidFill>
        </p:spPr>
        <p:txBody>
          <a:bodyPr vert="horz" wrap="square" lIns="0" tIns="170180" rIns="0" bIns="0" rtlCol="0">
            <a:spAutoFit/>
          </a:bodyPr>
          <a:lstStyle/>
          <a:p>
            <a:pPr marL="544195" marR="0" lvl="0" indent="0" algn="l" defTabSz="914400" rtl="0" eaLnBrk="1" fontAlgn="auto" latinLnBrk="0" hangingPunct="1">
              <a:lnSpc>
                <a:spcPct val="100000"/>
              </a:lnSpc>
              <a:spcBef>
                <a:spcPts val="1340"/>
              </a:spcBef>
              <a:spcAft>
                <a:spcPts val="0"/>
              </a:spcAft>
              <a:buClrTx/>
              <a:buSzTx/>
              <a:buFontTx/>
              <a:buNone/>
              <a:tabLst/>
              <a:defRPr/>
            </a:pPr>
            <a:r>
              <a:rPr kumimoji="0" sz="2800" b="0" i="0" u="none" strike="noStrike" kern="1200" cap="none" spc="135" normalizeH="0" baseline="0" noProof="0" dirty="0">
                <a:ln>
                  <a:noFill/>
                </a:ln>
                <a:solidFill>
                  <a:srgbClr val="FF0066"/>
                </a:solidFill>
                <a:effectLst/>
                <a:uLnTx/>
                <a:uFillTx/>
                <a:latin typeface="Cambria"/>
                <a:ea typeface="+mn-ea"/>
                <a:cs typeface="Cambria"/>
              </a:rPr>
              <a:t>Simply:</a:t>
            </a:r>
            <a:r>
              <a:rPr kumimoji="0" sz="2800" b="0" i="0" u="none" strike="noStrike" kern="1200" cap="none" spc="280" normalizeH="0" baseline="0" noProof="0" dirty="0">
                <a:ln>
                  <a:noFill/>
                </a:ln>
                <a:solidFill>
                  <a:srgbClr val="FF0066"/>
                </a:solidFill>
                <a:effectLst/>
                <a:uLnTx/>
                <a:uFillTx/>
                <a:latin typeface="Cambria"/>
                <a:ea typeface="+mn-ea"/>
                <a:cs typeface="Cambria"/>
              </a:rPr>
              <a:t> </a:t>
            </a:r>
            <a:r>
              <a:rPr kumimoji="0" sz="2800" b="0" i="0" u="none" strike="noStrike" kern="1200" cap="none" spc="170" normalizeH="0" baseline="0" noProof="0" dirty="0">
                <a:ln>
                  <a:noFill/>
                </a:ln>
                <a:solidFill>
                  <a:srgbClr val="252525"/>
                </a:solidFill>
                <a:effectLst/>
                <a:uLnTx/>
                <a:uFillTx/>
                <a:latin typeface="Cambria"/>
                <a:ea typeface="+mn-ea"/>
                <a:cs typeface="Cambria"/>
              </a:rPr>
              <a:t>RNN</a:t>
            </a:r>
            <a:r>
              <a:rPr kumimoji="0" sz="2800" b="0" i="0" u="none" strike="noStrike" kern="1200" cap="none" spc="250" normalizeH="0" baseline="0" noProof="0" dirty="0">
                <a:ln>
                  <a:noFill/>
                </a:ln>
                <a:solidFill>
                  <a:srgbClr val="252525"/>
                </a:solidFill>
                <a:effectLst/>
                <a:uLnTx/>
                <a:uFillTx/>
                <a:latin typeface="Cambria"/>
                <a:ea typeface="+mn-ea"/>
                <a:cs typeface="Cambria"/>
              </a:rPr>
              <a:t> </a:t>
            </a:r>
            <a:r>
              <a:rPr kumimoji="0" sz="2800" b="0" i="0" u="none" strike="noStrike" kern="1200" cap="none" spc="210" normalizeH="0" baseline="0" noProof="0" dirty="0">
                <a:ln>
                  <a:noFill/>
                </a:ln>
                <a:solidFill>
                  <a:srgbClr val="252525"/>
                </a:solidFill>
                <a:effectLst/>
                <a:uLnTx/>
                <a:uFillTx/>
                <a:latin typeface="Cambria"/>
                <a:ea typeface="+mn-ea"/>
                <a:cs typeface="Cambria"/>
              </a:rPr>
              <a:t>add</a:t>
            </a:r>
            <a:r>
              <a:rPr kumimoji="0" sz="2800" b="0" i="0" u="none" strike="noStrike" kern="1200" cap="none" spc="250" normalizeH="0" baseline="0" noProof="0" dirty="0">
                <a:ln>
                  <a:noFill/>
                </a:ln>
                <a:solidFill>
                  <a:srgbClr val="252525"/>
                </a:solidFill>
                <a:effectLst/>
                <a:uLnTx/>
                <a:uFillTx/>
                <a:latin typeface="Cambria"/>
                <a:ea typeface="+mn-ea"/>
                <a:cs typeface="Cambria"/>
              </a:rPr>
              <a:t> </a:t>
            </a:r>
            <a:r>
              <a:rPr kumimoji="0" sz="2800" b="0" i="0" u="none" strike="noStrike" kern="1200" cap="none" spc="160" normalizeH="0" baseline="0" noProof="0" dirty="0">
                <a:ln>
                  <a:noFill/>
                </a:ln>
                <a:solidFill>
                  <a:srgbClr val="252525"/>
                </a:solidFill>
                <a:effectLst/>
                <a:uLnTx/>
                <a:uFillTx/>
                <a:latin typeface="Cambria"/>
                <a:ea typeface="+mn-ea"/>
                <a:cs typeface="Cambria"/>
              </a:rPr>
              <a:t>the</a:t>
            </a:r>
            <a:r>
              <a:rPr kumimoji="0" sz="2800" b="0" i="0" u="none" strike="noStrike" kern="1200" cap="none" spc="254" normalizeH="0" baseline="0" noProof="0" dirty="0">
                <a:ln>
                  <a:noFill/>
                </a:ln>
                <a:solidFill>
                  <a:srgbClr val="252525"/>
                </a:solidFill>
                <a:effectLst/>
                <a:uLnTx/>
                <a:uFillTx/>
                <a:latin typeface="Cambria"/>
                <a:ea typeface="+mn-ea"/>
                <a:cs typeface="Cambria"/>
              </a:rPr>
              <a:t> </a:t>
            </a:r>
            <a:r>
              <a:rPr kumimoji="0" sz="2800" b="0" i="0" u="none" strike="noStrike" kern="1200" cap="none" spc="165" normalizeH="0" baseline="0" noProof="0" dirty="0">
                <a:ln>
                  <a:noFill/>
                </a:ln>
                <a:solidFill>
                  <a:srgbClr val="252525"/>
                </a:solidFill>
                <a:effectLst/>
                <a:uLnTx/>
                <a:uFillTx/>
                <a:latin typeface="Cambria"/>
                <a:ea typeface="+mn-ea"/>
                <a:cs typeface="Cambria"/>
              </a:rPr>
              <a:t>immediate</a:t>
            </a:r>
            <a:r>
              <a:rPr kumimoji="0" sz="2800" b="0" i="0" u="none" strike="noStrike" kern="1200" cap="none" spc="285" normalizeH="0" baseline="0" noProof="0" dirty="0">
                <a:ln>
                  <a:noFill/>
                </a:ln>
                <a:solidFill>
                  <a:srgbClr val="252525"/>
                </a:solidFill>
                <a:effectLst/>
                <a:uLnTx/>
                <a:uFillTx/>
                <a:latin typeface="Cambria"/>
                <a:ea typeface="+mn-ea"/>
                <a:cs typeface="Cambria"/>
              </a:rPr>
              <a:t> </a:t>
            </a:r>
            <a:r>
              <a:rPr kumimoji="0" sz="2800" b="0" i="0" u="none" strike="noStrike" kern="1200" cap="none" spc="175" normalizeH="0" baseline="0" noProof="0" dirty="0">
                <a:ln>
                  <a:noFill/>
                </a:ln>
                <a:solidFill>
                  <a:srgbClr val="252525"/>
                </a:solidFill>
                <a:effectLst/>
                <a:uLnTx/>
                <a:uFillTx/>
                <a:latin typeface="Cambria"/>
                <a:ea typeface="+mn-ea"/>
                <a:cs typeface="Cambria"/>
              </a:rPr>
              <a:t>past</a:t>
            </a:r>
            <a:r>
              <a:rPr kumimoji="0" sz="2800" b="0" i="0" u="none" strike="noStrike" kern="1200" cap="none" spc="295" normalizeH="0" baseline="0" noProof="0" dirty="0">
                <a:ln>
                  <a:noFill/>
                </a:ln>
                <a:solidFill>
                  <a:srgbClr val="252525"/>
                </a:solidFill>
                <a:effectLst/>
                <a:uLnTx/>
                <a:uFillTx/>
                <a:latin typeface="Cambria"/>
                <a:ea typeface="+mn-ea"/>
                <a:cs typeface="Cambria"/>
              </a:rPr>
              <a:t> </a:t>
            </a:r>
            <a:r>
              <a:rPr kumimoji="0" sz="2800" b="0" i="0" u="none" strike="noStrike" kern="1200" cap="none" spc="170" normalizeH="0" baseline="0" noProof="0" dirty="0">
                <a:ln>
                  <a:noFill/>
                </a:ln>
                <a:solidFill>
                  <a:srgbClr val="252525"/>
                </a:solidFill>
                <a:effectLst/>
                <a:uLnTx/>
                <a:uFillTx/>
                <a:latin typeface="Cambria"/>
                <a:ea typeface="+mn-ea"/>
                <a:cs typeface="Cambria"/>
              </a:rPr>
              <a:t>to</a:t>
            </a:r>
            <a:r>
              <a:rPr kumimoji="0" sz="2800" b="0" i="0" u="none" strike="noStrike" kern="1200" cap="none" spc="229" normalizeH="0" baseline="0" noProof="0" dirty="0">
                <a:ln>
                  <a:noFill/>
                </a:ln>
                <a:solidFill>
                  <a:srgbClr val="252525"/>
                </a:solidFill>
                <a:effectLst/>
                <a:uLnTx/>
                <a:uFillTx/>
                <a:latin typeface="Cambria"/>
                <a:ea typeface="+mn-ea"/>
                <a:cs typeface="Cambria"/>
              </a:rPr>
              <a:t> </a:t>
            </a:r>
            <a:r>
              <a:rPr kumimoji="0" sz="2800" b="0" i="0" u="none" strike="noStrike" kern="1200" cap="none" spc="160" normalizeH="0" baseline="0" noProof="0" dirty="0">
                <a:ln>
                  <a:noFill/>
                </a:ln>
                <a:solidFill>
                  <a:srgbClr val="252525"/>
                </a:solidFill>
                <a:effectLst/>
                <a:uLnTx/>
                <a:uFillTx/>
                <a:latin typeface="Cambria"/>
                <a:ea typeface="+mn-ea"/>
                <a:cs typeface="Cambria"/>
              </a:rPr>
              <a:t>the</a:t>
            </a:r>
            <a:r>
              <a:rPr kumimoji="0" sz="2800" b="0" i="0" u="none" strike="noStrike" kern="1200" cap="none" spc="245" normalizeH="0" baseline="0" noProof="0" dirty="0">
                <a:ln>
                  <a:noFill/>
                </a:ln>
                <a:solidFill>
                  <a:srgbClr val="252525"/>
                </a:solidFill>
                <a:effectLst/>
                <a:uLnTx/>
                <a:uFillTx/>
                <a:latin typeface="Cambria"/>
                <a:ea typeface="+mn-ea"/>
                <a:cs typeface="Cambria"/>
              </a:rPr>
              <a:t> </a:t>
            </a:r>
            <a:r>
              <a:rPr kumimoji="0" sz="2800" b="0" i="0" u="none" strike="noStrike" kern="1200" cap="none" spc="150" normalizeH="0" baseline="0" noProof="0" dirty="0">
                <a:ln>
                  <a:noFill/>
                </a:ln>
                <a:solidFill>
                  <a:srgbClr val="252525"/>
                </a:solidFill>
                <a:effectLst/>
                <a:uLnTx/>
                <a:uFillTx/>
                <a:latin typeface="Cambria"/>
                <a:ea typeface="+mn-ea"/>
                <a:cs typeface="Cambria"/>
              </a:rPr>
              <a:t>present.</a:t>
            </a:r>
            <a:endParaRPr kumimoji="0" sz="2800" b="0" i="0" u="none" strike="noStrike" kern="1200" cap="none" spc="0" normalizeH="0" baseline="0" noProof="0" dirty="0">
              <a:ln>
                <a:noFill/>
              </a:ln>
              <a:solidFill>
                <a:prstClr val="black"/>
              </a:solidFill>
              <a:effectLst/>
              <a:uLnTx/>
              <a:uFillTx/>
              <a:latin typeface="Cambria"/>
              <a:ea typeface="+mn-ea"/>
              <a:cs typeface="Cambria"/>
            </a:endParaRPr>
          </a:p>
        </p:txBody>
      </p:sp>
      <p:sp>
        <p:nvSpPr>
          <p:cNvPr id="2" name="object 5">
            <a:extLst>
              <a:ext uri="{FF2B5EF4-FFF2-40B4-BE49-F238E27FC236}">
                <a16:creationId xmlns:a16="http://schemas.microsoft.com/office/drawing/2014/main" id="{676E5341-835D-1B6D-2F52-33182E2CAF06}"/>
              </a:ext>
            </a:extLst>
          </p:cNvPr>
          <p:cNvSpPr txBox="1">
            <a:spLocks/>
          </p:cNvSpPr>
          <p:nvPr/>
        </p:nvSpPr>
        <p:spPr>
          <a:xfrm>
            <a:off x="365556" y="35889"/>
            <a:ext cx="9917057" cy="694207"/>
          </a:xfrm>
          <a:prstGeom prst="rect">
            <a:avLst/>
          </a:prstGeom>
        </p:spPr>
        <p:txBody>
          <a:bodyPr vert="horz" wrap="square" lIns="0" tIns="16933"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6933">
              <a:lnSpc>
                <a:spcPct val="100000"/>
              </a:lnSpc>
              <a:spcBef>
                <a:spcPts val="133"/>
              </a:spcBef>
            </a:pPr>
            <a:r>
              <a:rPr lang="en-US" spc="133">
                <a:solidFill>
                  <a:srgbClr val="1A1A1A"/>
                </a:solidFill>
                <a:latin typeface="Trebuchet MS"/>
                <a:cs typeface="Trebuchet MS"/>
              </a:rPr>
              <a:t>R</a:t>
            </a:r>
            <a:r>
              <a:rPr lang="en-US" spc="13">
                <a:solidFill>
                  <a:srgbClr val="1A1A1A"/>
                </a:solidFill>
                <a:latin typeface="Trebuchet MS"/>
                <a:cs typeface="Trebuchet MS"/>
              </a:rPr>
              <a:t>ecur</a:t>
            </a:r>
            <a:r>
              <a:rPr lang="en-US" spc="-13">
                <a:solidFill>
                  <a:srgbClr val="1A1A1A"/>
                </a:solidFill>
                <a:latin typeface="Trebuchet MS"/>
                <a:cs typeface="Trebuchet MS"/>
              </a:rPr>
              <a:t>r</a:t>
            </a:r>
            <a:r>
              <a:rPr lang="en-US" spc="67">
                <a:solidFill>
                  <a:srgbClr val="1A1A1A"/>
                </a:solidFill>
                <a:latin typeface="Trebuchet MS"/>
                <a:cs typeface="Trebuchet MS"/>
              </a:rPr>
              <a:t>e</a:t>
            </a:r>
            <a:r>
              <a:rPr lang="en-US" spc="53">
                <a:solidFill>
                  <a:srgbClr val="1A1A1A"/>
                </a:solidFill>
                <a:latin typeface="Trebuchet MS"/>
                <a:cs typeface="Trebuchet MS"/>
              </a:rPr>
              <a:t>n</a:t>
            </a:r>
            <a:r>
              <a:rPr lang="en-US" spc="-47">
                <a:solidFill>
                  <a:srgbClr val="1A1A1A"/>
                </a:solidFill>
                <a:latin typeface="Trebuchet MS"/>
                <a:cs typeface="Trebuchet MS"/>
              </a:rPr>
              <a:t>t</a:t>
            </a:r>
            <a:r>
              <a:rPr lang="en-US" spc="-233">
                <a:solidFill>
                  <a:srgbClr val="1A1A1A"/>
                </a:solidFill>
                <a:latin typeface="Trebuchet MS"/>
                <a:cs typeface="Trebuchet MS"/>
              </a:rPr>
              <a:t> </a:t>
            </a:r>
            <a:r>
              <a:rPr lang="en-US" spc="320">
                <a:solidFill>
                  <a:srgbClr val="1A1A1A"/>
                </a:solidFill>
                <a:latin typeface="Trebuchet MS"/>
                <a:cs typeface="Trebuchet MS"/>
              </a:rPr>
              <a:t>N</a:t>
            </a:r>
            <a:r>
              <a:rPr lang="en-US" spc="13">
                <a:solidFill>
                  <a:srgbClr val="1A1A1A"/>
                </a:solidFill>
                <a:latin typeface="Trebuchet MS"/>
                <a:cs typeface="Trebuchet MS"/>
              </a:rPr>
              <a:t>eu</a:t>
            </a:r>
            <a:r>
              <a:rPr lang="en-US" spc="-7">
                <a:solidFill>
                  <a:srgbClr val="1A1A1A"/>
                </a:solidFill>
                <a:latin typeface="Trebuchet MS"/>
                <a:cs typeface="Trebuchet MS"/>
              </a:rPr>
              <a:t>r</a:t>
            </a:r>
            <a:r>
              <a:rPr lang="en-US" spc="113">
                <a:solidFill>
                  <a:srgbClr val="1A1A1A"/>
                </a:solidFill>
                <a:latin typeface="Trebuchet MS"/>
                <a:cs typeface="Trebuchet MS"/>
              </a:rPr>
              <a:t>al</a:t>
            </a:r>
            <a:r>
              <a:rPr lang="en-US" spc="-327">
                <a:solidFill>
                  <a:srgbClr val="1A1A1A"/>
                </a:solidFill>
                <a:latin typeface="Trebuchet MS"/>
                <a:cs typeface="Trebuchet MS"/>
              </a:rPr>
              <a:t> </a:t>
            </a:r>
            <a:r>
              <a:rPr lang="en-US" spc="320">
                <a:solidFill>
                  <a:srgbClr val="1A1A1A"/>
                </a:solidFill>
                <a:latin typeface="Trebuchet MS"/>
                <a:cs typeface="Trebuchet MS"/>
              </a:rPr>
              <a:t>N</a:t>
            </a:r>
            <a:r>
              <a:rPr lang="en-US" spc="67">
                <a:solidFill>
                  <a:srgbClr val="1A1A1A"/>
                </a:solidFill>
                <a:latin typeface="Trebuchet MS"/>
                <a:cs typeface="Trebuchet MS"/>
              </a:rPr>
              <a:t>e</a:t>
            </a:r>
            <a:r>
              <a:rPr lang="en-US" spc="-53">
                <a:solidFill>
                  <a:srgbClr val="1A1A1A"/>
                </a:solidFill>
                <a:latin typeface="Trebuchet MS"/>
                <a:cs typeface="Trebuchet MS"/>
              </a:rPr>
              <a:t>t</a:t>
            </a:r>
            <a:r>
              <a:rPr lang="en-US" spc="133">
                <a:solidFill>
                  <a:srgbClr val="1A1A1A"/>
                </a:solidFill>
                <a:latin typeface="Trebuchet MS"/>
                <a:cs typeface="Trebuchet MS"/>
              </a:rPr>
              <a:t>w</a:t>
            </a:r>
            <a:r>
              <a:rPr lang="en-US" spc="7">
                <a:solidFill>
                  <a:srgbClr val="1A1A1A"/>
                </a:solidFill>
                <a:latin typeface="Trebuchet MS"/>
                <a:cs typeface="Trebuchet MS"/>
              </a:rPr>
              <a:t>or</a:t>
            </a:r>
            <a:r>
              <a:rPr lang="en-US" spc="-7">
                <a:solidFill>
                  <a:srgbClr val="1A1A1A"/>
                </a:solidFill>
                <a:latin typeface="Trebuchet MS"/>
                <a:cs typeface="Trebuchet MS"/>
              </a:rPr>
              <a:t>k</a:t>
            </a:r>
            <a:r>
              <a:rPr lang="en-US" spc="233">
                <a:solidFill>
                  <a:srgbClr val="1A1A1A"/>
                </a:solidFill>
                <a:latin typeface="Trebuchet MS"/>
                <a:cs typeface="Trebuchet MS"/>
              </a:rPr>
              <a:t>s</a:t>
            </a:r>
            <a:r>
              <a:rPr lang="en-US" spc="-233">
                <a:solidFill>
                  <a:srgbClr val="1A1A1A"/>
                </a:solidFill>
                <a:latin typeface="Trebuchet MS"/>
                <a:cs typeface="Trebuchet MS"/>
              </a:rPr>
              <a:t> </a:t>
            </a:r>
            <a:r>
              <a:rPr lang="en-US" spc="93">
                <a:solidFill>
                  <a:srgbClr val="1A1A1A"/>
                </a:solidFill>
                <a:latin typeface="Trebuchet MS"/>
                <a:cs typeface="Trebuchet MS"/>
              </a:rPr>
              <a:t>(RNN)</a:t>
            </a:r>
            <a:endParaRPr lang="en-US" spc="93" dirty="0">
              <a:solidFill>
                <a:srgbClr val="1A1A1A"/>
              </a:solidFill>
              <a:latin typeface="Trebuchet MS"/>
              <a:cs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6735" y="504450"/>
            <a:ext cx="8775865" cy="632651"/>
          </a:xfrm>
          <a:prstGeom prst="rect">
            <a:avLst/>
          </a:prstGeom>
        </p:spPr>
        <p:txBody>
          <a:bodyPr vert="horz" wrap="square" lIns="0" tIns="16933" rIns="0" bIns="0" rtlCol="0" anchor="ctr">
            <a:spAutoFit/>
          </a:bodyPr>
          <a:lstStyle/>
          <a:p>
            <a:pPr marL="16933">
              <a:lnSpc>
                <a:spcPct val="100000"/>
              </a:lnSpc>
              <a:spcBef>
                <a:spcPts val="133"/>
              </a:spcBef>
            </a:pPr>
            <a:r>
              <a:rPr lang="en-US" sz="4000" b="1" spc="-193" dirty="0">
                <a:solidFill>
                  <a:srgbClr val="1A1A1A"/>
                </a:solidFill>
                <a:latin typeface="Times New Roman" panose="02020603050405020304" pitchFamily="18" charset="0"/>
                <a:cs typeface="Times New Roman" panose="02020603050405020304" pitchFamily="18" charset="0"/>
              </a:rPr>
              <a:t>Basic </a:t>
            </a:r>
            <a:r>
              <a:rPr sz="4000" b="1" spc="-193" dirty="0">
                <a:solidFill>
                  <a:srgbClr val="1A1A1A"/>
                </a:solidFill>
                <a:latin typeface="Times New Roman" panose="02020603050405020304" pitchFamily="18" charset="0"/>
                <a:cs typeface="Times New Roman" panose="02020603050405020304" pitchFamily="18" charset="0"/>
              </a:rPr>
              <a:t>Recurrent</a:t>
            </a:r>
            <a:r>
              <a:rPr sz="4000" b="1" spc="-373" dirty="0">
                <a:solidFill>
                  <a:srgbClr val="1A1A1A"/>
                </a:solidFill>
                <a:latin typeface="Times New Roman" panose="02020603050405020304" pitchFamily="18" charset="0"/>
                <a:cs typeface="Times New Roman" panose="02020603050405020304" pitchFamily="18" charset="0"/>
              </a:rPr>
              <a:t> </a:t>
            </a:r>
            <a:r>
              <a:rPr sz="4000" b="1" spc="-180" dirty="0">
                <a:solidFill>
                  <a:srgbClr val="1A1A1A"/>
                </a:solidFill>
                <a:latin typeface="Times New Roman" panose="02020603050405020304" pitchFamily="18" charset="0"/>
                <a:cs typeface="Times New Roman" panose="02020603050405020304" pitchFamily="18" charset="0"/>
              </a:rPr>
              <a:t>Neu</a:t>
            </a:r>
            <a:r>
              <a:rPr sz="4000" b="1" spc="-167" dirty="0">
                <a:solidFill>
                  <a:srgbClr val="1A1A1A"/>
                </a:solidFill>
                <a:latin typeface="Times New Roman" panose="02020603050405020304" pitchFamily="18" charset="0"/>
                <a:cs typeface="Times New Roman" panose="02020603050405020304" pitchFamily="18" charset="0"/>
              </a:rPr>
              <a:t>r</a:t>
            </a:r>
            <a:r>
              <a:rPr sz="4000" b="1" spc="-272" dirty="0">
                <a:solidFill>
                  <a:srgbClr val="1A1A1A"/>
                </a:solidFill>
                <a:latin typeface="Times New Roman" panose="02020603050405020304" pitchFamily="18" charset="0"/>
                <a:cs typeface="Times New Roman" panose="02020603050405020304" pitchFamily="18" charset="0"/>
              </a:rPr>
              <a:t>a</a:t>
            </a:r>
            <a:r>
              <a:rPr sz="4000" b="1" spc="-133" dirty="0">
                <a:solidFill>
                  <a:srgbClr val="1A1A1A"/>
                </a:solidFill>
                <a:latin typeface="Times New Roman" panose="02020603050405020304" pitchFamily="18" charset="0"/>
                <a:cs typeface="Times New Roman" panose="02020603050405020304" pitchFamily="18" charset="0"/>
              </a:rPr>
              <a:t>l</a:t>
            </a:r>
            <a:r>
              <a:rPr sz="4000" b="1" spc="-380" dirty="0">
                <a:solidFill>
                  <a:srgbClr val="1A1A1A"/>
                </a:solidFill>
                <a:latin typeface="Times New Roman" panose="02020603050405020304" pitchFamily="18" charset="0"/>
                <a:cs typeface="Times New Roman" panose="02020603050405020304" pitchFamily="18" charset="0"/>
              </a:rPr>
              <a:t> </a:t>
            </a:r>
            <a:r>
              <a:rPr sz="4000" b="1" spc="-193" dirty="0">
                <a:solidFill>
                  <a:srgbClr val="1A1A1A"/>
                </a:solidFill>
                <a:latin typeface="Times New Roman" panose="02020603050405020304" pitchFamily="18" charset="0"/>
                <a:cs typeface="Times New Roman" panose="02020603050405020304" pitchFamily="18" charset="0"/>
              </a:rPr>
              <a:t>Networks</a:t>
            </a:r>
            <a:r>
              <a:rPr sz="4000" b="1" spc="-373" dirty="0">
                <a:solidFill>
                  <a:srgbClr val="1A1A1A"/>
                </a:solidFill>
                <a:latin typeface="Times New Roman" panose="02020603050405020304" pitchFamily="18" charset="0"/>
                <a:cs typeface="Times New Roman" panose="02020603050405020304" pitchFamily="18" charset="0"/>
              </a:rPr>
              <a:t> </a:t>
            </a:r>
            <a:r>
              <a:rPr sz="4000" b="1" spc="-305" dirty="0">
                <a:solidFill>
                  <a:srgbClr val="1A1A1A"/>
                </a:solidFill>
                <a:latin typeface="Times New Roman" panose="02020603050405020304" pitchFamily="18" charset="0"/>
                <a:cs typeface="Times New Roman" panose="02020603050405020304" pitchFamily="18" charset="0"/>
              </a:rPr>
              <a:t>(RNN)</a:t>
            </a:r>
          </a:p>
        </p:txBody>
      </p:sp>
      <p:pic>
        <p:nvPicPr>
          <p:cNvPr id="3" name="object 3"/>
          <p:cNvPicPr/>
          <p:nvPr/>
        </p:nvPicPr>
        <p:blipFill>
          <a:blip r:embed="rId2" cstate="print"/>
          <a:stretch>
            <a:fillRect/>
          </a:stretch>
        </p:blipFill>
        <p:spPr>
          <a:xfrm>
            <a:off x="2794000" y="1886322"/>
            <a:ext cx="2043309" cy="3789681"/>
          </a:xfrm>
          <a:prstGeom prst="rect">
            <a:avLst/>
          </a:prstGeom>
        </p:spPr>
      </p:pic>
      <p:pic>
        <p:nvPicPr>
          <p:cNvPr id="4" name="object 4"/>
          <p:cNvPicPr/>
          <p:nvPr/>
        </p:nvPicPr>
        <p:blipFill>
          <a:blip r:embed="rId3" cstate="print"/>
          <a:stretch>
            <a:fillRect/>
          </a:stretch>
        </p:blipFill>
        <p:spPr>
          <a:xfrm>
            <a:off x="5777747" y="1660465"/>
            <a:ext cx="4337380" cy="4477296"/>
          </a:xfrm>
          <a:prstGeom prst="rect">
            <a:avLst/>
          </a:prstGeom>
        </p:spPr>
      </p:pic>
      <p:sp>
        <p:nvSpPr>
          <p:cNvPr id="5" name="Slide Number Placeholder 4">
            <a:extLst>
              <a:ext uri="{FF2B5EF4-FFF2-40B4-BE49-F238E27FC236}">
                <a16:creationId xmlns:a16="http://schemas.microsoft.com/office/drawing/2014/main" id="{02F348C0-26D0-C6F4-0BB9-4EEA2C280D59}"/>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660" y="108715"/>
            <a:ext cx="10042762" cy="694207"/>
          </a:xfrm>
          <a:prstGeom prst="rect">
            <a:avLst/>
          </a:prstGeom>
        </p:spPr>
        <p:txBody>
          <a:bodyPr vert="horz" wrap="square" lIns="0" tIns="16933" rIns="0" bIns="0" rtlCol="0" anchor="ctr">
            <a:spAutoFit/>
          </a:bodyPr>
          <a:lstStyle/>
          <a:p>
            <a:pPr marL="16933">
              <a:lnSpc>
                <a:spcPct val="100000"/>
              </a:lnSpc>
              <a:spcBef>
                <a:spcPts val="133"/>
              </a:spcBef>
            </a:pPr>
            <a:r>
              <a:rPr spc="-193" dirty="0">
                <a:solidFill>
                  <a:srgbClr val="1A1A1A"/>
                </a:solidFill>
                <a:latin typeface="Tahoma"/>
                <a:cs typeface="Tahoma"/>
              </a:rPr>
              <a:t>Recurrent</a:t>
            </a:r>
            <a:r>
              <a:rPr spc="-373" dirty="0">
                <a:solidFill>
                  <a:srgbClr val="1A1A1A"/>
                </a:solidFill>
                <a:latin typeface="Tahoma"/>
                <a:cs typeface="Tahoma"/>
              </a:rPr>
              <a:t> </a:t>
            </a:r>
            <a:r>
              <a:rPr spc="-180" dirty="0">
                <a:solidFill>
                  <a:srgbClr val="1A1A1A"/>
                </a:solidFill>
                <a:latin typeface="Tahoma"/>
                <a:cs typeface="Tahoma"/>
              </a:rPr>
              <a:t>Neu</a:t>
            </a:r>
            <a:r>
              <a:rPr spc="-167" dirty="0">
                <a:solidFill>
                  <a:srgbClr val="1A1A1A"/>
                </a:solidFill>
                <a:latin typeface="Tahoma"/>
                <a:cs typeface="Tahoma"/>
              </a:rPr>
              <a:t>r</a:t>
            </a:r>
            <a:r>
              <a:rPr spc="-272" dirty="0">
                <a:solidFill>
                  <a:srgbClr val="1A1A1A"/>
                </a:solidFill>
                <a:latin typeface="Tahoma"/>
                <a:cs typeface="Tahoma"/>
              </a:rPr>
              <a:t>a</a:t>
            </a:r>
            <a:r>
              <a:rPr spc="-133" dirty="0">
                <a:solidFill>
                  <a:srgbClr val="1A1A1A"/>
                </a:solidFill>
                <a:latin typeface="Tahoma"/>
                <a:cs typeface="Tahoma"/>
              </a:rPr>
              <a:t>l</a:t>
            </a:r>
            <a:r>
              <a:rPr spc="-380" dirty="0">
                <a:solidFill>
                  <a:srgbClr val="1A1A1A"/>
                </a:solidFill>
                <a:latin typeface="Tahoma"/>
                <a:cs typeface="Tahoma"/>
              </a:rPr>
              <a:t> </a:t>
            </a:r>
            <a:r>
              <a:rPr spc="-193" dirty="0">
                <a:solidFill>
                  <a:srgbClr val="1A1A1A"/>
                </a:solidFill>
                <a:latin typeface="Tahoma"/>
                <a:cs typeface="Tahoma"/>
              </a:rPr>
              <a:t>Networks</a:t>
            </a:r>
            <a:r>
              <a:rPr spc="-373" dirty="0">
                <a:solidFill>
                  <a:srgbClr val="1A1A1A"/>
                </a:solidFill>
                <a:latin typeface="Tahoma"/>
                <a:cs typeface="Tahoma"/>
              </a:rPr>
              <a:t> </a:t>
            </a:r>
            <a:r>
              <a:rPr spc="-305" dirty="0">
                <a:solidFill>
                  <a:srgbClr val="1A1A1A"/>
                </a:solidFill>
                <a:latin typeface="Tahoma"/>
                <a:cs typeface="Tahoma"/>
              </a:rPr>
              <a:t>(RNN)</a:t>
            </a:r>
          </a:p>
        </p:txBody>
      </p:sp>
      <p:sp>
        <p:nvSpPr>
          <p:cNvPr id="5" name="Slide Number Placeholder 4">
            <a:extLst>
              <a:ext uri="{FF2B5EF4-FFF2-40B4-BE49-F238E27FC236}">
                <a16:creationId xmlns:a16="http://schemas.microsoft.com/office/drawing/2014/main" id="{02F348C0-26D0-C6F4-0BB9-4EEA2C280D59}"/>
              </a:ext>
            </a:extLst>
          </p:cNvPr>
          <p:cNvSpPr>
            <a:spLocks noGrp="1"/>
          </p:cNvSpPr>
          <p:nvPr>
            <p:ph type="sldNum" sz="quarter" idx="12"/>
          </p:nvPr>
        </p:nvSpPr>
        <p:spPr/>
        <p:txBody>
          <a:bodyPr/>
          <a:lstStyle/>
          <a:p>
            <a:fld id="{5EE24C92-1265-4741-8F9F-404A15D9386E}" type="slidenum">
              <a:rPr lang="en-US" smtClean="0"/>
              <a:t>11</a:t>
            </a:fld>
            <a:endParaRPr lang="en-US" dirty="0"/>
          </a:p>
        </p:txBody>
      </p:sp>
      <p:pic>
        <p:nvPicPr>
          <p:cNvPr id="7" name="Picture 6">
            <a:extLst>
              <a:ext uri="{FF2B5EF4-FFF2-40B4-BE49-F238E27FC236}">
                <a16:creationId xmlns:a16="http://schemas.microsoft.com/office/drawing/2014/main" id="{ABF25372-525B-4C5A-4C28-1B899D4199B8}"/>
              </a:ext>
            </a:extLst>
          </p:cNvPr>
          <p:cNvPicPr>
            <a:picLocks noChangeAspect="1"/>
          </p:cNvPicPr>
          <p:nvPr/>
        </p:nvPicPr>
        <p:blipFill>
          <a:blip r:embed="rId2"/>
          <a:stretch>
            <a:fillRect/>
          </a:stretch>
        </p:blipFill>
        <p:spPr>
          <a:xfrm>
            <a:off x="92660" y="1023961"/>
            <a:ext cx="9812119" cy="5725324"/>
          </a:xfrm>
          <a:prstGeom prst="rect">
            <a:avLst/>
          </a:prstGeom>
        </p:spPr>
      </p:pic>
      <p:pic>
        <p:nvPicPr>
          <p:cNvPr id="8" name="Picture 2" descr="Structure of simple recurrent neural network (RNN) and unfolded RNN ...">
            <a:extLst>
              <a:ext uri="{FF2B5EF4-FFF2-40B4-BE49-F238E27FC236}">
                <a16:creationId xmlns:a16="http://schemas.microsoft.com/office/drawing/2014/main" id="{2C3C2528-7A21-BF75-75C2-FC241F0F97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1008" r="22512"/>
          <a:stretch/>
        </p:blipFill>
        <p:spPr bwMode="auto">
          <a:xfrm>
            <a:off x="8610600" y="2761488"/>
            <a:ext cx="2953512" cy="37042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B26852C-E257-72C9-8D66-FA20EB2CB2C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76851C6-D281-DABD-5819-A9354386C2F8}"/>
              </a:ext>
            </a:extLst>
          </p:cNvPr>
          <p:cNvSpPr txBox="1">
            <a:spLocks noGrp="1"/>
          </p:cNvSpPr>
          <p:nvPr>
            <p:ph type="title"/>
          </p:nvPr>
        </p:nvSpPr>
        <p:spPr>
          <a:xfrm>
            <a:off x="92660" y="108715"/>
            <a:ext cx="10042762" cy="694207"/>
          </a:xfrm>
          <a:prstGeom prst="rect">
            <a:avLst/>
          </a:prstGeom>
        </p:spPr>
        <p:txBody>
          <a:bodyPr vert="horz" wrap="square" lIns="0" tIns="16933" rIns="0" bIns="0" rtlCol="0" anchor="ctr">
            <a:spAutoFit/>
          </a:bodyPr>
          <a:lstStyle/>
          <a:p>
            <a:pPr marL="16933">
              <a:lnSpc>
                <a:spcPct val="100000"/>
              </a:lnSpc>
              <a:spcBef>
                <a:spcPts val="133"/>
              </a:spcBef>
            </a:pPr>
            <a:r>
              <a:rPr spc="-193" dirty="0">
                <a:solidFill>
                  <a:srgbClr val="1A1A1A"/>
                </a:solidFill>
                <a:latin typeface="Tahoma"/>
                <a:cs typeface="Tahoma"/>
              </a:rPr>
              <a:t>Recurrent</a:t>
            </a:r>
            <a:r>
              <a:rPr spc="-373" dirty="0">
                <a:solidFill>
                  <a:srgbClr val="1A1A1A"/>
                </a:solidFill>
                <a:latin typeface="Tahoma"/>
                <a:cs typeface="Tahoma"/>
              </a:rPr>
              <a:t> </a:t>
            </a:r>
            <a:r>
              <a:rPr spc="-180" dirty="0">
                <a:solidFill>
                  <a:srgbClr val="1A1A1A"/>
                </a:solidFill>
                <a:latin typeface="Tahoma"/>
                <a:cs typeface="Tahoma"/>
              </a:rPr>
              <a:t>Neu</a:t>
            </a:r>
            <a:r>
              <a:rPr spc="-167" dirty="0">
                <a:solidFill>
                  <a:srgbClr val="1A1A1A"/>
                </a:solidFill>
                <a:latin typeface="Tahoma"/>
                <a:cs typeface="Tahoma"/>
              </a:rPr>
              <a:t>r</a:t>
            </a:r>
            <a:r>
              <a:rPr spc="-272" dirty="0">
                <a:solidFill>
                  <a:srgbClr val="1A1A1A"/>
                </a:solidFill>
                <a:latin typeface="Tahoma"/>
                <a:cs typeface="Tahoma"/>
              </a:rPr>
              <a:t>a</a:t>
            </a:r>
            <a:r>
              <a:rPr spc="-133" dirty="0">
                <a:solidFill>
                  <a:srgbClr val="1A1A1A"/>
                </a:solidFill>
                <a:latin typeface="Tahoma"/>
                <a:cs typeface="Tahoma"/>
              </a:rPr>
              <a:t>l</a:t>
            </a:r>
            <a:r>
              <a:rPr spc="-380" dirty="0">
                <a:solidFill>
                  <a:srgbClr val="1A1A1A"/>
                </a:solidFill>
                <a:latin typeface="Tahoma"/>
                <a:cs typeface="Tahoma"/>
              </a:rPr>
              <a:t> </a:t>
            </a:r>
            <a:r>
              <a:rPr spc="-193" dirty="0">
                <a:solidFill>
                  <a:srgbClr val="1A1A1A"/>
                </a:solidFill>
                <a:latin typeface="Tahoma"/>
                <a:cs typeface="Tahoma"/>
              </a:rPr>
              <a:t>Networks</a:t>
            </a:r>
            <a:r>
              <a:rPr spc="-373" dirty="0">
                <a:solidFill>
                  <a:srgbClr val="1A1A1A"/>
                </a:solidFill>
                <a:latin typeface="Tahoma"/>
                <a:cs typeface="Tahoma"/>
              </a:rPr>
              <a:t> </a:t>
            </a:r>
            <a:r>
              <a:rPr spc="-305" dirty="0">
                <a:solidFill>
                  <a:srgbClr val="1A1A1A"/>
                </a:solidFill>
                <a:latin typeface="Tahoma"/>
                <a:cs typeface="Tahoma"/>
              </a:rPr>
              <a:t>(RNN)</a:t>
            </a:r>
          </a:p>
        </p:txBody>
      </p:sp>
      <p:sp>
        <p:nvSpPr>
          <p:cNvPr id="5" name="Slide Number Placeholder 4">
            <a:extLst>
              <a:ext uri="{FF2B5EF4-FFF2-40B4-BE49-F238E27FC236}">
                <a16:creationId xmlns:a16="http://schemas.microsoft.com/office/drawing/2014/main" id="{095664AD-A59F-717D-B9F3-993C1D951F08}"/>
              </a:ext>
            </a:extLst>
          </p:cNvPr>
          <p:cNvSpPr>
            <a:spLocks noGrp="1"/>
          </p:cNvSpPr>
          <p:nvPr>
            <p:ph type="sldNum" sz="quarter" idx="12"/>
          </p:nvPr>
        </p:nvSpPr>
        <p:spPr/>
        <p:txBody>
          <a:bodyPr/>
          <a:lstStyle/>
          <a:p>
            <a:fld id="{5EE24C92-1265-4741-8F9F-404A15D9386E}" type="slidenum">
              <a:rPr lang="en-US" smtClean="0"/>
              <a:t>12</a:t>
            </a:fld>
            <a:endParaRPr lang="en-US" dirty="0"/>
          </a:p>
        </p:txBody>
      </p:sp>
      <p:pic>
        <p:nvPicPr>
          <p:cNvPr id="8" name="Picture 2" descr="Structure of simple recurrent neural network (RNN) and unfolded RNN ...">
            <a:extLst>
              <a:ext uri="{FF2B5EF4-FFF2-40B4-BE49-F238E27FC236}">
                <a16:creationId xmlns:a16="http://schemas.microsoft.com/office/drawing/2014/main" id="{B6824AA2-59C4-8A5D-D360-562CDBB99B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008" r="22512"/>
          <a:stretch/>
        </p:blipFill>
        <p:spPr bwMode="auto">
          <a:xfrm>
            <a:off x="8658666" y="1655064"/>
            <a:ext cx="2953512" cy="370427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9601E19-5D6B-5347-695C-DC31B38D8D71}"/>
              </a:ext>
            </a:extLst>
          </p:cNvPr>
          <p:cNvPicPr>
            <a:picLocks noChangeAspect="1"/>
          </p:cNvPicPr>
          <p:nvPr/>
        </p:nvPicPr>
        <p:blipFill>
          <a:blip r:embed="rId3"/>
          <a:stretch>
            <a:fillRect/>
          </a:stretch>
        </p:blipFill>
        <p:spPr>
          <a:xfrm>
            <a:off x="92660" y="1883949"/>
            <a:ext cx="8297433" cy="3391373"/>
          </a:xfrm>
          <a:prstGeom prst="rect">
            <a:avLst/>
          </a:prstGeom>
        </p:spPr>
      </p:pic>
    </p:spTree>
    <p:extLst>
      <p:ext uri="{BB962C8B-B14F-4D97-AF65-F5344CB8AC3E}">
        <p14:creationId xmlns:p14="http://schemas.microsoft.com/office/powerpoint/2010/main" val="3633642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AFE7153-24D1-18A7-79FB-744BCC3CE9C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2495575-88F3-C60A-9D33-62B16D14E6FE}"/>
              </a:ext>
            </a:extLst>
          </p:cNvPr>
          <p:cNvSpPr>
            <a:spLocks noGrp="1"/>
          </p:cNvSpPr>
          <p:nvPr>
            <p:ph type="sldNum" sz="quarter" idx="12"/>
          </p:nvPr>
        </p:nvSpPr>
        <p:spPr/>
        <p:txBody>
          <a:bodyPr/>
          <a:lstStyle/>
          <a:p>
            <a:fld id="{5EE24C92-1265-4741-8F9F-404A15D9386E}" type="slidenum">
              <a:rPr lang="en-US" smtClean="0"/>
              <a:t>13</a:t>
            </a:fld>
            <a:endParaRPr lang="en-US" dirty="0"/>
          </a:p>
        </p:txBody>
      </p:sp>
      <p:pic>
        <p:nvPicPr>
          <p:cNvPr id="6" name="Picture 5">
            <a:extLst>
              <a:ext uri="{FF2B5EF4-FFF2-40B4-BE49-F238E27FC236}">
                <a16:creationId xmlns:a16="http://schemas.microsoft.com/office/drawing/2014/main" id="{68CC9C00-813A-0126-8CB0-B0086DFE72DA}"/>
              </a:ext>
            </a:extLst>
          </p:cNvPr>
          <p:cNvPicPr>
            <a:picLocks noChangeAspect="1"/>
          </p:cNvPicPr>
          <p:nvPr/>
        </p:nvPicPr>
        <p:blipFill>
          <a:blip r:embed="rId2"/>
          <a:stretch>
            <a:fillRect/>
          </a:stretch>
        </p:blipFill>
        <p:spPr>
          <a:xfrm>
            <a:off x="1101681" y="0"/>
            <a:ext cx="9988638" cy="6858000"/>
          </a:xfrm>
          <a:prstGeom prst="rect">
            <a:avLst/>
          </a:prstGeom>
        </p:spPr>
      </p:pic>
    </p:spTree>
    <p:extLst>
      <p:ext uri="{BB962C8B-B14F-4D97-AF65-F5344CB8AC3E}">
        <p14:creationId xmlns:p14="http://schemas.microsoft.com/office/powerpoint/2010/main" val="1853358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D60EDFE-F9B9-498E-E049-B8877081333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4F450F0-C6FF-A283-7D0E-42B2F462D746}"/>
              </a:ext>
            </a:extLst>
          </p:cNvPr>
          <p:cNvSpPr>
            <a:spLocks noGrp="1"/>
          </p:cNvSpPr>
          <p:nvPr>
            <p:ph type="sldNum" sz="quarter" idx="12"/>
          </p:nvPr>
        </p:nvSpPr>
        <p:spPr/>
        <p:txBody>
          <a:bodyPr/>
          <a:lstStyle/>
          <a:p>
            <a:fld id="{5EE24C92-1265-4741-8F9F-404A15D9386E}" type="slidenum">
              <a:rPr lang="en-US" smtClean="0"/>
              <a:t>14</a:t>
            </a:fld>
            <a:endParaRPr lang="en-US" dirty="0"/>
          </a:p>
        </p:txBody>
      </p:sp>
      <p:pic>
        <p:nvPicPr>
          <p:cNvPr id="3" name="Picture 2">
            <a:extLst>
              <a:ext uri="{FF2B5EF4-FFF2-40B4-BE49-F238E27FC236}">
                <a16:creationId xmlns:a16="http://schemas.microsoft.com/office/drawing/2014/main" id="{0676820E-41E5-6D9B-33E9-EBE92ADD032E}"/>
              </a:ext>
            </a:extLst>
          </p:cNvPr>
          <p:cNvPicPr>
            <a:picLocks noChangeAspect="1"/>
          </p:cNvPicPr>
          <p:nvPr/>
        </p:nvPicPr>
        <p:blipFill>
          <a:blip r:embed="rId2"/>
          <a:stretch>
            <a:fillRect/>
          </a:stretch>
        </p:blipFill>
        <p:spPr>
          <a:xfrm>
            <a:off x="961619" y="0"/>
            <a:ext cx="10268761" cy="6858000"/>
          </a:xfrm>
          <a:prstGeom prst="rect">
            <a:avLst/>
          </a:prstGeom>
        </p:spPr>
      </p:pic>
    </p:spTree>
    <p:extLst>
      <p:ext uri="{BB962C8B-B14F-4D97-AF65-F5344CB8AC3E}">
        <p14:creationId xmlns:p14="http://schemas.microsoft.com/office/powerpoint/2010/main" val="2878666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6C190B4-386F-16D0-6976-D1FF7759381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6C328A8-789A-2608-1B89-F071C6439C8D}"/>
              </a:ext>
            </a:extLst>
          </p:cNvPr>
          <p:cNvSpPr>
            <a:spLocks noGrp="1"/>
          </p:cNvSpPr>
          <p:nvPr>
            <p:ph type="sldNum" sz="quarter" idx="12"/>
          </p:nvPr>
        </p:nvSpPr>
        <p:spPr/>
        <p:txBody>
          <a:bodyPr/>
          <a:lstStyle/>
          <a:p>
            <a:fld id="{5EE24C92-1265-4741-8F9F-404A15D9386E}" type="slidenum">
              <a:rPr lang="en-US" smtClean="0"/>
              <a:t>15</a:t>
            </a:fld>
            <a:endParaRPr lang="en-US" dirty="0"/>
          </a:p>
        </p:txBody>
      </p:sp>
      <p:pic>
        <p:nvPicPr>
          <p:cNvPr id="4" name="Picture 3">
            <a:extLst>
              <a:ext uri="{FF2B5EF4-FFF2-40B4-BE49-F238E27FC236}">
                <a16:creationId xmlns:a16="http://schemas.microsoft.com/office/drawing/2014/main" id="{6B9CEF6A-1EB5-3CF3-1A83-2355A0CB48F2}"/>
              </a:ext>
            </a:extLst>
          </p:cNvPr>
          <p:cNvPicPr>
            <a:picLocks noChangeAspect="1"/>
          </p:cNvPicPr>
          <p:nvPr/>
        </p:nvPicPr>
        <p:blipFill>
          <a:blip r:embed="rId2"/>
          <a:stretch>
            <a:fillRect/>
          </a:stretch>
        </p:blipFill>
        <p:spPr>
          <a:xfrm>
            <a:off x="1072221" y="0"/>
            <a:ext cx="10047557" cy="6858000"/>
          </a:xfrm>
          <a:prstGeom prst="rect">
            <a:avLst/>
          </a:prstGeom>
        </p:spPr>
      </p:pic>
    </p:spTree>
    <p:extLst>
      <p:ext uri="{BB962C8B-B14F-4D97-AF65-F5344CB8AC3E}">
        <p14:creationId xmlns:p14="http://schemas.microsoft.com/office/powerpoint/2010/main" val="835873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B8E938C-C969-06E1-6C2F-73564C4F055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830A30A-D4A9-D9F3-0F20-DCE93AD82B44}"/>
              </a:ext>
            </a:extLst>
          </p:cNvPr>
          <p:cNvSpPr>
            <a:spLocks noGrp="1"/>
          </p:cNvSpPr>
          <p:nvPr>
            <p:ph type="sldNum" sz="quarter" idx="12"/>
          </p:nvPr>
        </p:nvSpPr>
        <p:spPr/>
        <p:txBody>
          <a:bodyPr/>
          <a:lstStyle/>
          <a:p>
            <a:fld id="{5EE24C92-1265-4741-8F9F-404A15D9386E}" type="slidenum">
              <a:rPr lang="en-US" smtClean="0"/>
              <a:t>16</a:t>
            </a:fld>
            <a:endParaRPr lang="en-US" dirty="0"/>
          </a:p>
        </p:txBody>
      </p:sp>
      <p:pic>
        <p:nvPicPr>
          <p:cNvPr id="3" name="Picture 2">
            <a:extLst>
              <a:ext uri="{FF2B5EF4-FFF2-40B4-BE49-F238E27FC236}">
                <a16:creationId xmlns:a16="http://schemas.microsoft.com/office/drawing/2014/main" id="{D8174BE7-6C9C-9101-99B4-53B35594E4EF}"/>
              </a:ext>
            </a:extLst>
          </p:cNvPr>
          <p:cNvPicPr>
            <a:picLocks noChangeAspect="1"/>
          </p:cNvPicPr>
          <p:nvPr/>
        </p:nvPicPr>
        <p:blipFill>
          <a:blip r:embed="rId2"/>
          <a:stretch>
            <a:fillRect/>
          </a:stretch>
        </p:blipFill>
        <p:spPr>
          <a:xfrm>
            <a:off x="1174427" y="0"/>
            <a:ext cx="9843145" cy="6858000"/>
          </a:xfrm>
          <a:prstGeom prst="rect">
            <a:avLst/>
          </a:prstGeom>
        </p:spPr>
      </p:pic>
    </p:spTree>
    <p:extLst>
      <p:ext uri="{BB962C8B-B14F-4D97-AF65-F5344CB8AC3E}">
        <p14:creationId xmlns:p14="http://schemas.microsoft.com/office/powerpoint/2010/main" val="2090625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1E0FD32-CCE7-BA47-D8E9-2E806515545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8B6BDCD-27BA-3510-6AFE-479AA35B76FB}"/>
              </a:ext>
            </a:extLst>
          </p:cNvPr>
          <p:cNvSpPr>
            <a:spLocks noGrp="1"/>
          </p:cNvSpPr>
          <p:nvPr>
            <p:ph type="sldNum" sz="quarter" idx="12"/>
          </p:nvPr>
        </p:nvSpPr>
        <p:spPr/>
        <p:txBody>
          <a:bodyPr/>
          <a:lstStyle/>
          <a:p>
            <a:fld id="{5EE24C92-1265-4741-8F9F-404A15D9386E}" type="slidenum">
              <a:rPr lang="en-US" smtClean="0"/>
              <a:t>17</a:t>
            </a:fld>
            <a:endParaRPr lang="en-US" dirty="0"/>
          </a:p>
        </p:txBody>
      </p:sp>
      <p:pic>
        <p:nvPicPr>
          <p:cNvPr id="24" name="Picture 23">
            <a:extLst>
              <a:ext uri="{FF2B5EF4-FFF2-40B4-BE49-F238E27FC236}">
                <a16:creationId xmlns:a16="http://schemas.microsoft.com/office/drawing/2014/main" id="{8A41E938-FC11-8593-D206-58C6CC940BE9}"/>
              </a:ext>
            </a:extLst>
          </p:cNvPr>
          <p:cNvPicPr>
            <a:picLocks noChangeAspect="1"/>
          </p:cNvPicPr>
          <p:nvPr/>
        </p:nvPicPr>
        <p:blipFill>
          <a:blip r:embed="rId2"/>
          <a:stretch>
            <a:fillRect/>
          </a:stretch>
        </p:blipFill>
        <p:spPr>
          <a:xfrm>
            <a:off x="0" y="0"/>
            <a:ext cx="12235264" cy="6858000"/>
          </a:xfrm>
          <a:prstGeom prst="rect">
            <a:avLst/>
          </a:prstGeom>
        </p:spPr>
      </p:pic>
      <p:pic>
        <p:nvPicPr>
          <p:cNvPr id="8" name="object 3">
            <a:extLst>
              <a:ext uri="{FF2B5EF4-FFF2-40B4-BE49-F238E27FC236}">
                <a16:creationId xmlns:a16="http://schemas.microsoft.com/office/drawing/2014/main" id="{D6158EDE-B7C2-FD1E-57CF-C2E087552D1E}"/>
              </a:ext>
            </a:extLst>
          </p:cNvPr>
          <p:cNvPicPr/>
          <p:nvPr/>
        </p:nvPicPr>
        <p:blipFill>
          <a:blip r:embed="rId3" cstate="print">
            <a:extLst>
              <a:ext uri="{BEBA8EAE-BF5A-486C-A8C5-ECC9F3942E4B}">
                <a14:imgProps xmlns:a14="http://schemas.microsoft.com/office/drawing/2010/main">
                  <a14:imgLayer r:embed="rId4">
                    <a14:imgEffect>
                      <a14:sharpenSoften amount="50000"/>
                    </a14:imgEffect>
                  </a14:imgLayer>
                </a14:imgProps>
              </a:ext>
            </a:extLst>
          </a:blip>
          <a:srcRect r="50997"/>
          <a:stretch>
            <a:fillRect/>
          </a:stretch>
        </p:blipFill>
        <p:spPr>
          <a:xfrm>
            <a:off x="9281857" y="1"/>
            <a:ext cx="2953407" cy="3300248"/>
          </a:xfrm>
          <a:prstGeom prst="rect">
            <a:avLst/>
          </a:prstGeom>
        </p:spPr>
      </p:pic>
    </p:spTree>
    <p:extLst>
      <p:ext uri="{BB962C8B-B14F-4D97-AF65-F5344CB8AC3E}">
        <p14:creationId xmlns:p14="http://schemas.microsoft.com/office/powerpoint/2010/main" val="1775418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64C6979-E9E3-64CA-50A3-960D6736E66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40069E-171B-D35F-CC84-3191EDA28E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050" name="Picture 2">
            <a:extLst>
              <a:ext uri="{FF2B5EF4-FFF2-40B4-BE49-F238E27FC236}">
                <a16:creationId xmlns:a16="http://schemas.microsoft.com/office/drawing/2014/main" id="{F363411D-FE48-DD59-E0E3-2D37F29538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95313"/>
            <a:ext cx="7620000" cy="566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2853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283723" y="2390401"/>
            <a:ext cx="7624553" cy="3417055"/>
          </a:xfrm>
          <a:prstGeom prst="rect">
            <a:avLst/>
          </a:prstGeom>
        </p:spPr>
      </p:pic>
      <p:sp>
        <p:nvSpPr>
          <p:cNvPr id="3" name="object 3"/>
          <p:cNvSpPr txBox="1">
            <a:spLocks noGrp="1"/>
          </p:cNvSpPr>
          <p:nvPr>
            <p:ph type="title"/>
          </p:nvPr>
        </p:nvSpPr>
        <p:spPr>
          <a:xfrm>
            <a:off x="232833" y="284823"/>
            <a:ext cx="5863167" cy="1341520"/>
          </a:xfrm>
          <a:prstGeom prst="rect">
            <a:avLst/>
          </a:prstGeom>
        </p:spPr>
        <p:txBody>
          <a:bodyPr vert="horz" wrap="square" lIns="0" tIns="86359" rIns="0" bIns="0" rtlCol="0" anchor="ctr">
            <a:spAutoFit/>
          </a:bodyPr>
          <a:lstStyle/>
          <a:p>
            <a:pPr marL="16933">
              <a:lnSpc>
                <a:spcPct val="100000"/>
              </a:lnSpc>
              <a:spcBef>
                <a:spcPts val="679"/>
              </a:spcBef>
            </a:pPr>
            <a:r>
              <a:rPr sz="4267" spc="-147" dirty="0">
                <a:solidFill>
                  <a:srgbClr val="1A1A1A"/>
                </a:solidFill>
                <a:latin typeface="Tahoma"/>
                <a:cs typeface="Tahoma"/>
              </a:rPr>
              <a:t>RNN</a:t>
            </a:r>
            <a:r>
              <a:rPr sz="4267" spc="-427" dirty="0">
                <a:solidFill>
                  <a:srgbClr val="1A1A1A"/>
                </a:solidFill>
                <a:latin typeface="Tahoma"/>
                <a:cs typeface="Tahoma"/>
              </a:rPr>
              <a:t> </a:t>
            </a:r>
            <a:r>
              <a:rPr sz="4267" spc="-113" dirty="0">
                <a:solidFill>
                  <a:srgbClr val="1A1A1A"/>
                </a:solidFill>
                <a:latin typeface="Tahoma"/>
                <a:cs typeface="Tahoma"/>
              </a:rPr>
              <a:t>t</a:t>
            </a:r>
            <a:r>
              <a:rPr sz="4267" spc="-180" dirty="0">
                <a:solidFill>
                  <a:srgbClr val="1A1A1A"/>
                </a:solidFill>
                <a:latin typeface="Tahoma"/>
                <a:cs typeface="Tahoma"/>
              </a:rPr>
              <a:t>r</a:t>
            </a:r>
            <a:r>
              <a:rPr sz="4267" spc="-287" dirty="0">
                <a:solidFill>
                  <a:srgbClr val="1A1A1A"/>
                </a:solidFill>
                <a:latin typeface="Tahoma"/>
                <a:cs typeface="Tahoma"/>
              </a:rPr>
              <a:t>aining</a:t>
            </a:r>
            <a:endParaRPr sz="4267" dirty="0">
              <a:latin typeface="Tahoma"/>
              <a:cs typeface="Tahoma"/>
            </a:endParaRPr>
          </a:p>
          <a:p>
            <a:pPr marL="496134">
              <a:lnSpc>
                <a:spcPct val="100000"/>
              </a:lnSpc>
              <a:spcBef>
                <a:spcPts val="453"/>
              </a:spcBef>
            </a:pPr>
            <a:r>
              <a:rPr sz="3467" spc="20" dirty="0">
                <a:solidFill>
                  <a:srgbClr val="1A1A1A"/>
                </a:solidFill>
                <a:latin typeface="Tahoma"/>
                <a:cs typeface="Tahoma"/>
              </a:rPr>
              <a:t>Back-propagation</a:t>
            </a:r>
            <a:r>
              <a:rPr sz="3467" spc="-420" dirty="0">
                <a:solidFill>
                  <a:srgbClr val="1A1A1A"/>
                </a:solidFill>
                <a:latin typeface="Tahoma"/>
                <a:cs typeface="Tahoma"/>
              </a:rPr>
              <a:t> </a:t>
            </a:r>
            <a:r>
              <a:rPr sz="3467" spc="-7" dirty="0">
                <a:solidFill>
                  <a:srgbClr val="1A1A1A"/>
                </a:solidFill>
                <a:latin typeface="Tahoma"/>
                <a:cs typeface="Tahoma"/>
              </a:rPr>
              <a:t>o</a:t>
            </a:r>
            <a:r>
              <a:rPr sz="3467" dirty="0">
                <a:solidFill>
                  <a:srgbClr val="1A1A1A"/>
                </a:solidFill>
                <a:latin typeface="Tahoma"/>
                <a:cs typeface="Tahoma"/>
              </a:rPr>
              <a:t>v</a:t>
            </a:r>
            <a:r>
              <a:rPr sz="3467" spc="67" dirty="0">
                <a:solidFill>
                  <a:srgbClr val="1A1A1A"/>
                </a:solidFill>
                <a:latin typeface="Tahoma"/>
                <a:cs typeface="Tahoma"/>
              </a:rPr>
              <a:t>er</a:t>
            </a:r>
            <a:r>
              <a:rPr sz="3467" spc="-420" dirty="0">
                <a:solidFill>
                  <a:srgbClr val="1A1A1A"/>
                </a:solidFill>
                <a:latin typeface="Tahoma"/>
                <a:cs typeface="Tahoma"/>
              </a:rPr>
              <a:t> </a:t>
            </a:r>
            <a:r>
              <a:rPr sz="3467" spc="33" dirty="0">
                <a:solidFill>
                  <a:srgbClr val="1A1A1A"/>
                </a:solidFill>
                <a:latin typeface="Tahoma"/>
                <a:cs typeface="Tahoma"/>
              </a:rPr>
              <a:t>time</a:t>
            </a:r>
            <a:endParaRPr sz="3467" dirty="0">
              <a:latin typeface="Tahoma"/>
              <a:cs typeface="Tahoma"/>
            </a:endParaRPr>
          </a:p>
        </p:txBody>
      </p:sp>
      <p:sp>
        <p:nvSpPr>
          <p:cNvPr id="4" name="Slide Number Placeholder 3">
            <a:extLst>
              <a:ext uri="{FF2B5EF4-FFF2-40B4-BE49-F238E27FC236}">
                <a16:creationId xmlns:a16="http://schemas.microsoft.com/office/drawing/2014/main" id="{73B28BA4-A414-5418-BA4C-8C4741E06867}"/>
              </a:ext>
            </a:extLst>
          </p:cNvPr>
          <p:cNvSpPr>
            <a:spLocks noGrp="1"/>
          </p:cNvSpPr>
          <p:nvPr>
            <p:ph type="sldNum" sz="quarter" idx="12"/>
          </p:nvPr>
        </p:nvSpPr>
        <p:spPr/>
        <p:txBody>
          <a:bodyPr/>
          <a:lstStyle/>
          <a:p>
            <a:fld id="{5EE24C92-1265-4741-8F9F-404A15D9386E}" type="slidenum">
              <a:rPr lang="en-US" smtClean="0"/>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B28BA4-A414-5418-BA4C-8C4741E06867}"/>
              </a:ext>
            </a:extLst>
          </p:cNvPr>
          <p:cNvSpPr>
            <a:spLocks noGrp="1"/>
          </p:cNvSpPr>
          <p:nvPr>
            <p:ph type="sldNum" sz="quarter" idx="12"/>
          </p:nvPr>
        </p:nvSpPr>
        <p:spPr/>
        <p:txBody>
          <a:bodyPr/>
          <a:lstStyle/>
          <a:p>
            <a:fld id="{5EE24C92-1265-4741-8F9F-404A15D9386E}" type="slidenum">
              <a:rPr lang="en-US" smtClean="0"/>
              <a:t>20</a:t>
            </a:fld>
            <a:endParaRPr lang="en-US" dirty="0"/>
          </a:p>
        </p:txBody>
      </p:sp>
      <p:pic>
        <p:nvPicPr>
          <p:cNvPr id="8" name="Picture 7">
            <a:extLst>
              <a:ext uri="{FF2B5EF4-FFF2-40B4-BE49-F238E27FC236}">
                <a16:creationId xmlns:a16="http://schemas.microsoft.com/office/drawing/2014/main" id="{9866C87E-77D9-DFD2-8ECD-8159BBFDFD46}"/>
              </a:ext>
            </a:extLst>
          </p:cNvPr>
          <p:cNvPicPr>
            <a:picLocks noChangeAspect="1"/>
          </p:cNvPicPr>
          <p:nvPr/>
        </p:nvPicPr>
        <p:blipFill>
          <a:blip r:embed="rId3"/>
          <a:stretch>
            <a:fillRect/>
          </a:stretch>
        </p:blipFill>
        <p:spPr>
          <a:xfrm>
            <a:off x="1198044" y="0"/>
            <a:ext cx="9795912"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123538A0-D711-2A13-F59D-41F38AE5F59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2ABC21-E57B-FF59-43A0-3BF0F2EE29C6}"/>
              </a:ext>
            </a:extLst>
          </p:cNvPr>
          <p:cNvSpPr>
            <a:spLocks noGrp="1"/>
          </p:cNvSpPr>
          <p:nvPr>
            <p:ph type="sldNum" sz="quarter" idx="12"/>
          </p:nvPr>
        </p:nvSpPr>
        <p:spPr/>
        <p:txBody>
          <a:bodyPr/>
          <a:lstStyle/>
          <a:p>
            <a:fld id="{5EE24C92-1265-4741-8F9F-404A15D9386E}" type="slidenum">
              <a:rPr lang="en-US" smtClean="0"/>
              <a:t>21</a:t>
            </a:fld>
            <a:endParaRPr lang="en-US" dirty="0"/>
          </a:p>
        </p:txBody>
      </p:sp>
      <p:pic>
        <p:nvPicPr>
          <p:cNvPr id="3" name="Picture 2">
            <a:extLst>
              <a:ext uri="{FF2B5EF4-FFF2-40B4-BE49-F238E27FC236}">
                <a16:creationId xmlns:a16="http://schemas.microsoft.com/office/drawing/2014/main" id="{39A5A23C-C70A-668A-4561-E9BC0DEB4AB3}"/>
              </a:ext>
            </a:extLst>
          </p:cNvPr>
          <p:cNvPicPr>
            <a:picLocks noChangeAspect="1"/>
          </p:cNvPicPr>
          <p:nvPr/>
        </p:nvPicPr>
        <p:blipFill>
          <a:blip r:embed="rId3"/>
          <a:stretch>
            <a:fillRect/>
          </a:stretch>
        </p:blipFill>
        <p:spPr>
          <a:xfrm>
            <a:off x="1261022" y="0"/>
            <a:ext cx="9669956" cy="6858000"/>
          </a:xfrm>
          <a:prstGeom prst="rect">
            <a:avLst/>
          </a:prstGeom>
        </p:spPr>
      </p:pic>
    </p:spTree>
    <p:extLst>
      <p:ext uri="{BB962C8B-B14F-4D97-AF65-F5344CB8AC3E}">
        <p14:creationId xmlns:p14="http://schemas.microsoft.com/office/powerpoint/2010/main" val="2711743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FDC9CD38-53E1-94FC-DAF5-705616098C3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B6E68F4-22BD-D15E-0A4C-12EE02CDC8DE}"/>
              </a:ext>
            </a:extLst>
          </p:cNvPr>
          <p:cNvSpPr>
            <a:spLocks noGrp="1"/>
          </p:cNvSpPr>
          <p:nvPr>
            <p:ph type="sldNum" sz="quarter" idx="12"/>
          </p:nvPr>
        </p:nvSpPr>
        <p:spPr/>
        <p:txBody>
          <a:bodyPr/>
          <a:lstStyle/>
          <a:p>
            <a:fld id="{5EE24C92-1265-4741-8F9F-404A15D9386E}" type="slidenum">
              <a:rPr lang="en-US" smtClean="0"/>
              <a:t>22</a:t>
            </a:fld>
            <a:endParaRPr lang="en-US" dirty="0"/>
          </a:p>
        </p:txBody>
      </p:sp>
      <p:pic>
        <p:nvPicPr>
          <p:cNvPr id="3" name="Picture 2">
            <a:extLst>
              <a:ext uri="{FF2B5EF4-FFF2-40B4-BE49-F238E27FC236}">
                <a16:creationId xmlns:a16="http://schemas.microsoft.com/office/drawing/2014/main" id="{C1008E33-45C2-B5DE-42DA-8B4261F3B6D8}"/>
              </a:ext>
            </a:extLst>
          </p:cNvPr>
          <p:cNvPicPr>
            <a:picLocks noChangeAspect="1"/>
          </p:cNvPicPr>
          <p:nvPr/>
        </p:nvPicPr>
        <p:blipFill>
          <a:blip r:embed="rId3"/>
          <a:stretch>
            <a:fillRect/>
          </a:stretch>
        </p:blipFill>
        <p:spPr>
          <a:xfrm>
            <a:off x="1503368" y="0"/>
            <a:ext cx="9185264" cy="6858000"/>
          </a:xfrm>
          <a:prstGeom prst="rect">
            <a:avLst/>
          </a:prstGeom>
        </p:spPr>
      </p:pic>
    </p:spTree>
    <p:extLst>
      <p:ext uri="{BB962C8B-B14F-4D97-AF65-F5344CB8AC3E}">
        <p14:creationId xmlns:p14="http://schemas.microsoft.com/office/powerpoint/2010/main" val="532111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9EA45E8-DF60-86CA-C494-8C64B4117E1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17B332-52D1-3C68-98F7-B4E44C9312C1}"/>
              </a:ext>
            </a:extLst>
          </p:cNvPr>
          <p:cNvSpPr>
            <a:spLocks noGrp="1"/>
          </p:cNvSpPr>
          <p:nvPr>
            <p:ph type="sldNum" sz="quarter" idx="12"/>
          </p:nvPr>
        </p:nvSpPr>
        <p:spPr/>
        <p:txBody>
          <a:bodyPr/>
          <a:lstStyle/>
          <a:p>
            <a:fld id="{5EE24C92-1265-4741-8F9F-404A15D9386E}" type="slidenum">
              <a:rPr lang="en-US" smtClean="0"/>
              <a:t>23</a:t>
            </a:fld>
            <a:endParaRPr lang="en-US" dirty="0"/>
          </a:p>
        </p:txBody>
      </p:sp>
      <p:pic>
        <p:nvPicPr>
          <p:cNvPr id="3" name="Picture 2">
            <a:extLst>
              <a:ext uri="{FF2B5EF4-FFF2-40B4-BE49-F238E27FC236}">
                <a16:creationId xmlns:a16="http://schemas.microsoft.com/office/drawing/2014/main" id="{4F0B0B11-52BF-C670-FF72-51C5EC6F296E}"/>
              </a:ext>
            </a:extLst>
          </p:cNvPr>
          <p:cNvPicPr>
            <a:picLocks noChangeAspect="1"/>
          </p:cNvPicPr>
          <p:nvPr/>
        </p:nvPicPr>
        <p:blipFill>
          <a:blip r:embed="rId3"/>
          <a:stretch>
            <a:fillRect/>
          </a:stretch>
        </p:blipFill>
        <p:spPr>
          <a:xfrm>
            <a:off x="1303712" y="0"/>
            <a:ext cx="9584575" cy="6858000"/>
          </a:xfrm>
          <a:prstGeom prst="rect">
            <a:avLst/>
          </a:prstGeom>
        </p:spPr>
      </p:pic>
    </p:spTree>
    <p:extLst>
      <p:ext uri="{BB962C8B-B14F-4D97-AF65-F5344CB8AC3E}">
        <p14:creationId xmlns:p14="http://schemas.microsoft.com/office/powerpoint/2010/main" val="58501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A39ACECD-7CBE-5A60-A405-4732461C6F3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D7FD45-0E92-4E1B-E4D9-FABDCF39237A}"/>
              </a:ext>
            </a:extLst>
          </p:cNvPr>
          <p:cNvSpPr>
            <a:spLocks noGrp="1"/>
          </p:cNvSpPr>
          <p:nvPr>
            <p:ph type="sldNum" sz="quarter" idx="12"/>
          </p:nvPr>
        </p:nvSpPr>
        <p:spPr/>
        <p:txBody>
          <a:bodyPr/>
          <a:lstStyle/>
          <a:p>
            <a:fld id="{5EE24C92-1265-4741-8F9F-404A15D9386E}" type="slidenum">
              <a:rPr lang="en-US" smtClean="0"/>
              <a:t>24</a:t>
            </a:fld>
            <a:endParaRPr lang="en-US" dirty="0"/>
          </a:p>
        </p:txBody>
      </p:sp>
      <p:pic>
        <p:nvPicPr>
          <p:cNvPr id="3" name="Picture 2">
            <a:extLst>
              <a:ext uri="{FF2B5EF4-FFF2-40B4-BE49-F238E27FC236}">
                <a16:creationId xmlns:a16="http://schemas.microsoft.com/office/drawing/2014/main" id="{7A60F999-6F79-7869-FB53-10BD4398FE81}"/>
              </a:ext>
            </a:extLst>
          </p:cNvPr>
          <p:cNvPicPr>
            <a:picLocks noChangeAspect="1"/>
          </p:cNvPicPr>
          <p:nvPr/>
        </p:nvPicPr>
        <p:blipFill>
          <a:blip r:embed="rId3"/>
          <a:stretch>
            <a:fillRect/>
          </a:stretch>
        </p:blipFill>
        <p:spPr>
          <a:xfrm>
            <a:off x="1282541" y="0"/>
            <a:ext cx="9626918" cy="6858000"/>
          </a:xfrm>
          <a:prstGeom prst="rect">
            <a:avLst/>
          </a:prstGeom>
        </p:spPr>
      </p:pic>
    </p:spTree>
    <p:extLst>
      <p:ext uri="{BB962C8B-B14F-4D97-AF65-F5344CB8AC3E}">
        <p14:creationId xmlns:p14="http://schemas.microsoft.com/office/powerpoint/2010/main" val="1766466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2E361-E7C0-27D1-F3E1-CC4F1590E5E7}"/>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CB43A294-9379-8FD9-BE67-13318C88CA02}"/>
              </a:ext>
            </a:extLst>
          </p:cNvPr>
          <p:cNvSpPr txBox="1">
            <a:spLocks noGrp="1"/>
          </p:cNvSpPr>
          <p:nvPr>
            <p:ph type="title"/>
          </p:nvPr>
        </p:nvSpPr>
        <p:spPr>
          <a:xfrm>
            <a:off x="207384" y="262847"/>
            <a:ext cx="8218304" cy="694207"/>
          </a:xfrm>
          <a:prstGeom prst="rect">
            <a:avLst/>
          </a:prstGeom>
        </p:spPr>
        <p:txBody>
          <a:bodyPr vert="horz" wrap="square" lIns="0" tIns="16933" rIns="0" bIns="0" rtlCol="0" anchor="ctr">
            <a:spAutoFit/>
          </a:bodyPr>
          <a:lstStyle/>
          <a:p>
            <a:pPr marL="16933">
              <a:lnSpc>
                <a:spcPct val="100000"/>
              </a:lnSpc>
              <a:spcBef>
                <a:spcPts val="133"/>
              </a:spcBef>
            </a:pPr>
            <a:r>
              <a:rPr spc="300" dirty="0">
                <a:solidFill>
                  <a:srgbClr val="1A1A1A"/>
                </a:solidFill>
                <a:latin typeface="Trebuchet MS"/>
                <a:cs typeface="Trebuchet MS"/>
              </a:rPr>
              <a:t>RNN</a:t>
            </a:r>
            <a:r>
              <a:rPr spc="-280" dirty="0">
                <a:solidFill>
                  <a:srgbClr val="1A1A1A"/>
                </a:solidFill>
                <a:latin typeface="Trebuchet MS"/>
                <a:cs typeface="Trebuchet MS"/>
              </a:rPr>
              <a:t> </a:t>
            </a:r>
            <a:r>
              <a:rPr spc="187" dirty="0">
                <a:solidFill>
                  <a:srgbClr val="1A1A1A"/>
                </a:solidFill>
                <a:latin typeface="Trebuchet MS"/>
                <a:cs typeface="Trebuchet MS"/>
              </a:rPr>
              <a:t>-</a:t>
            </a:r>
            <a:r>
              <a:rPr spc="-280" dirty="0">
                <a:solidFill>
                  <a:srgbClr val="1A1A1A"/>
                </a:solidFill>
                <a:latin typeface="Trebuchet MS"/>
                <a:cs typeface="Trebuchet MS"/>
              </a:rPr>
              <a:t> </a:t>
            </a:r>
            <a:r>
              <a:rPr spc="120" dirty="0">
                <a:solidFill>
                  <a:srgbClr val="1A1A1A"/>
                </a:solidFill>
                <a:latin typeface="Trebuchet MS"/>
                <a:cs typeface="Trebuchet MS"/>
              </a:rPr>
              <a:t>Problems</a:t>
            </a:r>
          </a:p>
        </p:txBody>
      </p:sp>
      <p:sp>
        <p:nvSpPr>
          <p:cNvPr id="2" name="Slide Number Placeholder 1">
            <a:extLst>
              <a:ext uri="{FF2B5EF4-FFF2-40B4-BE49-F238E27FC236}">
                <a16:creationId xmlns:a16="http://schemas.microsoft.com/office/drawing/2014/main" id="{8998BA61-2E2C-C052-CB4B-93260946FD3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object 6">
            <a:extLst>
              <a:ext uri="{FF2B5EF4-FFF2-40B4-BE49-F238E27FC236}">
                <a16:creationId xmlns:a16="http://schemas.microsoft.com/office/drawing/2014/main" id="{32022B9F-BDB6-330C-8D9F-D32950F31486}"/>
              </a:ext>
            </a:extLst>
          </p:cNvPr>
          <p:cNvSpPr txBox="1"/>
          <p:nvPr/>
        </p:nvSpPr>
        <p:spPr>
          <a:xfrm>
            <a:off x="450088" y="1151437"/>
            <a:ext cx="11531600" cy="5094899"/>
          </a:xfrm>
          <a:prstGeom prst="rect">
            <a:avLst/>
          </a:prstGeom>
        </p:spPr>
        <p:txBody>
          <a:bodyPr vert="horz" wrap="square" lIns="0" tIns="16933" rIns="0" bIns="0" rtlCol="0">
            <a:spAutoFit/>
          </a:bodyPr>
          <a:lstStyle/>
          <a:p>
            <a:pPr marL="474121" marR="0" lvl="0" indent="-402157" algn="l" defTabSz="914400" rtl="0" eaLnBrk="1" fontAlgn="auto" latinLnBrk="0" hangingPunct="1">
              <a:lnSpc>
                <a:spcPct val="200000"/>
              </a:lnSpc>
              <a:spcBef>
                <a:spcPts val="133"/>
              </a:spcBef>
              <a:spcAft>
                <a:spcPts val="0"/>
              </a:spcAft>
              <a:buClrTx/>
              <a:buSzTx/>
              <a:buFontTx/>
              <a:buChar char="•"/>
              <a:tabLst>
                <a:tab pos="473275" algn="l"/>
                <a:tab pos="474121" algn="l"/>
              </a:tabLst>
              <a:defRPr/>
            </a:pPr>
            <a:r>
              <a:rPr kumimoji="0" lang="en-US" sz="2800" b="0" i="0" u="none" strike="noStrike" kern="1200" cap="none" spc="-7"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Slow</a:t>
            </a:r>
            <a:r>
              <a:rPr kumimoji="0" lang="en-US" sz="2800" b="0" i="0" u="none" strike="noStrike" kern="1200" cap="none" spc="-7"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in train </a:t>
            </a:r>
            <a:endParaRPr lang="en-US" sz="2800" spc="-7" dirty="0">
              <a:solidFill>
                <a:prstClr val="black"/>
              </a:solidFill>
              <a:latin typeface="Times New Roman" panose="02020603050405020304" pitchFamily="18" charset="0"/>
              <a:cs typeface="Times New Roman" panose="02020603050405020304" pitchFamily="18" charset="0"/>
            </a:endParaRPr>
          </a:p>
          <a:p>
            <a:pPr marL="474121" marR="0" lvl="0" indent="-402157" algn="l" defTabSz="914400" rtl="0" eaLnBrk="1" fontAlgn="auto" latinLnBrk="0" hangingPunct="1">
              <a:lnSpc>
                <a:spcPct val="200000"/>
              </a:lnSpc>
              <a:spcBef>
                <a:spcPts val="133"/>
              </a:spcBef>
              <a:spcAft>
                <a:spcPts val="0"/>
              </a:spcAft>
              <a:buClrTx/>
              <a:buSzTx/>
              <a:buFontTx/>
              <a:buChar char="•"/>
              <a:tabLst>
                <a:tab pos="473275" algn="l"/>
                <a:tab pos="474121" algn="l"/>
              </a:tabLst>
              <a:defRPr/>
            </a:pPr>
            <a:r>
              <a:rPr kumimoji="0" lang="en-US" sz="2800" b="0" i="0" u="none" strike="noStrike" kern="1200" cap="none" spc="-7"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Vanishing</a:t>
            </a:r>
            <a:r>
              <a:rPr kumimoji="0" lang="en-US" sz="2800" b="0" i="0" u="none" strike="noStrike" kern="1200" cap="none" spc="-7"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Gradients</a:t>
            </a:r>
          </a:p>
          <a:p>
            <a:pPr marL="474121" marR="0" lvl="0" indent="-402157" algn="l" defTabSz="914400" rtl="0" eaLnBrk="1" fontAlgn="auto" latinLnBrk="0" hangingPunct="1">
              <a:lnSpc>
                <a:spcPct val="200000"/>
              </a:lnSpc>
              <a:spcBef>
                <a:spcPts val="133"/>
              </a:spcBef>
              <a:spcAft>
                <a:spcPts val="0"/>
              </a:spcAft>
              <a:buClrTx/>
              <a:buSzTx/>
              <a:buFontTx/>
              <a:buChar char="•"/>
              <a:tabLst>
                <a:tab pos="473275" algn="l"/>
                <a:tab pos="474121" algn="l"/>
              </a:tabLst>
              <a:defRPr/>
            </a:pPr>
            <a:r>
              <a:rPr kumimoji="0" sz="2800" b="0" i="0" u="none" strike="noStrike" kern="1200" cap="none" spc="-7"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Hard</a:t>
            </a:r>
            <a:r>
              <a:rPr kumimoji="0" sz="2800" b="0" i="0" u="none" strike="noStrike" kern="1200" cap="none" spc="-33"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to</a:t>
            </a:r>
            <a:r>
              <a:rPr kumimoji="0" sz="2800" b="0" i="0" u="none" strike="noStrike" kern="1200" cap="none" spc="-2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parallelize</a:t>
            </a:r>
            <a:r>
              <a:rPr kumimoji="0" sz="2800" b="0" i="0" u="none" strike="noStrike" kern="1200" cap="none" spc="-13"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13"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efficiently</a:t>
            </a:r>
            <a:endParaRPr kumimoji="0" lang="en-US" sz="2800" b="0" i="0" u="none" strike="noStrike" kern="1200" cap="none" spc="-13"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474121" marR="0" lvl="0" indent="-402157" algn="l" defTabSz="914400" rtl="0" eaLnBrk="1" fontAlgn="auto" latinLnBrk="0" hangingPunct="1">
              <a:lnSpc>
                <a:spcPct val="200000"/>
              </a:lnSpc>
              <a:spcBef>
                <a:spcPts val="133"/>
              </a:spcBef>
              <a:spcAft>
                <a:spcPts val="0"/>
              </a:spcAft>
              <a:buClrTx/>
              <a:buSzTx/>
              <a:buFontTx/>
              <a:buChar char="•"/>
              <a:tabLst>
                <a:tab pos="473275" algn="l"/>
                <a:tab pos="474121" algn="l"/>
              </a:tabLst>
              <a:defRPr/>
            </a:pPr>
            <a:r>
              <a:rPr kumimoji="0" sz="2800" b="0" i="0" u="none" strike="noStrike" kern="1200" cap="none" spc="-13"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Transmitting</a:t>
            </a:r>
            <a:r>
              <a:rPr kumimoji="0" sz="2800" b="0" i="0" u="none" strike="noStrike" kern="1200" cap="none" spc="-2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information</a:t>
            </a:r>
            <a:r>
              <a:rPr kumimoji="0" sz="2800" b="0" i="0" u="none" strike="noStrike" kern="1200" cap="none" spc="-13"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through</a:t>
            </a:r>
            <a:r>
              <a:rPr kumimoji="0" sz="2800" b="0" i="0" u="none" strike="noStrike" kern="1200" cap="none" spc="-2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one</a:t>
            </a:r>
            <a:r>
              <a:rPr kumimoji="0" sz="2800" b="0" i="0" u="none" strike="noStrike" kern="1200" cap="none" spc="4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bottleneck</a:t>
            </a:r>
            <a:r>
              <a:rPr kumimoji="0" sz="2800" b="0" i="0" u="none" strike="noStrike" kern="1200" cap="none" spc="-13"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0"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(final</a:t>
            </a:r>
            <a:r>
              <a:rPr kumimoji="0" sz="2800" b="0" i="0" u="none" strike="noStrike" kern="1200" cap="none" spc="-13"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hidden</a:t>
            </a:r>
            <a:r>
              <a:rPr kumimoji="0" sz="2800" b="0" i="0" u="none" strike="noStrike" kern="1200" cap="none" spc="-13"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0"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state)</a:t>
            </a:r>
            <a:endParaRPr kumimoji="0"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474121" marR="0" lvl="0" indent="-402157" algn="l" defTabSz="914400" rtl="0" eaLnBrk="1" fontAlgn="auto" latinLnBrk="0" hangingPunct="1">
              <a:lnSpc>
                <a:spcPct val="200000"/>
              </a:lnSpc>
              <a:spcBef>
                <a:spcPts val="0"/>
              </a:spcBef>
              <a:spcAft>
                <a:spcPts val="0"/>
              </a:spcAft>
              <a:buClrTx/>
              <a:buSzTx/>
              <a:buFontTx/>
              <a:buChar char="•"/>
              <a:tabLst>
                <a:tab pos="473275" algn="l"/>
                <a:tab pos="474121" algn="l"/>
              </a:tabLst>
              <a:defRPr/>
            </a:pPr>
            <a:r>
              <a:rPr kumimoji="0" sz="2800" b="0" i="0" u="none" strike="noStrike" kern="1200" cap="none" spc="-7"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Longer</a:t>
            </a:r>
            <a:r>
              <a:rPr kumimoji="0" sz="2800" b="0" i="0" u="none" strike="noStrike" kern="1200" cap="none" spc="-4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sentences</a:t>
            </a:r>
            <a:r>
              <a:rPr kumimoji="0" sz="2800" b="0" i="0" u="none" strike="noStrike" kern="1200" cap="none" spc="-33"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lose</a:t>
            </a:r>
            <a:r>
              <a:rPr kumimoji="0" sz="2800" b="0" i="0" u="none" strike="noStrike" kern="1200" cap="none" spc="-33"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context</a:t>
            </a:r>
          </a:p>
          <a:p>
            <a:pPr marL="16933" marR="0" lvl="0" indent="0" algn="l" defTabSz="914400" rtl="0" eaLnBrk="1" fontAlgn="auto" latinLnBrk="0" hangingPunct="1">
              <a:lnSpc>
                <a:spcPct val="200000"/>
              </a:lnSpc>
              <a:spcBef>
                <a:spcPts val="0"/>
              </a:spcBef>
              <a:spcAft>
                <a:spcPts val="0"/>
              </a:spcAft>
              <a:buClrTx/>
              <a:buSzTx/>
              <a:buFontTx/>
              <a:buNone/>
              <a:tabLst/>
              <a:defRPr/>
            </a:pPr>
            <a:r>
              <a:rPr kumimoji="0" lang="en-US" sz="2800" b="0" i="0" u="none" strike="noStrike" kern="1200" cap="none" spc="47"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47"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□Example:</a:t>
            </a:r>
            <a:r>
              <a:rPr kumimoji="0" sz="2800" b="0" i="0" u="none" strike="noStrike" kern="1200" cap="none" spc="-2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0"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I</a:t>
            </a:r>
            <a:r>
              <a:rPr kumimoji="0" sz="2800" b="0" i="0" u="none" strike="noStrike" kern="1200" cap="none" spc="-20"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was</a:t>
            </a:r>
            <a:r>
              <a:rPr kumimoji="0" sz="2800" b="0" i="0" u="none" strike="noStrike" kern="1200" cap="none" spc="-13"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born</a:t>
            </a:r>
            <a:r>
              <a:rPr kumimoji="0" sz="2800" b="0" i="0" u="none" strike="noStrike" kern="1200" cap="none" spc="-13"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in</a:t>
            </a:r>
            <a:r>
              <a:rPr kumimoji="0" sz="2800" b="0" i="0" u="none" strike="noStrike" kern="1200" cap="none" spc="-13"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France</a:t>
            </a:r>
            <a:r>
              <a:rPr kumimoji="0" sz="2800" b="0" i="0" u="none" strike="noStrike" kern="1200" cap="none" spc="-20"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a:t>
            </a:r>
            <a:r>
              <a:rPr kumimoji="0" sz="2800" b="0" i="0" u="none" strike="noStrike" kern="1200" cap="none" spc="-20"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0"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I</a:t>
            </a:r>
            <a:r>
              <a:rPr kumimoji="0" sz="2800" b="0" i="0" u="none" strike="noStrike" kern="1200" cap="none" spc="-27"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0"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speak</a:t>
            </a:r>
            <a:r>
              <a:rPr kumimoji="0" sz="2800" b="0" i="0" u="none" strike="noStrike" kern="1200" cap="none" spc="-13"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fluent</a:t>
            </a:r>
            <a:r>
              <a:rPr kumimoji="0" sz="2800" b="0" i="0" u="none" strike="noStrike" kern="1200" cap="none" spc="-20"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 </a:t>
            </a:r>
            <a:r>
              <a:rPr kumimoji="0" sz="2800" b="0" i="0" u="none" strike="noStrike" kern="1200" cap="none" spc="-7" normalizeH="0" baseline="0" noProof="0" dirty="0">
                <a:ln>
                  <a:noFill/>
                </a:ln>
                <a:solidFill>
                  <a:srgbClr val="595959"/>
                </a:solidFill>
                <a:effectLst/>
                <a:uLnTx/>
                <a:uFillTx/>
                <a:latin typeface="Times New Roman" panose="02020603050405020304" pitchFamily="18" charset="0"/>
                <a:cs typeface="Times New Roman" panose="02020603050405020304" pitchFamily="18" charset="0"/>
              </a:rPr>
              <a:t>French</a:t>
            </a:r>
            <a:endParaRPr kumimoji="0"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6592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BDFA502-4BC0-CE6B-6115-B6FD2327DB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81BF22-B8A0-C15C-1986-702FD1F707C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A02C22A3-8B44-971F-55DC-CA63923ED2B1}"/>
              </a:ext>
            </a:extLst>
          </p:cNvPr>
          <p:cNvPicPr>
            <a:picLocks noChangeAspect="1"/>
          </p:cNvPicPr>
          <p:nvPr/>
        </p:nvPicPr>
        <p:blipFill>
          <a:blip r:embed="rId2"/>
          <a:stretch>
            <a:fillRect/>
          </a:stretch>
        </p:blipFill>
        <p:spPr>
          <a:xfrm>
            <a:off x="0" y="0"/>
            <a:ext cx="8749275" cy="6858000"/>
          </a:xfrm>
          <a:prstGeom prst="rect">
            <a:avLst/>
          </a:prstGeom>
        </p:spPr>
      </p:pic>
      <p:pic>
        <p:nvPicPr>
          <p:cNvPr id="5" name="Picture 4">
            <a:extLst>
              <a:ext uri="{FF2B5EF4-FFF2-40B4-BE49-F238E27FC236}">
                <a16:creationId xmlns:a16="http://schemas.microsoft.com/office/drawing/2014/main" id="{191EC80B-C45E-7822-AB6C-E76578E77686}"/>
              </a:ext>
            </a:extLst>
          </p:cNvPr>
          <p:cNvPicPr>
            <a:picLocks noChangeAspect="1"/>
          </p:cNvPicPr>
          <p:nvPr/>
        </p:nvPicPr>
        <p:blipFill>
          <a:blip r:embed="rId3"/>
          <a:stretch>
            <a:fillRect/>
          </a:stretch>
        </p:blipFill>
        <p:spPr>
          <a:xfrm>
            <a:off x="6982147" y="0"/>
            <a:ext cx="5050536" cy="2353376"/>
          </a:xfrm>
          <a:prstGeom prst="rect">
            <a:avLst/>
          </a:prstGeom>
        </p:spPr>
      </p:pic>
    </p:spTree>
    <p:extLst>
      <p:ext uri="{BB962C8B-B14F-4D97-AF65-F5344CB8AC3E}">
        <p14:creationId xmlns:p14="http://schemas.microsoft.com/office/powerpoint/2010/main" val="3501426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621C957-C6E1-67A6-02D9-D15ADA5E04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50DDF7-F4F3-F2B1-5CEA-80B932F9209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2F8B3BF6-4626-10F3-8781-A6ED21423199}"/>
              </a:ext>
            </a:extLst>
          </p:cNvPr>
          <p:cNvPicPr>
            <a:picLocks noChangeAspect="1"/>
          </p:cNvPicPr>
          <p:nvPr/>
        </p:nvPicPr>
        <p:blipFill>
          <a:blip r:embed="rId2"/>
          <a:stretch>
            <a:fillRect/>
          </a:stretch>
        </p:blipFill>
        <p:spPr>
          <a:xfrm>
            <a:off x="1200150" y="995362"/>
            <a:ext cx="9791700" cy="4867275"/>
          </a:xfrm>
          <a:prstGeom prst="rect">
            <a:avLst/>
          </a:prstGeom>
        </p:spPr>
      </p:pic>
    </p:spTree>
    <p:extLst>
      <p:ext uri="{BB962C8B-B14F-4D97-AF65-F5344CB8AC3E}">
        <p14:creationId xmlns:p14="http://schemas.microsoft.com/office/powerpoint/2010/main" val="1487908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DBBB3888-7C19-0FC4-0229-074C60E803A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02E52B-925A-2FAA-A6ED-5D037218A2E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8E2545E6-802A-0FBF-0CBC-839C0792DE23}"/>
              </a:ext>
            </a:extLst>
          </p:cNvPr>
          <p:cNvPicPr>
            <a:picLocks noChangeAspect="1"/>
          </p:cNvPicPr>
          <p:nvPr/>
        </p:nvPicPr>
        <p:blipFill>
          <a:blip r:embed="rId2"/>
          <a:stretch>
            <a:fillRect/>
          </a:stretch>
        </p:blipFill>
        <p:spPr>
          <a:xfrm>
            <a:off x="1801681" y="0"/>
            <a:ext cx="9161450" cy="6858000"/>
          </a:xfrm>
          <a:prstGeom prst="rect">
            <a:avLst/>
          </a:prstGeom>
        </p:spPr>
      </p:pic>
    </p:spTree>
    <p:extLst>
      <p:ext uri="{BB962C8B-B14F-4D97-AF65-F5344CB8AC3E}">
        <p14:creationId xmlns:p14="http://schemas.microsoft.com/office/powerpoint/2010/main" val="874237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0807BB-2A8E-6A29-48ED-CD13902EA3A1}"/>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E012095C-B673-480C-C854-CEC71A6DD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FD0D046-A05D-5C6B-2785-45F4A544E6CE}"/>
              </a:ext>
            </a:extLst>
          </p:cNvPr>
          <p:cNvSpPr>
            <a:spLocks noGrp="1"/>
          </p:cNvSpPr>
          <p:nvPr>
            <p:ph type="ctrTitle"/>
          </p:nvPr>
        </p:nvSpPr>
        <p:spPr>
          <a:xfrm>
            <a:off x="874815" y="798703"/>
            <a:ext cx="5221185" cy="2557145"/>
          </a:xfrm>
        </p:spPr>
        <p:txBody>
          <a:bodyPr anchor="b">
            <a:normAutofit/>
          </a:bodyPr>
          <a:lstStyle/>
          <a:p>
            <a:r>
              <a:rPr lang="en-US" b="1" dirty="0">
                <a:latin typeface="Times New Roman" panose="02020603050405020304" pitchFamily="18" charset="0"/>
                <a:cs typeface="Times New Roman" panose="02020603050405020304" pitchFamily="18" charset="0"/>
              </a:rPr>
              <a:t>Deep Learning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(DL)</a:t>
            </a:r>
          </a:p>
        </p:txBody>
      </p:sp>
      <p:sp>
        <p:nvSpPr>
          <p:cNvPr id="3" name="Subtitle 2">
            <a:extLst>
              <a:ext uri="{FF2B5EF4-FFF2-40B4-BE49-F238E27FC236}">
                <a16:creationId xmlns:a16="http://schemas.microsoft.com/office/drawing/2014/main" id="{57D0CC77-EC74-5C8D-4C34-FA43FF2B0FB5}"/>
              </a:ext>
            </a:extLst>
          </p:cNvPr>
          <p:cNvSpPr>
            <a:spLocks noGrp="1"/>
          </p:cNvSpPr>
          <p:nvPr>
            <p:ph type="subTitle" idx="1"/>
          </p:nvPr>
        </p:nvSpPr>
        <p:spPr>
          <a:xfrm>
            <a:off x="440663" y="3078283"/>
            <a:ext cx="6429744" cy="3779717"/>
          </a:xfrm>
        </p:spPr>
        <p:txBody>
          <a:bodyPr anchor="t">
            <a:normAutofit/>
          </a:bodyPr>
          <a:lstStyle/>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Lab6</a:t>
            </a:r>
          </a:p>
          <a:p>
            <a:br>
              <a:rPr lang="en-US" sz="700" dirty="0">
                <a:latin typeface="Times New Roman" panose="02020603050405020304" pitchFamily="18" charset="0"/>
                <a:cs typeface="Times New Roman" panose="02020603050405020304" pitchFamily="18" charset="0"/>
              </a:rPr>
            </a:br>
            <a:r>
              <a:rPr lang="en-GB" sz="2800" b="1" dirty="0">
                <a:latin typeface="Times New Roman" panose="02020603050405020304" pitchFamily="18" charset="0"/>
                <a:cs typeface="Times New Roman" panose="02020603050405020304" pitchFamily="18" charset="0"/>
              </a:rPr>
              <a:t>Natural Language Processing (NLP)</a:t>
            </a:r>
          </a:p>
          <a:p>
            <a:r>
              <a:rPr lang="en-US" sz="2800" b="1" dirty="0">
                <a:solidFill>
                  <a:srgbClr val="FF0000"/>
                </a:solidFill>
                <a:latin typeface="Times New Roman" panose="02020603050405020304" pitchFamily="18" charset="0"/>
                <a:cs typeface="Times New Roman" panose="02020603050405020304" pitchFamily="18" charset="0"/>
              </a:rPr>
              <a:t> </a:t>
            </a:r>
          </a:p>
          <a:p>
            <a:r>
              <a:rPr lang="en-US" sz="2800" b="1" dirty="0">
                <a:solidFill>
                  <a:srgbClr val="FF0000"/>
                </a:solidFill>
                <a:latin typeface="Times New Roman" panose="02020603050405020304" pitchFamily="18" charset="0"/>
                <a:cs typeface="Times New Roman" panose="02020603050405020304" pitchFamily="18" charset="0"/>
              </a:rPr>
              <a:t>Long Short-Term Memory(LSTM)</a:t>
            </a:r>
          </a:p>
        </p:txBody>
      </p:sp>
      <p:sp>
        <p:nvSpPr>
          <p:cNvPr id="63" name="Freeform: Shape 62">
            <a:extLst>
              <a:ext uri="{FF2B5EF4-FFF2-40B4-BE49-F238E27FC236}">
                <a16:creationId xmlns:a16="http://schemas.microsoft.com/office/drawing/2014/main" id="{4637B2C8-A6AA-C357-0992-34106F848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Shape 64">
            <a:extLst>
              <a:ext uri="{FF2B5EF4-FFF2-40B4-BE49-F238E27FC236}">
                <a16:creationId xmlns:a16="http://schemas.microsoft.com/office/drawing/2014/main" id="{F967CE01-C3F1-A439-9CB0-B2C5AD7A28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Freeform: Shape 66">
            <a:extLst>
              <a:ext uri="{FF2B5EF4-FFF2-40B4-BE49-F238E27FC236}">
                <a16:creationId xmlns:a16="http://schemas.microsoft.com/office/drawing/2014/main" id="{792A77D7-5A62-99D1-00DB-314166442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Freeform: Shape 68">
            <a:extLst>
              <a:ext uri="{FF2B5EF4-FFF2-40B4-BE49-F238E27FC236}">
                <a16:creationId xmlns:a16="http://schemas.microsoft.com/office/drawing/2014/main" id="{71CA4FE5-31DA-CC63-7F94-0B5A1BF663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8AD8A3FB-D20B-9B07-4EE4-CB5E75F81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Freeform: Shape 78">
            <a:extLst>
              <a:ext uri="{FF2B5EF4-FFF2-40B4-BE49-F238E27FC236}">
                <a16:creationId xmlns:a16="http://schemas.microsoft.com/office/drawing/2014/main" id="{829B4EC1-DE11-6C02-11E7-2AF0EB2DC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98" name="Picture 2" descr="Visión - Iconos gratis de computadora">
            <a:extLst>
              <a:ext uri="{FF2B5EF4-FFF2-40B4-BE49-F238E27FC236}">
                <a16:creationId xmlns:a16="http://schemas.microsoft.com/office/drawing/2014/main" id="{21C2D380-E9C2-1E82-8595-03725E9C05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9392" y="747640"/>
            <a:ext cx="48768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logo with blue lines and a letter h&#10;&#10;Description automatically generated">
            <a:extLst>
              <a:ext uri="{FF2B5EF4-FFF2-40B4-BE49-F238E27FC236}">
                <a16:creationId xmlns:a16="http://schemas.microsoft.com/office/drawing/2014/main" id="{38BA8A6F-BA21-4E06-39B0-C46C4D388132}"/>
              </a:ext>
            </a:extLst>
          </p:cNvPr>
          <p:cNvPicPr>
            <a:picLocks noChangeAspect="1"/>
          </p:cNvPicPr>
          <p:nvPr/>
        </p:nvPicPr>
        <p:blipFill>
          <a:blip r:embed="rId3">
            <a:extLst>
              <a:ext uri="{28A0092B-C50C-407E-A947-70E740481C1C}">
                <a14:useLocalDpi xmlns:a14="http://schemas.microsoft.com/office/drawing/2010/main" val="0"/>
              </a:ext>
            </a:extLst>
          </a:blip>
          <a:srcRect l="18741" r="17967"/>
          <a:stretch/>
        </p:blipFill>
        <p:spPr>
          <a:xfrm>
            <a:off x="7461299" y="1903445"/>
            <a:ext cx="3182522" cy="2164702"/>
          </a:xfrm>
          <a:prstGeom prst="rect">
            <a:avLst/>
          </a:prstGeom>
        </p:spPr>
      </p:pic>
    </p:spTree>
    <p:extLst>
      <p:ext uri="{BB962C8B-B14F-4D97-AF65-F5344CB8AC3E}">
        <p14:creationId xmlns:p14="http://schemas.microsoft.com/office/powerpoint/2010/main" val="3105411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526" y="226874"/>
            <a:ext cx="10718800" cy="427532"/>
          </a:xfrm>
          <a:prstGeom prst="rect">
            <a:avLst/>
          </a:prstGeom>
        </p:spPr>
        <p:txBody>
          <a:bodyPr vert="horz" wrap="square" lIns="0" tIns="16933" rIns="0" bIns="0" rtlCol="0" anchor="ctr">
            <a:spAutoFit/>
          </a:bodyPr>
          <a:lstStyle/>
          <a:p>
            <a:pPr marL="16933">
              <a:lnSpc>
                <a:spcPct val="100000"/>
              </a:lnSpc>
              <a:spcBef>
                <a:spcPts val="133"/>
              </a:spcBef>
            </a:pPr>
            <a:r>
              <a:rPr sz="2667" spc="-7" dirty="0">
                <a:latin typeface="Arial"/>
                <a:cs typeface="Arial"/>
              </a:rPr>
              <a:t>The</a:t>
            </a:r>
            <a:r>
              <a:rPr sz="2667" spc="-13" dirty="0">
                <a:latin typeface="Arial"/>
                <a:cs typeface="Arial"/>
              </a:rPr>
              <a:t> </a:t>
            </a:r>
            <a:r>
              <a:rPr sz="2667" spc="-7" dirty="0">
                <a:latin typeface="Arial"/>
                <a:cs typeface="Arial"/>
              </a:rPr>
              <a:t>basic</a:t>
            </a:r>
            <a:r>
              <a:rPr sz="2667" spc="-13" dirty="0">
                <a:latin typeface="Arial"/>
                <a:cs typeface="Arial"/>
              </a:rPr>
              <a:t> difference</a:t>
            </a:r>
            <a:r>
              <a:rPr sz="2667" spc="-7" dirty="0">
                <a:latin typeface="Arial"/>
                <a:cs typeface="Arial"/>
              </a:rPr>
              <a:t> between</a:t>
            </a:r>
            <a:r>
              <a:rPr sz="2667" spc="-13" dirty="0">
                <a:latin typeface="Arial"/>
                <a:cs typeface="Arial"/>
              </a:rPr>
              <a:t> </a:t>
            </a:r>
            <a:r>
              <a:rPr sz="2667" spc="-7" dirty="0">
                <a:latin typeface="Arial"/>
                <a:cs typeface="Arial"/>
              </a:rPr>
              <a:t>the</a:t>
            </a:r>
            <a:r>
              <a:rPr sz="2667" spc="-13" dirty="0">
                <a:latin typeface="Arial"/>
                <a:cs typeface="Arial"/>
              </a:rPr>
              <a:t> </a:t>
            </a:r>
            <a:r>
              <a:rPr sz="2667" spc="-7" dirty="0">
                <a:latin typeface="Arial"/>
                <a:cs typeface="Arial"/>
              </a:rPr>
              <a:t>function of</a:t>
            </a:r>
            <a:r>
              <a:rPr sz="2667" spc="-13" dirty="0">
                <a:latin typeface="Arial"/>
                <a:cs typeface="Arial"/>
              </a:rPr>
              <a:t> </a:t>
            </a:r>
            <a:r>
              <a:rPr sz="2667" spc="-7" dirty="0">
                <a:latin typeface="Arial"/>
                <a:cs typeface="Arial"/>
              </a:rPr>
              <a:t>tanh, </a:t>
            </a:r>
            <a:r>
              <a:rPr sz="2667" dirty="0">
                <a:latin typeface="Arial"/>
                <a:cs typeface="Arial"/>
              </a:rPr>
              <a:t>sigmoid</a:t>
            </a:r>
            <a:r>
              <a:rPr sz="2667" spc="-13" dirty="0">
                <a:latin typeface="Arial"/>
                <a:cs typeface="Arial"/>
              </a:rPr>
              <a:t> </a:t>
            </a:r>
            <a:r>
              <a:rPr sz="2667" spc="-7" dirty="0">
                <a:latin typeface="Arial"/>
                <a:cs typeface="Arial"/>
              </a:rPr>
              <a:t>is</a:t>
            </a:r>
            <a:r>
              <a:rPr sz="2667" spc="-13" dirty="0">
                <a:latin typeface="Arial"/>
                <a:cs typeface="Arial"/>
              </a:rPr>
              <a:t> </a:t>
            </a:r>
            <a:r>
              <a:rPr sz="2667" spc="-7" dirty="0">
                <a:latin typeface="Arial"/>
                <a:cs typeface="Arial"/>
              </a:rPr>
              <a:t>the </a:t>
            </a:r>
            <a:r>
              <a:rPr sz="2667" dirty="0">
                <a:latin typeface="Arial"/>
                <a:cs typeface="Arial"/>
              </a:rPr>
              <a:t>range.</a:t>
            </a:r>
          </a:p>
        </p:txBody>
      </p:sp>
      <p:sp>
        <p:nvSpPr>
          <p:cNvPr id="5" name="Slide Number Placeholder 4">
            <a:extLst>
              <a:ext uri="{FF2B5EF4-FFF2-40B4-BE49-F238E27FC236}">
                <a16:creationId xmlns:a16="http://schemas.microsoft.com/office/drawing/2014/main" id="{17B66E2E-F237-16BB-FF86-74D290046017}"/>
              </a:ext>
            </a:extLst>
          </p:cNvPr>
          <p:cNvSpPr>
            <a:spLocks noGrp="1"/>
          </p:cNvSpPr>
          <p:nvPr>
            <p:ph type="sldNum" sz="quarter" idx="12"/>
          </p:nvPr>
        </p:nvSpPr>
        <p:spPr/>
        <p:txBody>
          <a:bodyPr/>
          <a:lstStyle/>
          <a:p>
            <a:fld id="{5EE24C92-1265-4741-8F9F-404A15D9386E}" type="slidenum">
              <a:rPr lang="en-US" smtClean="0"/>
              <a:t>30</a:t>
            </a:fld>
            <a:endParaRPr lang="en-US" dirty="0"/>
          </a:p>
        </p:txBody>
      </p:sp>
      <p:pic>
        <p:nvPicPr>
          <p:cNvPr id="3" name="object 3"/>
          <p:cNvPicPr/>
          <p:nvPr/>
        </p:nvPicPr>
        <p:blipFill>
          <a:blip r:embed="rId3" cstate="print"/>
          <a:stretch>
            <a:fillRect/>
          </a:stretch>
        </p:blipFill>
        <p:spPr>
          <a:xfrm>
            <a:off x="646294" y="1193907"/>
            <a:ext cx="4890632" cy="3124944"/>
          </a:xfrm>
          <a:prstGeom prst="rect">
            <a:avLst/>
          </a:prstGeom>
        </p:spPr>
      </p:pic>
      <p:pic>
        <p:nvPicPr>
          <p:cNvPr id="4" name="object 4"/>
          <p:cNvPicPr/>
          <p:nvPr/>
        </p:nvPicPr>
        <p:blipFill>
          <a:blip r:embed="rId4" cstate="print"/>
          <a:stretch>
            <a:fillRect/>
          </a:stretch>
        </p:blipFill>
        <p:spPr>
          <a:xfrm>
            <a:off x="6985720" y="843758"/>
            <a:ext cx="4135528" cy="2833213"/>
          </a:xfrm>
          <a:prstGeom prst="rect">
            <a:avLst/>
          </a:prstGeom>
        </p:spPr>
      </p:pic>
      <p:sp>
        <p:nvSpPr>
          <p:cNvPr id="8" name="TextBox 7">
            <a:extLst>
              <a:ext uri="{FF2B5EF4-FFF2-40B4-BE49-F238E27FC236}">
                <a16:creationId xmlns:a16="http://schemas.microsoft.com/office/drawing/2014/main" id="{FC3D8344-451C-70DB-C572-F20D0970FD7A}"/>
              </a:ext>
            </a:extLst>
          </p:cNvPr>
          <p:cNvSpPr txBox="1"/>
          <p:nvPr/>
        </p:nvSpPr>
        <p:spPr>
          <a:xfrm>
            <a:off x="6547945" y="3676971"/>
            <a:ext cx="5118538" cy="2031325"/>
          </a:xfrm>
          <a:prstGeom prst="rect">
            <a:avLst/>
          </a:prstGeom>
          <a:noFill/>
        </p:spPr>
        <p:txBody>
          <a:bodyPr wrap="square">
            <a:spAutoFit/>
          </a:bodyPr>
          <a:lstStyle/>
          <a:p>
            <a:pPr algn="r" rtl="1"/>
            <a:r>
              <a:rPr lang="ar-EG" b="1" dirty="0"/>
              <a:t>إنه يقدر يخزن معلومة</a:t>
            </a:r>
            <a:endParaRPr lang="ar-EG" dirty="0"/>
          </a:p>
          <a:p>
            <a:pPr algn="r" rtl="1"/>
            <a:r>
              <a:rPr lang="ar-EG" b="1" dirty="0"/>
              <a:t>مع اتجاهها</a:t>
            </a:r>
            <a:endParaRPr lang="ar-EG" dirty="0"/>
          </a:p>
          <a:p>
            <a:pPr lvl="1" algn="r" rtl="1"/>
            <a:r>
              <a:rPr lang="ar-EG" dirty="0"/>
              <a:t>كلمة مهمة → +قيمة موجبة</a:t>
            </a:r>
          </a:p>
          <a:p>
            <a:pPr lvl="1" algn="r" rtl="1"/>
            <a:r>
              <a:rPr lang="ar-EG" dirty="0"/>
              <a:t>كلمة نفي أو شيء سلبي → قيمة سالبة</a:t>
            </a:r>
          </a:p>
          <a:p>
            <a:pPr algn="r" rtl="1"/>
            <a:r>
              <a:rPr lang="ar-EG" dirty="0"/>
              <a:t>يعني </a:t>
            </a:r>
            <a:r>
              <a:rPr lang="en-US" dirty="0"/>
              <a:t>tanh </a:t>
            </a:r>
            <a:r>
              <a:rPr lang="ar-EG" dirty="0"/>
              <a:t>مش هدفها كمية كبيرة… هدفها </a:t>
            </a:r>
            <a:r>
              <a:rPr lang="ar-EG" i="1" dirty="0"/>
              <a:t>المعنى والاتجاه</a:t>
            </a:r>
            <a:r>
              <a:rPr lang="ar-EG" dirty="0"/>
              <a:t>.</a:t>
            </a:r>
          </a:p>
          <a:p>
            <a:pPr algn="r" rtl="1"/>
            <a:r>
              <a:rPr lang="ar-EG" dirty="0"/>
              <a:t>القيم السالبة مهمة جدًا:</a:t>
            </a:r>
          </a:p>
          <a:p>
            <a:pPr algn="r" rtl="1"/>
            <a:r>
              <a:rPr lang="ar-EG" dirty="0"/>
              <a:t>توضح إذا المعلومة تعاكس أو تنفي معلومة سابقة</a:t>
            </a:r>
          </a:p>
        </p:txBody>
      </p:sp>
      <p:sp>
        <p:nvSpPr>
          <p:cNvPr id="11" name="TextBox 10">
            <a:extLst>
              <a:ext uri="{FF2B5EF4-FFF2-40B4-BE49-F238E27FC236}">
                <a16:creationId xmlns:a16="http://schemas.microsoft.com/office/drawing/2014/main" id="{6DB979FB-C70D-0BB4-CB2C-F3680EB411A8}"/>
              </a:ext>
            </a:extLst>
          </p:cNvPr>
          <p:cNvSpPr txBox="1"/>
          <p:nvPr/>
        </p:nvSpPr>
        <p:spPr>
          <a:xfrm>
            <a:off x="6166671" y="5708296"/>
            <a:ext cx="5499812" cy="1200329"/>
          </a:xfrm>
          <a:prstGeom prst="rect">
            <a:avLst/>
          </a:prstGeom>
          <a:noFill/>
        </p:spPr>
        <p:txBody>
          <a:bodyPr wrap="square">
            <a:spAutoFit/>
          </a:bodyPr>
          <a:lstStyle/>
          <a:p>
            <a:pPr lvl="1" algn="r" rtl="1"/>
            <a:r>
              <a:rPr lang="ar-EG" dirty="0"/>
              <a:t>مثال بسيط:</a:t>
            </a:r>
          </a:p>
          <a:p>
            <a:pPr lvl="1" algn="r" rtl="1"/>
            <a:r>
              <a:rPr lang="ar-EG" dirty="0"/>
              <a:t>“هو سعيد” → قيمة موجبة</a:t>
            </a:r>
          </a:p>
          <a:p>
            <a:pPr lvl="1" algn="r" rtl="1"/>
            <a:r>
              <a:rPr lang="ar-EG" dirty="0"/>
              <a:t>“هو </a:t>
            </a:r>
            <a:r>
              <a:rPr lang="ar-EG" b="1" dirty="0"/>
              <a:t>ليس</a:t>
            </a:r>
            <a:r>
              <a:rPr lang="ar-EG" dirty="0"/>
              <a:t> سعيدًا” → النفي يظهر بقيمة </a:t>
            </a:r>
            <a:r>
              <a:rPr lang="ar-EG" b="1" dirty="0"/>
              <a:t>سالبة</a:t>
            </a:r>
            <a:endParaRPr lang="ar-EG" dirty="0"/>
          </a:p>
          <a:p>
            <a:endParaRPr lang="en-US" dirty="0"/>
          </a:p>
        </p:txBody>
      </p:sp>
      <p:sp>
        <p:nvSpPr>
          <p:cNvPr id="13" name="TextBox 12">
            <a:extLst>
              <a:ext uri="{FF2B5EF4-FFF2-40B4-BE49-F238E27FC236}">
                <a16:creationId xmlns:a16="http://schemas.microsoft.com/office/drawing/2014/main" id="{201A2369-4528-2842-43F1-49C868CA14D1}"/>
              </a:ext>
            </a:extLst>
          </p:cNvPr>
          <p:cNvSpPr txBox="1"/>
          <p:nvPr/>
        </p:nvSpPr>
        <p:spPr>
          <a:xfrm>
            <a:off x="0" y="4821206"/>
            <a:ext cx="4737536" cy="1477328"/>
          </a:xfrm>
          <a:prstGeom prst="rect">
            <a:avLst/>
          </a:prstGeom>
          <a:noFill/>
        </p:spPr>
        <p:txBody>
          <a:bodyPr wrap="square">
            <a:spAutoFit/>
          </a:bodyPr>
          <a:lstStyle/>
          <a:p>
            <a:pPr algn="r" rtl="1">
              <a:buNone/>
            </a:pPr>
            <a:r>
              <a:rPr lang="ar-EG" dirty="0"/>
              <a:t>لأنها مثل مفتاح تحكم:</a:t>
            </a:r>
          </a:p>
          <a:p>
            <a:pPr algn="r" rtl="1">
              <a:buFont typeface="Arial" panose="020B0604020202020204" pitchFamily="34" charset="0"/>
              <a:buChar char="•"/>
            </a:pPr>
            <a:r>
              <a:rPr lang="ar-EG" dirty="0"/>
              <a:t>0 → انسَ كل شيء</a:t>
            </a:r>
          </a:p>
          <a:p>
            <a:pPr algn="r" rtl="1">
              <a:buFont typeface="Arial" panose="020B0604020202020204" pitchFamily="34" charset="0"/>
              <a:buChar char="•"/>
            </a:pPr>
            <a:r>
              <a:rPr lang="ar-EG" dirty="0"/>
              <a:t>1 → احتفظ بكل شيء</a:t>
            </a:r>
          </a:p>
          <a:p>
            <a:pPr algn="r" rtl="1">
              <a:buFont typeface="Arial" panose="020B0604020202020204" pitchFamily="34" charset="0"/>
              <a:buChar char="•"/>
            </a:pPr>
            <a:r>
              <a:rPr lang="ar-EG" dirty="0"/>
              <a:t>0.3 → احتفظ بجزء صغير</a:t>
            </a:r>
          </a:p>
          <a:p>
            <a:pPr algn="r" rtl="1">
              <a:buNone/>
            </a:pPr>
            <a:r>
              <a:rPr lang="ar-EG" dirty="0"/>
              <a:t>هي </a:t>
            </a:r>
            <a:r>
              <a:rPr lang="en-US" dirty="0"/>
              <a:t>Gate </a:t>
            </a:r>
            <a:r>
              <a:rPr lang="ar-EG" dirty="0"/>
              <a:t>تتحكم </a:t>
            </a:r>
            <a:r>
              <a:rPr lang="ar-EG" b="1" dirty="0"/>
              <a:t>بالمعلومات نفسها، وليس محتوى الذاكرة</a:t>
            </a:r>
            <a:endParaRPr lang="ar-EG"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5B884AA-BDCD-231B-3D59-C9BA6C84B2EE}"/>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6D9AC916-264A-CB78-2D45-6E4552CE8CBB}"/>
              </a:ext>
            </a:extLst>
          </p:cNvPr>
          <p:cNvSpPr txBox="1">
            <a:spLocks noGrp="1"/>
          </p:cNvSpPr>
          <p:nvPr>
            <p:ph type="ctrTitle"/>
          </p:nvPr>
        </p:nvSpPr>
        <p:spPr>
          <a:xfrm>
            <a:off x="1524000" y="1606995"/>
            <a:ext cx="9144000" cy="2387600"/>
          </a:xfrm>
        </p:spPr>
        <p:txBody>
          <a:bodyPr vert="horz" lIns="0" tIns="16933" rIns="0" bIns="0" rtlCol="0" anchor="b">
            <a:normAutofit/>
          </a:bodyPr>
          <a:lstStyle/>
          <a:p>
            <a:pPr marL="16933">
              <a:spcBef>
                <a:spcPts val="133"/>
              </a:spcBef>
            </a:pPr>
            <a:r>
              <a:rPr lang="en-GB" b="1" dirty="0">
                <a:latin typeface="Times New Roman" panose="02020603050405020304" pitchFamily="18" charset="0"/>
                <a:cs typeface="Times New Roman" panose="02020603050405020304" pitchFamily="18" charset="0"/>
              </a:rPr>
              <a:t>Long Short-Term Memory (LSTM)</a:t>
            </a:r>
          </a:p>
        </p:txBody>
      </p:sp>
      <p:sp>
        <p:nvSpPr>
          <p:cNvPr id="2" name="Slide Number Placeholder 1">
            <a:extLst>
              <a:ext uri="{FF2B5EF4-FFF2-40B4-BE49-F238E27FC236}">
                <a16:creationId xmlns:a16="http://schemas.microsoft.com/office/drawing/2014/main" id="{10E30E67-BD1F-AC10-6970-8EB1F9AE94E0}"/>
              </a:ext>
            </a:extLst>
          </p:cNvPr>
          <p:cNvSpPr>
            <a:spLocks noGrp="1"/>
          </p:cNvSpPr>
          <p:nvPr>
            <p:ph type="sldNum" sz="quarter" idx="12"/>
          </p:nvPr>
        </p:nvSpPr>
        <p:spPr/>
        <p:txBody>
          <a:bodyPr anchor="ctr">
            <a:normAutofit/>
          </a:bodyPr>
          <a:lstStyle/>
          <a:p>
            <a:pPr>
              <a:spcAft>
                <a:spcPts val="600"/>
              </a:spcAft>
            </a:pPr>
            <a:fld id="{5EE24C92-1265-4741-8F9F-404A15D9386E}" type="slidenum">
              <a:rPr lang="en-US" smtClean="0"/>
              <a:pPr>
                <a:spcAft>
                  <a:spcPts val="600"/>
                </a:spcAft>
              </a:pPr>
              <a:t>31</a:t>
            </a:fld>
            <a:endParaRPr lang="en-US"/>
          </a:p>
        </p:txBody>
      </p:sp>
    </p:spTree>
    <p:extLst>
      <p:ext uri="{BB962C8B-B14F-4D97-AF65-F5344CB8AC3E}">
        <p14:creationId xmlns:p14="http://schemas.microsoft.com/office/powerpoint/2010/main" val="515867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37044" y="690264"/>
            <a:ext cx="7498927" cy="447986"/>
          </a:xfrm>
          <a:prstGeom prst="rect">
            <a:avLst/>
          </a:prstGeom>
        </p:spPr>
        <p:txBody>
          <a:bodyPr vert="horz" wrap="square" lIns="0" tIns="16933" rIns="0" bIns="0" rtlCol="0" anchor="ctr">
            <a:spAutoFit/>
          </a:bodyPr>
          <a:lstStyle/>
          <a:p>
            <a:pPr marL="16933">
              <a:lnSpc>
                <a:spcPct val="100000"/>
              </a:lnSpc>
              <a:spcBef>
                <a:spcPts val="133"/>
              </a:spcBef>
            </a:pPr>
            <a:r>
              <a:rPr lang="en-US" sz="2800" b="1" spc="93">
                <a:solidFill>
                  <a:srgbClr val="1A1A1A"/>
                </a:solidFill>
                <a:latin typeface="Trebuchet MS"/>
                <a:cs typeface="Trebuchet MS"/>
              </a:rPr>
              <a:t>L</a:t>
            </a:r>
            <a:r>
              <a:rPr lang="en-US" sz="2800" b="1" spc="227">
                <a:solidFill>
                  <a:srgbClr val="1A1A1A"/>
                </a:solidFill>
                <a:latin typeface="Trebuchet MS"/>
                <a:cs typeface="Trebuchet MS"/>
              </a:rPr>
              <a:t>ong</a:t>
            </a:r>
            <a:r>
              <a:rPr lang="en-US" sz="2800" b="1" spc="-233">
                <a:solidFill>
                  <a:srgbClr val="1A1A1A"/>
                </a:solidFill>
                <a:latin typeface="Trebuchet MS"/>
                <a:cs typeface="Trebuchet MS"/>
              </a:rPr>
              <a:t> </a:t>
            </a:r>
            <a:r>
              <a:rPr lang="en-US" sz="2800" b="1" spc="373">
                <a:solidFill>
                  <a:srgbClr val="1A1A1A"/>
                </a:solidFill>
                <a:latin typeface="Trebuchet MS"/>
                <a:cs typeface="Trebuchet MS"/>
              </a:rPr>
              <a:t>S</a:t>
            </a:r>
            <a:r>
              <a:rPr lang="en-US" sz="2800" b="1" spc="-7">
                <a:solidFill>
                  <a:srgbClr val="1A1A1A"/>
                </a:solidFill>
                <a:latin typeface="Trebuchet MS"/>
                <a:cs typeface="Trebuchet MS"/>
              </a:rPr>
              <a:t>hort</a:t>
            </a:r>
            <a:r>
              <a:rPr lang="en-US" sz="2800" b="1" spc="-27">
                <a:solidFill>
                  <a:srgbClr val="1A1A1A"/>
                </a:solidFill>
                <a:latin typeface="Trebuchet MS"/>
                <a:cs typeface="Trebuchet MS"/>
              </a:rPr>
              <a:t>-</a:t>
            </a:r>
            <a:r>
              <a:rPr lang="en-US" sz="2800" b="1" spc="-339">
                <a:solidFill>
                  <a:srgbClr val="1A1A1A"/>
                </a:solidFill>
                <a:latin typeface="Trebuchet MS"/>
                <a:cs typeface="Trebuchet MS"/>
              </a:rPr>
              <a:t>T</a:t>
            </a:r>
            <a:r>
              <a:rPr lang="en-US" sz="2800" b="1" spc="67">
                <a:solidFill>
                  <a:srgbClr val="1A1A1A"/>
                </a:solidFill>
                <a:latin typeface="Trebuchet MS"/>
                <a:cs typeface="Trebuchet MS"/>
              </a:rPr>
              <a:t>erm</a:t>
            </a:r>
            <a:r>
              <a:rPr lang="en-US" sz="2800" b="1" spc="-233">
                <a:solidFill>
                  <a:srgbClr val="1A1A1A"/>
                </a:solidFill>
                <a:latin typeface="Trebuchet MS"/>
                <a:cs typeface="Trebuchet MS"/>
              </a:rPr>
              <a:t> </a:t>
            </a:r>
            <a:r>
              <a:rPr lang="en-US" sz="2800" b="1" spc="413">
                <a:solidFill>
                  <a:srgbClr val="1A1A1A"/>
                </a:solidFill>
                <a:latin typeface="Trebuchet MS"/>
                <a:cs typeface="Trebuchet MS"/>
              </a:rPr>
              <a:t>M</a:t>
            </a:r>
            <a:r>
              <a:rPr lang="en-US" sz="2800" b="1" spc="80">
                <a:solidFill>
                  <a:srgbClr val="1A1A1A"/>
                </a:solidFill>
                <a:latin typeface="Trebuchet MS"/>
                <a:cs typeface="Trebuchet MS"/>
              </a:rPr>
              <a:t>emory</a:t>
            </a:r>
            <a:r>
              <a:rPr lang="en-US" sz="2800" b="1" spc="-320">
                <a:solidFill>
                  <a:srgbClr val="1A1A1A"/>
                </a:solidFill>
                <a:latin typeface="Trebuchet MS"/>
                <a:cs typeface="Trebuchet MS"/>
              </a:rPr>
              <a:t> </a:t>
            </a:r>
            <a:r>
              <a:rPr lang="en-US" sz="2800" b="1" spc="87">
                <a:solidFill>
                  <a:srgbClr val="1A1A1A"/>
                </a:solidFill>
                <a:latin typeface="Trebuchet MS"/>
                <a:cs typeface="Trebuchet MS"/>
              </a:rPr>
              <a:t>(LSTM)</a:t>
            </a:r>
            <a:endParaRPr lang="en-US" sz="2800" b="1" spc="87" dirty="0">
              <a:solidFill>
                <a:srgbClr val="1A1A1A"/>
              </a:solidFill>
              <a:latin typeface="Trebuchet MS"/>
              <a:cs typeface="Trebuchet MS"/>
            </a:endParaRPr>
          </a:p>
        </p:txBody>
      </p:sp>
      <p:sp>
        <p:nvSpPr>
          <p:cNvPr id="9" name="object 9"/>
          <p:cNvSpPr txBox="1"/>
          <p:nvPr/>
        </p:nvSpPr>
        <p:spPr>
          <a:xfrm>
            <a:off x="597870" y="1397400"/>
            <a:ext cx="4687362" cy="4449081"/>
          </a:xfrm>
          <a:prstGeom prst="rect">
            <a:avLst/>
          </a:prstGeom>
        </p:spPr>
        <p:txBody>
          <a:bodyPr vert="horz" wrap="square" lIns="0" tIns="16933" rIns="0" bIns="0" rtlCol="0">
            <a:spAutoFit/>
          </a:bodyPr>
          <a:lstStyle/>
          <a:p>
            <a:pPr marL="302683" marR="103291" lvl="0" indent="-285750" algn="l" defTabSz="914400" rtl="0" eaLnBrk="1" fontAlgn="auto" latinLnBrk="0" hangingPunct="1">
              <a:lnSpc>
                <a:spcPct val="100000"/>
              </a:lnSpc>
              <a:spcBef>
                <a:spcPts val="133"/>
              </a:spcBef>
              <a:spcAft>
                <a:spcPts val="0"/>
              </a:spcAft>
              <a:buClrTx/>
              <a:buSzTx/>
              <a:buFont typeface="Arial" panose="020B0604020202020204" pitchFamily="34" charset="0"/>
              <a:buChar char="•"/>
              <a:tabLst/>
              <a:defRPr/>
            </a:pPr>
            <a:r>
              <a:rPr kumimoji="0" lang="en-US" sz="1800" b="0" i="0" u="none" strike="noStrike" kern="1200" cap="none" spc="-7" normalizeH="0" baseline="0" noProof="0" dirty="0">
                <a:ln>
                  <a:noFill/>
                </a:ln>
                <a:effectLst/>
                <a:uLnTx/>
                <a:uFillTx/>
                <a:latin typeface="Arial"/>
                <a:ea typeface="+mn-ea"/>
                <a:cs typeface="Arial"/>
              </a:rPr>
              <a:t>Use</a:t>
            </a:r>
            <a:r>
              <a:rPr kumimoji="0" lang="en-US" sz="1800" b="0" i="0" u="none" strike="noStrike" kern="1200" cap="none" spc="-47"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gates</a:t>
            </a:r>
            <a:r>
              <a:rPr kumimoji="0" lang="en-US" sz="1800" b="0" i="0" u="none" strike="noStrike" kern="1200" cap="none" spc="-40"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to</a:t>
            </a:r>
            <a:r>
              <a:rPr kumimoji="0" lang="en-US" sz="1800" b="0" i="0" u="none" strike="noStrike" kern="1200" cap="none" spc="-47" normalizeH="0" baseline="0" noProof="0" dirty="0">
                <a:ln>
                  <a:noFill/>
                </a:ln>
                <a:effectLst/>
                <a:uLnTx/>
                <a:uFillTx/>
                <a:latin typeface="Arial"/>
                <a:ea typeface="+mn-ea"/>
                <a:cs typeface="Arial"/>
              </a:rPr>
              <a:t> </a:t>
            </a:r>
            <a:r>
              <a:rPr kumimoji="0" lang="en-US" sz="1800" b="0" i="0" u="none" strike="noStrike" kern="1200" cap="none" spc="0" normalizeH="0" baseline="0" noProof="0" dirty="0">
                <a:ln>
                  <a:noFill/>
                </a:ln>
                <a:effectLst/>
                <a:uLnTx/>
                <a:uFillTx/>
                <a:latin typeface="Arial"/>
                <a:ea typeface="+mn-ea"/>
                <a:cs typeface="Arial"/>
              </a:rPr>
              <a:t>control </a:t>
            </a:r>
            <a:r>
              <a:rPr kumimoji="0" lang="en-US" sz="1800" b="0" i="0" u="none" strike="noStrike" kern="1200" cap="none" spc="-645"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the</a:t>
            </a:r>
            <a:r>
              <a:rPr kumimoji="0" lang="en-US" sz="1800" b="0" i="0" u="none" strike="noStrike" kern="1200" cap="none" spc="127"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information</a:t>
            </a:r>
            <a:r>
              <a:rPr kumimoji="0" lang="en-US" sz="1800" b="0" i="0" u="none" strike="noStrike" kern="1200" cap="none" spc="127"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to </a:t>
            </a:r>
            <a:r>
              <a:rPr kumimoji="0" lang="en-US" sz="1800" b="0" i="0" u="none" strike="noStrike" kern="1200" cap="none" spc="0"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be</a:t>
            </a:r>
            <a:r>
              <a:rPr kumimoji="0" lang="en-US" sz="1800" b="0" i="0" u="none" strike="noStrike" kern="1200" cap="none" spc="-27"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added</a:t>
            </a:r>
            <a:r>
              <a:rPr kumimoji="0" lang="en-US" sz="1800" b="0" i="0" u="none" strike="noStrike" kern="1200" cap="none" spc="-27"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from</a:t>
            </a:r>
            <a:r>
              <a:rPr kumimoji="0" lang="en-US" sz="1800" b="0" i="0" u="none" strike="noStrike" kern="1200" cap="none" spc="-27"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the input</a:t>
            </a:r>
            <a:r>
              <a:rPr lang="en-US" spc="-47" dirty="0">
                <a:latin typeface="Arial"/>
                <a:cs typeface="Arial"/>
              </a:rPr>
              <a:t>, </a:t>
            </a:r>
            <a:r>
              <a:rPr kumimoji="0" lang="en-US" sz="1800" b="0" i="0" u="none" strike="noStrike" kern="1200" cap="none" spc="-7" normalizeH="0" baseline="0" noProof="0" dirty="0">
                <a:ln>
                  <a:noFill/>
                </a:ln>
                <a:effectLst/>
                <a:uLnTx/>
                <a:uFillTx/>
                <a:latin typeface="Arial"/>
                <a:ea typeface="+mn-ea"/>
                <a:cs typeface="Arial"/>
              </a:rPr>
              <a:t>forgot</a:t>
            </a:r>
            <a:r>
              <a:rPr kumimoji="0" lang="en-US" sz="1800" b="0" i="0" u="none" strike="noStrike" kern="1200" cap="none" spc="-40"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from</a:t>
            </a:r>
            <a:r>
              <a:rPr kumimoji="0" lang="en-US" sz="1800" b="0" i="0" u="none" strike="noStrike" kern="1200" cap="none" spc="-47"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the </a:t>
            </a:r>
            <a:r>
              <a:rPr kumimoji="0" lang="en-US" sz="1800" b="0" i="0" u="none" strike="noStrike" kern="1200" cap="none" spc="-645"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previous </a:t>
            </a:r>
            <a:r>
              <a:rPr kumimoji="0" lang="en-US" sz="1800" b="0" i="0" u="none" strike="noStrike" kern="1200" cap="none" spc="0" normalizeH="0" baseline="0" noProof="0" dirty="0">
                <a:ln>
                  <a:noFill/>
                </a:ln>
                <a:effectLst/>
                <a:uLnTx/>
                <a:uFillTx/>
                <a:latin typeface="Arial"/>
                <a:ea typeface="+mn-ea"/>
                <a:cs typeface="Arial"/>
              </a:rPr>
              <a:t>memories, </a:t>
            </a:r>
            <a:r>
              <a:rPr kumimoji="0" lang="en-US" sz="1800" b="0" i="0" u="none" strike="noStrike" kern="1200" cap="none" spc="7"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and</a:t>
            </a:r>
            <a:r>
              <a:rPr kumimoji="0" lang="en-US" sz="1800" b="0" i="0" u="none" strike="noStrike" kern="1200" cap="none" spc="-20"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outputted.</a:t>
            </a:r>
          </a:p>
          <a:p>
            <a:pPr marL="302683" marR="6773"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effectLst/>
              <a:uLnTx/>
              <a:uFillTx/>
              <a:latin typeface="Arial"/>
              <a:ea typeface="+mn-ea"/>
              <a:cs typeface="Arial"/>
            </a:endParaRPr>
          </a:p>
          <a:p>
            <a:pPr marL="302683" marR="125304"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effectLst/>
                <a:uLnTx/>
                <a:uFillTx/>
                <a:latin typeface="Arial"/>
                <a:ea typeface="+mn-ea"/>
                <a:cs typeface="Arial"/>
              </a:rPr>
              <a:t>σ (sigmoid) used for gates probabilities.</a:t>
            </a:r>
          </a:p>
          <a:p>
            <a:pPr marL="302683" marR="125304"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effectLst/>
              <a:uLnTx/>
              <a:uFillTx/>
              <a:latin typeface="Arial"/>
              <a:ea typeface="+mn-ea"/>
              <a:cs typeface="Arial"/>
            </a:endParaRPr>
          </a:p>
          <a:p>
            <a:pPr marL="302683" marR="125304"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7" normalizeH="0" baseline="0" noProof="0" dirty="0">
                <a:ln>
                  <a:noFill/>
                </a:ln>
                <a:effectLst/>
                <a:uLnTx/>
                <a:uFillTx/>
                <a:latin typeface="Arial"/>
                <a:ea typeface="+mn-ea"/>
                <a:cs typeface="Arial"/>
              </a:rPr>
              <a:t>Tanh</a:t>
            </a:r>
            <a:r>
              <a:rPr kumimoji="0" lang="en-US" sz="1800" b="0" i="0" u="none" strike="noStrike" kern="1200" cap="none" spc="0"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functions used</a:t>
            </a:r>
            <a:r>
              <a:rPr kumimoji="0" lang="en-US" sz="1800" b="0" i="0" u="none" strike="noStrike" kern="1200" cap="none" spc="0" normalizeH="0" baseline="0" noProof="0" dirty="0">
                <a:ln>
                  <a:noFill/>
                </a:ln>
                <a:effectLst/>
                <a:uLnTx/>
                <a:uFillTx/>
                <a:latin typeface="Arial"/>
                <a:ea typeface="+mn-ea"/>
                <a:cs typeface="Arial"/>
              </a:rPr>
              <a:t> </a:t>
            </a:r>
            <a:r>
              <a:rPr kumimoji="0" lang="en-US" sz="1800" b="0" i="0" u="none" strike="noStrike" kern="1200" cap="none" spc="-20" normalizeH="0" baseline="0" noProof="0" dirty="0">
                <a:ln>
                  <a:noFill/>
                </a:ln>
                <a:effectLst/>
                <a:uLnTx/>
                <a:uFillTx/>
                <a:latin typeface="Arial"/>
                <a:ea typeface="+mn-ea"/>
                <a:cs typeface="Arial"/>
              </a:rPr>
              <a:t>respectively,</a:t>
            </a:r>
            <a:r>
              <a:rPr kumimoji="0" lang="en-US" sz="1800" b="0" i="0" u="none" strike="noStrike" kern="1200" cap="none" spc="-33"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to</a:t>
            </a:r>
            <a:r>
              <a:rPr kumimoji="0" lang="en-US" sz="1800" b="0" i="0" u="none" strike="noStrike" kern="1200" cap="none" spc="-27" normalizeH="0" baseline="0" noProof="0" dirty="0">
                <a:ln>
                  <a:noFill/>
                </a:ln>
                <a:effectLst/>
                <a:uLnTx/>
                <a:uFillTx/>
                <a:latin typeface="Arial"/>
                <a:ea typeface="+mn-ea"/>
                <a:cs typeface="Arial"/>
              </a:rPr>
              <a:t> </a:t>
            </a:r>
            <a:r>
              <a:rPr kumimoji="0" lang="en-US" sz="1800" b="0" i="0" u="none" strike="noStrike" kern="1200" cap="none" spc="0" normalizeH="0" baseline="0" noProof="0" dirty="0">
                <a:ln>
                  <a:noFill/>
                </a:ln>
                <a:effectLst/>
                <a:uLnTx/>
                <a:uFillTx/>
                <a:latin typeface="Arial"/>
                <a:ea typeface="+mn-ea"/>
                <a:cs typeface="Arial"/>
              </a:rPr>
              <a:t>map </a:t>
            </a:r>
            <a:r>
              <a:rPr kumimoji="0" lang="en-US" sz="1800" b="0" i="0" u="none" strike="noStrike" kern="1200" cap="none" spc="-645"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the</a:t>
            </a:r>
            <a:r>
              <a:rPr kumimoji="0" lang="en-US" sz="1800" b="0" i="0" u="none" strike="noStrike" kern="1200" cap="none" spc="-27" normalizeH="0" baseline="0" noProof="0" dirty="0">
                <a:ln>
                  <a:noFill/>
                </a:ln>
                <a:effectLst/>
                <a:uLnTx/>
                <a:uFillTx/>
                <a:latin typeface="Arial"/>
                <a:ea typeface="+mn-ea"/>
                <a:cs typeface="Arial"/>
              </a:rPr>
              <a:t> </a:t>
            </a:r>
            <a:r>
              <a:rPr kumimoji="0" lang="en-US" sz="1800" b="0" i="0" u="none" strike="noStrike" kern="1200" cap="none" spc="0" normalizeH="0" baseline="0" noProof="0" dirty="0">
                <a:ln>
                  <a:noFill/>
                </a:ln>
                <a:effectLst/>
                <a:uLnTx/>
                <a:uFillTx/>
                <a:latin typeface="Arial"/>
                <a:ea typeface="+mn-ea"/>
                <a:cs typeface="Arial"/>
              </a:rPr>
              <a:t>value</a:t>
            </a:r>
            <a:r>
              <a:rPr kumimoji="0" lang="en-US" sz="1800" b="0" i="0" u="none" strike="noStrike" kern="1200" cap="none" spc="-20"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to</a:t>
            </a:r>
            <a:r>
              <a:rPr kumimoji="0" lang="en-US" sz="1800" b="0" i="0" u="none" strike="noStrike" kern="1200" cap="none" spc="-27"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[-1,</a:t>
            </a:r>
            <a:r>
              <a:rPr kumimoji="0" lang="en-US" sz="1800" b="0" i="0" u="none" strike="noStrike" kern="1200" cap="none" spc="-20" normalizeH="0" baseline="0" noProof="0" dirty="0">
                <a:ln>
                  <a:noFill/>
                </a:ln>
                <a:effectLst/>
                <a:uLnTx/>
                <a:uFillTx/>
                <a:latin typeface="Arial"/>
                <a:ea typeface="+mn-ea"/>
                <a:cs typeface="Arial"/>
              </a:rPr>
              <a:t> </a:t>
            </a:r>
            <a:r>
              <a:rPr kumimoji="0" lang="en-US" sz="1800" b="0" i="0" u="none" strike="noStrike" kern="1200" cap="none" spc="-7" normalizeH="0" baseline="0" noProof="0" dirty="0">
                <a:ln>
                  <a:noFill/>
                </a:ln>
                <a:effectLst/>
                <a:uLnTx/>
                <a:uFillTx/>
                <a:latin typeface="Arial"/>
                <a:ea typeface="+mn-ea"/>
                <a:cs typeface="Arial"/>
              </a:rPr>
              <a:t>1], where they solve the problem of basic RNN. </a:t>
            </a:r>
            <a:endParaRPr kumimoji="0" lang="ar-EG" sz="1800" b="0" i="0" u="none" strike="noStrike" kern="1200" cap="none" spc="-7" normalizeH="0" baseline="0" noProof="0" dirty="0">
              <a:ln>
                <a:noFill/>
              </a:ln>
              <a:effectLst/>
              <a:uLnTx/>
              <a:uFillTx/>
              <a:latin typeface="Arial"/>
              <a:ea typeface="+mn-ea"/>
              <a:cs typeface="Arial"/>
            </a:endParaRPr>
          </a:p>
          <a:p>
            <a:pPr marL="302683" marR="125304"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ar-EG" spc="-7" dirty="0">
              <a:latin typeface="Arial"/>
              <a:cs typeface="Arial"/>
            </a:endParaRPr>
          </a:p>
          <a:p>
            <a:pPr marL="302683" marR="125304"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effectLst/>
                <a:latin typeface="Roboto" panose="02000000000000000000" pitchFamily="2" charset="0"/>
              </a:rPr>
              <a:t>Cell State c(t):The memory of the LSTM, updated by the forget and input gates.</a:t>
            </a:r>
          </a:p>
          <a:p>
            <a:pPr marL="302683" marR="125304"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i="0" dirty="0">
              <a:effectLst/>
              <a:latin typeface="Roboto" panose="02000000000000000000" pitchFamily="2" charset="0"/>
            </a:endParaRPr>
          </a:p>
          <a:p>
            <a:pPr marL="302683" marR="125304"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effectLst/>
                <a:latin typeface="Roboto" panose="02000000000000000000" pitchFamily="2" charset="0"/>
              </a:rPr>
              <a:t>Hidden State h(t): The output of the LSTM cell at the current time step, determined by the output gate and cell state.</a:t>
            </a:r>
          </a:p>
        </p:txBody>
      </p:sp>
      <p:sp>
        <p:nvSpPr>
          <p:cNvPr id="2" name="Slide Number Placeholder 1">
            <a:extLst>
              <a:ext uri="{FF2B5EF4-FFF2-40B4-BE49-F238E27FC236}">
                <a16:creationId xmlns:a16="http://schemas.microsoft.com/office/drawing/2014/main" id="{77035241-0B44-049D-97CA-7409B38424AE}"/>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pic>
        <p:nvPicPr>
          <p:cNvPr id="1026" name="Picture 2" descr="Understanding Long Short-Term Memory (LSTM) Networks | Machine Learning  Archive">
            <a:extLst>
              <a:ext uri="{FF2B5EF4-FFF2-40B4-BE49-F238E27FC236}">
                <a16:creationId xmlns:a16="http://schemas.microsoft.com/office/drawing/2014/main" id="{4E21DF18-689C-4E63-8959-2C00358734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994" t="10077" r="12315" b="9336"/>
          <a:stretch/>
        </p:blipFill>
        <p:spPr bwMode="auto">
          <a:xfrm>
            <a:off x="5355458" y="1520767"/>
            <a:ext cx="6172200" cy="3657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extLst>
              <a:ext uri="{BEBA8EAE-BF5A-486C-A8C5-ECC9F3942E4B}">
                <a14:imgProps xmlns:a14="http://schemas.microsoft.com/office/drawing/2010/main">
                  <a14:imgLayer r:embed="rId3">
                    <a14:imgEffect>
                      <a14:sharpenSoften amount="50000"/>
                    </a14:imgEffect>
                  </a14:imgLayer>
                </a14:imgProps>
              </a:ext>
            </a:extLst>
          </a:blip>
          <a:srcRect t="1865"/>
          <a:stretch/>
        </p:blipFill>
        <p:spPr>
          <a:xfrm>
            <a:off x="5006169" y="1219200"/>
            <a:ext cx="6866125" cy="4505190"/>
          </a:xfrm>
          <a:prstGeom prst="rect">
            <a:avLst/>
          </a:prstGeom>
        </p:spPr>
      </p:pic>
      <p:sp>
        <p:nvSpPr>
          <p:cNvPr id="3" name="object 3"/>
          <p:cNvSpPr txBox="1"/>
          <p:nvPr/>
        </p:nvSpPr>
        <p:spPr>
          <a:xfrm>
            <a:off x="591315" y="2297698"/>
            <a:ext cx="3638973" cy="3094864"/>
          </a:xfrm>
          <a:prstGeom prst="rect">
            <a:avLst/>
          </a:prstGeom>
        </p:spPr>
        <p:txBody>
          <a:bodyPr vert="horz" wrap="square" lIns="0" tIns="16933" rIns="0" bIns="0" rtlCol="0">
            <a:spAutoFit/>
          </a:bodyPr>
          <a:lstStyle/>
          <a:p>
            <a:pPr marL="16933" marR="6773" lvl="0" indent="0" algn="l" defTabSz="914400" rtl="0" eaLnBrk="1" fontAlgn="auto" latinLnBrk="0" hangingPunct="1">
              <a:lnSpc>
                <a:spcPct val="100000"/>
              </a:lnSpc>
              <a:spcBef>
                <a:spcPts val="133"/>
              </a:spcBef>
              <a:spcAft>
                <a:spcPts val="0"/>
              </a:spcAft>
              <a:buClrTx/>
              <a:buSzTx/>
              <a:buFontTx/>
              <a:buNone/>
              <a:tabLst/>
              <a:defRPr/>
            </a:pPr>
            <a:r>
              <a:rPr kumimoji="0" sz="2000" b="0" i="0" u="none" strike="noStrike" kern="1200" cap="none" spc="-7" normalizeH="0" baseline="0" noProof="0" dirty="0">
                <a:ln>
                  <a:noFill/>
                </a:ln>
                <a:solidFill>
                  <a:prstClr val="black"/>
                </a:solidFill>
                <a:effectLst/>
                <a:uLnTx/>
                <a:uFillTx/>
                <a:latin typeface="Arial"/>
                <a:ea typeface="+mn-ea"/>
                <a:cs typeface="Arial"/>
              </a:rPr>
              <a:t>In the first part, we </a:t>
            </a:r>
            <a:r>
              <a:rPr kumimoji="0" sz="2000" b="0" i="0" u="none" strike="noStrike" kern="1200" cap="none" spc="0" normalizeH="0" baseline="0" noProof="0" dirty="0">
                <a:ln>
                  <a:noFill/>
                </a:ln>
                <a:solidFill>
                  <a:prstClr val="black"/>
                </a:solidFill>
                <a:effectLst/>
                <a:uLnTx/>
                <a:uFillTx/>
                <a:latin typeface="Arial"/>
                <a:ea typeface="+mn-ea"/>
                <a:cs typeface="Arial"/>
              </a:rPr>
              <a:t>see </a:t>
            </a:r>
            <a:r>
              <a:rPr kumimoji="0" sz="2000" b="0" i="0" u="none" strike="noStrike" kern="1200" cap="none" spc="-7" normalizeH="0" baseline="0" noProof="0" dirty="0">
                <a:ln>
                  <a:noFill/>
                </a:ln>
                <a:solidFill>
                  <a:prstClr val="black"/>
                </a:solidFill>
                <a:effectLst/>
                <a:uLnTx/>
                <a:uFillTx/>
                <a:latin typeface="Arial"/>
                <a:ea typeface="+mn-ea"/>
                <a:cs typeface="Arial"/>
              </a:rPr>
              <a:t>the </a:t>
            </a:r>
            <a:r>
              <a:rPr kumimoji="0" sz="2000" b="0" i="0" u="none" strike="noStrike" kern="1200" cap="none" spc="-653" normalizeH="0" baseline="0" noProof="0" dirty="0">
                <a:ln>
                  <a:noFill/>
                </a:ln>
                <a:solidFill>
                  <a:prstClr val="black"/>
                </a:solidFill>
                <a:effectLst/>
                <a:uLnTx/>
                <a:uFillTx/>
                <a:latin typeface="Arial"/>
                <a:ea typeface="+mn-ea"/>
                <a:cs typeface="Arial"/>
              </a:rPr>
              <a:t> </a:t>
            </a:r>
            <a:r>
              <a:rPr kumimoji="0" sz="2000" b="0" i="0" u="none" strike="noStrike" kern="1200" cap="none" spc="0" normalizeH="0" baseline="0" noProof="0" dirty="0">
                <a:ln>
                  <a:noFill/>
                </a:ln>
                <a:solidFill>
                  <a:prstClr val="black"/>
                </a:solidFill>
                <a:effectLst/>
                <a:uLnTx/>
                <a:uFillTx/>
                <a:latin typeface="Arial"/>
                <a:ea typeface="+mn-ea"/>
                <a:cs typeface="Arial"/>
              </a:rPr>
              <a:t>sigma mark </a:t>
            </a:r>
            <a:r>
              <a:rPr kumimoji="0" sz="2000" b="1" i="0" u="none" strike="noStrike" kern="1200" cap="none" spc="47" normalizeH="0" baseline="0" noProof="0" dirty="0">
                <a:ln>
                  <a:noFill/>
                </a:ln>
                <a:solidFill>
                  <a:srgbClr val="FF0000"/>
                </a:solidFill>
                <a:effectLst/>
                <a:uLnTx/>
                <a:uFillTx/>
                <a:latin typeface="Calibri"/>
                <a:ea typeface="+mn-ea"/>
                <a:cs typeface="Calibri"/>
              </a:rPr>
              <a:t>σ</a:t>
            </a:r>
            <a:r>
              <a:rPr kumimoji="0" sz="2000" b="0" i="0" u="none" strike="noStrike" kern="1200" cap="none" spc="47" normalizeH="0" baseline="0" noProof="0" dirty="0">
                <a:ln>
                  <a:noFill/>
                </a:ln>
                <a:solidFill>
                  <a:prstClr val="black"/>
                </a:solidFill>
                <a:effectLst/>
                <a:uLnTx/>
                <a:uFillTx/>
                <a:latin typeface="Arial"/>
                <a:ea typeface="+mn-ea"/>
                <a:cs typeface="Arial"/>
              </a:rPr>
              <a:t>, </a:t>
            </a:r>
            <a:r>
              <a:rPr kumimoji="0" sz="2000" b="0" i="0" u="none" strike="noStrike" kern="1200" cap="none" spc="-7" normalizeH="0" baseline="0" noProof="0" dirty="0">
                <a:ln>
                  <a:noFill/>
                </a:ln>
                <a:solidFill>
                  <a:prstClr val="black"/>
                </a:solidFill>
                <a:effectLst/>
                <a:uLnTx/>
                <a:uFillTx/>
                <a:latin typeface="Arial"/>
                <a:ea typeface="+mn-ea"/>
                <a:cs typeface="Arial"/>
              </a:rPr>
              <a:t>which </a:t>
            </a:r>
            <a:r>
              <a:rPr kumimoji="0" sz="2000" b="0" i="0" u="none" strike="noStrike" kern="1200" cap="none" spc="0" normalizeH="0" baseline="0" noProof="0" dirty="0">
                <a:ln>
                  <a:noFill/>
                </a:ln>
                <a:solidFill>
                  <a:prstClr val="black"/>
                </a:solidFill>
                <a:effectLst/>
                <a:uLnTx/>
                <a:uFillTx/>
                <a:latin typeface="Arial"/>
                <a:ea typeface="+mn-ea"/>
                <a:cs typeface="Arial"/>
              </a:rPr>
              <a:t> represents </a:t>
            </a:r>
            <a:r>
              <a:rPr kumimoji="0" sz="2000" b="0" i="0" u="none" strike="noStrike" kern="1200" cap="none" spc="-7" normalizeH="0" baseline="0" noProof="0" dirty="0">
                <a:ln>
                  <a:noFill/>
                </a:ln>
                <a:solidFill>
                  <a:prstClr val="black"/>
                </a:solidFill>
                <a:effectLst/>
                <a:uLnTx/>
                <a:uFillTx/>
                <a:latin typeface="Arial"/>
                <a:ea typeface="+mn-ea"/>
                <a:cs typeface="Arial"/>
              </a:rPr>
              <a:t>the gates that </a:t>
            </a:r>
            <a:r>
              <a:rPr kumimoji="0" sz="2000" b="0" i="0" u="none" strike="noStrike" kern="1200" cap="none" spc="0" normalizeH="0" baseline="0" noProof="0" dirty="0">
                <a:ln>
                  <a:noFill/>
                </a:ln>
                <a:solidFill>
                  <a:prstClr val="black"/>
                </a:solidFill>
                <a:effectLst/>
                <a:uLnTx/>
                <a:uFillTx/>
                <a:latin typeface="Arial"/>
                <a:ea typeface="+mn-ea"/>
                <a:cs typeface="Arial"/>
              </a:rPr>
              <a:t> control </a:t>
            </a:r>
            <a:r>
              <a:rPr kumimoji="0" sz="2000" b="0" i="0" u="none" strike="noStrike" kern="1200" cap="none" spc="-7" normalizeH="0" baseline="0" noProof="0" dirty="0">
                <a:ln>
                  <a:noFill/>
                </a:ln>
                <a:solidFill>
                  <a:prstClr val="black"/>
                </a:solidFill>
                <a:effectLst/>
                <a:uLnTx/>
                <a:uFillTx/>
                <a:latin typeface="Arial"/>
                <a:ea typeface="+mn-ea"/>
                <a:cs typeface="Arial"/>
              </a:rPr>
              <a:t>the flow of data, </a:t>
            </a:r>
            <a:r>
              <a:rPr kumimoji="0" sz="2000" b="0" i="0" u="none" strike="noStrike" kern="1200" cap="none" spc="0" normalizeH="0" baseline="0" noProof="0" dirty="0">
                <a:ln>
                  <a:noFill/>
                </a:ln>
                <a:solidFill>
                  <a:prstClr val="black"/>
                </a:solidFill>
                <a:effectLst/>
                <a:uLnTx/>
                <a:uFillTx/>
                <a:latin typeface="Arial"/>
                <a:ea typeface="+mn-ea"/>
                <a:cs typeface="Arial"/>
              </a:rPr>
              <a:t> </a:t>
            </a:r>
            <a:r>
              <a:rPr kumimoji="0" sz="2000" b="0" i="0" u="none" strike="noStrike" kern="1200" cap="none" spc="-7" normalizeH="0" baseline="0" noProof="0" dirty="0">
                <a:ln>
                  <a:noFill/>
                </a:ln>
                <a:solidFill>
                  <a:prstClr val="black"/>
                </a:solidFill>
                <a:effectLst/>
                <a:uLnTx/>
                <a:uFillTx/>
                <a:latin typeface="Arial"/>
                <a:ea typeface="+mn-ea"/>
                <a:cs typeface="Arial"/>
              </a:rPr>
              <a:t>and they </a:t>
            </a:r>
            <a:r>
              <a:rPr kumimoji="0" sz="2000" b="0" i="0" u="none" strike="noStrike" kern="1200" cap="none" spc="0" normalizeH="0" baseline="0" noProof="0" dirty="0">
                <a:ln>
                  <a:noFill/>
                </a:ln>
                <a:solidFill>
                  <a:prstClr val="black"/>
                </a:solidFill>
                <a:effectLst/>
                <a:uLnTx/>
                <a:uFillTx/>
                <a:latin typeface="Arial"/>
                <a:ea typeface="+mn-ea"/>
                <a:cs typeface="Arial"/>
              </a:rPr>
              <a:t>control </a:t>
            </a:r>
            <a:r>
              <a:rPr kumimoji="0" sz="2000" b="0" i="0" u="none" strike="noStrike" kern="1200" cap="none" spc="-7" normalizeH="0" baseline="0" noProof="0" dirty="0">
                <a:ln>
                  <a:noFill/>
                </a:ln>
                <a:solidFill>
                  <a:prstClr val="black"/>
                </a:solidFill>
                <a:effectLst/>
                <a:uLnTx/>
                <a:uFillTx/>
                <a:latin typeface="Arial"/>
                <a:ea typeface="+mn-ea"/>
                <a:cs typeface="Arial"/>
              </a:rPr>
              <a:t>the </a:t>
            </a:r>
            <a:r>
              <a:rPr kumimoji="0" sz="2000" b="0" i="0" u="none" strike="noStrike" kern="1200" cap="none" spc="0" normalizeH="0" baseline="0" noProof="0" dirty="0">
                <a:ln>
                  <a:noFill/>
                </a:ln>
                <a:solidFill>
                  <a:prstClr val="black"/>
                </a:solidFill>
                <a:effectLst/>
                <a:uLnTx/>
                <a:uFillTx/>
                <a:latin typeface="Arial"/>
                <a:ea typeface="+mn-ea"/>
                <a:cs typeface="Arial"/>
              </a:rPr>
              <a:t> </a:t>
            </a:r>
            <a:r>
              <a:rPr kumimoji="0" sz="2000" b="0" i="0" u="none" strike="noStrike" kern="1200" cap="none" spc="-7" normalizeH="0" baseline="0" noProof="0" dirty="0">
                <a:ln>
                  <a:noFill/>
                </a:ln>
                <a:solidFill>
                  <a:srgbClr val="FF0000"/>
                </a:solidFill>
                <a:effectLst/>
                <a:uLnTx/>
                <a:uFillTx/>
                <a:latin typeface="Arial"/>
                <a:ea typeface="+mn-ea"/>
                <a:cs typeface="Arial"/>
              </a:rPr>
              <a:t>amount</a:t>
            </a:r>
            <a:r>
              <a:rPr kumimoji="0" sz="2000" b="0" i="0" u="none" strike="noStrike" kern="1200" cap="none" spc="-33" normalizeH="0" baseline="0" noProof="0" dirty="0">
                <a:ln>
                  <a:noFill/>
                </a:ln>
                <a:solidFill>
                  <a:srgbClr val="FF0000"/>
                </a:solidFill>
                <a:effectLst/>
                <a:uLnTx/>
                <a:uFillTx/>
                <a:latin typeface="Arial"/>
                <a:ea typeface="+mn-ea"/>
                <a:cs typeface="Arial"/>
              </a:rPr>
              <a:t> </a:t>
            </a:r>
            <a:r>
              <a:rPr kumimoji="0" sz="2000" b="0" i="0" u="none" strike="noStrike" kern="1200" cap="none" spc="-7" normalizeH="0" baseline="0" noProof="0" dirty="0">
                <a:ln>
                  <a:noFill/>
                </a:ln>
                <a:solidFill>
                  <a:srgbClr val="FF0000"/>
                </a:solidFill>
                <a:effectLst/>
                <a:uLnTx/>
                <a:uFillTx/>
                <a:latin typeface="Arial"/>
                <a:ea typeface="+mn-ea"/>
                <a:cs typeface="Arial"/>
              </a:rPr>
              <a:t>of</a:t>
            </a:r>
            <a:r>
              <a:rPr kumimoji="0" sz="2000" b="0" i="0" u="none" strike="noStrike" kern="1200" cap="none" spc="-33" normalizeH="0" baseline="0" noProof="0" dirty="0">
                <a:ln>
                  <a:noFill/>
                </a:ln>
                <a:solidFill>
                  <a:srgbClr val="FF0000"/>
                </a:solidFill>
                <a:effectLst/>
                <a:uLnTx/>
                <a:uFillTx/>
                <a:latin typeface="Arial"/>
                <a:ea typeface="+mn-ea"/>
                <a:cs typeface="Arial"/>
              </a:rPr>
              <a:t> </a:t>
            </a:r>
            <a:r>
              <a:rPr kumimoji="0" sz="2000" b="0" i="0" u="none" strike="noStrike" kern="1200" cap="none" spc="-7" normalizeH="0" baseline="0" noProof="0" dirty="0">
                <a:ln>
                  <a:noFill/>
                </a:ln>
                <a:solidFill>
                  <a:srgbClr val="FF0000"/>
                </a:solidFill>
                <a:effectLst/>
                <a:uLnTx/>
                <a:uFillTx/>
                <a:latin typeface="Arial"/>
                <a:ea typeface="+mn-ea"/>
                <a:cs typeface="Arial"/>
              </a:rPr>
              <a:t>data</a:t>
            </a:r>
            <a:r>
              <a:rPr kumimoji="0" sz="2000" b="0" i="0" u="none" strike="noStrike" kern="1200" cap="none" spc="-33" normalizeH="0" baseline="0" noProof="0" dirty="0">
                <a:ln>
                  <a:noFill/>
                </a:ln>
                <a:solidFill>
                  <a:srgbClr val="FF0000"/>
                </a:solidFill>
                <a:effectLst/>
                <a:uLnTx/>
                <a:uFillTx/>
                <a:latin typeface="Arial"/>
                <a:ea typeface="+mn-ea"/>
                <a:cs typeface="Arial"/>
              </a:rPr>
              <a:t> </a:t>
            </a:r>
            <a:r>
              <a:rPr kumimoji="0" sz="2000" b="0" i="0" u="none" strike="noStrike" kern="1200" cap="none" spc="-7" normalizeH="0" baseline="0" noProof="0" dirty="0">
                <a:ln>
                  <a:noFill/>
                </a:ln>
                <a:solidFill>
                  <a:srgbClr val="FF0000"/>
                </a:solidFill>
                <a:effectLst/>
                <a:uLnTx/>
                <a:uFillTx/>
                <a:latin typeface="Arial"/>
                <a:ea typeface="+mn-ea"/>
                <a:cs typeface="Arial"/>
              </a:rPr>
              <a:t>that</a:t>
            </a:r>
            <a:r>
              <a:rPr kumimoji="0" sz="2000" b="0" i="0" u="none" strike="noStrike" kern="1200" cap="none" spc="-33" normalizeH="0" baseline="0" noProof="0" dirty="0">
                <a:ln>
                  <a:noFill/>
                </a:ln>
                <a:solidFill>
                  <a:srgbClr val="FF0000"/>
                </a:solidFill>
                <a:effectLst/>
                <a:uLnTx/>
                <a:uFillTx/>
                <a:latin typeface="Arial"/>
                <a:ea typeface="+mn-ea"/>
                <a:cs typeface="Arial"/>
              </a:rPr>
              <a:t> </a:t>
            </a:r>
            <a:r>
              <a:rPr kumimoji="0" sz="2000" b="0" i="0" u="none" strike="noStrike" kern="1200" cap="none" spc="0" normalizeH="0" baseline="0" noProof="0" dirty="0">
                <a:ln>
                  <a:noFill/>
                </a:ln>
                <a:solidFill>
                  <a:srgbClr val="FF0000"/>
                </a:solidFill>
                <a:effectLst/>
                <a:uLnTx/>
                <a:uFillTx/>
                <a:latin typeface="Arial"/>
                <a:ea typeface="+mn-ea"/>
                <a:cs typeface="Arial"/>
              </a:rPr>
              <a:t>comes </a:t>
            </a:r>
            <a:r>
              <a:rPr kumimoji="0" sz="2000" b="0" i="0" u="none" strike="noStrike" kern="1200" cap="none" spc="-645" normalizeH="0" baseline="0" noProof="0" dirty="0">
                <a:ln>
                  <a:noFill/>
                </a:ln>
                <a:solidFill>
                  <a:srgbClr val="FF0000"/>
                </a:solidFill>
                <a:effectLst/>
                <a:uLnTx/>
                <a:uFillTx/>
                <a:latin typeface="Arial"/>
                <a:ea typeface="+mn-ea"/>
                <a:cs typeface="Arial"/>
              </a:rPr>
              <a:t> </a:t>
            </a:r>
            <a:r>
              <a:rPr kumimoji="0" sz="2000" b="0" i="0" u="none" strike="noStrike" kern="1200" cap="none" spc="-7" normalizeH="0" baseline="0" noProof="0" dirty="0">
                <a:ln>
                  <a:noFill/>
                </a:ln>
                <a:solidFill>
                  <a:srgbClr val="FF0000"/>
                </a:solidFill>
                <a:effectLst/>
                <a:uLnTx/>
                <a:uFillTx/>
                <a:latin typeface="Arial"/>
                <a:ea typeface="+mn-ea"/>
                <a:cs typeface="Arial"/>
              </a:rPr>
              <a:t>in from the old </a:t>
            </a:r>
            <a:r>
              <a:rPr kumimoji="0" sz="2000" b="0" i="0" u="none" strike="noStrike" kern="1200" cap="none" spc="0" normalizeH="0" baseline="0" noProof="0" dirty="0">
                <a:ln>
                  <a:noFill/>
                </a:ln>
                <a:solidFill>
                  <a:srgbClr val="FF0000"/>
                </a:solidFill>
                <a:effectLst/>
                <a:uLnTx/>
                <a:uFillTx/>
                <a:latin typeface="Arial"/>
                <a:ea typeface="+mn-ea"/>
                <a:cs typeface="Arial"/>
              </a:rPr>
              <a:t>memory</a:t>
            </a:r>
            <a:r>
              <a:rPr kumimoji="0" sz="2000" b="0" i="0" u="none" strike="noStrike" kern="1200" cap="none" spc="0" normalizeH="0" baseline="0" noProof="0" dirty="0">
                <a:ln>
                  <a:noFill/>
                </a:ln>
                <a:solidFill>
                  <a:prstClr val="black"/>
                </a:solidFill>
                <a:effectLst/>
                <a:uLnTx/>
                <a:uFillTx/>
                <a:latin typeface="Arial"/>
                <a:ea typeface="+mn-ea"/>
                <a:cs typeface="Arial"/>
              </a:rPr>
              <a:t> </a:t>
            </a:r>
            <a:r>
              <a:rPr kumimoji="0" sz="2000" b="0" i="0" u="none" strike="noStrike" kern="1200" cap="none" spc="7" normalizeH="0" baseline="0" noProof="0" dirty="0">
                <a:ln>
                  <a:noFill/>
                </a:ln>
                <a:solidFill>
                  <a:prstClr val="black"/>
                </a:solidFill>
                <a:effectLst/>
                <a:uLnTx/>
                <a:uFillTx/>
                <a:latin typeface="Arial"/>
                <a:ea typeface="+mn-ea"/>
                <a:cs typeface="Arial"/>
              </a:rPr>
              <a:t> </a:t>
            </a:r>
            <a:r>
              <a:rPr kumimoji="0" sz="2000" b="0" i="0" u="none" strike="noStrike" kern="1200" cap="none" spc="-7" normalizeH="0" baseline="0" noProof="0" dirty="0">
                <a:ln>
                  <a:noFill/>
                </a:ln>
                <a:solidFill>
                  <a:prstClr val="black"/>
                </a:solidFill>
                <a:effectLst/>
                <a:uLnTx/>
                <a:uFillTx/>
                <a:latin typeface="Arial"/>
                <a:ea typeface="+mn-ea"/>
                <a:cs typeface="Arial"/>
              </a:rPr>
              <a:t>that</a:t>
            </a:r>
            <a:r>
              <a:rPr kumimoji="0" sz="2000" b="0" i="0" u="none" strike="noStrike" kern="1200" cap="none" spc="120" normalizeH="0" baseline="0" noProof="0" dirty="0">
                <a:ln>
                  <a:noFill/>
                </a:ln>
                <a:solidFill>
                  <a:prstClr val="black"/>
                </a:solidFill>
                <a:effectLst/>
                <a:uLnTx/>
                <a:uFillTx/>
                <a:latin typeface="Arial"/>
                <a:ea typeface="+mn-ea"/>
                <a:cs typeface="Arial"/>
              </a:rPr>
              <a:t> </a:t>
            </a:r>
            <a:r>
              <a:rPr kumimoji="0" sz="2000" b="0" i="0" u="none" strike="noStrike" kern="1200" cap="none" spc="0" normalizeH="0" baseline="0" noProof="0" dirty="0">
                <a:ln>
                  <a:noFill/>
                </a:ln>
                <a:solidFill>
                  <a:prstClr val="black"/>
                </a:solidFill>
                <a:effectLst/>
                <a:uLnTx/>
                <a:uFillTx/>
                <a:latin typeface="Arial"/>
                <a:ea typeface="+mn-ea"/>
                <a:cs typeface="Arial"/>
              </a:rPr>
              <a:t>comes</a:t>
            </a:r>
            <a:r>
              <a:rPr kumimoji="0" sz="2000" b="0" i="0" u="none" strike="noStrike" kern="1200" cap="none" spc="127" normalizeH="0" baseline="0" noProof="0" dirty="0">
                <a:ln>
                  <a:noFill/>
                </a:ln>
                <a:solidFill>
                  <a:prstClr val="black"/>
                </a:solidFill>
                <a:effectLst/>
                <a:uLnTx/>
                <a:uFillTx/>
                <a:latin typeface="Arial"/>
                <a:ea typeface="+mn-ea"/>
                <a:cs typeface="Arial"/>
              </a:rPr>
              <a:t> </a:t>
            </a:r>
            <a:r>
              <a:rPr kumimoji="0" sz="2000" b="0" i="0" u="none" strike="noStrike" kern="1200" cap="none" spc="-7" normalizeH="0" baseline="0" noProof="0" dirty="0">
                <a:ln>
                  <a:noFill/>
                </a:ln>
                <a:solidFill>
                  <a:prstClr val="black"/>
                </a:solidFill>
                <a:effectLst/>
                <a:uLnTx/>
                <a:uFillTx/>
                <a:latin typeface="Arial"/>
                <a:ea typeface="+mn-ea"/>
                <a:cs typeface="Arial"/>
              </a:rPr>
              <a:t>from</a:t>
            </a:r>
            <a:r>
              <a:rPr kumimoji="0" sz="2000" b="0" i="0" u="none" strike="noStrike" kern="1200" cap="none" spc="120" normalizeH="0" baseline="0" noProof="0" dirty="0">
                <a:ln>
                  <a:noFill/>
                </a:ln>
                <a:solidFill>
                  <a:prstClr val="black"/>
                </a:solidFill>
                <a:effectLst/>
                <a:uLnTx/>
                <a:uFillTx/>
                <a:latin typeface="Arial"/>
                <a:ea typeface="+mn-ea"/>
                <a:cs typeface="Arial"/>
              </a:rPr>
              <a:t> </a:t>
            </a:r>
            <a:r>
              <a:rPr kumimoji="0" sz="2000" b="0" i="0" u="none" strike="noStrike" kern="1200" cap="none" spc="-7" normalizeH="0" baseline="0" noProof="0" dirty="0">
                <a:ln>
                  <a:noFill/>
                </a:ln>
                <a:solidFill>
                  <a:prstClr val="black"/>
                </a:solidFill>
                <a:effectLst/>
                <a:uLnTx/>
                <a:uFillTx/>
                <a:latin typeface="Arial"/>
                <a:ea typeface="+mn-ea"/>
                <a:cs typeface="Arial"/>
              </a:rPr>
              <a:t>the </a:t>
            </a:r>
            <a:r>
              <a:rPr kumimoji="0" sz="2000" b="0" i="0" u="none" strike="noStrike" kern="1200" cap="none" spc="0" normalizeH="0" baseline="0" noProof="0" dirty="0">
                <a:ln>
                  <a:noFill/>
                </a:ln>
                <a:solidFill>
                  <a:prstClr val="black"/>
                </a:solidFill>
                <a:effectLst/>
                <a:uLnTx/>
                <a:uFillTx/>
                <a:latin typeface="Arial"/>
                <a:ea typeface="+mn-ea"/>
                <a:cs typeface="Arial"/>
              </a:rPr>
              <a:t> </a:t>
            </a:r>
            <a:r>
              <a:rPr kumimoji="0" sz="2000" b="0" i="0" u="none" strike="noStrike" kern="1200" cap="none" spc="-7" normalizeH="0" baseline="0" noProof="0" dirty="0">
                <a:ln>
                  <a:noFill/>
                </a:ln>
                <a:solidFill>
                  <a:prstClr val="black"/>
                </a:solidFill>
                <a:effectLst/>
                <a:uLnTx/>
                <a:uFillTx/>
                <a:latin typeface="Arial"/>
                <a:ea typeface="+mn-ea"/>
                <a:cs typeface="Arial"/>
              </a:rPr>
              <a:t>former output, and if it's 0, </a:t>
            </a:r>
            <a:r>
              <a:rPr kumimoji="0" sz="2000" b="0" i="0" u="none" strike="noStrike" kern="1200" cap="none" spc="0" normalizeH="0" baseline="0" noProof="0" dirty="0">
                <a:ln>
                  <a:noFill/>
                </a:ln>
                <a:solidFill>
                  <a:prstClr val="black"/>
                </a:solidFill>
                <a:effectLst/>
                <a:uLnTx/>
                <a:uFillTx/>
                <a:latin typeface="Arial"/>
                <a:ea typeface="+mn-ea"/>
                <a:cs typeface="Arial"/>
              </a:rPr>
              <a:t> </a:t>
            </a:r>
            <a:r>
              <a:rPr kumimoji="0" sz="2000" b="0" i="0" u="none" strike="noStrike" kern="1200" cap="none" spc="-7" normalizeH="0" baseline="0" noProof="0" dirty="0">
                <a:ln>
                  <a:noFill/>
                </a:ln>
                <a:solidFill>
                  <a:prstClr val="black"/>
                </a:solidFill>
                <a:effectLst/>
                <a:uLnTx/>
                <a:uFillTx/>
                <a:latin typeface="Arial"/>
                <a:ea typeface="+mn-ea"/>
                <a:cs typeface="Arial"/>
              </a:rPr>
              <a:t>1, or 0.5, it </a:t>
            </a:r>
            <a:r>
              <a:rPr kumimoji="0" sz="2000" b="0" i="0" u="none" strike="noStrike" kern="1200" cap="none" spc="0" normalizeH="0" baseline="0" noProof="0" dirty="0">
                <a:ln>
                  <a:noFill/>
                </a:ln>
                <a:solidFill>
                  <a:prstClr val="black"/>
                </a:solidFill>
                <a:effectLst/>
                <a:uLnTx/>
                <a:uFillTx/>
                <a:latin typeface="Arial"/>
                <a:ea typeface="+mn-ea"/>
                <a:cs typeface="Arial"/>
              </a:rPr>
              <a:t>controls </a:t>
            </a:r>
            <a:r>
              <a:rPr kumimoji="0" sz="2000" b="0" i="0" u="none" strike="noStrike" kern="1200" cap="none" spc="-7" normalizeH="0" baseline="0" noProof="0" dirty="0">
                <a:ln>
                  <a:noFill/>
                </a:ln>
                <a:solidFill>
                  <a:prstClr val="black"/>
                </a:solidFill>
                <a:effectLst/>
                <a:uLnTx/>
                <a:uFillTx/>
                <a:latin typeface="Arial"/>
                <a:ea typeface="+mn-ea"/>
                <a:cs typeface="Arial"/>
              </a:rPr>
              <a:t>this </a:t>
            </a:r>
            <a:r>
              <a:rPr kumimoji="0" sz="2000" b="0" i="0" u="none" strike="noStrike" kern="1200" cap="none" spc="0" normalizeH="0" baseline="0" noProof="0" dirty="0">
                <a:ln>
                  <a:noFill/>
                </a:ln>
                <a:solidFill>
                  <a:prstClr val="black"/>
                </a:solidFill>
                <a:effectLst/>
                <a:uLnTx/>
                <a:uFillTx/>
                <a:latin typeface="Arial"/>
                <a:ea typeface="+mn-ea"/>
                <a:cs typeface="Arial"/>
              </a:rPr>
              <a:t> </a:t>
            </a:r>
            <a:r>
              <a:rPr kumimoji="0" sz="2000" b="0" i="0" u="none" strike="noStrike" kern="1200" cap="none" spc="-7" normalizeH="0" baseline="0" noProof="0" dirty="0">
                <a:ln>
                  <a:noFill/>
                </a:ln>
                <a:solidFill>
                  <a:prstClr val="black"/>
                </a:solidFill>
                <a:effectLst/>
                <a:uLnTx/>
                <a:uFillTx/>
                <a:latin typeface="Arial"/>
                <a:ea typeface="+mn-ea"/>
                <a:cs typeface="Arial"/>
              </a:rPr>
              <a:t>amount</a:t>
            </a:r>
            <a:r>
              <a:rPr kumimoji="0" sz="2000" b="0" i="0" u="none" strike="noStrike" kern="1200" cap="none" spc="-13" normalizeH="0" baseline="0" noProof="0" dirty="0">
                <a:ln>
                  <a:noFill/>
                </a:ln>
                <a:solidFill>
                  <a:prstClr val="black"/>
                </a:solidFill>
                <a:effectLst/>
                <a:uLnTx/>
                <a:uFillTx/>
                <a:latin typeface="Arial"/>
                <a:ea typeface="+mn-ea"/>
                <a:cs typeface="Arial"/>
              </a:rPr>
              <a:t> </a:t>
            </a:r>
            <a:r>
              <a:rPr kumimoji="0" sz="2000" b="0" i="0" u="none" strike="noStrike" kern="1200" cap="none" spc="-7" normalizeH="0" baseline="0" noProof="0" dirty="0">
                <a:ln>
                  <a:noFill/>
                </a:ln>
                <a:solidFill>
                  <a:prstClr val="black"/>
                </a:solidFill>
                <a:effectLst/>
                <a:uLnTx/>
                <a:uFillTx/>
                <a:latin typeface="Arial"/>
                <a:ea typeface="+mn-ea"/>
                <a:cs typeface="Arial"/>
              </a:rPr>
              <a:t>of</a:t>
            </a:r>
            <a:r>
              <a:rPr kumimoji="0" sz="2000" b="0" i="0" u="none" strike="noStrike" kern="1200" cap="none" spc="-13" normalizeH="0" baseline="0" noProof="0" dirty="0">
                <a:ln>
                  <a:noFill/>
                </a:ln>
                <a:solidFill>
                  <a:prstClr val="black"/>
                </a:solidFill>
                <a:effectLst/>
                <a:uLnTx/>
                <a:uFillTx/>
                <a:latin typeface="Arial"/>
                <a:ea typeface="+mn-ea"/>
                <a:cs typeface="Arial"/>
              </a:rPr>
              <a:t> </a:t>
            </a:r>
            <a:r>
              <a:rPr kumimoji="0" sz="2000" b="0" i="0" u="none" strike="noStrike" kern="1200" cap="none" spc="-7" normalizeH="0" baseline="0" noProof="0" dirty="0">
                <a:ln>
                  <a:noFill/>
                </a:ln>
                <a:solidFill>
                  <a:prstClr val="black"/>
                </a:solidFill>
                <a:effectLst/>
                <a:uLnTx/>
                <a:uFillTx/>
                <a:latin typeface="Arial"/>
                <a:ea typeface="+mn-ea"/>
                <a:cs typeface="Arial"/>
              </a:rPr>
              <a:t>data.</a:t>
            </a:r>
            <a:endParaRPr kumimoji="0" sz="2000" b="0" i="0" u="none" strike="noStrike" kern="1200" cap="none" spc="0" normalizeH="0" baseline="0" noProof="0" dirty="0">
              <a:ln>
                <a:noFill/>
              </a:ln>
              <a:solidFill>
                <a:prstClr val="black"/>
              </a:solidFill>
              <a:effectLst/>
              <a:uLnTx/>
              <a:uFillTx/>
              <a:latin typeface="Arial"/>
              <a:ea typeface="+mn-ea"/>
              <a:cs typeface="Arial"/>
            </a:endParaRPr>
          </a:p>
        </p:txBody>
      </p:sp>
      <p:sp>
        <p:nvSpPr>
          <p:cNvPr id="4" name="Slide Number Placeholder 3">
            <a:extLst>
              <a:ext uri="{FF2B5EF4-FFF2-40B4-BE49-F238E27FC236}">
                <a16:creationId xmlns:a16="http://schemas.microsoft.com/office/drawing/2014/main" id="{5D56CACC-D312-6DD0-A93D-B4F0A2C39228}"/>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BAB67803-9168-4788-9674-DFFFF93BB2D6}"/>
              </a:ext>
            </a:extLst>
          </p:cNvPr>
          <p:cNvSpPr txBox="1"/>
          <p:nvPr/>
        </p:nvSpPr>
        <p:spPr>
          <a:xfrm>
            <a:off x="990600" y="457200"/>
            <a:ext cx="30480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a:ea typeface="+mn-ea"/>
                <a:cs typeface="+mn-cs"/>
              </a:rPr>
              <a:t>Forget Gate</a:t>
            </a: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2437" y="1972395"/>
            <a:ext cx="3163147" cy="2602421"/>
          </a:xfrm>
          <a:prstGeom prst="rect">
            <a:avLst/>
          </a:prstGeom>
        </p:spPr>
        <p:txBody>
          <a:bodyPr vert="horz" wrap="square" lIns="0" tIns="16933" rIns="0" bIns="0" rtlCol="0">
            <a:spAutoFit/>
          </a:bodyPr>
          <a:lstStyle/>
          <a:p>
            <a:pPr marL="16933" marR="6773" lvl="0" indent="0" algn="l" defTabSz="914400" rtl="0" eaLnBrk="1" fontAlgn="auto" latinLnBrk="0" hangingPunct="1">
              <a:lnSpc>
                <a:spcPct val="100000"/>
              </a:lnSpc>
              <a:spcBef>
                <a:spcPts val="133"/>
              </a:spcBef>
              <a:spcAft>
                <a:spcPts val="0"/>
              </a:spcAft>
              <a:buClrTx/>
              <a:buSzTx/>
              <a:buFontTx/>
              <a:buNone/>
              <a:tabLst/>
              <a:defRPr/>
            </a:pPr>
            <a:r>
              <a:rPr kumimoji="0" sz="2400" b="0" i="0" u="none" strike="noStrike" kern="1200" cap="none" spc="-7" normalizeH="0" baseline="0" noProof="0" dirty="0">
                <a:ln>
                  <a:noFill/>
                </a:ln>
                <a:solidFill>
                  <a:prstClr val="black"/>
                </a:solidFill>
                <a:effectLst/>
                <a:uLnTx/>
                <a:uFillTx/>
                <a:latin typeface="Arial"/>
                <a:ea typeface="+mn-ea"/>
                <a:cs typeface="Arial"/>
              </a:rPr>
              <a:t>The next </a:t>
            </a:r>
            <a:r>
              <a:rPr kumimoji="0" sz="2400" b="0" i="0" u="none" strike="noStrike" kern="1200" cap="none" spc="0" normalizeH="0" baseline="0" noProof="0" dirty="0">
                <a:ln>
                  <a:noFill/>
                </a:ln>
                <a:solidFill>
                  <a:prstClr val="black"/>
                </a:solidFill>
                <a:effectLst/>
                <a:uLnTx/>
                <a:uFillTx/>
                <a:latin typeface="Arial"/>
                <a:ea typeface="+mn-ea"/>
                <a:cs typeface="Arial"/>
              </a:rPr>
              <a:t>cell </a:t>
            </a:r>
            <a:r>
              <a:rPr kumimoji="0" sz="2400" b="0" i="0" u="none" strike="noStrike" kern="1200" cap="none" spc="0" normalizeH="0" baseline="0" noProof="0" dirty="0">
                <a:ln>
                  <a:noFill/>
                </a:ln>
                <a:solidFill>
                  <a:srgbClr val="FF0000"/>
                </a:solidFill>
                <a:effectLst/>
                <a:uLnTx/>
                <a:uFillTx/>
                <a:latin typeface="Arial"/>
                <a:ea typeface="+mn-ea"/>
                <a:cs typeface="Arial"/>
              </a:rPr>
              <a:t>controls </a:t>
            </a:r>
            <a:r>
              <a:rPr kumimoji="0" sz="2400" b="0" i="0" u="none" strike="noStrike" kern="1200" cap="none" spc="7" normalizeH="0" baseline="0" noProof="0" dirty="0">
                <a:ln>
                  <a:noFill/>
                </a:ln>
                <a:solidFill>
                  <a:srgbClr val="FF0000"/>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the</a:t>
            </a:r>
            <a:r>
              <a:rPr kumimoji="0" sz="2400" b="0" i="0" u="none" strike="noStrike" kern="1200" cap="none" spc="-33" normalizeH="0" baseline="0" noProof="0" dirty="0">
                <a:ln>
                  <a:noFill/>
                </a:ln>
                <a:solidFill>
                  <a:srgbClr val="FF0000"/>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amount</a:t>
            </a:r>
            <a:r>
              <a:rPr kumimoji="0" sz="2400" b="0" i="0" u="none" strike="noStrike" kern="1200" cap="none" spc="-33" normalizeH="0" baseline="0" noProof="0" dirty="0">
                <a:ln>
                  <a:noFill/>
                </a:ln>
                <a:solidFill>
                  <a:srgbClr val="FF0000"/>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of</a:t>
            </a:r>
            <a:r>
              <a:rPr kumimoji="0" sz="2400" b="0" i="0" u="none" strike="noStrike" kern="1200" cap="none" spc="-33" normalizeH="0" baseline="0" noProof="0" dirty="0">
                <a:ln>
                  <a:noFill/>
                </a:ln>
                <a:solidFill>
                  <a:srgbClr val="FF0000"/>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data</a:t>
            </a:r>
            <a:r>
              <a:rPr kumimoji="0" sz="2400" b="0" i="0" u="none" strike="noStrike" kern="1200" cap="none" spc="-33" normalizeH="0" baseline="0" noProof="0" dirty="0">
                <a:ln>
                  <a:noFill/>
                </a:ln>
                <a:solidFill>
                  <a:srgbClr val="FF0000"/>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that </a:t>
            </a:r>
            <a:r>
              <a:rPr kumimoji="0" sz="2400" b="0" i="0" u="none" strike="noStrike" kern="1200" cap="none" spc="-645" normalizeH="0" baseline="0" noProof="0" dirty="0">
                <a:ln>
                  <a:noFill/>
                </a:ln>
                <a:solidFill>
                  <a:srgbClr val="FF0000"/>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will be added to the </a:t>
            </a:r>
            <a:r>
              <a:rPr kumimoji="0" sz="2400" b="0" i="0" u="none" strike="noStrike" kern="1200" cap="none" spc="0" normalizeH="0" baseline="0" noProof="0" dirty="0">
                <a:ln>
                  <a:noFill/>
                </a:ln>
                <a:solidFill>
                  <a:srgbClr val="FF0000"/>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next one</a:t>
            </a:r>
            <a:r>
              <a:rPr kumimoji="0" sz="2400" b="0" i="0" u="none" strike="noStrike" kern="1200" cap="none" spc="-7" normalizeH="0" baseline="0" noProof="0" dirty="0">
                <a:ln>
                  <a:noFill/>
                </a:ln>
                <a:solidFill>
                  <a:prstClr val="black"/>
                </a:solidFill>
                <a:effectLst/>
                <a:uLnTx/>
                <a:uFillTx/>
                <a:latin typeface="Arial"/>
                <a:ea typeface="+mn-ea"/>
                <a:cs typeface="Arial"/>
              </a:rPr>
              <a:t>, and it has </a:t>
            </a:r>
            <a:r>
              <a:rPr kumimoji="0" sz="2400" b="0" i="0" u="none" strike="noStrike" kern="1200" cap="none" spc="0" normalizeH="0" baseline="0" noProof="0" dirty="0">
                <a:ln>
                  <a:noFill/>
                </a:ln>
                <a:solidFill>
                  <a:prstClr val="black"/>
                </a:solidFill>
                <a:effectLst/>
                <a:uLnTx/>
                <a:uFillTx/>
                <a:latin typeface="Arial"/>
                <a:ea typeface="+mn-ea"/>
                <a:cs typeface="Arial"/>
              </a:rPr>
              <a:t> values </a:t>
            </a:r>
            <a:r>
              <a:rPr kumimoji="0" sz="2400" b="0" i="0" u="none" strike="noStrike" kern="1200" cap="none" spc="-7" normalizeH="0" baseline="0" noProof="0" dirty="0">
                <a:ln>
                  <a:noFill/>
                </a:ln>
                <a:solidFill>
                  <a:prstClr val="black"/>
                </a:solidFill>
                <a:effectLst/>
                <a:uLnTx/>
                <a:uFillTx/>
                <a:latin typeface="Arial"/>
                <a:ea typeface="+mn-ea"/>
                <a:cs typeface="Arial"/>
              </a:rPr>
              <a:t>of </a:t>
            </a:r>
            <a:r>
              <a:rPr kumimoji="0" sz="2400" b="0" i="0" u="none" strike="noStrike" kern="1200" cap="none" spc="0" normalizeH="0" baseline="0" noProof="0" dirty="0">
                <a:ln>
                  <a:noFill/>
                </a:ln>
                <a:solidFill>
                  <a:prstClr val="black"/>
                </a:solidFill>
                <a:effectLst/>
                <a:uLnTx/>
                <a:uFillTx/>
                <a:latin typeface="Arial"/>
                <a:ea typeface="+mn-ea"/>
                <a:cs typeface="Arial"/>
              </a:rPr>
              <a:t>0 </a:t>
            </a:r>
            <a:r>
              <a:rPr kumimoji="0" sz="2400" b="0" i="0" u="none" strike="noStrike" kern="1200" cap="none" spc="-7" normalizeH="0" baseline="0" noProof="0" dirty="0">
                <a:ln>
                  <a:noFill/>
                </a:ln>
                <a:solidFill>
                  <a:prstClr val="black"/>
                </a:solidFill>
                <a:effectLst/>
                <a:uLnTx/>
                <a:uFillTx/>
                <a:latin typeface="Arial"/>
                <a:ea typeface="+mn-ea"/>
                <a:cs typeface="Arial"/>
              </a:rPr>
              <a:t>is </a:t>
            </a:r>
            <a:r>
              <a:rPr kumimoji="0" sz="2400" b="0" i="0" u="none" strike="noStrike" kern="1200" cap="none" spc="0" normalizeH="0" baseline="0" noProof="0" dirty="0">
                <a:ln>
                  <a:noFill/>
                </a:ln>
                <a:solidFill>
                  <a:prstClr val="black"/>
                </a:solidFill>
                <a:effectLst/>
                <a:uLnTx/>
                <a:uFillTx/>
                <a:latin typeface="Arial"/>
                <a:ea typeface="+mn-ea"/>
                <a:cs typeface="Arial"/>
              </a:rPr>
              <a:t>1 </a:t>
            </a:r>
            <a:r>
              <a:rPr kumimoji="0" sz="2400" b="0" i="0" u="none" strike="noStrike" kern="1200" cap="none" spc="-7" normalizeH="0" baseline="0" noProof="0" dirty="0">
                <a:ln>
                  <a:noFill/>
                </a:ln>
                <a:solidFill>
                  <a:prstClr val="black"/>
                </a:solidFill>
                <a:effectLst/>
                <a:uLnTx/>
                <a:uFillTx/>
                <a:latin typeface="Arial"/>
                <a:ea typeface="+mn-ea"/>
                <a:cs typeface="Arial"/>
              </a:rPr>
              <a:t>or 0.5 </a:t>
            </a:r>
            <a:r>
              <a:rPr kumimoji="0" sz="2400" b="0" i="0" u="none" strike="noStrike" kern="1200" cap="none" spc="0" normalizeH="0" baseline="0" noProof="0" dirty="0">
                <a:ln>
                  <a:noFill/>
                </a:ln>
                <a:solidFill>
                  <a:prstClr val="black"/>
                </a:solidFill>
                <a:effectLst/>
                <a:uLnTx/>
                <a:uFillTx/>
                <a:latin typeface="Arial"/>
                <a:ea typeface="+mn-ea"/>
                <a:cs typeface="Arial"/>
              </a:rPr>
              <a:t> </a:t>
            </a:r>
            <a:r>
              <a:rPr kumimoji="0" sz="2400" b="0" i="0" u="none" strike="noStrike" kern="1200" cap="none" spc="-7" normalizeH="0" baseline="0" noProof="0" dirty="0">
                <a:ln>
                  <a:noFill/>
                </a:ln>
                <a:solidFill>
                  <a:prstClr val="black"/>
                </a:solidFill>
                <a:effectLst/>
                <a:uLnTx/>
                <a:uFillTx/>
                <a:latin typeface="Arial"/>
                <a:ea typeface="+mn-ea"/>
                <a:cs typeface="Arial"/>
              </a:rPr>
              <a:t>that indicate the </a:t>
            </a:r>
            <a:r>
              <a:rPr kumimoji="0" sz="2400" b="0" i="0" u="none" strike="noStrike" kern="1200" cap="none" spc="0" normalizeH="0" baseline="0" noProof="0" dirty="0">
                <a:ln>
                  <a:noFill/>
                </a:ln>
                <a:solidFill>
                  <a:prstClr val="black"/>
                </a:solidFill>
                <a:effectLst/>
                <a:uLnTx/>
                <a:uFillTx/>
                <a:latin typeface="Arial"/>
                <a:ea typeface="+mn-ea"/>
                <a:cs typeface="Arial"/>
              </a:rPr>
              <a:t> </a:t>
            </a:r>
            <a:r>
              <a:rPr kumimoji="0" sz="2400" b="0" i="0" u="none" strike="noStrike" kern="1200" cap="none" spc="-7" normalizeH="0" baseline="0" noProof="0" dirty="0">
                <a:ln>
                  <a:noFill/>
                </a:ln>
                <a:solidFill>
                  <a:prstClr val="black"/>
                </a:solidFill>
                <a:effectLst/>
                <a:uLnTx/>
                <a:uFillTx/>
                <a:latin typeface="Arial"/>
                <a:ea typeface="+mn-ea"/>
                <a:cs typeface="Arial"/>
              </a:rPr>
              <a:t>amount</a:t>
            </a:r>
            <a:r>
              <a:rPr kumimoji="0" sz="2400" b="0" i="0" u="none" strike="noStrike" kern="1200" cap="none" spc="-27" normalizeH="0" baseline="0" noProof="0" dirty="0">
                <a:ln>
                  <a:noFill/>
                </a:ln>
                <a:solidFill>
                  <a:prstClr val="black"/>
                </a:solidFill>
                <a:effectLst/>
                <a:uLnTx/>
                <a:uFillTx/>
                <a:latin typeface="Arial"/>
                <a:ea typeface="+mn-ea"/>
                <a:cs typeface="Arial"/>
              </a:rPr>
              <a:t> </a:t>
            </a:r>
            <a:r>
              <a:rPr kumimoji="0" sz="2400" b="0" i="0" u="none" strike="noStrike" kern="1200" cap="none" spc="-7" normalizeH="0" baseline="0" noProof="0" dirty="0">
                <a:ln>
                  <a:noFill/>
                </a:ln>
                <a:solidFill>
                  <a:prstClr val="black"/>
                </a:solidFill>
                <a:effectLst/>
                <a:uLnTx/>
                <a:uFillTx/>
                <a:latin typeface="Arial"/>
                <a:ea typeface="+mn-ea"/>
                <a:cs typeface="Arial"/>
              </a:rPr>
              <a:t>of</a:t>
            </a:r>
            <a:r>
              <a:rPr kumimoji="0" sz="2400" b="0" i="0" u="none" strike="noStrike" kern="1200" cap="none" spc="-20" normalizeH="0" baseline="0" noProof="0" dirty="0">
                <a:ln>
                  <a:noFill/>
                </a:ln>
                <a:solidFill>
                  <a:prstClr val="black"/>
                </a:solidFill>
                <a:effectLst/>
                <a:uLnTx/>
                <a:uFillTx/>
                <a:latin typeface="Arial"/>
                <a:ea typeface="+mn-ea"/>
                <a:cs typeface="Arial"/>
              </a:rPr>
              <a:t> </a:t>
            </a:r>
            <a:r>
              <a:rPr kumimoji="0" sz="2400" b="0" i="0" u="none" strike="noStrike" kern="1200" cap="none" spc="-7" normalizeH="0" baseline="0" noProof="0" dirty="0">
                <a:ln>
                  <a:noFill/>
                </a:ln>
                <a:solidFill>
                  <a:prstClr val="black"/>
                </a:solidFill>
                <a:effectLst/>
                <a:uLnTx/>
                <a:uFillTx/>
                <a:latin typeface="Arial"/>
                <a:ea typeface="+mn-ea"/>
                <a:cs typeface="Arial"/>
              </a:rPr>
              <a:t>addition.</a:t>
            </a:r>
            <a:endParaRPr kumimoji="0" sz="2400" b="0" i="0" u="none" strike="noStrike" kern="1200" cap="none" spc="0" normalizeH="0" baseline="0" noProof="0" dirty="0">
              <a:ln>
                <a:noFill/>
              </a:ln>
              <a:solidFill>
                <a:prstClr val="black"/>
              </a:solidFill>
              <a:effectLst/>
              <a:uLnTx/>
              <a:uFillTx/>
              <a:latin typeface="Arial"/>
              <a:ea typeface="+mn-ea"/>
              <a:cs typeface="Arial"/>
            </a:endParaRPr>
          </a:p>
        </p:txBody>
      </p:sp>
      <p:pic>
        <p:nvPicPr>
          <p:cNvPr id="3" name="object 3"/>
          <p:cNvPicPr/>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733800" y="838200"/>
            <a:ext cx="7957311" cy="4688838"/>
          </a:xfrm>
          <a:prstGeom prst="rect">
            <a:avLst/>
          </a:prstGeom>
        </p:spPr>
      </p:pic>
      <p:sp>
        <p:nvSpPr>
          <p:cNvPr id="4" name="Slide Number Placeholder 3">
            <a:extLst>
              <a:ext uri="{FF2B5EF4-FFF2-40B4-BE49-F238E27FC236}">
                <a16:creationId xmlns:a16="http://schemas.microsoft.com/office/drawing/2014/main" id="{D143E98C-9975-A702-95C0-BF507C442AD3}"/>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1EC664D1-EE6A-447C-B9DE-D7D8E6D8E0E7}"/>
              </a:ext>
            </a:extLst>
          </p:cNvPr>
          <p:cNvSpPr txBox="1"/>
          <p:nvPr/>
        </p:nvSpPr>
        <p:spPr>
          <a:xfrm>
            <a:off x="546692" y="314980"/>
            <a:ext cx="30480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a:ea typeface="+mn-ea"/>
                <a:cs typeface="+mn-cs"/>
              </a:rPr>
              <a:t>Update Gate</a:t>
            </a: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2438" y="2297515"/>
            <a:ext cx="2840567" cy="1863758"/>
          </a:xfrm>
          <a:prstGeom prst="rect">
            <a:avLst/>
          </a:prstGeom>
        </p:spPr>
        <p:txBody>
          <a:bodyPr vert="horz" wrap="square" lIns="0" tIns="16933" rIns="0" bIns="0" rtlCol="0">
            <a:spAutoFit/>
          </a:bodyPr>
          <a:lstStyle/>
          <a:p>
            <a:pPr marL="16933" marR="6773" lvl="0" indent="0" algn="l" defTabSz="914400" rtl="0" eaLnBrk="1" fontAlgn="auto" latinLnBrk="0" hangingPunct="1">
              <a:lnSpc>
                <a:spcPct val="100000"/>
              </a:lnSpc>
              <a:spcBef>
                <a:spcPts val="133"/>
              </a:spcBef>
              <a:spcAft>
                <a:spcPts val="0"/>
              </a:spcAft>
              <a:buClrTx/>
              <a:buSzTx/>
              <a:buFontTx/>
              <a:buNone/>
              <a:tabLst/>
              <a:defRPr/>
            </a:pPr>
            <a:r>
              <a:rPr kumimoji="0" sz="2400" b="0" i="0" u="none" strike="noStrike" kern="1200" cap="none" spc="-7" normalizeH="0" baseline="0" noProof="0" dirty="0">
                <a:ln>
                  <a:noFill/>
                </a:ln>
                <a:solidFill>
                  <a:prstClr val="black"/>
                </a:solidFill>
                <a:effectLst/>
                <a:uLnTx/>
                <a:uFillTx/>
                <a:latin typeface="Arial"/>
                <a:ea typeface="+mn-ea"/>
                <a:cs typeface="Arial"/>
              </a:rPr>
              <a:t>In </a:t>
            </a:r>
            <a:r>
              <a:rPr kumimoji="0" sz="2400" b="0" i="0" u="none" strike="noStrike" kern="1200" cap="none" spc="0" normalizeH="0" baseline="0" noProof="0" dirty="0">
                <a:ln>
                  <a:noFill/>
                </a:ln>
                <a:solidFill>
                  <a:prstClr val="black"/>
                </a:solidFill>
                <a:effectLst/>
                <a:uLnTx/>
                <a:uFillTx/>
                <a:latin typeface="Arial"/>
                <a:ea typeface="+mn-ea"/>
                <a:cs typeface="Arial"/>
              </a:rPr>
              <a:t>cell </a:t>
            </a:r>
            <a:r>
              <a:rPr kumimoji="0" sz="2400" b="0" i="0" u="none" strike="noStrike" kern="1200" cap="none" spc="-7" normalizeH="0" baseline="0" noProof="0" dirty="0">
                <a:ln>
                  <a:noFill/>
                </a:ln>
                <a:solidFill>
                  <a:prstClr val="black"/>
                </a:solidFill>
                <a:effectLst/>
                <a:uLnTx/>
                <a:uFillTx/>
                <a:latin typeface="Arial"/>
                <a:ea typeface="+mn-ea"/>
                <a:cs typeface="Arial"/>
              </a:rPr>
              <a:t>number three, </a:t>
            </a:r>
            <a:r>
              <a:rPr kumimoji="0" sz="2400" b="0" i="0" u="none" strike="noStrike" kern="1200" cap="none" spc="-653" normalizeH="0" baseline="0" noProof="0" dirty="0">
                <a:ln>
                  <a:noFill/>
                </a:ln>
                <a:solidFill>
                  <a:prstClr val="black"/>
                </a:solidFill>
                <a:effectLst/>
                <a:uLnTx/>
                <a:uFillTx/>
                <a:latin typeface="Arial"/>
                <a:ea typeface="+mn-ea"/>
                <a:cs typeface="Arial"/>
              </a:rPr>
              <a:t> </a:t>
            </a:r>
            <a:r>
              <a:rPr kumimoji="0" sz="2400" b="0" i="0" u="none" strike="noStrike" kern="1200" cap="none" spc="-7" normalizeH="0" baseline="0" noProof="0" dirty="0">
                <a:ln>
                  <a:noFill/>
                </a:ln>
                <a:solidFill>
                  <a:prstClr val="black"/>
                </a:solidFill>
                <a:effectLst/>
                <a:uLnTx/>
                <a:uFillTx/>
                <a:latin typeface="Arial"/>
                <a:ea typeface="+mn-ea"/>
                <a:cs typeface="Arial"/>
              </a:rPr>
              <a:t>it's the one who's </a:t>
            </a:r>
            <a:r>
              <a:rPr kumimoji="0" sz="2400" b="0" i="0" u="none" strike="noStrike" kern="1200" cap="none" spc="0" normalizeH="0" baseline="0" noProof="0" dirty="0">
                <a:ln>
                  <a:noFill/>
                </a:ln>
                <a:solidFill>
                  <a:prstClr val="black"/>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taking</a:t>
            </a:r>
            <a:r>
              <a:rPr kumimoji="0" sz="2400" b="0" i="0" u="none" strike="noStrike" kern="1200" cap="none" spc="-33" normalizeH="0" baseline="0" noProof="0" dirty="0">
                <a:ln>
                  <a:noFill/>
                </a:ln>
                <a:solidFill>
                  <a:srgbClr val="FF0000"/>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the</a:t>
            </a:r>
            <a:r>
              <a:rPr kumimoji="0" sz="2400" b="0" i="0" u="none" strike="noStrike" kern="1200" cap="none" spc="-33" normalizeH="0" baseline="0" noProof="0" dirty="0">
                <a:ln>
                  <a:noFill/>
                </a:ln>
                <a:solidFill>
                  <a:srgbClr val="FF0000"/>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data</a:t>
            </a:r>
            <a:r>
              <a:rPr kumimoji="0" sz="2400" b="0" i="0" u="none" strike="noStrike" kern="1200" cap="none" spc="-33" normalizeH="0" baseline="0" noProof="0" dirty="0">
                <a:ln>
                  <a:noFill/>
                </a:ln>
                <a:solidFill>
                  <a:srgbClr val="FF0000"/>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into</a:t>
            </a:r>
            <a:r>
              <a:rPr kumimoji="0" sz="2400" b="0" i="0" u="none" strike="noStrike" kern="1200" cap="none" spc="-33" normalizeH="0" baseline="0" noProof="0" dirty="0">
                <a:ln>
                  <a:noFill/>
                </a:ln>
                <a:solidFill>
                  <a:srgbClr val="FF0000"/>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it </a:t>
            </a:r>
            <a:r>
              <a:rPr kumimoji="0" sz="2400" b="0" i="0" u="none" strike="noStrike" kern="1200" cap="none" spc="-645" normalizeH="0" baseline="0" noProof="0" dirty="0">
                <a:ln>
                  <a:noFill/>
                </a:ln>
                <a:solidFill>
                  <a:srgbClr val="FF0000"/>
                </a:solidFill>
                <a:effectLst/>
                <a:uLnTx/>
                <a:uFillTx/>
                <a:latin typeface="Arial"/>
                <a:ea typeface="+mn-ea"/>
                <a:cs typeface="Arial"/>
              </a:rPr>
              <a:t> </a:t>
            </a:r>
            <a:r>
              <a:rPr kumimoji="0" sz="2400" b="0" i="0" u="none" strike="noStrike" kern="1200" cap="none" spc="-7" normalizeH="0" baseline="0" noProof="0" dirty="0">
                <a:ln>
                  <a:noFill/>
                </a:ln>
                <a:solidFill>
                  <a:srgbClr val="FF0000"/>
                </a:solidFill>
                <a:effectLst/>
                <a:uLnTx/>
                <a:uFillTx/>
                <a:latin typeface="Arial"/>
                <a:ea typeface="+mn-ea"/>
                <a:cs typeface="Arial"/>
              </a:rPr>
              <a:t>and </a:t>
            </a:r>
            <a:r>
              <a:rPr kumimoji="0" sz="2400" b="0" i="0" u="none" strike="noStrike" kern="1200" cap="none" spc="0" normalizeH="0" baseline="0" noProof="0" dirty="0">
                <a:ln>
                  <a:noFill/>
                </a:ln>
                <a:solidFill>
                  <a:srgbClr val="FF0000"/>
                </a:solidFill>
                <a:effectLst/>
                <a:uLnTx/>
                <a:uFillTx/>
                <a:latin typeface="Arial"/>
                <a:ea typeface="+mn-ea"/>
                <a:cs typeface="Arial"/>
              </a:rPr>
              <a:t>making </a:t>
            </a:r>
            <a:r>
              <a:rPr kumimoji="0" sz="2400" b="0" i="0" u="none" strike="noStrike" kern="1200" cap="none" spc="-7" normalizeH="0" baseline="0" noProof="0" dirty="0">
                <a:ln>
                  <a:noFill/>
                </a:ln>
                <a:solidFill>
                  <a:srgbClr val="FF0000"/>
                </a:solidFill>
                <a:effectLst/>
                <a:uLnTx/>
                <a:uFillTx/>
                <a:latin typeface="Arial"/>
                <a:ea typeface="+mn-ea"/>
                <a:cs typeface="Arial"/>
              </a:rPr>
              <a:t>the new </a:t>
            </a:r>
            <a:r>
              <a:rPr kumimoji="0" sz="2400" b="0" i="0" u="none" strike="noStrike" kern="1200" cap="none" spc="-653" normalizeH="0" baseline="0" noProof="0" dirty="0">
                <a:ln>
                  <a:noFill/>
                </a:ln>
                <a:solidFill>
                  <a:srgbClr val="FF0000"/>
                </a:solidFill>
                <a:effectLst/>
                <a:uLnTx/>
                <a:uFillTx/>
                <a:latin typeface="Arial"/>
                <a:ea typeface="+mn-ea"/>
                <a:cs typeface="Arial"/>
              </a:rPr>
              <a:t> </a:t>
            </a:r>
            <a:r>
              <a:rPr kumimoji="0" sz="2400" b="0" i="0" u="none" strike="noStrike" kern="1200" cap="none" spc="-27" normalizeH="0" baseline="0" noProof="0" dirty="0">
                <a:ln>
                  <a:noFill/>
                </a:ln>
                <a:solidFill>
                  <a:srgbClr val="FF0000"/>
                </a:solidFill>
                <a:effectLst/>
                <a:uLnTx/>
                <a:uFillTx/>
                <a:latin typeface="Arial"/>
                <a:ea typeface="+mn-ea"/>
                <a:cs typeface="Arial"/>
              </a:rPr>
              <a:t>memory.</a:t>
            </a:r>
            <a:endParaRPr kumimoji="0" sz="2400" b="0" i="0" u="none" strike="noStrike" kern="1200" cap="none" spc="0" normalizeH="0" baseline="0" noProof="0" dirty="0">
              <a:ln>
                <a:noFill/>
              </a:ln>
              <a:solidFill>
                <a:srgbClr val="FF0000"/>
              </a:solidFill>
              <a:effectLst/>
              <a:uLnTx/>
              <a:uFillTx/>
              <a:latin typeface="Arial"/>
              <a:ea typeface="+mn-ea"/>
              <a:cs typeface="Arial"/>
            </a:endParaRPr>
          </a:p>
        </p:txBody>
      </p:sp>
      <p:pic>
        <p:nvPicPr>
          <p:cNvPr id="3" name="object 3"/>
          <p:cNvPicPr/>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112961" y="1143000"/>
            <a:ext cx="7240839" cy="4831080"/>
          </a:xfrm>
          <a:prstGeom prst="rect">
            <a:avLst/>
          </a:prstGeom>
        </p:spPr>
      </p:pic>
      <p:sp>
        <p:nvSpPr>
          <p:cNvPr id="4" name="Slide Number Placeholder 3">
            <a:extLst>
              <a:ext uri="{FF2B5EF4-FFF2-40B4-BE49-F238E27FC236}">
                <a16:creationId xmlns:a16="http://schemas.microsoft.com/office/drawing/2014/main" id="{9BF8168F-1E2B-C071-2DBA-3EEB7DA7DC32}"/>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1267" y="437520"/>
            <a:ext cx="9939867" cy="837964"/>
          </a:xfrm>
          <a:prstGeom prst="rect">
            <a:avLst/>
          </a:prstGeom>
        </p:spPr>
        <p:txBody>
          <a:bodyPr vert="horz" wrap="square" lIns="0" tIns="16933" rIns="0" bIns="0" rtlCol="0" anchor="ctr">
            <a:spAutoFit/>
          </a:bodyPr>
          <a:lstStyle/>
          <a:p>
            <a:pPr marL="16933">
              <a:lnSpc>
                <a:spcPct val="100000"/>
              </a:lnSpc>
              <a:spcBef>
                <a:spcPts val="133"/>
              </a:spcBef>
            </a:pPr>
            <a:r>
              <a:rPr sz="2667" b="1" spc="-7" dirty="0">
                <a:solidFill>
                  <a:schemeClr val="tx1"/>
                </a:solidFill>
                <a:latin typeface="Arial"/>
                <a:cs typeface="Arial"/>
              </a:rPr>
              <a:t>And</a:t>
            </a:r>
            <a:r>
              <a:rPr sz="2667" b="1" spc="-20" dirty="0">
                <a:solidFill>
                  <a:schemeClr val="tx1"/>
                </a:solidFill>
                <a:latin typeface="Arial"/>
                <a:cs typeface="Arial"/>
              </a:rPr>
              <a:t> </a:t>
            </a:r>
            <a:r>
              <a:rPr sz="2667" b="1" spc="-7" dirty="0">
                <a:solidFill>
                  <a:schemeClr val="tx1"/>
                </a:solidFill>
                <a:latin typeface="Arial"/>
                <a:cs typeface="Arial"/>
              </a:rPr>
              <a:t>then</a:t>
            </a:r>
            <a:r>
              <a:rPr sz="2667" b="1" spc="-13" dirty="0">
                <a:solidFill>
                  <a:schemeClr val="tx1"/>
                </a:solidFill>
                <a:latin typeface="Arial"/>
                <a:cs typeface="Arial"/>
              </a:rPr>
              <a:t> </a:t>
            </a:r>
            <a:r>
              <a:rPr sz="2667" b="1" spc="-7" dirty="0">
                <a:solidFill>
                  <a:schemeClr val="tx1"/>
                </a:solidFill>
                <a:latin typeface="Arial"/>
                <a:cs typeface="Arial"/>
              </a:rPr>
              <a:t>we</a:t>
            </a:r>
            <a:r>
              <a:rPr sz="2667" b="1" spc="-13" dirty="0">
                <a:solidFill>
                  <a:schemeClr val="tx1"/>
                </a:solidFill>
                <a:latin typeface="Arial"/>
                <a:cs typeface="Arial"/>
              </a:rPr>
              <a:t> </a:t>
            </a:r>
            <a:r>
              <a:rPr sz="2667" b="1" spc="-7" dirty="0">
                <a:solidFill>
                  <a:schemeClr val="tx1"/>
                </a:solidFill>
                <a:latin typeface="Arial"/>
                <a:cs typeface="Arial"/>
              </a:rPr>
              <a:t>design</a:t>
            </a:r>
            <a:r>
              <a:rPr sz="2667" b="1" spc="-13" dirty="0">
                <a:solidFill>
                  <a:schemeClr val="tx1"/>
                </a:solidFill>
                <a:latin typeface="Arial"/>
                <a:cs typeface="Arial"/>
              </a:rPr>
              <a:t> </a:t>
            </a:r>
            <a:r>
              <a:rPr sz="2667" b="1" spc="-7" dirty="0">
                <a:solidFill>
                  <a:schemeClr val="tx1"/>
                </a:solidFill>
                <a:latin typeface="Arial"/>
                <a:cs typeface="Arial"/>
              </a:rPr>
              <a:t>the</a:t>
            </a:r>
            <a:r>
              <a:rPr sz="2667" b="1" spc="-13" dirty="0">
                <a:solidFill>
                  <a:schemeClr val="tx1"/>
                </a:solidFill>
                <a:latin typeface="Arial"/>
                <a:cs typeface="Arial"/>
              </a:rPr>
              <a:t> </a:t>
            </a:r>
            <a:r>
              <a:rPr sz="2667" b="1" spc="-7" dirty="0">
                <a:solidFill>
                  <a:schemeClr val="tx1"/>
                </a:solidFill>
                <a:latin typeface="Arial"/>
                <a:cs typeface="Arial"/>
              </a:rPr>
              <a:t>new </a:t>
            </a:r>
            <a:r>
              <a:rPr sz="2667" b="1" dirty="0">
                <a:solidFill>
                  <a:schemeClr val="tx1"/>
                </a:solidFill>
                <a:latin typeface="Arial"/>
                <a:cs typeface="Arial"/>
              </a:rPr>
              <a:t>memory</a:t>
            </a:r>
            <a:r>
              <a:rPr sz="2667" b="1" spc="-13" dirty="0">
                <a:solidFill>
                  <a:schemeClr val="tx1"/>
                </a:solidFill>
                <a:latin typeface="Arial"/>
                <a:cs typeface="Arial"/>
              </a:rPr>
              <a:t> </a:t>
            </a:r>
            <a:r>
              <a:rPr sz="2667" b="1" spc="-7" dirty="0">
                <a:solidFill>
                  <a:schemeClr val="tx1"/>
                </a:solidFill>
                <a:latin typeface="Arial"/>
                <a:cs typeface="Arial"/>
              </a:rPr>
              <a:t>of</a:t>
            </a:r>
            <a:r>
              <a:rPr sz="2667" b="1" spc="-13" dirty="0">
                <a:solidFill>
                  <a:schemeClr val="tx1"/>
                </a:solidFill>
                <a:latin typeface="Arial"/>
                <a:cs typeface="Arial"/>
              </a:rPr>
              <a:t> </a:t>
            </a:r>
            <a:r>
              <a:rPr sz="2667" b="1" spc="-7" dirty="0">
                <a:solidFill>
                  <a:schemeClr val="tx1"/>
                </a:solidFill>
                <a:latin typeface="Arial"/>
                <a:cs typeface="Arial"/>
              </a:rPr>
              <a:t>the</a:t>
            </a:r>
            <a:r>
              <a:rPr sz="2667" b="1" spc="-13" dirty="0">
                <a:solidFill>
                  <a:schemeClr val="tx1"/>
                </a:solidFill>
                <a:latin typeface="Arial"/>
                <a:cs typeface="Arial"/>
              </a:rPr>
              <a:t> </a:t>
            </a:r>
            <a:r>
              <a:rPr sz="2667" b="1" dirty="0">
                <a:solidFill>
                  <a:schemeClr val="tx1"/>
                </a:solidFill>
                <a:latin typeface="Arial"/>
                <a:cs typeface="Arial"/>
              </a:rPr>
              <a:t>cell</a:t>
            </a:r>
            <a:r>
              <a:rPr sz="2667" b="1" spc="-13" dirty="0">
                <a:solidFill>
                  <a:schemeClr val="tx1"/>
                </a:solidFill>
                <a:latin typeface="Arial"/>
                <a:cs typeface="Arial"/>
              </a:rPr>
              <a:t> </a:t>
            </a:r>
            <a:r>
              <a:rPr sz="2667" b="1" spc="-7" dirty="0">
                <a:solidFill>
                  <a:schemeClr val="tx1"/>
                </a:solidFill>
                <a:latin typeface="Arial"/>
                <a:cs typeface="Arial"/>
              </a:rPr>
              <a:t>with this</a:t>
            </a:r>
            <a:r>
              <a:rPr sz="2667" b="1" spc="-13" dirty="0">
                <a:solidFill>
                  <a:schemeClr val="tx1"/>
                </a:solidFill>
                <a:latin typeface="Arial"/>
                <a:cs typeface="Arial"/>
              </a:rPr>
              <a:t> </a:t>
            </a:r>
            <a:r>
              <a:rPr sz="2667" b="1" spc="-7" dirty="0">
                <a:solidFill>
                  <a:schemeClr val="tx1"/>
                </a:solidFill>
                <a:latin typeface="Arial"/>
                <a:cs typeface="Arial"/>
              </a:rPr>
              <a:t>equation.</a:t>
            </a:r>
            <a:endParaRPr sz="2667" b="1" dirty="0">
              <a:solidFill>
                <a:schemeClr val="tx1"/>
              </a:solidFill>
              <a:latin typeface="Arial"/>
              <a:cs typeface="Arial"/>
            </a:endParaRPr>
          </a:p>
        </p:txBody>
      </p:sp>
      <p:pic>
        <p:nvPicPr>
          <p:cNvPr id="3" name="object 3"/>
          <p:cNvPicPr/>
          <p:nvPr/>
        </p:nvPicPr>
        <p:blipFill rotWithShape="1">
          <a:blip r:embed="rId2" cstate="print">
            <a:extLst>
              <a:ext uri="{BEBA8EAE-BF5A-486C-A8C5-ECC9F3942E4B}">
                <a14:imgProps xmlns:a14="http://schemas.microsoft.com/office/drawing/2010/main">
                  <a14:imgLayer r:embed="rId3">
                    <a14:imgEffect>
                      <a14:sharpenSoften amount="50000"/>
                    </a14:imgEffect>
                  </a14:imgLayer>
                </a14:imgProps>
              </a:ext>
            </a:extLst>
          </a:blip>
          <a:srcRect l="39464" t="-1961" b="1"/>
          <a:stretch/>
        </p:blipFill>
        <p:spPr>
          <a:xfrm>
            <a:off x="6400800" y="2393950"/>
            <a:ext cx="4815839" cy="3962400"/>
          </a:xfrm>
          <a:prstGeom prst="rect">
            <a:avLst/>
          </a:prstGeom>
        </p:spPr>
      </p:pic>
      <p:sp>
        <p:nvSpPr>
          <p:cNvPr id="4" name="Slide Number Placeholder 3">
            <a:extLst>
              <a:ext uri="{FF2B5EF4-FFF2-40B4-BE49-F238E27FC236}">
                <a16:creationId xmlns:a16="http://schemas.microsoft.com/office/drawing/2014/main" id="{C370B8BC-85EB-F837-BC8C-ABC40DB6C55F}"/>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FA44DB79-BD43-466C-AE90-0FA55A19FBAF}"/>
              </a:ext>
            </a:extLst>
          </p:cNvPr>
          <p:cNvSpPr txBox="1"/>
          <p:nvPr/>
        </p:nvSpPr>
        <p:spPr>
          <a:xfrm>
            <a:off x="975361" y="2047875"/>
            <a:ext cx="6096000" cy="286232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image explains the LSTM memory update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Forget the old memory </a:t>
            </a:r>
            <a:r>
              <a:rPr kumimoji="0" lang="en-US" sz="1800" b="0" i="0" u="none" strike="noStrike" kern="1200" cap="none" spc="0" normalizeH="0" baseline="0" noProof="0" dirty="0">
                <a:ln>
                  <a:noFill/>
                </a:ln>
                <a:solidFill>
                  <a:prstClr val="black"/>
                </a:solidFill>
                <a:effectLst/>
                <a:uLnTx/>
                <a:uFillTx/>
                <a:latin typeface="Calibri"/>
                <a:ea typeface="+mn-ea"/>
                <a:cs typeface="+mn-cs"/>
              </a:rPr>
              <a:t>we don't need and </a:t>
            </a:r>
            <a:r>
              <a:rPr kumimoji="0" lang="en-US" sz="1800" b="0" i="0" u="none" strike="noStrike" kern="1200" cap="none" spc="0" normalizeH="0" baseline="0" noProof="0" dirty="0">
                <a:ln>
                  <a:noFill/>
                </a:ln>
                <a:solidFill>
                  <a:srgbClr val="FF0000"/>
                </a:solidFill>
                <a:effectLst/>
                <a:uLnTx/>
                <a:uFillTx/>
                <a:latin typeface="Calibri"/>
                <a:ea typeface="+mn-ea"/>
                <a:cs typeface="+mn-cs"/>
              </a:rPr>
              <a:t>add what we need from the new memory</a:t>
            </a:r>
            <a:r>
              <a:rPr kumimoji="0" lang="en-US" sz="1800" b="0" i="0" u="none" strike="noStrike" kern="1200" cap="none" spc="0" normalizeH="0" baseline="0" noProof="0" dirty="0">
                <a:ln>
                  <a:noFill/>
                </a:ln>
                <a:solidFill>
                  <a:prstClr val="black"/>
                </a:solidFill>
                <a:effectLst/>
                <a:uLnTx/>
                <a:uFillTx/>
                <a:latin typeface="Calibri"/>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Equation: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p:txBody>
      </p:sp>
      <p:pic>
        <p:nvPicPr>
          <p:cNvPr id="8" name="Picture 7">
            <a:extLst>
              <a:ext uri="{FF2B5EF4-FFF2-40B4-BE49-F238E27FC236}">
                <a16:creationId xmlns:a16="http://schemas.microsoft.com/office/drawing/2014/main" id="{B010CE6D-35CC-4627-BD50-13210B10888B}"/>
              </a:ext>
            </a:extLst>
          </p:cNvPr>
          <p:cNvPicPr>
            <a:picLocks noChangeAspect="1"/>
          </p:cNvPicPr>
          <p:nvPr/>
        </p:nvPicPr>
        <p:blipFill>
          <a:blip r:embed="rId4"/>
          <a:stretch>
            <a:fillRect/>
          </a:stretch>
        </p:blipFill>
        <p:spPr>
          <a:xfrm>
            <a:off x="2285512" y="3634546"/>
            <a:ext cx="3505689" cy="714475"/>
          </a:xfrm>
          <a:prstGeom prst="rect">
            <a:avLst/>
          </a:prstGeom>
        </p:spPr>
      </p:pic>
      <p:pic>
        <p:nvPicPr>
          <p:cNvPr id="10" name="Picture 9">
            <a:extLst>
              <a:ext uri="{FF2B5EF4-FFF2-40B4-BE49-F238E27FC236}">
                <a16:creationId xmlns:a16="http://schemas.microsoft.com/office/drawing/2014/main" id="{D7A3CA38-5E66-4D0E-9D08-1ACE5527C709}"/>
              </a:ext>
            </a:extLst>
          </p:cNvPr>
          <p:cNvPicPr>
            <a:picLocks noChangeAspect="1"/>
          </p:cNvPicPr>
          <p:nvPr/>
        </p:nvPicPr>
        <p:blipFill>
          <a:blip r:embed="rId5"/>
          <a:stretch>
            <a:fillRect/>
          </a:stretch>
        </p:blipFill>
        <p:spPr>
          <a:xfrm>
            <a:off x="2490087" y="4498716"/>
            <a:ext cx="3343742" cy="185763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15000" y="533400"/>
            <a:ext cx="3810000" cy="1248397"/>
          </a:xfrm>
          <a:prstGeom prst="rect">
            <a:avLst/>
          </a:prstGeom>
        </p:spPr>
        <p:txBody>
          <a:bodyPr vert="horz" wrap="square" lIns="0" tIns="16933" rIns="0" bIns="0" rtlCol="0" anchor="ctr">
            <a:spAutoFit/>
          </a:bodyPr>
          <a:lstStyle/>
          <a:p>
            <a:pPr marL="16933">
              <a:lnSpc>
                <a:spcPct val="100000"/>
              </a:lnSpc>
              <a:spcBef>
                <a:spcPts val="133"/>
              </a:spcBef>
            </a:pPr>
            <a:r>
              <a:rPr lang="en-US" sz="2667" spc="-7" dirty="0">
                <a:solidFill>
                  <a:schemeClr val="tx1"/>
                </a:solidFill>
                <a:latin typeface="Arial"/>
                <a:cs typeface="Arial"/>
              </a:rPr>
              <a:t>This</a:t>
            </a:r>
            <a:r>
              <a:rPr sz="2667" spc="-13" dirty="0">
                <a:solidFill>
                  <a:schemeClr val="tx1"/>
                </a:solidFill>
                <a:latin typeface="Arial"/>
                <a:cs typeface="Arial"/>
              </a:rPr>
              <a:t> </a:t>
            </a:r>
            <a:r>
              <a:rPr sz="2667" spc="-7" dirty="0">
                <a:solidFill>
                  <a:schemeClr val="tx1"/>
                </a:solidFill>
                <a:latin typeface="Arial"/>
                <a:cs typeface="Arial"/>
              </a:rPr>
              <a:t>next</a:t>
            </a:r>
            <a:r>
              <a:rPr sz="2667" spc="-13" dirty="0">
                <a:solidFill>
                  <a:schemeClr val="tx1"/>
                </a:solidFill>
                <a:latin typeface="Arial"/>
                <a:cs typeface="Arial"/>
              </a:rPr>
              <a:t> </a:t>
            </a:r>
            <a:r>
              <a:rPr sz="2667" dirty="0">
                <a:solidFill>
                  <a:schemeClr val="tx1"/>
                </a:solidFill>
                <a:latin typeface="Arial"/>
                <a:cs typeface="Arial"/>
              </a:rPr>
              <a:t>step</a:t>
            </a:r>
            <a:r>
              <a:rPr sz="2667" spc="-13" dirty="0">
                <a:solidFill>
                  <a:schemeClr val="tx1"/>
                </a:solidFill>
                <a:latin typeface="Arial"/>
                <a:cs typeface="Arial"/>
              </a:rPr>
              <a:t> </a:t>
            </a:r>
            <a:r>
              <a:rPr sz="2667" spc="-7" dirty="0">
                <a:solidFill>
                  <a:schemeClr val="tx1"/>
                </a:solidFill>
                <a:latin typeface="Arial"/>
                <a:cs typeface="Arial"/>
              </a:rPr>
              <a:t>is</a:t>
            </a:r>
            <a:r>
              <a:rPr sz="2667" spc="-13" dirty="0">
                <a:solidFill>
                  <a:schemeClr val="tx1"/>
                </a:solidFill>
                <a:latin typeface="Arial"/>
                <a:cs typeface="Arial"/>
              </a:rPr>
              <a:t> </a:t>
            </a:r>
            <a:r>
              <a:rPr sz="2667" dirty="0">
                <a:solidFill>
                  <a:srgbClr val="FF0000"/>
                </a:solidFill>
                <a:latin typeface="Arial"/>
                <a:cs typeface="Arial"/>
              </a:rPr>
              <a:t>controlling</a:t>
            </a:r>
            <a:r>
              <a:rPr sz="2667" spc="-13" dirty="0">
                <a:solidFill>
                  <a:srgbClr val="FF0000"/>
                </a:solidFill>
                <a:latin typeface="Arial"/>
                <a:cs typeface="Arial"/>
              </a:rPr>
              <a:t> </a:t>
            </a:r>
            <a:r>
              <a:rPr sz="2667" spc="-7" dirty="0">
                <a:solidFill>
                  <a:srgbClr val="FF0000"/>
                </a:solidFill>
                <a:latin typeface="Arial"/>
                <a:cs typeface="Arial"/>
              </a:rPr>
              <a:t>the</a:t>
            </a:r>
            <a:r>
              <a:rPr sz="2667" spc="-13" dirty="0">
                <a:solidFill>
                  <a:srgbClr val="FF0000"/>
                </a:solidFill>
                <a:latin typeface="Arial"/>
                <a:cs typeface="Arial"/>
              </a:rPr>
              <a:t> </a:t>
            </a:r>
            <a:r>
              <a:rPr sz="2667" spc="-7" dirty="0">
                <a:solidFill>
                  <a:srgbClr val="FF0000"/>
                </a:solidFill>
                <a:latin typeface="Arial"/>
                <a:cs typeface="Arial"/>
              </a:rPr>
              <a:t>amount</a:t>
            </a:r>
            <a:r>
              <a:rPr sz="2667" spc="-13" dirty="0">
                <a:solidFill>
                  <a:srgbClr val="FF0000"/>
                </a:solidFill>
                <a:latin typeface="Arial"/>
                <a:cs typeface="Arial"/>
              </a:rPr>
              <a:t> </a:t>
            </a:r>
            <a:r>
              <a:rPr sz="2667" spc="-7" dirty="0">
                <a:solidFill>
                  <a:srgbClr val="FF0000"/>
                </a:solidFill>
                <a:latin typeface="Arial"/>
                <a:cs typeface="Arial"/>
              </a:rPr>
              <a:t>of</a:t>
            </a:r>
            <a:r>
              <a:rPr sz="2667" spc="-13" dirty="0">
                <a:solidFill>
                  <a:srgbClr val="FF0000"/>
                </a:solidFill>
                <a:latin typeface="Arial"/>
                <a:cs typeface="Arial"/>
              </a:rPr>
              <a:t> </a:t>
            </a:r>
            <a:r>
              <a:rPr sz="2667" spc="-7" dirty="0">
                <a:solidFill>
                  <a:srgbClr val="FF0000"/>
                </a:solidFill>
                <a:latin typeface="Arial"/>
                <a:cs typeface="Arial"/>
              </a:rPr>
              <a:t>output</a:t>
            </a:r>
            <a:r>
              <a:rPr sz="2667" spc="-13" dirty="0">
                <a:solidFill>
                  <a:srgbClr val="FF0000"/>
                </a:solidFill>
                <a:latin typeface="Arial"/>
                <a:cs typeface="Arial"/>
              </a:rPr>
              <a:t> </a:t>
            </a:r>
            <a:r>
              <a:rPr sz="2667" spc="-7" dirty="0">
                <a:solidFill>
                  <a:schemeClr val="tx1"/>
                </a:solidFill>
                <a:latin typeface="Arial"/>
                <a:cs typeface="Arial"/>
              </a:rPr>
              <a:t>from</a:t>
            </a:r>
            <a:r>
              <a:rPr sz="2667" spc="-13" dirty="0">
                <a:solidFill>
                  <a:schemeClr val="tx1"/>
                </a:solidFill>
                <a:latin typeface="Arial"/>
                <a:cs typeface="Arial"/>
              </a:rPr>
              <a:t> </a:t>
            </a:r>
            <a:r>
              <a:rPr sz="2667" spc="-7" dirty="0">
                <a:solidFill>
                  <a:schemeClr val="tx1"/>
                </a:solidFill>
                <a:latin typeface="Arial"/>
                <a:cs typeface="Arial"/>
              </a:rPr>
              <a:t>the</a:t>
            </a:r>
            <a:r>
              <a:rPr sz="2667" spc="-13" dirty="0">
                <a:solidFill>
                  <a:schemeClr val="tx1"/>
                </a:solidFill>
                <a:latin typeface="Arial"/>
                <a:cs typeface="Arial"/>
              </a:rPr>
              <a:t> </a:t>
            </a:r>
            <a:r>
              <a:rPr sz="2667" dirty="0">
                <a:solidFill>
                  <a:schemeClr val="tx1"/>
                </a:solidFill>
                <a:latin typeface="Arial"/>
                <a:cs typeface="Arial"/>
              </a:rPr>
              <a:t>cell.</a:t>
            </a:r>
          </a:p>
        </p:txBody>
      </p:sp>
      <p:pic>
        <p:nvPicPr>
          <p:cNvPr id="3" name="object 3"/>
          <p:cNvPicPr/>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905000" y="2057400"/>
            <a:ext cx="8268843" cy="4161535"/>
          </a:xfrm>
          <a:prstGeom prst="rect">
            <a:avLst/>
          </a:prstGeom>
        </p:spPr>
      </p:pic>
      <p:sp>
        <p:nvSpPr>
          <p:cNvPr id="4" name="Slide Number Placeholder 3">
            <a:extLst>
              <a:ext uri="{FF2B5EF4-FFF2-40B4-BE49-F238E27FC236}">
                <a16:creationId xmlns:a16="http://schemas.microsoft.com/office/drawing/2014/main" id="{63E17879-7711-DE33-8CBB-64FD14778B8A}"/>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7E34794D-8B27-4C44-B172-00AEF1F67D27}"/>
              </a:ext>
            </a:extLst>
          </p:cNvPr>
          <p:cNvSpPr txBox="1"/>
          <p:nvPr/>
        </p:nvSpPr>
        <p:spPr>
          <a:xfrm>
            <a:off x="546692" y="314980"/>
            <a:ext cx="30480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a:ea typeface="+mn-ea"/>
                <a:cs typeface="+mn-cs"/>
              </a:rPr>
              <a:t>Output Gate</a:t>
            </a: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51984"/>
            <a:ext cx="9847579" cy="837964"/>
          </a:xfrm>
          <a:prstGeom prst="rect">
            <a:avLst/>
          </a:prstGeom>
        </p:spPr>
        <p:txBody>
          <a:bodyPr vert="horz" wrap="square" lIns="0" tIns="16933" rIns="0" bIns="0" rtlCol="0" anchor="ctr">
            <a:spAutoFit/>
          </a:bodyPr>
          <a:lstStyle/>
          <a:p>
            <a:pPr marL="16933">
              <a:lnSpc>
                <a:spcPct val="100000"/>
              </a:lnSpc>
              <a:spcBef>
                <a:spcPts val="133"/>
              </a:spcBef>
            </a:pPr>
            <a:r>
              <a:rPr sz="2667" b="1" spc="-7" dirty="0">
                <a:solidFill>
                  <a:schemeClr val="tx1"/>
                </a:solidFill>
                <a:latin typeface="Arial"/>
                <a:cs typeface="Arial"/>
              </a:rPr>
              <a:t>Then</a:t>
            </a:r>
            <a:r>
              <a:rPr sz="2667" b="1" spc="-13" dirty="0">
                <a:solidFill>
                  <a:schemeClr val="tx1"/>
                </a:solidFill>
                <a:latin typeface="Arial"/>
                <a:cs typeface="Arial"/>
              </a:rPr>
              <a:t> </a:t>
            </a:r>
            <a:r>
              <a:rPr sz="2667" b="1" spc="-7" dirty="0">
                <a:solidFill>
                  <a:schemeClr val="tx1"/>
                </a:solidFill>
                <a:latin typeface="Arial"/>
                <a:cs typeface="Arial"/>
              </a:rPr>
              <a:t>process</a:t>
            </a:r>
            <a:r>
              <a:rPr sz="2667" b="1" spc="-13" dirty="0">
                <a:solidFill>
                  <a:schemeClr val="tx1"/>
                </a:solidFill>
                <a:latin typeface="Arial"/>
                <a:cs typeface="Arial"/>
              </a:rPr>
              <a:t> </a:t>
            </a:r>
            <a:r>
              <a:rPr sz="2667" b="1" spc="-7" dirty="0">
                <a:solidFill>
                  <a:schemeClr val="tx1"/>
                </a:solidFill>
                <a:latin typeface="Arial"/>
                <a:cs typeface="Arial"/>
              </a:rPr>
              <a:t>and</a:t>
            </a:r>
            <a:r>
              <a:rPr sz="2667" b="1" spc="-13" dirty="0">
                <a:solidFill>
                  <a:schemeClr val="tx1"/>
                </a:solidFill>
                <a:latin typeface="Arial"/>
                <a:cs typeface="Arial"/>
              </a:rPr>
              <a:t> </a:t>
            </a:r>
            <a:r>
              <a:rPr sz="2667" b="1" spc="-7" dirty="0">
                <a:solidFill>
                  <a:srgbClr val="FF0000"/>
                </a:solidFill>
                <a:latin typeface="Arial"/>
                <a:cs typeface="Arial"/>
              </a:rPr>
              <a:t>produce</a:t>
            </a:r>
            <a:r>
              <a:rPr sz="2667" b="1" spc="-13" dirty="0">
                <a:solidFill>
                  <a:srgbClr val="FF0000"/>
                </a:solidFill>
                <a:latin typeface="Arial"/>
                <a:cs typeface="Arial"/>
              </a:rPr>
              <a:t> </a:t>
            </a:r>
            <a:r>
              <a:rPr sz="2667" b="1" spc="-7" dirty="0">
                <a:solidFill>
                  <a:srgbClr val="FF0000"/>
                </a:solidFill>
                <a:latin typeface="Arial"/>
                <a:cs typeface="Arial"/>
              </a:rPr>
              <a:t>the</a:t>
            </a:r>
            <a:r>
              <a:rPr sz="2667" b="1" spc="-13" dirty="0">
                <a:solidFill>
                  <a:srgbClr val="FF0000"/>
                </a:solidFill>
                <a:latin typeface="Arial"/>
                <a:cs typeface="Arial"/>
              </a:rPr>
              <a:t> </a:t>
            </a:r>
            <a:r>
              <a:rPr sz="2667" b="1" spc="-7" dirty="0">
                <a:solidFill>
                  <a:srgbClr val="FF0000"/>
                </a:solidFill>
                <a:latin typeface="Arial"/>
                <a:cs typeface="Arial"/>
              </a:rPr>
              <a:t>output</a:t>
            </a:r>
            <a:r>
              <a:rPr sz="2667" b="1" spc="-13" dirty="0">
                <a:solidFill>
                  <a:srgbClr val="FF0000"/>
                </a:solidFill>
                <a:latin typeface="Arial"/>
                <a:cs typeface="Arial"/>
              </a:rPr>
              <a:t> </a:t>
            </a:r>
            <a:r>
              <a:rPr sz="2667" b="1" spc="-7" dirty="0">
                <a:solidFill>
                  <a:schemeClr val="tx1"/>
                </a:solidFill>
                <a:latin typeface="Arial"/>
                <a:cs typeface="Arial"/>
              </a:rPr>
              <a:t>itself</a:t>
            </a:r>
            <a:r>
              <a:rPr sz="2667" b="1" spc="-13" dirty="0">
                <a:solidFill>
                  <a:schemeClr val="tx1"/>
                </a:solidFill>
                <a:latin typeface="Arial"/>
                <a:cs typeface="Arial"/>
              </a:rPr>
              <a:t> </a:t>
            </a:r>
            <a:r>
              <a:rPr sz="2667" b="1" spc="-7" dirty="0">
                <a:solidFill>
                  <a:schemeClr val="tx1"/>
                </a:solidFill>
                <a:latin typeface="Arial"/>
                <a:cs typeface="Arial"/>
              </a:rPr>
              <a:t>with</a:t>
            </a:r>
            <a:r>
              <a:rPr sz="2667" b="1" spc="-13" dirty="0">
                <a:solidFill>
                  <a:schemeClr val="tx1"/>
                </a:solidFill>
                <a:latin typeface="Arial"/>
                <a:cs typeface="Arial"/>
              </a:rPr>
              <a:t> </a:t>
            </a:r>
            <a:r>
              <a:rPr sz="2667" b="1" spc="-7" dirty="0">
                <a:solidFill>
                  <a:schemeClr val="tx1"/>
                </a:solidFill>
                <a:latin typeface="Arial"/>
                <a:cs typeface="Arial"/>
              </a:rPr>
              <a:t>the</a:t>
            </a:r>
            <a:r>
              <a:rPr sz="2667" b="1" spc="-13" dirty="0">
                <a:solidFill>
                  <a:schemeClr val="tx1"/>
                </a:solidFill>
                <a:latin typeface="Arial"/>
                <a:cs typeface="Arial"/>
              </a:rPr>
              <a:t> </a:t>
            </a:r>
            <a:r>
              <a:rPr sz="2667" b="1" spc="-7" dirty="0">
                <a:solidFill>
                  <a:schemeClr val="tx1"/>
                </a:solidFill>
                <a:latin typeface="Arial"/>
                <a:cs typeface="Arial"/>
              </a:rPr>
              <a:t>tanh</a:t>
            </a:r>
            <a:r>
              <a:rPr sz="2667" b="1" spc="-13" dirty="0">
                <a:solidFill>
                  <a:schemeClr val="tx1"/>
                </a:solidFill>
                <a:latin typeface="Arial"/>
                <a:cs typeface="Arial"/>
              </a:rPr>
              <a:t> </a:t>
            </a:r>
            <a:r>
              <a:rPr sz="2667" b="1" spc="-7" dirty="0">
                <a:solidFill>
                  <a:schemeClr val="tx1"/>
                </a:solidFill>
                <a:latin typeface="Arial"/>
                <a:cs typeface="Arial"/>
              </a:rPr>
              <a:t>equation</a:t>
            </a:r>
            <a:endParaRPr sz="2667" b="1" dirty="0">
              <a:solidFill>
                <a:schemeClr val="tx1"/>
              </a:solidFill>
              <a:latin typeface="Arial"/>
              <a:cs typeface="Arial"/>
            </a:endParaRPr>
          </a:p>
        </p:txBody>
      </p:sp>
      <p:pic>
        <p:nvPicPr>
          <p:cNvPr id="3" name="object 3"/>
          <p:cNvPicPr/>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914400" y="1781396"/>
            <a:ext cx="9176003" cy="4672882"/>
          </a:xfrm>
          <a:prstGeom prst="rect">
            <a:avLst/>
          </a:prstGeom>
        </p:spPr>
      </p:pic>
      <p:sp>
        <p:nvSpPr>
          <p:cNvPr id="4" name="Slide Number Placeholder 3">
            <a:extLst>
              <a:ext uri="{FF2B5EF4-FFF2-40B4-BE49-F238E27FC236}">
                <a16:creationId xmlns:a16="http://schemas.microsoft.com/office/drawing/2014/main" id="{EAC08563-6910-A83E-323B-A3C6EA0B7A93}"/>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95679" y="2267053"/>
            <a:ext cx="9583287" cy="3879747"/>
          </a:xfrm>
          <a:prstGeom prst="rect">
            <a:avLst/>
          </a:prstGeom>
        </p:spPr>
      </p:pic>
      <p:sp>
        <p:nvSpPr>
          <p:cNvPr id="3" name="object 3"/>
          <p:cNvSpPr txBox="1">
            <a:spLocks noGrp="1"/>
          </p:cNvSpPr>
          <p:nvPr>
            <p:ph type="title"/>
          </p:nvPr>
        </p:nvSpPr>
        <p:spPr>
          <a:xfrm>
            <a:off x="304800" y="609600"/>
            <a:ext cx="6293273" cy="497508"/>
          </a:xfrm>
          <a:prstGeom prst="rect">
            <a:avLst/>
          </a:prstGeom>
        </p:spPr>
        <p:txBody>
          <a:bodyPr vert="horz" wrap="square" lIns="0" tIns="15240" rIns="0" bIns="0" rtlCol="0" anchor="ctr">
            <a:spAutoFit/>
          </a:bodyPr>
          <a:lstStyle/>
          <a:p>
            <a:pPr marL="16933">
              <a:lnSpc>
                <a:spcPct val="100000"/>
              </a:lnSpc>
              <a:spcBef>
                <a:spcPts val="120"/>
              </a:spcBef>
            </a:pPr>
            <a:r>
              <a:rPr sz="3133" spc="-13" dirty="0">
                <a:solidFill>
                  <a:srgbClr val="1A1A1A"/>
                </a:solidFill>
              </a:rPr>
              <a:t>Long</a:t>
            </a:r>
            <a:r>
              <a:rPr sz="3133" spc="-27" dirty="0">
                <a:solidFill>
                  <a:srgbClr val="1A1A1A"/>
                </a:solidFill>
              </a:rPr>
              <a:t> </a:t>
            </a:r>
            <a:r>
              <a:rPr sz="3133" spc="-40" dirty="0">
                <a:solidFill>
                  <a:srgbClr val="1A1A1A"/>
                </a:solidFill>
              </a:rPr>
              <a:t>Short-Term</a:t>
            </a:r>
            <a:r>
              <a:rPr sz="3133" spc="-27" dirty="0">
                <a:solidFill>
                  <a:srgbClr val="1A1A1A"/>
                </a:solidFill>
              </a:rPr>
              <a:t> </a:t>
            </a:r>
            <a:r>
              <a:rPr sz="3133" spc="-13" dirty="0">
                <a:solidFill>
                  <a:srgbClr val="1A1A1A"/>
                </a:solidFill>
              </a:rPr>
              <a:t>Memory (LSTM)</a:t>
            </a:r>
            <a:endParaRPr sz="3133" dirty="0"/>
          </a:p>
        </p:txBody>
      </p:sp>
      <p:sp>
        <p:nvSpPr>
          <p:cNvPr id="4" name="Slide Number Placeholder 3">
            <a:extLst>
              <a:ext uri="{FF2B5EF4-FFF2-40B4-BE49-F238E27FC236}">
                <a16:creationId xmlns:a16="http://schemas.microsoft.com/office/drawing/2014/main" id="{73A52704-0FB2-D341-3718-BFABFC14A628}"/>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E574A8-92A7-0C90-91BD-B3D7AFA0B2A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1F506A-9A70-203E-62F5-7DC18B4A5B5F}"/>
              </a:ext>
            </a:extLst>
          </p:cNvPr>
          <p:cNvSpPr>
            <a:spLocks noGrp="1"/>
          </p:cNvSpPr>
          <p:nvPr>
            <p:ph type="sldNum" sz="quarter" idx="12"/>
          </p:nvPr>
        </p:nvSpPr>
        <p:spPr/>
        <p:txBody>
          <a:bodyPr/>
          <a:lstStyle/>
          <a:p>
            <a:fld id="{5EE24C92-1265-4741-8F9F-404A15D9386E}" type="slidenum">
              <a:rPr lang="en-US" smtClean="0"/>
              <a:t>40</a:t>
            </a:fld>
            <a:endParaRPr lang="en-US" dirty="0"/>
          </a:p>
        </p:txBody>
      </p:sp>
      <p:pic>
        <p:nvPicPr>
          <p:cNvPr id="1026" name="Picture 2">
            <a:extLst>
              <a:ext uri="{FF2B5EF4-FFF2-40B4-BE49-F238E27FC236}">
                <a16:creationId xmlns:a16="http://schemas.microsoft.com/office/drawing/2014/main" id="{EF08D9AA-9E51-F584-4189-647F9182A8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575" y="0"/>
            <a:ext cx="103552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84768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p:nvPr/>
        </p:nvSpPr>
        <p:spPr>
          <a:xfrm>
            <a:off x="10757916" y="281940"/>
            <a:ext cx="121920" cy="1600200"/>
          </a:xfrm>
          <a:custGeom>
            <a:avLst/>
            <a:gdLst/>
            <a:ahLst/>
            <a:cxnLst/>
            <a:rect l="l" t="t" r="r" b="b"/>
            <a:pathLst>
              <a:path w="121920" h="1600200">
                <a:moveTo>
                  <a:pt x="121920" y="0"/>
                </a:moveTo>
                <a:lnTo>
                  <a:pt x="0" y="0"/>
                </a:lnTo>
                <a:lnTo>
                  <a:pt x="0" y="1600199"/>
                </a:lnTo>
                <a:lnTo>
                  <a:pt x="121920" y="1600199"/>
                </a:lnTo>
                <a:lnTo>
                  <a:pt x="121920" y="0"/>
                </a:lnTo>
                <a:close/>
              </a:path>
            </a:pathLst>
          </a:custGeom>
          <a:solidFill>
            <a:srgbClr val="F692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object 14"/>
          <p:cNvSpPr txBox="1"/>
          <p:nvPr/>
        </p:nvSpPr>
        <p:spPr>
          <a:xfrm>
            <a:off x="11509375" y="339597"/>
            <a:ext cx="217804" cy="2393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0" i="0" u="none" strike="noStrike" kern="1200" cap="none" spc="-20" normalizeH="0" baseline="0" noProof="0" dirty="0">
                <a:ln>
                  <a:noFill/>
                </a:ln>
                <a:solidFill>
                  <a:srgbClr val="FFFFFF"/>
                </a:solidFill>
                <a:effectLst/>
                <a:uLnTx/>
                <a:uFillTx/>
                <a:latin typeface="Cambria"/>
                <a:ea typeface="+mn-ea"/>
                <a:cs typeface="Cambria"/>
              </a:rPr>
              <a:t>67</a:t>
            </a:r>
            <a:endParaRPr kumimoji="0" sz="1400" b="0" i="0" u="none" strike="noStrike" kern="1200" cap="none" spc="0" normalizeH="0" baseline="0" noProof="0">
              <a:ln>
                <a:noFill/>
              </a:ln>
              <a:solidFill>
                <a:prstClr val="black"/>
              </a:solidFill>
              <a:effectLst/>
              <a:uLnTx/>
              <a:uFillTx/>
              <a:latin typeface="Cambria"/>
              <a:ea typeface="+mn-ea"/>
              <a:cs typeface="Cambria"/>
            </a:endParaRPr>
          </a:p>
        </p:txBody>
      </p:sp>
      <p:pic>
        <p:nvPicPr>
          <p:cNvPr id="19" name="Picture 12" descr="Schematic diagram of LSTM model Figure 2 displays the schematic diagram...  | Download Scientific Diagram">
            <a:extLst>
              <a:ext uri="{FF2B5EF4-FFF2-40B4-BE49-F238E27FC236}">
                <a16:creationId xmlns:a16="http://schemas.microsoft.com/office/drawing/2014/main" id="{229DB565-15E6-4DDC-93D4-9940B66D7D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7630" y="45497"/>
            <a:ext cx="3736975" cy="2224599"/>
          </a:xfrm>
          <a:prstGeom prst="rect">
            <a:avLst/>
          </a:prstGeom>
          <a:noFill/>
          <a:extLst>
            <a:ext uri="{909E8E84-426E-40DD-AFC4-6F175D3DCCD1}">
              <a14:hiddenFill xmlns:a14="http://schemas.microsoft.com/office/drawing/2010/main">
                <a:solidFill>
                  <a:srgbClr val="FFFFFF"/>
                </a:solidFill>
              </a14:hiddenFill>
            </a:ext>
          </a:extLst>
        </p:spPr>
      </p:pic>
      <p:sp>
        <p:nvSpPr>
          <p:cNvPr id="17" name="Subtitle 16">
            <a:extLst>
              <a:ext uri="{FF2B5EF4-FFF2-40B4-BE49-F238E27FC236}">
                <a16:creationId xmlns:a16="http://schemas.microsoft.com/office/drawing/2014/main" id="{62A0C448-EFEC-4164-A3D6-793FDB0936EA}"/>
              </a:ext>
            </a:extLst>
          </p:cNvPr>
          <p:cNvSpPr>
            <a:spLocks noGrp="1"/>
          </p:cNvSpPr>
          <p:nvPr>
            <p:ph type="subTitle" idx="4"/>
          </p:nvPr>
        </p:nvSpPr>
        <p:spPr>
          <a:xfrm>
            <a:off x="165370" y="1553556"/>
            <a:ext cx="11222085" cy="5309146"/>
          </a:xfrm>
        </p:spPr>
        <p:txBody>
          <a:bodyPr/>
          <a:lstStyle/>
          <a:p>
            <a:pPr marL="342900" indent="-342900">
              <a:spcAft>
                <a:spcPts val="600"/>
              </a:spcAft>
              <a:buAutoNum type="arabicPeriod"/>
            </a:pPr>
            <a:r>
              <a:rPr lang="en-US" b="1" dirty="0"/>
              <a:t>Forget Gate f(t):  </a:t>
            </a:r>
            <a:r>
              <a:rPr lang="en-US" dirty="0"/>
              <a:t>Decides how much of the previous cell state </a:t>
            </a:r>
            <a:endParaRPr lang="ar-EG" dirty="0"/>
          </a:p>
          <a:p>
            <a:pPr>
              <a:spcAft>
                <a:spcPts val="600"/>
              </a:spcAft>
            </a:pPr>
            <a:r>
              <a:rPr lang="ar-EG" dirty="0"/>
              <a:t>                               </a:t>
            </a:r>
            <a:r>
              <a:rPr lang="en-US" dirty="0"/>
              <a:t>(c(t-1)) to forget, using a sigmoid function.</a:t>
            </a:r>
            <a:endParaRPr lang="ar-EG" dirty="0"/>
          </a:p>
          <a:p>
            <a:pPr>
              <a:spcAft>
                <a:spcPts val="600"/>
              </a:spcAft>
            </a:pPr>
            <a:endParaRPr lang="en-US" sz="200" dirty="0"/>
          </a:p>
          <a:p>
            <a:pPr>
              <a:spcAft>
                <a:spcPts val="600"/>
              </a:spcAft>
            </a:pPr>
            <a:r>
              <a:rPr lang="en-US" b="1" dirty="0"/>
              <a:t>2. Input Gate </a:t>
            </a:r>
            <a:r>
              <a:rPr lang="en-US" b="1" dirty="0" err="1"/>
              <a:t>i</a:t>
            </a:r>
            <a:r>
              <a:rPr lang="en-US" b="1" dirty="0"/>
              <a:t>(t): </a:t>
            </a:r>
            <a:r>
              <a:rPr lang="en-US" dirty="0"/>
              <a:t>Controls how much new information to add to the cell state, based on the current input.</a:t>
            </a:r>
            <a:endParaRPr lang="ar-EG" dirty="0"/>
          </a:p>
          <a:p>
            <a:pPr>
              <a:spcAft>
                <a:spcPts val="600"/>
              </a:spcAft>
            </a:pPr>
            <a:endParaRPr lang="en-US" sz="800" dirty="0"/>
          </a:p>
          <a:p>
            <a:pPr>
              <a:spcAft>
                <a:spcPts val="600"/>
              </a:spcAft>
            </a:pPr>
            <a:r>
              <a:rPr lang="en-US" b="1" dirty="0"/>
              <a:t>3. Cell State Update g(t): </a:t>
            </a:r>
            <a:r>
              <a:rPr lang="en-US" dirty="0"/>
              <a:t>Generates candidate values g(t) with a tanh function to be added to the cell state. Candidate values are the potential new information generated by the `tanh` function, which could update the cell state. Their impact depends on the input gate controlling how much is added to the memory.</a:t>
            </a:r>
            <a:endParaRPr lang="ar-EG" dirty="0"/>
          </a:p>
          <a:p>
            <a:pPr>
              <a:spcAft>
                <a:spcPts val="600"/>
              </a:spcAft>
            </a:pPr>
            <a:r>
              <a:rPr lang="ar-EG" dirty="0"/>
              <a:t> يولّد الاقتراح/القيم المرشَّحة اللي ممكن نضيفها للذاكرة</a:t>
            </a:r>
          </a:p>
          <a:p>
            <a:pPr>
              <a:spcAft>
                <a:spcPts val="600"/>
              </a:spcAft>
            </a:pPr>
            <a:endParaRPr lang="en-US" sz="800" dirty="0"/>
          </a:p>
          <a:p>
            <a:pPr>
              <a:spcAft>
                <a:spcPts val="600"/>
              </a:spcAft>
            </a:pPr>
            <a:r>
              <a:rPr lang="en-US" b="1" dirty="0"/>
              <a:t>4. Output Gate o(t): </a:t>
            </a:r>
            <a:r>
              <a:rPr lang="en-US" dirty="0"/>
              <a:t>Determines how much of the updated cell state to output as the hidden state h(t).</a:t>
            </a:r>
            <a:endParaRPr lang="ar-EG" dirty="0"/>
          </a:p>
          <a:p>
            <a:pPr>
              <a:spcAft>
                <a:spcPts val="600"/>
              </a:spcAft>
            </a:pPr>
            <a:endParaRPr lang="en-US" sz="800" dirty="0"/>
          </a:p>
          <a:p>
            <a:pPr>
              <a:spcAft>
                <a:spcPts val="600"/>
              </a:spcAft>
            </a:pPr>
            <a:r>
              <a:rPr lang="en-US" b="1" dirty="0"/>
              <a:t>5. Cell State c(t):</a:t>
            </a:r>
            <a:r>
              <a:rPr lang="en-US" dirty="0"/>
              <a:t>The memory of the LSTM, updated by the forget and input gates.</a:t>
            </a:r>
            <a:endParaRPr lang="ar-EG" dirty="0"/>
          </a:p>
          <a:p>
            <a:pPr>
              <a:spcAft>
                <a:spcPts val="600"/>
              </a:spcAft>
            </a:pPr>
            <a:endParaRPr lang="en-US" sz="800" dirty="0"/>
          </a:p>
          <a:p>
            <a:pPr>
              <a:spcAft>
                <a:spcPts val="600"/>
              </a:spcAft>
            </a:pPr>
            <a:r>
              <a:rPr lang="en-US" b="1" dirty="0"/>
              <a:t>6. Hidden State h(t): </a:t>
            </a:r>
            <a:r>
              <a:rPr lang="en-US" dirty="0"/>
              <a:t>The output of the LSTM cell at the current time step, determined by the output gate and cell state.</a:t>
            </a:r>
            <a:endParaRPr lang="ar-EG" dirty="0"/>
          </a:p>
          <a:p>
            <a:pPr>
              <a:spcAft>
                <a:spcPts val="600"/>
              </a:spcAft>
            </a:pPr>
            <a:endParaRPr lang="en-US" sz="800" dirty="0"/>
          </a:p>
          <a:p>
            <a:pPr>
              <a:spcAft>
                <a:spcPts val="600"/>
              </a:spcAft>
            </a:pPr>
            <a:r>
              <a:rPr lang="en-US" b="1" dirty="0"/>
              <a:t>7. Point-wise Multiplication (⊗): </a:t>
            </a:r>
            <a:r>
              <a:rPr lang="en-US" dirty="0"/>
              <a:t>Used for element-wise operations like updating the cell state.</a:t>
            </a:r>
            <a:endParaRPr lang="ar-EG" dirty="0"/>
          </a:p>
          <a:p>
            <a:pPr>
              <a:spcAft>
                <a:spcPts val="600"/>
              </a:spcAft>
            </a:pPr>
            <a:endParaRPr lang="en-US" sz="100" dirty="0"/>
          </a:p>
          <a:p>
            <a:pPr>
              <a:spcAft>
                <a:spcPts val="600"/>
              </a:spcAft>
            </a:pPr>
            <a:r>
              <a:rPr lang="en-US" b="1" dirty="0"/>
              <a:t>8. Addition (⊕): </a:t>
            </a:r>
            <a:r>
              <a:rPr lang="en-US" dirty="0"/>
              <a:t>Combines the effects of forget and input gates to update the cell state.</a:t>
            </a:r>
          </a:p>
        </p:txBody>
      </p:sp>
      <p:sp>
        <p:nvSpPr>
          <p:cNvPr id="20" name="TextBox 19">
            <a:extLst>
              <a:ext uri="{FF2B5EF4-FFF2-40B4-BE49-F238E27FC236}">
                <a16:creationId xmlns:a16="http://schemas.microsoft.com/office/drawing/2014/main" id="{2C505CE2-A8EF-45FD-9C2A-EDF61913E46F}"/>
              </a:ext>
            </a:extLst>
          </p:cNvPr>
          <p:cNvSpPr txBox="1"/>
          <p:nvPr/>
        </p:nvSpPr>
        <p:spPr>
          <a:xfrm>
            <a:off x="874436" y="327422"/>
            <a:ext cx="727896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F81BD"/>
                </a:solidFill>
                <a:effectLst/>
                <a:uLnTx/>
                <a:uFillTx/>
                <a:latin typeface="Calibri"/>
                <a:ea typeface="+mn-ea"/>
                <a:cs typeface="+mn-cs"/>
              </a:rPr>
              <a:t>LSTM Components</a:t>
            </a:r>
          </a:p>
        </p:txBody>
      </p:sp>
    </p:spTree>
    <p:extLst>
      <p:ext uri="{BB962C8B-B14F-4D97-AF65-F5344CB8AC3E}">
        <p14:creationId xmlns:p14="http://schemas.microsoft.com/office/powerpoint/2010/main" val="19607908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2B96875-35AD-CE39-BD3F-779B483DB40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EC33CF4-9BC5-473E-8B13-FC1E1E1F0DEE}"/>
              </a:ext>
            </a:extLst>
          </p:cNvPr>
          <p:cNvSpPr>
            <a:spLocks noGrp="1"/>
          </p:cNvSpPr>
          <p:nvPr>
            <p:ph type="sldNum" sz="quarter" idx="12"/>
          </p:nvPr>
        </p:nvSpPr>
        <p:spPr/>
        <p:txBody>
          <a:bodyPr/>
          <a:lstStyle/>
          <a:p>
            <a:fld id="{5EE24C92-1265-4741-8F9F-404A15D9386E}" type="slidenum">
              <a:rPr lang="en-US" smtClean="0"/>
              <a:t>42</a:t>
            </a:fld>
            <a:endParaRPr lang="en-US"/>
          </a:p>
        </p:txBody>
      </p:sp>
      <p:pic>
        <p:nvPicPr>
          <p:cNvPr id="3" name="Picture 2">
            <a:extLst>
              <a:ext uri="{FF2B5EF4-FFF2-40B4-BE49-F238E27FC236}">
                <a16:creationId xmlns:a16="http://schemas.microsoft.com/office/drawing/2014/main" id="{54A54E24-C9CD-6E6E-DA05-80FCAB300666}"/>
              </a:ext>
            </a:extLst>
          </p:cNvPr>
          <p:cNvPicPr>
            <a:picLocks noChangeAspect="1"/>
          </p:cNvPicPr>
          <p:nvPr/>
        </p:nvPicPr>
        <p:blipFill>
          <a:blip r:embed="rId2"/>
          <a:stretch>
            <a:fillRect/>
          </a:stretch>
        </p:blipFill>
        <p:spPr>
          <a:xfrm>
            <a:off x="1726376" y="0"/>
            <a:ext cx="8739247" cy="6858000"/>
          </a:xfrm>
          <a:prstGeom prst="rect">
            <a:avLst/>
          </a:prstGeom>
        </p:spPr>
      </p:pic>
    </p:spTree>
    <p:extLst>
      <p:ext uri="{BB962C8B-B14F-4D97-AF65-F5344CB8AC3E}">
        <p14:creationId xmlns:p14="http://schemas.microsoft.com/office/powerpoint/2010/main" val="7300880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C8200F2-33C6-3B3E-1967-557454B942F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22BD138-A3F5-601A-C436-B429A8380BBA}"/>
              </a:ext>
            </a:extLst>
          </p:cNvPr>
          <p:cNvSpPr>
            <a:spLocks noGrp="1"/>
          </p:cNvSpPr>
          <p:nvPr>
            <p:ph type="sldNum" sz="quarter" idx="12"/>
          </p:nvPr>
        </p:nvSpPr>
        <p:spPr/>
        <p:txBody>
          <a:bodyPr/>
          <a:lstStyle/>
          <a:p>
            <a:fld id="{5EE24C92-1265-4741-8F9F-404A15D9386E}" type="slidenum">
              <a:rPr lang="en-US" smtClean="0"/>
              <a:t>43</a:t>
            </a:fld>
            <a:endParaRPr lang="en-US"/>
          </a:p>
        </p:txBody>
      </p:sp>
      <p:pic>
        <p:nvPicPr>
          <p:cNvPr id="4" name="Picture 3">
            <a:extLst>
              <a:ext uri="{FF2B5EF4-FFF2-40B4-BE49-F238E27FC236}">
                <a16:creationId xmlns:a16="http://schemas.microsoft.com/office/drawing/2014/main" id="{503E7D6B-E3B8-64EE-07F4-2289AD67D4D8}"/>
              </a:ext>
            </a:extLst>
          </p:cNvPr>
          <p:cNvPicPr>
            <a:picLocks noChangeAspect="1"/>
          </p:cNvPicPr>
          <p:nvPr/>
        </p:nvPicPr>
        <p:blipFill>
          <a:blip r:embed="rId2"/>
          <a:stretch>
            <a:fillRect/>
          </a:stretch>
        </p:blipFill>
        <p:spPr>
          <a:xfrm>
            <a:off x="1114425" y="1023937"/>
            <a:ext cx="9963150" cy="4810125"/>
          </a:xfrm>
          <a:prstGeom prst="rect">
            <a:avLst/>
          </a:prstGeom>
        </p:spPr>
      </p:pic>
    </p:spTree>
    <p:extLst>
      <p:ext uri="{BB962C8B-B14F-4D97-AF65-F5344CB8AC3E}">
        <p14:creationId xmlns:p14="http://schemas.microsoft.com/office/powerpoint/2010/main" val="38935607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7026723F-4947-2D7C-89EC-A8487FBD9C8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48E1AA6-E3CE-0511-CA59-3D897C021F84}"/>
              </a:ext>
            </a:extLst>
          </p:cNvPr>
          <p:cNvSpPr>
            <a:spLocks noGrp="1"/>
          </p:cNvSpPr>
          <p:nvPr>
            <p:ph type="sldNum" sz="quarter" idx="12"/>
          </p:nvPr>
        </p:nvSpPr>
        <p:spPr/>
        <p:txBody>
          <a:bodyPr/>
          <a:lstStyle/>
          <a:p>
            <a:fld id="{5EE24C92-1265-4741-8F9F-404A15D9386E}" type="slidenum">
              <a:rPr lang="en-US" smtClean="0"/>
              <a:t>44</a:t>
            </a:fld>
            <a:endParaRPr lang="en-US"/>
          </a:p>
        </p:txBody>
      </p:sp>
      <p:pic>
        <p:nvPicPr>
          <p:cNvPr id="11" name="Picture 10">
            <a:extLst>
              <a:ext uri="{FF2B5EF4-FFF2-40B4-BE49-F238E27FC236}">
                <a16:creationId xmlns:a16="http://schemas.microsoft.com/office/drawing/2014/main" id="{B310BDCF-641C-F020-16C6-B726053C21A0}"/>
              </a:ext>
            </a:extLst>
          </p:cNvPr>
          <p:cNvPicPr>
            <a:picLocks noChangeAspect="1"/>
          </p:cNvPicPr>
          <p:nvPr/>
        </p:nvPicPr>
        <p:blipFill>
          <a:blip r:embed="rId2"/>
          <a:stretch>
            <a:fillRect/>
          </a:stretch>
        </p:blipFill>
        <p:spPr>
          <a:xfrm>
            <a:off x="3078830" y="2770343"/>
            <a:ext cx="5906324" cy="581106"/>
          </a:xfrm>
          <a:prstGeom prst="rect">
            <a:avLst/>
          </a:prstGeom>
        </p:spPr>
      </p:pic>
      <p:pic>
        <p:nvPicPr>
          <p:cNvPr id="13" name="Picture 12">
            <a:extLst>
              <a:ext uri="{FF2B5EF4-FFF2-40B4-BE49-F238E27FC236}">
                <a16:creationId xmlns:a16="http://schemas.microsoft.com/office/drawing/2014/main" id="{1DE31222-367D-72A9-B95E-A2CE3F45DF80}"/>
              </a:ext>
            </a:extLst>
          </p:cNvPr>
          <p:cNvPicPr>
            <a:picLocks noChangeAspect="1"/>
          </p:cNvPicPr>
          <p:nvPr/>
        </p:nvPicPr>
        <p:blipFill>
          <a:blip r:embed="rId3"/>
          <a:stretch>
            <a:fillRect/>
          </a:stretch>
        </p:blipFill>
        <p:spPr>
          <a:xfrm>
            <a:off x="3078830" y="3351449"/>
            <a:ext cx="4763165" cy="581106"/>
          </a:xfrm>
          <a:prstGeom prst="rect">
            <a:avLst/>
          </a:prstGeom>
        </p:spPr>
      </p:pic>
      <p:pic>
        <p:nvPicPr>
          <p:cNvPr id="15" name="Picture 14">
            <a:extLst>
              <a:ext uri="{FF2B5EF4-FFF2-40B4-BE49-F238E27FC236}">
                <a16:creationId xmlns:a16="http://schemas.microsoft.com/office/drawing/2014/main" id="{9CB73FED-A718-0648-7129-1CE6CA32BA67}"/>
              </a:ext>
            </a:extLst>
          </p:cNvPr>
          <p:cNvPicPr>
            <a:picLocks noChangeAspect="1"/>
          </p:cNvPicPr>
          <p:nvPr/>
        </p:nvPicPr>
        <p:blipFill>
          <a:blip r:embed="rId4"/>
          <a:stretch>
            <a:fillRect/>
          </a:stretch>
        </p:blipFill>
        <p:spPr>
          <a:xfrm>
            <a:off x="7926212" y="3351449"/>
            <a:ext cx="800212" cy="533474"/>
          </a:xfrm>
          <a:prstGeom prst="rect">
            <a:avLst/>
          </a:prstGeom>
        </p:spPr>
      </p:pic>
      <p:pic>
        <p:nvPicPr>
          <p:cNvPr id="17" name="Picture 16">
            <a:extLst>
              <a:ext uri="{FF2B5EF4-FFF2-40B4-BE49-F238E27FC236}">
                <a16:creationId xmlns:a16="http://schemas.microsoft.com/office/drawing/2014/main" id="{F73F934F-912F-AFC4-2C52-71856C831AFA}"/>
              </a:ext>
            </a:extLst>
          </p:cNvPr>
          <p:cNvPicPr>
            <a:picLocks noChangeAspect="1"/>
          </p:cNvPicPr>
          <p:nvPr/>
        </p:nvPicPr>
        <p:blipFill>
          <a:blip r:embed="rId5"/>
          <a:stretch>
            <a:fillRect/>
          </a:stretch>
        </p:blipFill>
        <p:spPr>
          <a:xfrm>
            <a:off x="1664170" y="1865342"/>
            <a:ext cx="8735644" cy="905001"/>
          </a:xfrm>
          <a:prstGeom prst="rect">
            <a:avLst/>
          </a:prstGeom>
        </p:spPr>
      </p:pic>
    </p:spTree>
    <p:extLst>
      <p:ext uri="{BB962C8B-B14F-4D97-AF65-F5344CB8AC3E}">
        <p14:creationId xmlns:p14="http://schemas.microsoft.com/office/powerpoint/2010/main" val="21104239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C1D85-8610-81C6-A4BB-6400857DA1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4AE9442-B1D6-F825-7296-94DDA68CC07C}"/>
              </a:ext>
            </a:extLst>
          </p:cNvPr>
          <p:cNvSpPr txBox="1">
            <a:spLocks noGrp="1"/>
          </p:cNvSpPr>
          <p:nvPr>
            <p:ph type="title"/>
          </p:nvPr>
        </p:nvSpPr>
        <p:spPr>
          <a:xfrm>
            <a:off x="257167" y="800208"/>
            <a:ext cx="5503333" cy="673753"/>
          </a:xfrm>
          <a:prstGeom prst="rect">
            <a:avLst/>
          </a:prstGeom>
        </p:spPr>
        <p:txBody>
          <a:bodyPr vert="horz" wrap="square" lIns="0" tIns="16933" rIns="0" bIns="0" rtlCol="0" anchor="ctr">
            <a:spAutoFit/>
          </a:bodyPr>
          <a:lstStyle/>
          <a:p>
            <a:pPr marL="16933">
              <a:lnSpc>
                <a:spcPct val="100000"/>
              </a:lnSpc>
              <a:spcBef>
                <a:spcPts val="133"/>
              </a:spcBef>
            </a:pPr>
            <a:r>
              <a:rPr sz="4267" spc="-13" dirty="0">
                <a:solidFill>
                  <a:srgbClr val="1A1A1A"/>
                </a:solidFill>
              </a:rPr>
              <a:t>Simple</a:t>
            </a:r>
            <a:r>
              <a:rPr sz="4267" spc="-53" dirty="0">
                <a:solidFill>
                  <a:srgbClr val="1A1A1A"/>
                </a:solidFill>
              </a:rPr>
              <a:t> </a:t>
            </a:r>
            <a:r>
              <a:rPr sz="4267" spc="-7" dirty="0">
                <a:solidFill>
                  <a:srgbClr val="1A1A1A"/>
                </a:solidFill>
              </a:rPr>
              <a:t>RNN</a:t>
            </a:r>
            <a:r>
              <a:rPr sz="4267" spc="-40" dirty="0">
                <a:solidFill>
                  <a:srgbClr val="1A1A1A"/>
                </a:solidFill>
              </a:rPr>
              <a:t> </a:t>
            </a:r>
            <a:r>
              <a:rPr sz="4267" spc="-7" dirty="0">
                <a:solidFill>
                  <a:srgbClr val="1A1A1A"/>
                </a:solidFill>
              </a:rPr>
              <a:t>vs</a:t>
            </a:r>
            <a:r>
              <a:rPr sz="4267" spc="-40" dirty="0">
                <a:solidFill>
                  <a:srgbClr val="1A1A1A"/>
                </a:solidFill>
              </a:rPr>
              <a:t> </a:t>
            </a:r>
            <a:r>
              <a:rPr sz="4267" spc="-7" dirty="0">
                <a:solidFill>
                  <a:srgbClr val="1A1A1A"/>
                </a:solidFill>
              </a:rPr>
              <a:t>LSTM</a:t>
            </a:r>
            <a:endParaRPr sz="4267"/>
          </a:p>
        </p:txBody>
      </p:sp>
      <p:pic>
        <p:nvPicPr>
          <p:cNvPr id="3" name="object 3">
            <a:extLst>
              <a:ext uri="{FF2B5EF4-FFF2-40B4-BE49-F238E27FC236}">
                <a16:creationId xmlns:a16="http://schemas.microsoft.com/office/drawing/2014/main" id="{C56862B4-F84F-64AC-F807-31BE952574B1}"/>
              </a:ext>
            </a:extLst>
          </p:cNvPr>
          <p:cNvPicPr/>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486400" y="2084831"/>
            <a:ext cx="6026987" cy="3633825"/>
          </a:xfrm>
          <a:prstGeom prst="rect">
            <a:avLst/>
          </a:prstGeom>
        </p:spPr>
      </p:pic>
      <p:sp>
        <p:nvSpPr>
          <p:cNvPr id="4" name="object 4">
            <a:extLst>
              <a:ext uri="{FF2B5EF4-FFF2-40B4-BE49-F238E27FC236}">
                <a16:creationId xmlns:a16="http://schemas.microsoft.com/office/drawing/2014/main" id="{8EEDB188-E60E-F89B-290F-2366DB005D51}"/>
              </a:ext>
            </a:extLst>
          </p:cNvPr>
          <p:cNvSpPr txBox="1"/>
          <p:nvPr/>
        </p:nvSpPr>
        <p:spPr>
          <a:xfrm>
            <a:off x="502920" y="2084831"/>
            <a:ext cx="4215384" cy="3723819"/>
          </a:xfrm>
          <a:prstGeom prst="rect">
            <a:avLst/>
          </a:prstGeom>
        </p:spPr>
        <p:txBody>
          <a:bodyPr vert="horz" wrap="square" lIns="0" tIns="16933" rIns="0" bIns="0" rtlCol="0">
            <a:spAutoFit/>
          </a:bodyPr>
          <a:lstStyle/>
          <a:p>
            <a:pPr marL="422476" marR="604505" lvl="0" indent="-406390" algn="l" defTabSz="914400" rtl="0" eaLnBrk="1" fontAlgn="auto" latinLnBrk="0" hangingPunct="1">
              <a:lnSpc>
                <a:spcPct val="100000"/>
              </a:lnSpc>
              <a:spcBef>
                <a:spcPts val="133"/>
              </a:spcBef>
              <a:spcAft>
                <a:spcPts val="0"/>
              </a:spcAft>
              <a:buClrTx/>
              <a:buSzTx/>
              <a:buFontTx/>
              <a:buChar char="•"/>
              <a:tabLst>
                <a:tab pos="422476" algn="l"/>
                <a:tab pos="423323"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LSTM</a:t>
            </a:r>
            <a:r>
              <a:rPr kumimoji="0" sz="2667" b="0" i="0" u="none" strike="noStrike" kern="1200" cap="none" spc="-47"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is</a:t>
            </a:r>
            <a:r>
              <a:rPr kumimoji="0" sz="2667" b="0" i="0" u="none" strike="noStrike" kern="1200" cap="none" spc="-40"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even</a:t>
            </a:r>
            <a:r>
              <a:rPr kumimoji="0" sz="2667" b="0" i="0" u="none" strike="noStrike" kern="1200" cap="none" spc="-47"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more </a:t>
            </a:r>
            <a:r>
              <a:rPr kumimoji="0" sz="2667" b="0" i="0" u="none" strike="noStrike" kern="1200" cap="none" spc="-720"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slower </a:t>
            </a:r>
            <a:r>
              <a:rPr kumimoji="0" sz="2667" b="0" i="0" u="none" strike="noStrike" kern="1200" cap="none" spc="-7" normalizeH="0" baseline="0" noProof="0" dirty="0">
                <a:ln>
                  <a:noFill/>
                </a:ln>
                <a:solidFill>
                  <a:prstClr val="black"/>
                </a:solidFill>
                <a:effectLst/>
                <a:uLnTx/>
                <a:uFillTx/>
                <a:latin typeface="Arial"/>
                <a:ea typeface="+mn-ea"/>
                <a:cs typeface="Arial"/>
              </a:rPr>
              <a:t>to train as </a:t>
            </a:r>
            <a:r>
              <a:rPr kumimoji="0" sz="2667" b="0" i="0" u="none" strike="noStrike" kern="1200" cap="none" spc="0" normalizeH="0" baseline="0" noProof="0" dirty="0">
                <a:ln>
                  <a:noFill/>
                </a:ln>
                <a:solidFill>
                  <a:prstClr val="black"/>
                </a:solidFill>
                <a:effectLst/>
                <a:uLnTx/>
                <a:uFillTx/>
                <a:latin typeface="Arial"/>
                <a:ea typeface="+mn-ea"/>
                <a:cs typeface="Arial"/>
              </a:rPr>
              <a:t> compared</a:t>
            </a:r>
            <a:r>
              <a:rPr kumimoji="0" sz="2667" b="0" i="0" u="none" strike="noStrike" kern="1200" cap="none" spc="-40"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to</a:t>
            </a:r>
            <a:r>
              <a:rPr kumimoji="0" sz="2667" b="0" i="0" u="none" strike="noStrike" kern="1200" cap="none" spc="-33"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RNN</a:t>
            </a:r>
            <a:endParaRPr kumimoji="0" lang="en-US" sz="2667" b="0" i="0" u="none" strike="noStrike" kern="1200" cap="none" spc="-7" normalizeH="0" baseline="0" noProof="0" dirty="0">
              <a:ln>
                <a:noFill/>
              </a:ln>
              <a:solidFill>
                <a:prstClr val="black"/>
              </a:solidFill>
              <a:effectLst/>
              <a:uLnTx/>
              <a:uFillTx/>
              <a:latin typeface="Arial"/>
              <a:ea typeface="+mn-ea"/>
              <a:cs typeface="Arial"/>
            </a:endParaRPr>
          </a:p>
          <a:p>
            <a:pPr marL="422476" marR="604505" lvl="0" indent="-406390" algn="l" defTabSz="914400" rtl="0" eaLnBrk="1" fontAlgn="auto" latinLnBrk="0" hangingPunct="1">
              <a:lnSpc>
                <a:spcPct val="100000"/>
              </a:lnSpc>
              <a:spcBef>
                <a:spcPts val="133"/>
              </a:spcBef>
              <a:spcAft>
                <a:spcPts val="0"/>
              </a:spcAft>
              <a:buClrTx/>
              <a:buSzTx/>
              <a:buFontTx/>
              <a:buChar char="•"/>
              <a:tabLst>
                <a:tab pos="422476" algn="l"/>
                <a:tab pos="423323" algn="l"/>
              </a:tabLst>
              <a:defRPr/>
            </a:pPr>
            <a:endParaRPr kumimoji="0" sz="2667" b="0" i="0" u="none" strike="noStrike" kern="1200" cap="none" spc="0" normalizeH="0" baseline="0" noProof="0" dirty="0">
              <a:ln>
                <a:noFill/>
              </a:ln>
              <a:solidFill>
                <a:prstClr val="black"/>
              </a:solidFill>
              <a:effectLst/>
              <a:uLnTx/>
              <a:uFillTx/>
              <a:latin typeface="Arial"/>
              <a:ea typeface="+mn-ea"/>
              <a:cs typeface="Arial"/>
            </a:endParaRPr>
          </a:p>
          <a:p>
            <a:pPr marL="422476" marR="473275" lvl="0" indent="-406390" algn="l" defTabSz="914400" rtl="0" eaLnBrk="1" fontAlgn="auto" latinLnBrk="0" hangingPunct="1">
              <a:lnSpc>
                <a:spcPct val="100000"/>
              </a:lnSpc>
              <a:spcBef>
                <a:spcPts val="0"/>
              </a:spcBef>
              <a:spcAft>
                <a:spcPts val="0"/>
              </a:spcAft>
              <a:buClrTx/>
              <a:buSzTx/>
              <a:buFontTx/>
              <a:buChar char="•"/>
              <a:tabLst>
                <a:tab pos="422476" algn="l"/>
                <a:tab pos="423323" algn="l"/>
              </a:tabLst>
              <a:defRPr/>
            </a:pPr>
            <a:r>
              <a:rPr kumimoji="0" sz="2667" b="0" i="0" u="none" strike="noStrike" kern="1200" cap="none" spc="-33" normalizeH="0" baseline="0" noProof="0" dirty="0">
                <a:ln>
                  <a:noFill/>
                </a:ln>
                <a:solidFill>
                  <a:prstClr val="black"/>
                </a:solidFill>
                <a:effectLst/>
                <a:uLnTx/>
                <a:uFillTx/>
                <a:latin typeface="Arial"/>
                <a:ea typeface="+mn-ea"/>
                <a:cs typeface="Arial"/>
              </a:rPr>
              <a:t>Vanishing</a:t>
            </a:r>
            <a:r>
              <a:rPr kumimoji="0" sz="2667" b="0" i="0" u="none" strike="noStrike" kern="1200" cap="none" spc="-27"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gradient </a:t>
            </a:r>
            <a:r>
              <a:rPr kumimoji="0" sz="2667" b="0" i="0" u="none" strike="noStrike" kern="1200" cap="none" spc="0"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problem</a:t>
            </a:r>
            <a:r>
              <a:rPr kumimoji="0" sz="2667" b="0" i="0" u="none" strike="noStrike" kern="1200" cap="none" spc="-67"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still</a:t>
            </a:r>
            <a:r>
              <a:rPr kumimoji="0" sz="2667" b="0" i="0" u="none" strike="noStrike" kern="1200" cap="none" spc="-67"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persists</a:t>
            </a:r>
            <a:endParaRPr kumimoji="0" lang="en-US" sz="2667" b="0" i="0" u="none" strike="noStrike" kern="1200" cap="none" spc="-7" normalizeH="0" baseline="0" noProof="0" dirty="0">
              <a:ln>
                <a:noFill/>
              </a:ln>
              <a:solidFill>
                <a:prstClr val="black"/>
              </a:solidFill>
              <a:effectLst/>
              <a:uLnTx/>
              <a:uFillTx/>
              <a:latin typeface="Arial"/>
              <a:ea typeface="+mn-ea"/>
              <a:cs typeface="Arial"/>
            </a:endParaRPr>
          </a:p>
          <a:p>
            <a:pPr marL="422476" marR="473275" lvl="0" indent="-406390" algn="l" defTabSz="914400" rtl="0" eaLnBrk="1" fontAlgn="auto" latinLnBrk="0" hangingPunct="1">
              <a:lnSpc>
                <a:spcPct val="100000"/>
              </a:lnSpc>
              <a:spcBef>
                <a:spcPts val="0"/>
              </a:spcBef>
              <a:spcAft>
                <a:spcPts val="0"/>
              </a:spcAft>
              <a:buClrTx/>
              <a:buSzTx/>
              <a:buFontTx/>
              <a:buChar char="•"/>
              <a:tabLst>
                <a:tab pos="422476" algn="l"/>
                <a:tab pos="423323" algn="l"/>
              </a:tabLst>
              <a:defRPr/>
            </a:pPr>
            <a:endParaRPr kumimoji="0" sz="2667" b="0" i="0" u="none" strike="noStrike" kern="1200" cap="none" spc="0" normalizeH="0" baseline="0" noProof="0" dirty="0">
              <a:ln>
                <a:noFill/>
              </a:ln>
              <a:solidFill>
                <a:prstClr val="black"/>
              </a:solidFill>
              <a:effectLst/>
              <a:uLnTx/>
              <a:uFillTx/>
              <a:latin typeface="Arial"/>
              <a:ea typeface="+mn-ea"/>
              <a:cs typeface="Arial"/>
            </a:endParaRPr>
          </a:p>
          <a:p>
            <a:pPr marL="422476" marR="6773" lvl="0" indent="-406390" algn="l" defTabSz="914400" rtl="0" eaLnBrk="1" fontAlgn="auto" latinLnBrk="0" hangingPunct="1">
              <a:lnSpc>
                <a:spcPct val="100000"/>
              </a:lnSpc>
              <a:spcBef>
                <a:spcPts val="0"/>
              </a:spcBef>
              <a:spcAft>
                <a:spcPts val="0"/>
              </a:spcAft>
              <a:buClrTx/>
              <a:buSzTx/>
              <a:buFontTx/>
              <a:buChar char="•"/>
              <a:tabLst>
                <a:tab pos="422476" algn="l"/>
                <a:tab pos="423323"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Sequential</a:t>
            </a:r>
            <a:r>
              <a:rPr kumimoji="0" sz="2667" b="0" i="0" u="none" strike="noStrike" kern="1200" cap="none" spc="-133"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computation </a:t>
            </a:r>
            <a:r>
              <a:rPr kumimoji="0" sz="2667" b="0" i="0" u="none" strike="noStrike" kern="1200" cap="none" spc="-727"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inhibits</a:t>
            </a:r>
            <a:r>
              <a:rPr kumimoji="0" sz="2667" b="0" i="0" u="none" strike="noStrike" kern="1200" cap="none" spc="-40"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parallelization</a:t>
            </a:r>
            <a:endParaRPr kumimoji="0" sz="2667" b="0" i="0" u="none" strike="noStrike" kern="1200" cap="none" spc="0" normalizeH="0" baseline="0" noProof="0" dirty="0">
              <a:ln>
                <a:noFill/>
              </a:ln>
              <a:solidFill>
                <a:prstClr val="black"/>
              </a:solidFill>
              <a:effectLst/>
              <a:uLnTx/>
              <a:uFillTx/>
              <a:latin typeface="Arial"/>
              <a:ea typeface="+mn-ea"/>
              <a:cs typeface="Arial"/>
            </a:endParaRPr>
          </a:p>
        </p:txBody>
      </p:sp>
      <p:sp>
        <p:nvSpPr>
          <p:cNvPr id="5" name="Slide Number Placeholder 4">
            <a:extLst>
              <a:ext uri="{FF2B5EF4-FFF2-40B4-BE49-F238E27FC236}">
                <a16:creationId xmlns:a16="http://schemas.microsoft.com/office/drawing/2014/main" id="{5B7BB7BA-E121-A348-9CF2-CA3C26711417}"/>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186602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39A6A7-5668-D891-9E1A-C2075CBAD34E}"/>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2940E6EC-4B64-66B1-DA83-3FA6A040B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BCECEA5-E428-49C4-5A08-E08A33714D5D}"/>
              </a:ext>
            </a:extLst>
          </p:cNvPr>
          <p:cNvSpPr>
            <a:spLocks noGrp="1"/>
          </p:cNvSpPr>
          <p:nvPr>
            <p:ph type="ctrTitle"/>
          </p:nvPr>
        </p:nvSpPr>
        <p:spPr>
          <a:xfrm>
            <a:off x="874815" y="798703"/>
            <a:ext cx="5221185" cy="2557145"/>
          </a:xfrm>
        </p:spPr>
        <p:txBody>
          <a:bodyPr anchor="b">
            <a:normAutofit/>
          </a:bodyPr>
          <a:lstStyle/>
          <a:p>
            <a:r>
              <a:rPr lang="en-US" b="1" dirty="0">
                <a:latin typeface="Times New Roman" panose="02020603050405020304" pitchFamily="18" charset="0"/>
                <a:cs typeface="Times New Roman" panose="02020603050405020304" pitchFamily="18" charset="0"/>
              </a:rPr>
              <a:t>Deep Learning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(DL)</a:t>
            </a:r>
          </a:p>
        </p:txBody>
      </p:sp>
      <p:sp>
        <p:nvSpPr>
          <p:cNvPr id="3" name="Subtitle 2">
            <a:extLst>
              <a:ext uri="{FF2B5EF4-FFF2-40B4-BE49-F238E27FC236}">
                <a16:creationId xmlns:a16="http://schemas.microsoft.com/office/drawing/2014/main" id="{55C4BFCB-9BAB-CE35-F044-FE27ABDE5E63}"/>
              </a:ext>
            </a:extLst>
          </p:cNvPr>
          <p:cNvSpPr>
            <a:spLocks noGrp="1"/>
          </p:cNvSpPr>
          <p:nvPr>
            <p:ph type="subTitle" idx="1"/>
          </p:nvPr>
        </p:nvSpPr>
        <p:spPr>
          <a:xfrm>
            <a:off x="440663" y="3078283"/>
            <a:ext cx="6429744" cy="3779717"/>
          </a:xfrm>
        </p:spPr>
        <p:txBody>
          <a:bodyPr anchor="t">
            <a:normAutofit/>
          </a:bodyPr>
          <a:lstStyle/>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Lab6</a:t>
            </a:r>
          </a:p>
          <a:p>
            <a:br>
              <a:rPr lang="en-US" sz="700" dirty="0">
                <a:latin typeface="Times New Roman" panose="02020603050405020304" pitchFamily="18" charset="0"/>
                <a:cs typeface="Times New Roman" panose="02020603050405020304" pitchFamily="18" charset="0"/>
              </a:rPr>
            </a:br>
            <a:r>
              <a:rPr lang="en-GB" sz="2800" b="1" dirty="0">
                <a:latin typeface="Times New Roman" panose="02020603050405020304" pitchFamily="18" charset="0"/>
                <a:cs typeface="Times New Roman" panose="02020603050405020304" pitchFamily="18" charset="0"/>
              </a:rPr>
              <a:t>Natural Language Processing (NLP)</a:t>
            </a:r>
          </a:p>
          <a:p>
            <a:r>
              <a:rPr lang="en-US" sz="2800" b="1" dirty="0">
                <a:solidFill>
                  <a:srgbClr val="FF0000"/>
                </a:solidFill>
                <a:latin typeface="Times New Roman" panose="02020603050405020304" pitchFamily="18" charset="0"/>
                <a:cs typeface="Times New Roman" panose="02020603050405020304" pitchFamily="18" charset="0"/>
              </a:rPr>
              <a:t> </a:t>
            </a:r>
          </a:p>
          <a:p>
            <a:r>
              <a:rPr lang="en-US" sz="2800" b="1" dirty="0">
                <a:solidFill>
                  <a:srgbClr val="FF0000"/>
                </a:solidFill>
                <a:latin typeface="Times New Roman" panose="02020603050405020304" pitchFamily="18" charset="0"/>
                <a:cs typeface="Times New Roman" panose="02020603050405020304" pitchFamily="18" charset="0"/>
              </a:rPr>
              <a:t>Gated Recurrent Unit (GRU)</a:t>
            </a:r>
          </a:p>
        </p:txBody>
      </p:sp>
      <p:sp>
        <p:nvSpPr>
          <p:cNvPr id="63" name="Freeform: Shape 62">
            <a:extLst>
              <a:ext uri="{FF2B5EF4-FFF2-40B4-BE49-F238E27FC236}">
                <a16:creationId xmlns:a16="http://schemas.microsoft.com/office/drawing/2014/main" id="{A12FB84C-42BB-53C9-CF88-6D299934D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Shape 64">
            <a:extLst>
              <a:ext uri="{FF2B5EF4-FFF2-40B4-BE49-F238E27FC236}">
                <a16:creationId xmlns:a16="http://schemas.microsoft.com/office/drawing/2014/main" id="{2C76BC1D-B288-9BD8-A03F-458FE976AC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Freeform: Shape 66">
            <a:extLst>
              <a:ext uri="{FF2B5EF4-FFF2-40B4-BE49-F238E27FC236}">
                <a16:creationId xmlns:a16="http://schemas.microsoft.com/office/drawing/2014/main" id="{29E1C51D-45B4-26D3-D855-F121AFB9C2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Freeform: Shape 68">
            <a:extLst>
              <a:ext uri="{FF2B5EF4-FFF2-40B4-BE49-F238E27FC236}">
                <a16:creationId xmlns:a16="http://schemas.microsoft.com/office/drawing/2014/main" id="{05CD830A-51EE-86E4-684B-6081234FE3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79FDD8A4-664E-A002-54E5-6B7FBCF72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Freeform: Shape 78">
            <a:extLst>
              <a:ext uri="{FF2B5EF4-FFF2-40B4-BE49-F238E27FC236}">
                <a16:creationId xmlns:a16="http://schemas.microsoft.com/office/drawing/2014/main" id="{5F5D7212-AC55-1BE6-82D1-2BA7A72DB0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98" name="Picture 2" descr="Visión - Iconos gratis de computadora">
            <a:extLst>
              <a:ext uri="{FF2B5EF4-FFF2-40B4-BE49-F238E27FC236}">
                <a16:creationId xmlns:a16="http://schemas.microsoft.com/office/drawing/2014/main" id="{B365B81D-AD6E-F9F3-D638-37788C803B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9392" y="747640"/>
            <a:ext cx="48768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logo with blue lines and a letter h&#10;&#10;Description automatically generated">
            <a:extLst>
              <a:ext uri="{FF2B5EF4-FFF2-40B4-BE49-F238E27FC236}">
                <a16:creationId xmlns:a16="http://schemas.microsoft.com/office/drawing/2014/main" id="{10905ED4-A90C-6C26-7EC5-41EE4D502A22}"/>
              </a:ext>
            </a:extLst>
          </p:cNvPr>
          <p:cNvPicPr>
            <a:picLocks noChangeAspect="1"/>
          </p:cNvPicPr>
          <p:nvPr/>
        </p:nvPicPr>
        <p:blipFill>
          <a:blip r:embed="rId3">
            <a:extLst>
              <a:ext uri="{28A0092B-C50C-407E-A947-70E740481C1C}">
                <a14:useLocalDpi xmlns:a14="http://schemas.microsoft.com/office/drawing/2010/main" val="0"/>
              </a:ext>
            </a:extLst>
          </a:blip>
          <a:srcRect l="18741" r="17967"/>
          <a:stretch/>
        </p:blipFill>
        <p:spPr>
          <a:xfrm>
            <a:off x="7461299" y="1903445"/>
            <a:ext cx="3182522" cy="2164702"/>
          </a:xfrm>
          <a:prstGeom prst="rect">
            <a:avLst/>
          </a:prstGeom>
        </p:spPr>
      </p:pic>
    </p:spTree>
    <p:extLst>
      <p:ext uri="{BB962C8B-B14F-4D97-AF65-F5344CB8AC3E}">
        <p14:creationId xmlns:p14="http://schemas.microsoft.com/office/powerpoint/2010/main" val="24616123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9590B52-B88A-20CA-6B46-4F7578A52E3F}"/>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82F5985B-80AD-C55B-C75A-C481D885419A}"/>
              </a:ext>
            </a:extLst>
          </p:cNvPr>
          <p:cNvSpPr txBox="1">
            <a:spLocks noGrp="1"/>
          </p:cNvSpPr>
          <p:nvPr>
            <p:ph type="ctrTitle"/>
          </p:nvPr>
        </p:nvSpPr>
        <p:spPr>
          <a:xfrm>
            <a:off x="1524000" y="1606995"/>
            <a:ext cx="9144000" cy="2387600"/>
          </a:xfrm>
        </p:spPr>
        <p:txBody>
          <a:bodyPr vert="horz" lIns="0" tIns="16933" rIns="0" bIns="0" rtlCol="0" anchor="b">
            <a:normAutofit/>
          </a:bodyPr>
          <a:lstStyle/>
          <a:p>
            <a:pPr marL="16933">
              <a:spcBef>
                <a:spcPts val="133"/>
              </a:spcBef>
            </a:pPr>
            <a:r>
              <a:rPr lang="en-GB" b="1" dirty="0">
                <a:latin typeface="Times New Roman" panose="02020603050405020304" pitchFamily="18" charset="0"/>
                <a:cs typeface="Times New Roman" panose="02020603050405020304" pitchFamily="18" charset="0"/>
              </a:rPr>
              <a:t>Gated Recurrent Unit (</a:t>
            </a:r>
            <a:r>
              <a:rPr lang="en-US" b="1" dirty="0">
                <a:latin typeface="Times New Roman" panose="02020603050405020304" pitchFamily="18" charset="0"/>
                <a:cs typeface="Times New Roman" panose="02020603050405020304" pitchFamily="18" charset="0"/>
              </a:rPr>
              <a:t>GRU</a:t>
            </a:r>
            <a:r>
              <a:rPr lang="en-GB" b="1" dirty="0">
                <a:latin typeface="Times New Roman" panose="02020603050405020304" pitchFamily="18" charset="0"/>
                <a:cs typeface="Times New Roman" panose="02020603050405020304" pitchFamily="18" charset="0"/>
              </a:rPr>
              <a:t>)</a:t>
            </a:r>
          </a:p>
        </p:txBody>
      </p:sp>
      <p:sp>
        <p:nvSpPr>
          <p:cNvPr id="2" name="Slide Number Placeholder 1">
            <a:extLst>
              <a:ext uri="{FF2B5EF4-FFF2-40B4-BE49-F238E27FC236}">
                <a16:creationId xmlns:a16="http://schemas.microsoft.com/office/drawing/2014/main" id="{2FB23153-225A-3BAD-32ED-D345645A5C7F}"/>
              </a:ext>
            </a:extLst>
          </p:cNvPr>
          <p:cNvSpPr>
            <a:spLocks noGrp="1"/>
          </p:cNvSpPr>
          <p:nvPr>
            <p:ph type="sldNum" sz="quarter" idx="12"/>
          </p:nvPr>
        </p:nvSpPr>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47</a:t>
            </a:fld>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53042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A096B1-F780-1543-15D9-34092140C634}"/>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4767453F-A55B-F35A-4071-C2B291EBADAD}"/>
              </a:ext>
            </a:extLst>
          </p:cNvPr>
          <p:cNvSpPr txBox="1">
            <a:spLocks noGrp="1"/>
          </p:cNvSpPr>
          <p:nvPr>
            <p:ph type="title"/>
          </p:nvPr>
        </p:nvSpPr>
        <p:spPr>
          <a:xfrm>
            <a:off x="433931" y="212002"/>
            <a:ext cx="7352907" cy="846777"/>
          </a:xfrm>
          <a:prstGeom prst="rect">
            <a:avLst/>
          </a:prstGeom>
        </p:spPr>
        <p:txBody>
          <a:bodyPr vert="horz" lIns="91440" tIns="45720" rIns="91440" bIns="45720" rtlCol="0" anchor="b">
            <a:normAutofit/>
          </a:bodyPr>
          <a:lstStyle/>
          <a:p>
            <a:pPr marL="16933" algn="l" rtl="0">
              <a:lnSpc>
                <a:spcPct val="90000"/>
              </a:lnSpc>
              <a:spcBef>
                <a:spcPct val="0"/>
              </a:spcBef>
            </a:pPr>
            <a:r>
              <a:rPr lang="en-US" sz="4000" b="1" kern="1200" spc="93" dirty="0">
                <a:solidFill>
                  <a:schemeClr val="tx1"/>
                </a:solidFill>
                <a:latin typeface="+mj-lt"/>
                <a:ea typeface="+mj-ea"/>
                <a:cs typeface="+mj-cs"/>
              </a:rPr>
              <a:t>Gated Recurrent Unit (GRU)</a:t>
            </a:r>
            <a:endParaRPr lang="en-US" sz="4000" b="1" kern="1200" spc="87" dirty="0">
              <a:solidFill>
                <a:schemeClr val="tx1"/>
              </a:solidFill>
              <a:latin typeface="+mj-lt"/>
              <a:ea typeface="+mj-ea"/>
              <a:cs typeface="+mj-cs"/>
            </a:endParaRPr>
          </a:p>
        </p:txBody>
      </p:sp>
      <p:sp>
        <p:nvSpPr>
          <p:cNvPr id="9" name="object 9">
            <a:extLst>
              <a:ext uri="{FF2B5EF4-FFF2-40B4-BE49-F238E27FC236}">
                <a16:creationId xmlns:a16="http://schemas.microsoft.com/office/drawing/2014/main" id="{5BCFF87A-F463-976E-6D9C-A28F10F0E758}"/>
              </a:ext>
            </a:extLst>
          </p:cNvPr>
          <p:cNvSpPr txBox="1"/>
          <p:nvPr/>
        </p:nvSpPr>
        <p:spPr>
          <a:xfrm>
            <a:off x="164592" y="1325881"/>
            <a:ext cx="6129204" cy="5395594"/>
          </a:xfrm>
          <a:prstGeom prst="rect">
            <a:avLst/>
          </a:prstGeom>
        </p:spPr>
        <p:txBody>
          <a:bodyPr vert="horz" lIns="91440" tIns="45720" rIns="91440" bIns="45720" rtlCol="0" anchor="t">
            <a:normAutofit/>
          </a:bodyPr>
          <a:lstStyle/>
          <a:p>
            <a:pPr marR="0" lvl="0" algn="l" defTabSz="914400" rtl="0" eaLnBrk="1" fontAlgn="base" latinLnBrk="0" hangingPunct="1">
              <a:lnSpc>
                <a:spcPct val="90000"/>
              </a:lnSpc>
              <a:spcBef>
                <a:spcPts val="0"/>
              </a:spcBef>
              <a:spcAft>
                <a:spcPts val="1800"/>
              </a:spcAft>
              <a:buClrTx/>
              <a:buSzTx/>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Update Gate (z)</a:t>
            </a:r>
          </a:p>
          <a:p>
            <a:pPr lvl="1" indent="-228600" fontAlgn="base">
              <a:lnSpc>
                <a:spcPct val="90000"/>
              </a:lnSpc>
              <a:spcAft>
                <a:spcPts val="1800"/>
              </a:spcAft>
              <a:buFont typeface="Arial" panose="020B0604020202020204" pitchFamily="34" charset="0"/>
              <a:buChar char="•"/>
              <a:defRPr/>
            </a:pPr>
            <a:r>
              <a:rPr kumimoji="0" lang="en-US" sz="24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Controls how much past information is kept and how much new information is added.</a:t>
            </a:r>
          </a:p>
          <a:p>
            <a:pPr lvl="1" indent="-228600" fontAlgn="base">
              <a:lnSpc>
                <a:spcPct val="90000"/>
              </a:lnSpc>
              <a:spcAft>
                <a:spcPts val="1800"/>
              </a:spcAft>
              <a:buFont typeface="Arial" panose="020B0604020202020204" pitchFamily="34" charset="0"/>
              <a:buChar char="•"/>
              <a:defRPr/>
            </a:pPr>
            <a:r>
              <a:rPr kumimoji="0" lang="en-US" sz="24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Decides what portion of the hidden state should be updated with new input.</a:t>
            </a:r>
          </a:p>
          <a:p>
            <a:pPr marR="0" lvl="0" algn="l" defTabSz="914400" rtl="0" eaLnBrk="1" fontAlgn="base" latinLnBrk="0" hangingPunct="1">
              <a:lnSpc>
                <a:spcPct val="90000"/>
              </a:lnSpc>
              <a:spcBef>
                <a:spcPts val="0"/>
              </a:spcBef>
              <a:spcAft>
                <a:spcPts val="1800"/>
              </a:spcAft>
              <a:buClrTx/>
              <a:buSzTx/>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Reset Gate (r)</a:t>
            </a:r>
          </a:p>
          <a:p>
            <a:pPr lvl="1" indent="-228600" fontAlgn="base">
              <a:lnSpc>
                <a:spcPct val="90000"/>
              </a:lnSpc>
              <a:spcAft>
                <a:spcPts val="1800"/>
              </a:spcAft>
              <a:buFont typeface="Arial" panose="020B0604020202020204" pitchFamily="34" charset="0"/>
              <a:buChar char="•"/>
              <a:defRPr/>
            </a:pPr>
            <a:r>
              <a:rPr kumimoji="0" lang="en-US" sz="24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Controls how much of the past information to forget.</a:t>
            </a:r>
          </a:p>
          <a:p>
            <a:pPr lvl="1" indent="-228600" fontAlgn="base">
              <a:lnSpc>
                <a:spcPct val="90000"/>
              </a:lnSpc>
              <a:spcAft>
                <a:spcPts val="1800"/>
              </a:spcAft>
              <a:buFont typeface="Arial" panose="020B0604020202020204" pitchFamily="34" charset="0"/>
              <a:buChar char="•"/>
              <a:defRPr/>
            </a:pPr>
            <a:r>
              <a:rPr kumimoji="0" lang="en-US" sz="24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Helps the model reset its memory for processing new sequences.</a:t>
            </a:r>
            <a:endParaRPr kumimoji="0" lang="en-US" sz="2400" i="0" u="none" strike="noStrike" kern="1200" cap="none" spc="0" normalizeH="0" baseline="0" noProof="0" dirty="0">
              <a:ln>
                <a:noFill/>
              </a:ln>
              <a:solidFill>
                <a:srgbClr val="111111"/>
              </a:solidFill>
              <a:effectLst/>
              <a:uLnTx/>
              <a:uFillTx/>
              <a:latin typeface="Roboto" panose="02000000000000000000" pitchFamily="2" charset="0"/>
              <a:ea typeface="+mn-ea"/>
              <a:cs typeface="+mn-cs"/>
            </a:endParaRPr>
          </a:p>
        </p:txBody>
      </p:sp>
      <p:pic>
        <p:nvPicPr>
          <p:cNvPr id="1028" name="Picture 4" descr="Structure of the gated recurrent unit (GRU) cell. | Download Scientific ...">
            <a:extLst>
              <a:ext uri="{FF2B5EF4-FFF2-40B4-BE49-F238E27FC236}">
                <a16:creationId xmlns:a16="http://schemas.microsoft.com/office/drawing/2014/main" id="{A37502B6-C4C8-2BB9-BF8B-DEEC21899B0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96000" y="1235755"/>
            <a:ext cx="5931408" cy="5303157"/>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844A2302-A4D9-1A01-7178-3B29723AF590}"/>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600"/>
              </a:spcAft>
              <a:buClrTx/>
              <a:buSzTx/>
              <a:buFontTx/>
              <a:buNone/>
              <a:tabLst/>
              <a:defRPr/>
            </a:pPr>
            <a:fld id="{5EE24C92-1265-4741-8F9F-404A15D9386E}" type="slidenum">
              <a:rPr kumimoji="0" lang="en-US" sz="1200" b="0" i="0" u="none" strike="noStrike" kern="1200" cap="none" spc="0" normalizeH="0" baseline="0" noProof="0">
                <a:ln>
                  <a:noFill/>
                </a:ln>
                <a:solidFill>
                  <a:prstClr val="black">
                    <a:lumMod val="50000"/>
                    <a:lumOff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48</a:t>
            </a:fld>
            <a:endParaRPr kumimoji="0" lang="en-US" sz="1200" b="0" i="0" u="none" strike="noStrike" kern="1200" cap="none" spc="0" normalizeH="0" baseline="0" noProof="0">
              <a:ln>
                <a:noFill/>
              </a:ln>
              <a:solidFill>
                <a:prstClr val="black">
                  <a:lumMod val="50000"/>
                  <a:lumOff val="50000"/>
                </a:prstClr>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820B23B2-CD47-FFFC-2699-36E9AF3548F9}"/>
              </a:ext>
            </a:extLst>
          </p:cNvPr>
          <p:cNvPicPr>
            <a:picLocks noChangeAspect="1"/>
          </p:cNvPicPr>
          <p:nvPr/>
        </p:nvPicPr>
        <p:blipFill>
          <a:blip r:embed="rId4"/>
          <a:stretch>
            <a:fillRect/>
          </a:stretch>
        </p:blipFill>
        <p:spPr>
          <a:xfrm>
            <a:off x="2287417" y="1848735"/>
            <a:ext cx="6774287" cy="3773510"/>
          </a:xfrm>
          <a:prstGeom prst="rect">
            <a:avLst/>
          </a:prstGeom>
        </p:spPr>
      </p:pic>
    </p:spTree>
    <p:extLst>
      <p:ext uri="{BB962C8B-B14F-4D97-AF65-F5344CB8AC3E}">
        <p14:creationId xmlns:p14="http://schemas.microsoft.com/office/powerpoint/2010/main" val="23536759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66D58F-65CE-A65A-C5B6-291A6C7A1C2A}"/>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ECDC6ADC-F465-42DB-24C1-0F659DED0B69}"/>
              </a:ext>
            </a:extLst>
          </p:cNvPr>
          <p:cNvSpPr txBox="1">
            <a:spLocks noGrp="1"/>
          </p:cNvSpPr>
          <p:nvPr>
            <p:ph type="title"/>
          </p:nvPr>
        </p:nvSpPr>
        <p:spPr>
          <a:xfrm>
            <a:off x="433931" y="212002"/>
            <a:ext cx="7352907" cy="846777"/>
          </a:xfrm>
          <a:prstGeom prst="rect">
            <a:avLst/>
          </a:prstGeom>
        </p:spPr>
        <p:txBody>
          <a:bodyPr vert="horz" lIns="91440" tIns="45720" rIns="91440" bIns="45720" rtlCol="0" anchor="b">
            <a:normAutofit/>
          </a:bodyPr>
          <a:lstStyle/>
          <a:p>
            <a:pPr marL="16933" algn="l" rtl="0">
              <a:lnSpc>
                <a:spcPct val="90000"/>
              </a:lnSpc>
              <a:spcBef>
                <a:spcPct val="0"/>
              </a:spcBef>
            </a:pPr>
            <a:r>
              <a:rPr lang="en-US" sz="4000" b="1" kern="1200" spc="93" dirty="0">
                <a:solidFill>
                  <a:schemeClr val="tx1"/>
                </a:solidFill>
                <a:latin typeface="+mj-lt"/>
                <a:ea typeface="+mj-ea"/>
                <a:cs typeface="+mj-cs"/>
              </a:rPr>
              <a:t>Gated Recurrent Unit (GRU)</a:t>
            </a:r>
            <a:endParaRPr lang="en-US" sz="4000" b="1" kern="1200" spc="87" dirty="0">
              <a:solidFill>
                <a:schemeClr val="tx1"/>
              </a:solidFill>
              <a:latin typeface="+mj-lt"/>
              <a:ea typeface="+mj-ea"/>
              <a:cs typeface="+mj-cs"/>
            </a:endParaRPr>
          </a:p>
        </p:txBody>
      </p:sp>
      <p:sp>
        <p:nvSpPr>
          <p:cNvPr id="2" name="Slide Number Placeholder 1">
            <a:extLst>
              <a:ext uri="{FF2B5EF4-FFF2-40B4-BE49-F238E27FC236}">
                <a16:creationId xmlns:a16="http://schemas.microsoft.com/office/drawing/2014/main" id="{479AEF6A-1E8D-27BA-5525-0D918B0C48F5}"/>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600"/>
              </a:spcAft>
              <a:buClrTx/>
              <a:buSzTx/>
              <a:buFontTx/>
              <a:buNone/>
              <a:tabLst/>
              <a:defRPr/>
            </a:pPr>
            <a:fld id="{5EE24C92-1265-4741-8F9F-404A15D9386E}" type="slidenum">
              <a:rPr kumimoji="0" lang="en-US" sz="1200" b="0" i="0" u="none" strike="noStrike" kern="1200" cap="none" spc="0" normalizeH="0" baseline="0" noProof="0">
                <a:ln>
                  <a:noFill/>
                </a:ln>
                <a:solidFill>
                  <a:prstClr val="black">
                    <a:lumMod val="50000"/>
                    <a:lumOff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49</a:t>
            </a:fld>
            <a:endParaRPr kumimoji="0" lang="en-US" sz="1200" b="0" i="0" u="none" strike="noStrike" kern="1200" cap="none" spc="0" normalizeH="0" baseline="0" noProof="0">
              <a:ln>
                <a:noFill/>
              </a:ln>
              <a:solidFill>
                <a:prstClr val="black">
                  <a:lumMod val="50000"/>
                  <a:lumOff val="50000"/>
                </a:prstClr>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8F295DCA-23B0-F780-64D0-CCCC64E47A41}"/>
              </a:ext>
            </a:extLst>
          </p:cNvPr>
          <p:cNvPicPr>
            <a:picLocks noChangeAspect="1"/>
          </p:cNvPicPr>
          <p:nvPr/>
        </p:nvPicPr>
        <p:blipFill>
          <a:blip r:embed="rId3"/>
          <a:stretch>
            <a:fillRect/>
          </a:stretch>
        </p:blipFill>
        <p:spPr>
          <a:xfrm>
            <a:off x="2115282" y="1606585"/>
            <a:ext cx="7961436" cy="4434792"/>
          </a:xfrm>
          <a:prstGeom prst="rect">
            <a:avLst/>
          </a:prstGeom>
        </p:spPr>
      </p:pic>
    </p:spTree>
    <p:extLst>
      <p:ext uri="{BB962C8B-B14F-4D97-AF65-F5344CB8AC3E}">
        <p14:creationId xmlns:p14="http://schemas.microsoft.com/office/powerpoint/2010/main" val="23826616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44FDD7-45BD-ABE6-8D6C-E116835AABB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A291E0-6844-69E7-1209-AF1FF0B4F95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3514B098-5D93-577A-8441-01B30345BB5A}"/>
              </a:ext>
            </a:extLst>
          </p:cNvPr>
          <p:cNvPicPr>
            <a:picLocks noChangeAspect="1"/>
          </p:cNvPicPr>
          <p:nvPr/>
        </p:nvPicPr>
        <p:blipFill>
          <a:blip r:embed="rId3"/>
          <a:stretch>
            <a:fillRect/>
          </a:stretch>
        </p:blipFill>
        <p:spPr>
          <a:xfrm>
            <a:off x="5208530" y="794921"/>
            <a:ext cx="6972300" cy="5257800"/>
          </a:xfrm>
          <a:prstGeom prst="rect">
            <a:avLst/>
          </a:prstGeom>
        </p:spPr>
      </p:pic>
      <p:sp>
        <p:nvSpPr>
          <p:cNvPr id="10" name="TextBox 9">
            <a:extLst>
              <a:ext uri="{FF2B5EF4-FFF2-40B4-BE49-F238E27FC236}">
                <a16:creationId xmlns:a16="http://schemas.microsoft.com/office/drawing/2014/main" id="{D8711A51-43DB-3A03-3666-0CE44D93BFC0}"/>
              </a:ext>
            </a:extLst>
          </p:cNvPr>
          <p:cNvSpPr txBox="1"/>
          <p:nvPr/>
        </p:nvSpPr>
        <p:spPr>
          <a:xfrm>
            <a:off x="11170" y="285093"/>
            <a:ext cx="5318234" cy="5262979"/>
          </a:xfrm>
          <a:prstGeom prst="rect">
            <a:avLst/>
          </a:prstGeom>
          <a:noFill/>
        </p:spPr>
        <p:txBody>
          <a:bodyPr wrap="square">
            <a:spAutoFit/>
          </a:bodyPr>
          <a:lstStyle/>
          <a:p>
            <a:pPr>
              <a:buNone/>
            </a:pPr>
            <a:r>
              <a:rPr lang="en-US" sz="2800" b="1" dirty="0"/>
              <a:t>1️⃣ Inputs</a:t>
            </a:r>
          </a:p>
          <a:p>
            <a:pPr>
              <a:buNone/>
            </a:pPr>
            <a:r>
              <a:rPr lang="en-US" sz="2800" dirty="0"/>
              <a:t>At the bottom, you have:</a:t>
            </a:r>
          </a:p>
          <a:p>
            <a:pPr>
              <a:buFont typeface="Arial" panose="020B0604020202020204" pitchFamily="34" charset="0"/>
              <a:buChar char="•"/>
            </a:pPr>
            <a:r>
              <a:rPr lang="en-US" sz="2800" b="1" dirty="0"/>
              <a:t>xₜ (green circles)</a:t>
            </a:r>
            <a:r>
              <a:rPr lang="en-US" sz="2800" dirty="0"/>
              <a:t> → current input (for example, the current word).</a:t>
            </a:r>
          </a:p>
          <a:p>
            <a:pPr>
              <a:buFont typeface="Arial" panose="020B0604020202020204" pitchFamily="34" charset="0"/>
              <a:buChar char="•"/>
            </a:pPr>
            <a:r>
              <a:rPr lang="en-US" sz="2800" b="1" dirty="0"/>
              <a:t>hₜ₋₁ (red circles)</a:t>
            </a:r>
            <a:r>
              <a:rPr lang="en-US" sz="2800" dirty="0"/>
              <a:t> → previous hidden state (memory from the past).</a:t>
            </a:r>
          </a:p>
          <a:p>
            <a:pPr>
              <a:buFont typeface="Arial" panose="020B0604020202020204" pitchFamily="34" charset="0"/>
              <a:buChar char="•"/>
            </a:pPr>
            <a:endParaRPr lang="en-US" sz="2800" dirty="0"/>
          </a:p>
          <a:p>
            <a:pPr>
              <a:buNone/>
            </a:pPr>
            <a:r>
              <a:rPr lang="en-US" sz="2800" dirty="0"/>
              <a:t>These two are </a:t>
            </a:r>
            <a:r>
              <a:rPr lang="en-US" sz="2800" b="1" dirty="0"/>
              <a:t>concatenated (joined)</a:t>
            </a:r>
            <a:r>
              <a:rPr lang="en-US" sz="2800" dirty="0"/>
              <a:t> — that means we feed both into the GRU so it can decide what to remember or forget.</a:t>
            </a:r>
          </a:p>
        </p:txBody>
      </p:sp>
      <p:sp>
        <p:nvSpPr>
          <p:cNvPr id="11" name="Rectangle 10">
            <a:extLst>
              <a:ext uri="{FF2B5EF4-FFF2-40B4-BE49-F238E27FC236}">
                <a16:creationId xmlns:a16="http://schemas.microsoft.com/office/drawing/2014/main" id="{06B68775-6D11-7B5C-090B-96B500B72E4E}"/>
              </a:ext>
            </a:extLst>
          </p:cNvPr>
          <p:cNvSpPr/>
          <p:nvPr/>
        </p:nvSpPr>
        <p:spPr>
          <a:xfrm>
            <a:off x="5318235" y="1366345"/>
            <a:ext cx="914400" cy="93542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B03D30F-F0C2-F309-EB36-916C903D4696}"/>
              </a:ext>
            </a:extLst>
          </p:cNvPr>
          <p:cNvSpPr/>
          <p:nvPr/>
        </p:nvSpPr>
        <p:spPr>
          <a:xfrm>
            <a:off x="7209765" y="4963662"/>
            <a:ext cx="977463" cy="91162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9707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113884-80F8-9DAA-7602-1037430CD79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1AE5F7-D7E6-8312-4B70-F95391D79A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48764F92-3DA2-8A1A-8EFF-A9B98BB8BBF5}"/>
              </a:ext>
            </a:extLst>
          </p:cNvPr>
          <p:cNvPicPr>
            <a:picLocks noChangeAspect="1"/>
          </p:cNvPicPr>
          <p:nvPr/>
        </p:nvPicPr>
        <p:blipFill>
          <a:blip r:embed="rId3"/>
          <a:stretch>
            <a:fillRect/>
          </a:stretch>
        </p:blipFill>
        <p:spPr>
          <a:xfrm>
            <a:off x="5219700" y="800100"/>
            <a:ext cx="6972300" cy="5257800"/>
          </a:xfrm>
          <a:prstGeom prst="rect">
            <a:avLst/>
          </a:prstGeom>
        </p:spPr>
      </p:pic>
      <p:sp>
        <p:nvSpPr>
          <p:cNvPr id="3" name="TextBox 2">
            <a:extLst>
              <a:ext uri="{FF2B5EF4-FFF2-40B4-BE49-F238E27FC236}">
                <a16:creationId xmlns:a16="http://schemas.microsoft.com/office/drawing/2014/main" id="{3B4BF961-F458-B215-D06D-E336B00D2410}"/>
              </a:ext>
            </a:extLst>
          </p:cNvPr>
          <p:cNvSpPr txBox="1"/>
          <p:nvPr/>
        </p:nvSpPr>
        <p:spPr>
          <a:xfrm>
            <a:off x="0" y="231596"/>
            <a:ext cx="5644054" cy="6717223"/>
          </a:xfrm>
          <a:prstGeom prst="rect">
            <a:avLst/>
          </a:prstGeom>
          <a:noFill/>
        </p:spPr>
        <p:txBody>
          <a:bodyPr wrap="square">
            <a:spAutoFit/>
          </a:bodyPr>
          <a:lstStyle/>
          <a:p>
            <a:pPr>
              <a:buNone/>
            </a:pPr>
            <a:r>
              <a:rPr lang="en-US" sz="2800" b="1" dirty="0"/>
              <a:t>2️⃣ Reset Gate</a:t>
            </a:r>
          </a:p>
          <a:p>
            <a:pPr>
              <a:buNone/>
            </a:pPr>
            <a:endParaRPr lang="en-US" sz="900" b="1" dirty="0"/>
          </a:p>
          <a:p>
            <a:pPr>
              <a:buNone/>
            </a:pPr>
            <a:r>
              <a:rPr lang="en-US" sz="2800" dirty="0"/>
              <a:t>The part labeled </a:t>
            </a:r>
            <a:r>
              <a:rPr lang="en-US" sz="2800" b="1" dirty="0"/>
              <a:t>reset gate</a:t>
            </a:r>
            <a:r>
              <a:rPr lang="en-US" sz="2800" dirty="0"/>
              <a:t> decides:</a:t>
            </a:r>
          </a:p>
          <a:p>
            <a:pPr>
              <a:buNone/>
            </a:pPr>
            <a:r>
              <a:rPr lang="en-US" sz="2800" dirty="0"/>
              <a:t>“How much of the previous memory (hₜ₋₁) should I use when creating the new candidate state?”</a:t>
            </a:r>
          </a:p>
          <a:p>
            <a:pPr>
              <a:buNone/>
            </a:pPr>
            <a:r>
              <a:rPr lang="en-US" sz="2800" dirty="0"/>
              <a:t>Mathematically:</a:t>
            </a:r>
          </a:p>
          <a:p>
            <a:r>
              <a:rPr lang="en-US" sz="2800" dirty="0"/>
              <a:t>rₜ = sigmoid(Wᵣ * [hₜ₋₁, xₜ])</a:t>
            </a:r>
          </a:p>
          <a:p>
            <a:endParaRPr lang="en-US" sz="2800" dirty="0"/>
          </a:p>
          <a:p>
            <a:pPr>
              <a:buFont typeface="Arial" panose="020B0604020202020204" pitchFamily="34" charset="0"/>
              <a:buChar char="•"/>
            </a:pPr>
            <a:r>
              <a:rPr lang="en-US" sz="2800" dirty="0"/>
              <a:t>The </a:t>
            </a:r>
            <a:r>
              <a:rPr lang="en-US" sz="2800" b="1" dirty="0"/>
              <a:t>sigmoid</a:t>
            </a:r>
            <a:r>
              <a:rPr lang="en-US" sz="2800" dirty="0"/>
              <a:t> function gives values between 0 and 1:</a:t>
            </a:r>
          </a:p>
          <a:p>
            <a:pPr marL="742950" lvl="1" indent="-285750">
              <a:buFont typeface="Arial" panose="020B0604020202020204" pitchFamily="34" charset="0"/>
              <a:buChar char="•"/>
            </a:pPr>
            <a:r>
              <a:rPr lang="en-US" sz="2800" dirty="0">
                <a:latin typeface="Courier New" panose="02070309020205020404" pitchFamily="49" charset="0"/>
              </a:rPr>
              <a:t>rₜ ≈ 0</a:t>
            </a:r>
            <a:r>
              <a:rPr lang="en-US" sz="2800" dirty="0"/>
              <a:t> → forget old memory</a:t>
            </a:r>
          </a:p>
          <a:p>
            <a:pPr marL="742950" lvl="1" indent="-285750">
              <a:buFont typeface="Arial" panose="020B0604020202020204" pitchFamily="34" charset="0"/>
              <a:buChar char="•"/>
            </a:pPr>
            <a:r>
              <a:rPr lang="en-US" sz="2800" dirty="0">
                <a:latin typeface="Courier New" panose="02070309020205020404" pitchFamily="49" charset="0"/>
              </a:rPr>
              <a:t>rₜ ≈ 1</a:t>
            </a:r>
            <a:r>
              <a:rPr lang="en-US" sz="2800" dirty="0"/>
              <a:t> → use old memory fully</a:t>
            </a:r>
          </a:p>
          <a:p>
            <a:pPr>
              <a:buNone/>
            </a:pPr>
            <a:r>
              <a:rPr lang="en-US" sz="2800" dirty="0"/>
              <a:t>⚡ </a:t>
            </a:r>
            <a:r>
              <a:rPr lang="en-US" sz="2800" b="1" dirty="0"/>
              <a:t>Purpose:</a:t>
            </a:r>
            <a:r>
              <a:rPr lang="en-US" sz="2800" dirty="0"/>
              <a:t> controls how much past information influences the new calculation.</a:t>
            </a:r>
          </a:p>
        </p:txBody>
      </p:sp>
      <p:sp>
        <p:nvSpPr>
          <p:cNvPr id="5" name="Rectangle 4">
            <a:extLst>
              <a:ext uri="{FF2B5EF4-FFF2-40B4-BE49-F238E27FC236}">
                <a16:creationId xmlns:a16="http://schemas.microsoft.com/office/drawing/2014/main" id="{F29DE58A-6F5B-8836-E54B-AE8AA86AE619}"/>
              </a:ext>
            </a:extLst>
          </p:cNvPr>
          <p:cNvSpPr/>
          <p:nvPr/>
        </p:nvSpPr>
        <p:spPr>
          <a:xfrm>
            <a:off x="7399283" y="2532993"/>
            <a:ext cx="1072055" cy="129277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54316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8D5885B-497E-9DAD-6BDD-A77A5EDE60A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C93393-B1B8-DD25-D741-C5325A2113C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BA788F9B-C559-736D-2684-83F6AF1C30A3}"/>
              </a:ext>
            </a:extLst>
          </p:cNvPr>
          <p:cNvPicPr>
            <a:picLocks noChangeAspect="1"/>
          </p:cNvPicPr>
          <p:nvPr/>
        </p:nvPicPr>
        <p:blipFill>
          <a:blip r:embed="rId3"/>
          <a:stretch>
            <a:fillRect/>
          </a:stretch>
        </p:blipFill>
        <p:spPr>
          <a:xfrm>
            <a:off x="5219700" y="800100"/>
            <a:ext cx="6972300" cy="5257800"/>
          </a:xfrm>
          <a:prstGeom prst="rect">
            <a:avLst/>
          </a:prstGeom>
        </p:spPr>
      </p:pic>
      <p:sp>
        <p:nvSpPr>
          <p:cNvPr id="3" name="TextBox 2">
            <a:extLst>
              <a:ext uri="{FF2B5EF4-FFF2-40B4-BE49-F238E27FC236}">
                <a16:creationId xmlns:a16="http://schemas.microsoft.com/office/drawing/2014/main" id="{6AE5698B-00B1-0DD8-47E2-A4C9B4CC07C1}"/>
              </a:ext>
            </a:extLst>
          </p:cNvPr>
          <p:cNvSpPr txBox="1"/>
          <p:nvPr/>
        </p:nvSpPr>
        <p:spPr>
          <a:xfrm>
            <a:off x="126124" y="245238"/>
            <a:ext cx="6096000" cy="6124754"/>
          </a:xfrm>
          <a:prstGeom prst="rect">
            <a:avLst/>
          </a:prstGeom>
          <a:noFill/>
        </p:spPr>
        <p:txBody>
          <a:bodyPr wrap="square">
            <a:spAutoFit/>
          </a:bodyPr>
          <a:lstStyle/>
          <a:p>
            <a:pPr>
              <a:buNone/>
            </a:pPr>
            <a:r>
              <a:rPr lang="en-US" sz="2800" b="1" dirty="0"/>
              <a:t>3️⃣ Update Gate</a:t>
            </a:r>
          </a:p>
          <a:p>
            <a:pPr>
              <a:buNone/>
            </a:pPr>
            <a:endParaRPr lang="en-US" sz="2800" b="1" dirty="0"/>
          </a:p>
          <a:p>
            <a:pPr>
              <a:buNone/>
            </a:pPr>
            <a:r>
              <a:rPr lang="en-US" sz="2800" dirty="0"/>
              <a:t>The </a:t>
            </a:r>
            <a:r>
              <a:rPr lang="en-US" sz="2800" b="1" dirty="0"/>
              <a:t>update gate</a:t>
            </a:r>
            <a:r>
              <a:rPr lang="en-US" sz="2800" dirty="0"/>
              <a:t> decides:</a:t>
            </a:r>
          </a:p>
          <a:p>
            <a:pPr>
              <a:buNone/>
            </a:pPr>
            <a:r>
              <a:rPr lang="en-US" sz="2800" dirty="0"/>
              <a:t>“Should I keep the old memory or replace it with the new one?”</a:t>
            </a:r>
          </a:p>
          <a:p>
            <a:pPr>
              <a:buNone/>
            </a:pPr>
            <a:endParaRPr lang="en-US" sz="2800" dirty="0"/>
          </a:p>
          <a:p>
            <a:pPr>
              <a:buNone/>
            </a:pPr>
            <a:r>
              <a:rPr lang="en-US" sz="2800" dirty="0"/>
              <a:t>Equation:</a:t>
            </a:r>
          </a:p>
          <a:p>
            <a:pPr rtl="0">
              <a:buNone/>
            </a:pPr>
            <a:r>
              <a:rPr lang="en-US" sz="2800" dirty="0">
                <a:latin typeface="Courier New" panose="02070309020205020404" pitchFamily="49" charset="0"/>
              </a:rPr>
              <a:t>zₜ = sigmoid(</a:t>
            </a:r>
            <a:r>
              <a:rPr lang="en-US" sz="2800" dirty="0" err="1">
                <a:latin typeface="Courier New" panose="02070309020205020404" pitchFamily="49" charset="0"/>
              </a:rPr>
              <a:t>W_z</a:t>
            </a:r>
            <a:r>
              <a:rPr lang="en-US" sz="2800" dirty="0">
                <a:latin typeface="Courier New" panose="02070309020205020404" pitchFamily="49" charset="0"/>
              </a:rPr>
              <a:t> * [hₜ₋₁, xₜ])</a:t>
            </a:r>
          </a:p>
          <a:p>
            <a:pPr>
              <a:buFont typeface="Arial" panose="020B0604020202020204" pitchFamily="34" charset="0"/>
              <a:buChar char="•"/>
            </a:pPr>
            <a:r>
              <a:rPr lang="en-US" sz="2800" dirty="0">
                <a:latin typeface="Courier New" panose="02070309020205020404" pitchFamily="49" charset="0"/>
              </a:rPr>
              <a:t>zₜ ≈ 0</a:t>
            </a:r>
            <a:r>
              <a:rPr lang="en-US" sz="2800" dirty="0"/>
              <a:t> → use mostly new information</a:t>
            </a:r>
          </a:p>
          <a:p>
            <a:pPr>
              <a:buFont typeface="Arial" panose="020B0604020202020204" pitchFamily="34" charset="0"/>
              <a:buChar char="•"/>
            </a:pPr>
            <a:r>
              <a:rPr lang="en-US" sz="2800" dirty="0">
                <a:latin typeface="Courier New" panose="02070309020205020404" pitchFamily="49" charset="0"/>
              </a:rPr>
              <a:t>zₜ ≈ 1</a:t>
            </a:r>
            <a:r>
              <a:rPr lang="en-US" sz="2800" dirty="0"/>
              <a:t> → keep old information</a:t>
            </a:r>
          </a:p>
          <a:p>
            <a:endParaRPr lang="en-US" sz="2800" dirty="0"/>
          </a:p>
          <a:p>
            <a:pPr>
              <a:buNone/>
            </a:pPr>
            <a:r>
              <a:rPr lang="en-US" sz="2800" dirty="0"/>
              <a:t>⚡ </a:t>
            </a:r>
            <a:r>
              <a:rPr lang="en-US" sz="2800" b="1" dirty="0"/>
              <a:t>Purpose:</a:t>
            </a:r>
            <a:r>
              <a:rPr lang="en-US" sz="2800" dirty="0"/>
              <a:t> controls how much of the new vs. old hidden state will appear in the output.</a:t>
            </a:r>
          </a:p>
        </p:txBody>
      </p:sp>
      <p:sp>
        <p:nvSpPr>
          <p:cNvPr id="5" name="Rectangle 4">
            <a:extLst>
              <a:ext uri="{FF2B5EF4-FFF2-40B4-BE49-F238E27FC236}">
                <a16:creationId xmlns:a16="http://schemas.microsoft.com/office/drawing/2014/main" id="{46EC4F33-5259-8929-1628-3741E8B021DA}"/>
              </a:ext>
            </a:extLst>
          </p:cNvPr>
          <p:cNvSpPr/>
          <p:nvPr/>
        </p:nvSpPr>
        <p:spPr>
          <a:xfrm>
            <a:off x="8705850" y="2511972"/>
            <a:ext cx="1072055" cy="129277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47417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268CC-56C7-4F77-0969-FAF202F65BD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8B7728-25B6-3D1C-5EC5-284AB57DC00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C84ECC9E-39AE-81C1-A422-617669688A44}"/>
              </a:ext>
            </a:extLst>
          </p:cNvPr>
          <p:cNvPicPr>
            <a:picLocks noChangeAspect="1"/>
          </p:cNvPicPr>
          <p:nvPr/>
        </p:nvPicPr>
        <p:blipFill>
          <a:blip r:embed="rId3"/>
          <a:stretch>
            <a:fillRect/>
          </a:stretch>
        </p:blipFill>
        <p:spPr>
          <a:xfrm>
            <a:off x="5219700" y="800100"/>
            <a:ext cx="6972300" cy="5257800"/>
          </a:xfrm>
          <a:prstGeom prst="rect">
            <a:avLst/>
          </a:prstGeom>
        </p:spPr>
      </p:pic>
      <p:sp>
        <p:nvSpPr>
          <p:cNvPr id="3" name="TextBox 2">
            <a:extLst>
              <a:ext uri="{FF2B5EF4-FFF2-40B4-BE49-F238E27FC236}">
                <a16:creationId xmlns:a16="http://schemas.microsoft.com/office/drawing/2014/main" id="{527CE1F1-BEE2-3452-F2D9-99A09932DCC4}"/>
              </a:ext>
            </a:extLst>
          </p:cNvPr>
          <p:cNvSpPr txBox="1"/>
          <p:nvPr/>
        </p:nvSpPr>
        <p:spPr>
          <a:xfrm>
            <a:off x="115614" y="117693"/>
            <a:ext cx="5255172" cy="6740307"/>
          </a:xfrm>
          <a:prstGeom prst="rect">
            <a:avLst/>
          </a:prstGeom>
          <a:noFill/>
        </p:spPr>
        <p:txBody>
          <a:bodyPr wrap="square">
            <a:spAutoFit/>
          </a:bodyPr>
          <a:lstStyle/>
          <a:p>
            <a:pPr>
              <a:buNone/>
            </a:pPr>
            <a:r>
              <a:rPr lang="en-US" sz="3000" b="1" dirty="0"/>
              <a:t>4️⃣ Candidate Hidden State</a:t>
            </a:r>
          </a:p>
          <a:p>
            <a:pPr>
              <a:buNone/>
            </a:pPr>
            <a:endParaRPr lang="en-US" sz="500" b="1" dirty="0"/>
          </a:p>
          <a:p>
            <a:pPr>
              <a:buNone/>
            </a:pPr>
            <a:r>
              <a:rPr lang="en-US" sz="3000" dirty="0"/>
              <a:t>Then we build a </a:t>
            </a:r>
            <a:r>
              <a:rPr lang="en-US" sz="3000" b="1" dirty="0"/>
              <a:t>candidate hidden state (h̃ₜ)</a:t>
            </a:r>
            <a:r>
              <a:rPr lang="en-US" sz="3000" dirty="0"/>
              <a:t> — the potential new memory.</a:t>
            </a:r>
            <a:br>
              <a:rPr lang="en-US" sz="3000" dirty="0"/>
            </a:br>
            <a:r>
              <a:rPr lang="en-US" sz="3000" dirty="0"/>
              <a:t>We first multiply the reset gate by the old hidden state, so only part of it is used:</a:t>
            </a:r>
          </a:p>
          <a:p>
            <a:pPr rtl="0">
              <a:buNone/>
            </a:pPr>
            <a:r>
              <a:rPr lang="en-US" sz="3000" dirty="0">
                <a:latin typeface="Courier New" panose="02070309020205020404" pitchFamily="49" charset="0"/>
              </a:rPr>
              <a:t>h̃ₜ = tanh(W * [rₜ ⊙ hₜ₋₁, xₜ])</a:t>
            </a:r>
          </a:p>
          <a:p>
            <a:pPr rtl="0">
              <a:buNone/>
            </a:pPr>
            <a:endParaRPr lang="en-US" sz="3000" dirty="0">
              <a:latin typeface="Courier New" panose="02070309020205020404" pitchFamily="49" charset="0"/>
            </a:endParaRPr>
          </a:p>
          <a:p>
            <a:pPr>
              <a:buNone/>
            </a:pPr>
            <a:r>
              <a:rPr lang="en-US" sz="3000" dirty="0"/>
              <a:t>⚡ </a:t>
            </a:r>
            <a:r>
              <a:rPr lang="en-US" sz="3000" b="1" dirty="0"/>
              <a:t>Purpose:</a:t>
            </a:r>
            <a:r>
              <a:rPr lang="en-US" sz="3000" dirty="0"/>
              <a:t> create a “new memory proposal” that combines the current input and part of the past.</a:t>
            </a:r>
          </a:p>
        </p:txBody>
      </p:sp>
      <p:sp>
        <p:nvSpPr>
          <p:cNvPr id="5" name="Rectangle 4">
            <a:extLst>
              <a:ext uri="{FF2B5EF4-FFF2-40B4-BE49-F238E27FC236}">
                <a16:creationId xmlns:a16="http://schemas.microsoft.com/office/drawing/2014/main" id="{701762E3-CE59-A22F-CD3B-503294717D46}"/>
              </a:ext>
            </a:extLst>
          </p:cNvPr>
          <p:cNvSpPr/>
          <p:nvPr/>
        </p:nvSpPr>
        <p:spPr>
          <a:xfrm>
            <a:off x="9777905" y="2564524"/>
            <a:ext cx="1072055" cy="129277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71058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0EEA2-9D15-4B53-806C-6F250893792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9D5CF5-0067-048A-E75F-E58316EF07A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3B1752CD-FC49-091C-FF11-41E22EB909F4}"/>
              </a:ext>
            </a:extLst>
          </p:cNvPr>
          <p:cNvPicPr>
            <a:picLocks noChangeAspect="1"/>
          </p:cNvPicPr>
          <p:nvPr/>
        </p:nvPicPr>
        <p:blipFill>
          <a:blip r:embed="rId3"/>
          <a:stretch>
            <a:fillRect/>
          </a:stretch>
        </p:blipFill>
        <p:spPr>
          <a:xfrm>
            <a:off x="5219700" y="642446"/>
            <a:ext cx="6972300" cy="5257800"/>
          </a:xfrm>
          <a:prstGeom prst="rect">
            <a:avLst/>
          </a:prstGeom>
        </p:spPr>
      </p:pic>
      <p:sp>
        <p:nvSpPr>
          <p:cNvPr id="3" name="TextBox 2">
            <a:extLst>
              <a:ext uri="{FF2B5EF4-FFF2-40B4-BE49-F238E27FC236}">
                <a16:creationId xmlns:a16="http://schemas.microsoft.com/office/drawing/2014/main" id="{D1925817-520D-853A-A9F4-228F668F4243}"/>
              </a:ext>
            </a:extLst>
          </p:cNvPr>
          <p:cNvSpPr txBox="1"/>
          <p:nvPr/>
        </p:nvSpPr>
        <p:spPr>
          <a:xfrm>
            <a:off x="-1" y="58846"/>
            <a:ext cx="6379779" cy="5917004"/>
          </a:xfrm>
          <a:prstGeom prst="rect">
            <a:avLst/>
          </a:prstGeom>
          <a:noFill/>
        </p:spPr>
        <p:txBody>
          <a:bodyPr wrap="square">
            <a:spAutoFit/>
          </a:bodyPr>
          <a:lstStyle/>
          <a:p>
            <a:pPr>
              <a:buNone/>
            </a:pPr>
            <a:r>
              <a:rPr lang="en-US" sz="3000" b="1" dirty="0"/>
              <a:t>5️⃣ Final Hidden State</a:t>
            </a:r>
          </a:p>
          <a:p>
            <a:pPr>
              <a:buNone/>
            </a:pPr>
            <a:endParaRPr lang="en-US" sz="1050" b="1" dirty="0"/>
          </a:p>
          <a:p>
            <a:pPr>
              <a:buNone/>
            </a:pPr>
            <a:r>
              <a:rPr lang="en-US" sz="3000" dirty="0"/>
              <a:t>Finally, the GRU blends the </a:t>
            </a:r>
            <a:r>
              <a:rPr lang="en-US" sz="3000" b="1" dirty="0"/>
              <a:t>old memory</a:t>
            </a:r>
            <a:r>
              <a:rPr lang="en-US" sz="3000" dirty="0"/>
              <a:t> and the </a:t>
            </a:r>
            <a:r>
              <a:rPr lang="en-US" sz="3000" b="1" dirty="0"/>
              <a:t>new candidate</a:t>
            </a:r>
            <a:r>
              <a:rPr lang="en-US" sz="3000" dirty="0"/>
              <a:t> using the </a:t>
            </a:r>
            <a:r>
              <a:rPr lang="en-US" sz="3000" b="1" dirty="0"/>
              <a:t>update gate</a:t>
            </a:r>
            <a:r>
              <a:rPr lang="en-US" sz="3000" dirty="0"/>
              <a:t>:</a:t>
            </a:r>
          </a:p>
          <a:p>
            <a:pPr>
              <a:buNone/>
            </a:pPr>
            <a:endParaRPr lang="en-US" sz="1000" dirty="0"/>
          </a:p>
          <a:p>
            <a:pPr rtl="0">
              <a:buNone/>
            </a:pPr>
            <a:r>
              <a:rPr lang="en-US" sz="2800" dirty="0">
                <a:latin typeface="Courier New" panose="02070309020205020404" pitchFamily="49" charset="0"/>
              </a:rPr>
              <a:t>hₜ = (1 - zₜ) ⊙ h̃ₜ + zₜ ⊙ hₜ₋₁</a:t>
            </a:r>
          </a:p>
          <a:p>
            <a:pPr>
              <a:buNone/>
            </a:pPr>
            <a:r>
              <a:rPr lang="en-US" sz="3000" dirty="0"/>
              <a:t>So:</a:t>
            </a:r>
          </a:p>
          <a:p>
            <a:pPr>
              <a:buFont typeface="Arial" panose="020B0604020202020204" pitchFamily="34" charset="0"/>
              <a:buChar char="•"/>
            </a:pPr>
            <a:r>
              <a:rPr lang="en-US" sz="3000" dirty="0"/>
              <a:t>If </a:t>
            </a:r>
            <a:r>
              <a:rPr lang="en-US" sz="3000" dirty="0">
                <a:latin typeface="Courier New" panose="02070309020205020404" pitchFamily="49" charset="0"/>
              </a:rPr>
              <a:t>zₜ</a:t>
            </a:r>
            <a:r>
              <a:rPr lang="en-US" sz="3000" dirty="0"/>
              <a:t> is near 1 → keep old memory</a:t>
            </a:r>
          </a:p>
          <a:p>
            <a:pPr>
              <a:buFont typeface="Arial" panose="020B0604020202020204" pitchFamily="34" charset="0"/>
              <a:buChar char="•"/>
            </a:pPr>
            <a:r>
              <a:rPr lang="en-US" sz="3000" dirty="0"/>
              <a:t>If </a:t>
            </a:r>
            <a:r>
              <a:rPr lang="en-US" sz="3000" dirty="0">
                <a:latin typeface="Courier New" panose="02070309020205020404" pitchFamily="49" charset="0"/>
              </a:rPr>
              <a:t>zₜ</a:t>
            </a:r>
            <a:r>
              <a:rPr lang="en-US" sz="3000" dirty="0"/>
              <a:t> is near 0 → replace with new one</a:t>
            </a:r>
          </a:p>
          <a:p>
            <a:pPr>
              <a:buFont typeface="Arial" panose="020B0604020202020204" pitchFamily="34" charset="0"/>
              <a:buChar char="•"/>
            </a:pPr>
            <a:endParaRPr lang="en-US" sz="3000" dirty="0"/>
          </a:p>
          <a:p>
            <a:pPr>
              <a:buNone/>
            </a:pPr>
            <a:r>
              <a:rPr lang="en-US" sz="3000" dirty="0"/>
              <a:t>⚡ </a:t>
            </a:r>
            <a:r>
              <a:rPr lang="en-US" sz="3000" b="1" dirty="0"/>
              <a:t>Purpose:</a:t>
            </a:r>
            <a:r>
              <a:rPr lang="en-US" sz="3000" dirty="0"/>
              <a:t> smartly update memory without losing important long-term context.</a:t>
            </a:r>
          </a:p>
        </p:txBody>
      </p:sp>
      <p:sp>
        <p:nvSpPr>
          <p:cNvPr id="5" name="Rectangle 4">
            <a:extLst>
              <a:ext uri="{FF2B5EF4-FFF2-40B4-BE49-F238E27FC236}">
                <a16:creationId xmlns:a16="http://schemas.microsoft.com/office/drawing/2014/main" id="{BAAAE9FA-3AA0-E20E-68BD-E0DF55D0BBD1}"/>
              </a:ext>
            </a:extLst>
          </p:cNvPr>
          <p:cNvSpPr/>
          <p:nvPr/>
        </p:nvSpPr>
        <p:spPr>
          <a:xfrm>
            <a:off x="8765628" y="1093076"/>
            <a:ext cx="3289738" cy="118766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17584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8FD77-3EE4-4821-FE1A-89D8089DDBC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80C65E-92BC-FAE9-20A4-DE6F242A6DB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56903194-71BC-BF73-D3CE-A6AB0ED08384}"/>
              </a:ext>
            </a:extLst>
          </p:cNvPr>
          <p:cNvPicPr>
            <a:picLocks noChangeAspect="1"/>
          </p:cNvPicPr>
          <p:nvPr/>
        </p:nvPicPr>
        <p:blipFill>
          <a:blip r:embed="rId3"/>
          <a:stretch>
            <a:fillRect/>
          </a:stretch>
        </p:blipFill>
        <p:spPr>
          <a:xfrm>
            <a:off x="5219700" y="800100"/>
            <a:ext cx="6972300" cy="5257800"/>
          </a:xfrm>
          <a:prstGeom prst="rect">
            <a:avLst/>
          </a:prstGeom>
        </p:spPr>
      </p:pic>
      <p:sp>
        <p:nvSpPr>
          <p:cNvPr id="3" name="TextBox 2">
            <a:extLst>
              <a:ext uri="{FF2B5EF4-FFF2-40B4-BE49-F238E27FC236}">
                <a16:creationId xmlns:a16="http://schemas.microsoft.com/office/drawing/2014/main" id="{6E997DA5-52DB-0FC4-1A82-796BE588C50B}"/>
              </a:ext>
            </a:extLst>
          </p:cNvPr>
          <p:cNvSpPr txBox="1"/>
          <p:nvPr/>
        </p:nvSpPr>
        <p:spPr>
          <a:xfrm>
            <a:off x="0" y="164886"/>
            <a:ext cx="6432331" cy="6001643"/>
          </a:xfrm>
          <a:prstGeom prst="rect">
            <a:avLst/>
          </a:prstGeom>
          <a:noFill/>
        </p:spPr>
        <p:txBody>
          <a:bodyPr wrap="square">
            <a:spAutoFit/>
          </a:bodyPr>
          <a:lstStyle/>
          <a:p>
            <a:pPr>
              <a:buNone/>
            </a:pPr>
            <a:r>
              <a:rPr lang="en-US" sz="3200" b="1" dirty="0"/>
              <a:t>🎯 The Goal</a:t>
            </a:r>
          </a:p>
          <a:p>
            <a:pPr>
              <a:buNone/>
            </a:pPr>
            <a:r>
              <a:rPr lang="en-US" sz="3200" dirty="0"/>
              <a:t>GRU learns:</a:t>
            </a:r>
          </a:p>
          <a:p>
            <a:pPr marL="457200" indent="-457200">
              <a:buFont typeface="Arial" panose="020B0604020202020204" pitchFamily="34" charset="0"/>
              <a:buChar char="•"/>
            </a:pPr>
            <a:r>
              <a:rPr lang="en-US" sz="3200" b="1" dirty="0"/>
              <a:t>When to remember old information </a:t>
            </a:r>
            <a:endParaRPr lang="en-US" sz="3200" dirty="0"/>
          </a:p>
          <a:p>
            <a:pPr marL="457200" indent="-457200">
              <a:buFont typeface="Arial" panose="020B0604020202020204" pitchFamily="34" charset="0"/>
              <a:buChar char="•"/>
            </a:pPr>
            <a:r>
              <a:rPr lang="en-US" sz="3200" b="1" dirty="0"/>
              <a:t>When to forget</a:t>
            </a:r>
            <a:endParaRPr lang="en-US" sz="3200" dirty="0"/>
          </a:p>
          <a:p>
            <a:pPr marL="457200" indent="-457200">
              <a:buFont typeface="Arial" panose="020B0604020202020204" pitchFamily="34" charset="0"/>
              <a:buChar char="•"/>
            </a:pPr>
            <a:r>
              <a:rPr lang="en-US" sz="3200" b="1" dirty="0"/>
              <a:t>When to update</a:t>
            </a:r>
          </a:p>
          <a:p>
            <a:endParaRPr lang="en-US" sz="3200" b="1" dirty="0"/>
          </a:p>
          <a:p>
            <a:endParaRPr lang="en-US" sz="3200" dirty="0"/>
          </a:p>
          <a:p>
            <a:pPr>
              <a:buNone/>
            </a:pPr>
            <a:r>
              <a:rPr lang="en-US" sz="3200" dirty="0"/>
              <a:t>That’s why GRUs are powerful for </a:t>
            </a:r>
            <a:r>
              <a:rPr lang="en-US" sz="3200" b="1" dirty="0"/>
              <a:t>sequences</a:t>
            </a:r>
            <a:r>
              <a:rPr lang="en-US" sz="3200" dirty="0"/>
              <a:t> like text or video — they don’t forget long-term dependencies like vanilla RNNs do.</a:t>
            </a:r>
          </a:p>
        </p:txBody>
      </p:sp>
    </p:spTree>
    <p:extLst>
      <p:ext uri="{BB962C8B-B14F-4D97-AF65-F5344CB8AC3E}">
        <p14:creationId xmlns:p14="http://schemas.microsoft.com/office/powerpoint/2010/main" val="34147275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52C3C29-3A97-62FC-6640-DD2767356E9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5A9B69-4F16-069F-B26A-D556D99C59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050" name="Picture 2">
            <a:extLst>
              <a:ext uri="{FF2B5EF4-FFF2-40B4-BE49-F238E27FC236}">
                <a16:creationId xmlns:a16="http://schemas.microsoft.com/office/drawing/2014/main" id="{2F3A1C10-B5E9-E7C4-BE9A-F9B50EB488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753428"/>
            <a:ext cx="7620000" cy="5381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2543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5C0F4C4-0636-6B92-7FE0-4C27F31706A2}"/>
            </a:ext>
          </a:extLst>
        </p:cNvPr>
        <p:cNvGrpSpPr/>
        <p:nvPr/>
      </p:nvGrpSpPr>
      <p:grpSpPr>
        <a:xfrm>
          <a:off x="0" y="0"/>
          <a:ext cx="0" cy="0"/>
          <a:chOff x="0" y="0"/>
          <a:chExt cx="0" cy="0"/>
        </a:xfrm>
      </p:grpSpPr>
      <p:sp>
        <p:nvSpPr>
          <p:cNvPr id="14" name="object 14">
            <a:extLst>
              <a:ext uri="{FF2B5EF4-FFF2-40B4-BE49-F238E27FC236}">
                <a16:creationId xmlns:a16="http://schemas.microsoft.com/office/drawing/2014/main" id="{AC0BF58B-57B6-13DC-4536-C616E031CAE9}"/>
              </a:ext>
            </a:extLst>
          </p:cNvPr>
          <p:cNvSpPr txBox="1"/>
          <p:nvPr/>
        </p:nvSpPr>
        <p:spPr>
          <a:xfrm>
            <a:off x="11509375" y="339597"/>
            <a:ext cx="217804" cy="2393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0" i="0" u="none" strike="noStrike" kern="1200" cap="none" spc="-20" normalizeH="0" baseline="0" noProof="0" dirty="0">
                <a:ln>
                  <a:noFill/>
                </a:ln>
                <a:solidFill>
                  <a:srgbClr val="FFFFFF"/>
                </a:solidFill>
                <a:effectLst/>
                <a:uLnTx/>
                <a:uFillTx/>
                <a:latin typeface="Cambria"/>
                <a:ea typeface="+mn-ea"/>
                <a:cs typeface="Cambria"/>
              </a:rPr>
              <a:t>67</a:t>
            </a:r>
            <a:endParaRPr kumimoji="0" sz="1400" b="0" i="0" u="none" strike="noStrike" kern="1200" cap="none" spc="0" normalizeH="0" baseline="0" noProof="0">
              <a:ln>
                <a:noFill/>
              </a:ln>
              <a:solidFill>
                <a:prstClr val="black"/>
              </a:solidFill>
              <a:effectLst/>
              <a:uLnTx/>
              <a:uFillTx/>
              <a:latin typeface="Cambria"/>
              <a:ea typeface="+mn-ea"/>
              <a:cs typeface="Cambria"/>
            </a:endParaRPr>
          </a:p>
        </p:txBody>
      </p:sp>
      <p:pic>
        <p:nvPicPr>
          <p:cNvPr id="3" name="Picture 2">
            <a:extLst>
              <a:ext uri="{FF2B5EF4-FFF2-40B4-BE49-F238E27FC236}">
                <a16:creationId xmlns:a16="http://schemas.microsoft.com/office/drawing/2014/main" id="{EAC30BE5-B2FD-15A9-4E2F-E4CF90471EAD}"/>
              </a:ext>
            </a:extLst>
          </p:cNvPr>
          <p:cNvPicPr>
            <a:picLocks noChangeAspect="1"/>
          </p:cNvPicPr>
          <p:nvPr/>
        </p:nvPicPr>
        <p:blipFill>
          <a:blip r:embed="rId2"/>
          <a:stretch>
            <a:fillRect/>
          </a:stretch>
        </p:blipFill>
        <p:spPr>
          <a:xfrm>
            <a:off x="1423934" y="0"/>
            <a:ext cx="9344131" cy="6858000"/>
          </a:xfrm>
          <a:prstGeom prst="rect">
            <a:avLst/>
          </a:prstGeom>
        </p:spPr>
      </p:pic>
    </p:spTree>
    <p:extLst>
      <p:ext uri="{BB962C8B-B14F-4D97-AF65-F5344CB8AC3E}">
        <p14:creationId xmlns:p14="http://schemas.microsoft.com/office/powerpoint/2010/main" val="41944059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E8E6F31-F105-081D-917D-4D7E29943C0E}"/>
            </a:ext>
          </a:extLst>
        </p:cNvPr>
        <p:cNvGrpSpPr/>
        <p:nvPr/>
      </p:nvGrpSpPr>
      <p:grpSpPr>
        <a:xfrm>
          <a:off x="0" y="0"/>
          <a:ext cx="0" cy="0"/>
          <a:chOff x="0" y="0"/>
          <a:chExt cx="0" cy="0"/>
        </a:xfrm>
      </p:grpSpPr>
      <p:sp>
        <p:nvSpPr>
          <p:cNvPr id="14" name="object 14">
            <a:extLst>
              <a:ext uri="{FF2B5EF4-FFF2-40B4-BE49-F238E27FC236}">
                <a16:creationId xmlns:a16="http://schemas.microsoft.com/office/drawing/2014/main" id="{456A5D6F-DDDF-CE11-553F-7B62AEF7EB69}"/>
              </a:ext>
            </a:extLst>
          </p:cNvPr>
          <p:cNvSpPr txBox="1"/>
          <p:nvPr/>
        </p:nvSpPr>
        <p:spPr>
          <a:xfrm>
            <a:off x="11509375" y="339597"/>
            <a:ext cx="217804" cy="2393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0" i="0" u="none" strike="noStrike" kern="1200" cap="none" spc="-20" normalizeH="0" baseline="0" noProof="0" dirty="0">
                <a:ln>
                  <a:noFill/>
                </a:ln>
                <a:solidFill>
                  <a:srgbClr val="FFFFFF"/>
                </a:solidFill>
                <a:effectLst/>
                <a:uLnTx/>
                <a:uFillTx/>
                <a:latin typeface="Cambria"/>
                <a:ea typeface="+mn-ea"/>
                <a:cs typeface="Cambria"/>
              </a:rPr>
              <a:t>67</a:t>
            </a:r>
            <a:endParaRPr kumimoji="0" sz="1400" b="0" i="0" u="none" strike="noStrike" kern="1200" cap="none" spc="0" normalizeH="0" baseline="0" noProof="0">
              <a:ln>
                <a:noFill/>
              </a:ln>
              <a:solidFill>
                <a:prstClr val="black"/>
              </a:solidFill>
              <a:effectLst/>
              <a:uLnTx/>
              <a:uFillTx/>
              <a:latin typeface="Cambria"/>
              <a:ea typeface="+mn-ea"/>
              <a:cs typeface="Cambria"/>
            </a:endParaRPr>
          </a:p>
        </p:txBody>
      </p:sp>
      <p:pic>
        <p:nvPicPr>
          <p:cNvPr id="4" name="Picture 3">
            <a:extLst>
              <a:ext uri="{FF2B5EF4-FFF2-40B4-BE49-F238E27FC236}">
                <a16:creationId xmlns:a16="http://schemas.microsoft.com/office/drawing/2014/main" id="{61279873-AD69-AEA8-7CA1-575AC2C4FE8F}"/>
              </a:ext>
            </a:extLst>
          </p:cNvPr>
          <p:cNvPicPr>
            <a:picLocks noChangeAspect="1"/>
          </p:cNvPicPr>
          <p:nvPr/>
        </p:nvPicPr>
        <p:blipFill>
          <a:blip r:embed="rId2"/>
          <a:stretch>
            <a:fillRect/>
          </a:stretch>
        </p:blipFill>
        <p:spPr>
          <a:xfrm>
            <a:off x="1490662" y="1009650"/>
            <a:ext cx="9210675" cy="4838700"/>
          </a:xfrm>
          <a:prstGeom prst="rect">
            <a:avLst/>
          </a:prstGeom>
        </p:spPr>
      </p:pic>
    </p:spTree>
    <p:extLst>
      <p:ext uri="{BB962C8B-B14F-4D97-AF65-F5344CB8AC3E}">
        <p14:creationId xmlns:p14="http://schemas.microsoft.com/office/powerpoint/2010/main" val="12043401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4"/>
          <p:cNvSpPr txBox="1"/>
          <p:nvPr/>
        </p:nvSpPr>
        <p:spPr>
          <a:xfrm>
            <a:off x="11509375" y="339597"/>
            <a:ext cx="217804" cy="2393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0" i="0" u="none" strike="noStrike" kern="1200" cap="none" spc="-20" normalizeH="0" baseline="0" noProof="0" dirty="0">
                <a:ln>
                  <a:noFill/>
                </a:ln>
                <a:solidFill>
                  <a:srgbClr val="FFFFFF"/>
                </a:solidFill>
                <a:effectLst/>
                <a:uLnTx/>
                <a:uFillTx/>
                <a:latin typeface="Cambria"/>
                <a:ea typeface="+mn-ea"/>
                <a:cs typeface="Cambria"/>
              </a:rPr>
              <a:t>67</a:t>
            </a:r>
            <a:endParaRPr kumimoji="0" sz="1400" b="0" i="0" u="none" strike="noStrike" kern="1200" cap="none" spc="0" normalizeH="0" baseline="0" noProof="0">
              <a:ln>
                <a:noFill/>
              </a:ln>
              <a:solidFill>
                <a:prstClr val="black"/>
              </a:solidFill>
              <a:effectLst/>
              <a:uLnTx/>
              <a:uFillTx/>
              <a:latin typeface="Cambria"/>
              <a:ea typeface="+mn-ea"/>
              <a:cs typeface="Cambria"/>
            </a:endParaRPr>
          </a:p>
        </p:txBody>
      </p:sp>
      <p:sp>
        <p:nvSpPr>
          <p:cNvPr id="17" name="Subtitle 16">
            <a:extLst>
              <a:ext uri="{FF2B5EF4-FFF2-40B4-BE49-F238E27FC236}">
                <a16:creationId xmlns:a16="http://schemas.microsoft.com/office/drawing/2014/main" id="{62A0C448-EFEC-4164-A3D6-793FDB0936EA}"/>
              </a:ext>
            </a:extLst>
          </p:cNvPr>
          <p:cNvSpPr>
            <a:spLocks noGrp="1"/>
          </p:cNvSpPr>
          <p:nvPr>
            <p:ph type="subTitle" idx="4"/>
          </p:nvPr>
        </p:nvSpPr>
        <p:spPr>
          <a:xfrm>
            <a:off x="1422061" y="977503"/>
            <a:ext cx="10087314" cy="5539978"/>
          </a:xfrm>
        </p:spPr>
        <p:txBody>
          <a:bodyPr/>
          <a:lstStyle/>
          <a:p>
            <a:endParaRPr lang="en-US" dirty="0"/>
          </a:p>
          <a:p>
            <a:r>
              <a:rPr lang="en-US" b="1" dirty="0"/>
              <a:t>1. Gates:  </a:t>
            </a:r>
          </a:p>
          <a:p>
            <a:r>
              <a:rPr lang="en-US" dirty="0"/>
              <a:t>   - LSTM has three gates (forget, input, output).  </a:t>
            </a:r>
          </a:p>
          <a:p>
            <a:r>
              <a:rPr lang="en-US" dirty="0"/>
              <a:t>   - GRU has two gates (update, reset).</a:t>
            </a:r>
          </a:p>
          <a:p>
            <a:endParaRPr lang="en-US" dirty="0"/>
          </a:p>
          <a:p>
            <a:r>
              <a:rPr lang="en-US" b="1" dirty="0"/>
              <a:t>2. Cell State:  </a:t>
            </a:r>
          </a:p>
          <a:p>
            <a:r>
              <a:rPr lang="en-US" dirty="0"/>
              <a:t>   - LSTM has a separate cell state.  </a:t>
            </a:r>
          </a:p>
          <a:p>
            <a:r>
              <a:rPr lang="en-US" dirty="0"/>
              <a:t>   - GRU combines the cell state with the hidden state.</a:t>
            </a:r>
          </a:p>
          <a:p>
            <a:endParaRPr lang="en-US" dirty="0"/>
          </a:p>
          <a:p>
            <a:r>
              <a:rPr lang="en-US" b="1" dirty="0"/>
              <a:t>3. Complexity:  </a:t>
            </a:r>
          </a:p>
          <a:p>
            <a:r>
              <a:rPr lang="en-US" dirty="0"/>
              <a:t>   - LSTM is more complex but offers finer control.  </a:t>
            </a:r>
          </a:p>
          <a:p>
            <a:r>
              <a:rPr lang="en-US" dirty="0"/>
              <a:t>   - GRU is simpler and faster.</a:t>
            </a:r>
          </a:p>
          <a:p>
            <a:endParaRPr lang="en-US" b="1" dirty="0"/>
          </a:p>
          <a:p>
            <a:r>
              <a:rPr lang="en-US" b="1" dirty="0"/>
              <a:t>4. Memory Retention:  </a:t>
            </a:r>
          </a:p>
          <a:p>
            <a:r>
              <a:rPr lang="en-US" dirty="0"/>
              <a:t>   - LSTM is better for long-term dependencies.  </a:t>
            </a:r>
          </a:p>
          <a:p>
            <a:r>
              <a:rPr lang="en-US" dirty="0"/>
              <a:t>   - GRU performs similarly but may not be as effective for very long sequences.</a:t>
            </a:r>
          </a:p>
          <a:p>
            <a:endParaRPr lang="en-US" dirty="0"/>
          </a:p>
          <a:p>
            <a:r>
              <a:rPr lang="en-US" b="1" dirty="0"/>
              <a:t>5. Performance:  </a:t>
            </a:r>
          </a:p>
          <a:p>
            <a:r>
              <a:rPr lang="en-US" dirty="0"/>
              <a:t>   - LSTM is more powerful but slower.  </a:t>
            </a:r>
          </a:p>
          <a:p>
            <a:r>
              <a:rPr lang="en-US" dirty="0"/>
              <a:t>   - GRU is more efficient and faster to train.</a:t>
            </a:r>
          </a:p>
        </p:txBody>
      </p:sp>
      <p:sp>
        <p:nvSpPr>
          <p:cNvPr id="15" name="TextBox 14">
            <a:extLst>
              <a:ext uri="{FF2B5EF4-FFF2-40B4-BE49-F238E27FC236}">
                <a16:creationId xmlns:a16="http://schemas.microsoft.com/office/drawing/2014/main" id="{01120EDA-A9A4-481B-8CEB-DC47B772F315}"/>
              </a:ext>
            </a:extLst>
          </p:cNvPr>
          <p:cNvSpPr txBox="1"/>
          <p:nvPr/>
        </p:nvSpPr>
        <p:spPr>
          <a:xfrm>
            <a:off x="874436" y="327422"/>
            <a:ext cx="727896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F81BD"/>
                </a:solidFill>
                <a:effectLst/>
                <a:uLnTx/>
                <a:uFillTx/>
                <a:latin typeface="Calibri"/>
                <a:ea typeface="+mn-ea"/>
                <a:cs typeface="+mn-cs"/>
              </a:rPr>
              <a:t>Here's a brief comparison of LSTM and GRU:</a:t>
            </a:r>
          </a:p>
        </p:txBody>
      </p:sp>
    </p:spTree>
    <p:extLst>
      <p:ext uri="{BB962C8B-B14F-4D97-AF65-F5344CB8AC3E}">
        <p14:creationId xmlns:p14="http://schemas.microsoft.com/office/powerpoint/2010/main" val="28713704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7022E5-4FB4-5A8C-F7B4-17CCED37FFAD}"/>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B83EE73E-BF0E-BF5E-AA79-7E6D0936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BE13E73-336F-4F52-4E3F-F4A463AFB91B}"/>
              </a:ext>
            </a:extLst>
          </p:cNvPr>
          <p:cNvSpPr>
            <a:spLocks noGrp="1"/>
          </p:cNvSpPr>
          <p:nvPr>
            <p:ph type="ctrTitle"/>
          </p:nvPr>
        </p:nvSpPr>
        <p:spPr>
          <a:xfrm>
            <a:off x="874815" y="798703"/>
            <a:ext cx="5221185" cy="2557145"/>
          </a:xfrm>
        </p:spPr>
        <p:txBody>
          <a:bodyPr anchor="b">
            <a:normAutofit/>
          </a:bodyPr>
          <a:lstStyle/>
          <a:p>
            <a:r>
              <a:rPr lang="en-US" b="1" dirty="0">
                <a:latin typeface="Times New Roman" panose="02020603050405020304" pitchFamily="18" charset="0"/>
                <a:cs typeface="Times New Roman" panose="02020603050405020304" pitchFamily="18" charset="0"/>
              </a:rPr>
              <a:t>Deep Learning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(DL)</a:t>
            </a:r>
          </a:p>
        </p:txBody>
      </p:sp>
      <p:sp>
        <p:nvSpPr>
          <p:cNvPr id="3" name="Subtitle 2">
            <a:extLst>
              <a:ext uri="{FF2B5EF4-FFF2-40B4-BE49-F238E27FC236}">
                <a16:creationId xmlns:a16="http://schemas.microsoft.com/office/drawing/2014/main" id="{3157AC8A-08A6-3C8C-44C5-479D154578B8}"/>
              </a:ext>
            </a:extLst>
          </p:cNvPr>
          <p:cNvSpPr>
            <a:spLocks noGrp="1"/>
          </p:cNvSpPr>
          <p:nvPr>
            <p:ph type="subTitle" idx="1"/>
          </p:nvPr>
        </p:nvSpPr>
        <p:spPr>
          <a:xfrm>
            <a:off x="440663" y="3078283"/>
            <a:ext cx="6429744" cy="3779717"/>
          </a:xfrm>
        </p:spPr>
        <p:txBody>
          <a:bodyPr anchor="t">
            <a:normAutofit/>
          </a:bodyPr>
          <a:lstStyle/>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Lab6</a:t>
            </a:r>
          </a:p>
          <a:p>
            <a:br>
              <a:rPr lang="en-US" sz="700" dirty="0">
                <a:latin typeface="Times New Roman" panose="02020603050405020304" pitchFamily="18" charset="0"/>
                <a:cs typeface="Times New Roman" panose="02020603050405020304" pitchFamily="18" charset="0"/>
              </a:rPr>
            </a:br>
            <a:r>
              <a:rPr lang="en-GB" sz="2800" b="1" dirty="0">
                <a:latin typeface="Times New Roman" panose="02020603050405020304" pitchFamily="18" charset="0"/>
                <a:cs typeface="Times New Roman" panose="02020603050405020304" pitchFamily="18" charset="0"/>
              </a:rPr>
              <a:t>Natural Language Processing (NLP)</a:t>
            </a:r>
          </a:p>
          <a:p>
            <a:r>
              <a:rPr lang="en-US" sz="2800" b="1" dirty="0">
                <a:solidFill>
                  <a:srgbClr val="FF0000"/>
                </a:solidFill>
                <a:latin typeface="Times New Roman" panose="02020603050405020304" pitchFamily="18" charset="0"/>
                <a:cs typeface="Times New Roman" panose="02020603050405020304" pitchFamily="18" charset="0"/>
              </a:rPr>
              <a:t> </a:t>
            </a:r>
          </a:p>
          <a:p>
            <a:r>
              <a:rPr lang="en-US" sz="2800" b="1" dirty="0">
                <a:solidFill>
                  <a:srgbClr val="FF0000"/>
                </a:solidFill>
                <a:latin typeface="Times New Roman" panose="02020603050405020304" pitchFamily="18" charset="0"/>
                <a:cs typeface="Times New Roman" panose="02020603050405020304" pitchFamily="18" charset="0"/>
              </a:rPr>
              <a:t>Bidirectional LSTM</a:t>
            </a:r>
          </a:p>
        </p:txBody>
      </p:sp>
      <p:sp>
        <p:nvSpPr>
          <p:cNvPr id="63" name="Freeform: Shape 62">
            <a:extLst>
              <a:ext uri="{FF2B5EF4-FFF2-40B4-BE49-F238E27FC236}">
                <a16:creationId xmlns:a16="http://schemas.microsoft.com/office/drawing/2014/main" id="{40E3199C-D333-C3B5-7ACE-EA71885844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Shape 64">
            <a:extLst>
              <a:ext uri="{FF2B5EF4-FFF2-40B4-BE49-F238E27FC236}">
                <a16:creationId xmlns:a16="http://schemas.microsoft.com/office/drawing/2014/main" id="{48151735-2366-5144-729E-32A08EFED7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Freeform: Shape 66">
            <a:extLst>
              <a:ext uri="{FF2B5EF4-FFF2-40B4-BE49-F238E27FC236}">
                <a16:creationId xmlns:a16="http://schemas.microsoft.com/office/drawing/2014/main" id="{4B2040FF-EC2A-8F44-26D2-64485B9DE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Freeform: Shape 68">
            <a:extLst>
              <a:ext uri="{FF2B5EF4-FFF2-40B4-BE49-F238E27FC236}">
                <a16:creationId xmlns:a16="http://schemas.microsoft.com/office/drawing/2014/main" id="{8CD12B22-BE50-4810-8A48-8537144458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2E8E6169-F867-DBFE-2CB4-D2DEBBAFC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Freeform: Shape 78">
            <a:extLst>
              <a:ext uri="{FF2B5EF4-FFF2-40B4-BE49-F238E27FC236}">
                <a16:creationId xmlns:a16="http://schemas.microsoft.com/office/drawing/2014/main" id="{72C87020-C488-D449-DD7E-201CB9424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98" name="Picture 2" descr="Visión - Iconos gratis de computadora">
            <a:extLst>
              <a:ext uri="{FF2B5EF4-FFF2-40B4-BE49-F238E27FC236}">
                <a16:creationId xmlns:a16="http://schemas.microsoft.com/office/drawing/2014/main" id="{D170DE05-FC13-F2D4-716F-51F95B4D8D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9392" y="747640"/>
            <a:ext cx="48768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logo with blue lines and a letter h&#10;&#10;Description automatically generated">
            <a:extLst>
              <a:ext uri="{FF2B5EF4-FFF2-40B4-BE49-F238E27FC236}">
                <a16:creationId xmlns:a16="http://schemas.microsoft.com/office/drawing/2014/main" id="{437A6EFD-3676-EC9C-120E-4B20C2E1C712}"/>
              </a:ext>
            </a:extLst>
          </p:cNvPr>
          <p:cNvPicPr>
            <a:picLocks noChangeAspect="1"/>
          </p:cNvPicPr>
          <p:nvPr/>
        </p:nvPicPr>
        <p:blipFill>
          <a:blip r:embed="rId3">
            <a:extLst>
              <a:ext uri="{28A0092B-C50C-407E-A947-70E740481C1C}">
                <a14:useLocalDpi xmlns:a14="http://schemas.microsoft.com/office/drawing/2010/main" val="0"/>
              </a:ext>
            </a:extLst>
          </a:blip>
          <a:srcRect l="18741" r="17967"/>
          <a:stretch/>
        </p:blipFill>
        <p:spPr>
          <a:xfrm>
            <a:off x="7461299" y="1903445"/>
            <a:ext cx="3182522" cy="2164702"/>
          </a:xfrm>
          <a:prstGeom prst="rect">
            <a:avLst/>
          </a:prstGeom>
        </p:spPr>
      </p:pic>
    </p:spTree>
    <p:extLst>
      <p:ext uri="{BB962C8B-B14F-4D97-AF65-F5344CB8AC3E}">
        <p14:creationId xmlns:p14="http://schemas.microsoft.com/office/powerpoint/2010/main" val="25293605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2A360B-64BE-DB7F-2633-4D3B93A92531}"/>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FE447878-F807-454E-F67E-3BD3491FEEAB}"/>
              </a:ext>
            </a:extLst>
          </p:cNvPr>
          <p:cNvSpPr txBox="1">
            <a:spLocks noGrp="1"/>
          </p:cNvSpPr>
          <p:nvPr>
            <p:ph type="ctrTitle"/>
          </p:nvPr>
        </p:nvSpPr>
        <p:spPr>
          <a:xfrm>
            <a:off x="1524000" y="1606995"/>
            <a:ext cx="9144000" cy="1693989"/>
          </a:xfrm>
        </p:spPr>
        <p:txBody>
          <a:bodyPr vert="horz" lIns="0" tIns="16933" rIns="0" bIns="0" rtlCol="0" anchor="b">
            <a:normAutofit/>
          </a:bodyPr>
          <a:lstStyle/>
          <a:p>
            <a:pPr marL="16933">
              <a:spcBef>
                <a:spcPts val="133"/>
              </a:spcBef>
            </a:pPr>
            <a:r>
              <a:rPr lang="en-US" b="1" dirty="0">
                <a:latin typeface="Times New Roman" panose="02020603050405020304" pitchFamily="18" charset="0"/>
                <a:cs typeface="Times New Roman" panose="02020603050405020304" pitchFamily="18" charset="0"/>
              </a:rPr>
              <a:t>Bidirectional LSTM</a:t>
            </a:r>
            <a:endParaRPr lang="en-GB"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B5D4F1B-3822-9FEA-0A28-54616860B85E}"/>
              </a:ext>
            </a:extLst>
          </p:cNvPr>
          <p:cNvSpPr>
            <a:spLocks noGrp="1"/>
          </p:cNvSpPr>
          <p:nvPr>
            <p:ph type="sldNum" sz="quarter" idx="12"/>
          </p:nvPr>
        </p:nvSpPr>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5EE24C92-1265-4741-8F9F-404A15D9386E}"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61</a:t>
            </a:fld>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48834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142B67D2-0B3E-1301-8C94-A4140ED5FF26}"/>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9DA92B55-69BD-5FE5-D5B2-3C4A3849165C}"/>
              </a:ext>
            </a:extLst>
          </p:cNvPr>
          <p:cNvSpPr txBox="1">
            <a:spLocks noGrp="1"/>
          </p:cNvSpPr>
          <p:nvPr>
            <p:ph type="title"/>
          </p:nvPr>
        </p:nvSpPr>
        <p:spPr>
          <a:xfrm>
            <a:off x="433931" y="212002"/>
            <a:ext cx="10740037" cy="846777"/>
          </a:xfrm>
          <a:prstGeom prst="rect">
            <a:avLst/>
          </a:prstGeom>
        </p:spPr>
        <p:txBody>
          <a:bodyPr vert="horz" lIns="91440" tIns="45720" rIns="91440" bIns="45720" rtlCol="0" anchor="b">
            <a:normAutofit/>
          </a:bodyPr>
          <a:lstStyle/>
          <a:p>
            <a:pPr marL="16933" algn="ctr" rtl="0">
              <a:lnSpc>
                <a:spcPct val="90000"/>
              </a:lnSpc>
              <a:spcBef>
                <a:spcPct val="0"/>
              </a:spcBef>
            </a:pPr>
            <a:r>
              <a:rPr lang="en-US" sz="4400" b="1" kern="1200" spc="93" dirty="0">
                <a:solidFill>
                  <a:schemeClr val="tx1"/>
                </a:solidFill>
                <a:latin typeface="+mj-lt"/>
                <a:ea typeface="+mj-ea"/>
                <a:cs typeface="+mj-cs"/>
              </a:rPr>
              <a:t>Bidirectional LSTM</a:t>
            </a:r>
            <a:endParaRPr lang="en-US" sz="4400" b="1" kern="1200" spc="87" dirty="0">
              <a:solidFill>
                <a:schemeClr val="tx1"/>
              </a:solidFill>
              <a:latin typeface="+mj-lt"/>
              <a:ea typeface="+mj-ea"/>
              <a:cs typeface="+mj-cs"/>
            </a:endParaRPr>
          </a:p>
        </p:txBody>
      </p:sp>
      <p:sp>
        <p:nvSpPr>
          <p:cNvPr id="2" name="Slide Number Placeholder 1">
            <a:extLst>
              <a:ext uri="{FF2B5EF4-FFF2-40B4-BE49-F238E27FC236}">
                <a16:creationId xmlns:a16="http://schemas.microsoft.com/office/drawing/2014/main" id="{A3B3B6D9-CF62-B5A6-7354-180627E31D47}"/>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600"/>
              </a:spcAft>
              <a:buClrTx/>
              <a:buSzTx/>
              <a:buFontTx/>
              <a:buNone/>
              <a:tabLst/>
              <a:defRPr/>
            </a:pPr>
            <a:fld id="{5EE24C92-1265-4741-8F9F-404A15D9386E}" type="slidenum">
              <a:rPr kumimoji="0" lang="en-US" sz="1200" b="0" i="0" u="none" strike="noStrike" kern="1200" cap="none" spc="0" normalizeH="0" baseline="0" noProof="0" smtClean="0">
                <a:ln>
                  <a:noFill/>
                </a:ln>
                <a:solidFill>
                  <a:prstClr val="black">
                    <a:lumMod val="50000"/>
                    <a:lumOff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62</a:t>
            </a:fld>
            <a:endParaRPr kumimoji="0" lang="en-US" sz="1200" b="0" i="0" u="none" strike="noStrike" kern="1200" cap="none" spc="0" normalizeH="0" baseline="0" noProof="0">
              <a:ln>
                <a:noFill/>
              </a:ln>
              <a:solidFill>
                <a:prstClr val="black">
                  <a:lumMod val="50000"/>
                  <a:lumOff val="50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2B8AF608-CE33-C766-B1F2-A324A0A655BE}"/>
              </a:ext>
            </a:extLst>
          </p:cNvPr>
          <p:cNvSpPr txBox="1"/>
          <p:nvPr/>
        </p:nvSpPr>
        <p:spPr>
          <a:xfrm>
            <a:off x="138683" y="1053312"/>
            <a:ext cx="1205331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Bidirectional LSTM (Bi-LSTM)</a:t>
            </a:r>
            <a:r>
              <a:rPr kumimoji="0" lang="en-US" sz="1800" b="0" i="0" u="none" strike="noStrike" kern="1200" cap="none" spc="0" normalizeH="0" baseline="0" noProof="0" dirty="0">
                <a:ln>
                  <a:noFill/>
                </a:ln>
                <a:solidFill>
                  <a:prstClr val="black"/>
                </a:solidFill>
                <a:effectLst/>
                <a:uLnTx/>
                <a:uFillTx/>
                <a:latin typeface="Calibri"/>
                <a:ea typeface="+mn-ea"/>
                <a:cs typeface="+mn-cs"/>
              </a:rPr>
              <a:t>: Extends LSTMs by processing sequences in both forward and backward directions. It combines the outputs of two LSTM layers—one for forward and one for backward passes—to capture context from both directions.</a:t>
            </a:r>
          </a:p>
        </p:txBody>
      </p:sp>
      <p:sp>
        <p:nvSpPr>
          <p:cNvPr id="4" name="TextBox 3">
            <a:extLst>
              <a:ext uri="{FF2B5EF4-FFF2-40B4-BE49-F238E27FC236}">
                <a16:creationId xmlns:a16="http://schemas.microsoft.com/office/drawing/2014/main" id="{39F96767-884A-BB06-C29C-BC86BB5CBBC3}"/>
              </a:ext>
            </a:extLst>
          </p:cNvPr>
          <p:cNvSpPr txBox="1"/>
          <p:nvPr/>
        </p:nvSpPr>
        <p:spPr>
          <a:xfrm>
            <a:off x="-1" y="1924858"/>
            <a:ext cx="3849625" cy="4247317"/>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Forward Pass</a:t>
            </a:r>
            <a:r>
              <a:rPr kumimoji="0" lang="en-US" sz="1800" b="0" i="0" u="none" strike="noStrike" kern="1200" cap="none" spc="0" normalizeH="0" baseline="0" noProof="0" dirty="0">
                <a:ln>
                  <a:noFill/>
                </a:ln>
                <a:solidFill>
                  <a:prstClr val="black"/>
                </a:solidFill>
                <a:effectLst/>
                <a:uLnTx/>
                <a:uFillTx/>
                <a:latin typeface="Calibri"/>
                <a:ea typeface="+mn-ea"/>
                <a:cs typeface="+mn-cs"/>
              </a:rPr>
              <a:t>: Processes the sequence from start to end, updating hidden states and memory cells at each step.</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Backward Pass</a:t>
            </a:r>
            <a:r>
              <a:rPr kumimoji="0" lang="en-US" sz="1800" b="0" i="0" u="none" strike="noStrike" kern="1200" cap="none" spc="0" normalizeH="0" baseline="0" noProof="0" dirty="0">
                <a:ln>
                  <a:noFill/>
                </a:ln>
                <a:solidFill>
                  <a:prstClr val="black"/>
                </a:solidFill>
                <a:effectLst/>
                <a:uLnTx/>
                <a:uFillTx/>
                <a:latin typeface="Calibri"/>
                <a:ea typeface="+mn-ea"/>
                <a:cs typeface="+mn-cs"/>
              </a:rPr>
              <a:t>: Processes the sequence in reverse, updating hidden states and memory cells similarly.</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Combining States</a:t>
            </a:r>
            <a:r>
              <a:rPr kumimoji="0" lang="en-US" sz="1800" b="0" i="0" u="none" strike="noStrike" kern="1200" cap="none" spc="0" normalizeH="0" baseline="0" noProof="0" dirty="0">
                <a:ln>
                  <a:noFill/>
                </a:ln>
                <a:solidFill>
                  <a:prstClr val="black"/>
                </a:solidFill>
                <a:effectLst/>
                <a:uLnTx/>
                <a:uFillTx/>
                <a:latin typeface="Calibri"/>
                <a:ea typeface="+mn-ea"/>
                <a:cs typeface="+mn-cs"/>
              </a:rPr>
              <a:t>: Outputs from forward and backward layers are merged (e.g., concatenated) to provide a comprehensive representation of the sequence.</a:t>
            </a:r>
          </a:p>
        </p:txBody>
      </p:sp>
      <p:pic>
        <p:nvPicPr>
          <p:cNvPr id="7" name="Picture 2">
            <a:extLst>
              <a:ext uri="{FF2B5EF4-FFF2-40B4-BE49-F238E27FC236}">
                <a16:creationId xmlns:a16="http://schemas.microsoft.com/office/drawing/2014/main" id="{001A5CB9-3F9C-B81E-53BB-43A5E41C3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4344" y="2196975"/>
            <a:ext cx="8328578" cy="379764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41C16137-029A-05AD-48E9-656224558BD4}"/>
              </a:ext>
            </a:extLst>
          </p:cNvPr>
          <p:cNvPicPr>
            <a:picLocks noChangeAspect="1"/>
          </p:cNvPicPr>
          <p:nvPr/>
        </p:nvPicPr>
        <p:blipFill>
          <a:blip r:embed="rId4"/>
          <a:stretch>
            <a:fillRect/>
          </a:stretch>
        </p:blipFill>
        <p:spPr>
          <a:xfrm>
            <a:off x="71447" y="1924858"/>
            <a:ext cx="440617" cy="285790"/>
          </a:xfrm>
          <a:prstGeom prst="rect">
            <a:avLst/>
          </a:prstGeom>
        </p:spPr>
      </p:pic>
      <p:pic>
        <p:nvPicPr>
          <p:cNvPr id="14" name="Picture 13">
            <a:extLst>
              <a:ext uri="{FF2B5EF4-FFF2-40B4-BE49-F238E27FC236}">
                <a16:creationId xmlns:a16="http://schemas.microsoft.com/office/drawing/2014/main" id="{78BC5FD9-5DF7-4937-D252-F5A948BE0025}"/>
              </a:ext>
            </a:extLst>
          </p:cNvPr>
          <p:cNvPicPr>
            <a:picLocks noChangeAspect="1"/>
          </p:cNvPicPr>
          <p:nvPr/>
        </p:nvPicPr>
        <p:blipFill>
          <a:blip r:embed="rId5"/>
          <a:stretch>
            <a:fillRect/>
          </a:stretch>
        </p:blipFill>
        <p:spPr>
          <a:xfrm>
            <a:off x="119078" y="3304973"/>
            <a:ext cx="392986" cy="390580"/>
          </a:xfrm>
          <a:prstGeom prst="rect">
            <a:avLst/>
          </a:prstGeom>
        </p:spPr>
      </p:pic>
      <p:pic>
        <p:nvPicPr>
          <p:cNvPr id="16" name="Picture 15">
            <a:extLst>
              <a:ext uri="{FF2B5EF4-FFF2-40B4-BE49-F238E27FC236}">
                <a16:creationId xmlns:a16="http://schemas.microsoft.com/office/drawing/2014/main" id="{ECF3327E-74D0-E9AC-F4E5-826EBA72D5BB}"/>
              </a:ext>
            </a:extLst>
          </p:cNvPr>
          <p:cNvPicPr>
            <a:picLocks noChangeAspect="1"/>
          </p:cNvPicPr>
          <p:nvPr/>
        </p:nvPicPr>
        <p:blipFill>
          <a:blip r:embed="rId6"/>
          <a:stretch>
            <a:fillRect/>
          </a:stretch>
        </p:blipFill>
        <p:spPr>
          <a:xfrm>
            <a:off x="23815" y="4624589"/>
            <a:ext cx="488249" cy="550916"/>
          </a:xfrm>
          <a:prstGeom prst="rect">
            <a:avLst/>
          </a:prstGeom>
        </p:spPr>
      </p:pic>
    </p:spTree>
    <p:extLst>
      <p:ext uri="{BB962C8B-B14F-4D97-AF65-F5344CB8AC3E}">
        <p14:creationId xmlns:p14="http://schemas.microsoft.com/office/powerpoint/2010/main" val="4681060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EF40EE3-C689-9A57-10F4-8DF27D0A5184}"/>
            </a:ext>
          </a:extLst>
        </p:cNvPr>
        <p:cNvGrpSpPr/>
        <p:nvPr/>
      </p:nvGrpSpPr>
      <p:grpSpPr>
        <a:xfrm>
          <a:off x="0" y="0"/>
          <a:ext cx="0" cy="0"/>
          <a:chOff x="0" y="0"/>
          <a:chExt cx="0" cy="0"/>
        </a:xfrm>
      </p:grpSpPr>
      <p:sp>
        <p:nvSpPr>
          <p:cNvPr id="14" name="object 14">
            <a:extLst>
              <a:ext uri="{FF2B5EF4-FFF2-40B4-BE49-F238E27FC236}">
                <a16:creationId xmlns:a16="http://schemas.microsoft.com/office/drawing/2014/main" id="{3C559395-7636-10CC-3E7B-636989E703EB}"/>
              </a:ext>
            </a:extLst>
          </p:cNvPr>
          <p:cNvSpPr txBox="1"/>
          <p:nvPr/>
        </p:nvSpPr>
        <p:spPr>
          <a:xfrm>
            <a:off x="11509375" y="339597"/>
            <a:ext cx="217804" cy="2393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0" i="0" u="none" strike="noStrike" kern="1200" cap="none" spc="-20" normalizeH="0" baseline="0" noProof="0" dirty="0">
                <a:ln>
                  <a:noFill/>
                </a:ln>
                <a:solidFill>
                  <a:srgbClr val="FFFFFF"/>
                </a:solidFill>
                <a:effectLst/>
                <a:uLnTx/>
                <a:uFillTx/>
                <a:latin typeface="Cambria"/>
                <a:ea typeface="+mn-ea"/>
                <a:cs typeface="Cambria"/>
              </a:rPr>
              <a:t>67</a:t>
            </a:r>
            <a:endParaRPr kumimoji="0" sz="1400" b="0" i="0" u="none" strike="noStrike" kern="1200" cap="none" spc="0" normalizeH="0" baseline="0" noProof="0">
              <a:ln>
                <a:noFill/>
              </a:ln>
              <a:solidFill>
                <a:prstClr val="black"/>
              </a:solidFill>
              <a:effectLst/>
              <a:uLnTx/>
              <a:uFillTx/>
              <a:latin typeface="Cambria"/>
              <a:ea typeface="+mn-ea"/>
              <a:cs typeface="Cambria"/>
            </a:endParaRPr>
          </a:p>
        </p:txBody>
      </p:sp>
      <p:pic>
        <p:nvPicPr>
          <p:cNvPr id="6" name="Picture 5">
            <a:extLst>
              <a:ext uri="{FF2B5EF4-FFF2-40B4-BE49-F238E27FC236}">
                <a16:creationId xmlns:a16="http://schemas.microsoft.com/office/drawing/2014/main" id="{5E72C9FB-868F-4D54-882E-A88FAB58EDF8}"/>
              </a:ext>
            </a:extLst>
          </p:cNvPr>
          <p:cNvPicPr>
            <a:picLocks noChangeAspect="1"/>
          </p:cNvPicPr>
          <p:nvPr/>
        </p:nvPicPr>
        <p:blipFill>
          <a:blip r:embed="rId3"/>
          <a:stretch>
            <a:fillRect/>
          </a:stretch>
        </p:blipFill>
        <p:spPr>
          <a:xfrm>
            <a:off x="240785" y="0"/>
            <a:ext cx="11710429" cy="6858000"/>
          </a:xfrm>
          <a:prstGeom prst="rect">
            <a:avLst/>
          </a:prstGeom>
        </p:spPr>
      </p:pic>
    </p:spTree>
    <p:extLst>
      <p:ext uri="{BB962C8B-B14F-4D97-AF65-F5344CB8AC3E}">
        <p14:creationId xmlns:p14="http://schemas.microsoft.com/office/powerpoint/2010/main" val="28771650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1F20780-A293-4C6A-7542-8B00017E615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1104D2-4D5A-9D05-3EFD-907156248872}"/>
              </a:ext>
            </a:extLst>
          </p:cNvPr>
          <p:cNvSpPr>
            <a:spLocks noGrp="1"/>
          </p:cNvSpPr>
          <p:nvPr>
            <p:ph type="sldNum" sz="quarter" idx="12"/>
          </p:nvPr>
        </p:nvSpPr>
        <p:spPr/>
        <p:txBody>
          <a:bodyPr/>
          <a:lstStyle/>
          <a:p>
            <a:fld id="{5EE24C92-1265-4741-8F9F-404A15D9386E}" type="slidenum">
              <a:rPr lang="en-US" smtClean="0"/>
              <a:t>64</a:t>
            </a:fld>
            <a:endParaRPr lang="en-US" dirty="0"/>
          </a:p>
        </p:txBody>
      </p:sp>
      <p:pic>
        <p:nvPicPr>
          <p:cNvPr id="4" name="Picture 3">
            <a:extLst>
              <a:ext uri="{FF2B5EF4-FFF2-40B4-BE49-F238E27FC236}">
                <a16:creationId xmlns:a16="http://schemas.microsoft.com/office/drawing/2014/main" id="{D29598B3-7AAD-B295-6523-14E5D2EA66E0}"/>
              </a:ext>
            </a:extLst>
          </p:cNvPr>
          <p:cNvPicPr>
            <a:picLocks noChangeAspect="1"/>
          </p:cNvPicPr>
          <p:nvPr/>
        </p:nvPicPr>
        <p:blipFill>
          <a:blip r:embed="rId2"/>
          <a:stretch>
            <a:fillRect/>
          </a:stretch>
        </p:blipFill>
        <p:spPr>
          <a:xfrm>
            <a:off x="147637" y="1650124"/>
            <a:ext cx="11896725" cy="3557752"/>
          </a:xfrm>
          <a:prstGeom prst="rect">
            <a:avLst/>
          </a:prstGeom>
        </p:spPr>
      </p:pic>
      <p:sp>
        <p:nvSpPr>
          <p:cNvPr id="6" name="TextBox 5">
            <a:extLst>
              <a:ext uri="{FF2B5EF4-FFF2-40B4-BE49-F238E27FC236}">
                <a16:creationId xmlns:a16="http://schemas.microsoft.com/office/drawing/2014/main" id="{62637A09-255D-0B22-4CB2-89B57771A041}"/>
              </a:ext>
            </a:extLst>
          </p:cNvPr>
          <p:cNvSpPr txBox="1"/>
          <p:nvPr/>
        </p:nvSpPr>
        <p:spPr>
          <a:xfrm>
            <a:off x="147637" y="186179"/>
            <a:ext cx="6096000" cy="630942"/>
          </a:xfrm>
          <a:prstGeom prst="rect">
            <a:avLst/>
          </a:prstGeom>
          <a:noFill/>
        </p:spPr>
        <p:txBody>
          <a:bodyPr wrap="square">
            <a:spAutoFit/>
          </a:bodyPr>
          <a:lstStyle/>
          <a:p>
            <a:r>
              <a:rPr lang="en-US" sz="3500" b="1" dirty="0"/>
              <a:t>⚖️ Quick Comparison</a:t>
            </a:r>
          </a:p>
        </p:txBody>
      </p:sp>
    </p:spTree>
    <p:extLst>
      <p:ext uri="{BB962C8B-B14F-4D97-AF65-F5344CB8AC3E}">
        <p14:creationId xmlns:p14="http://schemas.microsoft.com/office/powerpoint/2010/main" val="25352800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F175BC99-D515-C677-8D90-BB04700762B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3428BE-06D1-AC68-E55D-94ABDC40EFEF}"/>
              </a:ext>
            </a:extLst>
          </p:cNvPr>
          <p:cNvSpPr>
            <a:spLocks noGrp="1"/>
          </p:cNvSpPr>
          <p:nvPr>
            <p:ph type="sldNum" sz="quarter" idx="12"/>
          </p:nvPr>
        </p:nvSpPr>
        <p:spPr/>
        <p:txBody>
          <a:bodyPr/>
          <a:lstStyle/>
          <a:p>
            <a:fld id="{5EE24C92-1265-4741-8F9F-404A15D9386E}" type="slidenum">
              <a:rPr lang="en-US" smtClean="0"/>
              <a:t>65</a:t>
            </a:fld>
            <a:endParaRPr lang="en-US" dirty="0"/>
          </a:p>
        </p:txBody>
      </p:sp>
      <p:sp>
        <p:nvSpPr>
          <p:cNvPr id="7" name="TextBox 6">
            <a:extLst>
              <a:ext uri="{FF2B5EF4-FFF2-40B4-BE49-F238E27FC236}">
                <a16:creationId xmlns:a16="http://schemas.microsoft.com/office/drawing/2014/main" id="{CBEE77F6-88DE-C8BF-D8FB-DEF18023A4DF}"/>
              </a:ext>
            </a:extLst>
          </p:cNvPr>
          <p:cNvSpPr txBox="1"/>
          <p:nvPr/>
        </p:nvSpPr>
        <p:spPr>
          <a:xfrm>
            <a:off x="367862" y="1565305"/>
            <a:ext cx="6096000" cy="923330"/>
          </a:xfrm>
          <a:prstGeom prst="rect">
            <a:avLst/>
          </a:prstGeom>
          <a:noFill/>
        </p:spPr>
        <p:txBody>
          <a:bodyPr wrap="square">
            <a:spAutoFit/>
          </a:bodyPr>
          <a:lstStyle/>
          <a:p>
            <a:r>
              <a:rPr lang="en-US" dirty="0">
                <a:hlinkClick r:id="rId2"/>
              </a:rPr>
              <a:t>https://youtu.be/7Zz-hQfp5xM?si=DrBV9O2r7jTQFX3U</a:t>
            </a:r>
            <a:r>
              <a:rPr lang="ar-EG" dirty="0"/>
              <a:t> </a:t>
            </a:r>
          </a:p>
          <a:p>
            <a:r>
              <a:rPr lang="en-US" dirty="0">
                <a:hlinkClick r:id="rId3"/>
              </a:rPr>
              <a:t>https://youtu.be/dfTD6eeMZHE?si=GhQtLee--Ybouhqh</a:t>
            </a:r>
            <a:endParaRPr lang="ar-EG" dirty="0"/>
          </a:p>
          <a:p>
            <a:endParaRPr lang="en-US" dirty="0"/>
          </a:p>
        </p:txBody>
      </p:sp>
      <p:sp>
        <p:nvSpPr>
          <p:cNvPr id="9" name="TextBox 8">
            <a:extLst>
              <a:ext uri="{FF2B5EF4-FFF2-40B4-BE49-F238E27FC236}">
                <a16:creationId xmlns:a16="http://schemas.microsoft.com/office/drawing/2014/main" id="{09B40F4D-DB83-8757-7316-BC52E93618F2}"/>
              </a:ext>
            </a:extLst>
          </p:cNvPr>
          <p:cNvSpPr txBox="1"/>
          <p:nvPr/>
        </p:nvSpPr>
        <p:spPr>
          <a:xfrm>
            <a:off x="367862" y="2721444"/>
            <a:ext cx="6096000" cy="923330"/>
          </a:xfrm>
          <a:prstGeom prst="rect">
            <a:avLst/>
          </a:prstGeom>
          <a:noFill/>
        </p:spPr>
        <p:txBody>
          <a:bodyPr wrap="square">
            <a:spAutoFit/>
          </a:bodyPr>
          <a:lstStyle/>
          <a:p>
            <a:r>
              <a:rPr lang="en-US" dirty="0">
                <a:hlinkClick r:id="rId4"/>
              </a:rPr>
              <a:t>https://youtu.be/qWcTretvSVQ?si=H-XmRr4pZixiCtVW</a:t>
            </a:r>
            <a:endParaRPr lang="ar-EG" dirty="0"/>
          </a:p>
          <a:p>
            <a:r>
              <a:rPr lang="en-US" dirty="0">
                <a:hlinkClick r:id="rId5"/>
              </a:rPr>
              <a:t>https://youtu.be/n4VOB733v98?si=Dh1DEg4Q9XGj6tAe</a:t>
            </a:r>
            <a:endParaRPr lang="ar-EG" dirty="0"/>
          </a:p>
          <a:p>
            <a:r>
              <a:rPr lang="en-US" dirty="0">
                <a:hlinkClick r:id="rId6"/>
              </a:rPr>
              <a:t>https://youtu.be/s2x_NMayknc?si=deQpQIWacioX6phF</a:t>
            </a:r>
            <a:r>
              <a:rPr lang="ar-EG" dirty="0"/>
              <a:t> </a:t>
            </a:r>
            <a:endParaRPr lang="en-US" dirty="0"/>
          </a:p>
        </p:txBody>
      </p:sp>
      <p:sp>
        <p:nvSpPr>
          <p:cNvPr id="11" name="TextBox 10">
            <a:extLst>
              <a:ext uri="{FF2B5EF4-FFF2-40B4-BE49-F238E27FC236}">
                <a16:creationId xmlns:a16="http://schemas.microsoft.com/office/drawing/2014/main" id="{62B67B5B-D780-198B-BBCE-DDE11A541D4A}"/>
              </a:ext>
            </a:extLst>
          </p:cNvPr>
          <p:cNvSpPr txBox="1"/>
          <p:nvPr/>
        </p:nvSpPr>
        <p:spPr>
          <a:xfrm>
            <a:off x="367862" y="734989"/>
            <a:ext cx="6096000" cy="369332"/>
          </a:xfrm>
          <a:prstGeom prst="rect">
            <a:avLst/>
          </a:prstGeom>
          <a:noFill/>
        </p:spPr>
        <p:txBody>
          <a:bodyPr wrap="square">
            <a:spAutoFit/>
          </a:bodyPr>
          <a:lstStyle/>
          <a:p>
            <a:r>
              <a:rPr lang="en-US" dirty="0">
                <a:hlinkClick r:id="rId7"/>
              </a:rPr>
              <a:t>https://youtu.be/0VMbGsg4LCs?si=Sendb-kUvJPZJCHy</a:t>
            </a:r>
            <a:r>
              <a:rPr lang="ar-EG" dirty="0"/>
              <a:t> </a:t>
            </a:r>
            <a:endParaRPr lang="en-US" dirty="0"/>
          </a:p>
        </p:txBody>
      </p:sp>
    </p:spTree>
    <p:extLst>
      <p:ext uri="{BB962C8B-B14F-4D97-AF65-F5344CB8AC3E}">
        <p14:creationId xmlns:p14="http://schemas.microsoft.com/office/powerpoint/2010/main" val="33991836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034368" y="2432493"/>
            <a:ext cx="3941233" cy="1371315"/>
          </a:xfrm>
          <a:prstGeom prst="rect">
            <a:avLst/>
          </a:prstGeom>
        </p:spPr>
        <p:txBody>
          <a:bodyPr vert="horz" wrap="square" lIns="0" tIns="16933" rIns="0" bIns="0" rtlCol="0" anchor="ctr">
            <a:spAutoFit/>
          </a:bodyPr>
          <a:lstStyle/>
          <a:p>
            <a:pPr marL="16933">
              <a:lnSpc>
                <a:spcPct val="100000"/>
              </a:lnSpc>
              <a:spcBef>
                <a:spcPts val="133"/>
              </a:spcBef>
            </a:pPr>
            <a:r>
              <a:rPr sz="8800" b="1" spc="-13" dirty="0"/>
              <a:t>Thanks</a:t>
            </a:r>
            <a:endParaRPr sz="8800" b="1" dirty="0"/>
          </a:p>
        </p:txBody>
      </p:sp>
      <p:sp>
        <p:nvSpPr>
          <p:cNvPr id="2" name="Slide Number Placeholder 1">
            <a:extLst>
              <a:ext uri="{FF2B5EF4-FFF2-40B4-BE49-F238E27FC236}">
                <a16:creationId xmlns:a16="http://schemas.microsoft.com/office/drawing/2014/main" id="{F991A882-7B02-BB3B-0C3C-81B0A094D6CD}"/>
              </a:ext>
            </a:extLst>
          </p:cNvPr>
          <p:cNvSpPr>
            <a:spLocks noGrp="1"/>
          </p:cNvSpPr>
          <p:nvPr>
            <p:ph type="sldNum" sz="quarter" idx="12"/>
          </p:nvPr>
        </p:nvSpPr>
        <p:spPr/>
        <p:txBody>
          <a:bodyPr/>
          <a:lstStyle/>
          <a:p>
            <a:fld id="{5EE24C92-1265-4741-8F9F-404A15D9386E}" type="slidenum">
              <a:rPr lang="en-US" smtClean="0"/>
              <a:t>66</a:t>
            </a:fld>
            <a:endParaRPr lang="en-US" dirty="0"/>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8495</TotalTime>
  <Words>2602</Words>
  <Application>Microsoft Office PowerPoint</Application>
  <PresentationFormat>Widescreen</PresentationFormat>
  <Paragraphs>359</Paragraphs>
  <Slides>66</Slides>
  <Notes>20</Notes>
  <HiddenSlides>9</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66</vt:i4>
      </vt:variant>
    </vt:vector>
  </HeadingPairs>
  <TitlesOfParts>
    <vt:vector size="79" baseType="lpstr">
      <vt:lpstr>Aptos</vt:lpstr>
      <vt:lpstr>Arial</vt:lpstr>
      <vt:lpstr>Calibri</vt:lpstr>
      <vt:lpstr>Calibri Light</vt:lpstr>
      <vt:lpstr>Cambria</vt:lpstr>
      <vt:lpstr>Courier New</vt:lpstr>
      <vt:lpstr>Roboto</vt:lpstr>
      <vt:lpstr>Tahoma</vt:lpstr>
      <vt:lpstr>Times New Roman</vt:lpstr>
      <vt:lpstr>Trebuchet MS</vt:lpstr>
      <vt:lpstr>Wingdings</vt:lpstr>
      <vt:lpstr>1_Office Theme</vt:lpstr>
      <vt:lpstr>2_Office Theme</vt:lpstr>
      <vt:lpstr>Deep Learning  (DL)</vt:lpstr>
      <vt:lpstr>Deep Learning  (DL)</vt:lpstr>
      <vt:lpstr>Recurrent Neural Networks (RNN)</vt:lpstr>
      <vt:lpstr>Recurrent Neural Networks (RNN)</vt:lpstr>
      <vt:lpstr>RNN  – unrolled in time</vt:lpstr>
      <vt:lpstr>PowerPoint Presentation</vt:lpstr>
      <vt:lpstr>PowerPoint Presentation</vt:lpstr>
      <vt:lpstr>PowerPoint Presentation</vt:lpstr>
      <vt:lpstr>PowerPoint Presentation</vt:lpstr>
      <vt:lpstr>Basic Recurrent Neural Networks (RNN)</vt:lpstr>
      <vt:lpstr>Recurrent Neural Networks (RNN)</vt:lpstr>
      <vt:lpstr>Recurrent Neural Networks (RNN)</vt:lpstr>
      <vt:lpstr>PowerPoint Presentation</vt:lpstr>
      <vt:lpstr>PowerPoint Presentation</vt:lpstr>
      <vt:lpstr>PowerPoint Presentation</vt:lpstr>
      <vt:lpstr>PowerPoint Presentation</vt:lpstr>
      <vt:lpstr>PowerPoint Presentation</vt:lpstr>
      <vt:lpstr>PowerPoint Presentation</vt:lpstr>
      <vt:lpstr>RNN training Back-propagation over time</vt:lpstr>
      <vt:lpstr>PowerPoint Presentation</vt:lpstr>
      <vt:lpstr>PowerPoint Presentation</vt:lpstr>
      <vt:lpstr>PowerPoint Presentation</vt:lpstr>
      <vt:lpstr>PowerPoint Presentation</vt:lpstr>
      <vt:lpstr>PowerPoint Presentation</vt:lpstr>
      <vt:lpstr>RNN - Problems</vt:lpstr>
      <vt:lpstr>PowerPoint Presentation</vt:lpstr>
      <vt:lpstr>PowerPoint Presentation</vt:lpstr>
      <vt:lpstr>PowerPoint Presentation</vt:lpstr>
      <vt:lpstr>Deep Learning  (DL)</vt:lpstr>
      <vt:lpstr>The basic difference between the function of tanh, sigmoid is the range.</vt:lpstr>
      <vt:lpstr>Long Short-Term Memory (LSTM)</vt:lpstr>
      <vt:lpstr>Long Short-Term Memory (LSTM)</vt:lpstr>
      <vt:lpstr>PowerPoint Presentation</vt:lpstr>
      <vt:lpstr>PowerPoint Presentation</vt:lpstr>
      <vt:lpstr>PowerPoint Presentation</vt:lpstr>
      <vt:lpstr>And then we design the new memory of the cell with this equation.</vt:lpstr>
      <vt:lpstr>This next step is controlling the amount of output from the cell.</vt:lpstr>
      <vt:lpstr>Then process and produce the output itself with the tanh equation</vt:lpstr>
      <vt:lpstr>Long Short-Term Memory (LSTM)</vt:lpstr>
      <vt:lpstr>PowerPoint Presentation</vt:lpstr>
      <vt:lpstr>PowerPoint Presentation</vt:lpstr>
      <vt:lpstr>PowerPoint Presentation</vt:lpstr>
      <vt:lpstr>PowerPoint Presentation</vt:lpstr>
      <vt:lpstr>PowerPoint Presentation</vt:lpstr>
      <vt:lpstr>Simple RNN vs LSTM</vt:lpstr>
      <vt:lpstr>Deep Learning  (DL)</vt:lpstr>
      <vt:lpstr>Gated Recurrent Unit (GRU)</vt:lpstr>
      <vt:lpstr>Gated Recurrent Unit (GRU)</vt:lpstr>
      <vt:lpstr>Gated Recurrent Unit (GRU)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Deep Learning  (DL)</vt:lpstr>
      <vt:lpstr>Bidirectional LSTM</vt:lpstr>
      <vt:lpstr>Bidirectional LSTM</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dc:creator>
  <cp:lastModifiedBy>Hossam Fakher</cp:lastModifiedBy>
  <cp:revision>85</cp:revision>
  <dcterms:created xsi:type="dcterms:W3CDTF">2024-03-14T10:03:54Z</dcterms:created>
  <dcterms:modified xsi:type="dcterms:W3CDTF">2026-04-05T21:19:54Z</dcterms:modified>
</cp:coreProperties>
</file>