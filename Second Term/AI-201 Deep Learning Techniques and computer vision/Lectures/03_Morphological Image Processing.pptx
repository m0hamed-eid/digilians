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" panose="020B0502030000000004" pitchFamily="34" charset="0"/>
      <p:regular r:id="rId19"/>
      <p:bold r:id="rId20"/>
      <p:italic r:id="rId21"/>
      <p:boldItalic r:id="rId22"/>
    </p:embeddedFont>
    <p:embeddedFont>
      <p:font typeface="Inter Medium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  <p:embeddedFont>
      <p:font typeface="Space Grotesk" panose="020B0604020202020204" charset="0"/>
      <p:regular r:id="rId31"/>
      <p:bold r:id="rId32"/>
    </p:embeddedFont>
    <p:embeddedFont>
      <p:font typeface="Space Grotesk SemiBold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FD3D82-07E0-471C-A389-5807AAED832C}">
  <a:tblStyle styleId="{65FD3D82-07E0-471C-A389-5807AAED832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70409" y="2546151"/>
            <a:ext cx="9451181" cy="7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Morphological Image Processing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5999" y="4513957"/>
            <a:ext cx="7620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Guide to mathematical set theory and algorithms in computer vision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94A3B8"/>
              </a:solidFill>
              <a:latin typeface="Inter"/>
              <a:ea typeface="Inter"/>
              <a:sym typeface="Inter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Dr. Ahmed Yousry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85750"/>
            <a:ext cx="20383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4B8A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ACADEMIC PRESENTATION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306175" y="6477000"/>
            <a:ext cx="1238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476500" y="2640359"/>
            <a:ext cx="7410449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 I: Core Operations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3448169" y="4819724"/>
            <a:ext cx="54864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Fit, Hit, and Miss criteria alongside fundamental Erosion &amp; Dilation operators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285750"/>
            <a:ext cx="1457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4B8A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CHAPTER OUTLINE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287125" y="6477000"/>
            <a:ext cx="142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6890"/>
            <a:ext cx="50958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85812" y="1777008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Morphological operations examine binary or grayscale structures by shifting a probe shape called a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Structuring Element (SE)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across the image plane: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1095375" y="2823567"/>
            <a:ext cx="4762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Set Definitions: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Foreground pixels represent set elements; background represents the empty space.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95375" y="3512939"/>
            <a:ext cx="4762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Fit Rule: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Every foreground pixel of the translated structuring element completely covers the foreground set.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095375" y="4202310"/>
            <a:ext cx="4762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 Rule: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At least one foreground pixel of the structuring element overlaps the foreground.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95375" y="4891682"/>
            <a:ext cx="4762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Miss Rule: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Structuring element has zero overlapping pixels with the foreground set.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85690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4627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23564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92502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285750"/>
            <a:ext cx="1447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6.1 PRELIMINARIES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04875" y="571500"/>
            <a:ext cx="11051381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Mathematical Preliminaries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1277600" y="6477000"/>
            <a:ext cx="152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  <a:endParaRPr/>
          </a:p>
        </p:txBody>
      </p:sp>
      <p:pic>
        <p:nvPicPr>
          <p:cNvPr id="1026" name="Picture 2" descr="Understanding Morphological Image Processing and Its Operations | Towards  Data Science">
            <a:extLst>
              <a:ext uri="{FF2B5EF4-FFF2-40B4-BE49-F238E27FC236}">
                <a16:creationId xmlns:a16="http://schemas.microsoft.com/office/drawing/2014/main" id="{856D0E73-0916-4F98-B181-9623C9120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56" y="2311795"/>
            <a:ext cx="5842574" cy="27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6890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932955"/>
            <a:ext cx="509587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2302519"/>
            <a:ext cx="5095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Erosion systematically strips pixels from foreground boundaries where the structuring element does not fit perfectly.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78856" y="3075830"/>
            <a:ext cx="210011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1095375" y="3561605"/>
            <a:ext cx="4762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Boundary Shrinkage: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Reduces the outer width of foreground areas.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95375" y="4250977"/>
            <a:ext cx="4762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Noise Removal: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Completely eliminates white noise structures smaller than the SE.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95375" y="4940349"/>
            <a:ext cx="47625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Hole Expansion: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Increases the size of interior dark voids.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59494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28431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497368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62000" y="285750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6.2.1 CORE OPERATORS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04875" y="571500"/>
            <a:ext cx="11051381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Erosion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1277600" y="6477000"/>
            <a:ext cx="152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BCB5537-111C-492E-B655-29EDC272F2F2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540" y="2662603"/>
            <a:ext cx="4236085" cy="2106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6890"/>
            <a:ext cx="5095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890242"/>
            <a:ext cx="5095875" cy="571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2259806"/>
            <a:ext cx="5095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Dilation expands the spatial extent of foreground structures by appending pixel weights wherever the probe overlaps.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79537" y="3033117"/>
            <a:ext cx="3098750" cy="2854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1095375" y="3604319"/>
            <a:ext cx="476250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Structural Growth: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Magnifies pixel profiles and thickens lines.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95375" y="4034730"/>
            <a:ext cx="4762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Gap Bridging: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Closes and resolves narrow channels, fractures, or disconnected lines.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95375" y="4724102"/>
            <a:ext cx="47625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Hole Sealing:</a:t>
            </a:r>
            <a:r>
              <a:rPr lang="en-US" sz="12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Fills interior black holes smaller than the SE boundaries.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63765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06806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4757439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62000" y="285750"/>
            <a:ext cx="18192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6.2.2 CORE OPERATORS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04875" y="571500"/>
            <a:ext cx="11051381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Dilation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1287125" y="6477000"/>
            <a:ext cx="142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59684E-372C-41C2-93C2-0246AE94BAD2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507" y="2800637"/>
            <a:ext cx="4166235" cy="2072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744" y="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93626"/>
            <a:ext cx="5191125" cy="294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393626"/>
            <a:ext cx="5191125" cy="294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2947987"/>
            <a:ext cx="45053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2947987"/>
            <a:ext cx="450532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104900" y="1736526"/>
            <a:ext cx="47305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D948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Morphological Opening (A ∘ B)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04900" y="2174676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Calculated as erosion followed sequentially by dilation with the identical structuring element: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104900" y="3567112"/>
            <a:ext cx="45053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Ideal for: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Removing small spikes, fine protrusions, and background speckles while preserving structural contours.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581775" y="1736526"/>
            <a:ext cx="47305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D948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Morphological Closing (A • B)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581775" y="2174676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Calculated as dilation followed sequentially by erosion with the identical structuring element: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581775" y="3567112"/>
            <a:ext cx="45053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Ideal for: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Sealing interior gaps, filling small cracks, and connecting fractured target objects without resizing.</a:t>
            </a:r>
            <a:endParaRPr dirty="0"/>
          </a:p>
        </p:txBody>
      </p:sp>
      <p:pic>
        <p:nvPicPr>
          <p:cNvPr id="173" name="Google Shape;17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42567" y="3090862"/>
            <a:ext cx="186809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33580" y="3090862"/>
            <a:ext cx="183966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62000" y="285750"/>
            <a:ext cx="18097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6.3 JOINT OPERATIONS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04875" y="571500"/>
            <a:ext cx="11051381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Opening and Closing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11277600" y="4114800"/>
            <a:ext cx="152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06</a:t>
            </a:r>
            <a:endParaRPr/>
          </a:p>
        </p:txBody>
      </p:sp>
      <p:pic>
        <p:nvPicPr>
          <p:cNvPr id="2050" name="Picture 2" descr="Opening Followed by Closing">
            <a:extLst>
              <a:ext uri="{FF2B5EF4-FFF2-40B4-BE49-F238E27FC236}">
                <a16:creationId xmlns:a16="http://schemas.microsoft.com/office/drawing/2014/main" id="{2157F45E-80C0-45F0-8F98-F40FD6C96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903" y="4417345"/>
            <a:ext cx="4229176" cy="237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57611"/>
            <a:ext cx="10668000" cy="25580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19"/>
          <p:cNvGraphicFramePr/>
          <p:nvPr/>
        </p:nvGraphicFramePr>
        <p:xfrm>
          <a:off x="771525" y="2567136"/>
          <a:ext cx="10648950" cy="2539000"/>
        </p:xfrm>
        <a:graphic>
          <a:graphicData uri="http://schemas.openxmlformats.org/drawingml/2006/table">
            <a:tbl>
              <a:tblPr firstRow="1" bandRow="1">
                <a:noFill/>
                <a:tableStyleId>{65FD3D82-07E0-471C-A389-5807AAED832C}</a:tableStyleId>
              </a:tblPr>
              <a:tblGrid>
                <a:gridCol w="131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Operation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Mathematical Notation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Geometric Effect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8FAFC"/>
                          </a:solidFill>
                          <a:latin typeface="Space Grotesk SemiBold"/>
                          <a:ea typeface="Space Grotesk SemiBold"/>
                          <a:cs typeface="Space Grotesk SemiBold"/>
                          <a:sym typeface="Space Grotesk SemiBold"/>
                        </a:rPr>
                        <a:t>Primary Computer Vision 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Erosion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⊖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Shrinks foreground bounds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Detail elimination, binary noise smoothing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⊕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Expands foreground bounds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Bridge broken outlines, fill black voids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∘ B = (A ⊖ B) ⊕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Smoothes contours, deletes thin spikes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Object separation, speckle noise removal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• B = (A ⊕ B) ⊖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Fills narrow cracks, connects lines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Rejoining fragmented edge segments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6" name="Google Shape;186;p19"/>
          <p:cNvSpPr/>
          <p:nvPr/>
        </p:nvSpPr>
        <p:spPr>
          <a:xfrm>
            <a:off x="771525" y="3575744"/>
            <a:ext cx="13196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2091183" y="3575744"/>
            <a:ext cx="24638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555033" y="3575744"/>
            <a:ext cx="3353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908280" y="3575744"/>
            <a:ext cx="35121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71525" y="4084290"/>
            <a:ext cx="13196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091183" y="4084290"/>
            <a:ext cx="24638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555033" y="4084290"/>
            <a:ext cx="3353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908280" y="4084290"/>
            <a:ext cx="35121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71525" y="4592835"/>
            <a:ext cx="13196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091183" y="4592835"/>
            <a:ext cx="24638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555033" y="4592835"/>
            <a:ext cx="3353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908280" y="4592835"/>
            <a:ext cx="35121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62000" y="285750"/>
            <a:ext cx="19145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6.3 OPERATIONS MATRIX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04875" y="571500"/>
            <a:ext cx="11051381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Comparison of Core Operators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11287125" y="6477000"/>
            <a:ext cx="142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2223015" y="2640359"/>
            <a:ext cx="7745968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 II: Morphological Algorithms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2728911" y="4316759"/>
            <a:ext cx="67341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Exploring extraction pipelines: Boundary Extraction, Hole Filling, and Connected Components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762000" y="285750"/>
            <a:ext cx="1457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4B8A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CHAPTER OUTLINE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1277600" y="6477000"/>
            <a:ext cx="152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148655"/>
            <a:ext cx="5191125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148655"/>
            <a:ext cx="5191125" cy="295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2711946"/>
            <a:ext cx="45053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703016"/>
            <a:ext cx="4505325" cy="48979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1104900" y="1491555"/>
            <a:ext cx="47305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D9488"/>
                </a:solidFill>
                <a:latin typeface="Space Grotesk"/>
                <a:ea typeface="Space Grotesk"/>
                <a:cs typeface="Space Grotesk"/>
                <a:sym typeface="Space Grotesk"/>
              </a:rPr>
              <a:t>Boundary Extraction β(A)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104900" y="1934170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Extracted by taking the set difference between the original set and its eroded counterpart: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104900" y="3335535"/>
            <a:ext cx="45053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Mechanics: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Keeps only boundary pixels since the eroded core is subtracted, leaving single-pixel thin outline tracks.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581775" y="1491555"/>
            <a:ext cx="47305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D9488"/>
                </a:solidFill>
                <a:latin typeface="Space Grotesk"/>
                <a:ea typeface="Space Grotesk"/>
                <a:cs typeface="Space Grotesk"/>
                <a:sym typeface="Space Grotesk"/>
              </a:rPr>
              <a:t>Hole Filling Iterations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581775" y="1929705"/>
            <a:ext cx="4505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iterative algorithm to fill closed background voids starting with a marker seed point: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581775" y="3335684"/>
            <a:ext cx="45053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Condition: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Terminates when X_k+1 equals X_k. The final filled result is the union of the original set and the computed mask.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05955" y="2854821"/>
            <a:ext cx="194116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93235" y="2845891"/>
            <a:ext cx="2120354" cy="20404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762000" y="285750"/>
            <a:ext cx="1323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6.4 ALGORITHMS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04875" y="571500"/>
            <a:ext cx="11051381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Contours &amp; Internal Structures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1277600" y="6477000"/>
            <a:ext cx="1524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09</a:t>
            </a:r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2C0B3F-879F-4761-AC59-E2BF1C736079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005" y="4395341"/>
            <a:ext cx="4427220" cy="2201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674E6B-EA2B-4451-885F-6C5FA561F296}"/>
              </a:ext>
            </a:extLst>
          </p:cNvPr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382" y="4390876"/>
            <a:ext cx="4397375" cy="2210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25909"/>
            <a:ext cx="3397299" cy="224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1325909"/>
            <a:ext cx="3397299" cy="224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1325909"/>
            <a:ext cx="3397299" cy="224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162118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1057275" y="2287934"/>
            <a:ext cx="96012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Binarize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057275" y="2630834"/>
            <a:ext cx="280674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Convert grayscale images into single bit arrays using standard intensity thresholds to establish clear foregrounds.</a:t>
            </a:r>
            <a:endParaRPr dirty="0"/>
          </a:p>
        </p:txBody>
      </p:sp>
      <p:pic>
        <p:nvPicPr>
          <p:cNvPr id="243" name="Google Shape;243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162118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4692699" y="2287934"/>
            <a:ext cx="145018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Scan &amp; Label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692699" y="2630834"/>
            <a:ext cx="280674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 adjacency scans grouping elements with 4-way or 8-way pixel connectivity. Assign individual labels to unique objects.</a:t>
            </a:r>
            <a:endParaRPr/>
          </a:p>
        </p:txBody>
      </p:sp>
      <p:pic>
        <p:nvPicPr>
          <p:cNvPr id="246" name="Google Shape;246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162118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8328124" y="2287934"/>
            <a:ext cx="175021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Feature Extract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328124" y="2630834"/>
            <a:ext cx="280674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 topological analysis on each separated cluster to compute properties like centroid, area, and orientation.</a:t>
            </a:r>
            <a:endParaRPr/>
          </a:p>
        </p:txBody>
      </p:sp>
      <p:pic>
        <p:nvPicPr>
          <p:cNvPr id="249" name="Google Shape;249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14437" y="1754534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40337" y="1754534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47186" y="1754534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762000" y="285750"/>
            <a:ext cx="2152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6.4.4 PIXEL CONNECTIVITY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904875" y="571500"/>
            <a:ext cx="11051381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Connected Components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11306175" y="6477000"/>
            <a:ext cx="1238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10</a:t>
            </a:r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AE08425-300B-4816-A476-04DF2DF2CB07}"/>
              </a:ext>
            </a:extLst>
          </p:cNvPr>
          <p:cNvPicPr/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844" y="3886050"/>
            <a:ext cx="4485005" cy="2343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49079"/>
            <a:ext cx="5095875" cy="6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762000" y="285750"/>
            <a:ext cx="1924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6.4.5 SHAPE REDUCTION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904875" y="571500"/>
            <a:ext cx="5200650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Skeletonization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3" descr="image.png"/>
          <p:cNvPicPr preferRelativeResize="0"/>
          <p:nvPr/>
        </p:nvPicPr>
        <p:blipFill rotWithShape="1">
          <a:blip r:embed="rId5">
            <a:alphaModFix/>
          </a:blip>
          <a:srcRect b="51165"/>
          <a:stretch/>
        </p:blipFill>
        <p:spPr>
          <a:xfrm>
            <a:off x="6334125" y="1754460"/>
            <a:ext cx="5857875" cy="334907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762000" y="2575768"/>
            <a:ext cx="5095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Reduces complex 2D shapes to skeletal lines that are only one pixel wide, preserving topological characteristics and general connectivity.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762000" y="4223295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Highly effective for character recognition, finger print trace mapping, and optical structural analysis where central paths matter more than volume.</a:t>
            </a:r>
            <a:endParaRPr/>
          </a:p>
        </p:txBody>
      </p:sp>
      <p:pic>
        <p:nvPicPr>
          <p:cNvPr id="268" name="Google Shape;26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96751" y="3491954"/>
            <a:ext cx="3864471" cy="397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/>
          <p:nvPr/>
        </p:nvSpPr>
        <p:spPr>
          <a:xfrm>
            <a:off x="762000" y="2664172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762000" y="3448942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762000" y="343941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762000" y="343941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762000" y="422418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762000" y="422418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13595"/>
            <a:ext cx="1704975" cy="48756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857375" y="280704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https://www.cs.auckland.ac.nz/courses/compsci773s1c/lectures/ImageProcessing-html/morph-probing.gif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785812" y="3203078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www.cs.auckland.ac.nz</a:t>
            </a:r>
            <a:endParaRPr dirty="0"/>
          </a:p>
        </p:txBody>
      </p:sp>
      <p:pic>
        <p:nvPicPr>
          <p:cNvPr id="293" name="Google Shape;29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5983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1857375" y="359181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https://media.geeksforgeeks.org/wp-content/uploads/20240630234458/download-(12).png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857375" y="383753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www.geeksforgeeks.org</a:t>
            </a:r>
            <a:endParaRPr/>
          </a:p>
        </p:txBody>
      </p:sp>
      <p:pic>
        <p:nvPicPr>
          <p:cNvPr id="296" name="Google Shape;29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383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1857375" y="4376588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https://scikit-image.org/docs/0.25.x/_images/sphx_glr_plot_skeleton_004.png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1857375" y="462230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scikit-image.org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904875" y="571500"/>
            <a:ext cx="11051381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762000" y="571500"/>
            <a:ext cx="47625" cy="434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749</Words>
  <Application>Microsoft Office PowerPoint</Application>
  <PresentationFormat>Widescreen</PresentationFormat>
  <Paragraphs>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Space Grotesk SemiBold</vt:lpstr>
      <vt:lpstr>Calibri</vt:lpstr>
      <vt:lpstr>Inter</vt:lpstr>
      <vt:lpstr>Inter SemiBold</vt:lpstr>
      <vt:lpstr>Space Grotesk</vt:lpstr>
      <vt:lpstr>Arial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ahmed.abdelsatar@fci.bu.edu.eg</cp:lastModifiedBy>
  <cp:revision>3</cp:revision>
  <dcterms:modified xsi:type="dcterms:W3CDTF">2026-06-01T10:43:26Z</dcterms:modified>
</cp:coreProperties>
</file>