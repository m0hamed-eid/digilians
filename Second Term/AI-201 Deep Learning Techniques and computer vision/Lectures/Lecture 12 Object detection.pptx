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3" r:id="rId1"/>
  </p:sldMasterIdLst>
  <p:notesMasterIdLst>
    <p:notesMasterId r:id="rId39"/>
  </p:notesMasterIdLst>
  <p:sldIdLst>
    <p:sldId id="397" r:id="rId2"/>
    <p:sldId id="299" r:id="rId3"/>
    <p:sldId id="300" r:id="rId4"/>
    <p:sldId id="304" r:id="rId5"/>
    <p:sldId id="305" r:id="rId6"/>
    <p:sldId id="306" r:id="rId7"/>
    <p:sldId id="410" r:id="rId8"/>
    <p:sldId id="301" r:id="rId9"/>
    <p:sldId id="308" r:id="rId10"/>
    <p:sldId id="309" r:id="rId11"/>
    <p:sldId id="310" r:id="rId12"/>
    <p:sldId id="314" r:id="rId13"/>
    <p:sldId id="359" r:id="rId14"/>
    <p:sldId id="316" r:id="rId15"/>
    <p:sldId id="413" r:id="rId16"/>
    <p:sldId id="317" r:id="rId17"/>
    <p:sldId id="318" r:id="rId18"/>
    <p:sldId id="356" r:id="rId19"/>
    <p:sldId id="406" r:id="rId20"/>
    <p:sldId id="403" r:id="rId21"/>
    <p:sldId id="407" r:id="rId22"/>
    <p:sldId id="408" r:id="rId23"/>
    <p:sldId id="409" r:id="rId24"/>
    <p:sldId id="405" r:id="rId25"/>
    <p:sldId id="416" r:id="rId26"/>
    <p:sldId id="417" r:id="rId27"/>
    <p:sldId id="412" r:id="rId28"/>
    <p:sldId id="302" r:id="rId29"/>
    <p:sldId id="303" r:id="rId30"/>
    <p:sldId id="414" r:id="rId31"/>
    <p:sldId id="357" r:id="rId32"/>
    <p:sldId id="371" r:id="rId33"/>
    <p:sldId id="358" r:id="rId34"/>
    <p:sldId id="349" r:id="rId35"/>
    <p:sldId id="345" r:id="rId36"/>
    <p:sldId id="415" r:id="rId37"/>
    <p:sldId id="400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DAEA"/>
    <a:srgbClr val="000000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5C330AD-1FBD-477A-8884-541943E3449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3_2" csCatId="accent3" phldr="1"/>
      <dgm:spPr/>
      <dgm:t>
        <a:bodyPr/>
        <a:lstStyle/>
        <a:p>
          <a:endParaRPr lang="en-US"/>
        </a:p>
      </dgm:t>
    </dgm:pt>
    <dgm:pt modelId="{8E2FE1B1-E3C7-4753-B0F3-3B9AC315DC4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Choose </a:t>
          </a:r>
          <a:r>
            <a:rPr lang="en-US" b="1" i="0" baseline="0"/>
            <a:t>YOLO26</a:t>
          </a:r>
          <a:r>
            <a:rPr lang="en-US" b="0" i="0" baseline="0"/>
            <a:t> if you want maximum speed, low latency, and smooth edge/CPU deployment. </a:t>
          </a:r>
          <a:endParaRPr lang="en-US"/>
        </a:p>
      </dgm:t>
    </dgm:pt>
    <dgm:pt modelId="{86C9CE32-39BA-42A9-B4D9-C98E04826743}" type="parTrans" cxnId="{BA9674CB-E404-4535-AE3B-379CEB0F0F73}">
      <dgm:prSet/>
      <dgm:spPr/>
      <dgm:t>
        <a:bodyPr/>
        <a:lstStyle/>
        <a:p>
          <a:endParaRPr lang="en-US"/>
        </a:p>
      </dgm:t>
    </dgm:pt>
    <dgm:pt modelId="{EA42F583-B299-4262-A4AE-960E7E180E44}" type="sibTrans" cxnId="{BA9674CB-E404-4535-AE3B-379CEB0F0F73}">
      <dgm:prSet/>
      <dgm:spPr/>
      <dgm:t>
        <a:bodyPr/>
        <a:lstStyle/>
        <a:p>
          <a:endParaRPr lang="en-US"/>
        </a:p>
      </dgm:t>
    </dgm:pt>
    <dgm:pt modelId="{E6BEA7BC-BF29-40E8-B738-8953D5BC1FA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Choose </a:t>
          </a:r>
          <a:r>
            <a:rPr lang="en-US" b="1" i="0" baseline="0"/>
            <a:t>YOLO11</a:t>
          </a:r>
          <a:r>
            <a:rPr lang="en-US" b="0" i="0" baseline="0"/>
            <a:t> if you want the most stable, standard, all-around production model. </a:t>
          </a:r>
          <a:endParaRPr lang="en-US"/>
        </a:p>
      </dgm:t>
    </dgm:pt>
    <dgm:pt modelId="{E7584F2C-B643-489E-8334-4EE3408758DF}" type="parTrans" cxnId="{D282D602-B3DB-404D-BEC6-774ADD69DD4F}">
      <dgm:prSet/>
      <dgm:spPr/>
      <dgm:t>
        <a:bodyPr/>
        <a:lstStyle/>
        <a:p>
          <a:endParaRPr lang="en-US"/>
        </a:p>
      </dgm:t>
    </dgm:pt>
    <dgm:pt modelId="{EAEDB8F5-BC57-4845-B305-12713B815DA9}" type="sibTrans" cxnId="{D282D602-B3DB-404D-BEC6-774ADD69DD4F}">
      <dgm:prSet/>
      <dgm:spPr/>
      <dgm:t>
        <a:bodyPr/>
        <a:lstStyle/>
        <a:p>
          <a:endParaRPr lang="en-US"/>
        </a:p>
      </dgm:t>
    </dgm:pt>
    <dgm:pt modelId="{979F05EF-33BF-4F55-8011-94F471E1917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Choose </a:t>
          </a:r>
          <a:r>
            <a:rPr lang="en-US" b="1" i="0" baseline="0" dirty="0"/>
            <a:t>YOLOv12</a:t>
          </a:r>
          <a:r>
            <a:rPr lang="en-US" b="0" i="0" baseline="0" dirty="0"/>
            <a:t> only if you are doing deep research or have massive GPU compute power and need the most best accuracy. </a:t>
          </a:r>
          <a:endParaRPr lang="en-US" dirty="0"/>
        </a:p>
      </dgm:t>
    </dgm:pt>
    <dgm:pt modelId="{0925BD04-1A1E-4B6E-9CF4-1D5F09AF29E3}" type="parTrans" cxnId="{4BDC9CA1-A805-4A07-B3B5-C4FF9BAD875F}">
      <dgm:prSet/>
      <dgm:spPr/>
      <dgm:t>
        <a:bodyPr/>
        <a:lstStyle/>
        <a:p>
          <a:endParaRPr lang="en-US"/>
        </a:p>
      </dgm:t>
    </dgm:pt>
    <dgm:pt modelId="{BB766757-FDE7-473D-B89E-563EE6038AE5}" type="sibTrans" cxnId="{4BDC9CA1-A805-4A07-B3B5-C4FF9BAD875F}">
      <dgm:prSet/>
      <dgm:spPr/>
      <dgm:t>
        <a:bodyPr/>
        <a:lstStyle/>
        <a:p>
          <a:endParaRPr lang="en-US"/>
        </a:p>
      </dgm:t>
    </dgm:pt>
    <dgm:pt modelId="{40217634-D5AC-4EF3-BAD9-EDBBBD1CA263}" type="pres">
      <dgm:prSet presAssocID="{65C330AD-1FBD-477A-8884-541943E3449E}" presName="root" presStyleCnt="0">
        <dgm:presLayoutVars>
          <dgm:dir/>
          <dgm:resizeHandles val="exact"/>
        </dgm:presLayoutVars>
      </dgm:prSet>
      <dgm:spPr/>
    </dgm:pt>
    <dgm:pt modelId="{E5D8DFD2-EFB1-4E95-8DC0-EAD3FFDBA5A9}" type="pres">
      <dgm:prSet presAssocID="{8E2FE1B1-E3C7-4753-B0F3-3B9AC315DC4C}" presName="compNode" presStyleCnt="0"/>
      <dgm:spPr/>
    </dgm:pt>
    <dgm:pt modelId="{B9ED45AF-CFC6-4169-833D-D906A3938118}" type="pres">
      <dgm:prSet presAssocID="{8E2FE1B1-E3C7-4753-B0F3-3B9AC315DC4C}" presName="bgRect" presStyleLbl="bgShp" presStyleIdx="0" presStyleCnt="3"/>
      <dgm:spPr/>
    </dgm:pt>
    <dgm:pt modelId="{B0112854-D5C8-4966-92C5-E555051D676C}" type="pres">
      <dgm:prSet presAssocID="{8E2FE1B1-E3C7-4753-B0F3-3B9AC315DC4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ream"/>
        </a:ext>
      </dgm:extLst>
    </dgm:pt>
    <dgm:pt modelId="{50EC8A10-D8E1-4D06-877B-FB2287B9B270}" type="pres">
      <dgm:prSet presAssocID="{8E2FE1B1-E3C7-4753-B0F3-3B9AC315DC4C}" presName="spaceRect" presStyleCnt="0"/>
      <dgm:spPr/>
    </dgm:pt>
    <dgm:pt modelId="{143EE7B2-A2E0-491D-B3CB-2140A84DF754}" type="pres">
      <dgm:prSet presAssocID="{8E2FE1B1-E3C7-4753-B0F3-3B9AC315DC4C}" presName="parTx" presStyleLbl="revTx" presStyleIdx="0" presStyleCnt="3">
        <dgm:presLayoutVars>
          <dgm:chMax val="0"/>
          <dgm:chPref val="0"/>
        </dgm:presLayoutVars>
      </dgm:prSet>
      <dgm:spPr/>
    </dgm:pt>
    <dgm:pt modelId="{B89504DE-B073-4322-A6EB-8EE95E152220}" type="pres">
      <dgm:prSet presAssocID="{EA42F583-B299-4262-A4AE-960E7E180E44}" presName="sibTrans" presStyleCnt="0"/>
      <dgm:spPr/>
    </dgm:pt>
    <dgm:pt modelId="{951146EF-B908-44C6-8AE5-7BD6FC4E7CD7}" type="pres">
      <dgm:prSet presAssocID="{E6BEA7BC-BF29-40E8-B738-8953D5BC1FA7}" presName="compNode" presStyleCnt="0"/>
      <dgm:spPr/>
    </dgm:pt>
    <dgm:pt modelId="{4BA3EF65-AF0B-4A44-B77B-6E3D21FF20E8}" type="pres">
      <dgm:prSet presAssocID="{E6BEA7BC-BF29-40E8-B738-8953D5BC1FA7}" presName="bgRect" presStyleLbl="bgShp" presStyleIdx="1" presStyleCnt="3"/>
      <dgm:spPr/>
    </dgm:pt>
    <dgm:pt modelId="{0EF7E72D-670C-49B3-85D6-70927FE08F38}" type="pres">
      <dgm:prSet presAssocID="{E6BEA7BC-BF29-40E8-B738-8953D5BC1FA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A922AA61-79C2-4CCA-A8A6-A911A9603D76}" type="pres">
      <dgm:prSet presAssocID="{E6BEA7BC-BF29-40E8-B738-8953D5BC1FA7}" presName="spaceRect" presStyleCnt="0"/>
      <dgm:spPr/>
    </dgm:pt>
    <dgm:pt modelId="{A36F4C8D-2021-489F-AECC-34B9F55EA77D}" type="pres">
      <dgm:prSet presAssocID="{E6BEA7BC-BF29-40E8-B738-8953D5BC1FA7}" presName="parTx" presStyleLbl="revTx" presStyleIdx="1" presStyleCnt="3">
        <dgm:presLayoutVars>
          <dgm:chMax val="0"/>
          <dgm:chPref val="0"/>
        </dgm:presLayoutVars>
      </dgm:prSet>
      <dgm:spPr/>
    </dgm:pt>
    <dgm:pt modelId="{5E4DC37F-3E78-46AD-9D8B-94034C68A3D5}" type="pres">
      <dgm:prSet presAssocID="{EAEDB8F5-BC57-4845-B305-12713B815DA9}" presName="sibTrans" presStyleCnt="0"/>
      <dgm:spPr/>
    </dgm:pt>
    <dgm:pt modelId="{047582CC-126F-4453-967D-C5D47B7EB779}" type="pres">
      <dgm:prSet presAssocID="{979F05EF-33BF-4F55-8011-94F471E19175}" presName="compNode" presStyleCnt="0"/>
      <dgm:spPr/>
    </dgm:pt>
    <dgm:pt modelId="{7351A148-978C-48EE-B2FD-A1F73E1D6C53}" type="pres">
      <dgm:prSet presAssocID="{979F05EF-33BF-4F55-8011-94F471E19175}" presName="bgRect" presStyleLbl="bgShp" presStyleIdx="2" presStyleCnt="3"/>
      <dgm:spPr/>
    </dgm:pt>
    <dgm:pt modelId="{13F90D12-5221-48AB-ABEF-BEE6318FB3CE}" type="pres">
      <dgm:prSet presAssocID="{979F05EF-33BF-4F55-8011-94F471E1917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4A061CE6-B9A1-4E38-BB8D-F51BB13B046E}" type="pres">
      <dgm:prSet presAssocID="{979F05EF-33BF-4F55-8011-94F471E19175}" presName="spaceRect" presStyleCnt="0"/>
      <dgm:spPr/>
    </dgm:pt>
    <dgm:pt modelId="{9EFC112A-9F54-4B24-9E7A-75D5F5EF7165}" type="pres">
      <dgm:prSet presAssocID="{979F05EF-33BF-4F55-8011-94F471E1917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282D602-B3DB-404D-BEC6-774ADD69DD4F}" srcId="{65C330AD-1FBD-477A-8884-541943E3449E}" destId="{E6BEA7BC-BF29-40E8-B738-8953D5BC1FA7}" srcOrd="1" destOrd="0" parTransId="{E7584F2C-B643-489E-8334-4EE3408758DF}" sibTransId="{EAEDB8F5-BC57-4845-B305-12713B815DA9}"/>
    <dgm:cxn modelId="{0D4C7D04-2D4D-451D-A2CF-91152BA93276}" type="presOf" srcId="{979F05EF-33BF-4F55-8011-94F471E19175}" destId="{9EFC112A-9F54-4B24-9E7A-75D5F5EF7165}" srcOrd="0" destOrd="0" presId="urn:microsoft.com/office/officeart/2018/2/layout/IconVerticalSolidList"/>
    <dgm:cxn modelId="{BE0D237F-CE97-40B7-94A6-BA76D083993A}" type="presOf" srcId="{8E2FE1B1-E3C7-4753-B0F3-3B9AC315DC4C}" destId="{143EE7B2-A2E0-491D-B3CB-2140A84DF754}" srcOrd="0" destOrd="0" presId="urn:microsoft.com/office/officeart/2018/2/layout/IconVerticalSolidList"/>
    <dgm:cxn modelId="{4BDC9CA1-A805-4A07-B3B5-C4FF9BAD875F}" srcId="{65C330AD-1FBD-477A-8884-541943E3449E}" destId="{979F05EF-33BF-4F55-8011-94F471E19175}" srcOrd="2" destOrd="0" parTransId="{0925BD04-1A1E-4B6E-9CF4-1D5F09AF29E3}" sibTransId="{BB766757-FDE7-473D-B89E-563EE6038AE5}"/>
    <dgm:cxn modelId="{7EF038A4-0FF0-410A-8D57-A9F5B8B7FAE9}" type="presOf" srcId="{65C330AD-1FBD-477A-8884-541943E3449E}" destId="{40217634-D5AC-4EF3-BAD9-EDBBBD1CA263}" srcOrd="0" destOrd="0" presId="urn:microsoft.com/office/officeart/2018/2/layout/IconVerticalSolidList"/>
    <dgm:cxn modelId="{57995DC0-BB14-4C88-BC22-2DB6A70D5552}" type="presOf" srcId="{E6BEA7BC-BF29-40E8-B738-8953D5BC1FA7}" destId="{A36F4C8D-2021-489F-AECC-34B9F55EA77D}" srcOrd="0" destOrd="0" presId="urn:microsoft.com/office/officeart/2018/2/layout/IconVerticalSolidList"/>
    <dgm:cxn modelId="{BA9674CB-E404-4535-AE3B-379CEB0F0F73}" srcId="{65C330AD-1FBD-477A-8884-541943E3449E}" destId="{8E2FE1B1-E3C7-4753-B0F3-3B9AC315DC4C}" srcOrd="0" destOrd="0" parTransId="{86C9CE32-39BA-42A9-B4D9-C98E04826743}" sibTransId="{EA42F583-B299-4262-A4AE-960E7E180E44}"/>
    <dgm:cxn modelId="{42066013-B288-4789-B838-EEA87331252E}" type="presParOf" srcId="{40217634-D5AC-4EF3-BAD9-EDBBBD1CA263}" destId="{E5D8DFD2-EFB1-4E95-8DC0-EAD3FFDBA5A9}" srcOrd="0" destOrd="0" presId="urn:microsoft.com/office/officeart/2018/2/layout/IconVerticalSolidList"/>
    <dgm:cxn modelId="{31F7340B-642E-4924-B541-9D74A5FE2852}" type="presParOf" srcId="{E5D8DFD2-EFB1-4E95-8DC0-EAD3FFDBA5A9}" destId="{B9ED45AF-CFC6-4169-833D-D906A3938118}" srcOrd="0" destOrd="0" presId="urn:microsoft.com/office/officeart/2018/2/layout/IconVerticalSolidList"/>
    <dgm:cxn modelId="{BF5E6E1D-B897-4D9D-9771-D448D8D00582}" type="presParOf" srcId="{E5D8DFD2-EFB1-4E95-8DC0-EAD3FFDBA5A9}" destId="{B0112854-D5C8-4966-92C5-E555051D676C}" srcOrd="1" destOrd="0" presId="urn:microsoft.com/office/officeart/2018/2/layout/IconVerticalSolidList"/>
    <dgm:cxn modelId="{2A4D10BC-0640-4192-88CE-8F96AA17C9CE}" type="presParOf" srcId="{E5D8DFD2-EFB1-4E95-8DC0-EAD3FFDBA5A9}" destId="{50EC8A10-D8E1-4D06-877B-FB2287B9B270}" srcOrd="2" destOrd="0" presId="urn:microsoft.com/office/officeart/2018/2/layout/IconVerticalSolidList"/>
    <dgm:cxn modelId="{62CF5F99-0E3F-49DA-8176-1CAFAAB217CC}" type="presParOf" srcId="{E5D8DFD2-EFB1-4E95-8DC0-EAD3FFDBA5A9}" destId="{143EE7B2-A2E0-491D-B3CB-2140A84DF754}" srcOrd="3" destOrd="0" presId="urn:microsoft.com/office/officeart/2018/2/layout/IconVerticalSolidList"/>
    <dgm:cxn modelId="{F1701C77-B247-42AB-8422-AA867B7F7724}" type="presParOf" srcId="{40217634-D5AC-4EF3-BAD9-EDBBBD1CA263}" destId="{B89504DE-B073-4322-A6EB-8EE95E152220}" srcOrd="1" destOrd="0" presId="urn:microsoft.com/office/officeart/2018/2/layout/IconVerticalSolidList"/>
    <dgm:cxn modelId="{24215CC7-B15C-47F9-86CE-10DDAF8E0805}" type="presParOf" srcId="{40217634-D5AC-4EF3-BAD9-EDBBBD1CA263}" destId="{951146EF-B908-44C6-8AE5-7BD6FC4E7CD7}" srcOrd="2" destOrd="0" presId="urn:microsoft.com/office/officeart/2018/2/layout/IconVerticalSolidList"/>
    <dgm:cxn modelId="{38235CE4-624A-4919-B090-97AEDDF1D7CB}" type="presParOf" srcId="{951146EF-B908-44C6-8AE5-7BD6FC4E7CD7}" destId="{4BA3EF65-AF0B-4A44-B77B-6E3D21FF20E8}" srcOrd="0" destOrd="0" presId="urn:microsoft.com/office/officeart/2018/2/layout/IconVerticalSolidList"/>
    <dgm:cxn modelId="{17880D2F-AF72-492D-A214-B1405DCFD49E}" type="presParOf" srcId="{951146EF-B908-44C6-8AE5-7BD6FC4E7CD7}" destId="{0EF7E72D-670C-49B3-85D6-70927FE08F38}" srcOrd="1" destOrd="0" presId="urn:microsoft.com/office/officeart/2018/2/layout/IconVerticalSolidList"/>
    <dgm:cxn modelId="{A7CE3971-462A-4A2E-9C7C-DADB2E653231}" type="presParOf" srcId="{951146EF-B908-44C6-8AE5-7BD6FC4E7CD7}" destId="{A922AA61-79C2-4CCA-A8A6-A911A9603D76}" srcOrd="2" destOrd="0" presId="urn:microsoft.com/office/officeart/2018/2/layout/IconVerticalSolidList"/>
    <dgm:cxn modelId="{5A95783B-400A-4235-A28F-62B12DB227DC}" type="presParOf" srcId="{951146EF-B908-44C6-8AE5-7BD6FC4E7CD7}" destId="{A36F4C8D-2021-489F-AECC-34B9F55EA77D}" srcOrd="3" destOrd="0" presId="urn:microsoft.com/office/officeart/2018/2/layout/IconVerticalSolidList"/>
    <dgm:cxn modelId="{B5917463-F1A4-4D55-9675-254299FEE89A}" type="presParOf" srcId="{40217634-D5AC-4EF3-BAD9-EDBBBD1CA263}" destId="{5E4DC37F-3E78-46AD-9D8B-94034C68A3D5}" srcOrd="3" destOrd="0" presId="urn:microsoft.com/office/officeart/2018/2/layout/IconVerticalSolidList"/>
    <dgm:cxn modelId="{E3339897-525E-432C-B072-71A76CC06059}" type="presParOf" srcId="{40217634-D5AC-4EF3-BAD9-EDBBBD1CA263}" destId="{047582CC-126F-4453-967D-C5D47B7EB779}" srcOrd="4" destOrd="0" presId="urn:microsoft.com/office/officeart/2018/2/layout/IconVerticalSolidList"/>
    <dgm:cxn modelId="{720FC638-7231-42CC-B1CE-87FE4C391EF6}" type="presParOf" srcId="{047582CC-126F-4453-967D-C5D47B7EB779}" destId="{7351A148-978C-48EE-B2FD-A1F73E1D6C53}" srcOrd="0" destOrd="0" presId="urn:microsoft.com/office/officeart/2018/2/layout/IconVerticalSolidList"/>
    <dgm:cxn modelId="{0ED3C41A-B945-4F5A-ABBF-95F0BA516507}" type="presParOf" srcId="{047582CC-126F-4453-967D-C5D47B7EB779}" destId="{13F90D12-5221-48AB-ABEF-BEE6318FB3CE}" srcOrd="1" destOrd="0" presId="urn:microsoft.com/office/officeart/2018/2/layout/IconVerticalSolidList"/>
    <dgm:cxn modelId="{5D16A0E8-69A1-4F99-A38F-E4662D6E87B6}" type="presParOf" srcId="{047582CC-126F-4453-967D-C5D47B7EB779}" destId="{4A061CE6-B9A1-4E38-BB8D-F51BB13B046E}" srcOrd="2" destOrd="0" presId="urn:microsoft.com/office/officeart/2018/2/layout/IconVerticalSolidList"/>
    <dgm:cxn modelId="{C9DBE4D0-ADA6-4BC4-B664-CE35CBF2F36F}" type="presParOf" srcId="{047582CC-126F-4453-967D-C5D47B7EB779}" destId="{9EFC112A-9F54-4B24-9E7A-75D5F5EF716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ED45AF-CFC6-4169-833D-D906A3938118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112854-D5C8-4966-92C5-E555051D676C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3EE7B2-A2E0-491D-B3CB-2140A84DF754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Choose </a:t>
          </a:r>
          <a:r>
            <a:rPr lang="en-US" sz="2500" b="1" i="0" kern="1200" baseline="0"/>
            <a:t>YOLO26</a:t>
          </a:r>
          <a:r>
            <a:rPr lang="en-US" sz="2500" b="0" i="0" kern="1200" baseline="0"/>
            <a:t> if you want maximum speed, low latency, and smooth edge/CPU deployment. </a:t>
          </a:r>
          <a:endParaRPr lang="en-US" sz="2500" kern="1200"/>
        </a:p>
      </dsp:txBody>
      <dsp:txXfrm>
        <a:off x="1435590" y="531"/>
        <a:ext cx="9080009" cy="1242935"/>
      </dsp:txXfrm>
    </dsp:sp>
    <dsp:sp modelId="{4BA3EF65-AF0B-4A44-B77B-6E3D21FF20E8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F7E72D-670C-49B3-85D6-70927FE08F38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6F4C8D-2021-489F-AECC-34B9F55EA77D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Choose </a:t>
          </a:r>
          <a:r>
            <a:rPr lang="en-US" sz="2500" b="1" i="0" kern="1200" baseline="0"/>
            <a:t>YOLO11</a:t>
          </a:r>
          <a:r>
            <a:rPr lang="en-US" sz="2500" b="0" i="0" kern="1200" baseline="0"/>
            <a:t> if you want the most stable, standard, all-around production model. </a:t>
          </a:r>
          <a:endParaRPr lang="en-US" sz="2500" kern="1200"/>
        </a:p>
      </dsp:txBody>
      <dsp:txXfrm>
        <a:off x="1435590" y="1554201"/>
        <a:ext cx="9080009" cy="1242935"/>
      </dsp:txXfrm>
    </dsp:sp>
    <dsp:sp modelId="{7351A148-978C-48EE-B2FD-A1F73E1D6C53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F90D12-5221-48AB-ABEF-BEE6318FB3CE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FC112A-9F54-4B24-9E7A-75D5F5EF7165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 dirty="0"/>
            <a:t>Choose </a:t>
          </a:r>
          <a:r>
            <a:rPr lang="en-US" sz="2500" b="1" i="0" kern="1200" baseline="0" dirty="0"/>
            <a:t>YOLOv12</a:t>
          </a:r>
          <a:r>
            <a:rPr lang="en-US" sz="2500" b="0" i="0" kern="1200" baseline="0" dirty="0"/>
            <a:t> only if you are doing deep research or have massive GPU compute power and need the most best accuracy. </a:t>
          </a:r>
          <a:endParaRPr lang="en-US" sz="2500" kern="1200" dirty="0"/>
        </a:p>
      </dsp:txBody>
      <dsp:txXfrm>
        <a:off x="1435590" y="3107870"/>
        <a:ext cx="9080009" cy="12429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2T12:04:14.993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1 0 24575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2T12:04:22.761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139 257 24575,'-11'0'0,"1"0"0,-1-1 0,1 0 0,-1 0 0,1-1 0,-1-1 0,1 0 0,-15-6 0,23 8 0,0-1 0,0 1 0,0 0 0,0-1 0,0 1 0,0-1 0,1 1 0,-1-1 0,0 0 0,1 0 0,0 0 0,-1 0 0,1 0 0,0 0 0,0 0 0,0-1 0,-1-2 0,2 2 0,-1-1 0,1 1 0,0-1 0,0 0 0,1 1 0,-1-1 0,1 1 0,-1-1 0,1 1 0,0 0 0,1-1 0,-1 1 0,0 0 0,1 0 0,2-4 0,4-5 0,-1 1 0,2 0 0,0 1 0,0 0 0,1 0 0,0 1 0,0 0 0,1 1 0,0 0 0,14-7 0,-17 11 0,-1 0 0,1 0 0,0 1 0,0-1 0,1 2 0,-1-1 0,0 1 0,1 1 0,0-1 0,-1 1 0,1 1 0,0 0 0,-1 0 0,1 0 0,0 1 0,15 4 0,-20-3 5,-1 0 0,0 0 0,1 0 0,-1 0 0,0 0 0,0 1 0,0-1 0,0 1 0,-1 0 0,1 0-1,-1 0 1,0 0 0,0 0 0,0 0 0,0 1 0,0-1 0,-1 1 0,1-1 0,-1 1 0,0 0 0,1 6 0,1 8-291,-1 0 1,0 0-1,-2 22 1,0-33-47,-1 36-6494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2T12:04:31.660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209 308 24575,'-15'0'0,"-1"1"0,0-2 0,0 1 0,0-2 0,0 0 0,-19-5 0,31 5 0,-1 1 0,1-1 0,0 0 0,0 0 0,0-1 0,0 1 0,0-1 0,0 0 0,1 0 0,-1 0 0,1 0 0,0-1 0,0 1 0,0-1 0,1 0 0,-1 0 0,1 0 0,0 0 0,0 0 0,0-1 0,0 1 0,-1-9 0,2 5 7,-1 0 0,1-1-1,1 1 1,0-1 0,0 1-1,0 0 1,1-1-1,1 1 1,-1 0 0,1-1-1,1 1 1,-1 0 0,2 0-1,-1 1 1,1-1 0,0 1-1,8-11 1,-9 13-62,0 1 0,1-1 0,-1 1 0,1 0 0,0 0 0,1 1 0,-1-1 0,1 1 0,-1 0 0,1 0 0,0 1 0,0-1 0,0 1 0,1 0 0,-1 0 0,0 1 0,1 0 0,-1 0 0,1 0 0,-1 0 0,1 1 0,0 0 0,-1 0 0,1 1 0,-1-1 0,12 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2T12:04:32.402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0 24575,'5'9'0,"5"3"0,5-1 0,5-3 0,3-1 0,11-3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2099FE-BD50-44B8-AFFD-73D435E1F60D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A9654C-E0E0-4709-B41A-97D0A8A2C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465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9654C-E0E0-4709-B41A-97D0A8A2CFA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668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9654C-E0E0-4709-B41A-97D0A8A2CFA9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2688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2874E-84BB-3918-6B67-873F1AC42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359E4A-E599-DCB8-1876-9B58FB1AFE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556887-2E3D-4099-62C8-DF24C674BA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4E165C-9DB0-9A1B-9E61-70EFC5C9C5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9654C-E0E0-4709-B41A-97D0A8A2CFA9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8511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9654C-E0E0-4709-B41A-97D0A8A2CFA9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983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6B139-107E-409B-2ED4-D4A7DD4C59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41A52A-93FE-785E-2FA6-2FAEDC3507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F14E7-9A9A-4F42-8931-10DE7C905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CFF7A-F30C-A6D9-3895-30612B80F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F90A2-3B62-6325-470A-B9B73EA93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648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869DA-E42A-FE27-AA41-731BF2052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59706-A550-C6E9-2720-CCB282CEC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620CA7-9C9A-0577-4CCD-3B87820F6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4383E-53DD-9D18-FC66-F2C5FF94A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1E639E-9C8E-E271-40E4-1C19C8C0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580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27F23-6EBB-5E3A-30D0-D948972C0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FA5F3C-F325-379C-B4CA-0108AA6C9F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DA449-FEEC-643B-9141-070D4A94D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3BE56D-096C-E0A5-180D-02A6773F3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F5F4F-7E6C-8842-D7E6-3F331FDBE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917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6DB9F-C686-3FDA-8C23-FE9672E97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6D82F-B545-0F57-871B-B0D3E0AE4A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4FC397-DA15-A6B6-C3B1-040DAD2EBB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34DF6-DAD6-0A6C-C15A-E2CE1F6AB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62694A-D2A5-D287-CFF3-E6CFA0070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575350-79E3-62A1-BA99-47777829C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321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F5BEB-3BB7-9510-AC43-7603A6E62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FBA45-26C3-EFE3-C70B-12B9C735A2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ECCCDA-CF94-D76F-FE8D-315A5E9BBC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465874-5205-B359-3B7A-BA141F61D9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991210-59C7-9C12-7645-7567F15635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C59402-73BF-384F-8C22-742ABA88B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1C473C-376E-933E-4CDD-63D0596BA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869F79-D83E-A230-AC6B-14EA1EDF5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959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EA40C-46FF-F138-A81F-6594AEDFA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3D89BE-0076-61C4-2228-F37D0B5A1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878F3C-E92F-F7FD-7457-84D9EC10D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7360B0-9F7A-3F31-5FD8-5227DC5BE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335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47AD4A-540A-390C-B2A0-10FF2477F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138C24-6E50-16FE-9199-C0884CCC8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0242A5-58B1-2A09-BAF7-831A0ED91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034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E3468-0DFC-1009-E8E1-9C49B5D50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CBE10-5665-6F86-E6B6-A73F1C0EF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528356-C29C-6313-AF1D-ADB1E5A82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A6CB27-29DF-BD60-24EE-3BCF9D331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6F8643-E1BC-6E17-B879-BC99195B7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D9D382-5555-B048-A326-EA3559709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381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79A6B-2CF1-39AE-15A7-BA13C15B9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7C3373-1EC9-E4B7-6811-9F53587928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09B7A5-F627-82B4-6EB7-4EC6BAAD49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2F0924-9A1B-ADC7-8C25-31EA87FC3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F42CC3-849C-1BB4-E9D5-7B8FB930D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F189ED-E57A-B354-B83D-48ED9C9F0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413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BA469-1C75-CF6A-53BC-9C9D35B5B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B319B9-1033-848C-A76C-699B343BE8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6D228-3DFD-30BA-5759-323799AC0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4A193-9DC3-8403-8915-1ECB15D9D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38746-1675-A898-C3BA-D00B16911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447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40EC28-665D-BA5B-52B4-18F905411E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362566-2EDA-004B-AFC3-81E755CED4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57600-E167-4DD2-97FF-B5DE6FCBE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83542-C3EB-2B0B-1AF7-5119932DC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93BAB-A4B8-CE77-B6D9-573117916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8103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F53ED-34F7-4FF1-9A3E-CB09C1F310A2}" type="datetime1">
              <a:rPr lang="en-US" smtClean="0"/>
              <a:t>6/13/2026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H.Fakher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D392-614A-43D7-BA76-AB1FFE045A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394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74364F-4A4B-7386-A435-22F321D8F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D483A6-1F3F-7B65-8E8D-2AB48AF224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C05A4-6C72-63AF-337A-BC58AB896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8048B-57AF-4F53-BC84-8E0A1033FBEC}" type="datetimeFigureOut">
              <a:rPr lang="en-US" smtClean="0"/>
              <a:pPr/>
              <a:t>6/13/2026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88EB7-673A-EA28-C197-EC276A7899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2AE80-9F80-5AFE-CF88-CA7E60583C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A8A1B-4E1E-43EF-8A39-7D4A3879B94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49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  <p:sldLayoutId id="214748377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ltralytics/ultralytics" TargetMode="Externa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png"/><Relationship Id="rId13" Type="http://schemas.openxmlformats.org/officeDocument/2006/relationships/customXml" Target="../ink/ink4.xml"/><Relationship Id="rId3" Type="http://schemas.openxmlformats.org/officeDocument/2006/relationships/image" Target="../media/image44.PNG"/><Relationship Id="rId7" Type="http://schemas.openxmlformats.org/officeDocument/2006/relationships/customXml" Target="../ink/ink1.xml"/><Relationship Id="rId12" Type="http://schemas.openxmlformats.org/officeDocument/2006/relationships/image" Target="../media/image280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7.png"/><Relationship Id="rId11" Type="http://schemas.openxmlformats.org/officeDocument/2006/relationships/customXml" Target="../ink/ink3.xml"/><Relationship Id="rId5" Type="http://schemas.openxmlformats.org/officeDocument/2006/relationships/image" Target="../media/image46.png"/><Relationship Id="rId10" Type="http://schemas.openxmlformats.org/officeDocument/2006/relationships/image" Target="../media/image270.PNG"/><Relationship Id="rId4" Type="http://schemas.openxmlformats.org/officeDocument/2006/relationships/image" Target="../media/image45.png"/><Relationship Id="rId9" Type="http://schemas.openxmlformats.org/officeDocument/2006/relationships/customXml" Target="../ink/ink2.xml"/><Relationship Id="rId14" Type="http://schemas.openxmlformats.org/officeDocument/2006/relationships/image" Target="../media/image29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ultralytics.com/models/yolov9/#supported-tasks-and-modes" TargetMode="External"/><Relationship Id="rId3" Type="http://schemas.openxmlformats.org/officeDocument/2006/relationships/image" Target="../media/image50.png"/><Relationship Id="rId7" Type="http://schemas.openxmlformats.org/officeDocument/2006/relationships/hyperlink" Target="https://docs.ultralytics.com/models/yolov10/#comparison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docs.ultralytics.com/models/yolo11/" TargetMode="External"/><Relationship Id="rId5" Type="http://schemas.openxmlformats.org/officeDocument/2006/relationships/image" Target="../media/image52.png"/><Relationship Id="rId4" Type="http://schemas.openxmlformats.org/officeDocument/2006/relationships/image" Target="../media/image51.png"/><Relationship Id="rId9" Type="http://schemas.openxmlformats.org/officeDocument/2006/relationships/hyperlink" Target="https://docs.ultralytics.com/models/yolov8/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5" name="Rectangle 84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2841B8-39D1-60C9-71F3-BFD49476A6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124" y="813770"/>
            <a:ext cx="5343525" cy="2606040"/>
          </a:xfrm>
        </p:spPr>
        <p:txBody>
          <a:bodyPr anchor="b">
            <a:normAutofit/>
          </a:bodyPr>
          <a:lstStyle/>
          <a:p>
            <a:pPr algn="l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</a:t>
            </a:r>
            <a:b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D633AC-863C-395F-7D50-076B7E4228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633" y="4712208"/>
            <a:ext cx="4548436" cy="1572768"/>
          </a:xfrm>
        </p:spPr>
        <p:txBody>
          <a:bodyPr>
            <a:normAutofit/>
          </a:bodyPr>
          <a:lstStyle/>
          <a:p>
            <a:pPr algn="l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Fundamentals</a:t>
            </a:r>
          </a:p>
        </p:txBody>
      </p:sp>
      <p:sp>
        <p:nvSpPr>
          <p:cNvPr id="87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" name="Picture 80" descr="Phoroptor">
            <a:extLst>
              <a:ext uri="{FF2B5EF4-FFF2-40B4-BE49-F238E27FC236}">
                <a16:creationId xmlns:a16="http://schemas.microsoft.com/office/drawing/2014/main" id="{CE04EE0E-60AE-582D-7676-F543CEC833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536" r="3511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720820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kern="1200" cap="none">
                <a:solidFill>
                  <a:schemeClr val="tx1"/>
                </a:solidFill>
                <a:latin typeface="+mj-lt"/>
                <a:ea typeface="+mj-ea"/>
                <a:cs typeface="+mj-cs"/>
              </a:rPr>
              <a:t>Object Detection 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30936" y="2660904"/>
            <a:ext cx="4818888" cy="3547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/>
              <a:t>Object detection </a:t>
            </a:r>
            <a:r>
              <a:rPr lang="en-US" sz="2200" dirty="0"/>
              <a:t>is a phenomenon in </a:t>
            </a:r>
            <a:r>
              <a:rPr lang="en-US" sz="2200" b="1" dirty="0"/>
              <a:t>computer vision.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The task of classifying and localizing multiple objects in an image.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Some of the objects </a:t>
            </a:r>
            <a:r>
              <a:rPr lang="en-US" sz="2200" b="1" dirty="0"/>
              <a:t>detected</a:t>
            </a:r>
            <a:r>
              <a:rPr lang="en-US" sz="2200" dirty="0"/>
              <a:t> include </a:t>
            </a:r>
            <a:r>
              <a:rPr lang="en-US" sz="2200" b="1" dirty="0"/>
              <a:t>people</a:t>
            </a:r>
            <a:r>
              <a:rPr lang="en-US" sz="2200" dirty="0"/>
              <a:t>, </a:t>
            </a:r>
            <a:r>
              <a:rPr lang="en-US" sz="2200" b="1" dirty="0"/>
              <a:t>cars</a:t>
            </a:r>
            <a:r>
              <a:rPr lang="en-US" sz="2200" dirty="0"/>
              <a:t>, </a:t>
            </a:r>
            <a:r>
              <a:rPr lang="en-US" sz="2200" b="1" dirty="0"/>
              <a:t>chairs ……</a:t>
            </a:r>
            <a:endParaRPr lang="en-US" sz="2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63113D-380F-3FF5-49D4-FBBDC1A711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243" t="396" r="25043" b="-396"/>
          <a:stretch/>
        </p:blipFill>
        <p:spPr>
          <a:xfrm>
            <a:off x="6099048" y="1077429"/>
            <a:ext cx="5458968" cy="470314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680D392-614A-43D7-BA76-AB1FFE045AF8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451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Object</a:t>
            </a:r>
            <a:r>
              <a:rPr lang="en-US" sz="5400" b="1" kern="1200" cap="none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Detection 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30936" y="2660904"/>
            <a:ext cx="4818888" cy="3547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We all know about the image </a:t>
            </a:r>
            <a:r>
              <a:rPr lang="en-US" sz="2200" b="1" dirty="0"/>
              <a:t>classification </a:t>
            </a:r>
            <a:r>
              <a:rPr lang="en-US" sz="2200" dirty="0"/>
              <a:t>problem. Given an image, the Net finds out the class to which the image belongs.</a:t>
            </a:r>
            <a:br>
              <a:rPr lang="en-US" sz="2200" dirty="0"/>
            </a:br>
            <a:endParaRPr lang="en-US" sz="22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Localizing an object in a picture means predicting a </a:t>
            </a:r>
            <a:r>
              <a:rPr lang="en-US" sz="2200" b="1" dirty="0"/>
              <a:t>bounding box </a:t>
            </a:r>
            <a:r>
              <a:rPr lang="en-US" sz="2200" dirty="0"/>
              <a:t>around the object and can be expressed as a </a:t>
            </a:r>
            <a:r>
              <a:rPr lang="en-US" sz="2200" b="1" dirty="0"/>
              <a:t>regression </a:t>
            </a:r>
            <a:r>
              <a:rPr lang="en-US" sz="2200" dirty="0"/>
              <a:t>task.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C7D111-5BE7-551E-4831-E4ABF11EF22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243" t="396" r="25043" b="-396"/>
          <a:stretch/>
        </p:blipFill>
        <p:spPr>
          <a:xfrm>
            <a:off x="6099048" y="1077429"/>
            <a:ext cx="5458968" cy="470314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680D392-614A-43D7-BA76-AB1FFE045AF8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762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D392-614A-43D7-BA76-AB1FFE045AF8}" type="slidenum">
              <a:rPr lang="en-US" smtClean="0"/>
              <a:t>4</a:t>
            </a:fld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347476"/>
            <a:ext cx="10396882" cy="88696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cap="none" dirty="0">
                <a:solidFill>
                  <a:srgbClr val="FF0000"/>
                </a:solidFill>
              </a:rPr>
              <a:t>Object Detection - Example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48" y="1499618"/>
            <a:ext cx="2683200" cy="206946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1465" y="1499616"/>
            <a:ext cx="2683200" cy="203010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5520" y="3573988"/>
            <a:ext cx="2683200" cy="223112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671845" y="4653074"/>
            <a:ext cx="20796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Arial-BoldMT"/>
              </a:rPr>
              <a:t>(C, X,Y, W, H)</a:t>
            </a:r>
            <a:endParaRPr lang="en-US" sz="2400" dirty="0"/>
          </a:p>
        </p:txBody>
      </p:sp>
      <p:sp>
        <p:nvSpPr>
          <p:cNvPr id="10" name="Rectangle 9"/>
          <p:cNvSpPr/>
          <p:nvPr/>
        </p:nvSpPr>
        <p:spPr>
          <a:xfrm>
            <a:off x="685801" y="3569078"/>
            <a:ext cx="13715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F2DA9"/>
                </a:solidFill>
                <a:latin typeface="Arial-BoldMT"/>
              </a:rPr>
              <a:t>raw image</a:t>
            </a:r>
          </a:p>
          <a:p>
            <a:r>
              <a:rPr lang="en-US" b="1" dirty="0">
                <a:solidFill>
                  <a:srgbClr val="1F2DA9"/>
                </a:solidFill>
                <a:latin typeface="Arial-BoldMT"/>
              </a:rPr>
              <a:t>416*416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4349257" y="3562852"/>
            <a:ext cx="18076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F2DA9"/>
                </a:solidFill>
                <a:latin typeface="Arial-BoldMT"/>
              </a:rPr>
              <a:t>image labeling</a:t>
            </a:r>
          </a:p>
          <a:p>
            <a:r>
              <a:rPr lang="en-US" b="1" dirty="0">
                <a:solidFill>
                  <a:srgbClr val="1F2DA9"/>
                </a:solidFill>
                <a:latin typeface="Arial-BoldMT"/>
              </a:rPr>
              <a:t>(C, X,Y, W, H)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274320" y="4543233"/>
            <a:ext cx="5977067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ArialMT"/>
              </a:rPr>
              <a:t>• </a:t>
            </a:r>
            <a:r>
              <a:rPr lang="en-US" sz="2000" b="1" dirty="0">
                <a:solidFill>
                  <a:srgbClr val="000000"/>
                </a:solidFill>
                <a:latin typeface="Arial-BoldMT"/>
              </a:rPr>
              <a:t>Each item should be a tuple of the form :</a:t>
            </a:r>
          </a:p>
          <a:p>
            <a:r>
              <a:rPr lang="en-US" sz="2800" b="1" dirty="0">
                <a:solidFill>
                  <a:srgbClr val="000000"/>
                </a:solidFill>
                <a:latin typeface="Arial-BoldMT"/>
              </a:rPr>
              <a:t>(</a:t>
            </a:r>
            <a:r>
              <a:rPr lang="en-US" sz="2800" b="1" dirty="0">
                <a:solidFill>
                  <a:srgbClr val="1F2DA9"/>
                </a:solidFill>
                <a:latin typeface="Arial-BoldMT"/>
              </a:rPr>
              <a:t>images</a:t>
            </a:r>
            <a:r>
              <a:rPr lang="en-US" sz="2800" b="1" dirty="0">
                <a:solidFill>
                  <a:srgbClr val="000000"/>
                </a:solidFill>
                <a:latin typeface="Arial-BoldMT"/>
              </a:rPr>
              <a:t>,</a:t>
            </a:r>
          </a:p>
          <a:p>
            <a:r>
              <a:rPr lang="en-US" sz="2800" b="1" dirty="0">
                <a:solidFill>
                  <a:srgbClr val="000000"/>
                </a:solidFill>
                <a:latin typeface="Arial-BoldMT"/>
              </a:rPr>
              <a:t>(</a:t>
            </a:r>
            <a:r>
              <a:rPr lang="en-US" sz="2800" b="1" dirty="0" err="1">
                <a:solidFill>
                  <a:srgbClr val="C10000"/>
                </a:solidFill>
                <a:latin typeface="Arial-BoldMT"/>
              </a:rPr>
              <a:t>class_labels</a:t>
            </a:r>
            <a:r>
              <a:rPr lang="en-US" sz="2800" b="1" dirty="0">
                <a:solidFill>
                  <a:srgbClr val="000000"/>
                </a:solidFill>
                <a:latin typeface="Arial-BoldMT"/>
              </a:rPr>
              <a:t>, </a:t>
            </a:r>
            <a:r>
              <a:rPr lang="en-US" sz="2800" b="1" dirty="0" err="1">
                <a:solidFill>
                  <a:srgbClr val="2B8413"/>
                </a:solidFill>
                <a:latin typeface="Arial-BoldMT"/>
              </a:rPr>
              <a:t>bounding_boxes</a:t>
            </a:r>
            <a:r>
              <a:rPr lang="en-US" sz="2800" b="1" dirty="0">
                <a:solidFill>
                  <a:srgbClr val="000000"/>
                </a:solidFill>
                <a:latin typeface="Arial-BoldMT"/>
              </a:rPr>
              <a:t>) )</a:t>
            </a:r>
            <a:endParaRPr lang="en-US" sz="2000" dirty="0"/>
          </a:p>
        </p:txBody>
      </p:sp>
      <p:sp>
        <p:nvSpPr>
          <p:cNvPr id="13" name="Rectangle 12"/>
          <p:cNvSpPr/>
          <p:nvPr/>
        </p:nvSpPr>
        <p:spPr>
          <a:xfrm>
            <a:off x="6755114" y="5805117"/>
            <a:ext cx="15440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1F2DA9"/>
                </a:solidFill>
                <a:latin typeface="Arial-BoldMT"/>
              </a:rPr>
              <a:t>image result</a:t>
            </a:r>
            <a:endParaRPr lang="en-US" dirty="0"/>
          </a:p>
        </p:txBody>
      </p:sp>
      <p:sp>
        <p:nvSpPr>
          <p:cNvPr id="14" name="Right Arrow 13"/>
          <p:cNvSpPr/>
          <p:nvPr/>
        </p:nvSpPr>
        <p:spPr>
          <a:xfrm>
            <a:off x="2871216" y="2350008"/>
            <a:ext cx="1040249" cy="4937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Arrow 14"/>
          <p:cNvSpPr/>
          <p:nvPr/>
        </p:nvSpPr>
        <p:spPr>
          <a:xfrm>
            <a:off x="6631241" y="2350008"/>
            <a:ext cx="859281" cy="4937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The basic architecture of DNN - Python Natural Language Processing [Book]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11" r="219" b="12252"/>
          <a:stretch/>
        </p:blipFill>
        <p:spPr bwMode="auto">
          <a:xfrm>
            <a:off x="7615858" y="1499004"/>
            <a:ext cx="3895344" cy="203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/>
          <p:cNvSpPr/>
          <p:nvPr/>
        </p:nvSpPr>
        <p:spPr>
          <a:xfrm>
            <a:off x="10646863" y="3516685"/>
            <a:ext cx="8643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1F2DA9"/>
                </a:solidFill>
                <a:latin typeface="Arial-BoldMT"/>
              </a:rPr>
              <a:t>model</a:t>
            </a:r>
            <a:endParaRPr lang="en-US" dirty="0"/>
          </a:p>
        </p:txBody>
      </p:sp>
      <p:sp>
        <p:nvSpPr>
          <p:cNvPr id="17" name="Down Arrow 16"/>
          <p:cNvSpPr/>
          <p:nvPr/>
        </p:nvSpPr>
        <p:spPr>
          <a:xfrm>
            <a:off x="10094976" y="3573988"/>
            <a:ext cx="551887" cy="96924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Arrow 17"/>
          <p:cNvSpPr/>
          <p:nvPr/>
        </p:nvSpPr>
        <p:spPr>
          <a:xfrm rot="10800000">
            <a:off x="8868720" y="4724895"/>
            <a:ext cx="803125" cy="3749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4690872" y="2350008"/>
            <a:ext cx="649224" cy="493776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769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/>
              <a:t>Object Detection -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D392-614A-43D7-BA76-AB1FFE045AF8}" type="slidenum">
              <a:rPr lang="en-US" smtClean="0"/>
              <a:t>5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475" y="1690687"/>
            <a:ext cx="9918430" cy="4567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8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none" dirty="0"/>
              <a:t>Object Detection - Example</a:t>
            </a:r>
            <a:r>
              <a:rPr lang="en-US" b="1" dirty="0"/>
              <a:t> TL</a:t>
            </a:r>
            <a:endParaRPr lang="en-US" b="1" cap="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D392-614A-43D7-BA76-AB1FFE045AF8}" type="slidenum">
              <a:rPr lang="en-US" smtClean="0"/>
              <a:t>6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150" y="1981650"/>
            <a:ext cx="8510552" cy="382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445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6742"/>
            <a:ext cx="10515600" cy="1004357"/>
          </a:xfrm>
        </p:spPr>
        <p:txBody>
          <a:bodyPr/>
          <a:lstStyle/>
          <a:p>
            <a:r>
              <a:rPr lang="en-US" b="1" cap="none" dirty="0">
                <a:solidFill>
                  <a:srgbClr val="FF0000"/>
                </a:solidFill>
              </a:rPr>
              <a:t>COCO Dataset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D392-614A-43D7-BA76-AB1FFE045AF8}" type="slidenum">
              <a:rPr lang="en-US" smtClean="0"/>
              <a:t>7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CD6D1E-4F30-7677-D141-E801761C5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40880"/>
            <a:ext cx="4220164" cy="35056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96103A2-EBDB-1092-C3B0-2460B4E173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3467" y="19050"/>
            <a:ext cx="76085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333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13788" y="365125"/>
            <a:ext cx="4840010" cy="180730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cap="none" dirty="0"/>
              <a:t>Object Detection Algorithms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8475AE0-7A0F-3C0F-2765-FE40CDA74C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299" r="3744" b="2"/>
          <a:stretch>
            <a:fillRect/>
          </a:stretch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5" name="Rectangle 4"/>
          <p:cNvSpPr/>
          <p:nvPr/>
        </p:nvSpPr>
        <p:spPr>
          <a:xfrm>
            <a:off x="6513788" y="2333297"/>
            <a:ext cx="4840010" cy="38436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YOLO (You Only Look Once) Version 3,4,5,6,7,8,9,10,11,12, 26, World 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Single Shot Detector (SSD) 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Fast R-CNN 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Faster R-CNN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DINOv3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3680D392-614A-43D7-BA76-AB1FFE045AF8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8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721843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Wood human figure">
            <a:extLst>
              <a:ext uri="{FF2B5EF4-FFF2-40B4-BE49-F238E27FC236}">
                <a16:creationId xmlns:a16="http://schemas.microsoft.com/office/drawing/2014/main" id="{217FCA3D-6E84-A45F-1755-871DF1FDCA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7341" b="-2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cap="none"/>
              <a:t>What Is Yolo?</a:t>
            </a:r>
            <a:endParaRPr lang="en-US" sz="4000" b="1"/>
          </a:p>
        </p:txBody>
      </p:sp>
      <p:sp>
        <p:nvSpPr>
          <p:cNvPr id="5" name="Rectangle 4"/>
          <p:cNvSpPr/>
          <p:nvPr/>
        </p:nvSpPr>
        <p:spPr>
          <a:xfrm>
            <a:off x="6115317" y="2743200"/>
            <a:ext cx="5247340" cy="34968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 </a:t>
            </a:r>
            <a:r>
              <a:rPr lang="en-US" sz="2000" b="1"/>
              <a:t>You Only Look Once (YOLO) </a:t>
            </a:r>
            <a:r>
              <a:rPr lang="en-US" sz="2000"/>
              <a:t>is an algorithm that uses convolutional neural networks for object detection.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It is one of </a:t>
            </a:r>
            <a:r>
              <a:rPr lang="en-US" sz="2000" b="1"/>
              <a:t>the fastest </a:t>
            </a:r>
            <a:r>
              <a:rPr lang="en-US" sz="2000"/>
              <a:t>object detection algorithms out there.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It is a very good choice when we need </a:t>
            </a:r>
            <a:r>
              <a:rPr lang="en-US" sz="2000" b="1"/>
              <a:t>real-time detection</a:t>
            </a:r>
            <a:r>
              <a:rPr lang="en-US" sz="2000"/>
              <a:t>, without loss of too much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2520" y="6356350"/>
            <a:ext cx="3200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3680D392-614A-43D7-BA76-AB1FFE045AF8}" type="slidenum">
              <a:rPr lang="en-US">
                <a:solidFill>
                  <a:schemeClr val="tx1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9</a:t>
            </a:fld>
            <a:endParaRPr lang="en-US">
              <a:solidFill>
                <a:schemeClr val="tx1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913904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b="1" kern="1200" cap="none">
                <a:solidFill>
                  <a:schemeClr val="tx1"/>
                </a:solidFill>
                <a:latin typeface="+mj-lt"/>
                <a:ea typeface="+mj-ea"/>
                <a:cs typeface="+mj-cs"/>
              </a:rPr>
              <a:t>Yolo Steps</a:t>
            </a:r>
            <a:endParaRPr lang="en-US" sz="5400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126418" y="552091"/>
            <a:ext cx="6224335" cy="543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/>
              <a:t>Backbone : R</a:t>
            </a:r>
            <a:r>
              <a:rPr lang="en-US" sz="2200" dirty="0"/>
              <a:t>efers to the </a:t>
            </a:r>
            <a:r>
              <a:rPr lang="en-US" sz="2200" b="1" dirty="0"/>
              <a:t>feature-extraction </a:t>
            </a:r>
            <a:r>
              <a:rPr lang="en-US" sz="2200" dirty="0"/>
              <a:t>architecture.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/>
              <a:t>Tiny YOLO </a:t>
            </a:r>
            <a:r>
              <a:rPr lang="en-US" sz="2200" dirty="0"/>
              <a:t>has only 9 convolutional layers, so it’s less accurate but faster and better suited for mobile and embedded projects.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/>
              <a:t>Darknet53 </a:t>
            </a:r>
            <a:r>
              <a:rPr lang="en-US" sz="2200" dirty="0"/>
              <a:t>( The </a:t>
            </a:r>
            <a:r>
              <a:rPr lang="en-US" sz="2200" b="1" dirty="0"/>
              <a:t>backbone</a:t>
            </a:r>
            <a:r>
              <a:rPr lang="en-US" sz="2200" dirty="0"/>
              <a:t> used in YOLOV3) has </a:t>
            </a:r>
            <a:r>
              <a:rPr lang="en-US" sz="2200" b="1" dirty="0"/>
              <a:t>53</a:t>
            </a:r>
            <a:r>
              <a:rPr lang="en-US" sz="2200" dirty="0"/>
              <a:t> convolutional layers, so it’s more accurate but slower.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In </a:t>
            </a:r>
            <a:r>
              <a:rPr lang="en-US" sz="2200" b="1" dirty="0"/>
              <a:t>YOLOv4</a:t>
            </a:r>
            <a:r>
              <a:rPr lang="en-US" sz="2200" dirty="0"/>
              <a:t>, backbones can be VGG, </a:t>
            </a:r>
            <a:r>
              <a:rPr lang="en-US" sz="2200" dirty="0" err="1"/>
              <a:t>ResNet</a:t>
            </a:r>
            <a:r>
              <a:rPr lang="en-US" sz="2200" dirty="0"/>
              <a:t>, </a:t>
            </a:r>
            <a:r>
              <a:rPr lang="en-US" sz="2200" dirty="0" err="1"/>
              <a:t>SpineNet</a:t>
            </a:r>
            <a:r>
              <a:rPr lang="en-US" sz="2200" dirty="0"/>
              <a:t>, </a:t>
            </a:r>
            <a:r>
              <a:rPr lang="en-US" sz="2200" dirty="0" err="1"/>
              <a:t>EfficientNet</a:t>
            </a:r>
            <a:r>
              <a:rPr lang="en-US" sz="2200" dirty="0"/>
              <a:t>, </a:t>
            </a:r>
            <a:r>
              <a:rPr lang="en-US" sz="2200" dirty="0" err="1"/>
              <a:t>ResNeXt</a:t>
            </a:r>
            <a:r>
              <a:rPr lang="en-US" sz="2200" dirty="0"/>
              <a:t>, or Darknet53.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680D392-614A-43D7-BA76-AB1FFE045AF8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5800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b="1" kern="1200" cap="none">
                <a:solidFill>
                  <a:schemeClr val="tx1"/>
                </a:solidFill>
                <a:latin typeface="+mj-lt"/>
                <a:ea typeface="+mj-ea"/>
                <a:cs typeface="+mj-cs"/>
              </a:rPr>
              <a:t>Yolo Steps</a:t>
            </a:r>
            <a:endParaRPr lang="en-US" sz="5400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929384"/>
            <a:ext cx="10515600" cy="4251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1" dirty="0"/>
              <a:t>Neck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800" dirty="0"/>
              <a:t>additional layers between the backbone and the head (dense prediction block), its purpose is to </a:t>
            </a:r>
            <a:r>
              <a:rPr lang="en-US" sz="2800" b="1" dirty="0"/>
              <a:t>add extra information </a:t>
            </a:r>
            <a:r>
              <a:rPr lang="en-US" sz="2800" dirty="0"/>
              <a:t>in the layers.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8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1" dirty="0"/>
              <a:t>Head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800" dirty="0"/>
              <a:t>The head block is the part used to: </a:t>
            </a:r>
            <a:r>
              <a:rPr lang="en-US" sz="2800" b="1" dirty="0"/>
              <a:t>locate bounding boxes </a:t>
            </a:r>
            <a:r>
              <a:rPr lang="en-US" sz="2800" dirty="0"/>
              <a:t>and </a:t>
            </a:r>
            <a:r>
              <a:rPr lang="en-US" sz="2800" b="1" dirty="0"/>
              <a:t>classify </a:t>
            </a:r>
            <a:r>
              <a:rPr lang="en-US" sz="2800" dirty="0"/>
              <a:t>what’s inside each 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680D392-614A-43D7-BA76-AB1FFE045AF8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692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none" dirty="0">
                <a:solidFill>
                  <a:srgbClr val="FF0000"/>
                </a:solidFill>
              </a:rPr>
              <a:t>Non-Maximal Suppression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D392-614A-43D7-BA76-AB1FFE045AF8}" type="slidenum">
              <a:rPr lang="en-US" smtClean="0"/>
              <a:t>12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42875" y="1489134"/>
            <a:ext cx="1039688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</a:rPr>
              <a:t>Non-max suppression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is the final step of these object detection algorithms and is used to select the most appropriate bounding box for the object. </a:t>
            </a:r>
          </a:p>
        </p:txBody>
      </p:sp>
      <p:pic>
        <p:nvPicPr>
          <p:cNvPr id="3074" name="Picture 2" descr="Selecting the Right Bounding Box Using Non-Max Suppression (with  implementation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586" y="2952683"/>
            <a:ext cx="5926414" cy="2144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ED83B24D-5AD5-4612-AF9A-86E510CD4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61" y="2843490"/>
            <a:ext cx="5953125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Filter: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 Discard all bounding boxes with a confidence score below a set threshold.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Sort: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 Sort the remaining boxes in descending order by their confidence scores.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Select: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 Pick the box with the highest score, save it as a final prediction, and remove it from the list.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Compare (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IoU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 Calculate the Intersection over Union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IoU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) between this selected box and all other remaining boxes.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Suppress: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 Remove any box from the list that has an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IoU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 higher than your overlap threshold (meaning it overlaps too much with the selected box).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Repeat: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 Loop back to Step 3 until no boxes are left in the list.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36407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F2794-1414-E9A2-C843-E1D778A2E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40" y="1"/>
            <a:ext cx="4115562" cy="64770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Architecture Of YoloV8</a:t>
            </a:r>
          </a:p>
        </p:txBody>
      </p:sp>
      <p:pic>
        <p:nvPicPr>
          <p:cNvPr id="2050" name="Picture 2" descr="YOLOv8_structure_v1.6">
            <a:extLst>
              <a:ext uri="{FF2B5EF4-FFF2-40B4-BE49-F238E27FC236}">
                <a16:creationId xmlns:a16="http://schemas.microsoft.com/office/drawing/2014/main" id="{3B1EC538-8799-83EC-60B1-D1B918EE1D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40"/>
          <a:stretch/>
        </p:blipFill>
        <p:spPr bwMode="auto">
          <a:xfrm>
            <a:off x="4684714" y="0"/>
            <a:ext cx="750728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9BFB2E-E252-B4F7-8EC5-74FF39493CB8}"/>
              </a:ext>
            </a:extLst>
          </p:cNvPr>
          <p:cNvSpPr txBox="1"/>
          <p:nvPr/>
        </p:nvSpPr>
        <p:spPr>
          <a:xfrm>
            <a:off x="7901" y="6334779"/>
            <a:ext cx="48838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3"/>
              </a:rPr>
              <a:t>GitHub - </a:t>
            </a:r>
            <a:r>
              <a:rPr lang="en-US" sz="1400" dirty="0" err="1">
                <a:hlinkClick r:id="rId3"/>
              </a:rPr>
              <a:t>ultralytics</a:t>
            </a:r>
            <a:r>
              <a:rPr lang="en-US" sz="1400" dirty="0">
                <a:hlinkClick r:id="rId3"/>
              </a:rPr>
              <a:t>/</a:t>
            </a:r>
            <a:r>
              <a:rPr lang="en-US" sz="1400" dirty="0" err="1">
                <a:hlinkClick r:id="rId3"/>
              </a:rPr>
              <a:t>ultralytics</a:t>
            </a:r>
            <a:r>
              <a:rPr lang="en-US" sz="1400" dirty="0">
                <a:hlinkClick r:id="rId3"/>
              </a:rPr>
              <a:t>: NEW - YOLOv8 🚀 in </a:t>
            </a:r>
            <a:r>
              <a:rPr lang="en-US" sz="1400" dirty="0" err="1">
                <a:hlinkClick r:id="rId3"/>
              </a:rPr>
              <a:t>PyTorch</a:t>
            </a:r>
            <a:r>
              <a:rPr lang="en-US" sz="1400" dirty="0">
                <a:hlinkClick r:id="rId3"/>
              </a:rPr>
              <a:t> &gt; ONNX &gt; OpenVINO &gt; </a:t>
            </a:r>
            <a:r>
              <a:rPr lang="en-US" sz="1400" dirty="0" err="1">
                <a:hlinkClick r:id="rId3"/>
              </a:rPr>
              <a:t>CoreML</a:t>
            </a:r>
            <a:r>
              <a:rPr lang="en-US" sz="1400" dirty="0">
                <a:hlinkClick r:id="rId3"/>
              </a:rPr>
              <a:t> &gt; </a:t>
            </a:r>
            <a:r>
              <a:rPr lang="en-US" sz="1400" dirty="0" err="1">
                <a:hlinkClick r:id="rId3"/>
              </a:rPr>
              <a:t>TFLite</a:t>
            </a: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FC2FDA-BBDD-4B47-A9A2-CE42ED68F1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925" y="485775"/>
            <a:ext cx="4469789" cy="19222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11990C-9E0E-4DDE-B7BF-8264021306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10" y="2543981"/>
            <a:ext cx="4641033" cy="16273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E1972B1-BB09-4187-BCBD-B2985962C6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040" y="4226790"/>
            <a:ext cx="4536504" cy="214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9059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4496"/>
            <a:ext cx="10515600" cy="1325563"/>
          </a:xfrm>
        </p:spPr>
        <p:txBody>
          <a:bodyPr/>
          <a:lstStyle/>
          <a:p>
            <a:r>
              <a:rPr lang="en-US" b="1"/>
              <a:t>YOLO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D392-614A-43D7-BA76-AB1FFE045AF8}" type="slidenum">
              <a:rPr lang="en-US" smtClean="0"/>
              <a:t>14</a:t>
            </a:fld>
            <a:endParaRPr lang="en-US" dirty="0"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1F45953A-B9C4-4023-C409-86A4499114B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B4B315-0393-7875-1165-A8009FC88C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804" y="1371599"/>
            <a:ext cx="11368392" cy="48930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2E08B4F-A144-4F89-8C7F-FD928AA262C2}"/>
              </a:ext>
            </a:extLst>
          </p:cNvPr>
          <p:cNvSpPr txBox="1"/>
          <p:nvPr/>
        </p:nvSpPr>
        <p:spPr>
          <a:xfrm>
            <a:off x="3933825" y="171270"/>
            <a:ext cx="101441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number of these operations</a:t>
            </a:r>
            <a:r>
              <a:rPr lang="en-US" dirty="0"/>
              <a:t> is called </a:t>
            </a:r>
            <a:r>
              <a:rPr lang="en-US" b="1" dirty="0"/>
              <a:t>FLOPs</a:t>
            </a:r>
            <a:r>
              <a:rPr lang="en-US" dirty="0"/>
              <a:t>.</a:t>
            </a:r>
          </a:p>
          <a:p>
            <a:r>
              <a:rPr lang="en-US" dirty="0"/>
              <a:t>For 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small model like YOLOv5s might need </a:t>
            </a:r>
            <a:r>
              <a:rPr lang="en-US" b="1" dirty="0"/>
              <a:t>17 GFLOPs</a:t>
            </a:r>
            <a:r>
              <a:rPr lang="en-US" dirty="0"/>
              <a:t> (17 billion operations).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larger model like YOLOv5x might need </a:t>
            </a:r>
            <a:r>
              <a:rPr lang="en-US" b="1" dirty="0"/>
              <a:t>140+ GFLOPs</a:t>
            </a:r>
            <a:r>
              <a:rPr lang="en-US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EEB6FE-58B0-4AD4-8B04-399D70FA94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1931" y="6353308"/>
            <a:ext cx="2781688" cy="3334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EDC7B34-E57B-496A-9FE5-A6A03B87FB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0767" y="6413111"/>
            <a:ext cx="2972215" cy="37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2090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7" name="Rectangle 9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9" name="Freeform: Shape 9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1" name="Freeform: Shape 10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D633AC-863C-395F-7D50-076B7E4228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6912" y="2339502"/>
            <a:ext cx="8258176" cy="1563040"/>
          </a:xfrm>
        </p:spPr>
        <p:txBody>
          <a:bodyPr anchor="ctr">
            <a:noAutofit/>
          </a:bodyPr>
          <a:lstStyle/>
          <a:p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Object Detection Model</a:t>
            </a: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(Mean Average Precision [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98610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18288"/>
            <a:ext cx="10693399" cy="1151965"/>
          </a:xfrm>
        </p:spPr>
        <p:txBody>
          <a:bodyPr>
            <a:normAutofit/>
          </a:bodyPr>
          <a:lstStyle/>
          <a:p>
            <a:r>
              <a:rPr lang="en-US" b="1" cap="none" dirty="0">
                <a:solidFill>
                  <a:srgbClr val="FF0000"/>
                </a:solidFill>
              </a:rPr>
              <a:t>How To Evaluate Object Detection Model?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D392-614A-43D7-BA76-AB1FFE045AF8}" type="slidenum">
              <a:rPr lang="en-US" smtClean="0"/>
              <a:t>16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85799" y="1133677"/>
            <a:ext cx="10693399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MSE </a:t>
            </a:r>
            <a:r>
              <a:rPr lang="en-US" sz="2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often works fairly well as a </a:t>
            </a: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 function </a:t>
            </a:r>
            <a:r>
              <a:rPr lang="en-US" sz="2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train the model, but it is not a great metric to evaluate how well the model can predict bounding boxes.</a:t>
            </a:r>
          </a:p>
          <a:p>
            <a:r>
              <a:rPr lang="en-US" sz="2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The most common metric for this is </a:t>
            </a: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Intersection over Union (</a:t>
            </a:r>
            <a:r>
              <a:rPr lang="en-US" sz="2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IoU</a:t>
            </a: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Coding :                     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tf.keras.metrics.MeanIoU</a:t>
            </a:r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rcRect r="9128"/>
          <a:stretch/>
        </p:blipFill>
        <p:spPr>
          <a:xfrm>
            <a:off x="1723898" y="3379278"/>
            <a:ext cx="7830650" cy="1637823"/>
          </a:xfrm>
          <a:prstGeom prst="rect">
            <a:avLst/>
          </a:prstGeom>
        </p:spPr>
      </p:pic>
      <p:pic>
        <p:nvPicPr>
          <p:cNvPr id="7" name="Picture 4" descr="Reaching near-perfect accuracy for fish pool detection">
            <a:extLst>
              <a:ext uri="{FF2B5EF4-FFF2-40B4-BE49-F238E27FC236}">
                <a16:creationId xmlns:a16="http://schemas.microsoft.com/office/drawing/2014/main" id="{E9702345-084F-C023-7AA3-F534976FF8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8959" y="5139044"/>
            <a:ext cx="5047488" cy="1718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4184" y="3716700"/>
            <a:ext cx="2929811" cy="1759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7683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9511" y="0"/>
            <a:ext cx="10515600" cy="1325563"/>
          </a:xfrm>
        </p:spPr>
        <p:txBody>
          <a:bodyPr/>
          <a:lstStyle/>
          <a:p>
            <a:r>
              <a:rPr lang="en-US" b="1" cap="none" dirty="0">
                <a:solidFill>
                  <a:srgbClr val="FF0000"/>
                </a:solidFill>
              </a:rPr>
              <a:t>Mean Average Precision ( </a:t>
            </a:r>
            <a:r>
              <a:rPr lang="en-US" b="1" cap="none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lang="en-US" b="1" cap="none" dirty="0">
                <a:solidFill>
                  <a:srgbClr val="FF0000"/>
                </a:solidFill>
              </a:rPr>
              <a:t> )</a:t>
            </a:r>
            <a:endParaRPr lang="en-US" cap="none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D392-614A-43D7-BA76-AB1FFE045AF8}" type="slidenum">
              <a:rPr lang="en-US" smtClean="0"/>
              <a:t>17</a:t>
            </a:fld>
            <a:endParaRPr lang="en-US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1A026FE3-5888-ED65-43B1-2B669D3081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94586"/>
            <a:ext cx="12192000" cy="50927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a performance metric commonly used in object detection to evaluate how well a model detects objects in an image.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measures the average precision (AP) over a set of Intersection over Union 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IoU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thresholds.</a:t>
            </a:r>
          </a:p>
          <a:p>
            <a:pPr marL="228600" marR="0" lvl="0" indent="-2286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n-US" sz="5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n-US" sz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COCO evaluation, the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IoU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threshold ranges from 0.5 to 0.95 with a step size of 0.05 represented as AP @ [0.5:0.05:0.95]</a:t>
            </a:r>
          </a:p>
          <a:p>
            <a:pPr marL="228600" marR="0" lvl="0" indent="-2286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computed by calculating the AP for each class and averaging the results across all classes.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81613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D392-614A-43D7-BA76-AB1FFE045AF8}" type="slidenum">
              <a:rPr lang="en-US" smtClean="0"/>
              <a:t>18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E3E1F71-9B70-37BB-26A1-CE453B9CB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77697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Mean Average Precision (</a:t>
            </a:r>
            <a:r>
              <a:rPr lang="en-US" b="1" dirty="0" err="1">
                <a:solidFill>
                  <a:srgbClr val="FF0000"/>
                </a:solidFill>
              </a:rPr>
              <a:t>mAP</a:t>
            </a:r>
            <a:r>
              <a:rPr lang="en-US" b="1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E0A710-0451-C2D5-BA09-F2267643F15C}"/>
              </a:ext>
            </a:extLst>
          </p:cNvPr>
          <p:cNvSpPr txBox="1"/>
          <p:nvPr/>
        </p:nvSpPr>
        <p:spPr>
          <a:xfrm>
            <a:off x="685800" y="3613485"/>
            <a:ext cx="1001572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Assume we have two </a:t>
            </a:r>
            <a:r>
              <a:rPr lang="en-US" sz="2800" b="1" dirty="0"/>
              <a:t>ground truth objects (GT1, GT2).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We make four predictions with confidence scores and </a:t>
            </a:r>
            <a:r>
              <a:rPr lang="en-US" sz="2800" dirty="0" err="1"/>
              <a:t>IoU</a:t>
            </a:r>
            <a:r>
              <a:rPr lang="en-US" sz="2800" dirty="0"/>
              <a:t> results.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CA5BEA5-1436-65D7-B544-A8BACF3F50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8741033"/>
              </p:ext>
            </p:extLst>
          </p:nvPr>
        </p:nvGraphicFramePr>
        <p:xfrm>
          <a:off x="685800" y="4962832"/>
          <a:ext cx="10515600" cy="1828800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88433048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96182005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85301024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7532087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Prediction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Confidence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IoU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TP/FP (IOU &gt;=0.5)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02240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Pred1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93250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Pred2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6444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Pred3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16389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Pred4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8068470"/>
                  </a:ext>
                </a:extLst>
              </a:tr>
            </a:tbl>
          </a:graphicData>
        </a:graphic>
      </p:graphicFrame>
      <p:sp>
        <p:nvSpPr>
          <p:cNvPr id="12" name="Rectangle 1">
            <a:extLst>
              <a:ext uri="{FF2B5EF4-FFF2-40B4-BE49-F238E27FC236}">
                <a16:creationId xmlns:a16="http://schemas.microsoft.com/office/drawing/2014/main" id="{02D40776-6BB5-FB27-725A-281CBEF72C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49914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Table Example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</a:p>
        </p:txBody>
      </p:sp>
      <p:sp>
        <p:nvSpPr>
          <p:cNvPr id="2" name="AutoShape 2" descr="Generated image">
            <a:extLst>
              <a:ext uri="{FF2B5EF4-FFF2-40B4-BE49-F238E27FC236}">
                <a16:creationId xmlns:a16="http://schemas.microsoft.com/office/drawing/2014/main" id="{A3795059-F06B-4504-94D5-42108BE5D3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Generated image">
            <a:extLst>
              <a:ext uri="{FF2B5EF4-FFF2-40B4-BE49-F238E27FC236}">
                <a16:creationId xmlns:a16="http://schemas.microsoft.com/office/drawing/2014/main" id="{D7D5289E-4B46-4774-89CC-D5289FCD78B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A2DD59-C1C4-4235-B9D0-1AF8CC66E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0305" y="-141600"/>
            <a:ext cx="5515895" cy="3723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F586991-0C58-44D3-A52E-A12ED895F3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029" y="2213475"/>
            <a:ext cx="3703641" cy="54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5108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D392-614A-43D7-BA76-AB1FFE045AF8}" type="slidenum">
              <a:rPr lang="en-US" smtClean="0"/>
              <a:t>19</a:t>
            </a:fld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3B91BF1-4EFB-BC47-C74D-A8AE4B25B3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3745950"/>
              </p:ext>
            </p:extLst>
          </p:nvPr>
        </p:nvGraphicFramePr>
        <p:xfrm>
          <a:off x="673360" y="2733675"/>
          <a:ext cx="7045708" cy="2750818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761427">
                  <a:extLst>
                    <a:ext uri="{9D8B030D-6E8A-4147-A177-3AD203B41FA5}">
                      <a16:colId xmlns:a16="http://schemas.microsoft.com/office/drawing/2014/main" val="1959917145"/>
                    </a:ext>
                  </a:extLst>
                </a:gridCol>
                <a:gridCol w="1761427">
                  <a:extLst>
                    <a:ext uri="{9D8B030D-6E8A-4147-A177-3AD203B41FA5}">
                      <a16:colId xmlns:a16="http://schemas.microsoft.com/office/drawing/2014/main" val="2323942462"/>
                    </a:ext>
                  </a:extLst>
                </a:gridCol>
                <a:gridCol w="1761427">
                  <a:extLst>
                    <a:ext uri="{9D8B030D-6E8A-4147-A177-3AD203B41FA5}">
                      <a16:colId xmlns:a16="http://schemas.microsoft.com/office/drawing/2014/main" val="1860764915"/>
                    </a:ext>
                  </a:extLst>
                </a:gridCol>
                <a:gridCol w="1761427">
                  <a:extLst>
                    <a:ext uri="{9D8B030D-6E8A-4147-A177-3AD203B41FA5}">
                      <a16:colId xmlns:a16="http://schemas.microsoft.com/office/drawing/2014/main" val="382381197"/>
                    </a:ext>
                  </a:extLst>
                </a:gridCol>
              </a:tblGrid>
              <a:tr h="837206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Prediction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TP/FP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Cumulative TP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Cumulative FP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6030727"/>
                  </a:ext>
                </a:extLst>
              </a:tr>
              <a:tr h="478403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Pred1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5364767"/>
                  </a:ext>
                </a:extLst>
              </a:tr>
              <a:tr h="478403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Pred2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6628691"/>
                  </a:ext>
                </a:extLst>
              </a:tr>
              <a:tr h="478403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Pred3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9161885"/>
                  </a:ext>
                </a:extLst>
              </a:tr>
              <a:tr h="4784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Pred4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8965665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3B42D3FD-D7B2-E891-EDD5-E95ADC6AF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48825"/>
            <a:ext cx="8715375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ctr"/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 how to calculate </a:t>
            </a:r>
            <a:r>
              <a:rPr lang="en-US" sz="2800" dirty="0"/>
              <a:t>Cumulative TP and Cumulative FP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at each step using the predictions: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D6B90D-37FC-61A8-2918-B7B0D354D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8732" y="297604"/>
            <a:ext cx="3353268" cy="6058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720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D392-614A-43D7-BA76-AB1FFE045AF8}" type="slidenum">
              <a:rPr lang="en-US" smtClean="0"/>
              <a:t>20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AA07885-D22F-5875-F502-539FABF9D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1381" y="0"/>
            <a:ext cx="6049219" cy="2114845"/>
          </a:xfrm>
          <a:prstGeom prst="rect">
            <a:avLst/>
          </a:prstGeom>
        </p:spPr>
      </p:pic>
      <p:pic>
        <p:nvPicPr>
          <p:cNvPr id="11" name="Picture 2" descr="Bounding Box Intersection over Union (IoU) Measure - GM-RK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289" y="4379873"/>
            <a:ext cx="10710518" cy="2341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496BD6ED-9E0D-0937-0EEF-183477E21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034507"/>
            <a:ext cx="12192000" cy="2222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True Positive (TP)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Correctly detected object with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≥ threshold.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False Positive (FP)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Incorrectly detected object or wrong class.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False Negative (FN)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Ground truth object not detected by the model.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IoU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(Intersection over Union)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Measures the overlap between the predicted bounding box and the ground truth box. </a:t>
            </a:r>
          </a:p>
        </p:txBody>
      </p:sp>
    </p:spTree>
    <p:extLst>
      <p:ext uri="{BB962C8B-B14F-4D97-AF65-F5344CB8AC3E}">
        <p14:creationId xmlns:p14="http://schemas.microsoft.com/office/powerpoint/2010/main" val="8661612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D392-614A-43D7-BA76-AB1FFE045AF8}" type="slidenum">
              <a:rPr lang="en-US" smtClean="0"/>
              <a:t>21</a:t>
            </a:fld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B1FF2F5-0D70-184D-3A7A-076BAB2796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151456"/>
              </p:ext>
            </p:extLst>
          </p:nvPr>
        </p:nvGraphicFramePr>
        <p:xfrm>
          <a:off x="1767840" y="136525"/>
          <a:ext cx="8214360" cy="2103120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369060">
                  <a:extLst>
                    <a:ext uri="{9D8B030D-6E8A-4147-A177-3AD203B41FA5}">
                      <a16:colId xmlns:a16="http://schemas.microsoft.com/office/drawing/2014/main" val="1959917145"/>
                    </a:ext>
                  </a:extLst>
                </a:gridCol>
                <a:gridCol w="1369060">
                  <a:extLst>
                    <a:ext uri="{9D8B030D-6E8A-4147-A177-3AD203B41FA5}">
                      <a16:colId xmlns:a16="http://schemas.microsoft.com/office/drawing/2014/main" val="2323942462"/>
                    </a:ext>
                  </a:extLst>
                </a:gridCol>
                <a:gridCol w="1369060">
                  <a:extLst>
                    <a:ext uri="{9D8B030D-6E8A-4147-A177-3AD203B41FA5}">
                      <a16:colId xmlns:a16="http://schemas.microsoft.com/office/drawing/2014/main" val="1860764915"/>
                    </a:ext>
                  </a:extLst>
                </a:gridCol>
                <a:gridCol w="1369060">
                  <a:extLst>
                    <a:ext uri="{9D8B030D-6E8A-4147-A177-3AD203B41FA5}">
                      <a16:colId xmlns:a16="http://schemas.microsoft.com/office/drawing/2014/main" val="382381197"/>
                    </a:ext>
                  </a:extLst>
                </a:gridCol>
                <a:gridCol w="1369060">
                  <a:extLst>
                    <a:ext uri="{9D8B030D-6E8A-4147-A177-3AD203B41FA5}">
                      <a16:colId xmlns:a16="http://schemas.microsoft.com/office/drawing/2014/main" val="2558318476"/>
                    </a:ext>
                  </a:extLst>
                </a:gridCol>
                <a:gridCol w="1369060">
                  <a:extLst>
                    <a:ext uri="{9D8B030D-6E8A-4147-A177-3AD203B41FA5}">
                      <a16:colId xmlns:a16="http://schemas.microsoft.com/office/drawing/2014/main" val="35499901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Prediction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TP/FP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Cumulative TP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Cumulative FP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Recall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60307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Pred1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53647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Pred2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66286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Pred3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0.67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9161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Pred4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896566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50E1609F-DA50-DF3A-63D8-91CFC20ED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275" y="2463206"/>
            <a:ext cx="5515745" cy="42582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73425DA-2B90-1616-379C-805DAC293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1644" y="2463207"/>
            <a:ext cx="6277912" cy="4394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317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AA1B8-3DD3-AB50-9A88-836EC293C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Average Precision (AP)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F28295-616C-A4DE-7C70-5BEA0C516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4163" y="1123167"/>
            <a:ext cx="6068272" cy="12193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020166C-A5C7-1252-8EBB-9865A9EF8B1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1836"/>
          <a:stretch/>
        </p:blipFill>
        <p:spPr>
          <a:xfrm>
            <a:off x="461423" y="2419181"/>
            <a:ext cx="7725853" cy="2115163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672B186-7696-B12B-6075-8D21ACE90B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1490251"/>
              </p:ext>
            </p:extLst>
          </p:nvPr>
        </p:nvGraphicFramePr>
        <p:xfrm>
          <a:off x="8004808" y="146855"/>
          <a:ext cx="4107180" cy="1828800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369060">
                  <a:extLst>
                    <a:ext uri="{9D8B030D-6E8A-4147-A177-3AD203B41FA5}">
                      <a16:colId xmlns:a16="http://schemas.microsoft.com/office/drawing/2014/main" val="1959917145"/>
                    </a:ext>
                  </a:extLst>
                </a:gridCol>
                <a:gridCol w="1369060">
                  <a:extLst>
                    <a:ext uri="{9D8B030D-6E8A-4147-A177-3AD203B41FA5}">
                      <a16:colId xmlns:a16="http://schemas.microsoft.com/office/drawing/2014/main" val="2558318476"/>
                    </a:ext>
                  </a:extLst>
                </a:gridCol>
                <a:gridCol w="1369060">
                  <a:extLst>
                    <a:ext uri="{9D8B030D-6E8A-4147-A177-3AD203B41FA5}">
                      <a16:colId xmlns:a16="http://schemas.microsoft.com/office/drawing/2014/main" val="35499901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Prediction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Recall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60307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Pred1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53647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Pred2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66286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Pred3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0.67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9161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Pred4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896566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336DDE7F-7FE2-4B48-93D0-005F1C650F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9696" y="3663196"/>
            <a:ext cx="4160881" cy="275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0052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C3196-13D5-990F-B980-97BFA79DE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Mean Average Precision (</a:t>
            </a:r>
            <a:r>
              <a:rPr lang="en-US" b="1" dirty="0" err="1">
                <a:solidFill>
                  <a:srgbClr val="FF0000"/>
                </a:solidFill>
              </a:rPr>
              <a:t>mAP</a:t>
            </a:r>
            <a:r>
              <a:rPr lang="en-US" b="1" dirty="0">
                <a:solidFill>
                  <a:srgbClr val="FF0000"/>
                </a:solidFill>
              </a:rPr>
              <a:t>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C1223F-D31D-CB27-35D5-32C2B9EBA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2314575"/>
            <a:ext cx="11010900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8039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none" dirty="0">
                <a:solidFill>
                  <a:srgbClr val="FF0000"/>
                </a:solidFill>
              </a:rPr>
              <a:t>Mean Average Precision ( </a:t>
            </a:r>
            <a:r>
              <a:rPr lang="en-US" b="1" cap="none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lang="en-US" b="1" cap="none" dirty="0">
                <a:solidFill>
                  <a:srgbClr val="FF0000"/>
                </a:solidFill>
              </a:rPr>
              <a:t> 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D392-614A-43D7-BA76-AB1FFE045AF8}" type="slidenum">
              <a:rPr lang="en-US" smtClean="0"/>
              <a:t>24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85800" y="1727386"/>
            <a:ext cx="10985499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dirty="0">
                <a:solidFill>
                  <a:srgbClr val="000000"/>
                </a:solidFill>
                <a:latin typeface="ArialMT"/>
              </a:rPr>
              <a:t>These precision and recall values are then plotted to get a PR (precision-recall) curve. </a:t>
            </a:r>
            <a:r>
              <a:rPr lang="en-US" sz="2400" b="1" dirty="0">
                <a:solidFill>
                  <a:srgbClr val="FF0000"/>
                </a:solidFill>
                <a:latin typeface="Arial-BoldMT"/>
              </a:rPr>
              <a:t>The area under the PR curve </a:t>
            </a:r>
            <a:r>
              <a:rPr lang="en-US" sz="2400" dirty="0">
                <a:solidFill>
                  <a:srgbClr val="000000"/>
                </a:solidFill>
                <a:latin typeface="ArialMT"/>
              </a:rPr>
              <a:t>is called </a:t>
            </a:r>
            <a:r>
              <a:rPr lang="en-US" sz="2400" b="1" dirty="0">
                <a:solidFill>
                  <a:srgbClr val="FF0000"/>
                </a:solidFill>
                <a:latin typeface="Arial-BoldMT"/>
              </a:rPr>
              <a:t>Average Precision (AP)</a:t>
            </a:r>
            <a:r>
              <a:rPr lang="en-US" sz="2400" dirty="0">
                <a:solidFill>
                  <a:srgbClr val="000000"/>
                </a:solidFill>
                <a:latin typeface="ArialMT"/>
              </a:rPr>
              <a:t>.</a:t>
            </a:r>
            <a:endParaRPr lang="en-US" sz="2400" dirty="0"/>
          </a:p>
        </p:txBody>
      </p:sp>
      <p:sp>
        <p:nvSpPr>
          <p:cNvPr id="8" name="Rectangle 7"/>
          <p:cNvSpPr/>
          <p:nvPr/>
        </p:nvSpPr>
        <p:spPr>
          <a:xfrm>
            <a:off x="685801" y="4615467"/>
            <a:ext cx="10437969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dirty="0">
                <a:solidFill>
                  <a:srgbClr val="000000"/>
                </a:solidFill>
                <a:latin typeface="ArialMT"/>
              </a:rPr>
              <a:t>We draw these precision-recall curves for the dataset split out by class type (for example </a:t>
            </a:r>
            <a:r>
              <a:rPr lang="en-US" sz="2400" b="1" dirty="0">
                <a:solidFill>
                  <a:srgbClr val="FF0000"/>
                </a:solidFill>
                <a:latin typeface="Arial-BoldMT"/>
              </a:rPr>
              <a:t>3 classes </a:t>
            </a:r>
            <a:r>
              <a:rPr lang="en-US" sz="2400" dirty="0">
                <a:solidFill>
                  <a:srgbClr val="000000"/>
                </a:solidFill>
                <a:latin typeface="ArialMT"/>
              </a:rPr>
              <a:t>and </a:t>
            </a:r>
            <a:r>
              <a:rPr lang="en-US" sz="2400" b="1" dirty="0">
                <a:solidFill>
                  <a:srgbClr val="FF0000"/>
                </a:solidFill>
                <a:latin typeface="Arial-BoldMT"/>
              </a:rPr>
              <a:t>6 threshold ranges</a:t>
            </a:r>
            <a:r>
              <a:rPr lang="en-US" sz="2400" dirty="0">
                <a:solidFill>
                  <a:srgbClr val="000000"/>
                </a:solidFill>
                <a:latin typeface="ArialMT"/>
              </a:rPr>
              <a:t>).</a:t>
            </a: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6517E5-1743-561B-77D4-896C9FAEFC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2654" y="5446557"/>
            <a:ext cx="9164262" cy="127491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9D6B4C-55C8-4F29-9AC8-D33DB5076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0732" y="2635383"/>
            <a:ext cx="4328535" cy="176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8355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C83915-9B39-4AB2-AACD-0AE2CDC8D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Comparison between Yolo versions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F622815-5EB5-4CBF-9BF9-DFF1B67686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6287823"/>
              </p:ext>
            </p:extLst>
          </p:nvPr>
        </p:nvGraphicFramePr>
        <p:xfrm>
          <a:off x="862388" y="1724623"/>
          <a:ext cx="10905069" cy="4636304"/>
        </p:xfrm>
        <a:graphic>
          <a:graphicData uri="http://schemas.openxmlformats.org/drawingml/2006/table">
            <a:tbl>
              <a:tblPr firstRow="1" bandRow="1"/>
              <a:tblGrid>
                <a:gridCol w="646970">
                  <a:extLst>
                    <a:ext uri="{9D8B030D-6E8A-4147-A177-3AD203B41FA5}">
                      <a16:colId xmlns:a16="http://schemas.microsoft.com/office/drawing/2014/main" val="1420513065"/>
                    </a:ext>
                  </a:extLst>
                </a:gridCol>
                <a:gridCol w="736428">
                  <a:extLst>
                    <a:ext uri="{9D8B030D-6E8A-4147-A177-3AD203B41FA5}">
                      <a16:colId xmlns:a16="http://schemas.microsoft.com/office/drawing/2014/main" val="2589176910"/>
                    </a:ext>
                  </a:extLst>
                </a:gridCol>
                <a:gridCol w="2984258">
                  <a:extLst>
                    <a:ext uri="{9D8B030D-6E8A-4147-A177-3AD203B41FA5}">
                      <a16:colId xmlns:a16="http://schemas.microsoft.com/office/drawing/2014/main" val="239737336"/>
                    </a:ext>
                  </a:extLst>
                </a:gridCol>
                <a:gridCol w="1515524">
                  <a:extLst>
                    <a:ext uri="{9D8B030D-6E8A-4147-A177-3AD203B41FA5}">
                      <a16:colId xmlns:a16="http://schemas.microsoft.com/office/drawing/2014/main" val="2435600349"/>
                    </a:ext>
                  </a:extLst>
                </a:gridCol>
                <a:gridCol w="2439378">
                  <a:extLst>
                    <a:ext uri="{9D8B030D-6E8A-4147-A177-3AD203B41FA5}">
                      <a16:colId xmlns:a16="http://schemas.microsoft.com/office/drawing/2014/main" val="4197857249"/>
                    </a:ext>
                  </a:extLst>
                </a:gridCol>
                <a:gridCol w="2582511">
                  <a:extLst>
                    <a:ext uri="{9D8B030D-6E8A-4147-A177-3AD203B41FA5}">
                      <a16:colId xmlns:a16="http://schemas.microsoft.com/office/drawing/2014/main" val="3693474928"/>
                    </a:ext>
                  </a:extLst>
                </a:gridCol>
              </a:tblGrid>
              <a:tr h="385077">
                <a:tc>
                  <a:txBody>
                    <a:bodyPr/>
                    <a:lstStyle/>
                    <a:p>
                      <a:pPr rtl="0"/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YOLO Version</a:t>
                      </a:r>
                    </a:p>
                  </a:txBody>
                  <a:tcPr marL="26485" marR="26485" marT="17656" marB="17656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Year Released</a:t>
                      </a:r>
                    </a:p>
                  </a:txBody>
                  <a:tcPr marL="26485" marR="26485" marT="17656" marB="17656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Major Architecture &amp; Innovation Highlights</a:t>
                      </a:r>
                    </a:p>
                  </a:txBody>
                  <a:tcPr marL="26485" marR="26485" marT="17656" marB="17656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Native Task Support</a:t>
                      </a:r>
                    </a:p>
                  </a:txBody>
                  <a:tcPr marL="26485" marR="26485" marT="17656" marB="17656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Pros &amp; Key Strengths</a:t>
                      </a:r>
                    </a:p>
                  </a:txBody>
                  <a:tcPr marL="26485" marR="26485" marT="17656" marB="17656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Cons &amp; Trade-offs</a:t>
                      </a:r>
                    </a:p>
                  </a:txBody>
                  <a:tcPr marL="26485" marR="26485" marT="17656" marB="17656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5255919"/>
                  </a:ext>
                </a:extLst>
              </a:tr>
              <a:tr h="541221">
                <a:tc>
                  <a:txBody>
                    <a:bodyPr/>
                    <a:lstStyle/>
                    <a:p>
                      <a:pPr rtl="0"/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YOLOv8</a:t>
                      </a:r>
                    </a:p>
                  </a:txBody>
                  <a:tcPr marL="26485" marR="26485" marT="17656" marB="17656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2023</a:t>
                      </a:r>
                    </a:p>
                  </a:txBody>
                  <a:tcPr marL="26485" marR="26485" marT="17656" marB="17656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Anchor-free split head, C2f blocks, Decoupled detection head.</a:t>
                      </a:r>
                    </a:p>
                  </a:txBody>
                  <a:tcPr marL="26485" marR="26485" marT="17656" marB="17656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fr-FR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Detection, Segmentation, Classification, Pose, OBB.</a:t>
                      </a:r>
                    </a:p>
                  </a:txBody>
                  <a:tcPr marL="26485" marR="26485" marT="17656" marB="17656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Highly stable, established massive community support, excellent modular toolchain.</a:t>
                      </a:r>
                    </a:p>
                  </a:txBody>
                  <a:tcPr marL="26485" marR="26485" marT="17656" marB="17656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Higher parameter count and overhead compared to later streamlined versions.</a:t>
                      </a:r>
                    </a:p>
                  </a:txBody>
                  <a:tcPr marL="26485" marR="26485" marT="17656" marB="17656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140518"/>
                  </a:ext>
                </a:extLst>
              </a:tr>
              <a:tr h="541221">
                <a:tc>
                  <a:txBody>
                    <a:bodyPr/>
                    <a:lstStyle/>
                    <a:p>
                      <a:pPr rtl="0"/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YOLOv9</a:t>
                      </a:r>
                    </a:p>
                  </a:txBody>
                  <a:tcPr marL="26485" marR="26485" marT="17656" marB="17656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2024</a:t>
                      </a:r>
                    </a:p>
                  </a:txBody>
                  <a:tcPr marL="26485" marR="26485" marT="17656" marB="17656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Programmable Gradient Information (PGI) &amp; Generalized Efficient Layer Aggregation Network (GELAN).</a:t>
                      </a:r>
                    </a:p>
                  </a:txBody>
                  <a:tcPr marL="26485" marR="26485" marT="17656" marB="17656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Detection, Segmentation, Classification, Pose.</a:t>
                      </a:r>
                    </a:p>
                  </a:txBody>
                  <a:tcPr marL="26485" marR="26485" marT="17656" marB="17656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Massive reduction in information loss during deep layer feature extraction.</a:t>
                      </a:r>
                    </a:p>
                  </a:txBody>
                  <a:tcPr marL="26485" marR="26485" marT="17656" marB="17656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Higher training memory requirements.</a:t>
                      </a:r>
                    </a:p>
                  </a:txBody>
                  <a:tcPr marL="26485" marR="26485" marT="17656" marB="17656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1528161"/>
                  </a:ext>
                </a:extLst>
              </a:tr>
              <a:tr h="385077">
                <a:tc>
                  <a:txBody>
                    <a:bodyPr/>
                    <a:lstStyle/>
                    <a:p>
                      <a:pPr rtl="0"/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YOLOv10</a:t>
                      </a:r>
                    </a:p>
                  </a:txBody>
                  <a:tcPr marL="26485" marR="26485" marT="17656" marB="17656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2024</a:t>
                      </a:r>
                    </a:p>
                  </a:txBody>
                  <a:tcPr marL="26485" marR="26485" marT="17656" marB="17656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Consistent Dual Assignments for NMS-free training, holistic efficiency-driven design.</a:t>
                      </a:r>
                    </a:p>
                  </a:txBody>
                  <a:tcPr marL="26485" marR="26485" marT="17656" marB="17656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Detection, Segmentation, Classification, Pose.</a:t>
                      </a:r>
                    </a:p>
                  </a:txBody>
                  <a:tcPr marL="26485" marR="26485" marT="17656" marB="17656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Zero NMS latency during inference, highly optimized for real-time edge AI.</a:t>
                      </a:r>
                    </a:p>
                  </a:txBody>
                  <a:tcPr marL="26485" marR="26485" marT="17656" marB="17656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Slower convergence rates on complex, hyper-custom datasets.</a:t>
                      </a:r>
                    </a:p>
                  </a:txBody>
                  <a:tcPr marL="26485" marR="26485" marT="17656" marB="17656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4631231"/>
                  </a:ext>
                </a:extLst>
              </a:tr>
              <a:tr h="541221">
                <a:tc>
                  <a:txBody>
                    <a:bodyPr/>
                    <a:lstStyle/>
                    <a:p>
                      <a:pPr rtl="0"/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YOLO11</a:t>
                      </a:r>
                    </a:p>
                  </a:txBody>
                  <a:tcPr marL="26485" marR="26485" marT="17656" marB="17656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2024</a:t>
                      </a:r>
                    </a:p>
                  </a:txBody>
                  <a:tcPr marL="26485" marR="26485" marT="17656" marB="17656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C3K2 blocks, Spatial Pyramid Pooling Fast (SPPF), and C2PSA (Spatial Attention).</a:t>
                      </a:r>
                    </a:p>
                  </a:txBody>
                  <a:tcPr marL="26485" marR="26485" marT="17656" marB="17656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fr-FR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Detection, Segmentation, Classification, Pose, OBB.</a:t>
                      </a:r>
                    </a:p>
                  </a:txBody>
                  <a:tcPr marL="26485" marR="26485" marT="17656" marB="17656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Outstanding accuracy-to-parameter efficiency, specifically tailored to detect small/obscured objects.</a:t>
                      </a:r>
                    </a:p>
                  </a:txBody>
                  <a:tcPr marL="26485" marR="26485" marT="17656" marB="17656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Can experience slight latency bottlenecks on specific low-end CPU configurations.</a:t>
                      </a:r>
                    </a:p>
                  </a:txBody>
                  <a:tcPr marL="26485" marR="26485" marT="17656" marB="17656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3314485"/>
                  </a:ext>
                </a:extLst>
              </a:tr>
              <a:tr h="541221">
                <a:tc>
                  <a:txBody>
                    <a:bodyPr/>
                    <a:lstStyle/>
                    <a:p>
                      <a:pPr rtl="0"/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YOLOv12</a:t>
                      </a:r>
                    </a:p>
                  </a:txBody>
                  <a:tcPr marL="26485" marR="26485" marT="17656" marB="17656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2025</a:t>
                      </a:r>
                    </a:p>
                  </a:txBody>
                  <a:tcPr marL="26485" marR="26485" marT="17656" marB="17656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Attention-centric design (Area Attention, FlashAttention, R-ELAN).</a:t>
                      </a:r>
                    </a:p>
                  </a:txBody>
                  <a:tcPr marL="26485" marR="26485" marT="17656" marB="17656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fr-FR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Detection, Segmentation, Classification, Pose, OBB.</a:t>
                      </a:r>
                    </a:p>
                  </a:txBody>
                  <a:tcPr marL="26485" marR="26485" marT="17656" marB="17656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State-of-the-art accuracy gains (+1.2% mAP over YOLO11), large receptive field.</a:t>
                      </a:r>
                    </a:p>
                  </a:txBody>
                  <a:tcPr marL="26485" marR="26485" marT="17656" marB="17656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Independent community release; suffers from training instability and high CPU/memory consumption.</a:t>
                      </a:r>
                    </a:p>
                  </a:txBody>
                  <a:tcPr marL="26485" marR="26485" marT="17656" marB="17656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7154689"/>
                  </a:ext>
                </a:extLst>
              </a:tr>
              <a:tr h="541221">
                <a:tc>
                  <a:txBody>
                    <a:bodyPr/>
                    <a:lstStyle/>
                    <a:p>
                      <a:pPr rtl="0"/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YOLO26</a:t>
                      </a:r>
                    </a:p>
                  </a:txBody>
                  <a:tcPr marL="26485" marR="26485" marT="17656" marB="17656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2025/2026</a:t>
                      </a:r>
                    </a:p>
                  </a:txBody>
                  <a:tcPr marL="26485" marR="26485" marT="17656" marB="17656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Deployment-first design: Permanently removed NMS and DFL; introduces ProgLoss and MuSGD Optimizer.</a:t>
                      </a:r>
                    </a:p>
                  </a:txBody>
                  <a:tcPr marL="26485" marR="26485" marT="17656" marB="17656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Unified native support for all 5 major vision tasks.</a:t>
                      </a:r>
                    </a:p>
                  </a:txBody>
                  <a:tcPr marL="26485" marR="26485" marT="17656" marB="17656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Eradicates export friction on low-power devices, incredibly fast inference speeds, flawless edge-AI optimization.</a:t>
                      </a:r>
                    </a:p>
                  </a:txBody>
                  <a:tcPr marL="26485" marR="26485" marT="17656" marB="17656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Stricter requirement for fine-tuning configuration to achieve optimal convergence weights.</a:t>
                      </a:r>
                    </a:p>
                  </a:txBody>
                  <a:tcPr marL="26485" marR="26485" marT="17656" marB="17656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89377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17502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D51285D-5060-49F3-9951-C199C46B9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en-US" sz="5200"/>
              <a:t>When use ?</a:t>
            </a:r>
          </a:p>
        </p:txBody>
      </p:sp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D9474DDA-C706-7C4D-53B9-9F3FA4A777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191480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8F4B3C3A-0B0E-4F62-B670-F41A5B090AE8}"/>
              </a:ext>
            </a:extLst>
          </p:cNvPr>
          <p:cNvSpPr txBox="1"/>
          <p:nvPr/>
        </p:nvSpPr>
        <p:spPr>
          <a:xfrm>
            <a:off x="5791200" y="230713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Think of </a:t>
            </a:r>
            <a:r>
              <a:rPr lang="en-US" b="1" dirty="0"/>
              <a:t>YOLOv8</a:t>
            </a:r>
            <a:r>
              <a:rPr lang="en-US" dirty="0"/>
              <a:t> like a </a:t>
            </a:r>
            <a:r>
              <a:rPr lang="en-US" i="1" dirty="0"/>
              <a:t>Toyota Corolla</a:t>
            </a:r>
            <a:r>
              <a:rPr lang="en-US" dirty="0"/>
              <a:t>—it might not have the cutting-edge hyper-tech of a prototype sports car (like YOLOv12 or YOLO26), but it is highly efficient, incredibly reliable, easy to fix, and everyone knows how to drive it</a:t>
            </a:r>
          </a:p>
        </p:txBody>
      </p:sp>
    </p:spTree>
    <p:extLst>
      <p:ext uri="{BB962C8B-B14F-4D97-AF65-F5344CB8AC3E}">
        <p14:creationId xmlns:p14="http://schemas.microsoft.com/office/powerpoint/2010/main" val="15878485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4" name="Rectangle 83">
            <a:extLst>
              <a:ext uri="{FF2B5EF4-FFF2-40B4-BE49-F238E27FC236}">
                <a16:creationId xmlns:a16="http://schemas.microsoft.com/office/drawing/2014/main" id="{D278ADA9-6383-4BDD-80D2-8899A4026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484B7147-B0F6-40ED-B5A2-FF72BC81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2841B8-39D1-60C9-71F3-BFD49476A6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15031" y="1380754"/>
            <a:ext cx="5561938" cy="2513516"/>
          </a:xfrm>
        </p:spPr>
        <p:txBody>
          <a:bodyPr>
            <a:normAutofit/>
          </a:bodyPr>
          <a:lstStyle/>
          <a:p>
            <a:r>
              <a:rPr lang="en-US" sz="5600" b="1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</a:t>
            </a:r>
            <a:br>
              <a:rPr lang="en-US" sz="56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600" b="1">
                <a:latin typeface="Times New Roman" panose="02020603050405020304" pitchFamily="18" charset="0"/>
                <a:cs typeface="Times New Roman" panose="02020603050405020304" pitchFamily="18" charset="0"/>
              </a:rPr>
              <a:t>(CV)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D633AC-863C-395F-7D50-076B7E4228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15031" y="4076802"/>
            <a:ext cx="5561938" cy="1534587"/>
          </a:xfrm>
        </p:spPr>
        <p:txBody>
          <a:bodyPr>
            <a:normAutofit/>
          </a:bodyPr>
          <a:lstStyle/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Detection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(Labeling Tools)</a:t>
            </a:r>
          </a:p>
        </p:txBody>
      </p:sp>
      <p:sp>
        <p:nvSpPr>
          <p:cNvPr id="92" name="Arc 91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2494119" y="6170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0995" y="5310973"/>
            <a:ext cx="705948" cy="6867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8239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none" dirty="0">
                <a:solidFill>
                  <a:srgbClr val="FF0000"/>
                </a:solidFill>
              </a:rPr>
              <a:t>Image Labeling Tool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D392-614A-43D7-BA76-AB1FFE045AF8}" type="slidenum">
              <a:rPr lang="en-US" smtClean="0"/>
              <a:t>28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85800" y="2043223"/>
            <a:ext cx="7050023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C10000"/>
                </a:solidFill>
                <a:latin typeface="Arial-BoldMT"/>
              </a:rPr>
              <a:t>Open-source image labeling tool like 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ArialMT"/>
              </a:rPr>
              <a:t>VGG Image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ArialMT"/>
              </a:rPr>
              <a:t>Annotator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 err="1">
                <a:solidFill>
                  <a:srgbClr val="000000"/>
                </a:solidFill>
                <a:latin typeface="ArialMT"/>
              </a:rPr>
              <a:t>LabelImg</a:t>
            </a:r>
            <a:r>
              <a:rPr lang="en-US" sz="2800" b="1" dirty="0">
                <a:solidFill>
                  <a:srgbClr val="000000"/>
                </a:solidFill>
                <a:latin typeface="ArialMT"/>
              </a:rPr>
              <a:t>  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000000"/>
                </a:solidFill>
                <a:latin typeface="ArialMT"/>
              </a:rPr>
              <a:t>OpenLabeler</a:t>
            </a:r>
            <a:endParaRPr lang="en-US" sz="2800" dirty="0">
              <a:solidFill>
                <a:srgbClr val="000000"/>
              </a:solidFill>
              <a:latin typeface="ArialMT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000000"/>
                </a:solidFill>
                <a:latin typeface="ArialMT"/>
              </a:rPr>
              <a:t>ImgLab</a:t>
            </a:r>
            <a:endParaRPr lang="en-US" sz="2800" dirty="0">
              <a:solidFill>
                <a:srgbClr val="000000"/>
              </a:solidFill>
              <a:latin typeface="ArialMT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 err="1">
                <a:solidFill>
                  <a:srgbClr val="000000"/>
                </a:solidFill>
                <a:latin typeface="ArialMT"/>
              </a:rPr>
              <a:t>Roboflow</a:t>
            </a:r>
            <a:r>
              <a:rPr lang="en-US" sz="2800" dirty="0">
                <a:solidFill>
                  <a:srgbClr val="000000"/>
                </a:solidFill>
                <a:latin typeface="ArialMT"/>
              </a:rPr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174381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cap="none" dirty="0"/>
              <a:t>Image Labeling Tool - Labelimg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60094" y="1837765"/>
            <a:ext cx="9246362" cy="3730931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D392-614A-43D7-BA76-AB1FFE045AF8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63271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5" name="Rectangle 84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" name="Picture 80" descr="Phoroptor">
            <a:extLst>
              <a:ext uri="{FF2B5EF4-FFF2-40B4-BE49-F238E27FC236}">
                <a16:creationId xmlns:a16="http://schemas.microsoft.com/office/drawing/2014/main" id="{63F37789-D59A-B918-601B-ED07C1FC29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217" r="7409" b="-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87" name="Rectangle 86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2841B8-39D1-60C9-71F3-BFD49476A6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5722794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</a:t>
            </a:r>
            <a:b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D633AC-863C-395F-7D50-076B7E4228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17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7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 detection</a:t>
            </a:r>
          </a:p>
          <a:p>
            <a:pPr algn="l"/>
            <a:r>
              <a:rPr lang="en-US" sz="17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YoloV8:12 in Custom Dataset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135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b="1" cap="none" dirty="0">
                <a:solidFill>
                  <a:schemeClr val="bg1">
                    <a:lumMod val="95000"/>
                    <a:lumOff val="5000"/>
                  </a:schemeClr>
                </a:solidFill>
              </a:rPr>
              <a:t>Train YOLO On     </a:t>
            </a:r>
            <a:br>
              <a:rPr lang="ar-EG" sz="5400" b="1" cap="none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sz="5400" b="1" cap="none" dirty="0">
                <a:solidFill>
                  <a:schemeClr val="bg1">
                    <a:lumMod val="95000"/>
                    <a:lumOff val="5000"/>
                  </a:schemeClr>
                </a:solidFill>
              </a:rPr>
              <a:t>A Custom Dataset</a:t>
            </a:r>
            <a:endParaRPr lang="en-US" sz="5400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72333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none" dirty="0">
                <a:solidFill>
                  <a:srgbClr val="FF0000"/>
                </a:solidFill>
              </a:rPr>
              <a:t>Train YOLOV8:12 On A Custom Dataset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D392-614A-43D7-BA76-AB1FFE045AF8}" type="slidenum">
              <a:rPr lang="en-US" smtClean="0"/>
              <a:t>32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572124" y="3032980"/>
            <a:ext cx="204575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rial-BoldMT"/>
              </a:rPr>
              <a:t>My dataset</a:t>
            </a:r>
            <a:endParaRPr lang="en-US" sz="2800" dirty="0"/>
          </a:p>
        </p:txBody>
      </p:sp>
      <p:sp>
        <p:nvSpPr>
          <p:cNvPr id="12" name="Rectangle 11"/>
          <p:cNvSpPr/>
          <p:nvPr/>
        </p:nvSpPr>
        <p:spPr>
          <a:xfrm>
            <a:off x="8392590" y="5434648"/>
            <a:ext cx="21621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rial-BoldMT"/>
              </a:rPr>
              <a:t>Train labels</a:t>
            </a:r>
            <a:endParaRPr lang="en-US" sz="2800" dirty="0"/>
          </a:p>
        </p:txBody>
      </p:sp>
      <p:sp>
        <p:nvSpPr>
          <p:cNvPr id="13" name="Rectangle 12"/>
          <p:cNvSpPr/>
          <p:nvPr/>
        </p:nvSpPr>
        <p:spPr>
          <a:xfrm>
            <a:off x="5155905" y="3100711"/>
            <a:ext cx="166366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rial-BoldMT"/>
              </a:rPr>
              <a:t>Train set</a:t>
            </a:r>
            <a:endParaRPr lang="en-US" sz="2800" dirty="0"/>
          </a:p>
        </p:txBody>
      </p:sp>
      <p:sp>
        <p:nvSpPr>
          <p:cNvPr id="14" name="Rectangle 13"/>
          <p:cNvSpPr/>
          <p:nvPr/>
        </p:nvSpPr>
        <p:spPr>
          <a:xfrm>
            <a:off x="8357594" y="2902214"/>
            <a:ext cx="238180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rial-BoldMT"/>
              </a:rPr>
              <a:t>Train images</a:t>
            </a:r>
            <a:endParaRPr lang="en-US" sz="2800" dirty="0"/>
          </a:p>
        </p:txBody>
      </p:sp>
      <p:sp>
        <p:nvSpPr>
          <p:cNvPr id="16" name="Rectangle 15"/>
          <p:cNvSpPr/>
          <p:nvPr/>
        </p:nvSpPr>
        <p:spPr>
          <a:xfrm>
            <a:off x="3455160" y="5619795"/>
            <a:ext cx="100380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rial-BoldMT"/>
              </a:rPr>
              <a:t>label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129" y="1669626"/>
            <a:ext cx="2981741" cy="1247949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760" y="4699298"/>
            <a:ext cx="5496692" cy="695422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94821993-783B-B02C-54D2-9E54C152B5F6}"/>
              </a:ext>
            </a:extLst>
          </p:cNvPr>
          <p:cNvSpPr/>
          <p:nvPr/>
        </p:nvSpPr>
        <p:spPr>
          <a:xfrm>
            <a:off x="4187952" y="2185416"/>
            <a:ext cx="621792" cy="5212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A2CB73F-6296-734B-3DB0-30C603F565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6284" y="1827740"/>
            <a:ext cx="1943371" cy="104789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1E79DAB-860B-6F65-89D0-704A15899B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4780" y="1792239"/>
            <a:ext cx="1838582" cy="96215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DB4110C-01CA-0C1A-6E5C-0866D6C34F5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" b="12386"/>
          <a:stretch/>
        </p:blipFill>
        <p:spPr>
          <a:xfrm>
            <a:off x="8450808" y="4358533"/>
            <a:ext cx="2080578" cy="874979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D7DA651-CA4E-C3AF-A1F5-5471FFB18553}"/>
              </a:ext>
            </a:extLst>
          </p:cNvPr>
          <p:cNvSpPr txBox="1">
            <a:spLocks/>
          </p:cNvSpPr>
          <p:nvPr/>
        </p:nvSpPr>
        <p:spPr>
          <a:xfrm>
            <a:off x="704088" y="3722931"/>
            <a:ext cx="6753362" cy="15128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100" b="1" dirty="0"/>
              <a:t>&lt;class&gt;  &lt;</a:t>
            </a:r>
            <a:r>
              <a:rPr lang="en-US" sz="2100" b="1" dirty="0" err="1"/>
              <a:t>x_center</a:t>
            </a:r>
            <a:r>
              <a:rPr lang="en-US" sz="2100" b="1" dirty="0"/>
              <a:t>&gt;   &lt;</a:t>
            </a:r>
            <a:r>
              <a:rPr lang="en-US" sz="2100" b="1" dirty="0" err="1"/>
              <a:t>y_center</a:t>
            </a:r>
            <a:r>
              <a:rPr lang="en-US" sz="2100" b="1" dirty="0"/>
              <a:t>&gt;    &lt;width&gt;     &lt;height&gt;</a:t>
            </a:r>
            <a:endParaRPr lang="en-US" sz="2800" b="1" dirty="0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C85D6CE6-B9E6-D98A-745C-F2E0B8AB70DD}"/>
              </a:ext>
            </a:extLst>
          </p:cNvPr>
          <p:cNvSpPr/>
          <p:nvPr/>
        </p:nvSpPr>
        <p:spPr>
          <a:xfrm rot="2813116">
            <a:off x="6460604" y="3295595"/>
            <a:ext cx="2499360" cy="5212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159A2284-A5F0-D476-3681-720F8F1F196C}"/>
              </a:ext>
            </a:extLst>
          </p:cNvPr>
          <p:cNvSpPr/>
          <p:nvPr/>
        </p:nvSpPr>
        <p:spPr>
          <a:xfrm rot="20593565">
            <a:off x="5438543" y="1476334"/>
            <a:ext cx="1528419" cy="5212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FCEC627A-9640-97C3-C041-4D638ED20923}"/>
              </a:ext>
            </a:extLst>
          </p:cNvPr>
          <p:cNvSpPr/>
          <p:nvPr/>
        </p:nvSpPr>
        <p:spPr>
          <a:xfrm rot="10800000">
            <a:off x="6740035" y="4676247"/>
            <a:ext cx="1617557" cy="5212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C1C84DBD-912A-E9C7-B813-DBC3551EC63F}"/>
              </a:ext>
            </a:extLst>
          </p:cNvPr>
          <p:cNvSpPr/>
          <p:nvPr/>
        </p:nvSpPr>
        <p:spPr>
          <a:xfrm rot="1156921">
            <a:off x="6930382" y="1565884"/>
            <a:ext cx="1767390" cy="5212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CCCC13A1-DDEA-0717-66C0-775FBF3F8E26}"/>
                  </a:ext>
                </a:extLst>
              </p14:cNvPr>
              <p14:cNvContentPartPr/>
              <p14:nvPr/>
            </p14:nvContentPartPr>
            <p14:xfrm>
              <a:off x="10460448" y="2514456"/>
              <a:ext cx="360" cy="3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CCCC13A1-DDEA-0717-66C0-775FBF3F8E2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424808" y="2478456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D1A4A564-7C90-2526-F667-2AD8E8C26805}"/>
                  </a:ext>
                </a:extLst>
              </p14:cNvPr>
              <p14:cNvContentPartPr/>
              <p14:nvPr/>
            </p14:nvContentPartPr>
            <p14:xfrm>
              <a:off x="10236888" y="2623176"/>
              <a:ext cx="126720" cy="9288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D1A4A564-7C90-2526-F667-2AD8E8C2680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200888" y="2587536"/>
                <a:ext cx="198360" cy="16452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93549C93-366E-A32A-A29E-8591E2E0D1D9}"/>
              </a:ext>
            </a:extLst>
          </p:cNvPr>
          <p:cNvGrpSpPr/>
          <p:nvPr/>
        </p:nvGrpSpPr>
        <p:grpSpPr>
          <a:xfrm>
            <a:off x="9315648" y="2650536"/>
            <a:ext cx="123120" cy="111240"/>
            <a:chOff x="9315648" y="2650536"/>
            <a:chExt cx="123120" cy="11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1226333-23C2-9DE1-328A-4EA76D2EDA30}"/>
                    </a:ext>
                  </a:extLst>
                </p14:cNvPr>
                <p14:cNvContentPartPr/>
                <p14:nvPr/>
              </p14:nvContentPartPr>
              <p14:xfrm>
                <a:off x="9315648" y="2650536"/>
                <a:ext cx="75240" cy="1112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1226333-23C2-9DE1-328A-4EA76D2EDA3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280008" y="2614896"/>
                  <a:ext cx="1468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3CE4095-B1E4-1596-F51F-82FAFB0D6A80}"/>
                    </a:ext>
                  </a:extLst>
                </p14:cNvPr>
                <p14:cNvContentPartPr/>
                <p14:nvPr/>
              </p14:nvContentPartPr>
              <p14:xfrm>
                <a:off x="9399888" y="2669976"/>
                <a:ext cx="38880" cy="18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3CE4095-B1E4-1596-F51F-82FAFB0D6A8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363888" y="2633976"/>
                  <a:ext cx="110520" cy="90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020226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617199" cy="1151965"/>
          </a:xfrm>
        </p:spPr>
        <p:txBody>
          <a:bodyPr>
            <a:normAutofit/>
          </a:bodyPr>
          <a:lstStyle/>
          <a:p>
            <a:r>
              <a:rPr lang="en-US" sz="4400" b="1" cap="none" dirty="0">
                <a:solidFill>
                  <a:srgbClr val="FF0000"/>
                </a:solidFill>
              </a:rPr>
              <a:t>Define Model Configuration And Architecture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D392-614A-43D7-BA76-AB1FFE045AF8}" type="slidenum">
              <a:rPr lang="en-US" smtClean="0"/>
              <a:t>33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85800" y="1645741"/>
            <a:ext cx="10871199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will write a new yaml script file (exp: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data.ymal</a:t>
            </a: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that defines the parameters for our model like </a:t>
            </a:r>
            <a:r>
              <a:rPr lang="en-US" sz="3200" b="1" dirty="0">
                <a:solidFill>
                  <a:srgbClr val="00B1F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each class with id </a:t>
            </a: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3200" b="1" dirty="0">
                <a:solidFill>
                  <a:srgbClr val="00B1F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path of dataset</a:t>
            </a: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3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69D712-D9BE-D2C2-DCD3-61B0506334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965" b="10037"/>
          <a:stretch/>
        </p:blipFill>
        <p:spPr>
          <a:xfrm>
            <a:off x="1925029" y="3639312"/>
            <a:ext cx="7811590" cy="29111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02919" y="5544258"/>
            <a:ext cx="1697611" cy="10062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830823" y="4449302"/>
            <a:ext cx="3905795" cy="8568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sz="3200" dirty="0"/>
          </a:p>
        </p:txBody>
      </p:sp>
      <p:sp>
        <p:nvSpPr>
          <p:cNvPr id="14" name="TextBox 13"/>
          <p:cNvSpPr txBox="1"/>
          <p:nvPr/>
        </p:nvSpPr>
        <p:spPr>
          <a:xfrm>
            <a:off x="2328174" y="5811412"/>
            <a:ext cx="1438656" cy="3222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35747585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cap="none" dirty="0">
                <a:solidFill>
                  <a:srgbClr val="FF0000"/>
                </a:solidFill>
              </a:rPr>
              <a:t>Custom Object Detection Data In YOLOV8:12 Format – Image and label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H.Fakher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D392-614A-43D7-BA76-AB1FFE045AF8}" type="slidenum">
              <a:rPr lang="en-US" smtClean="0"/>
              <a:t>34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B75C0E-0AE6-C2DC-B5CF-7DB253354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8042" y="2046089"/>
            <a:ext cx="2038635" cy="3753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0432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cap="none" dirty="0">
                <a:solidFill>
                  <a:srgbClr val="FF0000"/>
                </a:solidFill>
              </a:rPr>
              <a:t>Yolo Training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D392-614A-43D7-BA76-AB1FFE045AF8}" type="slidenum">
              <a:rPr lang="en-US" smtClean="0"/>
              <a:t>35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85801" y="2831806"/>
            <a:ext cx="10772586" cy="37870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ArialMT"/>
              </a:rPr>
              <a:t>• </a:t>
            </a:r>
            <a:r>
              <a:rPr lang="en-US" b="1" dirty="0" err="1">
                <a:solidFill>
                  <a:srgbClr val="C10000"/>
                </a:solidFill>
                <a:latin typeface="Arial-BoldMT"/>
              </a:rPr>
              <a:t>imgsz</a:t>
            </a:r>
            <a:r>
              <a:rPr lang="en-US" b="1" dirty="0">
                <a:solidFill>
                  <a:srgbClr val="C10000"/>
                </a:solidFill>
                <a:latin typeface="Arial-BoldMT"/>
              </a:rPr>
              <a:t>: 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define input image size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ArialMT"/>
              </a:rPr>
              <a:t>• </a:t>
            </a:r>
            <a:r>
              <a:rPr lang="en-US" b="1" dirty="0">
                <a:solidFill>
                  <a:srgbClr val="C10000"/>
                </a:solidFill>
                <a:latin typeface="Arial-BoldMT"/>
              </a:rPr>
              <a:t>batch: 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determine batch size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ArialMT"/>
              </a:rPr>
              <a:t>• </a:t>
            </a:r>
            <a:r>
              <a:rPr lang="en-US" b="1" dirty="0">
                <a:solidFill>
                  <a:srgbClr val="C10000"/>
                </a:solidFill>
                <a:latin typeface="Arial-BoldMT"/>
              </a:rPr>
              <a:t>epochs: 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define the number of training epochs.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ArialMT"/>
              </a:rPr>
              <a:t>• </a:t>
            </a:r>
            <a:r>
              <a:rPr lang="en-US" b="1" dirty="0">
                <a:solidFill>
                  <a:srgbClr val="C10000"/>
                </a:solidFill>
                <a:latin typeface="Arial-BoldMT"/>
              </a:rPr>
              <a:t>data: 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set the path to our </a:t>
            </a:r>
            <a:r>
              <a:rPr lang="en-US" dirty="0" err="1">
                <a:solidFill>
                  <a:srgbClr val="000000"/>
                </a:solidFill>
                <a:latin typeface="ArialMT"/>
              </a:rPr>
              <a:t>yaml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 file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ArialMT"/>
              </a:rPr>
              <a:t>• </a:t>
            </a:r>
            <a:r>
              <a:rPr lang="en-US" b="1" dirty="0">
                <a:solidFill>
                  <a:srgbClr val="C10000"/>
                </a:solidFill>
                <a:latin typeface="Arial-BoldMT"/>
              </a:rPr>
              <a:t>mode: 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train or test or valid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ArialMT"/>
              </a:rPr>
              <a:t>• </a:t>
            </a:r>
            <a:r>
              <a:rPr lang="en-US" b="1" dirty="0">
                <a:solidFill>
                  <a:srgbClr val="C10000"/>
                </a:solidFill>
                <a:latin typeface="Arial-BoldMT"/>
              </a:rPr>
              <a:t>model: 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specify a custom path to weights.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ArialMT"/>
              </a:rPr>
              <a:t>• </a:t>
            </a:r>
            <a:r>
              <a:rPr lang="en-US" b="1" dirty="0">
                <a:solidFill>
                  <a:srgbClr val="C10000"/>
                </a:solidFill>
                <a:latin typeface="Arial-BoldMT"/>
              </a:rPr>
              <a:t>task: 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detect or classify or segment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ArialMT"/>
              </a:rPr>
              <a:t>• </a:t>
            </a:r>
            <a:r>
              <a:rPr lang="en-US" b="1" dirty="0">
                <a:solidFill>
                  <a:srgbClr val="C10000"/>
                </a:solidFill>
                <a:latin typeface="Arial-BoldMT"/>
              </a:rPr>
              <a:t>Project: 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path to save weight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ArialMT"/>
              </a:rPr>
              <a:t>• </a:t>
            </a:r>
            <a:r>
              <a:rPr lang="en-US" b="1" dirty="0">
                <a:solidFill>
                  <a:srgbClr val="C10000"/>
                </a:solidFill>
                <a:latin typeface="Arial-BoldMT"/>
              </a:rPr>
              <a:t>name: </a:t>
            </a:r>
            <a:r>
              <a:rPr lang="en-US" dirty="0">
                <a:solidFill>
                  <a:srgbClr val="000000"/>
                </a:solidFill>
                <a:latin typeface="ArialMT"/>
              </a:rPr>
              <a:t>name of folder saved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D1A1E2-99CA-078E-EFE3-BE13E8A3CD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51780"/>
            <a:ext cx="12192000" cy="81893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CE2213B-64EF-4C61-B191-28BF15F87B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054" y="3838494"/>
            <a:ext cx="3867690" cy="12765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2A095E5-ED9D-7CDE-915D-BAD21E124B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635" y="2643420"/>
            <a:ext cx="5287113" cy="2857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E56AAAB-E139-176D-8797-838E542E20D5}"/>
              </a:ext>
            </a:extLst>
          </p:cNvPr>
          <p:cNvSpPr txBox="1"/>
          <p:nvPr/>
        </p:nvSpPr>
        <p:spPr>
          <a:xfrm>
            <a:off x="7384256" y="126471"/>
            <a:ext cx="4483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6"/>
              </a:rPr>
              <a:t>YOLO11 🚀 NEW - </a:t>
            </a:r>
            <a:r>
              <a:rPr lang="en-US" dirty="0" err="1">
                <a:hlinkClick r:id="rId6"/>
              </a:rPr>
              <a:t>Ultralytics</a:t>
            </a:r>
            <a:r>
              <a:rPr lang="en-US" dirty="0">
                <a:hlinkClick r:id="rId6"/>
              </a:rPr>
              <a:t> YOLO Docs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AA3FB9-D79F-415E-167F-4E18CE6A8259}"/>
              </a:ext>
            </a:extLst>
          </p:cNvPr>
          <p:cNvSpPr txBox="1"/>
          <p:nvPr/>
        </p:nvSpPr>
        <p:spPr>
          <a:xfrm>
            <a:off x="7384256" y="495803"/>
            <a:ext cx="4483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7"/>
              </a:rPr>
              <a:t>YOLOv10 - </a:t>
            </a:r>
            <a:r>
              <a:rPr lang="en-US" dirty="0" err="1">
                <a:hlinkClick r:id="rId7"/>
              </a:rPr>
              <a:t>Ultralytics</a:t>
            </a:r>
            <a:r>
              <a:rPr lang="en-US" dirty="0">
                <a:hlinkClick r:id="rId7"/>
              </a:rPr>
              <a:t> YOLO Docs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F359FF-C040-FA97-FF79-B8636D31056F}"/>
              </a:ext>
            </a:extLst>
          </p:cNvPr>
          <p:cNvSpPr txBox="1"/>
          <p:nvPr/>
        </p:nvSpPr>
        <p:spPr>
          <a:xfrm>
            <a:off x="7384256" y="895579"/>
            <a:ext cx="45981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8"/>
              </a:rPr>
              <a:t>YOLOv9 - </a:t>
            </a:r>
            <a:r>
              <a:rPr lang="en-US" dirty="0" err="1">
                <a:hlinkClick r:id="rId8"/>
              </a:rPr>
              <a:t>Ultralytics</a:t>
            </a:r>
            <a:r>
              <a:rPr lang="en-US" dirty="0">
                <a:hlinkClick r:id="rId8"/>
              </a:rPr>
              <a:t> YOLO Docs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24B331-53AF-D0E7-FE44-CB40CFE06A12}"/>
              </a:ext>
            </a:extLst>
          </p:cNvPr>
          <p:cNvSpPr txBox="1"/>
          <p:nvPr/>
        </p:nvSpPr>
        <p:spPr>
          <a:xfrm>
            <a:off x="7384256" y="1310129"/>
            <a:ext cx="47029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9"/>
              </a:rPr>
              <a:t>YOLOv8 - </a:t>
            </a:r>
            <a:r>
              <a:rPr lang="en-US" dirty="0" err="1">
                <a:hlinkClick r:id="rId9"/>
              </a:rPr>
              <a:t>Ultralytics</a:t>
            </a:r>
            <a:r>
              <a:rPr lang="en-US" dirty="0">
                <a:hlinkClick r:id="rId9"/>
              </a:rPr>
              <a:t> YOLO Docs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5601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9DAA5-4A82-D2C8-11B9-ADD374344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06839-90E2-4D92-4E8F-A995F4494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cap="none" dirty="0">
                <a:solidFill>
                  <a:srgbClr val="FF0000"/>
                </a:solidFill>
              </a:rPr>
              <a:t>Yolo Training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777832-D22F-B474-7F7D-7A6250BDB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D392-614A-43D7-BA76-AB1FFE045AF8}" type="slidenum">
              <a:rPr lang="en-US" smtClean="0"/>
              <a:t>36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6E0C48-CFA1-EED2-014F-B7720164F8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51780"/>
            <a:ext cx="12192000" cy="818934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F771806-03DE-D686-E5BA-1E9D6806C8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9068811"/>
              </p:ext>
            </p:extLst>
          </p:nvPr>
        </p:nvGraphicFramePr>
        <p:xfrm>
          <a:off x="752475" y="3694589"/>
          <a:ext cx="10515600" cy="21945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67863863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47579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55775439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80060106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5090177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b="1">
                          <a:effectLst/>
                        </a:rPr>
                        <a:t>YOLOv8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b="1">
                          <a:effectLst/>
                        </a:rPr>
                        <a:t>YOLOv9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b="1">
                          <a:effectLst/>
                        </a:rPr>
                        <a:t>YOLOv10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b="1">
                          <a:effectLst/>
                        </a:rPr>
                        <a:t>YOLOv11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b="1">
                          <a:effectLst/>
                        </a:rPr>
                        <a:t>YOLOv12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9197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>
                          <a:effectLst/>
                        </a:rPr>
                        <a:t>yolov8n.pt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>
                          <a:effectLst/>
                        </a:rPr>
                        <a:t>yolov9t.pt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>
                          <a:effectLst/>
                        </a:rPr>
                        <a:t>yolov10n.pt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>
                          <a:effectLst/>
                        </a:rPr>
                        <a:t>yolo11n.pt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>
                          <a:effectLst/>
                        </a:rPr>
                        <a:t>yolo12n.pt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8993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>
                          <a:effectLst/>
                        </a:rPr>
                        <a:t>yolov8s.pt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>
                          <a:effectLst/>
                        </a:rPr>
                        <a:t>yolov9s.pt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>
                          <a:effectLst/>
                        </a:rPr>
                        <a:t>yolov10s.pt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yolo11s.pt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>
                          <a:effectLst/>
                        </a:rPr>
                        <a:t>yolo12s.pt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3652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>
                          <a:effectLst/>
                        </a:rPr>
                        <a:t>yolov8m.pt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>
                          <a:effectLst/>
                        </a:rPr>
                        <a:t>yolov9m.pt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>
                          <a:effectLst/>
                        </a:rPr>
                        <a:t>yolov10m.pt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>
                          <a:effectLst/>
                        </a:rPr>
                        <a:t>yolo11m.pt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>
                          <a:effectLst/>
                        </a:rPr>
                        <a:t>yolo12m.pt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19230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>
                          <a:effectLst/>
                        </a:rPr>
                        <a:t>yolov8l.pt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>
                          <a:effectLst/>
                        </a:rPr>
                        <a:t>yolov9c.pt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yolov10l.pt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>
                          <a:effectLst/>
                        </a:rPr>
                        <a:t>yolo11l.pt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>
                          <a:effectLst/>
                        </a:rPr>
                        <a:t>yolo12l.pt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67375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>
                          <a:effectLst/>
                        </a:rPr>
                        <a:t>yolov8x.pt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>
                          <a:effectLst/>
                        </a:rPr>
                        <a:t>yolov9e.pt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>
                          <a:effectLst/>
                        </a:rPr>
                        <a:t>yolov10x.pt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>
                          <a:effectLst/>
                        </a:rPr>
                        <a:t>yolo11x.pt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yolo12x.pt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31650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88164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cap="none" dirty="0">
                <a:solidFill>
                  <a:srgbClr val="FF0000"/>
                </a:solidFill>
              </a:rPr>
              <a:t>Yolo Training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D392-614A-43D7-BA76-AB1FFE045AF8}" type="slidenum">
              <a:rPr lang="en-US" smtClean="0"/>
              <a:t>37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08F9C0-8C2A-479C-95AB-BCC5859982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08" y="2948475"/>
            <a:ext cx="10887792" cy="30884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5A7BF2C-8043-2222-F9BE-DA63A92F3C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39" y="1690688"/>
            <a:ext cx="11984122" cy="90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869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4953</TotalTime>
  <Words>1778</Words>
  <Application>Microsoft Office PowerPoint</Application>
  <PresentationFormat>Widescreen</PresentationFormat>
  <Paragraphs>331</Paragraphs>
  <Slides>37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5" baseType="lpstr">
      <vt:lpstr>Arial</vt:lpstr>
      <vt:lpstr>Arial-BoldMT</vt:lpstr>
      <vt:lpstr>ArialMT</vt:lpstr>
      <vt:lpstr>Calibri</vt:lpstr>
      <vt:lpstr>Calibri Light</vt:lpstr>
      <vt:lpstr>Google Sans Text</vt:lpstr>
      <vt:lpstr>Times New Roman</vt:lpstr>
      <vt:lpstr>Office Theme</vt:lpstr>
      <vt:lpstr>Computer Vision </vt:lpstr>
      <vt:lpstr>Object Detection </vt:lpstr>
      <vt:lpstr>Object Detection </vt:lpstr>
      <vt:lpstr>PowerPoint Presentation</vt:lpstr>
      <vt:lpstr>Object Detection - Example</vt:lpstr>
      <vt:lpstr>Object Detection - Example TL</vt:lpstr>
      <vt:lpstr>COCO Dataset </vt:lpstr>
      <vt:lpstr>Object Detection Algorithms </vt:lpstr>
      <vt:lpstr>What Is Yolo?</vt:lpstr>
      <vt:lpstr>Yolo Steps</vt:lpstr>
      <vt:lpstr>Yolo Steps</vt:lpstr>
      <vt:lpstr>Non-Maximal Suppression </vt:lpstr>
      <vt:lpstr>Architecture Of YoloV8</vt:lpstr>
      <vt:lpstr>YOLO</vt:lpstr>
      <vt:lpstr>PowerPoint Presentation</vt:lpstr>
      <vt:lpstr>How To Evaluate Object Detection Model?</vt:lpstr>
      <vt:lpstr>Mean Average Precision ( mAP )</vt:lpstr>
      <vt:lpstr>Mean Average Precision (mAP)</vt:lpstr>
      <vt:lpstr>PowerPoint Presentation</vt:lpstr>
      <vt:lpstr>PowerPoint Presentation</vt:lpstr>
      <vt:lpstr>PowerPoint Presentation</vt:lpstr>
      <vt:lpstr>Average Precision (AP)</vt:lpstr>
      <vt:lpstr>Mean Average Precision (mAP)</vt:lpstr>
      <vt:lpstr>Mean Average Precision ( mAP )</vt:lpstr>
      <vt:lpstr>Comparison between Yolo versions</vt:lpstr>
      <vt:lpstr>When use ?</vt:lpstr>
      <vt:lpstr>Computer Vision (CV)</vt:lpstr>
      <vt:lpstr>Image Labeling Tool</vt:lpstr>
      <vt:lpstr>Image Labeling Tool - Labelimg</vt:lpstr>
      <vt:lpstr>Computer Vision </vt:lpstr>
      <vt:lpstr>Train YOLO On      A Custom Dataset</vt:lpstr>
      <vt:lpstr>Train YOLOV8:12 On A Custom Dataset</vt:lpstr>
      <vt:lpstr>Define Model Configuration And Architecture</vt:lpstr>
      <vt:lpstr>Custom Object Detection Data In YOLOV8:12 Format – Image and label</vt:lpstr>
      <vt:lpstr>Yolo Training</vt:lpstr>
      <vt:lpstr>Yolo Training</vt:lpstr>
      <vt:lpstr>Yolo Training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Vision (CV)</dc:title>
  <dc:creator>hossam180099@fci.bu.edu.eg</dc:creator>
  <cp:lastModifiedBy>ahmed.abdelsatar@fci.bu.edu.eg</cp:lastModifiedBy>
  <cp:revision>144</cp:revision>
  <dcterms:created xsi:type="dcterms:W3CDTF">2024-02-18T11:35:13Z</dcterms:created>
  <dcterms:modified xsi:type="dcterms:W3CDTF">2026-06-13T21:01:40Z</dcterms:modified>
</cp:coreProperties>
</file>