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33"/>
  </p:notesMasterIdLst>
  <p:sldIdLst>
    <p:sldId id="319" r:id="rId2"/>
    <p:sldId id="320" r:id="rId3"/>
    <p:sldId id="408" r:id="rId4"/>
    <p:sldId id="413" r:id="rId5"/>
    <p:sldId id="414" r:id="rId6"/>
    <p:sldId id="318" r:id="rId7"/>
    <p:sldId id="401" r:id="rId8"/>
    <p:sldId id="409" r:id="rId9"/>
    <p:sldId id="421" r:id="rId10"/>
    <p:sldId id="402" r:id="rId11"/>
    <p:sldId id="423" r:id="rId12"/>
    <p:sldId id="258" r:id="rId13"/>
    <p:sldId id="339" r:id="rId14"/>
    <p:sldId id="338" r:id="rId15"/>
    <p:sldId id="261" r:id="rId16"/>
    <p:sldId id="279" r:id="rId17"/>
    <p:sldId id="431" r:id="rId18"/>
    <p:sldId id="427" r:id="rId19"/>
    <p:sldId id="428" r:id="rId20"/>
    <p:sldId id="262" r:id="rId21"/>
    <p:sldId id="429" r:id="rId22"/>
    <p:sldId id="438" r:id="rId23"/>
    <p:sldId id="432" r:id="rId24"/>
    <p:sldId id="434" r:id="rId25"/>
    <p:sldId id="435" r:id="rId26"/>
    <p:sldId id="436" r:id="rId27"/>
    <p:sldId id="437" r:id="rId28"/>
    <p:sldId id="433" r:id="rId29"/>
    <p:sldId id="264" r:id="rId30"/>
    <p:sldId id="276" r:id="rId31"/>
    <p:sldId id="27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AEA"/>
    <a:srgbClr val="000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099FE-BD50-44B8-AFFD-73D435E1F6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654C-E0E0-4709-B41A-97D0A8A2C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 algn="r" rtl="1"/>
                <a:r>
                  <a:rPr lang="ar-EG" dirty="0"/>
                  <a:t>أثناء تدريب الشبكات العصبية، القيم الخارجة من كل طبقة (</a:t>
                </a:r>
                <a:r>
                  <a:rPr lang="en-US" dirty="0"/>
                  <a:t>Activations) </a:t>
                </a:r>
                <a:r>
                  <a:rPr lang="ar-EG" dirty="0"/>
                  <a:t>قد تتغير توزيعها الإحصائي أثناء التدريب. هذه المشكلة تُسمى:</a:t>
                </a:r>
              </a:p>
              <a:p>
                <a:pPr lvl="0" algn="r" rtl="1"/>
                <a:r>
                  <a:rPr lang="en-US" dirty="0"/>
                  <a:t>Internal Covariate Shift</a:t>
                </a:r>
              </a:p>
              <a:p>
                <a:pPr lvl="0" algn="r" rtl="1"/>
                <a:r>
                  <a:rPr lang="ar-EG" dirty="0"/>
                  <a:t>وهذا يجعل التدريب أبطأ لأن الطبقات التالية تضطر دائمًا إلى التكيف مع توزيعات جديدة.</a:t>
                </a:r>
              </a:p>
              <a:p>
                <a:pPr lvl="0" algn="r" rtl="1"/>
                <a:r>
                  <a:rPr lang="en-US" b="1" dirty="0"/>
                  <a:t>Batch Normalization</a:t>
                </a:r>
                <a:r>
                  <a:rPr lang="en-US" dirty="0"/>
                  <a:t> </a:t>
                </a:r>
                <a:r>
                  <a:rPr lang="ar-EG" dirty="0"/>
                  <a:t>تحاول حل هذه المشكلة عن طريق </a:t>
                </a:r>
                <a:r>
                  <a:rPr lang="ar-EG" b="1" dirty="0"/>
                  <a:t>توحيد (</a:t>
                </a:r>
                <a:r>
                  <a:rPr lang="en-US" b="1" dirty="0"/>
                  <a:t>Normalize) </a:t>
                </a:r>
                <a:r>
                  <a:rPr lang="ar-EG" b="1" dirty="0"/>
                  <a:t>القيم داخل كل </a:t>
                </a:r>
                <a:r>
                  <a:rPr lang="en-US" b="1" dirty="0"/>
                  <a:t>Batch </a:t>
                </a:r>
                <a:r>
                  <a:rPr lang="ar-EG" b="1" dirty="0"/>
                  <a:t>أثناء التدريب</a:t>
                </a:r>
                <a:r>
                  <a:rPr lang="ar-EG" dirty="0"/>
                  <a:t>.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r-EG" dirty="0"/>
                  <a:t>تقنية تجعل مخرجات الطبقات في الشبكة العصبية ذات توزيع ثابت تقريبًا داخل كل </a:t>
                </a:r>
                <a:r>
                  <a:rPr lang="en-US" dirty="0"/>
                  <a:t>Batch، </a:t>
                </a:r>
                <a:r>
                  <a:rPr lang="ar-EG" dirty="0"/>
                  <a:t>مما يجعل التدريب أسرع وأكثر استقرارًا.</a:t>
                </a:r>
              </a:p>
              <a:p>
                <a:pPr lvl="0" algn="r" rtl="1"/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dirty="0"/>
                  <a:t>لو توقفنا عند التطبيع فقط قد نقلل قدرة النموذج. لذلك نضيف معاملين قابلين للتعلم:</a:t>
                </a:r>
              </a:p>
              <a:p>
                <a:pPr lvl="0" algn="r" rtl="1"/>
                <a14:m>
                  <m:oMath xmlns:m="http://schemas.openxmlformats.org/officeDocument/2006/math">
                    <m:r>
                      <a:rPr lang="ar-EG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𝛾</m:t>
                    </m:r>
                  </m:oMath>
                </a14:m>
                <a:r>
                  <a:rPr lang="ar-EG" dirty="0"/>
                  <a:t>(</a:t>
                </a:r>
                <a:r>
                  <a:rPr lang="en-US" dirty="0"/>
                  <a:t>Scale)</a:t>
                </a:r>
              </a:p>
              <a:p>
                <a:pPr lvl="0" algn="r" rtl="1"/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en-US" dirty="0"/>
                  <a:t>(Shift)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ar-EG" smtClean="0"/>
                        <m:t>وهكذا يمكن للشبكة أن تتعلم التوزيع المناسب مرة أخرى إذا احتاجت</m:t>
                      </m:r>
                      <m:r>
                        <m:rPr>
                          <m:nor/>
                        </m:rPr>
                        <a:rPr lang="ar-EG" smtClean="0"/>
                        <m:t>.</m:t>
                      </m:r>
                    </m:oMath>
                  </m:oMathPara>
                </a14:m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b="1" dirty="0"/>
                  <a:t>لماذا </a:t>
                </a:r>
                <a:r>
                  <a:rPr lang="en-US" b="1" dirty="0"/>
                  <a:t>Batch Normalization </a:t>
                </a:r>
                <a:r>
                  <a:rPr lang="ar-EG" b="1" dirty="0"/>
                  <a:t>مهمة؟</a:t>
                </a:r>
              </a:p>
              <a:p>
                <a:pPr lvl="0" algn="r" rtl="1"/>
                <a:r>
                  <a:rPr lang="ar-EG" b="1" dirty="0"/>
                  <a:t>1️⃣ تسريع التدريب</a:t>
                </a:r>
              </a:p>
              <a:p>
                <a:pPr lvl="0" algn="r" rtl="1"/>
                <a:r>
                  <a:rPr lang="ar-EG" dirty="0"/>
                  <a:t>تجعل التدريب أسرع لأن التوزيع يصبح أكثر استقرارًا.</a:t>
                </a:r>
              </a:p>
              <a:p>
                <a:pPr lvl="0" algn="r" rtl="1"/>
                <a:r>
                  <a:rPr lang="ar-EG" b="1" dirty="0"/>
                  <a:t>2️⃣ تسمح باستخدام </a:t>
                </a:r>
                <a:r>
                  <a:rPr lang="en-US" b="1" dirty="0"/>
                  <a:t>Learning Rate </a:t>
                </a:r>
                <a:r>
                  <a:rPr lang="ar-EG" b="1" dirty="0"/>
                  <a:t>أكبر</a:t>
                </a:r>
              </a:p>
              <a:p>
                <a:pPr lvl="0" algn="r" rtl="1"/>
                <a:r>
                  <a:rPr lang="ar-EG" dirty="0"/>
                  <a:t>بدون أن ينهار التدريب.</a:t>
                </a:r>
              </a:p>
              <a:p>
                <a:pPr lvl="0" algn="r" rtl="1"/>
                <a:r>
                  <a:rPr lang="ar-EG" b="1" dirty="0"/>
                  <a:t>3️⃣ تقلل مشكلة</a:t>
                </a:r>
              </a:p>
              <a:p>
                <a:pPr lvl="0" algn="r" rtl="1"/>
                <a:r>
                  <a:rPr lang="en-US" dirty="0"/>
                  <a:t>Vanishing Gradient</a:t>
                </a:r>
              </a:p>
              <a:p>
                <a:pPr lvl="0" algn="r" rtl="1"/>
                <a:r>
                  <a:rPr lang="en-US" dirty="0"/>
                  <a:t>Exploding Gradient</a:t>
                </a:r>
              </a:p>
              <a:p>
                <a:pPr lvl="0" algn="r" rtl="1"/>
                <a:r>
                  <a:rPr lang="en-US" b="1" dirty="0"/>
                  <a:t>4️⃣ </a:t>
                </a:r>
                <a:r>
                  <a:rPr lang="ar-EG" b="1" dirty="0"/>
                  <a:t>تعمل كنوع بسيط من </a:t>
                </a:r>
                <a:r>
                  <a:rPr lang="en-US" b="1" dirty="0"/>
                  <a:t>Regularization</a:t>
                </a:r>
              </a:p>
              <a:p>
                <a:pPr lvl="0" algn="r" rtl="1"/>
                <a:r>
                  <a:rPr lang="ar-EG" dirty="0"/>
                  <a:t>لأن كل </a:t>
                </a:r>
                <a:r>
                  <a:rPr lang="en-US" dirty="0"/>
                  <a:t>Batch </a:t>
                </a:r>
                <a:r>
                  <a:rPr lang="ar-EG" dirty="0"/>
                  <a:t>له إحصائيات مختلفة قليلاً.</a:t>
                </a:r>
              </a:p>
              <a:p>
                <a:pPr lvl="0" algn="r" rtl="1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 algn="r" rtl="1"/>
                <a:r>
                  <a:rPr lang="ar-EG" dirty="0"/>
                  <a:t>أثناء تدريب الشبكات العصبية، القيم الخارجة من كل طبقة (</a:t>
                </a:r>
                <a:r>
                  <a:rPr lang="en-US" dirty="0"/>
                  <a:t>Activations) </a:t>
                </a:r>
                <a:r>
                  <a:rPr lang="ar-EG" dirty="0"/>
                  <a:t>قد تتغير توزيعها الإحصائي أثناء التدريب. هذه المشكلة تُسمى:</a:t>
                </a:r>
              </a:p>
              <a:p>
                <a:pPr lvl="0" algn="r" rtl="1"/>
                <a:r>
                  <a:rPr lang="en-US" dirty="0"/>
                  <a:t>Internal Covariate Shift</a:t>
                </a:r>
              </a:p>
              <a:p>
                <a:pPr lvl="0" algn="r" rtl="1"/>
                <a:r>
                  <a:rPr lang="ar-EG" dirty="0"/>
                  <a:t>وهذا يجعل التدريب أبطأ لأن الطبقات التالية تضطر دائمًا إلى التكيف مع توزيعات جديدة.</a:t>
                </a:r>
              </a:p>
              <a:p>
                <a:pPr lvl="0" algn="r" rtl="1"/>
                <a:r>
                  <a:rPr lang="en-US" b="1" dirty="0"/>
                  <a:t>Batch Normalization</a:t>
                </a:r>
                <a:r>
                  <a:rPr lang="en-US" dirty="0"/>
                  <a:t> </a:t>
                </a:r>
                <a:r>
                  <a:rPr lang="ar-EG" dirty="0"/>
                  <a:t>تحاول حل هذه المشكلة عن طريق </a:t>
                </a:r>
                <a:r>
                  <a:rPr lang="ar-EG" b="1" dirty="0"/>
                  <a:t>توحيد (</a:t>
                </a:r>
                <a:r>
                  <a:rPr lang="en-US" b="1" dirty="0"/>
                  <a:t>Normalize) </a:t>
                </a:r>
                <a:r>
                  <a:rPr lang="ar-EG" b="1" dirty="0"/>
                  <a:t>القيم داخل كل </a:t>
                </a:r>
                <a:r>
                  <a:rPr lang="en-US" b="1" dirty="0"/>
                  <a:t>Batch </a:t>
                </a:r>
                <a:r>
                  <a:rPr lang="ar-EG" b="1" dirty="0"/>
                  <a:t>أثناء التدريب</a:t>
                </a:r>
                <a:r>
                  <a:rPr lang="ar-EG" dirty="0"/>
                  <a:t>.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ar-EG" dirty="0"/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r-EG" dirty="0"/>
                  <a:t>تقنية تجعل مخرجات الطبقات في الشبكة العصبية ذات توزيع ثابت تقريبًا داخل كل </a:t>
                </a:r>
                <a:r>
                  <a:rPr lang="en-US" dirty="0"/>
                  <a:t>Batch، </a:t>
                </a:r>
                <a:r>
                  <a:rPr lang="ar-EG" dirty="0"/>
                  <a:t>مما يجعل التدريب أسرع وأكثر استقرارًا.</a:t>
                </a:r>
              </a:p>
              <a:p>
                <a:pPr lvl="0" algn="r" rtl="1"/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dirty="0"/>
                  <a:t>لو توقفنا عند التطبيع فقط قد نقلل قدرة النموذج. لذلك نضيف معاملين قابلين للتعلم:</a:t>
                </a:r>
              </a:p>
              <a:p>
                <a:pPr lvl="0" algn="r" rtl="1"/>
                <a:r>
                  <a:rPr lang="ar-EG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𝛾</a:t>
                </a:r>
                <a:r>
                  <a:rPr lang="ar-EG" dirty="0"/>
                  <a:t>(</a:t>
                </a:r>
                <a:r>
                  <a:rPr lang="en-US" dirty="0"/>
                  <a:t>Scale)</a:t>
                </a:r>
              </a:p>
              <a:p>
                <a:pPr lvl="0" algn="r" rtl="1"/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𝛽</a:t>
                </a:r>
                <a:r>
                  <a:rPr lang="en-US" dirty="0"/>
                  <a:t>(Shift)</a:t>
                </a: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r-EG" i="0">
                    <a:latin typeface="Cambria Math" panose="02040503050406030204" pitchFamily="18" charset="0"/>
                  </a:rPr>
                  <a:t>"وهكذا يمكن للشبكة أن تتعلم التوزيع المناسب مرة أخرى إذا احتاجت.</a:t>
                </a:r>
                <a:r>
                  <a:rPr lang="en-US" i="0"/>
                  <a:t>"</a:t>
                </a:r>
                <a:endParaRPr lang="ar-EG" dirty="0"/>
              </a:p>
              <a:p>
                <a:pPr lvl="0" algn="r" rtl="1"/>
                <a:endParaRPr lang="ar-EG" dirty="0"/>
              </a:p>
              <a:p>
                <a:pPr lvl="0" algn="r" rtl="1"/>
                <a:r>
                  <a:rPr lang="ar-EG" b="1" dirty="0"/>
                  <a:t>لماذا </a:t>
                </a:r>
                <a:r>
                  <a:rPr lang="en-US" b="1" dirty="0"/>
                  <a:t>Batch Normalization </a:t>
                </a:r>
                <a:r>
                  <a:rPr lang="ar-EG" b="1" dirty="0"/>
                  <a:t>مهمة؟</a:t>
                </a:r>
              </a:p>
              <a:p>
                <a:pPr lvl="0" algn="r" rtl="1"/>
                <a:r>
                  <a:rPr lang="ar-EG" b="1" dirty="0"/>
                  <a:t>1️⃣ تسريع التدريب</a:t>
                </a:r>
              </a:p>
              <a:p>
                <a:pPr lvl="0" algn="r" rtl="1"/>
                <a:r>
                  <a:rPr lang="ar-EG" dirty="0"/>
                  <a:t>تجعل التدريب أسرع لأن التوزيع يصبح أكثر استقرارًا.</a:t>
                </a:r>
              </a:p>
              <a:p>
                <a:pPr lvl="0" algn="r" rtl="1"/>
                <a:r>
                  <a:rPr lang="ar-EG" b="1" dirty="0"/>
                  <a:t>2️⃣ تسمح باستخدام </a:t>
                </a:r>
                <a:r>
                  <a:rPr lang="en-US" b="1" dirty="0"/>
                  <a:t>Learning Rate </a:t>
                </a:r>
                <a:r>
                  <a:rPr lang="ar-EG" b="1" dirty="0"/>
                  <a:t>أكبر</a:t>
                </a:r>
              </a:p>
              <a:p>
                <a:pPr lvl="0" algn="r" rtl="1"/>
                <a:r>
                  <a:rPr lang="ar-EG" dirty="0"/>
                  <a:t>بدون أن ينهار التدريب.</a:t>
                </a:r>
              </a:p>
              <a:p>
                <a:pPr lvl="0" algn="r" rtl="1"/>
                <a:r>
                  <a:rPr lang="ar-EG" b="1" dirty="0"/>
                  <a:t>3️⃣ تقلل مشكلة</a:t>
                </a:r>
              </a:p>
              <a:p>
                <a:pPr lvl="0" algn="r" rtl="1"/>
                <a:r>
                  <a:rPr lang="en-US" dirty="0"/>
                  <a:t>Vanishing Gradient</a:t>
                </a:r>
              </a:p>
              <a:p>
                <a:pPr lvl="0" algn="r" rtl="1"/>
                <a:r>
                  <a:rPr lang="en-US" dirty="0"/>
                  <a:t>Exploding Gradient</a:t>
                </a:r>
              </a:p>
              <a:p>
                <a:pPr lvl="0" algn="r" rtl="1"/>
                <a:r>
                  <a:rPr lang="en-US" b="1" dirty="0"/>
                  <a:t>4️⃣ </a:t>
                </a:r>
                <a:r>
                  <a:rPr lang="ar-EG" b="1" dirty="0"/>
                  <a:t>تعمل كنوع بسيط من </a:t>
                </a:r>
                <a:r>
                  <a:rPr lang="en-US" b="1" dirty="0"/>
                  <a:t>Regularization</a:t>
                </a:r>
              </a:p>
              <a:p>
                <a:pPr lvl="0" algn="r" rtl="1"/>
                <a:r>
                  <a:rPr lang="ar-EG" dirty="0"/>
                  <a:t>لأن كل </a:t>
                </a:r>
                <a:r>
                  <a:rPr lang="en-US" dirty="0"/>
                  <a:t>Batch </a:t>
                </a:r>
                <a:r>
                  <a:rPr lang="ar-EG" dirty="0"/>
                  <a:t>له إحصائيات مختلفة قليلاً.</a:t>
                </a:r>
              </a:p>
              <a:p>
                <a:pPr lvl="0" algn="r" rtl="1"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26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4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1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3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1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CEB5F-0799-8FB7-76E6-710C40BE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7DCC921-B5C5-177C-7C2D-AC306E378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468B1-7E69-AFD3-BCBD-563E8175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A47E52-6737-0A1B-CFDF-CA41AAD6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E6C54-C3D3-8B47-BA08-B3A74FA6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DA1078-CBEF-1BC6-A037-DB34BA1FA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11D4B5-AD9E-DEA5-5C1E-240FA544D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155F9D-90DF-D5FC-7A50-CAA566923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6DC6F96-D349-0A21-F0DB-A4C351429E2E}"/>
              </a:ext>
            </a:extLst>
          </p:cNvPr>
          <p:cNvSpPr txBox="1">
            <a:spLocks/>
          </p:cNvSpPr>
          <p:nvPr/>
        </p:nvSpPr>
        <p:spPr>
          <a:xfrm>
            <a:off x="418153" y="85966"/>
            <a:ext cx="102182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Initialization Weights And Kernel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08F65-A73B-589F-4B16-E84F67865C7D}"/>
              </a:ext>
            </a:extLst>
          </p:cNvPr>
          <p:cNvSpPr txBox="1"/>
          <p:nvPr/>
        </p:nvSpPr>
        <p:spPr>
          <a:xfrm>
            <a:off x="418154" y="1454560"/>
            <a:ext cx="11487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helps in achieving faster convergence, avoiding issues like vanishing/exploding gradients, and generally improving the performance of your model.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27B18C-44E4-7B15-D87C-D8CE6C18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51" y="2438261"/>
            <a:ext cx="4801270" cy="1981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04DA90-F9B2-6D00-FA39-F40B94B8D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585" y="2323092"/>
            <a:ext cx="6791768" cy="22493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A1B9BE2-BF08-67D9-9393-465363776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54" y="4603607"/>
            <a:ext cx="11355385" cy="20957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5B1C8C-F48D-4DA4-9B01-88A67E5D0739}"/>
              </a:ext>
            </a:extLst>
          </p:cNvPr>
          <p:cNvSpPr txBox="1"/>
          <p:nvPr/>
        </p:nvSpPr>
        <p:spPr>
          <a:xfrm>
            <a:off x="7706106" y="5045038"/>
            <a:ext cx="2169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Arial" panose="020B0604020202020204" pitchFamily="34" charset="0"/>
              </a:rPr>
              <a:t>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he_normal</a:t>
            </a:r>
            <a:r>
              <a:rPr kumimoji="0" lang="ar-EG" sz="18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Arial" panose="020B0604020202020204" pitchFamily="34" charset="0"/>
              </a:rPr>
              <a:t>"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387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2ED58-0FF8-4552-6AFD-719946A5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CAE9E24-19AF-9409-93C8-B10F5C321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A25B14-4BF4-E60A-84A1-98D05B83D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EB6C7C6-58D3-3C03-BCF3-678FD09CD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140393-654F-8DC9-A443-8BF277581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7DA6858-1B0E-E6F7-B92A-F6BA02A7A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D221A90-ECF6-4106-7C6B-F4498EEFC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ECE4C65-3942-C01D-0FC5-16DDA8078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1759" y="142108"/>
            <a:ext cx="10396882" cy="1151965"/>
          </a:xfrm>
        </p:spPr>
        <p:txBody>
          <a:bodyPr>
            <a:normAutofit/>
          </a:bodyPr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ℓ1 and ℓ2 Regularization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" y="1294073"/>
            <a:ext cx="1219169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C10000"/>
                </a:solidFill>
                <a:effectLst/>
                <a:uLnTx/>
                <a:uFillTx/>
                <a:latin typeface="Arial-BoldMT"/>
                <a:ea typeface="+mn-ea"/>
                <a:cs typeface="+mn-cs"/>
              </a:rPr>
              <a:t>Regularisation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is a process of introducing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1494A"/>
                </a:solidFill>
                <a:effectLst/>
                <a:uLnTx/>
                <a:uFillTx/>
                <a:latin typeface="Arial-BoldMT"/>
                <a:ea typeface="+mn-ea"/>
                <a:cs typeface="+mn-cs"/>
              </a:rPr>
              <a:t>additional information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in order to prevent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11494A"/>
                </a:solidFill>
                <a:effectLst/>
                <a:uLnTx/>
                <a:uFillTx/>
                <a:latin typeface="Arial-BoldMT"/>
                <a:ea typeface="+mn-ea"/>
                <a:cs typeface="+mn-cs"/>
              </a:rPr>
              <a:t>overfitting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.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80D392-614A-43D7-BA76-AB1FFE04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5E28FA-F9DD-2DC4-147F-26EE7D77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9413"/>
            <a:ext cx="10174120" cy="2635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F8FB10-937A-0AB2-E677-EAC915877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750" y="3003643"/>
            <a:ext cx="5048955" cy="10193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B540C5-A354-AF4D-0574-DFA903CAC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269" y="1803288"/>
            <a:ext cx="4563112" cy="1371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24B6B0-638F-7482-0A86-9F47278ED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982" y="1755379"/>
            <a:ext cx="452500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1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CEB5F-0799-8FB7-76E6-710C40BE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7DCC921-B5C5-177C-7C2D-AC306E378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468B1-7E69-AFD3-BCBD-563E8175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A47E52-6737-0A1B-CFDF-CA41AAD6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E6C54-C3D3-8B47-BA08-B3A74FA6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DA1078-CBEF-1BC6-A037-DB34BA1FA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11D4B5-AD9E-DEA5-5C1E-240FA544D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155F9D-90DF-D5FC-7A50-CAA566923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6DC6F96-D349-0A21-F0DB-A4C351429E2E}"/>
              </a:ext>
            </a:extLst>
          </p:cNvPr>
          <p:cNvSpPr txBox="1">
            <a:spLocks/>
          </p:cNvSpPr>
          <p:nvPr/>
        </p:nvSpPr>
        <p:spPr>
          <a:xfrm>
            <a:off x="347167" y="365125"/>
            <a:ext cx="110066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Batch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D9048-01E1-B126-1A6F-28C984615D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2596" b="2"/>
          <a:stretch/>
        </p:blipFill>
        <p:spPr>
          <a:xfrm>
            <a:off x="838200" y="2675938"/>
            <a:ext cx="9931399" cy="14190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FAECA1-EE04-F113-60A0-76F7CCA2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2" y="1631097"/>
            <a:ext cx="11844223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The 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BatchNormalization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layer normalizes the activations by adjusting the mean and variance.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To avoid overfitting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54344-D3C7-B0EE-97E3-210A06B91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323" y="4152122"/>
            <a:ext cx="8026170" cy="188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5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CEB5F-0799-8FB7-76E6-710C40BE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7DCC921-B5C5-177C-7C2D-AC306E378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468B1-7E69-AFD3-BCBD-563E8175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A47E52-6737-0A1B-CFDF-CA41AAD6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E6C54-C3D3-8B47-BA08-B3A74FA6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DA1078-CBEF-1BC6-A037-DB34BA1FA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11D4B5-AD9E-DEA5-5C1E-240FA544D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155F9D-90DF-D5FC-7A50-CAA566923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6DC6F96-D349-0A21-F0DB-A4C351429E2E}"/>
              </a:ext>
            </a:extLst>
          </p:cNvPr>
          <p:cNvSpPr txBox="1">
            <a:spLocks/>
          </p:cNvSpPr>
          <p:nvPr/>
        </p:nvSpPr>
        <p:spPr>
          <a:xfrm>
            <a:off x="347167" y="365125"/>
            <a:ext cx="110066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Batch Normalization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5E0E5D-0889-5169-3667-D23DE44D5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69" y="1605264"/>
            <a:ext cx="9039286" cy="1332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2CFDBB-E2CC-E437-B64E-D327BDF78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69" y="2921099"/>
            <a:ext cx="9039286" cy="3394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F589B7-B644-DFFB-62EB-9FE0A4465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955" y="4268481"/>
            <a:ext cx="119079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7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CEB5F-0799-8FB7-76E6-710C40BE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7DCC921-B5C5-177C-7C2D-AC306E378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468B1-7E69-AFD3-BCBD-563E8175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A47E52-6737-0A1B-CFDF-CA41AAD6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E6C54-C3D3-8B47-BA08-B3A74FA6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5DA1078-CBEF-1BC6-A037-DB34BA1FA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11D4B5-AD9E-DEA5-5C1E-240FA544D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155F9D-90DF-D5FC-7A50-CAA566923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6DC6F96-D349-0A21-F0DB-A4C351429E2E}"/>
              </a:ext>
            </a:extLst>
          </p:cNvPr>
          <p:cNvSpPr txBox="1">
            <a:spLocks/>
          </p:cNvSpPr>
          <p:nvPr/>
        </p:nvSpPr>
        <p:spPr>
          <a:xfrm>
            <a:off x="272490" y="-91135"/>
            <a:ext cx="110066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Batch Normalization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FA8F03-735E-0DDA-05FC-818009DED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279" y="1143291"/>
            <a:ext cx="9013056" cy="571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6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1E551-765E-95D9-73F0-E4D56A93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D41BA5-2CDD-40C3-EE31-5448BD654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196F7F-95F0-9C8E-AA2C-F5217520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AABCED-220C-5DF1-F01A-BA71C105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69FC7B-5058-DC1B-0846-12196F67B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11CD09-2B14-7BEB-D212-0EBF9934F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9FC0CCC-CA80-5A28-E455-895DA0A48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228325-6310-7A97-7967-A8370809B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1A5B255-6466-8702-489F-C3651B635DC5}"/>
              </a:ext>
            </a:extLst>
          </p:cNvPr>
          <p:cNvSpPr txBox="1">
            <a:spLocks/>
          </p:cNvSpPr>
          <p:nvPr/>
        </p:nvSpPr>
        <p:spPr>
          <a:xfrm>
            <a:off x="254110" y="220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19DEB2-026B-097B-BF65-7A4748B1D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76" y="1545964"/>
            <a:ext cx="266290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EarlyStopping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62F9B-5B2E-2E59-6782-34E8D9C14C8E}"/>
              </a:ext>
            </a:extLst>
          </p:cNvPr>
          <p:cNvSpPr txBox="1"/>
          <p:nvPr/>
        </p:nvSpPr>
        <p:spPr>
          <a:xfrm>
            <a:off x="493776" y="2139212"/>
            <a:ext cx="11064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EarlyStopping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stop training once the model performance stops improving on a monitored metric (like validation loss or accuracy). It prevents overfitting and saves time by stopping the training when further epochs would not yield better results.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1014D-5990-D3C2-5A14-BFC2B53B3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" y="3932789"/>
            <a:ext cx="12192000" cy="24125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A1AEED7-9639-83DF-53B2-365FE787D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1719"/>
            <a:ext cx="12192000" cy="241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9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1E551-765E-95D9-73F0-E4D56A93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D41BA5-2CDD-40C3-EE31-5448BD654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196F7F-95F0-9C8E-AA2C-F5217520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AABCED-220C-5DF1-F01A-BA71C105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69FC7B-5058-DC1B-0846-12196F67B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11CD09-2B14-7BEB-D212-0EBF9934F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9FC0CCC-CA80-5A28-E455-895DA0A48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228325-6310-7A97-7967-A8370809B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1A5B255-6466-8702-489F-C3651B635DC5}"/>
              </a:ext>
            </a:extLst>
          </p:cNvPr>
          <p:cNvSpPr txBox="1">
            <a:spLocks/>
          </p:cNvSpPr>
          <p:nvPr/>
        </p:nvSpPr>
        <p:spPr>
          <a:xfrm>
            <a:off x="329184" y="328549"/>
            <a:ext cx="110246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0400B6B-BFD4-3A3F-33FF-190602D82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1626838"/>
            <a:ext cx="370486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ReduceLROnPlateau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25C0A-5762-140E-62DA-653BDD2A8B42}"/>
              </a:ext>
            </a:extLst>
          </p:cNvPr>
          <p:cNvSpPr txBox="1"/>
          <p:nvPr/>
        </p:nvSpPr>
        <p:spPr>
          <a:xfrm>
            <a:off x="621792" y="2237603"/>
            <a:ext cx="11201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ReduceLROnPlateau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automatically reduce the learning rate when a monitored metric has stopped improving. Reducing the learning rate can help the model converge more smoothly and prevent it from overshooting minima in the loss landscape.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C2E27-042D-0F57-582E-200A0424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" y="3679318"/>
            <a:ext cx="12192000" cy="285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3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575AE-723E-A0EB-3D3D-FD205321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FD7ECDC-A3DF-BA04-AB4B-0478937C8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41FA46-D792-D716-D953-E27378D09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A2D221D-75E4-8764-8565-F697D932F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B40B505-F08F-7323-4610-EB5C458F8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C0FC3E-26B1-D80E-3A6B-4429474D6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6C4666D-1C10-E7F0-CC5D-77110EFD3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119C5AA-9BF0-E176-4F3C-457C8B080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D5A43D4-B7EA-10C9-A0AC-622CFC3A1F7E}"/>
              </a:ext>
            </a:extLst>
          </p:cNvPr>
          <p:cNvSpPr txBox="1">
            <a:spLocks/>
          </p:cNvSpPr>
          <p:nvPr/>
        </p:nvSpPr>
        <p:spPr>
          <a:xfrm>
            <a:off x="265733" y="365125"/>
            <a:ext cx="110880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A68FD01-92D0-BFA6-9264-7CDD028F5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09" y="1610782"/>
            <a:ext cx="317747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ModelCheckpoint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831AB-2248-CD52-863E-4584DDAB5373}"/>
              </a:ext>
            </a:extLst>
          </p:cNvPr>
          <p:cNvSpPr txBox="1"/>
          <p:nvPr/>
        </p:nvSpPr>
        <p:spPr>
          <a:xfrm>
            <a:off x="528609" y="2211355"/>
            <a:ext cx="10974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ModelCheckpoint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save the model during training at specific points, such as after each epoch or only when the model's performance on a validation set improves. This helps in keeping the best version of the model during training, especially when training for many epochs.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F9797-E5B6-49FD-1243-4A7AF3293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33" y="3909610"/>
            <a:ext cx="1166022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6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80639-6F16-7A95-B448-2001AB60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42EB388-1670-1EE3-3C37-ECC23DEA3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D64AEF-4042-3AC0-82C4-D3DEB91B4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D987B3-6088-17CA-4C9D-F843EE126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129A5D3-3C89-8614-E5B7-3819E67B5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865B9A3-5EF5-6F80-19D1-C7463DC77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FA4C8B7-9A2A-E05D-7692-4899FF7D1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7D944F9-4BAF-5FA0-B3AF-5136305D2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61BFBF3-B690-4E8E-7FB7-39F413FDA691}"/>
              </a:ext>
            </a:extLst>
          </p:cNvPr>
          <p:cNvSpPr txBox="1">
            <a:spLocks/>
          </p:cNvSpPr>
          <p:nvPr/>
        </p:nvSpPr>
        <p:spPr>
          <a:xfrm>
            <a:off x="265733" y="365125"/>
            <a:ext cx="110880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CA625DB-BB98-7CB0-F44D-D2F692AC9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09" y="1610782"/>
            <a:ext cx="232467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CSVLogger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7B60C-ACF1-0466-4548-641D01F4758C}"/>
              </a:ext>
            </a:extLst>
          </p:cNvPr>
          <p:cNvSpPr txBox="1"/>
          <p:nvPr/>
        </p:nvSpPr>
        <p:spPr>
          <a:xfrm>
            <a:off x="528609" y="2211355"/>
            <a:ext cx="109745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 dirty="0" err="1">
                <a:solidFill>
                  <a:prstClr val="black"/>
                </a:solidFill>
              </a:rPr>
              <a:t>CSVLogger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automatically saves the training progress (metrics and loss) of each epoch into a CSV file while the model trains.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8D0947-7011-9FEE-8AF6-1E969DDCD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5065"/>
            <a:ext cx="12192000" cy="288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1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575AE-723E-A0EB-3D3D-FD205321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FD7ECDC-A3DF-BA04-AB4B-0478937C8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41FA46-D792-D716-D953-E27378D09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A2D221D-75E4-8764-8565-F697D932F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B40B505-F08F-7323-4610-EB5C458F8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C0FC3E-26B1-D80E-3A6B-4429474D6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6C4666D-1C10-E7F0-CC5D-77110EFD3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119C5AA-9BF0-E176-4F3C-457C8B080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D5A43D4-B7EA-10C9-A0AC-622CFC3A1F7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Callbacks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60B9F35-FFD8-FD1E-0C09-8379F98FC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229" y="1678205"/>
            <a:ext cx="419230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How add in Training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04463-9B76-375F-1ECA-B035E177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55" y="2772713"/>
            <a:ext cx="9975984" cy="296693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397213E-95BE-2BFD-5C8D-3DFE1A29183F}"/>
              </a:ext>
            </a:extLst>
          </p:cNvPr>
          <p:cNvSpPr/>
          <p:nvPr/>
        </p:nvSpPr>
        <p:spPr>
          <a:xfrm>
            <a:off x="3320635" y="4732539"/>
            <a:ext cx="7496522" cy="49226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344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678A0-0B9A-FFF8-F368-8DDC548D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FFCCF5F-C008-9BB7-F002-818514B7F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F9A03B-7039-9979-D8DC-F3DBD9387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6B7618-4BA9-2CEC-1C6D-9E02A6BD4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9737B39-A02D-E72A-AD33-AF68519AB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110C4C2-D16D-C868-BDFA-99E6CEDD2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99BEF73-8AC0-08AF-E1EF-D7D948242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325DE63-24B4-AF8A-69F5-C45F0408F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96271EE2-5ABE-8B2A-5E52-64A2C2D4514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latin typeface="ArialMT"/>
              </a:rPr>
              <a:t>Lambda Function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10706-C60A-B91B-640E-A47C6AC9B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961" y="2583850"/>
            <a:ext cx="6800850" cy="704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7C884B-3AF3-15BF-4F9F-8B140B9FC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961" y="3229021"/>
            <a:ext cx="7448550" cy="76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DA4498-8746-C5BD-4BE1-5DF196F3CA96}"/>
              </a:ext>
            </a:extLst>
          </p:cNvPr>
          <p:cNvSpPr txBox="1"/>
          <p:nvPr/>
        </p:nvSpPr>
        <p:spPr>
          <a:xfrm>
            <a:off x="837895" y="1613132"/>
            <a:ext cx="108547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Lambda layers let you apply </a:t>
            </a: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custom math or transformations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without writing a full custom layer class.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84EAB5-806A-F60E-4EC2-0AA87020E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9" y="4336181"/>
            <a:ext cx="10529030" cy="215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9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C17E53E3-2799-3CD3-68A6-EEA0DA7FF87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latin typeface="ArialMT"/>
              </a:rPr>
              <a:t>Concatenate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94D18-53D9-D8A2-7180-1061202C99D7}"/>
              </a:ext>
            </a:extLst>
          </p:cNvPr>
          <p:cNvSpPr txBox="1"/>
          <p:nvPr/>
        </p:nvSpPr>
        <p:spPr>
          <a:xfrm>
            <a:off x="492037" y="1639965"/>
            <a:ext cx="11353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concatenate layer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neural networks is used to </a:t>
            </a: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multiple input tensors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along a specified dimension.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9F676-8EF0-F6C5-712F-8EF1298E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088" y="2641149"/>
            <a:ext cx="3096000" cy="36933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A8B190-74F8-43DB-C9F4-757C357D5CB0}"/>
              </a:ext>
            </a:extLst>
          </p:cNvPr>
          <p:cNvSpPr txBox="1"/>
          <p:nvPr/>
        </p:nvSpPr>
        <p:spPr>
          <a:xfrm>
            <a:off x="492036" y="3369697"/>
            <a:ext cx="116996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sz="2000" b="1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sz="2000" b="1" dirty="0" err="1">
                <a:solidFill>
                  <a:srgbClr val="000000"/>
                </a:solidFill>
                <a:latin typeface="ArialMT"/>
              </a:rPr>
              <a:t>keras.layers.concatenate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([ </a:t>
            </a:r>
            <a:r>
              <a:rPr lang="en-US" sz="2000" b="1" dirty="0">
                <a:solidFill>
                  <a:srgbClr val="13742F"/>
                </a:solidFill>
                <a:latin typeface="ArialMT"/>
              </a:rPr>
              <a:t>__ </a:t>
            </a:r>
            <a:r>
              <a:rPr lang="en-US" sz="2000" b="1" dirty="0">
                <a:solidFill>
                  <a:srgbClr val="FF0000"/>
                </a:solidFill>
                <a:latin typeface="ArialMT"/>
              </a:rPr>
              <a:t>,</a:t>
            </a:r>
            <a:r>
              <a:rPr lang="en-US" sz="2000" b="1" dirty="0">
                <a:solidFill>
                  <a:srgbClr val="13742F"/>
                </a:solidFill>
                <a:latin typeface="ArialMT"/>
              </a:rPr>
              <a:t>…</a:t>
            </a:r>
            <a:r>
              <a:rPr lang="en-US" sz="2000" b="1" dirty="0">
                <a:solidFill>
                  <a:srgbClr val="FF0000"/>
                </a:solidFill>
                <a:latin typeface="ArialMT"/>
              </a:rPr>
              <a:t>,</a:t>
            </a:r>
            <a:r>
              <a:rPr lang="en-US" sz="2000" b="1" dirty="0">
                <a:solidFill>
                  <a:srgbClr val="13742F"/>
                </a:solidFill>
                <a:latin typeface="ArialMT"/>
              </a:rPr>
              <a:t> __ 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],</a:t>
            </a:r>
            <a:r>
              <a:rPr lang="en-US" sz="2400" b="1" dirty="0">
                <a:solidFill>
                  <a:srgbClr val="000000"/>
                </a:solidFill>
                <a:latin typeface="ArialMT"/>
              </a:rPr>
              <a:t>axis= 0 </a:t>
            </a:r>
            <a:r>
              <a:rPr lang="en-US" sz="2400" b="1" dirty="0">
                <a:solidFill>
                  <a:srgbClr val="FF0000"/>
                </a:solidFill>
                <a:latin typeface="ArialMT"/>
              </a:rPr>
              <a:t>or</a:t>
            </a:r>
            <a:r>
              <a:rPr lang="en-US" sz="2400" b="1" dirty="0">
                <a:solidFill>
                  <a:srgbClr val="000000"/>
                </a:solidFill>
                <a:latin typeface="ArialMT"/>
              </a:rPr>
              <a:t> 1 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146367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29EEA-0264-37A8-DCA8-9B901D9E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7ED9DCC-DBC1-EA4A-4A93-C31C9E609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811D94-5142-A594-FA9C-0C3A1A2FE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153D893-1B25-8A00-3713-F1F80780B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500F12E-6971-D507-6140-77346C47A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1A2132B-121A-3D30-93A4-24FE6364C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013EB0-9D5F-FF56-67CD-654703828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5F82D-02C3-4EA0-6746-41347AB8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471F286B-E1AC-EEE0-2C12-EFE0F98D05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latin typeface="ArialMT"/>
              </a:rPr>
              <a:t>Concatenate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7A440-A8FB-DEB1-80D9-CFD70828E2F0}"/>
              </a:ext>
            </a:extLst>
          </p:cNvPr>
          <p:cNvSpPr txBox="1"/>
          <p:nvPr/>
        </p:nvSpPr>
        <p:spPr>
          <a:xfrm>
            <a:off x="620052" y="1520551"/>
            <a:ext cx="1169965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keras.layers.concatenate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([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 err="1">
                <a:solidFill>
                  <a:srgbClr val="C10000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],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axis=0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27989-F081-EF25-8E6D-B41B37C91465}"/>
              </a:ext>
            </a:extLst>
          </p:cNvPr>
          <p:cNvSpPr txBox="1"/>
          <p:nvPr/>
        </p:nvSpPr>
        <p:spPr>
          <a:xfrm>
            <a:off x="407480" y="4024539"/>
            <a:ext cx="74998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keras.layers.concatenate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([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>
                <a:solidFill>
                  <a:srgbClr val="C10000"/>
                </a:solidFill>
                <a:latin typeface="ArialMT"/>
              </a:rPr>
              <a:t>hidden2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],</a:t>
            </a:r>
            <a:r>
              <a:rPr lang="en-US" sz="2000" b="1" dirty="0">
                <a:solidFill>
                  <a:srgbClr val="000000"/>
                </a:solidFill>
                <a:latin typeface="ArialMT"/>
              </a:rPr>
              <a:t>axis=1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)</a:t>
            </a:r>
          </a:p>
        </p:txBody>
      </p:sp>
      <p:pic>
        <p:nvPicPr>
          <p:cNvPr id="2050" name="Picture 2" descr="Numpy axes explained – R-Craft">
            <a:extLst>
              <a:ext uri="{FF2B5EF4-FFF2-40B4-BE49-F238E27FC236}">
                <a16:creationId xmlns:a16="http://schemas.microsoft.com/office/drawing/2014/main" id="{C6FACB92-8546-FFC8-0162-CAFC7EA110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7" t="28766" b="5879"/>
          <a:stretch/>
        </p:blipFill>
        <p:spPr bwMode="auto">
          <a:xfrm>
            <a:off x="3529584" y="4585182"/>
            <a:ext cx="3534372" cy="207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umPy For Machine Learning. NumPy library is an important… | by ...">
            <a:extLst>
              <a:ext uri="{FF2B5EF4-FFF2-40B4-BE49-F238E27FC236}">
                <a16:creationId xmlns:a16="http://schemas.microsoft.com/office/drawing/2014/main" id="{7B20AFB5-C295-50BC-1CEB-D1B0887242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00" t="19304" r="7900" b="53607"/>
          <a:stretch/>
        </p:blipFill>
        <p:spPr bwMode="auto">
          <a:xfrm>
            <a:off x="2034756" y="2087060"/>
            <a:ext cx="6181344" cy="174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14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21AD5-BB7C-87BB-04B5-8FE795A7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8B4EB01-BD2A-7F3C-D6F2-9546235E5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E02F94-BAA5-3FA9-958C-57061F700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C3E2FD-38DB-89D7-A4AD-4BAD5FBEC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79B3B68-B9A8-6390-C56E-F7EFEF85B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8EE06A5-B6A2-2530-9C0D-E09BBC984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A35E9FD-3848-4518-B534-2A897EBD5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E17DB80-0ABF-1176-5B77-587F0D309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7DB82FD-5C3C-C92D-DE52-793CDD883B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0000"/>
                </a:solidFill>
                <a:latin typeface="ArialMT"/>
              </a:rPr>
              <a:t>Concatenate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5E2BF-6808-4BBD-7163-86D8ACD77F18}"/>
              </a:ext>
            </a:extLst>
          </p:cNvPr>
          <p:cNvSpPr txBox="1"/>
          <p:nvPr/>
        </p:nvSpPr>
        <p:spPr>
          <a:xfrm>
            <a:off x="579120" y="1557356"/>
            <a:ext cx="86197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(shape=[5], name="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wide_input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 err="1">
                <a:solidFill>
                  <a:srgbClr val="13742F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(shape=[6], name="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deep_input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>
                <a:solidFill>
                  <a:srgbClr val="FF6600"/>
                </a:solidFill>
                <a:latin typeface="ArialMT"/>
              </a:rPr>
              <a:t>hidden1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(30, activation="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relu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(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13742F"/>
              </a:solidFill>
              <a:latin typeface="ArialMT"/>
            </a:endParaRPr>
          </a:p>
          <a:p>
            <a:r>
              <a:rPr lang="en-US" dirty="0">
                <a:solidFill>
                  <a:srgbClr val="C10000"/>
                </a:solidFill>
                <a:latin typeface="ArialMT"/>
              </a:rPr>
              <a:t>hidden2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(30, activation="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relu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")</a:t>
            </a:r>
            <a:r>
              <a:rPr lang="en-US" dirty="0">
                <a:solidFill>
                  <a:srgbClr val="FF6600"/>
                </a:solidFill>
                <a:latin typeface="ArialMT"/>
              </a:rPr>
              <a:t>(hidden1)</a:t>
            </a:r>
          </a:p>
          <a:p>
            <a:endParaRPr lang="en-US" dirty="0">
              <a:solidFill>
                <a:srgbClr val="FF6600"/>
              </a:solidFill>
              <a:latin typeface="ArialMT"/>
            </a:endParaRPr>
          </a:p>
          <a:p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tf.keras.layers.concatenate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([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>
                <a:solidFill>
                  <a:srgbClr val="C10000"/>
                </a:solidFill>
                <a:latin typeface="ArialMT"/>
              </a:rPr>
              <a:t>hidden2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], axis=-1)</a:t>
            </a:r>
          </a:p>
          <a:p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 err="1">
                <a:solidFill>
                  <a:srgbClr val="1D41D6"/>
                </a:solidFill>
                <a:latin typeface="ArialMT"/>
              </a:rPr>
              <a:t>Aux_output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(1, name="output")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(</a:t>
            </a:r>
            <a:r>
              <a:rPr lang="en-US" dirty="0">
                <a:solidFill>
                  <a:srgbClr val="C10000"/>
                </a:solidFill>
                <a:latin typeface="ArialMT"/>
              </a:rPr>
              <a:t>hidden2 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7030A1"/>
              </a:solidFill>
              <a:latin typeface="ArialMT"/>
            </a:endParaRPr>
          </a:p>
          <a:p>
            <a:r>
              <a:rPr lang="en-US" dirty="0">
                <a:solidFill>
                  <a:srgbClr val="1D41D6"/>
                </a:solidFill>
                <a:latin typeface="ArialMT"/>
              </a:rPr>
              <a:t>output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tf.keras.layers.Dense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(1, name="output")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(</a:t>
            </a:r>
            <a:r>
              <a:rPr lang="en-US" dirty="0" err="1">
                <a:solidFill>
                  <a:srgbClr val="7030A1"/>
                </a:solidFill>
                <a:latin typeface="ArialMT"/>
              </a:rPr>
              <a:t>concat</a:t>
            </a:r>
            <a:r>
              <a:rPr lang="en-US" dirty="0">
                <a:solidFill>
                  <a:srgbClr val="7030A1"/>
                </a:solidFill>
                <a:latin typeface="ArialMT"/>
              </a:rPr>
              <a:t>)</a:t>
            </a:r>
          </a:p>
          <a:p>
            <a:endParaRPr lang="en-US" dirty="0">
              <a:solidFill>
                <a:srgbClr val="7030A1"/>
              </a:solidFill>
              <a:latin typeface="ArialMT"/>
            </a:endParaRPr>
          </a:p>
          <a:p>
            <a:r>
              <a:rPr lang="en-US" dirty="0">
                <a:solidFill>
                  <a:srgbClr val="000000"/>
                </a:solidFill>
                <a:latin typeface="ArialMT"/>
              </a:rPr>
              <a:t>model =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tf.keras.Model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(inputs=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[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input_A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, </a:t>
            </a:r>
            <a:r>
              <a:rPr lang="en-US" dirty="0" err="1">
                <a:solidFill>
                  <a:srgbClr val="13742F"/>
                </a:solidFill>
                <a:latin typeface="ArialMT"/>
              </a:rPr>
              <a:t>input_B</a:t>
            </a:r>
            <a:r>
              <a:rPr lang="en-US" dirty="0">
                <a:solidFill>
                  <a:srgbClr val="13742F"/>
                </a:solidFill>
                <a:latin typeface="ArialMT"/>
              </a:rPr>
              <a:t>]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outputs=[output, </a:t>
            </a:r>
            <a:r>
              <a:rPr lang="en-US" dirty="0" err="1">
                <a:solidFill>
                  <a:srgbClr val="1D41D6"/>
                </a:solidFill>
                <a:latin typeface="ArialMT"/>
              </a:rPr>
              <a:t>Aux_output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 ]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FB2B5A-0C3F-2348-B4D8-BF3E4B5D8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880" y="1428136"/>
            <a:ext cx="3096000" cy="36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60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A5C67-5C27-EA32-F52C-09B4296F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90BE7C-05D3-112D-CBE9-BE4AA82F1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2C888A-24D2-E794-92FA-1169336C7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B53E4D2-20F7-C7F5-9D70-6695A902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18F2FB4-0990-1E1A-0C07-DF2B665A8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2D7650-D18E-D5CF-EC94-6B78EBED41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BE1E619-8FD3-720B-29A0-4BD60C5A2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8CA7ED0-7FBB-2890-4FEA-868A7D15F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AF4C1D1-46D8-9F4D-403C-1C8A542F8D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98BE88-8803-3A48-7DCF-94E1ADADA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06" y="2377891"/>
            <a:ext cx="10396881" cy="350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6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A4B10-E296-D823-43CD-8CF335B1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A960FE4-5668-3A26-F94C-04B59B3CF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BE7C3C-01A8-E42A-EBF1-E96AD4A73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80ED43C-7EC8-0E69-8EDA-4E05EC7D1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F462F9F-BD37-CF49-DFEF-72ED6F5B0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D39F40D-382E-E513-0980-A1A8C1B87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238D28-4521-C52F-E47C-0CF47F4F1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BF1D760-21FF-F422-0A8B-BEEA64C28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AD0293C-BE64-DACC-A33A-FB875D0B49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7575D4-A3DD-C96A-5078-134C969D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8" y="1562101"/>
            <a:ext cx="10396882" cy="4522470"/>
          </a:xfrm>
          <a:prstGeom prst="round1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64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8A443-AF2C-E762-3DA6-ACED46DC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7229AC6-21D7-0806-2302-FA8497910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8D68FD-2776-55B4-B41A-A4A7970C0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35B7E8-38AA-86AF-14BE-58D7F2B6D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D68843D-F1CB-D7F5-349C-A009D8248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4034B3-0D0C-B2E6-5221-01EC09BC6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34C533B-97D1-782C-75DB-4DAEF0B70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907EB0E-978F-B64C-E0FB-1FDD2D16D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26E3D97-5A98-9195-7E5A-4DDE33E7AF2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39540-5D43-9149-E7EA-A280024F9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25" y="2290045"/>
            <a:ext cx="7481240" cy="3045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9528DE-8AC6-2D43-CB71-3A666EAFA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004" y="-1"/>
            <a:ext cx="3983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6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Depthwise Separable Convolution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/>
              <a:t>Instead of applying one convolution across all channels,</a:t>
            </a:r>
          </a:p>
          <a:p>
            <a:r>
              <a:rPr lang="en-US" sz="2200"/>
              <a:t>we split the operation into two smaller steps:</a:t>
            </a:r>
          </a:p>
          <a:p>
            <a:endParaRPr lang="en-US" sz="2200"/>
          </a:p>
          <a:p>
            <a:r>
              <a:rPr lang="en-US" sz="2200"/>
              <a:t>1) Depthwise Convolution</a:t>
            </a:r>
          </a:p>
          <a:p>
            <a:r>
              <a:rPr lang="en-US" sz="2200"/>
              <a:t>2) Pointwise Convolution</a:t>
            </a:r>
          </a:p>
          <a:p>
            <a:endParaRPr lang="en-US" sz="2200"/>
          </a:p>
          <a:p>
            <a:r>
              <a:rPr lang="en-US" sz="2200"/>
              <a:t>This dramatically reduces computations.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Depthwise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2508070"/>
            <a:ext cx="10628163" cy="3634110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How it Works: </a:t>
            </a:r>
            <a:r>
              <a:rPr lang="en-US" sz="2400" dirty="0"/>
              <a:t>Unlike standard convolution that looks at all channels at once, </a:t>
            </a:r>
            <a:r>
              <a:rPr lang="en-US" sz="2400" dirty="0" err="1"/>
              <a:t>Depthwise</a:t>
            </a:r>
            <a:r>
              <a:rPr lang="en-US" sz="2400" dirty="0"/>
              <a:t> treats every channel (Red, Green, Blue) as a separate entity.</a:t>
            </a:r>
          </a:p>
          <a:p>
            <a:r>
              <a:rPr lang="en-US" sz="2400" b="1" dirty="0"/>
              <a:t>The Math</a:t>
            </a:r>
            <a:r>
              <a:rPr lang="en-US" sz="2400" dirty="0"/>
              <a:t>: Filter Size: K *K *1 (the depth is always 1).</a:t>
            </a:r>
          </a:p>
          <a:p>
            <a:r>
              <a:rPr lang="en-US" sz="2400" b="1" dirty="0"/>
              <a:t>Filter Count</a:t>
            </a:r>
            <a:r>
              <a:rPr lang="en-US" sz="2400" dirty="0"/>
              <a:t>: Must equal the number of input channels.</a:t>
            </a:r>
          </a:p>
          <a:p>
            <a:r>
              <a:rPr lang="en-US" sz="2400" b="1" dirty="0"/>
              <a:t>The Benefit: </a:t>
            </a:r>
            <a:r>
              <a:rPr lang="en-US" sz="2400" dirty="0"/>
              <a:t>It is extremely computationally efficient, reducing the number of parameters and operations, which is why it is the foundation of mobile-friendly models like </a:t>
            </a:r>
            <a:r>
              <a:rPr lang="en-US" sz="2400" dirty="0" err="1"/>
              <a:t>MobileNet</a:t>
            </a:r>
            <a:r>
              <a:rPr lang="en-US" sz="2400" dirty="0"/>
              <a:t>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Pointwise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Pointwise convolution uses 1×1 filters.</a:t>
            </a:r>
          </a:p>
          <a:p>
            <a:r>
              <a:t>It combines information from all channels.</a:t>
            </a:r>
          </a:p>
          <a:p>
            <a:endParaRPr/>
          </a:p>
          <a:p>
            <a:r>
              <a:t>Filter size = 1 × 1 × D_in</a:t>
            </a:r>
          </a:p>
          <a:p>
            <a:r>
              <a:t>Number of filters = desired output channels</a:t>
            </a:r>
          </a:p>
          <a:p>
            <a:endParaRPr/>
          </a:p>
          <a:p>
            <a:r>
              <a:t>This step mixes the features extracted from the depthwise step.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52C375-79BB-4ABC-8F72-35B06997B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17872" b="-1"/>
          <a:stretch>
            <a:fillRect/>
          </a:stretch>
        </p:blipFill>
        <p:spPr>
          <a:xfrm>
            <a:off x="817658" y="643466"/>
            <a:ext cx="4946334" cy="5571066"/>
          </a:xfrm>
          <a:prstGeom prst="rect">
            <a:avLst/>
          </a:prstGeom>
        </p:spPr>
      </p:pic>
      <p:cxnSp>
        <p:nvCxnSpPr>
          <p:cNvPr id="23" name="Straight Connector 1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939BF669-9D40-48FD-97B6-4760344F6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8989" y="643467"/>
            <a:ext cx="4164371" cy="55710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FBE9-8C97-492D-B4F0-C0911B53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E7571-7A37-481D-9262-1960985E4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45196" y="207386"/>
            <a:ext cx="6254063" cy="6200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CDE73-0030-47C1-AE24-8E30F2E05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92" y="2874523"/>
            <a:ext cx="3240610" cy="110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03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429E-2328-4E19-6482-E46745B7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3EEE-C49D-CDC3-52B1-AE26B104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DF643F-57EB-1437-E88F-A68B1C24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762" y="663575"/>
            <a:ext cx="6334125" cy="5829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B92D26-C291-4EF1-8994-C91ACA647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093" y="5927702"/>
            <a:ext cx="891617" cy="48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64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D49F-BC91-1C27-082C-5FBF355D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DB94-77A5-EF78-79D3-42DB780A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456669-6158-5BF5-58B1-B8DDA3D45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752" y="1690688"/>
            <a:ext cx="71723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01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7948-84BC-4EEC-7BA0-5FDFFD77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7938-AA29-7EA7-72AC-57B1E9A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590DB-9A15-8791-ACD3-19CF44E01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293" y="556503"/>
            <a:ext cx="7820025" cy="613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DDEDB1-A04B-4581-A979-68B4BE45F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832" y="-15047"/>
            <a:ext cx="2004234" cy="1143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3BFA52-81F7-4476-A015-B0213B23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523" y="167397"/>
            <a:ext cx="998307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7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30B0-16B1-3252-953A-ABA714BF3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09C6-22FA-6976-D932-A26232EC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07C7C-8151-82C7-87CA-D3141526F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2" y="365125"/>
            <a:ext cx="7686675" cy="621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D05EF-99BA-4B84-AB82-269E38EC1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046" y="0"/>
            <a:ext cx="1912786" cy="108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09DB50-8567-4670-BB2A-3B646481B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528" y="-61632"/>
            <a:ext cx="1486029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61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EC89-0506-300F-4D98-A74B47F4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BCB4-D7D8-8C94-45E8-24C34320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3B267-50C9-1240-56B9-EB29F4316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47" y="1875107"/>
            <a:ext cx="65436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39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EEB3-40D3-31E7-7C2E-0184BDBC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B4AD-09B8-4806-A440-037D6089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85" y="489798"/>
            <a:ext cx="2440021" cy="1325563"/>
          </a:xfrm>
        </p:spPr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1F674-EC2C-AD6B-D717-32C7CA6EF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244" y="413376"/>
            <a:ext cx="7286625" cy="6162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4FD76D-9E8C-0BC6-B5F5-BF7CDBCB969C}"/>
              </a:ext>
            </a:extLst>
          </p:cNvPr>
          <p:cNvSpPr txBox="1"/>
          <p:nvPr/>
        </p:nvSpPr>
        <p:spPr>
          <a:xfrm>
            <a:off x="97276" y="6312356"/>
            <a:ext cx="12094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tf.keras.layers.SeparableConv2D(filters=64,kernel_size=3,padding='same',</a:t>
            </a:r>
            <a:r>
              <a:rPr lang="en-US" sz="2200" b="1" dirty="0" err="1">
                <a:solidFill>
                  <a:srgbClr val="FF0000"/>
                </a:solidFill>
              </a:rPr>
              <a:t>input_shape</a:t>
            </a:r>
            <a:r>
              <a:rPr lang="en-US" sz="2200" b="1" dirty="0">
                <a:solidFill>
                  <a:srgbClr val="FF0000"/>
                </a:solidFill>
              </a:rPr>
              <a:t>=(224, 224, 32))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EB644-1A11-43C6-A106-10DD517B8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96" y="43774"/>
            <a:ext cx="1524132" cy="739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33220C-38C7-4E18-B484-9371BE6FF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371" y="97119"/>
            <a:ext cx="1425063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00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B254D-9E50-6EA9-7A7D-D1E73151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51C3BAE-90DB-94ED-BA31-D7E5B9610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BC1956-67C0-8C55-1566-453FE4DC4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AD9A49-944D-14C7-4112-FF338B268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26EA83F-6A82-CF7F-8839-6DF0C0C1B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35A8DF5-3623-729C-3CE7-AF3DB7123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F5743C-5968-D619-91C8-2349527E6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79F53C4-D9EA-84AF-FB7A-255AB64CB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70CD9F7-6858-0868-4390-3CD08C3DA49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InceptionV3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8BD118-6875-701B-B6D3-5343BE53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8" y="1873578"/>
            <a:ext cx="10396882" cy="425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7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2BCE9-CC8E-A05B-7B5E-2C6FC6BA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85DCAD2-13FB-41D7-9399-070EAFEDD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9D70F5-22A1-859B-C2E3-3F078F4C0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F259FE-79AD-BEFE-F98D-83C9B649F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02E477-6010-BACF-F18D-F85663499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722AF4-FC27-ABE3-3D80-41ECAE670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693E664-BFC4-680C-49FB-B59B7C827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BFAEABF-7ADC-36E2-43B5-9C8BA30C6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CD01568-608A-C386-3E71-F1805C0BF0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Call Transfer Learning?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35B906-4B3F-CB5D-94F4-DDF9C0837AA3}"/>
              </a:ext>
            </a:extLst>
          </p:cNvPr>
          <p:cNvSpPr/>
          <p:nvPr/>
        </p:nvSpPr>
        <p:spPr>
          <a:xfrm>
            <a:off x="835939" y="1638345"/>
            <a:ext cx="112562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= keras.applications.vgg16.VGG16(</a:t>
            </a:r>
            <a:r>
              <a:rPr lang="en-US" sz="2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 </a:t>
            </a:r>
            <a:r>
              <a:rPr lang="en-US" sz="2000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‘,</a:t>
            </a:r>
          </a:p>
          <a:p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</a:t>
            </a:r>
            <a:r>
              <a:rPr lang="en-US" sz="2000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include_top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=False,</a:t>
            </a:r>
          </a:p>
          <a:p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</a:t>
            </a:r>
            <a:r>
              <a:rPr lang="en-US" sz="2000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input_shape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=(224,224,3)</a:t>
            </a:r>
            <a:r>
              <a:rPr lang="en-US" sz="2000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E2863-09B1-8C68-C3DF-F0284F1F9244}"/>
              </a:ext>
            </a:extLst>
          </p:cNvPr>
          <p:cNvSpPr/>
          <p:nvPr/>
        </p:nvSpPr>
        <p:spPr>
          <a:xfrm>
            <a:off x="771931" y="3475333"/>
            <a:ext cx="1081735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lang="en-US" b="1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</a:t>
            </a:r>
            <a:r>
              <a:rPr lang="en-US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(random initialization) or </a:t>
            </a:r>
            <a:r>
              <a:rPr lang="en-US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US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(pre-training on ImageNet).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1D41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include_top</a:t>
            </a:r>
            <a:r>
              <a:rPr lang="en-US" b="1" dirty="0">
                <a:solidFill>
                  <a:srgbClr val="1D41D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to include the top layers of the network or not (</a:t>
            </a:r>
            <a:r>
              <a:rPr lang="en-US" b="1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False,True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6CC54-A477-202D-0B1A-554ADA9A5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76" y="4433701"/>
            <a:ext cx="8741664" cy="242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72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D7F43-025C-9491-9A6A-A862626E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C5BFF8A-A218-58D1-4610-B4E1AE28D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DEC30F-C45A-DDA5-55E1-B876B6A0D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FA48291-A9AA-6D6D-5449-65185DD3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C7FA1F-1B5C-EBF8-7CE5-143B4BE93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188F449-ABDF-0D80-3AD4-07AF9569A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F2EA957-160A-2C8B-59FC-2FA787513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4B9FFA4-89BE-EF1F-897F-3378B7B0C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AF7AAF75-B9A2-8E67-4DE5-862370C122F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28EE5-7010-9996-62B0-2C6F235D6BE7}"/>
              </a:ext>
            </a:extLst>
          </p:cNvPr>
          <p:cNvSpPr/>
          <p:nvPr/>
        </p:nvSpPr>
        <p:spPr>
          <a:xfrm>
            <a:off x="838200" y="2082943"/>
            <a:ext cx="112562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MT"/>
              </a:rPr>
              <a:t>import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tensorflow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 as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tf</a:t>
            </a:r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>
                <a:solidFill>
                  <a:srgbClr val="000000"/>
                </a:solidFill>
                <a:latin typeface="ArialMT"/>
              </a:rPr>
              <a:t>from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tensorflow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 import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keras</a:t>
            </a:r>
            <a:endParaRPr lang="en-US" dirty="0">
              <a:solidFill>
                <a:srgbClr val="000000"/>
              </a:solidFill>
              <a:latin typeface="ArialMT"/>
            </a:endParaRPr>
          </a:p>
          <a:p>
            <a:r>
              <a:rPr lang="en-US" dirty="0">
                <a:solidFill>
                  <a:srgbClr val="1D41D6"/>
                </a:solidFill>
                <a:latin typeface="ArialMT"/>
              </a:rPr>
              <a:t>model = keras.applications.vgg16.VGG16(</a:t>
            </a:r>
            <a:r>
              <a:rPr lang="en-US" dirty="0">
                <a:latin typeface="ArialMT"/>
              </a:rPr>
              <a:t>weights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='</a:t>
            </a:r>
            <a:r>
              <a:rPr lang="en-US" dirty="0" err="1">
                <a:solidFill>
                  <a:srgbClr val="FF3300"/>
                </a:solidFill>
                <a:latin typeface="ArialMT"/>
              </a:rPr>
              <a:t>imagenet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 ' </a:t>
            </a:r>
            <a:r>
              <a:rPr lang="en-US" dirty="0">
                <a:latin typeface="ArialMT"/>
              </a:rPr>
              <a:t>,</a:t>
            </a:r>
            <a:r>
              <a:rPr lang="en-US" dirty="0" err="1">
                <a:latin typeface="ArialMT"/>
              </a:rPr>
              <a:t>include_top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=False </a:t>
            </a:r>
            <a:r>
              <a:rPr lang="en-US" dirty="0">
                <a:latin typeface="ArialMT"/>
              </a:rPr>
              <a:t>,</a:t>
            </a:r>
            <a:r>
              <a:rPr lang="en-US" dirty="0" err="1">
                <a:latin typeface="ArialMT"/>
              </a:rPr>
              <a:t>input_shape</a:t>
            </a:r>
            <a:r>
              <a:rPr lang="en-US" dirty="0">
                <a:solidFill>
                  <a:srgbClr val="FF3300"/>
                </a:solidFill>
                <a:latin typeface="ArialMT"/>
              </a:rPr>
              <a:t>=(224,224,3)</a:t>
            </a:r>
            <a:r>
              <a:rPr lang="en-US" dirty="0">
                <a:solidFill>
                  <a:srgbClr val="1D41D6"/>
                </a:solidFill>
                <a:latin typeface="ArialMT"/>
              </a:rPr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1D9CF-707F-1BEB-8967-3B4F2FFA4A83}"/>
              </a:ext>
            </a:extLst>
          </p:cNvPr>
          <p:cNvSpPr/>
          <p:nvPr/>
        </p:nvSpPr>
        <p:spPr>
          <a:xfrm>
            <a:off x="838200" y="4117676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rial-BoldMT"/>
              </a:rPr>
              <a:t>for layer in </a:t>
            </a:r>
            <a:r>
              <a:rPr lang="en-US" sz="2000" b="1" dirty="0" err="1">
                <a:solidFill>
                  <a:srgbClr val="FF0000"/>
                </a:solidFill>
                <a:latin typeface="Arial-BoldMT"/>
              </a:rPr>
              <a:t>model.layers</a:t>
            </a:r>
            <a:r>
              <a:rPr lang="en-US" sz="2000" b="1" dirty="0">
                <a:solidFill>
                  <a:srgbClr val="000000"/>
                </a:solidFill>
                <a:latin typeface="Arial-BoldMT"/>
              </a:rPr>
              <a:t>[:-1]:</a:t>
            </a:r>
          </a:p>
          <a:p>
            <a:r>
              <a:rPr lang="en-US" sz="2000" b="1" dirty="0">
                <a:solidFill>
                  <a:srgbClr val="C10000"/>
                </a:solidFill>
                <a:latin typeface="Arial-BoldMT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Arial-BoldM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-BoldMT"/>
              </a:rPr>
              <a:t>layer</a:t>
            </a:r>
            <a:r>
              <a:rPr lang="en-US" sz="2000" b="1" dirty="0" err="1">
                <a:solidFill>
                  <a:srgbClr val="C10000"/>
                </a:solidFill>
                <a:latin typeface="Arial-BoldMT"/>
              </a:rPr>
              <a:t>.trainable</a:t>
            </a:r>
            <a:r>
              <a:rPr lang="en-US" sz="2000" b="1" dirty="0">
                <a:solidFill>
                  <a:srgbClr val="C10000"/>
                </a:solidFill>
                <a:latin typeface="Arial-BoldMT"/>
              </a:rPr>
              <a:t> = False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33029-D979-38E2-7A3B-E21F4CE5661C}"/>
              </a:ext>
            </a:extLst>
          </p:cNvPr>
          <p:cNvSpPr txBox="1"/>
          <p:nvPr/>
        </p:nvSpPr>
        <p:spPr>
          <a:xfrm>
            <a:off x="839822" y="3404088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model.trainable</a:t>
            </a:r>
            <a:r>
              <a:rPr lang="en-US" sz="2400" b="1" dirty="0"/>
              <a:t> = 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189AF-1178-FBD2-520F-2AE7430DFD0E}"/>
              </a:ext>
            </a:extLst>
          </p:cNvPr>
          <p:cNvSpPr txBox="1"/>
          <p:nvPr/>
        </p:nvSpPr>
        <p:spPr>
          <a:xfrm>
            <a:off x="838200" y="5015930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model.layers</a:t>
            </a:r>
            <a:r>
              <a:rPr lang="en-US" sz="2400" b="1" dirty="0"/>
              <a:t>[0].trainable = 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0B4CD-6CDC-70C8-57B3-A134D489C1B8}"/>
              </a:ext>
            </a:extLst>
          </p:cNvPr>
          <p:cNvSpPr txBox="1"/>
          <p:nvPr/>
        </p:nvSpPr>
        <p:spPr>
          <a:xfrm>
            <a:off x="838200" y="5936965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model.get_layer</a:t>
            </a:r>
            <a:r>
              <a:rPr lang="en-US" sz="2400" b="1" dirty="0"/>
              <a:t>('conv2d_1').trainable = False</a:t>
            </a:r>
          </a:p>
        </p:txBody>
      </p:sp>
    </p:spTree>
    <p:extLst>
      <p:ext uri="{BB962C8B-B14F-4D97-AF65-F5344CB8AC3E}">
        <p14:creationId xmlns:p14="http://schemas.microsoft.com/office/powerpoint/2010/main" val="150723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1019</TotalTime>
  <Words>1071</Words>
  <Application>Microsoft Office PowerPoint</Application>
  <PresentationFormat>Widescreen</PresentationFormat>
  <Paragraphs>126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Arial-BoldMT</vt:lpstr>
      <vt:lpstr>ArialMT</vt:lpstr>
      <vt:lpstr>Calibri</vt:lpstr>
      <vt:lpstr>Calibri Light</vt:lpstr>
      <vt:lpstr>Cambria Math</vt:lpstr>
      <vt:lpstr>Courier New</vt:lpstr>
      <vt:lpstr>Times New Roman</vt:lpstr>
      <vt:lpstr>Office Theme</vt:lpstr>
      <vt:lpstr>PowerPoint Presentation</vt:lpstr>
      <vt:lpstr>ℓ1 and ℓ2 Regularization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Depthwise Separable Convolution Idea</vt:lpstr>
      <vt:lpstr>Depthwise Convolution</vt:lpstr>
      <vt:lpstr>Pointwise Convolution</vt:lpstr>
      <vt:lpstr>PowerPoint Presentation</vt:lpstr>
      <vt:lpstr>Computations</vt:lpstr>
      <vt:lpstr>Example</vt:lpstr>
      <vt:lpstr>Example</vt:lpstr>
      <vt:lpstr>Example</vt:lpstr>
      <vt:lpstr>Example</vt:lpstr>
      <vt:lpstr>Example</vt:lpstr>
      <vt:lpstr>Cont…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(CV)</dc:title>
  <dc:creator>hossam180099@fci.bu.edu.eg</dc:creator>
  <cp:lastModifiedBy>ahmed.abdelsatar@fci.bu.edu.eg</cp:lastModifiedBy>
  <cp:revision>80</cp:revision>
  <dcterms:created xsi:type="dcterms:W3CDTF">2024-02-18T11:35:13Z</dcterms:created>
  <dcterms:modified xsi:type="dcterms:W3CDTF">2026-05-15T09:48:58Z</dcterms:modified>
</cp:coreProperties>
</file>