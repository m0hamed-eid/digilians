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JetBrains Mono SemiBold" panose="020B0604020202020204" charset="0"/>
      <p:regular r:id="rId18"/>
      <p:bold r:id="rId19"/>
      <p:italic r:id="rId20"/>
      <p:boldItalic r:id="rId21"/>
    </p:embeddedFont>
    <p:embeddedFont>
      <p:font typeface="Plus Jakarta Sans" panose="020B0604020202020204" charset="0"/>
      <p:regular r:id="rId22"/>
      <p:bold r:id="rId23"/>
      <p:italic r:id="rId24"/>
      <p:boldItalic r:id="rId25"/>
    </p:embeddedFont>
    <p:embeddedFont>
      <p:font typeface="Plus Jakarta Sans Medium" panose="020B0604020202020204" charset="0"/>
      <p:regular r:id="rId26"/>
      <p:bold r:id="rId27"/>
      <p:italic r:id="rId28"/>
      <p:boldItalic r:id="rId29"/>
    </p:embeddedFont>
    <p:embeddedFont>
      <p:font typeface="Plus Jakarta Sans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D80DA-F0DD-4D67-B2CD-3324F8CB31EC}">
  <a:tblStyle styleId="{387D80DA-F0DD-4D67-B2CD-3324F8CB31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png"/><Relationship Id="rId10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32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4.png"/><Relationship Id="rId7" Type="http://schemas.openxmlformats.org/officeDocument/2006/relationships/image" Target="../media/image40.png"/><Relationship Id="rId12" Type="http://schemas.openxmlformats.org/officeDocument/2006/relationships/image" Target="../media/image7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10" Type="http://schemas.openxmlformats.org/officeDocument/2006/relationships/image" Target="../media/image43.png"/><Relationship Id="rId19" Type="http://schemas.openxmlformats.org/officeDocument/2006/relationships/image" Target="../media/image51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1.png"/><Relationship Id="rId3" Type="http://schemas.openxmlformats.org/officeDocument/2006/relationships/image" Target="../media/image4.png"/><Relationship Id="rId7" Type="http://schemas.openxmlformats.org/officeDocument/2006/relationships/image" Target="../media/image56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54.png"/><Relationship Id="rId10" Type="http://schemas.openxmlformats.org/officeDocument/2006/relationships/image" Target="../media/image7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4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7.png"/><Relationship Id="rId4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004119"/>
            <a:ext cx="8572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595437" y="2356544"/>
            <a:ext cx="9001125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Filtering and Image Enhancement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24125" y="3682305"/>
            <a:ext cx="7143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comprehensive study of spatial domain enhancements, neighborhood operations, correlation, convolution, and edge optimization.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4672905"/>
            <a:ext cx="857250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By Ahmed Yousry </a:t>
            </a:r>
            <a:r>
              <a:rPr lang="en-US" sz="1125" b="0" i="0" u="none" strike="noStrike" cap="none" dirty="0" err="1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Abdelstar</a:t>
            </a:r>
            <a:r>
              <a:rPr lang="en-US" sz="1125" b="0" i="0" u="none" strike="noStrike" cap="none" dirty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-US" sz="1125" b="0" i="0" u="none" strike="noStrike" cap="none" dirty="0" err="1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Zaalook</a:t>
            </a:r>
            <a:r>
              <a:rPr lang="en-US" sz="1125" b="0" i="0" u="none" strike="noStrike" cap="none" dirty="0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666750" y="6477000"/>
            <a:ext cx="21621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Grand Institute for Practical Application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667875" y="6477000"/>
            <a:ext cx="1857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956345"/>
            <a:ext cx="1466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10375" y="1956345"/>
            <a:ext cx="47148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66750" y="6477000"/>
            <a:ext cx="2609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Fundamentals of Spatial Domain Enhancements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639300" y="647700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2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6750" y="2308770"/>
            <a:ext cx="5572125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1E293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Spatial filtering modifies an image by directly manipulating the intensity of pixels within a local neighborhood.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3017192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Frequencies: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Represent rapid variations in brightness (e.g., crisp details, texture transitions, and sharp edges).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3676203"/>
            <a:ext cx="5238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Frequencies: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Capture gradual variations in light intensity (e.g., broad gradients and background shapes).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9625" y="476250"/>
            <a:ext cx="4328822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Filters in Image Processing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 descr="Understanding Frequency in Images | TheAILearner">
            <a:extLst>
              <a:ext uri="{FF2B5EF4-FFF2-40B4-BE49-F238E27FC236}">
                <a16:creationId xmlns:a16="http://schemas.microsoft.com/office/drawing/2014/main" id="{699E41C7-6F18-4A97-B3D2-ED9945757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2308770"/>
            <a:ext cx="4714875" cy="3096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898326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30090"/>
            <a:ext cx="2780109" cy="275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75459" y="2630090"/>
            <a:ext cx="4841081" cy="275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45140" y="2649140"/>
            <a:ext cx="2780109" cy="2753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13584" y="3858815"/>
            <a:ext cx="4364831" cy="542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666750" y="2148185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filters use a </a:t>
            </a:r>
            <a:r>
              <a:rPr lang="en-US" sz="1200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convolution matrix (kernel)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applied over a neighborhood. The center of the filter corresponds to the target output pixel.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" y="6477000"/>
            <a:ext cx="1466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Mathematical Foundations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39300" y="647700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3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3401615"/>
            <a:ext cx="241905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Filter Kernel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04875" y="3782615"/>
            <a:ext cx="2303859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small coefficient matrix (e.g., 3x3, 5x5) that slides across the pixels to perform neighborhood calculations.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3913584" y="3401615"/>
            <a:ext cx="458307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2D Convolution Equation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913584" y="4477345"/>
            <a:ext cx="4364831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Where  f is the original image, g is the kernel, and </a:t>
            </a:r>
            <a:r>
              <a:rPr lang="en-US" sz="975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 </a:t>
            </a:r>
            <a:r>
              <a:rPr lang="en-US" sz="975" b="0" i="0" u="none" strike="noStrike" cap="none" dirty="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are target coordinates.</a:t>
            </a:r>
            <a:endParaRPr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8983265" y="3401615"/>
            <a:ext cx="241905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Edge Conditions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983265" y="3782615"/>
            <a:ext cx="2303859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processing border pixels, spatial coordinates extend outside the image. Solved via zero-padding, mirroring, or clipping.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4875" y="2915840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13584" y="2915840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046934" y="3954065"/>
            <a:ext cx="4136231" cy="351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83265" y="29158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809625" y="476250"/>
            <a:ext cx="544849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Fundamentals of Spatial Filtering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6 basic things to know about Convolution | by Madhushree Basavarajaiah |  Medium">
            <a:extLst>
              <a:ext uri="{FF2B5EF4-FFF2-40B4-BE49-F238E27FC236}">
                <a16:creationId xmlns:a16="http://schemas.microsoft.com/office/drawing/2014/main" id="{7CF4524A-5BF2-456F-821D-43873B7E4C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176" y="88552"/>
            <a:ext cx="2827449" cy="218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B1EBB773-6E3B-4C47-83B4-4AD5A5D08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574505"/>
            <a:ext cx="8983265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Zero padding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adds a border of black pixels 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value) around the image,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mirroring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reflects the edge pixels outward to create a symmetrical border,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clipping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chops off the boundary pixels entirely so no extra padding is needed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11623"/>
            <a:ext cx="52387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11623"/>
            <a:ext cx="5238750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06898"/>
            <a:ext cx="12382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832746"/>
            <a:ext cx="5133975" cy="822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806898"/>
            <a:ext cx="13620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794646"/>
            <a:ext cx="4752975" cy="822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666750" y="2029717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Though functionally similar, correlation and convolution handle kernel orientation differently, which is mathematically vital.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66750" y="6477000"/>
            <a:ext cx="18669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Mathematical Filtering Differences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629775" y="6477000"/>
            <a:ext cx="1895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4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62025" y="3254573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5803D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Correlation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962025" y="3654623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Correlation moves the filter mask directly over the image and computes the sum of products at each location. It is widely used for template matching and feature finding.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581775" y="3254573"/>
            <a:ext cx="488061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D4ED8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Convolution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581775" y="3654623"/>
            <a:ext cx="4648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Convolution rotates the filter mask by </a:t>
            </a:r>
            <a:r>
              <a:rPr lang="en-US" sz="112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180 degrees</a:t>
            </a: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(both horizontally and vertically) before applying the sum of products. It is commutative and mathematically associative.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09625" y="476250"/>
            <a:ext cx="451884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Correlation vs. Convolution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F675E3-8CCF-444E-812D-E4205F33B14C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8021955" y="289321"/>
            <a:ext cx="3684270" cy="15850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956345"/>
            <a:ext cx="17145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323903"/>
            <a:ext cx="5834062" cy="669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72312" y="1956345"/>
            <a:ext cx="4452937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" y="6477000"/>
            <a:ext cx="1828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Low-Pass Smoothing Operations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639300" y="647700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5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2308770"/>
            <a:ext cx="583406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Linear spatial filters compute output pixels using weighted linear combinations of neighborhood pixel values. They are excellent for low-pass smoothing.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000125" y="2986831"/>
            <a:ext cx="55006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Box / Average Filter: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Simple averaging filter. Replaces target pixel with the mean of its neighbors. Blurs rapid transitions and edges aggressively.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000125" y="3645842"/>
            <a:ext cx="55006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Gaussian Filter: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Uses a 2D Gaussian function to assign weights based on distance, preserving details better than simple box blurs.</a:t>
            </a:r>
            <a:endParaRPr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91692" y="4438203"/>
            <a:ext cx="2022127" cy="440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4375" y="302016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375" y="367918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809625" y="476250"/>
            <a:ext cx="5011876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Linear Filters: Box vs. Gaussian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8E4C0FA-BF9B-4F67-82FB-946108435B1A}"/>
              </a:ext>
            </a:extLst>
          </p:cNvPr>
          <p:cNvPicPr/>
          <p:nvPr/>
        </p:nvPicPr>
        <p:blipFill>
          <a:blip r:embed="rId11"/>
          <a:stretch>
            <a:fillRect/>
          </a:stretch>
        </p:blipFill>
        <p:spPr>
          <a:xfrm>
            <a:off x="6353175" y="2986831"/>
            <a:ext cx="5834062" cy="14513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1187" y="2018555"/>
            <a:ext cx="16287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9"/>
          <p:cNvSpPr txBox="1"/>
          <p:nvPr/>
        </p:nvSpPr>
        <p:spPr>
          <a:xfrm>
            <a:off x="666750" y="6477000"/>
            <a:ext cx="15240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Non-Linear Noise Mitigation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9639300" y="647700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7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5691187" y="2370980"/>
            <a:ext cx="583406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Non-linear spatial filters do not use a weighted sum. They rank order neighborhood pixels to compute output values.</a:t>
            </a:r>
            <a:endParaRPr dirty="0"/>
          </a:p>
        </p:txBody>
      </p:sp>
      <p:sp>
        <p:nvSpPr>
          <p:cNvPr id="222" name="Google Shape;222;p19"/>
          <p:cNvSpPr txBox="1"/>
          <p:nvPr/>
        </p:nvSpPr>
        <p:spPr>
          <a:xfrm>
            <a:off x="6024562" y="3049041"/>
            <a:ext cx="550068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Median Filter: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Replaces target pixel with the median of neighborhood values. Excellent for removing bipolar (salt-and-pepper) noise without blurring edges.</a:t>
            </a:r>
            <a:endParaRPr dirty="0"/>
          </a:p>
        </p:txBody>
      </p:sp>
      <p:sp>
        <p:nvSpPr>
          <p:cNvPr id="223" name="Google Shape;223;p19"/>
          <p:cNvSpPr txBox="1"/>
          <p:nvPr/>
        </p:nvSpPr>
        <p:spPr>
          <a:xfrm>
            <a:off x="6024562" y="3951833"/>
            <a:ext cx="5500687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 &amp; Min Filters: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Max filter replaces pixels with the local maximum (eliminates pepper noise). Min filter replaces with local minimum (eliminates salt noise).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024562" y="4854624"/>
            <a:ext cx="5500687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Midpoint Filter: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Computes the average of maximum and minimum neighborhood values. Ideal for handling uniform or Gaussian noise.</a:t>
            </a:r>
            <a:endParaRPr/>
          </a:p>
        </p:txBody>
      </p:sp>
      <p:pic>
        <p:nvPicPr>
          <p:cNvPr id="225" name="Google Shape;22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38812" y="3082379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38812" y="398517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38812" y="48879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/>
        </p:nvSpPr>
        <p:spPr>
          <a:xfrm>
            <a:off x="809625" y="476250"/>
            <a:ext cx="452884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Non-Linear Order Statistics</a:t>
            </a:r>
            <a:endParaRPr/>
          </a:p>
        </p:txBody>
      </p:sp>
      <p:sp>
        <p:nvSpPr>
          <p:cNvPr id="229" name="Google Shape;229;p19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933B2BB-A378-46A8-9BA3-F49C213027FF}"/>
              </a:ext>
            </a:extLst>
          </p:cNvPr>
          <p:cNvPicPr/>
          <p:nvPr/>
        </p:nvPicPr>
        <p:blipFill>
          <a:blip r:embed="rId9"/>
          <a:stretch>
            <a:fillRect/>
          </a:stretch>
        </p:blipFill>
        <p:spPr>
          <a:xfrm>
            <a:off x="9814" y="2591452"/>
            <a:ext cx="5633748" cy="13937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24162"/>
            <a:ext cx="2543175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38525" y="2824162"/>
            <a:ext cx="2543175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0300" y="2824162"/>
            <a:ext cx="2543175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82075" y="2824162"/>
            <a:ext cx="2543175" cy="2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4875" y="4685258"/>
            <a:ext cx="2066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76650" y="4685258"/>
            <a:ext cx="2066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8425" y="4685258"/>
            <a:ext cx="2066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20200" y="4685258"/>
            <a:ext cx="2066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0"/>
          <p:cNvSpPr txBox="1"/>
          <p:nvPr/>
        </p:nvSpPr>
        <p:spPr>
          <a:xfrm>
            <a:off x="666750" y="2342257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Different noise types demand customized averaging methods. These mathematical variations target specific pixel aberrations.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66750" y="6477000"/>
            <a:ext cx="20288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Specialized Image Restoration Means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9629775" y="6477000"/>
            <a:ext cx="1895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8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904875" y="3595687"/>
            <a:ext cx="21702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Arithmetic Mean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904875" y="3976687"/>
            <a:ext cx="2066925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pixel averaging. Smoothes local noise variations but blurs boundaries.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3676650" y="3595687"/>
            <a:ext cx="21702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Geometric Mean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3676650" y="3976687"/>
            <a:ext cx="2066925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Multiplies neighborhood pixels to the power of 1/mn. Retains image details better than arithmetic.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448425" y="3595687"/>
            <a:ext cx="21702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Harmonic Mean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6448425" y="3976687"/>
            <a:ext cx="20669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Excellent for removing salt noise. Struggles with pepper noise.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9220200" y="3595687"/>
            <a:ext cx="21702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Contra-Harmonic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9220200" y="3976687"/>
            <a:ext cx="2066925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Parameterized by power </a:t>
            </a:r>
            <a:r>
              <a:rPr lang="en-US" sz="975" b="1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</a:t>
            </a: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Removes salt noise (Q &lt; 0) or pepper noise (Q &gt; 0).</a:t>
            </a:r>
            <a:endParaRPr/>
          </a:p>
        </p:txBody>
      </p:sp>
      <p:pic>
        <p:nvPicPr>
          <p:cNvPr id="255" name="Google Shape;255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04875" y="31099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76650" y="310991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220200" y="31099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0"/>
          <p:cNvSpPr txBox="1"/>
          <p:nvPr/>
        </p:nvSpPr>
        <p:spPr>
          <a:xfrm>
            <a:off x="809625" y="476250"/>
            <a:ext cx="5988404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Non-Linear Restoration: Mean Filters</a:t>
            </a:r>
            <a:endParaRPr/>
          </a:p>
        </p:txBody>
      </p:sp>
      <p:sp>
        <p:nvSpPr>
          <p:cNvPr id="259" name="Google Shape;259;p20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850420-269B-40CA-9F32-D890B527CB0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0974" y="5304382"/>
            <a:ext cx="2829326" cy="6419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82D717-BC0D-492D-AA7F-0B7F2A74A8B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375" y="5445643"/>
            <a:ext cx="2400524" cy="4616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99F3A3-3B32-43D8-9E84-F91A6C5CF56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2523" y="5264349"/>
            <a:ext cx="2342073" cy="768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2E1741-6766-4E5D-8AA9-F5860172533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56819" y="5264292"/>
            <a:ext cx="3000794" cy="8097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D71AD7D-3859-4658-B656-9DEA0F3D75F0}"/>
              </a:ext>
            </a:extLst>
          </p:cNvPr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014" y="1008815"/>
            <a:ext cx="7162800" cy="1264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603896"/>
            <a:ext cx="5238750" cy="280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603896"/>
            <a:ext cx="5238750" cy="280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899171"/>
            <a:ext cx="14573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4297263"/>
            <a:ext cx="4648200" cy="67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899171"/>
            <a:ext cx="16478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4297263"/>
            <a:ext cx="4648200" cy="67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1"/>
          <p:cNvSpPr txBox="1"/>
          <p:nvPr/>
        </p:nvSpPr>
        <p:spPr>
          <a:xfrm>
            <a:off x="666750" y="2121991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sharpening highlights boundaries and transitions. This domain operation is achieved through discrete calculus (differentiation).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66750" y="6477000"/>
            <a:ext cx="16192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Calculus of Image Sharpening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9639300" y="6477000"/>
            <a:ext cx="1885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9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962025" y="3346846"/>
            <a:ext cx="48806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Gradient Detection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962025" y="3727846"/>
            <a:ext cx="46482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Calculates differences in adjacent intensity. Produces wider edges and responds strongly to step-like transitions.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6581775" y="3346846"/>
            <a:ext cx="488061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40A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Acceleration Detection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6581775" y="3727846"/>
            <a:ext cx="46482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Calculates rate of change of differences. Yields finer edge lines, responds strongly to details, and crosses zero at transitions.</a:t>
            </a:r>
            <a:endParaRPr/>
          </a:p>
        </p:txBody>
      </p:sp>
      <p:pic>
        <p:nvPicPr>
          <p:cNvPr id="279" name="Google Shape;279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95512" y="4487763"/>
            <a:ext cx="2219325" cy="293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10437" y="4487763"/>
            <a:ext cx="3228975" cy="29393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809625" y="476250"/>
            <a:ext cx="4495718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Enhancement &amp; Derivatives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E042B3-13F3-4B14-895A-3D768B27F446}"/>
              </a:ext>
            </a:extLst>
          </p:cNvPr>
          <p:cNvPicPr/>
          <p:nvPr/>
        </p:nvPicPr>
        <p:blipFill>
          <a:blip r:embed="rId13"/>
          <a:stretch>
            <a:fillRect/>
          </a:stretch>
        </p:blipFill>
        <p:spPr>
          <a:xfrm>
            <a:off x="8582024" y="75796"/>
            <a:ext cx="2870835" cy="2046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10375" y="1301055"/>
            <a:ext cx="4714875" cy="2803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301055"/>
            <a:ext cx="18764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283916"/>
            <a:ext cx="5619750" cy="601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666750" y="6477000"/>
            <a:ext cx="15430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Isotropic Edge Optimization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582150" y="6477000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10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66750" y="1653480"/>
            <a:ext cx="56197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Laplacian is a rotation-independent, second-order derivative operator used for isotropic edge enhancement.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952535" y="1548705"/>
            <a:ext cx="443055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Standard 3x3 Laplacian Matrix</a:t>
            </a:r>
            <a:endParaRPr/>
          </a:p>
        </p:txBody>
      </p:sp>
      <p:sp>
        <p:nvSpPr>
          <p:cNvPr id="296" name="Google Shape;296;p22"/>
          <p:cNvSpPr/>
          <p:nvPr/>
        </p:nvSpPr>
        <p:spPr>
          <a:xfrm>
            <a:off x="8520112" y="1910655"/>
            <a:ext cx="1295400" cy="12954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22"/>
          <p:cNvGraphicFramePr/>
          <p:nvPr/>
        </p:nvGraphicFramePr>
        <p:xfrm>
          <a:off x="8520112" y="1910655"/>
          <a:ext cx="1285875" cy="1295400"/>
        </p:xfrm>
        <a:graphic>
          <a:graphicData uri="http://schemas.openxmlformats.org/drawingml/2006/table">
            <a:tbl>
              <a:tblPr firstRow="1" bandRow="1">
                <a:noFill/>
                <a:tableStyleId>{387D80DA-F0DD-4D67-B2CD-3324F8CB31EC}</a:tableStyleId>
              </a:tblPr>
              <a:tblGrid>
                <a:gridCol w="428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-4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F172A"/>
                          </a:solidFill>
                          <a:latin typeface="JetBrains Mono SemiBold"/>
                          <a:ea typeface="JetBrains Mono SemiBold"/>
                          <a:cs typeface="JetBrains Mono SemiBold"/>
                          <a:sym typeface="JetBrains Mono SemiBold"/>
                        </a:rPr>
                        <a:t>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8" name="Google Shape;298;p22"/>
          <p:cNvSpPr txBox="1"/>
          <p:nvPr/>
        </p:nvSpPr>
        <p:spPr>
          <a:xfrm>
            <a:off x="7058025" y="3396555"/>
            <a:ext cx="421957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Center coefficient has opposite sign of outer coefficients. Reverses local gradients to accentuate edge differences.</a:t>
            </a:r>
            <a:endParaRPr/>
          </a:p>
        </p:txBody>
      </p:sp>
      <p:pic>
        <p:nvPicPr>
          <p:cNvPr id="299" name="Google Shape;299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36762" y="2379166"/>
            <a:ext cx="2117824" cy="4113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1000125" y="3028652"/>
            <a:ext cx="52863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Discrete Form: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Sums the second derivatives in both principal spatial axes.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1000125" y="3687663"/>
            <a:ext cx="5286375" cy="2372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Sharpening Blend: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Sharpens the original image by adding or subtracting the Laplacian:</a:t>
            </a:r>
            <a:endParaRPr/>
          </a:p>
        </p:txBody>
      </p:sp>
      <p:pic>
        <p:nvPicPr>
          <p:cNvPr id="302" name="Google Shape;302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829550" y="158680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4375" y="306198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14375" y="3721000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/>
          <p:nvPr/>
        </p:nvSpPr>
        <p:spPr>
          <a:xfrm>
            <a:off x="809625" y="476250"/>
            <a:ext cx="5768533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Laplacian Sharpening Operator</a:t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BF205-619F-42A0-8B49-C2ECAA4A67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018" y="5041664"/>
            <a:ext cx="5820587" cy="5334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852142"/>
            <a:ext cx="10858500" cy="54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6324600"/>
            <a:ext cx="108585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/>
          <p:nvPr/>
        </p:nvSpPr>
        <p:spPr>
          <a:xfrm>
            <a:off x="666750" y="2274986"/>
            <a:ext cx="108585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Unsharp masking extracts detailed edge masks by subtracting smoothed images, combining them with the original:</a:t>
            </a:r>
            <a:endParaRPr/>
          </a:p>
        </p:txBody>
      </p:sp>
      <p:sp>
        <p:nvSpPr>
          <p:cNvPr id="316" name="Google Shape;316;p23"/>
          <p:cNvSpPr txBox="1"/>
          <p:nvPr/>
        </p:nvSpPr>
        <p:spPr>
          <a:xfrm>
            <a:off x="666750" y="6477000"/>
            <a:ext cx="2190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Image Sharpening Workflows</a:t>
            </a:r>
            <a:endParaRPr/>
          </a:p>
        </p:txBody>
      </p:sp>
      <p:sp>
        <p:nvSpPr>
          <p:cNvPr id="317" name="Google Shape;317;p23"/>
          <p:cNvSpPr txBox="1"/>
          <p:nvPr/>
        </p:nvSpPr>
        <p:spPr>
          <a:xfrm>
            <a:off x="9629775" y="6477000"/>
            <a:ext cx="18954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Slide 11</a:t>
            </a:r>
            <a:endParaRPr/>
          </a:p>
        </p:txBody>
      </p:sp>
      <p:pic>
        <p:nvPicPr>
          <p:cNvPr id="318" name="Google Shape;3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64099" y="2966442"/>
            <a:ext cx="3301751" cy="31358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/>
          <p:nvPr/>
        </p:nvSpPr>
        <p:spPr>
          <a:xfrm>
            <a:off x="1752600" y="4108698"/>
            <a:ext cx="86868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 txBox="1"/>
          <p:nvPr/>
        </p:nvSpPr>
        <p:spPr>
          <a:xfrm>
            <a:off x="666750" y="3870573"/>
            <a:ext cx="23888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</a:t>
            </a:r>
            <a:endParaRPr/>
          </a:p>
        </p:txBody>
      </p:sp>
      <p:sp>
        <p:nvSpPr>
          <p:cNvPr id="321" name="Google Shape;321;p23"/>
          <p:cNvSpPr/>
          <p:nvPr/>
        </p:nvSpPr>
        <p:spPr>
          <a:xfrm>
            <a:off x="1746795" y="41658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 txBox="1"/>
          <p:nvPr/>
        </p:nvSpPr>
        <p:spPr>
          <a:xfrm>
            <a:off x="607028" y="4546848"/>
            <a:ext cx="25082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Smooth Image</a:t>
            </a:r>
            <a:endParaRPr/>
          </a:p>
        </p:txBody>
      </p:sp>
      <p:sp>
        <p:nvSpPr>
          <p:cNvPr id="323" name="Google Shape;323;p23"/>
          <p:cNvSpPr txBox="1"/>
          <p:nvPr/>
        </p:nvSpPr>
        <p:spPr>
          <a:xfrm>
            <a:off x="666750" y="4823073"/>
            <a:ext cx="2388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 a blurred version of the original image.</a:t>
            </a:r>
            <a:endParaRPr/>
          </a:p>
        </p:txBody>
      </p:sp>
      <p:sp>
        <p:nvSpPr>
          <p:cNvPr id="324" name="Google Shape;324;p23"/>
          <p:cNvSpPr txBox="1"/>
          <p:nvPr/>
        </p:nvSpPr>
        <p:spPr>
          <a:xfrm>
            <a:off x="3489870" y="3870573"/>
            <a:ext cx="23888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4569916" y="41658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 txBox="1"/>
          <p:nvPr/>
        </p:nvSpPr>
        <p:spPr>
          <a:xfrm>
            <a:off x="3430149" y="4546848"/>
            <a:ext cx="25082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Compute Mask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3489870" y="4823073"/>
            <a:ext cx="2388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Subtract the blurred version from the original.</a:t>
            </a:r>
            <a:endParaRPr/>
          </a:p>
        </p:txBody>
      </p:sp>
      <p:sp>
        <p:nvSpPr>
          <p:cNvPr id="328" name="Google Shape;328;p23"/>
          <p:cNvSpPr txBox="1"/>
          <p:nvPr/>
        </p:nvSpPr>
        <p:spPr>
          <a:xfrm>
            <a:off x="6312991" y="3870573"/>
            <a:ext cx="23888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</a:t>
            </a:r>
            <a:endParaRPr/>
          </a:p>
        </p:txBody>
      </p:sp>
      <p:sp>
        <p:nvSpPr>
          <p:cNvPr id="329" name="Google Shape;329;p23"/>
          <p:cNvSpPr/>
          <p:nvPr/>
        </p:nvSpPr>
        <p:spPr>
          <a:xfrm>
            <a:off x="7393037" y="41658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 txBox="1"/>
          <p:nvPr/>
        </p:nvSpPr>
        <p:spPr>
          <a:xfrm>
            <a:off x="6253270" y="4546848"/>
            <a:ext cx="25082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Scale Margin</a:t>
            </a:r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6312991" y="4823073"/>
            <a:ext cx="2388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Configure weight to control sharpness intensity.</a:t>
            </a:r>
            <a:endParaRPr/>
          </a:p>
        </p:txBody>
      </p:sp>
      <p:sp>
        <p:nvSpPr>
          <p:cNvPr id="332" name="Google Shape;332;p23"/>
          <p:cNvSpPr txBox="1"/>
          <p:nvPr/>
        </p:nvSpPr>
        <p:spPr>
          <a:xfrm>
            <a:off x="9136112" y="3870573"/>
            <a:ext cx="238884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D948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</a:t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10216157" y="4165848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9076391" y="4546848"/>
            <a:ext cx="250828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766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Final Blend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9136112" y="4823073"/>
            <a:ext cx="238884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the scaled mask back onto the original frame.</a:t>
            </a:r>
            <a:endParaRPr/>
          </a:p>
        </p:txBody>
      </p:sp>
      <p:pic>
        <p:nvPicPr>
          <p:cNvPr id="336" name="Google Shape;33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59761" y="5543550"/>
            <a:ext cx="266551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809625" y="476250"/>
            <a:ext cx="4478997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Unsharp Masking Workflow</a:t>
            </a:r>
            <a:endParaRPr/>
          </a:p>
        </p:txBody>
      </p:sp>
      <p:sp>
        <p:nvSpPr>
          <p:cNvPr id="338" name="Google Shape;338;p23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EBC1EF2-BC54-41F2-84BD-A7E53B89FAA4}"/>
              </a:ext>
            </a:extLst>
          </p:cNvPr>
          <p:cNvPicPr/>
          <p:nvPr/>
        </p:nvPicPr>
        <p:blipFill>
          <a:blip r:embed="rId8"/>
          <a:stretch>
            <a:fillRect/>
          </a:stretch>
        </p:blipFill>
        <p:spPr>
          <a:xfrm>
            <a:off x="6010275" y="93761"/>
            <a:ext cx="59436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/>
          <p:nvPr/>
        </p:nvSpPr>
        <p:spPr>
          <a:xfrm>
            <a:off x="666750" y="2593776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66750" y="3378547"/>
            <a:ext cx="108585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666750" y="3369022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666750" y="3369022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666750" y="4153792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666750" y="4153792"/>
            <a:ext cx="108585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7432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5"/>
          <p:cNvSpPr txBox="1"/>
          <p:nvPr/>
        </p:nvSpPr>
        <p:spPr>
          <a:xfrm>
            <a:off x="1762125" y="2736651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https://www.dynamsoft.com/blog/assets/images/uploads/2019/07/figure-231.png</a:t>
            </a:r>
            <a:endParaRPr/>
          </a:p>
        </p:txBody>
      </p:sp>
      <p:sp>
        <p:nvSpPr>
          <p:cNvPr id="373" name="Google Shape;373;p25"/>
          <p:cNvSpPr txBox="1"/>
          <p:nvPr/>
        </p:nvSpPr>
        <p:spPr>
          <a:xfrm>
            <a:off x="1762125" y="2982366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www.dynamsoft.com</a:t>
            </a:r>
            <a:endParaRPr/>
          </a:p>
        </p:txBody>
      </p:sp>
      <p:pic>
        <p:nvPicPr>
          <p:cNvPr id="374" name="Google Shape;37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35279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5"/>
          <p:cNvSpPr txBox="1"/>
          <p:nvPr/>
        </p:nvSpPr>
        <p:spPr>
          <a:xfrm>
            <a:off x="1762125" y="3521422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https://bartwronski.com/wp-content/uploads/2020/02/shapes-mid-rank.png</a:t>
            </a:r>
            <a:endParaRPr/>
          </a:p>
        </p:txBody>
      </p:sp>
      <p:sp>
        <p:nvSpPr>
          <p:cNvPr id="376" name="Google Shape;376;p25"/>
          <p:cNvSpPr txBox="1"/>
          <p:nvPr/>
        </p:nvSpPr>
        <p:spPr>
          <a:xfrm>
            <a:off x="1762125" y="3767137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bartwronski.com</a:t>
            </a:r>
            <a:endParaRPr/>
          </a:p>
        </p:txBody>
      </p:sp>
      <p:pic>
        <p:nvPicPr>
          <p:cNvPr id="377" name="Google Shape;37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43127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5"/>
          <p:cNvSpPr txBox="1"/>
          <p:nvPr/>
        </p:nvSpPr>
        <p:spPr>
          <a:xfrm>
            <a:off x="1762125" y="4306192"/>
            <a:ext cx="97631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https://media.geeksforgeeks.org/wp-content/uploads/20221119120356/Themechanicsofspatialfilteringusinga33filtermask.png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1762125" y="4551908"/>
            <a:ext cx="97631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www.geeksforgeeks.org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809625" y="476250"/>
            <a:ext cx="2456244" cy="38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81" name="Google Shape;381;p25"/>
          <p:cNvSpPr/>
          <p:nvPr/>
        </p:nvSpPr>
        <p:spPr>
          <a:xfrm>
            <a:off x="666750" y="476250"/>
            <a:ext cx="47625" cy="3885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922</Words>
  <Application>Microsoft Office PowerPoint</Application>
  <PresentationFormat>Widescreen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Google Sans Text</vt:lpstr>
      <vt:lpstr>JetBrains Mono SemiBold</vt:lpstr>
      <vt:lpstr>Plus Jakarta Sans</vt:lpstr>
      <vt:lpstr>Plus Jakarta Sans Medium</vt:lpstr>
      <vt:lpstr>Arial</vt:lpstr>
      <vt:lpstr>Calibri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ahmed.abdelsatar@fci.bu.edu.eg</cp:lastModifiedBy>
  <cp:revision>7</cp:revision>
  <dcterms:modified xsi:type="dcterms:W3CDTF">2026-06-02T10:28:44Z</dcterms:modified>
</cp:coreProperties>
</file>