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21" r:id="rId43"/>
    <p:sldId id="298" r:id="rId44"/>
    <p:sldId id="299" r:id="rId45"/>
    <p:sldId id="300" r:id="rId46"/>
    <p:sldId id="301" r:id="rId47"/>
    <p:sldId id="303" r:id="rId48"/>
    <p:sldId id="304" r:id="rId49"/>
    <p:sldId id="306" r:id="rId50"/>
    <p:sldId id="307" r:id="rId51"/>
    <p:sldId id="322" r:id="rId52"/>
    <p:sldId id="324" r:id="rId53"/>
    <p:sldId id="308" r:id="rId54"/>
    <p:sldId id="310" r:id="rId55"/>
    <p:sldId id="302" r:id="rId56"/>
    <p:sldId id="305" r:id="rId57"/>
    <p:sldId id="311" r:id="rId58"/>
    <p:sldId id="312" r:id="rId59"/>
    <p:sldId id="313" r:id="rId60"/>
    <p:sldId id="314" r:id="rId61"/>
    <p:sldId id="315" r:id="rId62"/>
    <p:sldId id="316" r:id="rId63"/>
    <p:sldId id="318" r:id="rId64"/>
    <p:sldId id="319" r:id="rId65"/>
    <p:sldId id="320" r:id="rId66"/>
    <p:sldId id="323" r:id="rId6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65" autoAdjust="0"/>
  </p:normalViewPr>
  <p:slideViewPr>
    <p:cSldViewPr>
      <p:cViewPr varScale="1">
        <p:scale>
          <a:sx n="85" d="100"/>
          <a:sy n="85" d="100"/>
        </p:scale>
        <p:origin x="56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7E7E7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8586" y="228600"/>
            <a:ext cx="10934700" cy="6345555"/>
          </a:xfrm>
          <a:custGeom>
            <a:avLst/>
            <a:gdLst/>
            <a:ahLst/>
            <a:cxnLst/>
            <a:rect l="l" t="t" r="r" b="b"/>
            <a:pathLst>
              <a:path w="10934700" h="6345555">
                <a:moveTo>
                  <a:pt x="10934700" y="0"/>
                </a:moveTo>
                <a:lnTo>
                  <a:pt x="0" y="0"/>
                </a:lnTo>
                <a:lnTo>
                  <a:pt x="0" y="6345174"/>
                </a:lnTo>
                <a:lnTo>
                  <a:pt x="10934700" y="6345174"/>
                </a:lnTo>
                <a:lnTo>
                  <a:pt x="10934700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8218" y="2329179"/>
            <a:ext cx="6718300" cy="3315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7E7E7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70.png"/><Relationship Id="rId5" Type="http://schemas.openxmlformats.org/officeDocument/2006/relationships/image" Target="../media/image65.png"/><Relationship Id="rId10" Type="http://schemas.openxmlformats.org/officeDocument/2006/relationships/image" Target="../media/image69.png"/><Relationship Id="rId4" Type="http://schemas.openxmlformats.org/officeDocument/2006/relationships/image" Target="../media/image59.png"/><Relationship Id="rId9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tutorial-first-neural-network-python-keras/" TargetMode="External"/><Relationship Id="rId2" Type="http://schemas.openxmlformats.org/officeDocument/2006/relationships/hyperlink" Target="https://keras.io/examples/structured_data/structured_data_classification_from_scratch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6427" y="228600"/>
            <a:ext cx="5648325" cy="4188460"/>
          </a:xfrm>
          <a:custGeom>
            <a:avLst/>
            <a:gdLst/>
            <a:ahLst/>
            <a:cxnLst/>
            <a:rect l="l" t="t" r="r" b="b"/>
            <a:pathLst>
              <a:path w="5648325" h="4188460">
                <a:moveTo>
                  <a:pt x="5647944" y="0"/>
                </a:moveTo>
                <a:lnTo>
                  <a:pt x="0" y="0"/>
                </a:lnTo>
                <a:lnTo>
                  <a:pt x="0" y="4187952"/>
                </a:lnTo>
                <a:lnTo>
                  <a:pt x="5647944" y="4187952"/>
                </a:lnTo>
                <a:lnTo>
                  <a:pt x="564794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70085" y="228600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27C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66103" y="2377439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3973" y="150876"/>
            <a:ext cx="453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6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66103" y="228600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61A2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70085" y="2377439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258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36329" y="4191000"/>
            <a:ext cx="7776845" cy="206851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837565" algn="ctr">
              <a:lnSpc>
                <a:spcPct val="100000"/>
              </a:lnSpc>
              <a:spcBef>
                <a:spcPts val="830"/>
              </a:spcBef>
            </a:pPr>
            <a:r>
              <a:rPr lang="en-US" sz="3200" b="1" spc="120" dirty="0">
                <a:solidFill>
                  <a:srgbClr val="0D5671"/>
                </a:solidFill>
                <a:latin typeface="Cambria"/>
                <a:cs typeface="Cambria"/>
              </a:rPr>
              <a:t>  </a:t>
            </a:r>
            <a:endParaRPr sz="32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3000" b="1" dirty="0">
                <a:solidFill>
                  <a:srgbClr val="64757C"/>
                </a:solidFill>
                <a:latin typeface="Cambria"/>
                <a:cs typeface="Cambria"/>
              </a:rPr>
              <a:t>Artificial</a:t>
            </a:r>
            <a:r>
              <a:rPr sz="3000" b="1" spc="-25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spc="-15" dirty="0">
                <a:solidFill>
                  <a:srgbClr val="64757C"/>
                </a:solidFill>
                <a:latin typeface="Cambria"/>
                <a:cs typeface="Cambria"/>
              </a:rPr>
              <a:t>Neural</a:t>
            </a:r>
            <a:r>
              <a:rPr sz="3000" b="1" spc="-20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spc="-15" dirty="0">
                <a:solidFill>
                  <a:srgbClr val="64757C"/>
                </a:solidFill>
                <a:latin typeface="Cambria"/>
                <a:cs typeface="Cambria"/>
              </a:rPr>
              <a:t>Network</a:t>
            </a:r>
            <a:r>
              <a:rPr sz="3000" b="1" spc="-20" dirty="0">
                <a:solidFill>
                  <a:srgbClr val="64757C"/>
                </a:solidFill>
                <a:latin typeface="Cambria"/>
                <a:cs typeface="Cambria"/>
              </a:rPr>
              <a:t> </a:t>
            </a:r>
            <a:r>
              <a:rPr sz="3000" b="1" i="1" spc="-5" dirty="0">
                <a:solidFill>
                  <a:srgbClr val="1D6194"/>
                </a:solidFill>
                <a:latin typeface="Cambria"/>
                <a:cs typeface="Cambria"/>
              </a:rPr>
              <a:t>(ANN)</a:t>
            </a:r>
            <a:endParaRPr lang="en-US" sz="3000" b="1" i="1" spc="-5" dirty="0">
              <a:solidFill>
                <a:srgbClr val="1D6194"/>
              </a:solidFill>
              <a:latin typeface="Cambria"/>
              <a:cs typeface="Cambria"/>
            </a:endParaRPr>
          </a:p>
          <a:p>
            <a:pPr marL="87630" algn="ctr">
              <a:lnSpc>
                <a:spcPct val="100000"/>
              </a:lnSpc>
              <a:spcBef>
                <a:spcPts val="690"/>
              </a:spcBef>
            </a:pPr>
            <a:r>
              <a:rPr sz="2400" b="1" spc="95" dirty="0">
                <a:solidFill>
                  <a:srgbClr val="1D6194"/>
                </a:solidFill>
                <a:latin typeface="Cambria"/>
                <a:cs typeface="Cambria"/>
              </a:rPr>
              <a:t>Dr.</a:t>
            </a:r>
            <a:r>
              <a:rPr lang="en-US" sz="2400" b="1" spc="95" dirty="0">
                <a:solidFill>
                  <a:srgbClr val="1D6194"/>
                </a:solidFill>
                <a:latin typeface="Cambria"/>
                <a:cs typeface="Cambria"/>
              </a:rPr>
              <a:t> </a:t>
            </a:r>
            <a:r>
              <a:rPr lang="en-US" sz="2400" b="1" spc="204" dirty="0">
                <a:solidFill>
                  <a:srgbClr val="1D6194"/>
                </a:solidFill>
                <a:latin typeface="Cambria"/>
                <a:cs typeface="Cambria"/>
              </a:rPr>
              <a:t>Ahmed Yousry</a:t>
            </a:r>
            <a:endParaRPr lang="ar-EG" sz="2400" b="1" spc="204" dirty="0">
              <a:solidFill>
                <a:srgbClr val="1D6194"/>
              </a:solidFill>
              <a:latin typeface="Cambria"/>
              <a:cs typeface="Cambria"/>
            </a:endParaRPr>
          </a:p>
          <a:p>
            <a:pPr marL="87630" algn="ctr">
              <a:lnSpc>
                <a:spcPct val="100000"/>
              </a:lnSpc>
              <a:spcBef>
                <a:spcPts val="690"/>
              </a:spcBef>
            </a:pPr>
            <a:endParaRPr sz="24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8902" y="6510019"/>
            <a:ext cx="11087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4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30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25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2167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5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Outline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94739"/>
            <a:ext cx="6159500" cy="438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What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ANN?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Components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ANN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How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works?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Functions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Types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ANN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1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Feedforward</a:t>
            </a: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NN</a:t>
            </a:r>
            <a:endParaRPr sz="18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85" dirty="0">
                <a:solidFill>
                  <a:srgbClr val="404040"/>
                </a:solidFill>
                <a:latin typeface="Cambria"/>
                <a:cs typeface="Cambria"/>
              </a:rPr>
              <a:t>Back-Propagation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18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NN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lr>
                <a:srgbClr val="1D6194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Role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of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Back-Propagation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Basics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creating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Deep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NN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93042" y="126237"/>
            <a:ext cx="122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6207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94739"/>
            <a:ext cx="10300970" cy="380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mathematical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maps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given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desired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output.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consist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following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components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3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input</a:t>
            </a:r>
            <a:r>
              <a:rPr sz="20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layer,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x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arbitrary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amount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layers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layer,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ŷ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24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set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weights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biases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between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layer,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-20" dirty="0">
                <a:solidFill>
                  <a:srgbClr val="C00000"/>
                </a:solidFill>
                <a:latin typeface="Cambria"/>
                <a:cs typeface="Cambria"/>
              </a:rPr>
              <a:t>W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30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5" dirty="0">
                <a:solidFill>
                  <a:srgbClr val="C00000"/>
                </a:solidFill>
                <a:latin typeface="Cambria"/>
                <a:cs typeface="Cambria"/>
              </a:rPr>
              <a:t>b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24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choice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hidden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layer,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55" dirty="0">
                <a:solidFill>
                  <a:srgbClr val="C00000"/>
                </a:solidFill>
                <a:latin typeface="Cambria"/>
                <a:cs typeface="Cambria"/>
              </a:rPr>
              <a:t>σ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93042" y="126237"/>
            <a:ext cx="122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9568" y="2481812"/>
            <a:ext cx="2571980" cy="20886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65926" y="64769"/>
            <a:ext cx="5854700" cy="5211445"/>
            <a:chOff x="6265926" y="64769"/>
            <a:chExt cx="5854700" cy="5211445"/>
          </a:xfrm>
        </p:grpSpPr>
        <p:sp>
          <p:nvSpPr>
            <p:cNvPr id="3" name="object 3"/>
            <p:cNvSpPr/>
            <p:nvPr/>
          </p:nvSpPr>
          <p:spPr>
            <a:xfrm>
              <a:off x="11568684" y="64769"/>
              <a:ext cx="551815" cy="1600200"/>
            </a:xfrm>
            <a:custGeom>
              <a:avLst/>
              <a:gdLst/>
              <a:ahLst/>
              <a:cxnLst/>
              <a:rect l="l" t="t" r="r" b="b"/>
              <a:pathLst>
                <a:path w="551815" h="1600200">
                  <a:moveTo>
                    <a:pt x="551687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551687" y="1600200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91900" y="64769"/>
              <a:ext cx="121920" cy="1600200"/>
            </a:xfrm>
            <a:custGeom>
              <a:avLst/>
              <a:gdLst/>
              <a:ahLst/>
              <a:cxnLst/>
              <a:rect l="l" t="t" r="r" b="b"/>
              <a:pathLst>
                <a:path w="121920" h="1600200">
                  <a:moveTo>
                    <a:pt x="121920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121920" y="160020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308A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5926" y="252222"/>
              <a:ext cx="5700522" cy="28544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58833" y="3106546"/>
              <a:ext cx="243204" cy="2169795"/>
            </a:xfrm>
            <a:custGeom>
              <a:avLst/>
              <a:gdLst/>
              <a:ahLst/>
              <a:cxnLst/>
              <a:rect l="l" t="t" r="r" b="b"/>
              <a:pathLst>
                <a:path w="243204" h="2169795">
                  <a:moveTo>
                    <a:pt x="138557" y="2131567"/>
                  </a:moveTo>
                  <a:lnTo>
                    <a:pt x="0" y="2131567"/>
                  </a:lnTo>
                  <a:lnTo>
                    <a:pt x="0" y="2169667"/>
                  </a:lnTo>
                  <a:lnTo>
                    <a:pt x="157607" y="2169667"/>
                  </a:lnTo>
                  <a:lnTo>
                    <a:pt x="165030" y="2168173"/>
                  </a:lnTo>
                  <a:lnTo>
                    <a:pt x="171084" y="2164095"/>
                  </a:lnTo>
                  <a:lnTo>
                    <a:pt x="175162" y="2158041"/>
                  </a:lnTo>
                  <a:lnTo>
                    <a:pt x="176657" y="2150617"/>
                  </a:lnTo>
                  <a:lnTo>
                    <a:pt x="138557" y="2150617"/>
                  </a:lnTo>
                  <a:lnTo>
                    <a:pt x="138557" y="2131567"/>
                  </a:lnTo>
                  <a:close/>
                </a:path>
                <a:path w="243204" h="2169795">
                  <a:moveTo>
                    <a:pt x="157543" y="75692"/>
                  </a:moveTo>
                  <a:lnTo>
                    <a:pt x="138557" y="108240"/>
                  </a:lnTo>
                  <a:lnTo>
                    <a:pt x="138557" y="2150617"/>
                  </a:lnTo>
                  <a:lnTo>
                    <a:pt x="157607" y="2131567"/>
                  </a:lnTo>
                  <a:lnTo>
                    <a:pt x="176657" y="2131567"/>
                  </a:lnTo>
                  <a:lnTo>
                    <a:pt x="176657" y="108458"/>
                  </a:lnTo>
                  <a:lnTo>
                    <a:pt x="157543" y="75692"/>
                  </a:lnTo>
                  <a:close/>
                </a:path>
                <a:path w="243204" h="2169795">
                  <a:moveTo>
                    <a:pt x="176657" y="2131567"/>
                  </a:moveTo>
                  <a:lnTo>
                    <a:pt x="157607" y="2131567"/>
                  </a:lnTo>
                  <a:lnTo>
                    <a:pt x="138557" y="2150617"/>
                  </a:lnTo>
                  <a:lnTo>
                    <a:pt x="176657" y="2150617"/>
                  </a:lnTo>
                  <a:lnTo>
                    <a:pt x="176657" y="2131567"/>
                  </a:lnTo>
                  <a:close/>
                </a:path>
                <a:path w="243204" h="2169795">
                  <a:moveTo>
                    <a:pt x="157607" y="0"/>
                  </a:moveTo>
                  <a:lnTo>
                    <a:pt x="74422" y="142493"/>
                  </a:lnTo>
                  <a:lnTo>
                    <a:pt x="71975" y="149689"/>
                  </a:lnTo>
                  <a:lnTo>
                    <a:pt x="72469" y="157003"/>
                  </a:lnTo>
                  <a:lnTo>
                    <a:pt x="75654" y="163603"/>
                  </a:lnTo>
                  <a:lnTo>
                    <a:pt x="81280" y="168655"/>
                  </a:lnTo>
                  <a:lnTo>
                    <a:pt x="88473" y="171049"/>
                  </a:lnTo>
                  <a:lnTo>
                    <a:pt x="95773" y="170561"/>
                  </a:lnTo>
                  <a:lnTo>
                    <a:pt x="102336" y="167405"/>
                  </a:lnTo>
                  <a:lnTo>
                    <a:pt x="107315" y="161798"/>
                  </a:lnTo>
                  <a:lnTo>
                    <a:pt x="138557" y="108240"/>
                  </a:lnTo>
                  <a:lnTo>
                    <a:pt x="138557" y="37845"/>
                  </a:lnTo>
                  <a:lnTo>
                    <a:pt x="179666" y="37845"/>
                  </a:lnTo>
                  <a:lnTo>
                    <a:pt x="157607" y="0"/>
                  </a:lnTo>
                  <a:close/>
                </a:path>
                <a:path w="243204" h="2169795">
                  <a:moveTo>
                    <a:pt x="179666" y="37845"/>
                  </a:moveTo>
                  <a:lnTo>
                    <a:pt x="176657" y="37845"/>
                  </a:lnTo>
                  <a:lnTo>
                    <a:pt x="176657" y="108458"/>
                  </a:lnTo>
                  <a:lnTo>
                    <a:pt x="207772" y="161798"/>
                  </a:lnTo>
                  <a:lnTo>
                    <a:pt x="212822" y="167405"/>
                  </a:lnTo>
                  <a:lnTo>
                    <a:pt x="219408" y="170561"/>
                  </a:lnTo>
                  <a:lnTo>
                    <a:pt x="226685" y="171049"/>
                  </a:lnTo>
                  <a:lnTo>
                    <a:pt x="233807" y="168655"/>
                  </a:lnTo>
                  <a:lnTo>
                    <a:pt x="239486" y="163603"/>
                  </a:lnTo>
                  <a:lnTo>
                    <a:pt x="242665" y="157003"/>
                  </a:lnTo>
                  <a:lnTo>
                    <a:pt x="243129" y="149689"/>
                  </a:lnTo>
                  <a:lnTo>
                    <a:pt x="240665" y="142493"/>
                  </a:lnTo>
                  <a:lnTo>
                    <a:pt x="179666" y="37845"/>
                  </a:lnTo>
                  <a:close/>
                </a:path>
                <a:path w="243204" h="2169795">
                  <a:moveTo>
                    <a:pt x="176657" y="47498"/>
                  </a:moveTo>
                  <a:lnTo>
                    <a:pt x="173990" y="47498"/>
                  </a:lnTo>
                  <a:lnTo>
                    <a:pt x="157543" y="75692"/>
                  </a:lnTo>
                  <a:lnTo>
                    <a:pt x="176657" y="108458"/>
                  </a:lnTo>
                  <a:lnTo>
                    <a:pt x="176657" y="47498"/>
                  </a:lnTo>
                  <a:close/>
                </a:path>
                <a:path w="243204" h="2169795">
                  <a:moveTo>
                    <a:pt x="176657" y="37845"/>
                  </a:moveTo>
                  <a:lnTo>
                    <a:pt x="138557" y="37845"/>
                  </a:lnTo>
                  <a:lnTo>
                    <a:pt x="138557" y="108240"/>
                  </a:lnTo>
                  <a:lnTo>
                    <a:pt x="157543" y="75692"/>
                  </a:lnTo>
                  <a:lnTo>
                    <a:pt x="141097" y="47498"/>
                  </a:lnTo>
                  <a:lnTo>
                    <a:pt x="176657" y="47498"/>
                  </a:lnTo>
                  <a:lnTo>
                    <a:pt x="176657" y="37845"/>
                  </a:lnTo>
                  <a:close/>
                </a:path>
                <a:path w="243204" h="2169795">
                  <a:moveTo>
                    <a:pt x="173990" y="47498"/>
                  </a:moveTo>
                  <a:lnTo>
                    <a:pt x="141097" y="47498"/>
                  </a:lnTo>
                  <a:lnTo>
                    <a:pt x="157543" y="75692"/>
                  </a:lnTo>
                  <a:lnTo>
                    <a:pt x="173990" y="47498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4276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Neuron?</a:t>
            </a:r>
            <a:endParaRPr sz="36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5552" y="1107186"/>
            <a:ext cx="8594725" cy="5493385"/>
            <a:chOff x="225552" y="1107186"/>
            <a:chExt cx="8594725" cy="549338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8069" y="3926310"/>
              <a:ext cx="5102020" cy="26740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03575" y="4239768"/>
              <a:ext cx="869315" cy="1102995"/>
            </a:xfrm>
            <a:custGeom>
              <a:avLst/>
              <a:gdLst/>
              <a:ahLst/>
              <a:cxnLst/>
              <a:rect l="l" t="t" r="r" b="b"/>
              <a:pathLst>
                <a:path w="869314" h="1102995">
                  <a:moveTo>
                    <a:pt x="793623" y="1017333"/>
                  </a:moveTo>
                  <a:lnTo>
                    <a:pt x="707516" y="1067561"/>
                  </a:lnTo>
                  <a:lnTo>
                    <a:pt x="701837" y="1072540"/>
                  </a:lnTo>
                  <a:lnTo>
                    <a:pt x="698658" y="1079103"/>
                  </a:lnTo>
                  <a:lnTo>
                    <a:pt x="698194" y="1086403"/>
                  </a:lnTo>
                  <a:lnTo>
                    <a:pt x="700659" y="1093596"/>
                  </a:lnTo>
                  <a:lnTo>
                    <a:pt x="705709" y="1099222"/>
                  </a:lnTo>
                  <a:lnTo>
                    <a:pt x="712295" y="1102407"/>
                  </a:lnTo>
                  <a:lnTo>
                    <a:pt x="719572" y="1102901"/>
                  </a:lnTo>
                  <a:lnTo>
                    <a:pt x="726694" y="1100454"/>
                  </a:lnTo>
                  <a:lnTo>
                    <a:pt x="836555" y="1036319"/>
                  </a:lnTo>
                  <a:lnTo>
                    <a:pt x="831469" y="1036319"/>
                  </a:lnTo>
                  <a:lnTo>
                    <a:pt x="831469" y="1033779"/>
                  </a:lnTo>
                  <a:lnTo>
                    <a:pt x="821816" y="1033779"/>
                  </a:lnTo>
                  <a:lnTo>
                    <a:pt x="793623" y="1017333"/>
                  </a:lnTo>
                  <a:close/>
                </a:path>
                <a:path w="869314" h="1102995">
                  <a:moveTo>
                    <a:pt x="38100" y="0"/>
                  </a:moveTo>
                  <a:lnTo>
                    <a:pt x="0" y="0"/>
                  </a:lnTo>
                  <a:lnTo>
                    <a:pt x="12" y="1017333"/>
                  </a:lnTo>
                  <a:lnTo>
                    <a:pt x="1494" y="1024693"/>
                  </a:lnTo>
                  <a:lnTo>
                    <a:pt x="5572" y="1030747"/>
                  </a:lnTo>
                  <a:lnTo>
                    <a:pt x="11626" y="1034825"/>
                  </a:lnTo>
                  <a:lnTo>
                    <a:pt x="19050" y="1036319"/>
                  </a:lnTo>
                  <a:lnTo>
                    <a:pt x="761074" y="1036319"/>
                  </a:lnTo>
                  <a:lnTo>
                    <a:pt x="793623" y="1017333"/>
                  </a:lnTo>
                  <a:lnTo>
                    <a:pt x="38100" y="1017269"/>
                  </a:lnTo>
                  <a:lnTo>
                    <a:pt x="19050" y="998219"/>
                  </a:lnTo>
                  <a:lnTo>
                    <a:pt x="38100" y="998219"/>
                  </a:lnTo>
                  <a:lnTo>
                    <a:pt x="38100" y="0"/>
                  </a:lnTo>
                  <a:close/>
                </a:path>
                <a:path w="869314" h="1102995">
                  <a:moveTo>
                    <a:pt x="836505" y="998219"/>
                  </a:moveTo>
                  <a:lnTo>
                    <a:pt x="831469" y="998219"/>
                  </a:lnTo>
                  <a:lnTo>
                    <a:pt x="831469" y="1036319"/>
                  </a:lnTo>
                  <a:lnTo>
                    <a:pt x="836555" y="1036319"/>
                  </a:lnTo>
                  <a:lnTo>
                    <a:pt x="869188" y="1017269"/>
                  </a:lnTo>
                  <a:lnTo>
                    <a:pt x="836505" y="998219"/>
                  </a:lnTo>
                  <a:close/>
                </a:path>
                <a:path w="869314" h="1102995">
                  <a:moveTo>
                    <a:pt x="821816" y="1000886"/>
                  </a:moveTo>
                  <a:lnTo>
                    <a:pt x="793623" y="1017333"/>
                  </a:lnTo>
                  <a:lnTo>
                    <a:pt x="821816" y="1033779"/>
                  </a:lnTo>
                  <a:lnTo>
                    <a:pt x="821816" y="1000886"/>
                  </a:lnTo>
                  <a:close/>
                </a:path>
                <a:path w="869314" h="1102995">
                  <a:moveTo>
                    <a:pt x="831469" y="1000886"/>
                  </a:moveTo>
                  <a:lnTo>
                    <a:pt x="821816" y="1000886"/>
                  </a:lnTo>
                  <a:lnTo>
                    <a:pt x="821816" y="1033779"/>
                  </a:lnTo>
                  <a:lnTo>
                    <a:pt x="831469" y="1033779"/>
                  </a:lnTo>
                  <a:lnTo>
                    <a:pt x="831469" y="1000886"/>
                  </a:lnTo>
                  <a:close/>
                </a:path>
                <a:path w="869314" h="1102995">
                  <a:moveTo>
                    <a:pt x="719572" y="931747"/>
                  </a:moveTo>
                  <a:lnTo>
                    <a:pt x="712295" y="932211"/>
                  </a:lnTo>
                  <a:lnTo>
                    <a:pt x="705709" y="935390"/>
                  </a:lnTo>
                  <a:lnTo>
                    <a:pt x="700659" y="941069"/>
                  </a:lnTo>
                  <a:lnTo>
                    <a:pt x="698194" y="948191"/>
                  </a:lnTo>
                  <a:lnTo>
                    <a:pt x="698658" y="955468"/>
                  </a:lnTo>
                  <a:lnTo>
                    <a:pt x="701837" y="962054"/>
                  </a:lnTo>
                  <a:lnTo>
                    <a:pt x="707516" y="967104"/>
                  </a:lnTo>
                  <a:lnTo>
                    <a:pt x="793623" y="1017333"/>
                  </a:lnTo>
                  <a:lnTo>
                    <a:pt x="821816" y="1000886"/>
                  </a:lnTo>
                  <a:lnTo>
                    <a:pt x="831469" y="1000886"/>
                  </a:lnTo>
                  <a:lnTo>
                    <a:pt x="831469" y="998219"/>
                  </a:lnTo>
                  <a:lnTo>
                    <a:pt x="836505" y="998219"/>
                  </a:lnTo>
                  <a:lnTo>
                    <a:pt x="726694" y="934211"/>
                  </a:lnTo>
                  <a:lnTo>
                    <a:pt x="719572" y="931747"/>
                  </a:lnTo>
                  <a:close/>
                </a:path>
                <a:path w="869314" h="1102995">
                  <a:moveTo>
                    <a:pt x="38100" y="998219"/>
                  </a:moveTo>
                  <a:lnTo>
                    <a:pt x="19050" y="998219"/>
                  </a:lnTo>
                  <a:lnTo>
                    <a:pt x="38100" y="1017269"/>
                  </a:lnTo>
                  <a:lnTo>
                    <a:pt x="38100" y="998219"/>
                  </a:lnTo>
                  <a:close/>
                </a:path>
                <a:path w="869314" h="1102995">
                  <a:moveTo>
                    <a:pt x="760856" y="998219"/>
                  </a:moveTo>
                  <a:lnTo>
                    <a:pt x="38100" y="998219"/>
                  </a:lnTo>
                  <a:lnTo>
                    <a:pt x="38100" y="1017269"/>
                  </a:lnTo>
                  <a:lnTo>
                    <a:pt x="793514" y="1017269"/>
                  </a:lnTo>
                  <a:lnTo>
                    <a:pt x="760856" y="998219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52" y="1107186"/>
              <a:ext cx="4994910" cy="313258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1893042" y="126237"/>
            <a:ext cx="122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54" y="129552"/>
            <a:ext cx="9044940" cy="10043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8919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12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From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10" dirty="0">
                <a:solidFill>
                  <a:srgbClr val="0D5671"/>
                </a:solidFill>
                <a:latin typeface="Cambria"/>
                <a:cs typeface="Cambria"/>
              </a:rPr>
              <a:t>Biological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0D5671"/>
                </a:solidFill>
                <a:latin typeface="Cambria"/>
                <a:cs typeface="Cambria"/>
              </a:rPr>
              <a:t>to</a:t>
            </a:r>
            <a:r>
              <a:rPr sz="3600" spc="34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Artificial</a:t>
            </a:r>
            <a:r>
              <a:rPr sz="3600" spc="3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Neurons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994" y="1094739"/>
            <a:ext cx="9646285" cy="2565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Behavior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any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particular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depends</a:t>
            </a:r>
            <a:r>
              <a:rPr sz="20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upon: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structure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0D5671"/>
                </a:solidFill>
                <a:latin typeface="Cambria"/>
                <a:cs typeface="Cambria"/>
              </a:rPr>
              <a:t>node</a:t>
            </a:r>
            <a:r>
              <a:rPr sz="2000" b="1" i="1" spc="16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b="1" i="1" spc="7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structure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r>
              <a:rPr sz="2000" b="1" i="1" spc="18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b="1" i="1" spc="55" dirty="0">
                <a:solidFill>
                  <a:srgbClr val="C00000"/>
                </a:solidFill>
                <a:latin typeface="Cambria"/>
                <a:cs typeface="Cambria"/>
              </a:rPr>
              <a:t>architecture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weights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0D5671"/>
                </a:solidFill>
                <a:latin typeface="Cambria"/>
                <a:cs typeface="Cambria"/>
              </a:rPr>
              <a:t>connections</a:t>
            </a:r>
            <a:endParaRPr sz="2000">
              <a:latin typeface="Cambria"/>
              <a:cs typeface="Cambria"/>
            </a:endParaRPr>
          </a:p>
          <a:p>
            <a:pPr marL="1879600">
              <a:lnSpc>
                <a:spcPct val="100000"/>
              </a:lnSpc>
              <a:spcBef>
                <a:spcPts val="2000"/>
              </a:spcBef>
              <a:tabLst>
                <a:tab pos="2300605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....	these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must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learned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mbria"/>
                <a:cs typeface="Cambria"/>
              </a:rPr>
              <a:t>!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833" y="3962398"/>
            <a:ext cx="5270754" cy="277063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0624" y="2421132"/>
            <a:ext cx="4243775" cy="3594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7320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McCulloch-Pitts</a:t>
            </a:r>
            <a:r>
              <a:rPr sz="3600" spc="3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3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D5671"/>
                </a:solidFill>
                <a:latin typeface="Cambria"/>
                <a:cs typeface="Cambria"/>
              </a:rPr>
              <a:t>(1</a:t>
            </a:r>
            <a:r>
              <a:rPr sz="2400" baseline="24305" dirty="0">
                <a:solidFill>
                  <a:srgbClr val="0D5671"/>
                </a:solidFill>
                <a:latin typeface="Cambria"/>
                <a:cs typeface="Cambria"/>
              </a:rPr>
              <a:t>st</a:t>
            </a:r>
            <a:r>
              <a:rPr sz="2400" spc="607" baseline="24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58" y="1801544"/>
            <a:ext cx="10501883" cy="45573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955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McCulloch-Pitts</a:t>
            </a:r>
            <a:r>
              <a:rPr sz="3600" spc="3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3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D5671"/>
                </a:solidFill>
                <a:latin typeface="Cambria"/>
                <a:cs typeface="Cambria"/>
              </a:rPr>
              <a:t>(1</a:t>
            </a:r>
            <a:r>
              <a:rPr sz="2400" baseline="24305" dirty="0">
                <a:solidFill>
                  <a:srgbClr val="0D5671"/>
                </a:solidFill>
                <a:latin typeface="Cambria"/>
                <a:cs typeface="Cambria"/>
              </a:rPr>
              <a:t>st</a:t>
            </a:r>
            <a:r>
              <a:rPr sz="2400" spc="607" baseline="24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87063" y="6432786"/>
            <a:ext cx="3512820" cy="372745"/>
          </a:xfrm>
          <a:custGeom>
            <a:avLst/>
            <a:gdLst/>
            <a:ahLst/>
            <a:cxnLst/>
            <a:rect l="l" t="t" r="r" b="b"/>
            <a:pathLst>
              <a:path w="3512820" h="372745">
                <a:moveTo>
                  <a:pt x="3512819" y="0"/>
                </a:moveTo>
                <a:lnTo>
                  <a:pt x="0" y="0"/>
                </a:lnTo>
                <a:lnTo>
                  <a:pt x="0" y="372618"/>
                </a:lnTo>
                <a:lnTo>
                  <a:pt x="3512819" y="372618"/>
                </a:lnTo>
                <a:lnTo>
                  <a:pt x="3512819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14" y="6039611"/>
            <a:ext cx="11765915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088129" marR="5080" indent="-4075429">
              <a:lnSpc>
                <a:spcPct val="100600"/>
              </a:lnSpc>
              <a:spcBef>
                <a:spcPts val="8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Since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 inputs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from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events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in McCulloch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Pitts Neuron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can only be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Boolean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values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(0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or 1), </a:t>
            </a:r>
            <a:r>
              <a:rPr sz="2400" spc="-5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its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capabilities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were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minimal.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268" y="1032764"/>
            <a:ext cx="100704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95833"/>
              <a:buFont typeface="Wingdings"/>
              <a:buChar char=""/>
              <a:tabLst>
                <a:tab pos="241300" algn="l"/>
              </a:tabLst>
            </a:pPr>
            <a:r>
              <a:rPr sz="2400" spc="2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visual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example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1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3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operations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McCulloch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Pitts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Neuron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shown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Figure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8622" y="2133600"/>
            <a:ext cx="8334756" cy="35150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10422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0" dirty="0">
                <a:solidFill>
                  <a:srgbClr val="0D5671"/>
                </a:solidFill>
                <a:latin typeface="Cambria"/>
                <a:cs typeface="Cambria"/>
              </a:rPr>
              <a:t>Linear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Threshold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Unit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0" dirty="0">
                <a:solidFill>
                  <a:srgbClr val="0D5671"/>
                </a:solidFill>
                <a:latin typeface="Cambria"/>
                <a:cs typeface="Cambria"/>
              </a:rPr>
              <a:t>(LTU)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5" dirty="0">
                <a:solidFill>
                  <a:srgbClr val="0D5671"/>
                </a:solidFill>
                <a:latin typeface="Cambria"/>
                <a:cs typeface="Cambria"/>
              </a:rPr>
              <a:t>(2</a:t>
            </a:r>
            <a:r>
              <a:rPr sz="2775" spc="22" baseline="25525" dirty="0">
                <a:solidFill>
                  <a:srgbClr val="0D5671"/>
                </a:solidFill>
                <a:latin typeface="Cambria"/>
                <a:cs typeface="Cambria"/>
              </a:rPr>
              <a:t>nd</a:t>
            </a:r>
            <a:r>
              <a:rPr sz="2775" spc="262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994" y="1093215"/>
            <a:ext cx="10419715" cy="272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59715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Linear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Threshold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Unit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Cambria"/>
                <a:cs typeface="Cambria"/>
              </a:rPr>
              <a:t>(LTU)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was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introduced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1957</a:t>
            </a:r>
            <a:r>
              <a:rPr sz="24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address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problem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McCulloch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Pitts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Neuron.</a:t>
            </a:r>
            <a:endParaRPr sz="24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LTU,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assigned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event,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these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can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negative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positive.</a:t>
            </a:r>
            <a:endParaRPr sz="2400">
              <a:latin typeface="Cambria"/>
              <a:cs typeface="Cambria"/>
            </a:endParaRPr>
          </a:p>
          <a:p>
            <a:pPr marL="241300" marR="20447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outcome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even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still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given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Boolean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mbria"/>
                <a:cs typeface="Cambria"/>
              </a:rPr>
              <a:t>(0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04040"/>
                </a:solidFill>
                <a:latin typeface="Cambria"/>
                <a:cs typeface="Cambria"/>
              </a:rPr>
              <a:t>1),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but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multiplied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assigned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weight.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364" y="3886200"/>
            <a:ext cx="8348970" cy="28151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10422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20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0" dirty="0">
                <a:solidFill>
                  <a:srgbClr val="0D5671"/>
                </a:solidFill>
                <a:latin typeface="Cambria"/>
                <a:cs typeface="Cambria"/>
              </a:rPr>
              <a:t>Linear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Threshold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Unit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0" dirty="0">
                <a:solidFill>
                  <a:srgbClr val="0D5671"/>
                </a:solidFill>
                <a:latin typeface="Cambria"/>
                <a:cs typeface="Cambria"/>
              </a:rPr>
              <a:t>(LTU)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0D5671"/>
                </a:solidFill>
                <a:latin typeface="Cambria"/>
                <a:cs typeface="Cambria"/>
              </a:rPr>
              <a:t>Neuron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5" dirty="0">
                <a:solidFill>
                  <a:srgbClr val="0D5671"/>
                </a:solidFill>
                <a:latin typeface="Cambria"/>
                <a:cs typeface="Cambria"/>
              </a:rPr>
              <a:t>(2</a:t>
            </a:r>
            <a:r>
              <a:rPr sz="2775" spc="22" baseline="25525" dirty="0">
                <a:solidFill>
                  <a:srgbClr val="0D5671"/>
                </a:solidFill>
                <a:latin typeface="Cambria"/>
                <a:cs typeface="Cambria"/>
              </a:rPr>
              <a:t>nd</a:t>
            </a:r>
            <a:r>
              <a:rPr sz="2775" spc="262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602973" y="361950"/>
            <a:ext cx="122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994" y="1012519"/>
            <a:ext cx="8900795" cy="170751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55" dirty="0">
                <a:solidFill>
                  <a:srgbClr val="404040"/>
                </a:solidFill>
                <a:latin typeface="Cambria"/>
                <a:cs typeface="Cambria"/>
              </a:rPr>
              <a:t>Problem:</a:t>
            </a:r>
            <a:endParaRPr sz="24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5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weight</a:t>
            </a: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45" dirty="0">
                <a:solidFill>
                  <a:srgbClr val="404040"/>
                </a:solidFill>
                <a:latin typeface="Cambria"/>
                <a:cs typeface="Cambria"/>
              </a:rPr>
              <a:t>fixed</a:t>
            </a:r>
            <a:endParaRPr sz="22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5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still</a:t>
            </a:r>
            <a:r>
              <a:rPr sz="22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binary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mbria"/>
                <a:cs typeface="Cambria"/>
              </a:rPr>
              <a:t>(0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mbria"/>
                <a:cs typeface="Cambria"/>
              </a:rPr>
              <a:t>1)</a:t>
            </a:r>
            <a:endParaRPr sz="22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200" spc="65" dirty="0">
                <a:solidFill>
                  <a:srgbClr val="404040"/>
                </a:solidFill>
                <a:latin typeface="Trebuchet MS"/>
                <a:cs typeface="Trebuchet MS"/>
              </a:rPr>
              <a:t>’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2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2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22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5" dirty="0">
                <a:solidFill>
                  <a:srgbClr val="404040"/>
                </a:solidFill>
                <a:latin typeface="Cambria"/>
                <a:cs typeface="Cambria"/>
              </a:rPr>
              <a:t>complex</a:t>
            </a:r>
            <a:r>
              <a:rPr sz="22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pattern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available</a:t>
            </a:r>
            <a:r>
              <a:rPr sz="22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data.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655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2775" spc="-15" baseline="25525" dirty="0">
                <a:solidFill>
                  <a:srgbClr val="0D5671"/>
                </a:solidFill>
                <a:latin typeface="Cambria"/>
                <a:cs typeface="Cambria"/>
              </a:rPr>
              <a:t>rd</a:t>
            </a:r>
            <a:r>
              <a:rPr sz="2775" spc="675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06200" y="361950"/>
            <a:ext cx="2190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050" y="1043432"/>
            <a:ext cx="10921365" cy="50234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284480" indent="-228600">
              <a:lnSpc>
                <a:spcPts val="2590"/>
              </a:lnSpc>
              <a:spcBef>
                <a:spcPts val="4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Perceptron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binary 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classification 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algorithm </a:t>
            </a:r>
            <a:r>
              <a:rPr sz="2400" spc="40" dirty="0">
                <a:solidFill>
                  <a:srgbClr val="404040"/>
                </a:solidFill>
                <a:latin typeface="Cambria"/>
                <a:cs typeface="Cambria"/>
              </a:rPr>
              <a:t>for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supervised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learning and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consists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LTUs.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67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perceptron,</a:t>
            </a:r>
            <a:r>
              <a:rPr sz="2400" spc="-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Cambria"/>
                <a:cs typeface="Cambria"/>
              </a:rPr>
              <a:t>LTUs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use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same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event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404040"/>
                </a:solidFill>
                <a:latin typeface="Cambria"/>
                <a:cs typeface="Cambria"/>
              </a:rPr>
              <a:t>outputs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input.</a:t>
            </a:r>
            <a:endParaRPr sz="2400">
              <a:latin typeface="Cambria"/>
              <a:cs typeface="Cambria"/>
            </a:endParaRPr>
          </a:p>
          <a:p>
            <a:pPr marL="241300" marR="283845" indent="-228600">
              <a:lnSpc>
                <a:spcPts val="2590"/>
              </a:lnSpc>
              <a:spcBef>
                <a:spcPts val="2039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404040"/>
                </a:solidFill>
                <a:latin typeface="Cambria"/>
                <a:cs typeface="Cambria"/>
              </a:rPr>
              <a:t>perceptron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algorithm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adjust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correct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behavior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-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trained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network.</a:t>
            </a:r>
            <a:endParaRPr sz="2400">
              <a:latin typeface="Cambria"/>
              <a:cs typeface="Cambria"/>
            </a:endParaRPr>
          </a:p>
          <a:p>
            <a:pPr marL="241300" marR="5080" indent="-228600">
              <a:lnSpc>
                <a:spcPts val="259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addition,</a:t>
            </a:r>
            <a:r>
              <a:rPr sz="2400" spc="-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bias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term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may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220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FF0000"/>
                </a:solidFill>
                <a:latin typeface="Cambria"/>
                <a:cs typeface="Cambria"/>
              </a:rPr>
              <a:t>added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increase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accuracy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performance </a:t>
            </a:r>
            <a:r>
              <a:rPr sz="2400" spc="-50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network.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ts val="2735"/>
              </a:lnSpc>
              <a:spcBef>
                <a:spcPts val="168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6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helps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classify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given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data;</a:t>
            </a:r>
            <a:r>
              <a:rPr sz="2400" spc="-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404040"/>
                </a:solidFill>
                <a:latin typeface="Cambria"/>
                <a:cs typeface="Cambria"/>
              </a:rPr>
              <a:t>f(x)</a:t>
            </a:r>
            <a:r>
              <a:rPr sz="24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calculated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400">
              <a:latin typeface="Cambria"/>
              <a:cs typeface="Cambria"/>
            </a:endParaRPr>
          </a:p>
          <a:p>
            <a:pPr marL="241300">
              <a:lnSpc>
                <a:spcPts val="2735"/>
              </a:lnSpc>
            </a:pPr>
            <a:r>
              <a:rPr sz="2400" i="1" spc="15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400" spc="1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400" i="1" spc="15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400" spc="1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70" dirty="0">
                <a:solidFill>
                  <a:srgbClr val="404040"/>
                </a:solidFill>
                <a:latin typeface="Cambria"/>
                <a:cs typeface="Cambria"/>
              </a:rPr>
              <a:t>=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404040"/>
                </a:solidFill>
                <a:latin typeface="Cambria Math"/>
                <a:cs typeface="Cambria Math"/>
              </a:rPr>
              <a:t>⟨</a:t>
            </a:r>
            <a:r>
              <a:rPr sz="2400" i="1" spc="75" dirty="0">
                <a:solidFill>
                  <a:srgbClr val="404040"/>
                </a:solidFill>
                <a:latin typeface="Cambria"/>
                <a:cs typeface="Cambria"/>
              </a:rPr>
              <a:t>w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400" spc="-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i="1" spc="70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400" spc="70" dirty="0">
                <a:solidFill>
                  <a:srgbClr val="404040"/>
                </a:solidFill>
                <a:latin typeface="Cambria Math"/>
                <a:cs typeface="Cambria Math"/>
              </a:rPr>
              <a:t>⟩</a:t>
            </a:r>
            <a:r>
              <a:rPr sz="2400" spc="6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270" dirty="0">
                <a:solidFill>
                  <a:srgbClr val="404040"/>
                </a:solidFill>
                <a:latin typeface="Cambria"/>
                <a:cs typeface="Cambria"/>
              </a:rPr>
              <a:t>+</a:t>
            </a: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i="1" spc="225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  <a:p>
            <a:pPr marL="469900" marR="92075" lvl="1" indent="-228600">
              <a:lnSpc>
                <a:spcPts val="2380"/>
              </a:lnSpc>
              <a:spcBef>
                <a:spcPts val="64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where </a:t>
            </a:r>
            <a:r>
              <a:rPr sz="2200" i="1" spc="25" dirty="0">
                <a:solidFill>
                  <a:srgbClr val="404040"/>
                </a:solidFill>
                <a:latin typeface="Cambria"/>
                <a:cs typeface="Cambria"/>
              </a:rPr>
              <a:t>w 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vector </a:t>
            </a:r>
            <a:r>
              <a:rPr sz="2200" spc="3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weights </a:t>
            </a:r>
            <a:r>
              <a:rPr sz="2200" spc="95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200" spc="60" dirty="0">
                <a:solidFill>
                  <a:srgbClr val="404040"/>
                </a:solidFill>
                <a:latin typeface="Cambria Math"/>
                <a:cs typeface="Cambria Math"/>
              </a:rPr>
              <a:t>⟨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·, 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·</a:t>
            </a:r>
            <a:r>
              <a:rPr sz="2200" dirty="0">
                <a:solidFill>
                  <a:srgbClr val="404040"/>
                </a:solidFill>
                <a:latin typeface="Cambria Math"/>
                <a:cs typeface="Cambria Math"/>
              </a:rPr>
              <a:t>⟩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denotes 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dot 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product. </a:t>
            </a:r>
            <a:r>
              <a:rPr sz="2200" spc="80" dirty="0">
                <a:solidFill>
                  <a:srgbClr val="404040"/>
                </a:solidFill>
                <a:latin typeface="Cambria"/>
                <a:cs typeface="Cambria"/>
              </a:rPr>
              <a:t>We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use 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dot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product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computing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weighted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sum.</a:t>
            </a:r>
            <a:r>
              <a:rPr sz="2200" spc="-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sign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i="1" spc="15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200" spc="1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200" i="1" spc="15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200" spc="1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404040"/>
                </a:solidFill>
                <a:latin typeface="Cambria"/>
                <a:cs typeface="Cambria"/>
              </a:rPr>
              <a:t>classify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i="1" spc="130" dirty="0">
                <a:solidFill>
                  <a:srgbClr val="404040"/>
                </a:solidFill>
                <a:latin typeface="Cambria"/>
                <a:cs typeface="Cambria"/>
              </a:rPr>
              <a:t>x </a:t>
            </a:r>
            <a:r>
              <a:rPr sz="2200" i="1" spc="-4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404040"/>
                </a:solidFill>
                <a:latin typeface="Cambria"/>
                <a:cs typeface="Cambria"/>
              </a:rPr>
              <a:t>either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positive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404040"/>
                </a:solidFill>
                <a:latin typeface="Cambria"/>
                <a:cs typeface="Cambria"/>
              </a:rPr>
              <a:t>negative</a:t>
            </a:r>
            <a:r>
              <a:rPr sz="2200" spc="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instance.</a:t>
            </a:r>
            <a:r>
              <a:rPr sz="2200" spc="85" dirty="0">
                <a:solidFill>
                  <a:srgbClr val="DFE2E4"/>
                </a:solidFill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4680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2775" spc="-15" baseline="25525" dirty="0">
                <a:solidFill>
                  <a:srgbClr val="0D5671"/>
                </a:solidFill>
                <a:latin typeface="Cambria"/>
                <a:cs typeface="Cambria"/>
              </a:rPr>
              <a:t>rd</a:t>
            </a:r>
            <a:r>
              <a:rPr sz="2775" spc="675" baseline="255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06200" y="361950"/>
            <a:ext cx="2190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462" y="1082164"/>
            <a:ext cx="8900593" cy="27772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0" y="3957132"/>
            <a:ext cx="4311574" cy="29008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4575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240" dirty="0">
                <a:solidFill>
                  <a:srgbClr val="0D5671"/>
                </a:solidFill>
                <a:latin typeface="Cambria"/>
                <a:cs typeface="Cambria"/>
              </a:rPr>
              <a:t>How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42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works?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72118" y="1572196"/>
            <a:ext cx="3895725" cy="2524125"/>
            <a:chOff x="2472118" y="1572196"/>
            <a:chExt cx="3895725" cy="2524125"/>
          </a:xfrm>
        </p:grpSpPr>
        <p:sp>
          <p:nvSpPr>
            <p:cNvPr id="6" name="object 6"/>
            <p:cNvSpPr/>
            <p:nvPr/>
          </p:nvSpPr>
          <p:spPr>
            <a:xfrm>
              <a:off x="2476880" y="15769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304800" y="0"/>
                  </a:moveTo>
                  <a:lnTo>
                    <a:pt x="259772" y="3718"/>
                  </a:lnTo>
                  <a:lnTo>
                    <a:pt x="216792" y="14519"/>
                  </a:lnTo>
                  <a:lnTo>
                    <a:pt x="176330" y="31873"/>
                  </a:lnTo>
                  <a:lnTo>
                    <a:pt x="138860" y="55248"/>
                  </a:lnTo>
                  <a:lnTo>
                    <a:pt x="104853" y="84114"/>
                  </a:lnTo>
                  <a:lnTo>
                    <a:pt x="74783" y="117941"/>
                  </a:lnTo>
                  <a:lnTo>
                    <a:pt x="49120" y="156196"/>
                  </a:lnTo>
                  <a:lnTo>
                    <a:pt x="28338" y="198351"/>
                  </a:lnTo>
                  <a:lnTo>
                    <a:pt x="12909" y="243873"/>
                  </a:lnTo>
                  <a:lnTo>
                    <a:pt x="3306" y="292233"/>
                  </a:lnTo>
                  <a:lnTo>
                    <a:pt x="0" y="342900"/>
                  </a:lnTo>
                  <a:lnTo>
                    <a:pt x="3306" y="393566"/>
                  </a:lnTo>
                  <a:lnTo>
                    <a:pt x="12909" y="441926"/>
                  </a:lnTo>
                  <a:lnTo>
                    <a:pt x="28338" y="487448"/>
                  </a:lnTo>
                  <a:lnTo>
                    <a:pt x="49120" y="529603"/>
                  </a:lnTo>
                  <a:lnTo>
                    <a:pt x="74783" y="567858"/>
                  </a:lnTo>
                  <a:lnTo>
                    <a:pt x="104853" y="601685"/>
                  </a:lnTo>
                  <a:lnTo>
                    <a:pt x="138860" y="630551"/>
                  </a:lnTo>
                  <a:lnTo>
                    <a:pt x="176330" y="653926"/>
                  </a:lnTo>
                  <a:lnTo>
                    <a:pt x="216792" y="671280"/>
                  </a:lnTo>
                  <a:lnTo>
                    <a:pt x="259772" y="682081"/>
                  </a:lnTo>
                  <a:lnTo>
                    <a:pt x="304800" y="685800"/>
                  </a:lnTo>
                  <a:lnTo>
                    <a:pt x="349827" y="682081"/>
                  </a:lnTo>
                  <a:lnTo>
                    <a:pt x="392807" y="671280"/>
                  </a:lnTo>
                  <a:lnTo>
                    <a:pt x="433269" y="653926"/>
                  </a:lnTo>
                  <a:lnTo>
                    <a:pt x="470739" y="630551"/>
                  </a:lnTo>
                  <a:lnTo>
                    <a:pt x="504746" y="601685"/>
                  </a:lnTo>
                  <a:lnTo>
                    <a:pt x="534816" y="567858"/>
                  </a:lnTo>
                  <a:lnTo>
                    <a:pt x="560479" y="529603"/>
                  </a:lnTo>
                  <a:lnTo>
                    <a:pt x="581261" y="487448"/>
                  </a:lnTo>
                  <a:lnTo>
                    <a:pt x="596690" y="441926"/>
                  </a:lnTo>
                  <a:lnTo>
                    <a:pt x="606293" y="393566"/>
                  </a:lnTo>
                  <a:lnTo>
                    <a:pt x="609600" y="342900"/>
                  </a:lnTo>
                  <a:lnTo>
                    <a:pt x="606293" y="292233"/>
                  </a:lnTo>
                  <a:lnTo>
                    <a:pt x="596690" y="243873"/>
                  </a:lnTo>
                  <a:lnTo>
                    <a:pt x="581261" y="198351"/>
                  </a:lnTo>
                  <a:lnTo>
                    <a:pt x="560479" y="156196"/>
                  </a:lnTo>
                  <a:lnTo>
                    <a:pt x="534816" y="117941"/>
                  </a:lnTo>
                  <a:lnTo>
                    <a:pt x="504746" y="84114"/>
                  </a:lnTo>
                  <a:lnTo>
                    <a:pt x="470739" y="55248"/>
                  </a:lnTo>
                  <a:lnTo>
                    <a:pt x="433269" y="31873"/>
                  </a:lnTo>
                  <a:lnTo>
                    <a:pt x="392807" y="14519"/>
                  </a:lnTo>
                  <a:lnTo>
                    <a:pt x="349827" y="371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76880" y="15769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342900"/>
                  </a:moveTo>
                  <a:lnTo>
                    <a:pt x="3306" y="292233"/>
                  </a:lnTo>
                  <a:lnTo>
                    <a:pt x="12909" y="243873"/>
                  </a:lnTo>
                  <a:lnTo>
                    <a:pt x="28338" y="198351"/>
                  </a:lnTo>
                  <a:lnTo>
                    <a:pt x="49120" y="156196"/>
                  </a:lnTo>
                  <a:lnTo>
                    <a:pt x="74783" y="117941"/>
                  </a:lnTo>
                  <a:lnTo>
                    <a:pt x="104853" y="84114"/>
                  </a:lnTo>
                  <a:lnTo>
                    <a:pt x="138860" y="55248"/>
                  </a:lnTo>
                  <a:lnTo>
                    <a:pt x="176330" y="31873"/>
                  </a:lnTo>
                  <a:lnTo>
                    <a:pt x="216792" y="14519"/>
                  </a:lnTo>
                  <a:lnTo>
                    <a:pt x="259772" y="3718"/>
                  </a:lnTo>
                  <a:lnTo>
                    <a:pt x="304800" y="0"/>
                  </a:lnTo>
                  <a:lnTo>
                    <a:pt x="349827" y="3718"/>
                  </a:lnTo>
                  <a:lnTo>
                    <a:pt x="392807" y="14519"/>
                  </a:lnTo>
                  <a:lnTo>
                    <a:pt x="433269" y="31873"/>
                  </a:lnTo>
                  <a:lnTo>
                    <a:pt x="470739" y="55248"/>
                  </a:lnTo>
                  <a:lnTo>
                    <a:pt x="504746" y="84114"/>
                  </a:lnTo>
                  <a:lnTo>
                    <a:pt x="534816" y="117941"/>
                  </a:lnTo>
                  <a:lnTo>
                    <a:pt x="560479" y="156196"/>
                  </a:lnTo>
                  <a:lnTo>
                    <a:pt x="581261" y="198351"/>
                  </a:lnTo>
                  <a:lnTo>
                    <a:pt x="596690" y="243873"/>
                  </a:lnTo>
                  <a:lnTo>
                    <a:pt x="606293" y="292233"/>
                  </a:lnTo>
                  <a:lnTo>
                    <a:pt x="609600" y="342900"/>
                  </a:lnTo>
                  <a:lnTo>
                    <a:pt x="606293" y="393566"/>
                  </a:lnTo>
                  <a:lnTo>
                    <a:pt x="596690" y="441926"/>
                  </a:lnTo>
                  <a:lnTo>
                    <a:pt x="581261" y="487448"/>
                  </a:lnTo>
                  <a:lnTo>
                    <a:pt x="560479" y="529603"/>
                  </a:lnTo>
                  <a:lnTo>
                    <a:pt x="534816" y="567858"/>
                  </a:lnTo>
                  <a:lnTo>
                    <a:pt x="504746" y="601685"/>
                  </a:lnTo>
                  <a:lnTo>
                    <a:pt x="470739" y="630551"/>
                  </a:lnTo>
                  <a:lnTo>
                    <a:pt x="433269" y="653926"/>
                  </a:lnTo>
                  <a:lnTo>
                    <a:pt x="392807" y="671280"/>
                  </a:lnTo>
                  <a:lnTo>
                    <a:pt x="349827" y="682081"/>
                  </a:lnTo>
                  <a:lnTo>
                    <a:pt x="304800" y="685800"/>
                  </a:lnTo>
                  <a:lnTo>
                    <a:pt x="259772" y="682081"/>
                  </a:lnTo>
                  <a:lnTo>
                    <a:pt x="216792" y="671280"/>
                  </a:lnTo>
                  <a:lnTo>
                    <a:pt x="176330" y="653926"/>
                  </a:lnTo>
                  <a:lnTo>
                    <a:pt x="138860" y="630551"/>
                  </a:lnTo>
                  <a:lnTo>
                    <a:pt x="104853" y="601685"/>
                  </a:lnTo>
                  <a:lnTo>
                    <a:pt x="74783" y="567858"/>
                  </a:lnTo>
                  <a:lnTo>
                    <a:pt x="49120" y="529603"/>
                  </a:lnTo>
                  <a:lnTo>
                    <a:pt x="28338" y="487448"/>
                  </a:lnTo>
                  <a:lnTo>
                    <a:pt x="12909" y="441926"/>
                  </a:lnTo>
                  <a:lnTo>
                    <a:pt x="3306" y="393566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76880" y="34057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304800" y="0"/>
                  </a:moveTo>
                  <a:lnTo>
                    <a:pt x="259772" y="3718"/>
                  </a:lnTo>
                  <a:lnTo>
                    <a:pt x="216792" y="14519"/>
                  </a:lnTo>
                  <a:lnTo>
                    <a:pt x="176330" y="31873"/>
                  </a:lnTo>
                  <a:lnTo>
                    <a:pt x="138860" y="55248"/>
                  </a:lnTo>
                  <a:lnTo>
                    <a:pt x="104853" y="84114"/>
                  </a:lnTo>
                  <a:lnTo>
                    <a:pt x="74783" y="117941"/>
                  </a:lnTo>
                  <a:lnTo>
                    <a:pt x="49120" y="156196"/>
                  </a:lnTo>
                  <a:lnTo>
                    <a:pt x="28338" y="198351"/>
                  </a:lnTo>
                  <a:lnTo>
                    <a:pt x="12909" y="243873"/>
                  </a:lnTo>
                  <a:lnTo>
                    <a:pt x="3306" y="292233"/>
                  </a:lnTo>
                  <a:lnTo>
                    <a:pt x="0" y="342899"/>
                  </a:lnTo>
                  <a:lnTo>
                    <a:pt x="3306" y="393566"/>
                  </a:lnTo>
                  <a:lnTo>
                    <a:pt x="12909" y="441926"/>
                  </a:lnTo>
                  <a:lnTo>
                    <a:pt x="28338" y="487448"/>
                  </a:lnTo>
                  <a:lnTo>
                    <a:pt x="49120" y="529603"/>
                  </a:lnTo>
                  <a:lnTo>
                    <a:pt x="74783" y="567858"/>
                  </a:lnTo>
                  <a:lnTo>
                    <a:pt x="104853" y="601685"/>
                  </a:lnTo>
                  <a:lnTo>
                    <a:pt x="138860" y="630551"/>
                  </a:lnTo>
                  <a:lnTo>
                    <a:pt x="176330" y="653926"/>
                  </a:lnTo>
                  <a:lnTo>
                    <a:pt x="216792" y="671280"/>
                  </a:lnTo>
                  <a:lnTo>
                    <a:pt x="259772" y="682081"/>
                  </a:lnTo>
                  <a:lnTo>
                    <a:pt x="304800" y="685799"/>
                  </a:lnTo>
                  <a:lnTo>
                    <a:pt x="349827" y="682081"/>
                  </a:lnTo>
                  <a:lnTo>
                    <a:pt x="392807" y="671280"/>
                  </a:lnTo>
                  <a:lnTo>
                    <a:pt x="433269" y="653926"/>
                  </a:lnTo>
                  <a:lnTo>
                    <a:pt x="470739" y="630551"/>
                  </a:lnTo>
                  <a:lnTo>
                    <a:pt x="504746" y="601685"/>
                  </a:lnTo>
                  <a:lnTo>
                    <a:pt x="534816" y="567858"/>
                  </a:lnTo>
                  <a:lnTo>
                    <a:pt x="560479" y="529603"/>
                  </a:lnTo>
                  <a:lnTo>
                    <a:pt x="581261" y="487448"/>
                  </a:lnTo>
                  <a:lnTo>
                    <a:pt x="596690" y="441926"/>
                  </a:lnTo>
                  <a:lnTo>
                    <a:pt x="606293" y="393566"/>
                  </a:lnTo>
                  <a:lnTo>
                    <a:pt x="609600" y="342899"/>
                  </a:lnTo>
                  <a:lnTo>
                    <a:pt x="606293" y="292233"/>
                  </a:lnTo>
                  <a:lnTo>
                    <a:pt x="596690" y="243873"/>
                  </a:lnTo>
                  <a:lnTo>
                    <a:pt x="581261" y="198351"/>
                  </a:lnTo>
                  <a:lnTo>
                    <a:pt x="560479" y="156196"/>
                  </a:lnTo>
                  <a:lnTo>
                    <a:pt x="534816" y="117941"/>
                  </a:lnTo>
                  <a:lnTo>
                    <a:pt x="504746" y="84114"/>
                  </a:lnTo>
                  <a:lnTo>
                    <a:pt x="470739" y="55248"/>
                  </a:lnTo>
                  <a:lnTo>
                    <a:pt x="433269" y="31873"/>
                  </a:lnTo>
                  <a:lnTo>
                    <a:pt x="392807" y="14519"/>
                  </a:lnTo>
                  <a:lnTo>
                    <a:pt x="349827" y="371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76880" y="34057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342899"/>
                  </a:moveTo>
                  <a:lnTo>
                    <a:pt x="3306" y="292233"/>
                  </a:lnTo>
                  <a:lnTo>
                    <a:pt x="12909" y="243873"/>
                  </a:lnTo>
                  <a:lnTo>
                    <a:pt x="28338" y="198351"/>
                  </a:lnTo>
                  <a:lnTo>
                    <a:pt x="49120" y="156196"/>
                  </a:lnTo>
                  <a:lnTo>
                    <a:pt x="74783" y="117941"/>
                  </a:lnTo>
                  <a:lnTo>
                    <a:pt x="104853" y="84114"/>
                  </a:lnTo>
                  <a:lnTo>
                    <a:pt x="138860" y="55248"/>
                  </a:lnTo>
                  <a:lnTo>
                    <a:pt x="176330" y="31873"/>
                  </a:lnTo>
                  <a:lnTo>
                    <a:pt x="216792" y="14519"/>
                  </a:lnTo>
                  <a:lnTo>
                    <a:pt x="259772" y="3718"/>
                  </a:lnTo>
                  <a:lnTo>
                    <a:pt x="304800" y="0"/>
                  </a:lnTo>
                  <a:lnTo>
                    <a:pt x="349827" y="3718"/>
                  </a:lnTo>
                  <a:lnTo>
                    <a:pt x="392807" y="14519"/>
                  </a:lnTo>
                  <a:lnTo>
                    <a:pt x="433269" y="31873"/>
                  </a:lnTo>
                  <a:lnTo>
                    <a:pt x="470739" y="55248"/>
                  </a:lnTo>
                  <a:lnTo>
                    <a:pt x="504746" y="84114"/>
                  </a:lnTo>
                  <a:lnTo>
                    <a:pt x="534816" y="117941"/>
                  </a:lnTo>
                  <a:lnTo>
                    <a:pt x="560479" y="156196"/>
                  </a:lnTo>
                  <a:lnTo>
                    <a:pt x="581261" y="198351"/>
                  </a:lnTo>
                  <a:lnTo>
                    <a:pt x="596690" y="243873"/>
                  </a:lnTo>
                  <a:lnTo>
                    <a:pt x="606293" y="292233"/>
                  </a:lnTo>
                  <a:lnTo>
                    <a:pt x="609600" y="342899"/>
                  </a:lnTo>
                  <a:lnTo>
                    <a:pt x="606293" y="393566"/>
                  </a:lnTo>
                  <a:lnTo>
                    <a:pt x="596690" y="441926"/>
                  </a:lnTo>
                  <a:lnTo>
                    <a:pt x="581261" y="487448"/>
                  </a:lnTo>
                  <a:lnTo>
                    <a:pt x="560479" y="529603"/>
                  </a:lnTo>
                  <a:lnTo>
                    <a:pt x="534816" y="567858"/>
                  </a:lnTo>
                  <a:lnTo>
                    <a:pt x="504746" y="601685"/>
                  </a:lnTo>
                  <a:lnTo>
                    <a:pt x="470739" y="630551"/>
                  </a:lnTo>
                  <a:lnTo>
                    <a:pt x="433269" y="653926"/>
                  </a:lnTo>
                  <a:lnTo>
                    <a:pt x="392807" y="671280"/>
                  </a:lnTo>
                  <a:lnTo>
                    <a:pt x="349827" y="682081"/>
                  </a:lnTo>
                  <a:lnTo>
                    <a:pt x="304800" y="685799"/>
                  </a:lnTo>
                  <a:lnTo>
                    <a:pt x="259772" y="682081"/>
                  </a:lnTo>
                  <a:lnTo>
                    <a:pt x="216792" y="671280"/>
                  </a:lnTo>
                  <a:lnTo>
                    <a:pt x="176330" y="653926"/>
                  </a:lnTo>
                  <a:lnTo>
                    <a:pt x="138860" y="630551"/>
                  </a:lnTo>
                  <a:lnTo>
                    <a:pt x="104853" y="601685"/>
                  </a:lnTo>
                  <a:lnTo>
                    <a:pt x="74783" y="567858"/>
                  </a:lnTo>
                  <a:lnTo>
                    <a:pt x="49120" y="529603"/>
                  </a:lnTo>
                  <a:lnTo>
                    <a:pt x="28338" y="487448"/>
                  </a:lnTo>
                  <a:lnTo>
                    <a:pt x="12909" y="441926"/>
                  </a:lnTo>
                  <a:lnTo>
                    <a:pt x="3306" y="393566"/>
                  </a:lnTo>
                  <a:lnTo>
                    <a:pt x="0" y="3428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15280" y="2110358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723900" y="0"/>
                  </a:moveTo>
                  <a:lnTo>
                    <a:pt x="672202" y="1530"/>
                  </a:lnTo>
                  <a:lnTo>
                    <a:pt x="621485" y="6053"/>
                  </a:lnTo>
                  <a:lnTo>
                    <a:pt x="571872" y="13465"/>
                  </a:lnTo>
                  <a:lnTo>
                    <a:pt x="523485" y="23664"/>
                  </a:lnTo>
                  <a:lnTo>
                    <a:pt x="476446" y="36545"/>
                  </a:lnTo>
                  <a:lnTo>
                    <a:pt x="430879" y="52006"/>
                  </a:lnTo>
                  <a:lnTo>
                    <a:pt x="386905" y="69943"/>
                  </a:lnTo>
                  <a:lnTo>
                    <a:pt x="344647" y="90255"/>
                  </a:lnTo>
                  <a:lnTo>
                    <a:pt x="304227" y="112836"/>
                  </a:lnTo>
                  <a:lnTo>
                    <a:pt x="265769" y="137585"/>
                  </a:lnTo>
                  <a:lnTo>
                    <a:pt x="229394" y="164397"/>
                  </a:lnTo>
                  <a:lnTo>
                    <a:pt x="195225" y="193171"/>
                  </a:lnTo>
                  <a:lnTo>
                    <a:pt x="163385" y="223802"/>
                  </a:lnTo>
                  <a:lnTo>
                    <a:pt x="133995" y="256188"/>
                  </a:lnTo>
                  <a:lnTo>
                    <a:pt x="107179" y="290226"/>
                  </a:lnTo>
                  <a:lnTo>
                    <a:pt x="83059" y="325812"/>
                  </a:lnTo>
                  <a:lnTo>
                    <a:pt x="61758" y="362842"/>
                  </a:lnTo>
                  <a:lnTo>
                    <a:pt x="43398" y="401215"/>
                  </a:lnTo>
                  <a:lnTo>
                    <a:pt x="28101" y="440827"/>
                  </a:lnTo>
                  <a:lnTo>
                    <a:pt x="15990" y="481574"/>
                  </a:lnTo>
                  <a:lnTo>
                    <a:pt x="7188" y="523354"/>
                  </a:lnTo>
                  <a:lnTo>
                    <a:pt x="1817" y="566064"/>
                  </a:lnTo>
                  <a:lnTo>
                    <a:pt x="0" y="609600"/>
                  </a:lnTo>
                  <a:lnTo>
                    <a:pt x="1817" y="653135"/>
                  </a:lnTo>
                  <a:lnTo>
                    <a:pt x="7188" y="695845"/>
                  </a:lnTo>
                  <a:lnTo>
                    <a:pt x="15990" y="737625"/>
                  </a:lnTo>
                  <a:lnTo>
                    <a:pt x="28101" y="778372"/>
                  </a:lnTo>
                  <a:lnTo>
                    <a:pt x="43398" y="817984"/>
                  </a:lnTo>
                  <a:lnTo>
                    <a:pt x="61758" y="856357"/>
                  </a:lnTo>
                  <a:lnTo>
                    <a:pt x="83059" y="893387"/>
                  </a:lnTo>
                  <a:lnTo>
                    <a:pt x="107179" y="928973"/>
                  </a:lnTo>
                  <a:lnTo>
                    <a:pt x="133995" y="963011"/>
                  </a:lnTo>
                  <a:lnTo>
                    <a:pt x="163385" y="995397"/>
                  </a:lnTo>
                  <a:lnTo>
                    <a:pt x="195225" y="1026028"/>
                  </a:lnTo>
                  <a:lnTo>
                    <a:pt x="229394" y="1054802"/>
                  </a:lnTo>
                  <a:lnTo>
                    <a:pt x="265769" y="1081614"/>
                  </a:lnTo>
                  <a:lnTo>
                    <a:pt x="304227" y="1106363"/>
                  </a:lnTo>
                  <a:lnTo>
                    <a:pt x="344647" y="1128944"/>
                  </a:lnTo>
                  <a:lnTo>
                    <a:pt x="386905" y="1149256"/>
                  </a:lnTo>
                  <a:lnTo>
                    <a:pt x="430879" y="1167193"/>
                  </a:lnTo>
                  <a:lnTo>
                    <a:pt x="476446" y="1182654"/>
                  </a:lnTo>
                  <a:lnTo>
                    <a:pt x="523485" y="1195535"/>
                  </a:lnTo>
                  <a:lnTo>
                    <a:pt x="571872" y="1205734"/>
                  </a:lnTo>
                  <a:lnTo>
                    <a:pt x="621485" y="1213146"/>
                  </a:lnTo>
                  <a:lnTo>
                    <a:pt x="672202" y="1217669"/>
                  </a:lnTo>
                  <a:lnTo>
                    <a:pt x="723900" y="1219200"/>
                  </a:lnTo>
                  <a:lnTo>
                    <a:pt x="775597" y="1217669"/>
                  </a:lnTo>
                  <a:lnTo>
                    <a:pt x="826314" y="1213146"/>
                  </a:lnTo>
                  <a:lnTo>
                    <a:pt x="875927" y="1205734"/>
                  </a:lnTo>
                  <a:lnTo>
                    <a:pt x="924314" y="1195535"/>
                  </a:lnTo>
                  <a:lnTo>
                    <a:pt x="971353" y="1182654"/>
                  </a:lnTo>
                  <a:lnTo>
                    <a:pt x="1016920" y="1167193"/>
                  </a:lnTo>
                  <a:lnTo>
                    <a:pt x="1060894" y="1149256"/>
                  </a:lnTo>
                  <a:lnTo>
                    <a:pt x="1103152" y="1128944"/>
                  </a:lnTo>
                  <a:lnTo>
                    <a:pt x="1143572" y="1106363"/>
                  </a:lnTo>
                  <a:lnTo>
                    <a:pt x="1182030" y="1081614"/>
                  </a:lnTo>
                  <a:lnTo>
                    <a:pt x="1218405" y="1054802"/>
                  </a:lnTo>
                  <a:lnTo>
                    <a:pt x="1252574" y="1026028"/>
                  </a:lnTo>
                  <a:lnTo>
                    <a:pt x="1284414" y="995397"/>
                  </a:lnTo>
                  <a:lnTo>
                    <a:pt x="1313804" y="963011"/>
                  </a:lnTo>
                  <a:lnTo>
                    <a:pt x="1340620" y="928973"/>
                  </a:lnTo>
                  <a:lnTo>
                    <a:pt x="1364740" y="893387"/>
                  </a:lnTo>
                  <a:lnTo>
                    <a:pt x="1386041" y="856357"/>
                  </a:lnTo>
                  <a:lnTo>
                    <a:pt x="1404401" y="817984"/>
                  </a:lnTo>
                  <a:lnTo>
                    <a:pt x="1419698" y="778372"/>
                  </a:lnTo>
                  <a:lnTo>
                    <a:pt x="1431809" y="737625"/>
                  </a:lnTo>
                  <a:lnTo>
                    <a:pt x="1440611" y="695845"/>
                  </a:lnTo>
                  <a:lnTo>
                    <a:pt x="1445982" y="653135"/>
                  </a:lnTo>
                  <a:lnTo>
                    <a:pt x="1447800" y="609600"/>
                  </a:lnTo>
                  <a:lnTo>
                    <a:pt x="1445982" y="566064"/>
                  </a:lnTo>
                  <a:lnTo>
                    <a:pt x="1440611" y="523354"/>
                  </a:lnTo>
                  <a:lnTo>
                    <a:pt x="1431809" y="481574"/>
                  </a:lnTo>
                  <a:lnTo>
                    <a:pt x="1419698" y="440827"/>
                  </a:lnTo>
                  <a:lnTo>
                    <a:pt x="1404401" y="401215"/>
                  </a:lnTo>
                  <a:lnTo>
                    <a:pt x="1386041" y="362842"/>
                  </a:lnTo>
                  <a:lnTo>
                    <a:pt x="1364740" y="325812"/>
                  </a:lnTo>
                  <a:lnTo>
                    <a:pt x="1340620" y="290226"/>
                  </a:lnTo>
                  <a:lnTo>
                    <a:pt x="1313804" y="256188"/>
                  </a:lnTo>
                  <a:lnTo>
                    <a:pt x="1284414" y="223802"/>
                  </a:lnTo>
                  <a:lnTo>
                    <a:pt x="1252574" y="193171"/>
                  </a:lnTo>
                  <a:lnTo>
                    <a:pt x="1218405" y="164397"/>
                  </a:lnTo>
                  <a:lnTo>
                    <a:pt x="1182030" y="137585"/>
                  </a:lnTo>
                  <a:lnTo>
                    <a:pt x="1143572" y="112836"/>
                  </a:lnTo>
                  <a:lnTo>
                    <a:pt x="1103152" y="90255"/>
                  </a:lnTo>
                  <a:lnTo>
                    <a:pt x="1060894" y="69943"/>
                  </a:lnTo>
                  <a:lnTo>
                    <a:pt x="1016920" y="52006"/>
                  </a:lnTo>
                  <a:lnTo>
                    <a:pt x="971353" y="36545"/>
                  </a:lnTo>
                  <a:lnTo>
                    <a:pt x="924314" y="23664"/>
                  </a:lnTo>
                  <a:lnTo>
                    <a:pt x="875927" y="13465"/>
                  </a:lnTo>
                  <a:lnTo>
                    <a:pt x="826314" y="6053"/>
                  </a:lnTo>
                  <a:lnTo>
                    <a:pt x="775597" y="1530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15280" y="2110358"/>
              <a:ext cx="1447800" cy="1219200"/>
            </a:xfrm>
            <a:custGeom>
              <a:avLst/>
              <a:gdLst/>
              <a:ahLst/>
              <a:cxnLst/>
              <a:rect l="l" t="t" r="r" b="b"/>
              <a:pathLst>
                <a:path w="1447800" h="1219200">
                  <a:moveTo>
                    <a:pt x="0" y="609600"/>
                  </a:moveTo>
                  <a:lnTo>
                    <a:pt x="1817" y="566064"/>
                  </a:lnTo>
                  <a:lnTo>
                    <a:pt x="7188" y="523354"/>
                  </a:lnTo>
                  <a:lnTo>
                    <a:pt x="15990" y="481574"/>
                  </a:lnTo>
                  <a:lnTo>
                    <a:pt x="28101" y="440827"/>
                  </a:lnTo>
                  <a:lnTo>
                    <a:pt x="43398" y="401215"/>
                  </a:lnTo>
                  <a:lnTo>
                    <a:pt x="61758" y="362842"/>
                  </a:lnTo>
                  <a:lnTo>
                    <a:pt x="83059" y="325812"/>
                  </a:lnTo>
                  <a:lnTo>
                    <a:pt x="107179" y="290226"/>
                  </a:lnTo>
                  <a:lnTo>
                    <a:pt x="133995" y="256188"/>
                  </a:lnTo>
                  <a:lnTo>
                    <a:pt x="163385" y="223802"/>
                  </a:lnTo>
                  <a:lnTo>
                    <a:pt x="195225" y="193171"/>
                  </a:lnTo>
                  <a:lnTo>
                    <a:pt x="229394" y="164397"/>
                  </a:lnTo>
                  <a:lnTo>
                    <a:pt x="265769" y="137585"/>
                  </a:lnTo>
                  <a:lnTo>
                    <a:pt x="304227" y="112836"/>
                  </a:lnTo>
                  <a:lnTo>
                    <a:pt x="344647" y="90255"/>
                  </a:lnTo>
                  <a:lnTo>
                    <a:pt x="386905" y="69943"/>
                  </a:lnTo>
                  <a:lnTo>
                    <a:pt x="430879" y="52006"/>
                  </a:lnTo>
                  <a:lnTo>
                    <a:pt x="476446" y="36545"/>
                  </a:lnTo>
                  <a:lnTo>
                    <a:pt x="523485" y="23664"/>
                  </a:lnTo>
                  <a:lnTo>
                    <a:pt x="571872" y="13465"/>
                  </a:lnTo>
                  <a:lnTo>
                    <a:pt x="621485" y="6053"/>
                  </a:lnTo>
                  <a:lnTo>
                    <a:pt x="672202" y="1530"/>
                  </a:lnTo>
                  <a:lnTo>
                    <a:pt x="723900" y="0"/>
                  </a:lnTo>
                  <a:lnTo>
                    <a:pt x="775597" y="1530"/>
                  </a:lnTo>
                  <a:lnTo>
                    <a:pt x="826314" y="6053"/>
                  </a:lnTo>
                  <a:lnTo>
                    <a:pt x="875927" y="13465"/>
                  </a:lnTo>
                  <a:lnTo>
                    <a:pt x="924314" y="23664"/>
                  </a:lnTo>
                  <a:lnTo>
                    <a:pt x="971353" y="36545"/>
                  </a:lnTo>
                  <a:lnTo>
                    <a:pt x="1016920" y="52006"/>
                  </a:lnTo>
                  <a:lnTo>
                    <a:pt x="1060894" y="69943"/>
                  </a:lnTo>
                  <a:lnTo>
                    <a:pt x="1103152" y="90255"/>
                  </a:lnTo>
                  <a:lnTo>
                    <a:pt x="1143572" y="112836"/>
                  </a:lnTo>
                  <a:lnTo>
                    <a:pt x="1182030" y="137585"/>
                  </a:lnTo>
                  <a:lnTo>
                    <a:pt x="1218405" y="164397"/>
                  </a:lnTo>
                  <a:lnTo>
                    <a:pt x="1252574" y="193171"/>
                  </a:lnTo>
                  <a:lnTo>
                    <a:pt x="1284414" y="223802"/>
                  </a:lnTo>
                  <a:lnTo>
                    <a:pt x="1313804" y="256188"/>
                  </a:lnTo>
                  <a:lnTo>
                    <a:pt x="1340620" y="290226"/>
                  </a:lnTo>
                  <a:lnTo>
                    <a:pt x="1364740" y="325812"/>
                  </a:lnTo>
                  <a:lnTo>
                    <a:pt x="1386041" y="362842"/>
                  </a:lnTo>
                  <a:lnTo>
                    <a:pt x="1404401" y="401215"/>
                  </a:lnTo>
                  <a:lnTo>
                    <a:pt x="1419698" y="440827"/>
                  </a:lnTo>
                  <a:lnTo>
                    <a:pt x="1431809" y="481574"/>
                  </a:lnTo>
                  <a:lnTo>
                    <a:pt x="1440611" y="523354"/>
                  </a:lnTo>
                  <a:lnTo>
                    <a:pt x="1445982" y="566064"/>
                  </a:lnTo>
                  <a:lnTo>
                    <a:pt x="1447800" y="609600"/>
                  </a:lnTo>
                  <a:lnTo>
                    <a:pt x="1445982" y="653135"/>
                  </a:lnTo>
                  <a:lnTo>
                    <a:pt x="1440611" y="695845"/>
                  </a:lnTo>
                  <a:lnTo>
                    <a:pt x="1431809" y="737625"/>
                  </a:lnTo>
                  <a:lnTo>
                    <a:pt x="1419698" y="778372"/>
                  </a:lnTo>
                  <a:lnTo>
                    <a:pt x="1404401" y="817984"/>
                  </a:lnTo>
                  <a:lnTo>
                    <a:pt x="1386041" y="856357"/>
                  </a:lnTo>
                  <a:lnTo>
                    <a:pt x="1364740" y="893387"/>
                  </a:lnTo>
                  <a:lnTo>
                    <a:pt x="1340620" y="928973"/>
                  </a:lnTo>
                  <a:lnTo>
                    <a:pt x="1313804" y="963011"/>
                  </a:lnTo>
                  <a:lnTo>
                    <a:pt x="1284414" y="995397"/>
                  </a:lnTo>
                  <a:lnTo>
                    <a:pt x="1252574" y="1026028"/>
                  </a:lnTo>
                  <a:lnTo>
                    <a:pt x="1218405" y="1054802"/>
                  </a:lnTo>
                  <a:lnTo>
                    <a:pt x="1182030" y="1081614"/>
                  </a:lnTo>
                  <a:lnTo>
                    <a:pt x="1143572" y="1106363"/>
                  </a:lnTo>
                  <a:lnTo>
                    <a:pt x="1103152" y="1128944"/>
                  </a:lnTo>
                  <a:lnTo>
                    <a:pt x="1060894" y="1149256"/>
                  </a:lnTo>
                  <a:lnTo>
                    <a:pt x="1016920" y="1167193"/>
                  </a:lnTo>
                  <a:lnTo>
                    <a:pt x="971353" y="1182654"/>
                  </a:lnTo>
                  <a:lnTo>
                    <a:pt x="924314" y="1195535"/>
                  </a:lnTo>
                  <a:lnTo>
                    <a:pt x="875927" y="1205734"/>
                  </a:lnTo>
                  <a:lnTo>
                    <a:pt x="826314" y="1213146"/>
                  </a:lnTo>
                  <a:lnTo>
                    <a:pt x="775597" y="1217669"/>
                  </a:lnTo>
                  <a:lnTo>
                    <a:pt x="723900" y="1219200"/>
                  </a:lnTo>
                  <a:lnTo>
                    <a:pt x="672202" y="1217669"/>
                  </a:lnTo>
                  <a:lnTo>
                    <a:pt x="621485" y="1213146"/>
                  </a:lnTo>
                  <a:lnTo>
                    <a:pt x="571872" y="1205734"/>
                  </a:lnTo>
                  <a:lnTo>
                    <a:pt x="523485" y="1195535"/>
                  </a:lnTo>
                  <a:lnTo>
                    <a:pt x="476446" y="1182654"/>
                  </a:lnTo>
                  <a:lnTo>
                    <a:pt x="430879" y="1167193"/>
                  </a:lnTo>
                  <a:lnTo>
                    <a:pt x="386905" y="1149256"/>
                  </a:lnTo>
                  <a:lnTo>
                    <a:pt x="344647" y="1128944"/>
                  </a:lnTo>
                  <a:lnTo>
                    <a:pt x="304227" y="1106363"/>
                  </a:lnTo>
                  <a:lnTo>
                    <a:pt x="265769" y="1081614"/>
                  </a:lnTo>
                  <a:lnTo>
                    <a:pt x="229394" y="1054802"/>
                  </a:lnTo>
                  <a:lnTo>
                    <a:pt x="195225" y="1026028"/>
                  </a:lnTo>
                  <a:lnTo>
                    <a:pt x="163385" y="995397"/>
                  </a:lnTo>
                  <a:lnTo>
                    <a:pt x="133995" y="963011"/>
                  </a:lnTo>
                  <a:lnTo>
                    <a:pt x="107179" y="928973"/>
                  </a:lnTo>
                  <a:lnTo>
                    <a:pt x="83059" y="893387"/>
                  </a:lnTo>
                  <a:lnTo>
                    <a:pt x="61758" y="856357"/>
                  </a:lnTo>
                  <a:lnTo>
                    <a:pt x="43398" y="817984"/>
                  </a:lnTo>
                  <a:lnTo>
                    <a:pt x="28101" y="778372"/>
                  </a:lnTo>
                  <a:lnTo>
                    <a:pt x="15990" y="737625"/>
                  </a:lnTo>
                  <a:lnTo>
                    <a:pt x="7188" y="695845"/>
                  </a:lnTo>
                  <a:lnTo>
                    <a:pt x="1817" y="653135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472118" y="2486596"/>
            <a:ext cx="619125" cy="695325"/>
            <a:chOff x="2472118" y="2486596"/>
            <a:chExt cx="619125" cy="695325"/>
          </a:xfrm>
        </p:grpSpPr>
        <p:sp>
          <p:nvSpPr>
            <p:cNvPr id="13" name="object 13"/>
            <p:cNvSpPr/>
            <p:nvPr/>
          </p:nvSpPr>
          <p:spPr>
            <a:xfrm>
              <a:off x="2476880" y="24913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304800" y="0"/>
                  </a:moveTo>
                  <a:lnTo>
                    <a:pt x="259772" y="3718"/>
                  </a:lnTo>
                  <a:lnTo>
                    <a:pt x="216792" y="14519"/>
                  </a:lnTo>
                  <a:lnTo>
                    <a:pt x="176330" y="31873"/>
                  </a:lnTo>
                  <a:lnTo>
                    <a:pt x="138860" y="55248"/>
                  </a:lnTo>
                  <a:lnTo>
                    <a:pt x="104853" y="84114"/>
                  </a:lnTo>
                  <a:lnTo>
                    <a:pt x="74783" y="117941"/>
                  </a:lnTo>
                  <a:lnTo>
                    <a:pt x="49120" y="156196"/>
                  </a:lnTo>
                  <a:lnTo>
                    <a:pt x="28338" y="198351"/>
                  </a:lnTo>
                  <a:lnTo>
                    <a:pt x="12909" y="243873"/>
                  </a:lnTo>
                  <a:lnTo>
                    <a:pt x="3306" y="292233"/>
                  </a:lnTo>
                  <a:lnTo>
                    <a:pt x="0" y="342900"/>
                  </a:lnTo>
                  <a:lnTo>
                    <a:pt x="3306" y="393566"/>
                  </a:lnTo>
                  <a:lnTo>
                    <a:pt x="12909" y="441926"/>
                  </a:lnTo>
                  <a:lnTo>
                    <a:pt x="28338" y="487448"/>
                  </a:lnTo>
                  <a:lnTo>
                    <a:pt x="49120" y="529603"/>
                  </a:lnTo>
                  <a:lnTo>
                    <a:pt x="74783" y="567858"/>
                  </a:lnTo>
                  <a:lnTo>
                    <a:pt x="104853" y="601685"/>
                  </a:lnTo>
                  <a:lnTo>
                    <a:pt x="138860" y="630551"/>
                  </a:lnTo>
                  <a:lnTo>
                    <a:pt x="176330" y="653926"/>
                  </a:lnTo>
                  <a:lnTo>
                    <a:pt x="216792" y="671280"/>
                  </a:lnTo>
                  <a:lnTo>
                    <a:pt x="259772" y="682081"/>
                  </a:lnTo>
                  <a:lnTo>
                    <a:pt x="304800" y="685800"/>
                  </a:lnTo>
                  <a:lnTo>
                    <a:pt x="349827" y="682081"/>
                  </a:lnTo>
                  <a:lnTo>
                    <a:pt x="392807" y="671280"/>
                  </a:lnTo>
                  <a:lnTo>
                    <a:pt x="433269" y="653926"/>
                  </a:lnTo>
                  <a:lnTo>
                    <a:pt x="470739" y="630551"/>
                  </a:lnTo>
                  <a:lnTo>
                    <a:pt x="504746" y="601685"/>
                  </a:lnTo>
                  <a:lnTo>
                    <a:pt x="534816" y="567858"/>
                  </a:lnTo>
                  <a:lnTo>
                    <a:pt x="560479" y="529603"/>
                  </a:lnTo>
                  <a:lnTo>
                    <a:pt x="581261" y="487448"/>
                  </a:lnTo>
                  <a:lnTo>
                    <a:pt x="596690" y="441926"/>
                  </a:lnTo>
                  <a:lnTo>
                    <a:pt x="606293" y="393566"/>
                  </a:lnTo>
                  <a:lnTo>
                    <a:pt x="609600" y="342900"/>
                  </a:lnTo>
                  <a:lnTo>
                    <a:pt x="606293" y="292233"/>
                  </a:lnTo>
                  <a:lnTo>
                    <a:pt x="596690" y="243873"/>
                  </a:lnTo>
                  <a:lnTo>
                    <a:pt x="581261" y="198351"/>
                  </a:lnTo>
                  <a:lnTo>
                    <a:pt x="560479" y="156196"/>
                  </a:lnTo>
                  <a:lnTo>
                    <a:pt x="534816" y="117941"/>
                  </a:lnTo>
                  <a:lnTo>
                    <a:pt x="504746" y="84114"/>
                  </a:lnTo>
                  <a:lnTo>
                    <a:pt x="470739" y="55248"/>
                  </a:lnTo>
                  <a:lnTo>
                    <a:pt x="433269" y="31873"/>
                  </a:lnTo>
                  <a:lnTo>
                    <a:pt x="392807" y="14519"/>
                  </a:lnTo>
                  <a:lnTo>
                    <a:pt x="349827" y="371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76880" y="2491358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342900"/>
                  </a:moveTo>
                  <a:lnTo>
                    <a:pt x="3306" y="292233"/>
                  </a:lnTo>
                  <a:lnTo>
                    <a:pt x="12909" y="243873"/>
                  </a:lnTo>
                  <a:lnTo>
                    <a:pt x="28338" y="198351"/>
                  </a:lnTo>
                  <a:lnTo>
                    <a:pt x="49120" y="156196"/>
                  </a:lnTo>
                  <a:lnTo>
                    <a:pt x="74783" y="117941"/>
                  </a:lnTo>
                  <a:lnTo>
                    <a:pt x="104853" y="84114"/>
                  </a:lnTo>
                  <a:lnTo>
                    <a:pt x="138860" y="55248"/>
                  </a:lnTo>
                  <a:lnTo>
                    <a:pt x="176330" y="31873"/>
                  </a:lnTo>
                  <a:lnTo>
                    <a:pt x="216792" y="14519"/>
                  </a:lnTo>
                  <a:lnTo>
                    <a:pt x="259772" y="3718"/>
                  </a:lnTo>
                  <a:lnTo>
                    <a:pt x="304800" y="0"/>
                  </a:lnTo>
                  <a:lnTo>
                    <a:pt x="349827" y="3718"/>
                  </a:lnTo>
                  <a:lnTo>
                    <a:pt x="392807" y="14519"/>
                  </a:lnTo>
                  <a:lnTo>
                    <a:pt x="433269" y="31873"/>
                  </a:lnTo>
                  <a:lnTo>
                    <a:pt x="470739" y="55248"/>
                  </a:lnTo>
                  <a:lnTo>
                    <a:pt x="504746" y="84114"/>
                  </a:lnTo>
                  <a:lnTo>
                    <a:pt x="534816" y="117941"/>
                  </a:lnTo>
                  <a:lnTo>
                    <a:pt x="560479" y="156196"/>
                  </a:lnTo>
                  <a:lnTo>
                    <a:pt x="581261" y="198351"/>
                  </a:lnTo>
                  <a:lnTo>
                    <a:pt x="596690" y="243873"/>
                  </a:lnTo>
                  <a:lnTo>
                    <a:pt x="606293" y="292233"/>
                  </a:lnTo>
                  <a:lnTo>
                    <a:pt x="609600" y="342900"/>
                  </a:lnTo>
                  <a:lnTo>
                    <a:pt x="606293" y="393566"/>
                  </a:lnTo>
                  <a:lnTo>
                    <a:pt x="596690" y="441926"/>
                  </a:lnTo>
                  <a:lnTo>
                    <a:pt x="581261" y="487448"/>
                  </a:lnTo>
                  <a:lnTo>
                    <a:pt x="560479" y="529603"/>
                  </a:lnTo>
                  <a:lnTo>
                    <a:pt x="534816" y="567858"/>
                  </a:lnTo>
                  <a:lnTo>
                    <a:pt x="504746" y="601685"/>
                  </a:lnTo>
                  <a:lnTo>
                    <a:pt x="470739" y="630551"/>
                  </a:lnTo>
                  <a:lnTo>
                    <a:pt x="433269" y="653926"/>
                  </a:lnTo>
                  <a:lnTo>
                    <a:pt x="392807" y="671280"/>
                  </a:lnTo>
                  <a:lnTo>
                    <a:pt x="349827" y="682081"/>
                  </a:lnTo>
                  <a:lnTo>
                    <a:pt x="304800" y="685800"/>
                  </a:lnTo>
                  <a:lnTo>
                    <a:pt x="259772" y="682081"/>
                  </a:lnTo>
                  <a:lnTo>
                    <a:pt x="216792" y="671280"/>
                  </a:lnTo>
                  <a:lnTo>
                    <a:pt x="176330" y="653926"/>
                  </a:lnTo>
                  <a:lnTo>
                    <a:pt x="138860" y="630551"/>
                  </a:lnTo>
                  <a:lnTo>
                    <a:pt x="104853" y="601685"/>
                  </a:lnTo>
                  <a:lnTo>
                    <a:pt x="74783" y="567858"/>
                  </a:lnTo>
                  <a:lnTo>
                    <a:pt x="49120" y="529603"/>
                  </a:lnTo>
                  <a:lnTo>
                    <a:pt x="28338" y="487448"/>
                  </a:lnTo>
                  <a:lnTo>
                    <a:pt x="12909" y="441926"/>
                  </a:lnTo>
                  <a:lnTo>
                    <a:pt x="3306" y="393566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33644" y="2537459"/>
            <a:ext cx="20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latin typeface="Times New Roman"/>
                <a:cs typeface="Times New Roman"/>
              </a:rPr>
              <a:t>∑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06081" y="2338958"/>
            <a:ext cx="1066800" cy="762000"/>
          </a:xfrm>
          <a:prstGeom prst="rect">
            <a:avLst/>
          </a:prstGeom>
          <a:solidFill>
            <a:srgbClr val="FF99CC"/>
          </a:solidFill>
          <a:ln w="9525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10"/>
              </a:spcBef>
            </a:pPr>
            <a:r>
              <a:rPr sz="1800" i="1" dirty="0">
                <a:latin typeface="Verdana"/>
                <a:cs typeface="Verdana"/>
              </a:rPr>
              <a:t>f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86100" y="1867090"/>
            <a:ext cx="6172200" cy="1933575"/>
            <a:chOff x="3086100" y="1867090"/>
            <a:chExt cx="6172200" cy="1933575"/>
          </a:xfrm>
        </p:grpSpPr>
        <p:sp>
          <p:nvSpPr>
            <p:cNvPr id="18" name="object 18"/>
            <p:cNvSpPr/>
            <p:nvPr/>
          </p:nvSpPr>
          <p:spPr>
            <a:xfrm>
              <a:off x="3086100" y="1881377"/>
              <a:ext cx="1084580" cy="1905000"/>
            </a:xfrm>
            <a:custGeom>
              <a:avLst/>
              <a:gdLst/>
              <a:ahLst/>
              <a:cxnLst/>
              <a:rect l="l" t="t" r="r" b="b"/>
              <a:pathLst>
                <a:path w="1084579" h="1905000">
                  <a:moveTo>
                    <a:pt x="0" y="0"/>
                  </a:moveTo>
                  <a:lnTo>
                    <a:pt x="1066800" y="0"/>
                  </a:lnTo>
                </a:path>
                <a:path w="1084579" h="1905000">
                  <a:moveTo>
                    <a:pt x="17525" y="1905000"/>
                  </a:moveTo>
                  <a:lnTo>
                    <a:pt x="1084326" y="19050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8100" y="1957577"/>
              <a:ext cx="5029200" cy="1676400"/>
            </a:xfrm>
            <a:custGeom>
              <a:avLst/>
              <a:gdLst/>
              <a:ahLst/>
              <a:cxnLst/>
              <a:rect l="l" t="t" r="r" b="b"/>
              <a:pathLst>
                <a:path w="5029200" h="1676400">
                  <a:moveTo>
                    <a:pt x="0" y="1676400"/>
                  </a:moveTo>
                  <a:lnTo>
                    <a:pt x="5029200" y="1676400"/>
                  </a:lnTo>
                  <a:lnTo>
                    <a:pt x="5029200" y="0"/>
                  </a:lnTo>
                  <a:lnTo>
                    <a:pt x="0" y="0"/>
                  </a:lnTo>
                  <a:lnTo>
                    <a:pt x="0" y="1676400"/>
                  </a:lnTo>
                  <a:close/>
                </a:path>
              </a:pathLst>
            </a:custGeom>
            <a:ln w="28575">
              <a:solidFill>
                <a:srgbClr val="6DAC1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62300" y="2752978"/>
              <a:ext cx="4343400" cy="85725"/>
            </a:xfrm>
            <a:custGeom>
              <a:avLst/>
              <a:gdLst/>
              <a:ahLst/>
              <a:cxnLst/>
              <a:rect l="l" t="t" r="r" b="b"/>
              <a:pathLst>
                <a:path w="4343400" h="85725">
                  <a:moveTo>
                    <a:pt x="1752600" y="42799"/>
                  </a:moveTo>
                  <a:lnTo>
                    <a:pt x="1666875" y="0"/>
                  </a:lnTo>
                  <a:lnTo>
                    <a:pt x="1666875" y="28575"/>
                  </a:lnTo>
                  <a:lnTo>
                    <a:pt x="0" y="28448"/>
                  </a:lnTo>
                  <a:lnTo>
                    <a:pt x="0" y="57023"/>
                  </a:lnTo>
                  <a:lnTo>
                    <a:pt x="1666875" y="57150"/>
                  </a:lnTo>
                  <a:lnTo>
                    <a:pt x="1666875" y="85725"/>
                  </a:lnTo>
                  <a:lnTo>
                    <a:pt x="1723936" y="57150"/>
                  </a:lnTo>
                  <a:lnTo>
                    <a:pt x="1752600" y="42799"/>
                  </a:lnTo>
                  <a:close/>
                </a:path>
                <a:path w="4343400" h="85725">
                  <a:moveTo>
                    <a:pt x="4343400" y="42799"/>
                  </a:moveTo>
                  <a:lnTo>
                    <a:pt x="4257675" y="0"/>
                  </a:lnTo>
                  <a:lnTo>
                    <a:pt x="4257675" y="28575"/>
                  </a:lnTo>
                  <a:lnTo>
                    <a:pt x="3200400" y="28448"/>
                  </a:lnTo>
                  <a:lnTo>
                    <a:pt x="3200400" y="57023"/>
                  </a:lnTo>
                  <a:lnTo>
                    <a:pt x="4257675" y="57150"/>
                  </a:lnTo>
                  <a:lnTo>
                    <a:pt x="4257675" y="85725"/>
                  </a:lnTo>
                  <a:lnTo>
                    <a:pt x="4314736" y="57150"/>
                  </a:lnTo>
                  <a:lnTo>
                    <a:pt x="4343400" y="427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41978" y="1871725"/>
              <a:ext cx="5116830" cy="1924050"/>
            </a:xfrm>
            <a:custGeom>
              <a:avLst/>
              <a:gdLst/>
              <a:ahLst/>
              <a:cxnLst/>
              <a:rect l="l" t="t" r="r" b="b"/>
              <a:pathLst>
                <a:path w="5116830" h="1924050">
                  <a:moveTo>
                    <a:pt x="772922" y="1000252"/>
                  </a:moveTo>
                  <a:lnTo>
                    <a:pt x="685165" y="1038606"/>
                  </a:lnTo>
                  <a:lnTo>
                    <a:pt x="707047" y="1056906"/>
                  </a:lnTo>
                  <a:lnTo>
                    <a:pt x="0" y="1905508"/>
                  </a:lnTo>
                  <a:lnTo>
                    <a:pt x="21844" y="1923796"/>
                  </a:lnTo>
                  <a:lnTo>
                    <a:pt x="728980" y="1075232"/>
                  </a:lnTo>
                  <a:lnTo>
                    <a:pt x="750951" y="1093597"/>
                  </a:lnTo>
                  <a:lnTo>
                    <a:pt x="762152" y="1045972"/>
                  </a:lnTo>
                  <a:lnTo>
                    <a:pt x="772922" y="1000252"/>
                  </a:lnTo>
                  <a:close/>
                </a:path>
                <a:path w="5116830" h="1924050">
                  <a:moveTo>
                    <a:pt x="772922" y="847852"/>
                  </a:moveTo>
                  <a:lnTo>
                    <a:pt x="760742" y="804545"/>
                  </a:lnTo>
                  <a:lnTo>
                    <a:pt x="747014" y="755650"/>
                  </a:lnTo>
                  <a:lnTo>
                    <a:pt x="725881" y="774839"/>
                  </a:lnTo>
                  <a:lnTo>
                    <a:pt x="21463" y="0"/>
                  </a:lnTo>
                  <a:lnTo>
                    <a:pt x="381" y="19304"/>
                  </a:lnTo>
                  <a:lnTo>
                    <a:pt x="704710" y="794067"/>
                  </a:lnTo>
                  <a:lnTo>
                    <a:pt x="683514" y="813308"/>
                  </a:lnTo>
                  <a:lnTo>
                    <a:pt x="772922" y="847852"/>
                  </a:lnTo>
                  <a:close/>
                </a:path>
                <a:path w="5116830" h="1924050">
                  <a:moveTo>
                    <a:pt x="5116322" y="924052"/>
                  </a:moveTo>
                  <a:lnTo>
                    <a:pt x="5030597" y="881253"/>
                  </a:lnTo>
                  <a:lnTo>
                    <a:pt x="5030597" y="909828"/>
                  </a:lnTo>
                  <a:lnTo>
                    <a:pt x="4430522" y="909701"/>
                  </a:lnTo>
                  <a:lnTo>
                    <a:pt x="4430522" y="938276"/>
                  </a:lnTo>
                  <a:lnTo>
                    <a:pt x="5030597" y="938403"/>
                  </a:lnTo>
                  <a:lnTo>
                    <a:pt x="5030597" y="966978"/>
                  </a:lnTo>
                  <a:lnTo>
                    <a:pt x="5087658" y="938403"/>
                  </a:lnTo>
                  <a:lnTo>
                    <a:pt x="5116322" y="924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057893" y="2364485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Cambria"/>
                <a:cs typeface="Cambria"/>
              </a:rPr>
              <a:t>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73450" y="1438909"/>
            <a:ext cx="368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latin typeface="Cambria"/>
                <a:cs typeface="Cambria"/>
              </a:rPr>
              <a:t>W</a:t>
            </a:r>
            <a:r>
              <a:rPr sz="1800" b="1" spc="-60" baseline="-20833" dirty="0">
                <a:latin typeface="Cambria"/>
                <a:cs typeface="Cambria"/>
              </a:rPr>
              <a:t>a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23920" y="2440685"/>
            <a:ext cx="398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latin typeface="Cambria"/>
                <a:cs typeface="Cambria"/>
              </a:rPr>
              <a:t>W</a:t>
            </a:r>
            <a:r>
              <a:rPr sz="1800" b="1" spc="60" baseline="-20833" dirty="0">
                <a:latin typeface="Cambria"/>
                <a:cs typeface="Cambria"/>
              </a:rPr>
              <a:t>b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87344" y="3355085"/>
            <a:ext cx="38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W</a:t>
            </a:r>
            <a:r>
              <a:rPr sz="1800" b="1" spc="120" baseline="-20833" dirty="0">
                <a:latin typeface="Cambria"/>
                <a:cs typeface="Cambria"/>
              </a:rPr>
              <a:t>c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39239" y="4329176"/>
            <a:ext cx="2907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38300" algn="l"/>
              </a:tabLst>
            </a:pPr>
            <a:r>
              <a:rPr sz="3600" b="1" spc="-120" baseline="-6944" dirty="0">
                <a:solidFill>
                  <a:srgbClr val="C00000"/>
                </a:solidFill>
                <a:latin typeface="Trebuchet MS"/>
                <a:cs typeface="Trebuchet MS"/>
              </a:rPr>
              <a:t>Input</a:t>
            </a:r>
            <a:r>
              <a:rPr sz="3600" b="1" spc="-262" baseline="-6944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3600" b="1" spc="-120" baseline="-6944" dirty="0">
                <a:solidFill>
                  <a:srgbClr val="C00000"/>
                </a:solidFill>
                <a:latin typeface="Trebuchet MS"/>
                <a:cs typeface="Trebuchet MS"/>
              </a:rPr>
              <a:t>units	</a:t>
            </a:r>
            <a:r>
              <a:rPr sz="2000" b="1" spc="-95" dirty="0">
                <a:solidFill>
                  <a:srgbClr val="C00000"/>
                </a:solidFill>
                <a:latin typeface="Trebuchet MS"/>
                <a:cs typeface="Trebuchet MS"/>
              </a:rPr>
              <a:t>Connection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65094" y="4685029"/>
            <a:ext cx="1131570" cy="979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weights</a:t>
            </a:r>
            <a:endParaRPr sz="2000">
              <a:latin typeface="Trebuchet MS"/>
              <a:cs typeface="Trebuchet MS"/>
            </a:endParaRPr>
          </a:p>
          <a:p>
            <a:pPr marL="170815">
              <a:lnSpc>
                <a:spcPct val="100000"/>
              </a:lnSpc>
              <a:spcBef>
                <a:spcPts val="2950"/>
              </a:spcBef>
            </a:pPr>
            <a:r>
              <a:rPr sz="1800" b="1" spc="-50" dirty="0">
                <a:solidFill>
                  <a:srgbClr val="1382AC"/>
                </a:solidFill>
                <a:latin typeface="Trebuchet MS"/>
                <a:cs typeface="Trebuchet MS"/>
              </a:rPr>
              <a:t>(syn</a:t>
            </a:r>
            <a:r>
              <a:rPr sz="1800" b="1" spc="-65" dirty="0">
                <a:solidFill>
                  <a:srgbClr val="1382AC"/>
                </a:solidFill>
                <a:latin typeface="Trebuchet MS"/>
                <a:cs typeface="Trebuchet MS"/>
              </a:rPr>
              <a:t>a</a:t>
            </a:r>
            <a:r>
              <a:rPr sz="1800" b="1" spc="-70" dirty="0">
                <a:solidFill>
                  <a:srgbClr val="1382AC"/>
                </a:solidFill>
                <a:latin typeface="Trebuchet MS"/>
                <a:cs typeface="Trebuchet MS"/>
              </a:rPr>
              <a:t>p</a:t>
            </a:r>
            <a:r>
              <a:rPr sz="1800" b="1" spc="-55" dirty="0">
                <a:solidFill>
                  <a:srgbClr val="1382AC"/>
                </a:solidFill>
                <a:latin typeface="Trebuchet MS"/>
                <a:cs typeface="Trebuchet MS"/>
              </a:rPr>
              <a:t>se)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44185" y="4380229"/>
            <a:ext cx="1266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 marR="5080" indent="-168910">
              <a:lnSpc>
                <a:spcPct val="100000"/>
              </a:lnSpc>
              <a:spcBef>
                <a:spcPts val="95"/>
              </a:spcBef>
            </a:pPr>
            <a:r>
              <a:rPr sz="2000" b="1" spc="-70" dirty="0">
                <a:solidFill>
                  <a:srgbClr val="C00000"/>
                </a:solidFill>
                <a:latin typeface="Trebuchet MS"/>
                <a:cs typeface="Trebuchet MS"/>
              </a:rPr>
              <a:t>Summ</a:t>
            </a:r>
            <a:r>
              <a:rPr sz="2000" b="1" spc="-85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2000" b="1" spc="-65" dirty="0">
                <a:solidFill>
                  <a:srgbClr val="C00000"/>
                </a:solidFill>
                <a:latin typeface="Trebuchet MS"/>
                <a:cs typeface="Trebuchet MS"/>
              </a:rPr>
              <a:t>tion  </a:t>
            </a: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function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99147" y="4532629"/>
            <a:ext cx="14033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computation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92807" y="1754885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X</a:t>
            </a:r>
            <a:r>
              <a:rPr sz="1800" b="1" spc="120" baseline="-20833" dirty="0">
                <a:latin typeface="Cambria"/>
                <a:cs typeface="Cambria"/>
              </a:rPr>
              <a:t>1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92807" y="3507485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X</a:t>
            </a:r>
            <a:r>
              <a:rPr sz="1800" b="1" spc="120" baseline="-20833" dirty="0">
                <a:latin typeface="Cambria"/>
                <a:cs typeface="Cambria"/>
              </a:rPr>
              <a:t>3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92807" y="2593085"/>
            <a:ext cx="329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latin typeface="Cambria"/>
                <a:cs typeface="Cambria"/>
              </a:rPr>
              <a:t>X</a:t>
            </a:r>
            <a:r>
              <a:rPr sz="1800" b="1" spc="120" baseline="-20833" dirty="0">
                <a:latin typeface="Cambria"/>
                <a:cs typeface="Cambria"/>
              </a:rPr>
              <a:t>2</a:t>
            </a:r>
            <a:endParaRPr sz="1800" baseline="-20833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24838" y="5364226"/>
            <a:ext cx="10172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solidFill>
                  <a:srgbClr val="1382AC"/>
                </a:solidFill>
                <a:latin typeface="Trebuchet MS"/>
                <a:cs typeface="Trebuchet MS"/>
              </a:rPr>
              <a:t>(dendrite)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19616" y="5288026"/>
            <a:ext cx="659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1382AC"/>
                </a:solidFill>
                <a:latin typeface="Trebuchet MS"/>
                <a:cs typeface="Trebuchet MS"/>
              </a:rPr>
              <a:t>(</a:t>
            </a:r>
            <a:r>
              <a:rPr sz="1800" b="1" spc="-65" dirty="0">
                <a:solidFill>
                  <a:srgbClr val="1382AC"/>
                </a:solidFill>
                <a:latin typeface="Trebuchet MS"/>
                <a:cs typeface="Trebuchet MS"/>
              </a:rPr>
              <a:t>a</a:t>
            </a:r>
            <a:r>
              <a:rPr sz="1800" b="1" spc="-135" dirty="0">
                <a:solidFill>
                  <a:srgbClr val="1382AC"/>
                </a:solidFill>
                <a:latin typeface="Trebuchet MS"/>
                <a:cs typeface="Trebuchet MS"/>
              </a:rPr>
              <a:t>x</a:t>
            </a:r>
            <a:r>
              <a:rPr sz="1800" b="1" spc="-50" dirty="0">
                <a:solidFill>
                  <a:srgbClr val="1382AC"/>
                </a:solidFill>
                <a:latin typeface="Trebuchet MS"/>
                <a:cs typeface="Trebuchet MS"/>
              </a:rPr>
              <a:t>on)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550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240" dirty="0">
                <a:solidFill>
                  <a:srgbClr val="0D5671"/>
                </a:solidFill>
                <a:latin typeface="Cambria"/>
                <a:cs typeface="Cambria"/>
              </a:rPr>
              <a:t>How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42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works?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76609" y="6575806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5681471"/>
            <a:ext cx="4203192" cy="8983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2953" y="3426642"/>
            <a:ext cx="4498065" cy="20724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8377" y="846277"/>
            <a:ext cx="10574655" cy="541655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neuron</a:t>
            </a:r>
            <a:r>
              <a:rPr sz="20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receives</a:t>
            </a:r>
            <a:r>
              <a:rPr sz="20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one</a:t>
            </a:r>
            <a:r>
              <a:rPr sz="2000" b="1" i="1" spc="3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more</a:t>
            </a:r>
            <a:r>
              <a:rPr sz="20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inputs</a:t>
            </a:r>
            <a:r>
              <a:rPr sz="2000" b="1" i="1" spc="4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sums</a:t>
            </a:r>
            <a:r>
              <a:rPr sz="2000" b="1" i="1" spc="4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them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produce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41300" marR="5080" indent="-228600">
              <a:lnSpc>
                <a:spcPct val="1501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sums</a:t>
            </a:r>
            <a:r>
              <a:rPr sz="2000" b="1" i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node</a:t>
            </a:r>
            <a:r>
              <a:rPr sz="2000" b="1" i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weighted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25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35" dirty="0">
                <a:solidFill>
                  <a:srgbClr val="C00000"/>
                </a:solidFill>
                <a:latin typeface="Cambria"/>
                <a:cs typeface="Cambria"/>
              </a:rPr>
              <a:t>sum</a:t>
            </a:r>
            <a:r>
              <a:rPr sz="2000" b="1" i="1" spc="2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passed</a:t>
            </a:r>
            <a:r>
              <a:rPr sz="2000" b="1" i="1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through</a:t>
            </a:r>
            <a:r>
              <a:rPr sz="20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non-linear </a:t>
            </a:r>
            <a:r>
              <a:rPr sz="2000" b="1" i="1" spc="-4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known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transfer</a:t>
            </a:r>
            <a:r>
              <a:rPr sz="2000" b="1" i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har char=""/>
            </a:pPr>
            <a:endParaRPr sz="1750">
              <a:latin typeface="Cambria"/>
              <a:cs typeface="Cambria"/>
            </a:endParaRPr>
          </a:p>
          <a:p>
            <a:pPr marL="241300" marR="4391660" indent="-228600" algn="just">
              <a:lnSpc>
                <a:spcPct val="150000"/>
              </a:lnSpc>
              <a:buClr>
                <a:srgbClr val="1D6194"/>
              </a:buClr>
              <a:buFont typeface="Wingdings"/>
              <a:buChar char=""/>
              <a:tabLst>
                <a:tab pos="241300" algn="l"/>
              </a:tabLst>
            </a:pP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activation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functions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usually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585858"/>
                </a:solidFill>
                <a:latin typeface="Cambria"/>
                <a:cs typeface="Cambria"/>
              </a:rPr>
              <a:t>have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2000" spc="43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sigmoid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 shape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, but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they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may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also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take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form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of other 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non- </a:t>
            </a:r>
            <a:r>
              <a:rPr sz="2000" b="1" i="1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linear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functions,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piecewise linear functions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, or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step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functions.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"/>
            </a:pPr>
            <a:endParaRPr sz="27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Font typeface="Wingdings"/>
              <a:buChar char=""/>
              <a:tabLst>
                <a:tab pos="241300" algn="l"/>
              </a:tabLst>
            </a:pP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“</a:t>
            </a:r>
            <a:r>
              <a:rPr sz="2000" b="1" i="1" spc="-20" dirty="0">
                <a:solidFill>
                  <a:srgbClr val="C00000"/>
                </a:solidFill>
                <a:latin typeface="Cambria"/>
                <a:cs typeface="Cambria"/>
              </a:rPr>
              <a:t>Weighted</a:t>
            </a:r>
            <a:r>
              <a:rPr sz="2000" b="1" i="1" spc="3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sum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”</a:t>
            </a:r>
            <a:r>
              <a:rPr sz="2000" spc="3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3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its</a:t>
            </a:r>
            <a:r>
              <a:rPr sz="2000" spc="3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input,</a:t>
            </a:r>
            <a:r>
              <a:rPr sz="2000" spc="3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adds</a:t>
            </a:r>
            <a:r>
              <a:rPr sz="2100" b="1" i="1" spc="4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100" b="1" i="1" spc="3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bias</a:t>
            </a:r>
            <a:r>
              <a:rPr sz="2100" b="1" i="1" spc="4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3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then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60"/>
              </a:spcBef>
            </a:pP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decides</a:t>
            </a:r>
            <a:r>
              <a:rPr sz="2100" b="1" i="1" spc="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100" b="1" i="1" spc="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function</a:t>
            </a:r>
            <a:r>
              <a:rPr sz="2000" spc="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2000" spc="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whether</a:t>
            </a:r>
            <a:r>
              <a:rPr sz="20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20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should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6977" y="6396990"/>
            <a:ext cx="18992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be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“</a:t>
            </a:r>
            <a:r>
              <a:rPr sz="2100" b="1" i="1" spc="-10" dirty="0">
                <a:solidFill>
                  <a:srgbClr val="C00000"/>
                </a:solidFill>
                <a:latin typeface="Cambria"/>
                <a:cs typeface="Cambria"/>
              </a:rPr>
              <a:t>fired”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or</a:t>
            </a:r>
            <a:r>
              <a:rPr sz="2100" b="1" i="1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-5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91900" y="64769"/>
            <a:ext cx="728980" cy="1600200"/>
            <a:chOff x="11391900" y="64769"/>
            <a:chExt cx="728980" cy="1600200"/>
          </a:xfrm>
        </p:grpSpPr>
        <p:sp>
          <p:nvSpPr>
            <p:cNvPr id="3" name="object 3"/>
            <p:cNvSpPr/>
            <p:nvPr/>
          </p:nvSpPr>
          <p:spPr>
            <a:xfrm>
              <a:off x="11568684" y="64769"/>
              <a:ext cx="551815" cy="1600200"/>
            </a:xfrm>
            <a:custGeom>
              <a:avLst/>
              <a:gdLst/>
              <a:ahLst/>
              <a:cxnLst/>
              <a:rect l="l" t="t" r="r" b="b"/>
              <a:pathLst>
                <a:path w="551815" h="1600200">
                  <a:moveTo>
                    <a:pt x="551675" y="0"/>
                  </a:moveTo>
                  <a:lnTo>
                    <a:pt x="0" y="0"/>
                  </a:lnTo>
                  <a:lnTo>
                    <a:pt x="0" y="1251204"/>
                  </a:lnTo>
                  <a:lnTo>
                    <a:pt x="0" y="1600200"/>
                  </a:lnTo>
                  <a:lnTo>
                    <a:pt x="551675" y="1600200"/>
                  </a:lnTo>
                  <a:lnTo>
                    <a:pt x="551675" y="1251204"/>
                  </a:lnTo>
                  <a:lnTo>
                    <a:pt x="551675" y="0"/>
                  </a:lnTo>
                  <a:close/>
                </a:path>
              </a:pathLst>
            </a:custGeom>
            <a:solidFill>
              <a:srgbClr val="1CA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91900" y="64769"/>
              <a:ext cx="121920" cy="1251585"/>
            </a:xfrm>
            <a:custGeom>
              <a:avLst/>
              <a:gdLst/>
              <a:ahLst/>
              <a:cxnLst/>
              <a:rect l="l" t="t" r="r" b="b"/>
              <a:pathLst>
                <a:path w="121920" h="1251585">
                  <a:moveTo>
                    <a:pt x="0" y="1251203"/>
                  </a:moveTo>
                  <a:lnTo>
                    <a:pt x="121920" y="1251203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51203"/>
                  </a:lnTo>
                  <a:close/>
                </a:path>
              </a:pathLst>
            </a:custGeom>
            <a:solidFill>
              <a:srgbClr val="308A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4988" y="172465"/>
            <a:ext cx="4805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7530" algn="l"/>
              </a:tabLst>
            </a:pPr>
            <a:r>
              <a:rPr sz="5400" spc="405" baseline="-3086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235" dirty="0">
                <a:solidFill>
                  <a:srgbClr val="0D5671"/>
                </a:solidFill>
                <a:latin typeface="Cambria"/>
                <a:cs typeface="Cambria"/>
              </a:rPr>
              <a:t>Activity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-175" dirty="0">
                <a:solidFill>
                  <a:srgbClr val="0D5671"/>
                </a:solidFill>
                <a:latin typeface="Cambria"/>
                <a:cs typeface="Cambria"/>
              </a:rPr>
              <a:t>-</a:t>
            </a:r>
            <a:r>
              <a:rPr sz="3600" spc="29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Example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03529" y="1014602"/>
          <a:ext cx="4013198" cy="20363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2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8814"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X4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43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CA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E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69" y="3429000"/>
            <a:ext cx="9578340" cy="317373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3504" y="6396990"/>
            <a:ext cx="433070" cy="310515"/>
          </a:xfrm>
          <a:prstGeom prst="rect">
            <a:avLst/>
          </a:prstGeom>
          <a:solidFill>
            <a:srgbClr val="1CACE3"/>
          </a:solidFill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6003" y="6400800"/>
            <a:ext cx="533400" cy="310515"/>
          </a:xfrm>
          <a:prstGeom prst="rect">
            <a:avLst/>
          </a:prstGeom>
          <a:solidFill>
            <a:srgbClr val="1CACE3"/>
          </a:solidFill>
        </p:spPr>
        <p:txBody>
          <a:bodyPr vert="horz" wrap="square" lIns="0" tIns="1206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95"/>
              </a:spcBef>
            </a:pP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W</a:t>
            </a:r>
            <a:r>
              <a:rPr sz="1400" spc="-5" dirty="0">
                <a:solidFill>
                  <a:srgbClr val="FFFFFF"/>
                </a:solidFill>
                <a:latin typeface="Segoe UI"/>
                <a:cs typeface="Segoe UI"/>
              </a:rPr>
              <a:t>0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1777" y="6394958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AFEF"/>
                </a:solidFill>
                <a:latin typeface="Arial MT"/>
                <a:cs typeface="Arial MT"/>
              </a:rPr>
              <a:t>+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76576" y="699829"/>
            <a:ext cx="9744710" cy="5870575"/>
            <a:chOff x="2076576" y="699829"/>
            <a:chExt cx="9744710" cy="5870575"/>
          </a:xfrm>
        </p:grpSpPr>
        <p:sp>
          <p:nvSpPr>
            <p:cNvPr id="13" name="object 13"/>
            <p:cNvSpPr/>
            <p:nvPr/>
          </p:nvSpPr>
          <p:spPr>
            <a:xfrm>
              <a:off x="2076576" y="5877306"/>
              <a:ext cx="759460" cy="693420"/>
            </a:xfrm>
            <a:custGeom>
              <a:avLst/>
              <a:gdLst/>
              <a:ahLst/>
              <a:cxnLst/>
              <a:rect l="l" t="t" r="r" b="b"/>
              <a:pathLst>
                <a:path w="759460" h="693420">
                  <a:moveTo>
                    <a:pt x="661544" y="62840"/>
                  </a:moveTo>
                  <a:lnTo>
                    <a:pt x="0" y="664883"/>
                  </a:lnTo>
                  <a:lnTo>
                    <a:pt x="25654" y="693064"/>
                  </a:lnTo>
                  <a:lnTo>
                    <a:pt x="687198" y="91022"/>
                  </a:lnTo>
                  <a:lnTo>
                    <a:pt x="661544" y="62840"/>
                  </a:lnTo>
                  <a:close/>
                </a:path>
                <a:path w="759460" h="693420">
                  <a:moveTo>
                    <a:pt x="739609" y="50012"/>
                  </a:moveTo>
                  <a:lnTo>
                    <a:pt x="675640" y="50012"/>
                  </a:lnTo>
                  <a:lnTo>
                    <a:pt x="701294" y="78193"/>
                  </a:lnTo>
                  <a:lnTo>
                    <a:pt x="687198" y="91022"/>
                  </a:lnTo>
                  <a:lnTo>
                    <a:pt x="712851" y="119202"/>
                  </a:lnTo>
                  <a:lnTo>
                    <a:pt x="739609" y="50012"/>
                  </a:lnTo>
                  <a:close/>
                </a:path>
                <a:path w="759460" h="693420">
                  <a:moveTo>
                    <a:pt x="675640" y="50012"/>
                  </a:moveTo>
                  <a:lnTo>
                    <a:pt x="661544" y="62840"/>
                  </a:lnTo>
                  <a:lnTo>
                    <a:pt x="687198" y="91022"/>
                  </a:lnTo>
                  <a:lnTo>
                    <a:pt x="701294" y="78193"/>
                  </a:lnTo>
                  <a:lnTo>
                    <a:pt x="675640" y="50012"/>
                  </a:lnTo>
                  <a:close/>
                </a:path>
                <a:path w="759460" h="693420">
                  <a:moveTo>
                    <a:pt x="758952" y="0"/>
                  </a:moveTo>
                  <a:lnTo>
                    <a:pt x="635889" y="34658"/>
                  </a:lnTo>
                  <a:lnTo>
                    <a:pt x="661544" y="62840"/>
                  </a:lnTo>
                  <a:lnTo>
                    <a:pt x="675640" y="50012"/>
                  </a:lnTo>
                  <a:lnTo>
                    <a:pt x="739609" y="50012"/>
                  </a:lnTo>
                  <a:lnTo>
                    <a:pt x="75895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95672" y="699829"/>
              <a:ext cx="1838325" cy="3804920"/>
            </a:xfrm>
            <a:custGeom>
              <a:avLst/>
              <a:gdLst/>
              <a:ahLst/>
              <a:cxnLst/>
              <a:rect l="l" t="t" r="r" b="b"/>
              <a:pathLst>
                <a:path w="1838325" h="3804920">
                  <a:moveTo>
                    <a:pt x="1736783" y="72330"/>
                  </a:moveTo>
                  <a:lnTo>
                    <a:pt x="19050" y="72330"/>
                  </a:lnTo>
                  <a:lnTo>
                    <a:pt x="11626" y="73824"/>
                  </a:lnTo>
                  <a:lnTo>
                    <a:pt x="5572" y="77902"/>
                  </a:lnTo>
                  <a:lnTo>
                    <a:pt x="1494" y="83956"/>
                  </a:lnTo>
                  <a:lnTo>
                    <a:pt x="0" y="91380"/>
                  </a:lnTo>
                  <a:lnTo>
                    <a:pt x="0" y="3804733"/>
                  </a:lnTo>
                  <a:lnTo>
                    <a:pt x="38100" y="3804733"/>
                  </a:lnTo>
                  <a:lnTo>
                    <a:pt x="38100" y="110430"/>
                  </a:lnTo>
                  <a:lnTo>
                    <a:pt x="19050" y="110430"/>
                  </a:lnTo>
                  <a:lnTo>
                    <a:pt x="38100" y="91380"/>
                  </a:lnTo>
                  <a:lnTo>
                    <a:pt x="1758948" y="91380"/>
                  </a:lnTo>
                  <a:lnTo>
                    <a:pt x="1762763" y="89421"/>
                  </a:lnTo>
                  <a:lnTo>
                    <a:pt x="1736783" y="72330"/>
                  </a:lnTo>
                  <a:close/>
                </a:path>
                <a:path w="1838325" h="3804920">
                  <a:moveTo>
                    <a:pt x="1762763" y="89421"/>
                  </a:moveTo>
                  <a:lnTo>
                    <a:pt x="1674113" y="134941"/>
                  </a:lnTo>
                  <a:lnTo>
                    <a:pt x="1668254" y="139682"/>
                  </a:lnTo>
                  <a:lnTo>
                    <a:pt x="1664763" y="146101"/>
                  </a:lnTo>
                  <a:lnTo>
                    <a:pt x="1663916" y="153354"/>
                  </a:lnTo>
                  <a:lnTo>
                    <a:pt x="1665985" y="160595"/>
                  </a:lnTo>
                  <a:lnTo>
                    <a:pt x="1670655" y="166528"/>
                  </a:lnTo>
                  <a:lnTo>
                    <a:pt x="1677050" y="170056"/>
                  </a:lnTo>
                  <a:lnTo>
                    <a:pt x="1684327" y="170918"/>
                  </a:lnTo>
                  <a:lnTo>
                    <a:pt x="1691639" y="168850"/>
                  </a:lnTo>
                  <a:lnTo>
                    <a:pt x="1805234" y="110430"/>
                  </a:lnTo>
                  <a:lnTo>
                    <a:pt x="1800605" y="110430"/>
                  </a:lnTo>
                  <a:lnTo>
                    <a:pt x="1800605" y="107382"/>
                  </a:lnTo>
                  <a:lnTo>
                    <a:pt x="1790064" y="107382"/>
                  </a:lnTo>
                  <a:lnTo>
                    <a:pt x="1762763" y="89421"/>
                  </a:lnTo>
                  <a:close/>
                </a:path>
                <a:path w="1838325" h="3804920">
                  <a:moveTo>
                    <a:pt x="38100" y="91380"/>
                  </a:moveTo>
                  <a:lnTo>
                    <a:pt x="19050" y="110430"/>
                  </a:lnTo>
                  <a:lnTo>
                    <a:pt x="38100" y="110430"/>
                  </a:lnTo>
                  <a:lnTo>
                    <a:pt x="38100" y="91380"/>
                  </a:lnTo>
                  <a:close/>
                </a:path>
                <a:path w="1838325" h="3804920">
                  <a:moveTo>
                    <a:pt x="1758948" y="91380"/>
                  </a:moveTo>
                  <a:lnTo>
                    <a:pt x="38100" y="91380"/>
                  </a:lnTo>
                  <a:lnTo>
                    <a:pt x="38100" y="110430"/>
                  </a:lnTo>
                  <a:lnTo>
                    <a:pt x="1721848" y="110430"/>
                  </a:lnTo>
                  <a:lnTo>
                    <a:pt x="1758948" y="91380"/>
                  </a:lnTo>
                  <a:close/>
                </a:path>
                <a:path w="1838325" h="3804920">
                  <a:moveTo>
                    <a:pt x="1806214" y="72330"/>
                  </a:moveTo>
                  <a:lnTo>
                    <a:pt x="1800605" y="72330"/>
                  </a:lnTo>
                  <a:lnTo>
                    <a:pt x="1800605" y="110430"/>
                  </a:lnTo>
                  <a:lnTo>
                    <a:pt x="1805234" y="110430"/>
                  </a:lnTo>
                  <a:lnTo>
                    <a:pt x="1838325" y="93412"/>
                  </a:lnTo>
                  <a:lnTo>
                    <a:pt x="1806214" y="72330"/>
                  </a:lnTo>
                  <a:close/>
                </a:path>
                <a:path w="1838325" h="3804920">
                  <a:moveTo>
                    <a:pt x="1791843" y="74489"/>
                  </a:moveTo>
                  <a:lnTo>
                    <a:pt x="1762763" y="89421"/>
                  </a:lnTo>
                  <a:lnTo>
                    <a:pt x="1790064" y="107382"/>
                  </a:lnTo>
                  <a:lnTo>
                    <a:pt x="1791843" y="74489"/>
                  </a:lnTo>
                  <a:close/>
                </a:path>
                <a:path w="1838325" h="3804920">
                  <a:moveTo>
                    <a:pt x="1800605" y="74489"/>
                  </a:moveTo>
                  <a:lnTo>
                    <a:pt x="1791843" y="74489"/>
                  </a:lnTo>
                  <a:lnTo>
                    <a:pt x="1790064" y="107382"/>
                  </a:lnTo>
                  <a:lnTo>
                    <a:pt x="1800605" y="107382"/>
                  </a:lnTo>
                  <a:lnTo>
                    <a:pt x="1800605" y="74489"/>
                  </a:lnTo>
                  <a:close/>
                </a:path>
                <a:path w="1838325" h="3804920">
                  <a:moveTo>
                    <a:pt x="1693400" y="0"/>
                  </a:moveTo>
                  <a:lnTo>
                    <a:pt x="1686099" y="67"/>
                  </a:lnTo>
                  <a:lnTo>
                    <a:pt x="1679346" y="2897"/>
                  </a:lnTo>
                  <a:lnTo>
                    <a:pt x="1673986" y="8322"/>
                  </a:lnTo>
                  <a:lnTo>
                    <a:pt x="1671196" y="15323"/>
                  </a:lnTo>
                  <a:lnTo>
                    <a:pt x="1671288" y="22609"/>
                  </a:lnTo>
                  <a:lnTo>
                    <a:pt x="1674094" y="29325"/>
                  </a:lnTo>
                  <a:lnTo>
                    <a:pt x="1679448" y="34611"/>
                  </a:lnTo>
                  <a:lnTo>
                    <a:pt x="1762763" y="89421"/>
                  </a:lnTo>
                  <a:lnTo>
                    <a:pt x="1791843" y="74489"/>
                  </a:lnTo>
                  <a:lnTo>
                    <a:pt x="1800605" y="74489"/>
                  </a:lnTo>
                  <a:lnTo>
                    <a:pt x="1800605" y="72330"/>
                  </a:lnTo>
                  <a:lnTo>
                    <a:pt x="1806214" y="72330"/>
                  </a:lnTo>
                  <a:lnTo>
                    <a:pt x="1700402" y="2861"/>
                  </a:lnTo>
                  <a:lnTo>
                    <a:pt x="1693400" y="0"/>
                  </a:lnTo>
                  <a:close/>
                </a:path>
              </a:pathLst>
            </a:custGeom>
            <a:solidFill>
              <a:srgbClr val="16AB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55658" y="1315973"/>
              <a:ext cx="2365375" cy="584835"/>
            </a:xfrm>
            <a:custGeom>
              <a:avLst/>
              <a:gdLst/>
              <a:ahLst/>
              <a:cxnLst/>
              <a:rect l="l" t="t" r="r" b="b"/>
              <a:pathLst>
                <a:path w="2365375" h="584835">
                  <a:moveTo>
                    <a:pt x="2365248" y="0"/>
                  </a:moveTo>
                  <a:lnTo>
                    <a:pt x="0" y="0"/>
                  </a:lnTo>
                  <a:lnTo>
                    <a:pt x="0" y="584453"/>
                  </a:lnTo>
                  <a:lnTo>
                    <a:pt x="2365248" y="584453"/>
                  </a:lnTo>
                  <a:lnTo>
                    <a:pt x="236524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81443" y="635761"/>
            <a:ext cx="4337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Z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=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w1.x1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w2.x2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w3.x3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x4.w4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+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1.w0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81443" y="1194561"/>
            <a:ext cx="2204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W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 {w1,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w2,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w3,</a:t>
            </a:r>
            <a:r>
              <a:rPr sz="1800" spc="-1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w4}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92619" y="1748790"/>
            <a:ext cx="1938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X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{x1,</a:t>
            </a:r>
            <a:r>
              <a:rPr sz="1800" spc="-20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x2,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12F42"/>
                </a:solidFill>
                <a:latin typeface="Arial MT"/>
                <a:cs typeface="Arial MT"/>
              </a:rPr>
              <a:t>x3,</a:t>
            </a:r>
            <a:r>
              <a:rPr sz="1800" spc="-15" dirty="0">
                <a:solidFill>
                  <a:srgbClr val="E12F4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E12F42"/>
                </a:solidFill>
                <a:latin typeface="Arial MT"/>
                <a:cs typeface="Arial MT"/>
              </a:rPr>
              <a:t>x4}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77323" y="1338325"/>
            <a:ext cx="19894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200" spc="190" dirty="0">
                <a:solidFill>
                  <a:srgbClr val="E12F42"/>
                </a:solidFill>
                <a:latin typeface="Cambria Math"/>
                <a:cs typeface="Cambria Math"/>
              </a:rPr>
              <a:t>𝑊</a:t>
            </a:r>
            <a:r>
              <a:rPr sz="3450" spc="472" baseline="27777" dirty="0">
                <a:solidFill>
                  <a:srgbClr val="E12F42"/>
                </a:solidFill>
                <a:latin typeface="Cambria Math"/>
                <a:cs typeface="Cambria Math"/>
              </a:rPr>
              <a:t>𝑇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.</a:t>
            </a:r>
            <a:r>
              <a:rPr sz="3200" spc="-170" dirty="0">
                <a:solidFill>
                  <a:srgbClr val="E12F42"/>
                </a:solidFill>
                <a:latin typeface="Cambria Math"/>
                <a:cs typeface="Cambria Math"/>
              </a:rPr>
              <a:t> 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𝑋</a:t>
            </a:r>
            <a:r>
              <a:rPr sz="3200" spc="85" dirty="0">
                <a:solidFill>
                  <a:srgbClr val="E12F42"/>
                </a:solidFill>
                <a:latin typeface="Cambria Math"/>
                <a:cs typeface="Cambria Math"/>
              </a:rPr>
              <a:t> 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+</a:t>
            </a:r>
            <a:r>
              <a:rPr sz="3200" dirty="0">
                <a:solidFill>
                  <a:srgbClr val="E12F42"/>
                </a:solidFill>
                <a:latin typeface="Cambria Math"/>
                <a:cs typeface="Cambria Math"/>
              </a:rPr>
              <a:t> </a:t>
            </a:r>
            <a:r>
              <a:rPr sz="3200" spc="-5" dirty="0">
                <a:solidFill>
                  <a:srgbClr val="E12F42"/>
                </a:solidFill>
                <a:latin typeface="Cambria Math"/>
                <a:cs typeface="Cambria Math"/>
              </a:rPr>
              <a:t>𝑊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61242" y="1531111"/>
            <a:ext cx="197485" cy="381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75" dirty="0">
                <a:solidFill>
                  <a:srgbClr val="E12F42"/>
                </a:solidFill>
                <a:latin typeface="Cambria Math"/>
                <a:cs typeface="Cambria Math"/>
              </a:rPr>
              <a:t>0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88680" y="2532888"/>
            <a:ext cx="361315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har char="•"/>
              <a:tabLst>
                <a:tab pos="297815" algn="l"/>
                <a:tab pos="298450" algn="l"/>
              </a:tabLst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Inputs</a:t>
            </a:r>
            <a:r>
              <a:rPr sz="2000" spc="-2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are taking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row by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row</a:t>
            </a:r>
            <a:endParaRPr sz="2000">
              <a:latin typeface="Arial MT"/>
              <a:cs typeface="Arial MT"/>
            </a:endParaRPr>
          </a:p>
          <a:p>
            <a:pPr marL="298450" marR="508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  <a:tab pos="869315" algn="l"/>
                <a:tab pos="1386840" algn="l"/>
                <a:tab pos="2583815" algn="l"/>
              </a:tabLst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W</a:t>
            </a:r>
            <a:r>
              <a:rPr sz="2000" spc="-45" dirty="0">
                <a:solidFill>
                  <a:srgbClr val="008EC0"/>
                </a:solidFill>
                <a:latin typeface="Arial MT"/>
                <a:cs typeface="Arial MT"/>
              </a:rPr>
              <a:t>’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s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a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re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randomly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assigned  values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19588" y="3447288"/>
            <a:ext cx="91249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829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p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r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o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cess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526773" y="3447288"/>
            <a:ext cx="575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input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88680" y="3447288"/>
            <a:ext cx="1780539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95"/>
              </a:spcBef>
              <a:buChar char="•"/>
              <a:tabLst>
                <a:tab pos="297815" algn="l"/>
                <a:tab pos="298450" algn="l"/>
                <a:tab pos="1485265" algn="l"/>
              </a:tabLst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Based	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on 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summation 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perform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88680" y="5581141"/>
            <a:ext cx="36125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har char="•"/>
              <a:tabLst>
                <a:tab pos="297815" algn="l"/>
                <a:tab pos="298450" algn="l"/>
                <a:tab pos="909955" algn="l"/>
                <a:tab pos="1450975" algn="l"/>
                <a:tab pos="2711450" algn="l"/>
              </a:tabLst>
            </a:pP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an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d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the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activation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	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fun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c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74430" y="5885941"/>
            <a:ext cx="3220720" cy="882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3975" indent="-17145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decided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whether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neuron </a:t>
            </a:r>
            <a:r>
              <a:rPr sz="2000" spc="-54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should</a:t>
            </a:r>
            <a:r>
              <a:rPr sz="200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take</a:t>
            </a:r>
            <a:r>
              <a:rPr sz="2000" spc="-15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action or</a:t>
            </a:r>
            <a:r>
              <a:rPr sz="2000" spc="-10" dirty="0">
                <a:solidFill>
                  <a:srgbClr val="008EC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008EC0"/>
                </a:solidFill>
                <a:latin typeface="Arial MT"/>
                <a:cs typeface="Arial MT"/>
              </a:rPr>
              <a:t>not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63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21739" y="172465"/>
            <a:ext cx="4822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Functions</a:t>
            </a:r>
            <a:endParaRPr sz="36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235" y="3202776"/>
            <a:ext cx="4429307" cy="28858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50" y="1488186"/>
            <a:ext cx="6288786" cy="38816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4659" y="5663520"/>
            <a:ext cx="38068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45" dirty="0">
                <a:solidFill>
                  <a:srgbClr val="1CACE3"/>
                </a:solidFill>
                <a:latin typeface="Calibri"/>
                <a:cs typeface="Calibri"/>
              </a:rPr>
              <a:t>placement</a:t>
            </a:r>
            <a:r>
              <a:rPr sz="1900" i="1" spc="-1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of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15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55" dirty="0">
                <a:solidFill>
                  <a:srgbClr val="1CACE3"/>
                </a:solidFill>
                <a:latin typeface="Calibri"/>
                <a:cs typeface="Calibri"/>
              </a:rPr>
              <a:t>activation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function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96339" y="172465"/>
            <a:ext cx="4699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620770" algn="l"/>
              </a:tabLst>
            </a:pP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3600" spc="-15" baseline="25462" dirty="0">
                <a:solidFill>
                  <a:srgbClr val="0D5671"/>
                </a:solidFill>
                <a:latin typeface="Cambria"/>
                <a:cs typeface="Cambria"/>
              </a:rPr>
              <a:t>rd	</a:t>
            </a:r>
            <a:r>
              <a:rPr sz="3600" spc="75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994" y="1094740"/>
            <a:ext cx="9925050" cy="1995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75" dirty="0">
                <a:solidFill>
                  <a:srgbClr val="404040"/>
                </a:solidFill>
                <a:latin typeface="Cambria"/>
                <a:cs typeface="Cambria"/>
              </a:rPr>
              <a:t>Single-Layer</a:t>
            </a:r>
            <a:r>
              <a:rPr sz="2400" b="1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spc="60" dirty="0">
                <a:solidFill>
                  <a:srgbClr val="404040"/>
                </a:solidFill>
                <a:latin typeface="Cambria"/>
                <a:cs typeface="Cambria"/>
              </a:rPr>
              <a:t>Perceptron: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8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Consist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one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perceptron</a:t>
            </a:r>
            <a:endParaRPr sz="24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one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outputs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along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single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that </a:t>
            </a:r>
            <a:r>
              <a:rPr sz="2400" spc="-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receives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inputs.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9916" y="3341370"/>
            <a:ext cx="6063004" cy="29758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2907" y="2779776"/>
            <a:ext cx="4687393" cy="36452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96339" y="172465"/>
            <a:ext cx="4699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620770" algn="l"/>
              </a:tabLst>
            </a:pPr>
            <a:r>
              <a:rPr sz="3600" spc="105" dirty="0">
                <a:solidFill>
                  <a:srgbClr val="0D5671"/>
                </a:solidFill>
                <a:latin typeface="Cambria"/>
                <a:cs typeface="Cambria"/>
              </a:rPr>
              <a:t>Perceptron</a:t>
            </a:r>
            <a:r>
              <a:rPr sz="3600" spc="34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D5671"/>
                </a:solidFill>
                <a:latin typeface="Cambria"/>
                <a:cs typeface="Cambria"/>
              </a:rPr>
              <a:t>(3</a:t>
            </a:r>
            <a:r>
              <a:rPr sz="3600" spc="-15" baseline="25462" dirty="0">
                <a:solidFill>
                  <a:srgbClr val="0D5671"/>
                </a:solidFill>
                <a:latin typeface="Cambria"/>
                <a:cs typeface="Cambria"/>
              </a:rPr>
              <a:t>rd	</a:t>
            </a:r>
            <a:r>
              <a:rPr sz="3600" spc="75" dirty="0">
                <a:solidFill>
                  <a:srgbClr val="0D5671"/>
                </a:solidFill>
                <a:latin typeface="Cambria"/>
                <a:cs typeface="Cambria"/>
              </a:rPr>
              <a:t>ver.)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994" y="1094740"/>
            <a:ext cx="8981440" cy="356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5" dirty="0">
                <a:solidFill>
                  <a:srgbClr val="404040"/>
                </a:solidFill>
                <a:latin typeface="Cambria"/>
                <a:cs typeface="Cambria"/>
              </a:rPr>
              <a:t>Multilayer</a:t>
            </a:r>
            <a:r>
              <a:rPr sz="2400" b="1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spc="70" dirty="0">
                <a:solidFill>
                  <a:srgbClr val="404040"/>
                </a:solidFill>
                <a:latin typeface="Cambria"/>
                <a:cs typeface="Cambria"/>
              </a:rPr>
              <a:t>Perceptron</a:t>
            </a:r>
            <a:r>
              <a:rPr sz="2400" b="1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spc="-35" dirty="0">
                <a:solidFill>
                  <a:srgbClr val="404040"/>
                </a:solidFill>
                <a:latin typeface="Cambria"/>
                <a:cs typeface="Cambria"/>
              </a:rPr>
              <a:t>(MLP):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8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When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hidden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layers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added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single-layer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perceptron.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229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MLP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considered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type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deep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endParaRPr sz="2400">
              <a:latin typeface="Cambria"/>
              <a:cs typeface="Cambria"/>
            </a:endParaRPr>
          </a:p>
          <a:p>
            <a:pPr marL="285750" marR="3988435" indent="-228600">
              <a:lnSpc>
                <a:spcPct val="150000"/>
              </a:lnSpc>
              <a:spcBef>
                <a:spcPts val="227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86385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networks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build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everyday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problems </a:t>
            </a:r>
            <a:r>
              <a:rPr sz="2400" spc="-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examples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MLP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8" y="182879"/>
            <a:ext cx="6181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405" baseline="-2314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-2314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4600" y="5251703"/>
            <a:ext cx="5121910" cy="45720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40005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315"/>
              </a:spcBef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Architecture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19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42" y="1395196"/>
            <a:ext cx="3426398" cy="30840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7625" y="6240017"/>
            <a:ext cx="10287000" cy="400050"/>
          </a:xfrm>
          <a:prstGeom prst="rect">
            <a:avLst/>
          </a:prstGeom>
          <a:solidFill>
            <a:srgbClr val="FF0066"/>
          </a:solidFill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Input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layer</a:t>
            </a:r>
            <a:r>
              <a:rPr sz="20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typically</a:t>
            </a:r>
            <a:r>
              <a:rPr sz="20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5" dirty="0">
                <a:solidFill>
                  <a:srgbClr val="FFFFFF"/>
                </a:solidFill>
                <a:latin typeface="Cambria"/>
                <a:cs typeface="Cambria"/>
              </a:rPr>
              <a:t>excluded</a:t>
            </a:r>
            <a:r>
              <a:rPr sz="20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when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counting</a:t>
            </a:r>
            <a:r>
              <a:rPr sz="20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sz="20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0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10" dirty="0">
                <a:solidFill>
                  <a:srgbClr val="FFFFFF"/>
                </a:solidFill>
                <a:latin typeface="Cambria"/>
                <a:cs typeface="Cambria"/>
              </a:rPr>
              <a:t>layers</a:t>
            </a:r>
            <a:r>
              <a:rPr sz="20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20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Neural</a:t>
            </a:r>
            <a:r>
              <a:rPr sz="20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Cambria"/>
                <a:cs typeface="Cambria"/>
              </a:rPr>
              <a:t>Network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0231" y="1347216"/>
            <a:ext cx="5847493" cy="347624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32587" y="5944133"/>
            <a:ext cx="573405" cy="697865"/>
          </a:xfrm>
          <a:custGeom>
            <a:avLst/>
            <a:gdLst/>
            <a:ahLst/>
            <a:cxnLst/>
            <a:rect l="l" t="t" r="r" b="b"/>
            <a:pathLst>
              <a:path w="573405" h="697865">
                <a:moveTo>
                  <a:pt x="56375" y="0"/>
                </a:moveTo>
                <a:lnTo>
                  <a:pt x="0" y="0"/>
                </a:lnTo>
                <a:lnTo>
                  <a:pt x="0" y="697293"/>
                </a:lnTo>
                <a:lnTo>
                  <a:pt x="56375" y="697293"/>
                </a:lnTo>
                <a:lnTo>
                  <a:pt x="56375" y="0"/>
                </a:lnTo>
                <a:close/>
              </a:path>
              <a:path w="573405" h="697865">
                <a:moveTo>
                  <a:pt x="573074" y="37693"/>
                </a:moveTo>
                <a:lnTo>
                  <a:pt x="570115" y="23063"/>
                </a:lnTo>
                <a:lnTo>
                  <a:pt x="562038" y="11074"/>
                </a:lnTo>
                <a:lnTo>
                  <a:pt x="550087" y="2971"/>
                </a:lnTo>
                <a:lnTo>
                  <a:pt x="535495" y="0"/>
                </a:lnTo>
                <a:lnTo>
                  <a:pt x="469734" y="0"/>
                </a:lnTo>
                <a:lnTo>
                  <a:pt x="469734" y="427799"/>
                </a:lnTo>
                <a:lnTo>
                  <a:pt x="469734" y="499414"/>
                </a:lnTo>
                <a:lnTo>
                  <a:pt x="182257" y="499414"/>
                </a:lnTo>
                <a:lnTo>
                  <a:pt x="182257" y="427799"/>
                </a:lnTo>
                <a:lnTo>
                  <a:pt x="212902" y="387858"/>
                </a:lnTo>
                <a:lnTo>
                  <a:pt x="248145" y="370624"/>
                </a:lnTo>
                <a:lnTo>
                  <a:pt x="296405" y="358190"/>
                </a:lnTo>
                <a:lnTo>
                  <a:pt x="325996" y="355244"/>
                </a:lnTo>
                <a:lnTo>
                  <a:pt x="340931" y="355790"/>
                </a:lnTo>
                <a:lnTo>
                  <a:pt x="385178" y="364667"/>
                </a:lnTo>
                <a:lnTo>
                  <a:pt x="421817" y="378091"/>
                </a:lnTo>
                <a:lnTo>
                  <a:pt x="455650" y="398589"/>
                </a:lnTo>
                <a:lnTo>
                  <a:pt x="469734" y="427799"/>
                </a:lnTo>
                <a:lnTo>
                  <a:pt x="469734" y="0"/>
                </a:lnTo>
                <a:lnTo>
                  <a:pt x="397395" y="0"/>
                </a:lnTo>
                <a:lnTo>
                  <a:pt x="397395" y="264782"/>
                </a:lnTo>
                <a:lnTo>
                  <a:pt x="391795" y="292671"/>
                </a:lnTo>
                <a:lnTo>
                  <a:pt x="376491" y="315429"/>
                </a:lnTo>
                <a:lnTo>
                  <a:pt x="353796" y="330771"/>
                </a:lnTo>
                <a:lnTo>
                  <a:pt x="325996" y="336397"/>
                </a:lnTo>
                <a:lnTo>
                  <a:pt x="298196" y="330911"/>
                </a:lnTo>
                <a:lnTo>
                  <a:pt x="275501" y="315785"/>
                </a:lnTo>
                <a:lnTo>
                  <a:pt x="260210" y="293065"/>
                </a:lnTo>
                <a:lnTo>
                  <a:pt x="254596" y="264782"/>
                </a:lnTo>
                <a:lnTo>
                  <a:pt x="260210" y="236893"/>
                </a:lnTo>
                <a:lnTo>
                  <a:pt x="275501" y="214134"/>
                </a:lnTo>
                <a:lnTo>
                  <a:pt x="298196" y="198793"/>
                </a:lnTo>
                <a:lnTo>
                  <a:pt x="325996" y="193167"/>
                </a:lnTo>
                <a:lnTo>
                  <a:pt x="353796" y="198793"/>
                </a:lnTo>
                <a:lnTo>
                  <a:pt x="376491" y="214134"/>
                </a:lnTo>
                <a:lnTo>
                  <a:pt x="391795" y="236893"/>
                </a:lnTo>
                <a:lnTo>
                  <a:pt x="397395" y="264782"/>
                </a:lnTo>
                <a:lnTo>
                  <a:pt x="397395" y="0"/>
                </a:lnTo>
                <a:lnTo>
                  <a:pt x="93954" y="0"/>
                </a:lnTo>
                <a:lnTo>
                  <a:pt x="93954" y="697293"/>
                </a:lnTo>
                <a:lnTo>
                  <a:pt x="535495" y="697293"/>
                </a:lnTo>
                <a:lnTo>
                  <a:pt x="550087" y="694321"/>
                </a:lnTo>
                <a:lnTo>
                  <a:pt x="562038" y="686219"/>
                </a:lnTo>
                <a:lnTo>
                  <a:pt x="570115" y="674243"/>
                </a:lnTo>
                <a:lnTo>
                  <a:pt x="573074" y="659599"/>
                </a:lnTo>
                <a:lnTo>
                  <a:pt x="573074" y="499414"/>
                </a:lnTo>
                <a:lnTo>
                  <a:pt x="573074" y="355244"/>
                </a:lnTo>
                <a:lnTo>
                  <a:pt x="573074" y="336397"/>
                </a:lnTo>
                <a:lnTo>
                  <a:pt x="573074" y="193167"/>
                </a:lnTo>
                <a:lnTo>
                  <a:pt x="573074" y="3769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514604"/>
            <a:ext cx="6249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5400" spc="405" baseline="37808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48034" y="283083"/>
            <a:ext cx="855980" cy="1600200"/>
          </a:xfrm>
          <a:prstGeom prst="rect">
            <a:avLst/>
          </a:prstGeom>
          <a:solidFill>
            <a:srgbClr val="1CACE3"/>
          </a:solidFill>
          <a:ln w="25400">
            <a:solidFill>
              <a:srgbClr val="117DA7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R="83185" algn="r">
              <a:lnSpc>
                <a:spcPct val="100000"/>
              </a:lnSpc>
              <a:spcBef>
                <a:spcPts val="54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458" y="791275"/>
            <a:ext cx="11315700" cy="572325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2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Layer: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75" dirty="0">
                <a:latin typeface="Cambria"/>
                <a:cs typeface="Cambria"/>
              </a:rPr>
              <a:t>The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nodes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b="1" spc="105" dirty="0">
                <a:latin typeface="Cambria"/>
                <a:cs typeface="Cambria"/>
              </a:rPr>
              <a:t>passive</a:t>
            </a:r>
            <a:r>
              <a:rPr sz="2400" spc="105" dirty="0">
                <a:latin typeface="Cambria"/>
                <a:cs typeface="Cambria"/>
              </a:rPr>
              <a:t>.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(i.e.,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not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modify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data),</a:t>
            </a:r>
            <a:endParaRPr sz="2400" dirty="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65" dirty="0">
                <a:latin typeface="Cambria"/>
                <a:cs typeface="Cambria"/>
              </a:rPr>
              <a:t>They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receive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value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on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their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duplicate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it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their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multiple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outputs.</a:t>
            </a:r>
            <a:endParaRPr sz="2400" dirty="0">
              <a:latin typeface="Cambria"/>
              <a:cs typeface="Cambria"/>
            </a:endParaRPr>
          </a:p>
          <a:p>
            <a:pPr marL="469900" marR="5080" indent="-457200">
              <a:lnSpc>
                <a:spcPts val="4320"/>
              </a:lnSpc>
              <a:spcBef>
                <a:spcPts val="38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85" dirty="0">
                <a:latin typeface="Cambria"/>
                <a:cs typeface="Cambria"/>
              </a:rPr>
              <a:t>All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variables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represented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nodes;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each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value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from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is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duplicated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sent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all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hidden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nodes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in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layer.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Hidden</a:t>
            </a:r>
            <a:r>
              <a:rPr sz="2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Layer(s):</a:t>
            </a:r>
            <a:endParaRPr sz="2800" dirty="0">
              <a:latin typeface="Calibri"/>
              <a:cs typeface="Calibri"/>
            </a:endParaRPr>
          </a:p>
          <a:p>
            <a:pPr marL="469900" marR="635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85" dirty="0">
                <a:latin typeface="Cambria"/>
                <a:cs typeface="Cambria"/>
              </a:rPr>
              <a:t>All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of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variables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that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came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from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combined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across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one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or</a:t>
            </a:r>
            <a:r>
              <a:rPr sz="2400" spc="65" dirty="0">
                <a:latin typeface="Cambria"/>
                <a:cs typeface="Cambria"/>
              </a:rPr>
              <a:t> more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nodes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(summation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30" dirty="0">
                <a:latin typeface="Cambria"/>
                <a:cs typeface="Cambria"/>
              </a:rPr>
              <a:t>/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activation)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perform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in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hidden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layer.</a:t>
            </a:r>
            <a:endParaRPr sz="2400" dirty="0">
              <a:latin typeface="Cambria"/>
              <a:cs typeface="Cambria"/>
            </a:endParaRPr>
          </a:p>
          <a:p>
            <a:pPr marL="469900" marR="5080" indent="-457200">
              <a:lnSpc>
                <a:spcPts val="4320"/>
              </a:lnSpc>
              <a:spcBef>
                <a:spcPts val="18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30" dirty="0">
                <a:latin typeface="Cambria"/>
                <a:cs typeface="Cambria"/>
              </a:rPr>
              <a:t>This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creates</a:t>
            </a:r>
            <a:r>
              <a:rPr sz="240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new</a:t>
            </a:r>
            <a:r>
              <a:rPr sz="24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features</a:t>
            </a:r>
            <a:r>
              <a:rPr sz="240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from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input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data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then</a:t>
            </a:r>
            <a:r>
              <a:rPr sz="2400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pass</a:t>
            </a:r>
            <a:r>
              <a:rPr sz="240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these</a:t>
            </a:r>
            <a:r>
              <a:rPr sz="24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features</a:t>
            </a:r>
            <a:r>
              <a:rPr sz="240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new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hidden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on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get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into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Cambria"/>
                <a:cs typeface="Cambria"/>
              </a:rPr>
              <a:t>output</a:t>
            </a:r>
            <a:r>
              <a:rPr sz="24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45" dirty="0">
                <a:solidFill>
                  <a:srgbClr val="FF0000"/>
                </a:solidFill>
                <a:latin typeface="Cambria"/>
                <a:cs typeface="Cambria"/>
              </a:rPr>
              <a:t>layer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514604"/>
            <a:ext cx="6249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5400" spc="405" baseline="37808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85" dirty="0">
                <a:solidFill>
                  <a:srgbClr val="0D5671"/>
                </a:solidFill>
                <a:latin typeface="Cambria"/>
                <a:cs typeface="Cambria"/>
              </a:rPr>
              <a:t>What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is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5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Network?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48034" y="283083"/>
            <a:ext cx="855980" cy="1600200"/>
          </a:xfrm>
          <a:prstGeom prst="rect">
            <a:avLst/>
          </a:prstGeom>
          <a:solidFill>
            <a:srgbClr val="1CACE3"/>
          </a:solidFill>
          <a:ln w="25400">
            <a:solidFill>
              <a:srgbClr val="117DA7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R="83185" algn="r">
              <a:lnSpc>
                <a:spcPct val="100000"/>
              </a:lnSpc>
              <a:spcBef>
                <a:spcPts val="545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3919" y="3630167"/>
            <a:ext cx="10774680" cy="2734310"/>
          </a:xfrm>
          <a:custGeom>
            <a:avLst/>
            <a:gdLst/>
            <a:ahLst/>
            <a:cxnLst/>
            <a:rect l="l" t="t" r="r" b="b"/>
            <a:pathLst>
              <a:path w="10774680" h="2734310">
                <a:moveTo>
                  <a:pt x="10774680" y="0"/>
                </a:moveTo>
                <a:lnTo>
                  <a:pt x="0" y="0"/>
                </a:lnTo>
                <a:lnTo>
                  <a:pt x="0" y="2734055"/>
                </a:lnTo>
                <a:lnTo>
                  <a:pt x="10774680" y="2734055"/>
                </a:lnTo>
                <a:lnTo>
                  <a:pt x="10774680" y="0"/>
                </a:lnTo>
                <a:close/>
              </a:path>
            </a:pathLst>
          </a:custGeom>
          <a:solidFill>
            <a:srgbClr val="FCE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1231131"/>
            <a:ext cx="10968990" cy="506412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85" dirty="0">
                <a:latin typeface="Cambria"/>
                <a:cs typeface="Cambria"/>
              </a:rPr>
              <a:t>Here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we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finally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use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an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b="1" i="1" spc="30" dirty="0">
                <a:latin typeface="Cambria"/>
                <a:cs typeface="Cambria"/>
              </a:rPr>
              <a:t>activation</a:t>
            </a:r>
            <a:r>
              <a:rPr sz="2400" b="1" i="1" spc="440" dirty="0">
                <a:latin typeface="Cambria"/>
                <a:cs typeface="Cambria"/>
              </a:rPr>
              <a:t> </a:t>
            </a:r>
            <a:r>
              <a:rPr sz="2400" b="1" i="1" spc="50" dirty="0">
                <a:latin typeface="Cambria"/>
                <a:cs typeface="Cambria"/>
              </a:rPr>
              <a:t>function</a:t>
            </a:r>
            <a:r>
              <a:rPr sz="2400" b="1" i="1" spc="43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that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maps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to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the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b="1" i="1" spc="70" dirty="0">
                <a:latin typeface="Cambria"/>
                <a:cs typeface="Cambria"/>
              </a:rPr>
              <a:t>desired</a:t>
            </a:r>
            <a:endParaRPr sz="24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440"/>
              </a:spcBef>
            </a:pPr>
            <a:r>
              <a:rPr sz="2400" b="1" i="1" spc="10" dirty="0">
                <a:latin typeface="Cambria"/>
                <a:cs typeface="Cambria"/>
              </a:rPr>
              <a:t>output</a:t>
            </a:r>
            <a:r>
              <a:rPr sz="2400" b="1" i="1" spc="40" dirty="0">
                <a:latin typeface="Cambria"/>
                <a:cs typeface="Cambria"/>
              </a:rPr>
              <a:t> format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 dirty="0">
              <a:latin typeface="Cambria"/>
              <a:cs typeface="Cambria"/>
            </a:endParaRPr>
          </a:p>
          <a:p>
            <a:pPr marL="362585">
              <a:lnSpc>
                <a:spcPct val="100000"/>
              </a:lnSpc>
            </a:pP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Hidden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FF0000"/>
                </a:solidFill>
                <a:latin typeface="Calibri"/>
                <a:cs typeface="Calibri"/>
              </a:rPr>
              <a:t>Layers</a:t>
            </a:r>
            <a:endParaRPr sz="3200" dirty="0">
              <a:latin typeface="Calibri"/>
              <a:cs typeface="Calibri"/>
            </a:endParaRPr>
          </a:p>
          <a:p>
            <a:pPr marL="819785" lvl="1" indent="-457834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819785" algn="l"/>
                <a:tab pos="820419" algn="l"/>
              </a:tabLst>
            </a:pPr>
            <a:r>
              <a:rPr sz="2400" spc="110" dirty="0">
                <a:latin typeface="Cambria"/>
                <a:cs typeface="Cambria"/>
              </a:rPr>
              <a:t>Hidden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neural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network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layers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set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up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in</a:t>
            </a:r>
            <a:r>
              <a:rPr sz="2400" spc="65" dirty="0">
                <a:latin typeface="Cambria"/>
                <a:cs typeface="Cambria"/>
              </a:rPr>
              <a:t> many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different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ways.</a:t>
            </a:r>
            <a:endParaRPr sz="2400" dirty="0">
              <a:latin typeface="Cambria"/>
              <a:cs typeface="Cambria"/>
            </a:endParaRPr>
          </a:p>
          <a:p>
            <a:pPr marL="819785" lvl="1" indent="-457834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819785" algn="l"/>
                <a:tab pos="820419" algn="l"/>
              </a:tabLst>
            </a:pPr>
            <a:r>
              <a:rPr sz="2400" dirty="0">
                <a:latin typeface="Cambria"/>
                <a:cs typeface="Cambria"/>
              </a:rPr>
              <a:t>In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some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cases,</a:t>
            </a:r>
            <a:r>
              <a:rPr sz="2400" spc="-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weighted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inputs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are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randomly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assigned.</a:t>
            </a:r>
            <a:endParaRPr sz="2400" dirty="0">
              <a:latin typeface="Cambria"/>
              <a:cs typeface="Cambria"/>
            </a:endParaRPr>
          </a:p>
          <a:p>
            <a:pPr marL="819785" marR="5080" lvl="1" indent="-457200">
              <a:lnSpc>
                <a:spcPts val="4320"/>
              </a:lnSpc>
              <a:spcBef>
                <a:spcPts val="185"/>
              </a:spcBef>
              <a:buFont typeface="Arial MT"/>
              <a:buChar char="•"/>
              <a:tabLst>
                <a:tab pos="819785" algn="l"/>
                <a:tab pos="820419" algn="l"/>
                <a:tab pos="1238250" algn="l"/>
                <a:tab pos="2129790" algn="l"/>
                <a:tab pos="3867150" algn="l"/>
                <a:tab pos="4464050" algn="l"/>
                <a:tab pos="6053455" algn="l"/>
                <a:tab pos="6729095" algn="l"/>
                <a:tab pos="8310880" algn="l"/>
                <a:tab pos="9552305" algn="l"/>
                <a:tab pos="9863455" algn="l"/>
              </a:tabLst>
            </a:pPr>
            <a:r>
              <a:rPr sz="2400" spc="-5" dirty="0">
                <a:latin typeface="Cambria"/>
                <a:cs typeface="Cambria"/>
              </a:rPr>
              <a:t>I</a:t>
            </a:r>
            <a:r>
              <a:rPr sz="2400" spc="5" dirty="0">
                <a:latin typeface="Cambria"/>
                <a:cs typeface="Cambria"/>
              </a:rPr>
              <a:t>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5" dirty="0">
                <a:latin typeface="Cambria"/>
                <a:cs typeface="Cambria"/>
              </a:rPr>
              <a:t>other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40" dirty="0">
                <a:latin typeface="Cambria"/>
                <a:cs typeface="Cambria"/>
              </a:rPr>
              <a:t>cases,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th</a:t>
            </a:r>
            <a:r>
              <a:rPr sz="2400" spc="-45" dirty="0">
                <a:latin typeface="Cambria"/>
                <a:cs typeface="Cambria"/>
              </a:rPr>
              <a:t>e</a:t>
            </a:r>
            <a:r>
              <a:rPr sz="2400" spc="140" dirty="0">
                <a:latin typeface="Cambria"/>
                <a:cs typeface="Cambria"/>
              </a:rPr>
              <a:t>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a</a:t>
            </a:r>
            <a:r>
              <a:rPr sz="2400" spc="-120" dirty="0">
                <a:latin typeface="Cambria"/>
                <a:cs typeface="Cambria"/>
              </a:rPr>
              <a:t>r</a:t>
            </a:r>
            <a:r>
              <a:rPr sz="2400" spc="204" dirty="0">
                <a:latin typeface="Cambria"/>
                <a:cs typeface="Cambria"/>
              </a:rPr>
              <a:t>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f</a:t>
            </a:r>
            <a:r>
              <a:rPr sz="2400" spc="85" dirty="0">
                <a:latin typeface="Cambria"/>
                <a:cs typeface="Cambria"/>
              </a:rPr>
              <a:t>in</a:t>
            </a:r>
            <a:r>
              <a:rPr sz="2400" spc="90" dirty="0">
                <a:latin typeface="Cambria"/>
                <a:cs typeface="Cambria"/>
              </a:rPr>
              <a:t>e</a:t>
            </a:r>
            <a:r>
              <a:rPr sz="2400" spc="50" dirty="0">
                <a:latin typeface="Cambria"/>
                <a:cs typeface="Cambria"/>
              </a:rPr>
              <a:t>-</a:t>
            </a:r>
            <a:r>
              <a:rPr sz="2400" spc="65" dirty="0">
                <a:latin typeface="Cambria"/>
                <a:cs typeface="Cambria"/>
              </a:rPr>
              <a:t>tuned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calib</a:t>
            </a:r>
            <a:r>
              <a:rPr sz="2400" spc="40" dirty="0">
                <a:latin typeface="Cambria"/>
                <a:cs typeface="Cambria"/>
              </a:rPr>
              <a:t>r</a:t>
            </a:r>
            <a:r>
              <a:rPr sz="2400" spc="95" dirty="0">
                <a:latin typeface="Cambria"/>
                <a:cs typeface="Cambria"/>
              </a:rPr>
              <a:t>ated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th</a:t>
            </a:r>
            <a:r>
              <a:rPr sz="2400" spc="-110" dirty="0">
                <a:latin typeface="Cambria"/>
                <a:cs typeface="Cambria"/>
              </a:rPr>
              <a:t>r</a:t>
            </a:r>
            <a:r>
              <a:rPr sz="2400" spc="114" dirty="0">
                <a:latin typeface="Cambria"/>
                <a:cs typeface="Cambria"/>
              </a:rPr>
              <a:t>oug</a:t>
            </a:r>
            <a:r>
              <a:rPr sz="2400" spc="125" dirty="0">
                <a:latin typeface="Cambria"/>
                <a:cs typeface="Cambria"/>
              </a:rPr>
              <a:t>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95" dirty="0">
                <a:latin typeface="Cambria"/>
                <a:cs typeface="Cambria"/>
              </a:rPr>
              <a:t>p</a:t>
            </a:r>
            <a:r>
              <a:rPr sz="2400" spc="-30" dirty="0">
                <a:latin typeface="Cambria"/>
                <a:cs typeface="Cambria"/>
              </a:rPr>
              <a:t>r</a:t>
            </a:r>
            <a:r>
              <a:rPr sz="2400" spc="100" dirty="0">
                <a:latin typeface="Cambria"/>
                <a:cs typeface="Cambria"/>
              </a:rPr>
              <a:t>ocess  </a:t>
            </a:r>
            <a:r>
              <a:rPr sz="2400" spc="125" dirty="0">
                <a:latin typeface="Cambria"/>
                <a:cs typeface="Cambria"/>
              </a:rPr>
              <a:t>called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b="1" spc="75" dirty="0">
                <a:solidFill>
                  <a:srgbClr val="00AFEF"/>
                </a:solidFill>
                <a:latin typeface="Cambria"/>
                <a:cs typeface="Cambria"/>
              </a:rPr>
              <a:t>backpropagation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90800" y="2747772"/>
            <a:ext cx="7519034" cy="1362710"/>
          </a:xfrm>
          <a:custGeom>
            <a:avLst/>
            <a:gdLst/>
            <a:ahLst/>
            <a:cxnLst/>
            <a:rect l="l" t="t" r="r" b="b"/>
            <a:pathLst>
              <a:path w="7519034" h="1362710">
                <a:moveTo>
                  <a:pt x="7518654" y="0"/>
                </a:moveTo>
                <a:lnTo>
                  <a:pt x="0" y="0"/>
                </a:lnTo>
                <a:lnTo>
                  <a:pt x="0" y="1362455"/>
                </a:lnTo>
                <a:lnTo>
                  <a:pt x="7518654" y="1362455"/>
                </a:lnTo>
                <a:lnTo>
                  <a:pt x="751865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9794" y="3363214"/>
            <a:ext cx="56756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114" dirty="0">
                <a:solidFill>
                  <a:srgbClr val="FFFFFF"/>
                </a:solidFill>
                <a:latin typeface="Cambria"/>
                <a:cs typeface="Cambria"/>
              </a:rPr>
              <a:t>Activation</a:t>
            </a:r>
            <a:r>
              <a:rPr sz="44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400" spc="160" dirty="0">
                <a:solidFill>
                  <a:srgbClr val="FFFFFF"/>
                </a:solidFill>
                <a:latin typeface="Cambria"/>
                <a:cs typeface="Cambria"/>
              </a:rPr>
              <a:t>Functions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21739" y="172465"/>
            <a:ext cx="4822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5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60" dirty="0">
                <a:solidFill>
                  <a:srgbClr val="0D5671"/>
                </a:solidFill>
                <a:latin typeface="Cambria"/>
                <a:cs typeface="Cambria"/>
              </a:rPr>
              <a:t>Functions</a:t>
            </a:r>
            <a:endParaRPr sz="36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235" y="3202776"/>
            <a:ext cx="4429307" cy="28858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50" y="1488186"/>
            <a:ext cx="6288786" cy="38816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4659" y="5663520"/>
            <a:ext cx="38068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45" dirty="0">
                <a:solidFill>
                  <a:srgbClr val="1CACE3"/>
                </a:solidFill>
                <a:latin typeface="Calibri"/>
                <a:cs typeface="Calibri"/>
              </a:rPr>
              <a:t>placement</a:t>
            </a:r>
            <a:r>
              <a:rPr sz="1900" i="1" spc="-1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of</a:t>
            </a:r>
            <a:r>
              <a:rPr sz="1900" i="1" spc="-2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the</a:t>
            </a:r>
            <a:r>
              <a:rPr sz="1900" i="1" spc="-15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55" dirty="0">
                <a:solidFill>
                  <a:srgbClr val="1CACE3"/>
                </a:solidFill>
                <a:latin typeface="Calibri"/>
                <a:cs typeface="Calibri"/>
              </a:rPr>
              <a:t>activation</a:t>
            </a:r>
            <a:r>
              <a:rPr sz="1900" i="1" spc="-30" dirty="0">
                <a:solidFill>
                  <a:srgbClr val="1CACE3"/>
                </a:solidFill>
                <a:latin typeface="Calibri"/>
                <a:cs typeface="Calibri"/>
              </a:rPr>
              <a:t> </a:t>
            </a:r>
            <a:r>
              <a:rPr sz="1900" i="1" spc="-35" dirty="0">
                <a:solidFill>
                  <a:srgbClr val="1CACE3"/>
                </a:solidFill>
                <a:latin typeface="Calibri"/>
                <a:cs typeface="Calibri"/>
              </a:rPr>
              <a:t>function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801" y="920749"/>
            <a:ext cx="10533380" cy="379984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4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20" dirty="0">
                <a:solidFill>
                  <a:srgbClr val="C00000"/>
                </a:solidFill>
                <a:latin typeface="Cambria"/>
                <a:cs typeface="Cambria"/>
              </a:rPr>
              <a:t>decides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400" spc="3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14" dirty="0">
                <a:solidFill>
                  <a:srgbClr val="C00000"/>
                </a:solidFill>
                <a:latin typeface="Cambria"/>
                <a:cs typeface="Cambria"/>
              </a:rPr>
              <a:t>whether</a:t>
            </a:r>
            <a:r>
              <a:rPr sz="2400" b="1" i="1" spc="3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neuron</a:t>
            </a:r>
            <a:r>
              <a:rPr sz="24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should</a:t>
            </a:r>
            <a:r>
              <a:rPr sz="2400" spc="3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400" spc="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14" dirty="0">
                <a:solidFill>
                  <a:srgbClr val="C00000"/>
                </a:solidFill>
                <a:latin typeface="Cambria"/>
                <a:cs typeface="Cambria"/>
              </a:rPr>
              <a:t>activated</a:t>
            </a:r>
            <a:r>
              <a:rPr sz="2400" b="1" i="1" spc="3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i="1" spc="110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4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by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20" dirty="0">
                <a:solidFill>
                  <a:srgbClr val="C00000"/>
                </a:solidFill>
                <a:latin typeface="Cambria"/>
                <a:cs typeface="Cambria"/>
              </a:rPr>
              <a:t>calculating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05" dirty="0">
                <a:solidFill>
                  <a:srgbClr val="C00000"/>
                </a:solidFill>
                <a:latin typeface="Cambria"/>
                <a:cs typeface="Cambria"/>
              </a:rPr>
              <a:t>weighted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65" dirty="0">
                <a:solidFill>
                  <a:srgbClr val="C00000"/>
                </a:solidFill>
                <a:latin typeface="Cambria"/>
                <a:cs typeface="Cambria"/>
              </a:rPr>
              <a:t>sum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further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adding</a:t>
            </a:r>
            <a:r>
              <a:rPr sz="2400" b="1" i="1" spc="20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05" dirty="0">
                <a:solidFill>
                  <a:srgbClr val="C00000"/>
                </a:solidFill>
                <a:latin typeface="Cambria"/>
                <a:cs typeface="Cambria"/>
              </a:rPr>
              <a:t>bias</a:t>
            </a:r>
            <a:r>
              <a:rPr sz="24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it.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three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types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functions:</a:t>
            </a:r>
            <a:endParaRPr sz="2400">
              <a:latin typeface="Cambria"/>
              <a:cs typeface="Cambria"/>
            </a:endParaRPr>
          </a:p>
          <a:p>
            <a:pPr marL="469900" indent="-228600">
              <a:lnSpc>
                <a:spcPct val="100000"/>
              </a:lnSpc>
              <a:spcBef>
                <a:spcPts val="2039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Binary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step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  <a:p>
            <a:pPr marL="469900" indent="-228600">
              <a:lnSpc>
                <a:spcPct val="100000"/>
              </a:lnSpc>
              <a:spcBef>
                <a:spcPts val="20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Linear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  <a:p>
            <a:pPr marL="469900" indent="-228600">
              <a:lnSpc>
                <a:spcPct val="100000"/>
              </a:lnSpc>
              <a:spcBef>
                <a:spcPts val="2039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Non-linear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24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1801" y="809170"/>
            <a:ext cx="11295380" cy="529463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3200" b="1" spc="135" dirty="0">
                <a:solidFill>
                  <a:srgbClr val="E12F42"/>
                </a:solidFill>
                <a:latin typeface="Cambria"/>
                <a:cs typeface="Cambria"/>
              </a:rPr>
              <a:t>Binary</a:t>
            </a:r>
            <a:r>
              <a:rPr sz="3200" b="1" spc="9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35" dirty="0">
                <a:solidFill>
                  <a:srgbClr val="E12F42"/>
                </a:solidFill>
                <a:latin typeface="Cambria"/>
                <a:cs typeface="Cambria"/>
              </a:rPr>
              <a:t>Step</a:t>
            </a:r>
            <a:r>
              <a:rPr sz="3200" b="1" spc="75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125" dirty="0">
                <a:solidFill>
                  <a:srgbClr val="E12F42"/>
                </a:solidFill>
                <a:latin typeface="Cambria"/>
                <a:cs typeface="Cambria"/>
              </a:rPr>
              <a:t>Function:</a:t>
            </a:r>
            <a:endParaRPr sz="3200" dirty="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400" spc="-6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4536A"/>
                </a:solidFill>
                <a:latin typeface="Cambria"/>
                <a:cs typeface="Cambria"/>
              </a:rPr>
              <a:t>is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44536A"/>
                </a:solidFill>
                <a:latin typeface="Cambria"/>
                <a:cs typeface="Cambria"/>
              </a:rPr>
              <a:t>threshold-based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function.</a:t>
            </a:r>
            <a:endParaRPr sz="2400" dirty="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400" spc="-6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4536A"/>
                </a:solidFill>
                <a:latin typeface="Cambria"/>
                <a:cs typeface="Cambria"/>
              </a:rPr>
              <a:t>check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output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of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neuron,</a:t>
            </a:r>
            <a:endParaRPr sz="2400" dirty="0">
              <a:latin typeface="Cambria"/>
              <a:cs typeface="Cambria"/>
            </a:endParaRPr>
          </a:p>
          <a:p>
            <a:pPr marL="527050" lvl="1" indent="-28575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526415" algn="l"/>
                <a:tab pos="527050" algn="l"/>
              </a:tabLst>
            </a:pPr>
            <a:r>
              <a:rPr sz="2400" dirty="0">
                <a:solidFill>
                  <a:srgbClr val="44536A"/>
                </a:solidFill>
                <a:latin typeface="Cambria"/>
                <a:cs typeface="Cambria"/>
              </a:rPr>
              <a:t>if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neuron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output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44536A"/>
                </a:solidFill>
                <a:latin typeface="Cambria"/>
                <a:cs typeface="Cambria"/>
              </a:rPr>
              <a:t>is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above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threshold,</a:t>
            </a:r>
            <a:endParaRPr sz="2400" dirty="0">
              <a:latin typeface="Cambria"/>
              <a:cs typeface="Cambria"/>
            </a:endParaRPr>
          </a:p>
          <a:p>
            <a:pPr marL="755650" lvl="2" indent="-28575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755015" algn="l"/>
                <a:tab pos="755650" algn="l"/>
              </a:tabLst>
            </a:pP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neuron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4536A"/>
                </a:solidFill>
                <a:latin typeface="Cambria"/>
                <a:cs typeface="Cambria"/>
              </a:rPr>
              <a:t>will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send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same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signal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4536A"/>
                </a:solidFill>
                <a:latin typeface="Cambria"/>
                <a:cs typeface="Cambria"/>
              </a:rPr>
              <a:t>to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next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layer</a:t>
            </a:r>
            <a:endParaRPr sz="2400" dirty="0">
              <a:latin typeface="Cambria"/>
              <a:cs typeface="Cambria"/>
            </a:endParaRPr>
          </a:p>
          <a:p>
            <a:pPr marL="755650" lvl="2" indent="-28575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755015" algn="l"/>
                <a:tab pos="755650" algn="l"/>
              </a:tabLst>
            </a:pP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otherwise,</a:t>
            </a:r>
            <a:r>
              <a:rPr sz="2400" spc="-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4536A"/>
                </a:solidFill>
                <a:latin typeface="Cambria"/>
                <a:cs typeface="Cambria"/>
              </a:rPr>
              <a:t>will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4536A"/>
                </a:solidFill>
                <a:latin typeface="Cambria"/>
                <a:cs typeface="Cambria"/>
              </a:rPr>
              <a:t>keep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inactive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neuron.</a:t>
            </a:r>
            <a:r>
              <a:rPr sz="2400" spc="-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44536A"/>
                </a:solidFill>
                <a:latin typeface="Cambria"/>
                <a:cs typeface="Cambria"/>
              </a:rPr>
              <a:t>(or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stop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44536A"/>
                </a:solidFill>
                <a:latin typeface="Cambria"/>
                <a:cs typeface="Cambria"/>
              </a:rPr>
              <a:t>to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participate</a:t>
            </a:r>
            <a:r>
              <a:rPr sz="2400" spc="110" dirty="0">
                <a:solidFill>
                  <a:srgbClr val="44536A"/>
                </a:solidFill>
                <a:latin typeface="Trebuchet MS"/>
                <a:cs typeface="Trebuchet MS"/>
              </a:rPr>
              <a:t>…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)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Problem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Binary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Step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Function:</a:t>
            </a:r>
            <a:endParaRPr sz="24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45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W</a:t>
            </a:r>
            <a:r>
              <a:rPr sz="2400" spc="135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4536A"/>
                </a:solidFill>
                <a:latin typeface="Cambria"/>
                <a:cs typeface="Cambria"/>
              </a:rPr>
              <a:t>can</a:t>
            </a:r>
            <a:r>
              <a:rPr sz="2400" spc="-280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-90" dirty="0">
                <a:solidFill>
                  <a:srgbClr val="44536A"/>
                </a:solidFill>
                <a:latin typeface="Cambria"/>
                <a:cs typeface="Cambria"/>
              </a:rPr>
              <a:t>t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44536A"/>
                </a:solidFill>
                <a:latin typeface="Cambria"/>
                <a:cs typeface="Cambria"/>
              </a:rPr>
              <a:t>us</a:t>
            </a:r>
            <a:r>
              <a:rPr sz="2400" spc="95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3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in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multiclassi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fication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4536A"/>
                </a:solidFill>
                <a:latin typeface="Cambria"/>
                <a:cs typeface="Cambria"/>
              </a:rPr>
              <a:t>p</a:t>
            </a:r>
            <a:r>
              <a:rPr sz="2400" spc="-30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400" spc="160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b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lems</a:t>
            </a:r>
            <a:r>
              <a:rPr sz="2400" spc="204" dirty="0">
                <a:solidFill>
                  <a:srgbClr val="44536A"/>
                </a:solidFill>
                <a:latin typeface="Cambria"/>
                <a:cs typeface="Cambria"/>
              </a:rPr>
              <a:t>.</a:t>
            </a:r>
            <a:r>
              <a:rPr sz="2400" spc="-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65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400" spc="-60" dirty="0">
                <a:solidFill>
                  <a:srgbClr val="44536A"/>
                </a:solidFill>
                <a:latin typeface="Cambria"/>
                <a:cs typeface="Cambria"/>
              </a:rPr>
              <a:t>t</a:t>
            </a:r>
            <a:r>
              <a:rPr sz="2400" spc="-450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just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140" dirty="0">
                <a:solidFill>
                  <a:srgbClr val="44536A"/>
                </a:solidFill>
                <a:latin typeface="Cambria"/>
                <a:cs typeface="Cambria"/>
              </a:rPr>
              <a:t>y</a:t>
            </a:r>
            <a:r>
              <a:rPr sz="2400" spc="-1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4536A"/>
                </a:solidFill>
                <a:latin typeface="Cambria"/>
                <a:cs typeface="Cambria"/>
              </a:rPr>
              <a:t>YES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400" spc="45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220" dirty="0">
                <a:solidFill>
                  <a:srgbClr val="44536A"/>
                </a:solidFill>
                <a:latin typeface="Cambria"/>
                <a:cs typeface="Cambria"/>
              </a:rPr>
              <a:t>NO</a:t>
            </a:r>
            <a:endParaRPr sz="2400" dirty="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125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400" spc="-125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-12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only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4536A"/>
                </a:solidFill>
                <a:latin typeface="Cambria"/>
                <a:cs typeface="Cambria"/>
              </a:rPr>
              <a:t>trigger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function</a:t>
            </a:r>
            <a:r>
              <a:rPr sz="2400" spc="11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400" spc="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ambria"/>
                <a:cs typeface="Cambria"/>
              </a:rPr>
              <a:t>can</a:t>
            </a:r>
            <a:r>
              <a:rPr sz="2400" spc="-10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400" spc="-10" dirty="0">
                <a:solidFill>
                  <a:srgbClr val="44536A"/>
                </a:solidFill>
                <a:latin typeface="Cambria"/>
                <a:cs typeface="Cambria"/>
              </a:rPr>
              <a:t>t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4536A"/>
                </a:solidFill>
                <a:latin typeface="Cambria"/>
                <a:cs typeface="Cambria"/>
              </a:rPr>
              <a:t>change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any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44536A"/>
                </a:solidFill>
                <a:latin typeface="Cambria"/>
                <a:cs typeface="Cambria"/>
              </a:rPr>
              <a:t>of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4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data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4536A"/>
                </a:solidFill>
                <a:latin typeface="Cambria"/>
                <a:cs typeface="Cambria"/>
              </a:rPr>
              <a:t>that</a:t>
            </a:r>
            <a:r>
              <a:rPr sz="2400" spc="125" dirty="0">
                <a:solidFill>
                  <a:srgbClr val="44536A"/>
                </a:solidFill>
                <a:latin typeface="Cambria"/>
                <a:cs typeface="Cambria"/>
              </a:rPr>
              <a:t> comes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44536A"/>
                </a:solidFill>
                <a:latin typeface="Cambria"/>
                <a:cs typeface="Cambria"/>
              </a:rPr>
              <a:t>from</a:t>
            </a:r>
            <a:r>
              <a:rPr sz="2400" spc="114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the </a:t>
            </a:r>
            <a:r>
              <a:rPr sz="2400" spc="-509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previous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44536A"/>
                </a:solidFill>
                <a:latin typeface="Cambria"/>
                <a:cs typeface="Cambria"/>
              </a:rPr>
              <a:t>layer,</a:t>
            </a:r>
            <a:r>
              <a:rPr sz="2400" spc="-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44536A"/>
                </a:solidFill>
                <a:latin typeface="Cambria"/>
                <a:cs typeface="Cambria"/>
              </a:rPr>
              <a:t>so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we </a:t>
            </a:r>
            <a:r>
              <a:rPr sz="2400" spc="150" dirty="0">
                <a:solidFill>
                  <a:srgbClr val="44536A"/>
                </a:solidFill>
                <a:latin typeface="Cambria"/>
                <a:cs typeface="Cambria"/>
              </a:rPr>
              <a:t>need</a:t>
            </a:r>
            <a:r>
              <a:rPr sz="24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400" spc="65" dirty="0">
                <a:solidFill>
                  <a:srgbClr val="44536A"/>
                </a:solidFill>
                <a:latin typeface="Cambria"/>
                <a:cs typeface="Cambria"/>
              </a:rPr>
              <a:t> more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4536A"/>
                </a:solidFill>
                <a:latin typeface="Cambria"/>
                <a:cs typeface="Cambria"/>
              </a:rPr>
              <a:t>complex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r>
              <a:rPr sz="24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44536A"/>
                </a:solidFill>
                <a:latin typeface="Cambria"/>
                <a:cs typeface="Cambria"/>
              </a:rPr>
              <a:t>function.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2514" y="234749"/>
            <a:ext cx="3226282" cy="25320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801" y="835842"/>
            <a:ext cx="11296015" cy="291528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b="1" spc="120" dirty="0">
                <a:solidFill>
                  <a:srgbClr val="E12F42"/>
                </a:solidFill>
                <a:latin typeface="Cambria"/>
                <a:cs typeface="Cambria"/>
              </a:rPr>
              <a:t>Linear</a:t>
            </a:r>
            <a:r>
              <a:rPr sz="3200" b="1" spc="8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85" dirty="0">
                <a:solidFill>
                  <a:srgbClr val="E12F42"/>
                </a:solidFill>
                <a:latin typeface="Cambria"/>
                <a:cs typeface="Cambria"/>
              </a:rPr>
              <a:t>Activation</a:t>
            </a:r>
            <a:r>
              <a:rPr sz="3200" b="1" spc="10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125" dirty="0">
                <a:solidFill>
                  <a:srgbClr val="E12F42"/>
                </a:solidFill>
                <a:latin typeface="Cambria"/>
                <a:cs typeface="Cambria"/>
              </a:rPr>
              <a:t>Function:</a:t>
            </a:r>
            <a:endParaRPr sz="32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-7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44536A"/>
                </a:solidFill>
                <a:latin typeface="Cambria"/>
                <a:cs typeface="Cambria"/>
              </a:rPr>
              <a:t>uses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function</a:t>
            </a:r>
            <a:r>
              <a:rPr sz="2800" spc="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21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315" dirty="0">
                <a:solidFill>
                  <a:srgbClr val="44536A"/>
                </a:solidFill>
                <a:latin typeface="Cambria"/>
                <a:cs typeface="Cambria"/>
              </a:rPr>
              <a:t>=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w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44536A"/>
                </a:solidFill>
                <a:latin typeface="Cambria Math"/>
                <a:cs typeface="Cambria Math"/>
              </a:rPr>
              <a:t>∗</a:t>
            </a:r>
            <a:r>
              <a:rPr sz="2800" spc="75" dirty="0">
                <a:solidFill>
                  <a:srgbClr val="44536A"/>
                </a:solidFill>
                <a:latin typeface="Cambria Math"/>
                <a:cs typeface="Cambria Math"/>
              </a:rPr>
              <a:t> </a:t>
            </a:r>
            <a:r>
              <a:rPr sz="2800" spc="215" dirty="0">
                <a:solidFill>
                  <a:srgbClr val="44536A"/>
                </a:solidFill>
                <a:latin typeface="Cambria"/>
                <a:cs typeface="Cambria"/>
              </a:rPr>
              <a:t>x.</a:t>
            </a:r>
            <a:endParaRPr sz="2800">
              <a:latin typeface="Cambria"/>
              <a:cs typeface="Cambria"/>
            </a:endParaRPr>
          </a:p>
          <a:p>
            <a:pPr marL="298450" marR="5080" indent="-285750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-70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800" spc="3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takes</a:t>
            </a:r>
            <a:r>
              <a:rPr sz="2800" spc="3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35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inputs,</a:t>
            </a:r>
            <a:r>
              <a:rPr sz="2800" spc="1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multiplied</a:t>
            </a:r>
            <a:r>
              <a:rPr sz="2800" spc="3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60" dirty="0">
                <a:solidFill>
                  <a:srgbClr val="44536A"/>
                </a:solidFill>
                <a:latin typeface="Cambria"/>
                <a:cs typeface="Cambria"/>
              </a:rPr>
              <a:t>by</a:t>
            </a:r>
            <a:r>
              <a:rPr sz="2800" spc="3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3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weights</a:t>
            </a:r>
            <a:r>
              <a:rPr sz="2800" spc="3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for</a:t>
            </a:r>
            <a:r>
              <a:rPr sz="2800" spc="3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each</a:t>
            </a:r>
            <a:r>
              <a:rPr sz="2800" spc="35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neuron,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and </a:t>
            </a:r>
            <a:r>
              <a:rPr sz="2800" spc="-60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creates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an </a:t>
            </a:r>
            <a:r>
              <a:rPr sz="2800" spc="20" dirty="0">
                <a:solidFill>
                  <a:srgbClr val="44536A"/>
                </a:solidFill>
                <a:latin typeface="Cambria"/>
                <a:cs typeface="Cambria"/>
              </a:rPr>
              <a:t>output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signal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 proportional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44536A"/>
                </a:solidFill>
                <a:latin typeface="Cambria"/>
                <a:cs typeface="Cambria"/>
              </a:rPr>
              <a:t>to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input.</a:t>
            </a:r>
            <a:endParaRPr sz="2800">
              <a:latin typeface="Cambria"/>
              <a:cs typeface="Cambria"/>
            </a:endParaRPr>
          </a:p>
          <a:p>
            <a:pPr marL="298450" marR="5715" indent="-285750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97815" algn="l"/>
                <a:tab pos="298450" algn="l"/>
                <a:tab pos="834390" algn="l"/>
                <a:tab pos="1666239" algn="l"/>
                <a:tab pos="2893695" algn="l"/>
                <a:tab pos="3304540" algn="l"/>
                <a:tab pos="4475480" algn="l"/>
                <a:tab pos="6007735" algn="l"/>
                <a:tab pos="6495415" algn="l"/>
                <a:tab pos="7718425" algn="l"/>
                <a:tab pos="8642350" algn="l"/>
                <a:tab pos="9052560" algn="l"/>
                <a:tab pos="9972675" algn="l"/>
              </a:tabLst>
            </a:pPr>
            <a:r>
              <a:rPr sz="2800" spc="-5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800" spc="5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10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800" spc="145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sens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e</a:t>
            </a:r>
            <a:r>
              <a:rPr sz="2800" spc="240" dirty="0">
                <a:solidFill>
                  <a:srgbClr val="44536A"/>
                </a:solidFill>
                <a:latin typeface="Cambria"/>
                <a:cs typeface="Cambria"/>
              </a:rPr>
              <a:t>,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l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nea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fun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c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tion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i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better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th</a:t>
            </a:r>
            <a:r>
              <a:rPr sz="2800" spc="15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step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f</a:t>
            </a:r>
            <a:r>
              <a:rPr sz="2800" spc="-15" dirty="0">
                <a:solidFill>
                  <a:srgbClr val="44536A"/>
                </a:solidFill>
                <a:latin typeface="Cambria"/>
                <a:cs typeface="Cambria"/>
              </a:rPr>
              <a:t>u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ncti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800" spc="25" dirty="0">
                <a:solidFill>
                  <a:srgbClr val="44536A"/>
                </a:solidFill>
                <a:latin typeface="Cambria"/>
                <a:cs typeface="Cambria"/>
              </a:rPr>
              <a:t>n  </a:t>
            </a:r>
            <a:r>
              <a:rPr sz="2800" spc="170" dirty="0">
                <a:solidFill>
                  <a:srgbClr val="44536A"/>
                </a:solidFill>
                <a:latin typeface="Cambria"/>
                <a:cs typeface="Cambria"/>
              </a:rPr>
              <a:t>because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35" dirty="0">
                <a:solidFill>
                  <a:srgbClr val="44536A"/>
                </a:solidFill>
                <a:latin typeface="Cambria"/>
                <a:cs typeface="Cambria"/>
              </a:rPr>
              <a:t>it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allows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multiple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outputs,</a:t>
            </a:r>
            <a:r>
              <a:rPr sz="2800" spc="-1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44536A"/>
                </a:solidFill>
                <a:latin typeface="Cambria"/>
                <a:cs typeface="Cambria"/>
              </a:rPr>
              <a:t>not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44536A"/>
                </a:solidFill>
                <a:latin typeface="Cambria"/>
                <a:cs typeface="Cambria"/>
              </a:rPr>
              <a:t>just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b="1" spc="185" dirty="0">
                <a:solidFill>
                  <a:srgbClr val="44536A"/>
                </a:solidFill>
                <a:latin typeface="Cambria"/>
                <a:cs typeface="Cambria"/>
              </a:rPr>
              <a:t>YES</a:t>
            </a:r>
            <a:r>
              <a:rPr sz="2800" b="1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b="1" spc="330" dirty="0">
                <a:solidFill>
                  <a:srgbClr val="44536A"/>
                </a:solidFill>
                <a:latin typeface="Cambria"/>
                <a:cs typeface="Cambria"/>
              </a:rPr>
              <a:t>NO</a:t>
            </a:r>
            <a:r>
              <a:rPr sz="2800" spc="330" dirty="0">
                <a:solidFill>
                  <a:srgbClr val="44536A"/>
                </a:solidFill>
                <a:latin typeface="Cambria"/>
                <a:cs typeface="Cambria"/>
              </a:rPr>
              <a:t>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795" y="4291909"/>
            <a:ext cx="11413999" cy="1772921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Problem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lang="en-US" sz="2400" spc="45" dirty="0">
                <a:solidFill>
                  <a:srgbClr val="FF0000"/>
                </a:solidFill>
                <a:latin typeface="Cambria"/>
                <a:cs typeface="Cambria"/>
              </a:rPr>
              <a:t>Linear Activation Function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  <a:p>
            <a:pPr marL="241300" marR="124460" lvl="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655955" algn="l"/>
                <a:tab pos="1360170" algn="l"/>
                <a:tab pos="2576830" algn="l"/>
                <a:tab pos="3684904" algn="l"/>
                <a:tab pos="4439920" algn="l"/>
                <a:tab pos="5556885" algn="l"/>
                <a:tab pos="6051550" algn="l"/>
                <a:tab pos="7244715" algn="l"/>
                <a:tab pos="7914005" algn="l"/>
                <a:tab pos="9711690" algn="l"/>
              </a:tabLst>
            </a:pPr>
            <a:r>
              <a:rPr lang="en-US" altLang="en-US" sz="2000" spc="-65" dirty="0">
                <a:solidFill>
                  <a:srgbClr val="404040"/>
                </a:solidFill>
                <a:latin typeface="Cambria"/>
              </a:rPr>
              <a:t>A linear activation function can't capture complex patterns, limiting the model to solving only linear problems.</a:t>
            </a:r>
          </a:p>
          <a:p>
            <a:pPr marL="241300" marR="124460" lvl="0" indent="-228600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655955" algn="l"/>
                <a:tab pos="1360170" algn="l"/>
                <a:tab pos="2576830" algn="l"/>
                <a:tab pos="3684904" algn="l"/>
                <a:tab pos="4439920" algn="l"/>
                <a:tab pos="5556885" algn="l"/>
                <a:tab pos="6051550" algn="l"/>
                <a:tab pos="7244715" algn="l"/>
                <a:tab pos="7914005" algn="l"/>
                <a:tab pos="9711690" algn="l"/>
              </a:tabLst>
            </a:pPr>
            <a:r>
              <a:rPr lang="en-US" altLang="en-US" sz="2000" b="1" spc="-65" dirty="0">
                <a:solidFill>
                  <a:srgbClr val="404040"/>
                </a:solidFill>
                <a:latin typeface="Cambria"/>
              </a:rPr>
              <a:t>Limited Depth Utility</a:t>
            </a:r>
            <a:r>
              <a:rPr lang="en-US" altLang="en-US" sz="2000" spc="-65" dirty="0">
                <a:solidFill>
                  <a:srgbClr val="404040"/>
                </a:solidFill>
                <a:latin typeface="Cambria"/>
              </a:rPr>
              <a:t>: In deep networks, a linear function makes additional layers redundant, reducing the model to a single linear transformation</a:t>
            </a:r>
            <a:endParaRPr sz="2000" spc="-65" dirty="0">
              <a:solidFill>
                <a:srgbClr val="404040"/>
              </a:solidFill>
              <a:latin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7723" y="78485"/>
            <a:ext cx="3688841" cy="202082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FB70ACC-DBF5-4FC9-B996-91F5E7F59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6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28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1801" y="835842"/>
            <a:ext cx="6741795" cy="150939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b="1" spc="114" dirty="0">
                <a:solidFill>
                  <a:srgbClr val="E12F42"/>
                </a:solidFill>
                <a:latin typeface="Cambria"/>
                <a:cs typeface="Cambria"/>
              </a:rPr>
              <a:t>Non-Linear</a:t>
            </a:r>
            <a:r>
              <a:rPr sz="3200" b="1" spc="10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85" dirty="0">
                <a:solidFill>
                  <a:srgbClr val="E12F42"/>
                </a:solidFill>
                <a:latin typeface="Cambria"/>
                <a:cs typeface="Cambria"/>
              </a:rPr>
              <a:t>Activation</a:t>
            </a:r>
            <a:r>
              <a:rPr sz="3200" b="1" spc="100" dirty="0">
                <a:solidFill>
                  <a:srgbClr val="E12F42"/>
                </a:solidFill>
                <a:latin typeface="Cambria"/>
                <a:cs typeface="Cambria"/>
              </a:rPr>
              <a:t> </a:t>
            </a:r>
            <a:r>
              <a:rPr sz="3200" b="1" spc="125" dirty="0">
                <a:solidFill>
                  <a:srgbClr val="E12F42"/>
                </a:solidFill>
                <a:latin typeface="Cambria"/>
                <a:cs typeface="Cambria"/>
              </a:rPr>
              <a:t>Function:</a:t>
            </a:r>
            <a:endParaRPr sz="3200">
              <a:latin typeface="Cambria"/>
              <a:cs typeface="Cambria"/>
            </a:endParaRPr>
          </a:p>
          <a:p>
            <a:pPr marL="298450" marR="5080" indent="-285750">
              <a:lnSpc>
                <a:spcPts val="3020"/>
              </a:lnSpc>
              <a:spcBef>
                <a:spcPts val="1065"/>
              </a:spcBef>
              <a:buFont typeface="Arial MT"/>
              <a:buChar char="•"/>
              <a:tabLst>
                <a:tab pos="297815" algn="l"/>
                <a:tab pos="298450" algn="l"/>
                <a:tab pos="1541780" algn="l"/>
                <a:tab pos="2930525" algn="l"/>
                <a:tab pos="4605020" algn="l"/>
                <a:tab pos="6160770" algn="l"/>
              </a:tabLst>
            </a:pP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Ma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n</a:t>
            </a:r>
            <a:r>
              <a:rPr sz="2800" spc="165" dirty="0">
                <a:solidFill>
                  <a:srgbClr val="44536A"/>
                </a:solidFill>
                <a:latin typeface="Cambria"/>
                <a:cs typeface="Cambria"/>
              </a:rPr>
              <a:t>y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ne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u</a:t>
            </a:r>
            <a:r>
              <a:rPr sz="2800" spc="-60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al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net</a:t>
            </a:r>
            <a:r>
              <a:rPr sz="2800" spc="-114" dirty="0">
                <a:solidFill>
                  <a:srgbClr val="44536A"/>
                </a:solidFill>
                <a:latin typeface="Cambria"/>
                <a:cs typeface="Cambria"/>
              </a:rPr>
              <a:t>w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o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r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k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model</a:t>
            </a:r>
            <a:r>
              <a:rPr sz="2800" spc="10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	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use 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functions.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8335" y="1508252"/>
            <a:ext cx="35083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2145" algn="l"/>
              </a:tabLst>
            </a:pP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nonlinear	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activation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801" y="2402839"/>
            <a:ext cx="10603230" cy="28848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98450" marR="5080" indent="-285750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98450" algn="l"/>
              </a:tabLst>
            </a:pP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They 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allow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model </a:t>
            </a:r>
            <a:r>
              <a:rPr sz="2800" spc="5" dirty="0">
                <a:solidFill>
                  <a:srgbClr val="44536A"/>
                </a:solidFill>
                <a:latin typeface="Cambria"/>
                <a:cs typeface="Cambria"/>
              </a:rPr>
              <a:t>to  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create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complex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mappings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between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the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44536A"/>
                </a:solidFill>
                <a:latin typeface="Cambria"/>
                <a:cs typeface="Cambria"/>
              </a:rPr>
              <a:t>network</a:t>
            </a:r>
            <a:r>
              <a:rPr sz="2800" spc="-25" dirty="0">
                <a:solidFill>
                  <a:srgbClr val="44536A"/>
                </a:solidFill>
                <a:latin typeface="Trebuchet MS"/>
                <a:cs typeface="Trebuchet MS"/>
              </a:rPr>
              <a:t>’</a:t>
            </a:r>
            <a:r>
              <a:rPr sz="2800" spc="-25" dirty="0">
                <a:solidFill>
                  <a:srgbClr val="44536A"/>
                </a:solidFill>
                <a:latin typeface="Cambria"/>
                <a:cs typeface="Cambria"/>
              </a:rPr>
              <a:t>s</a:t>
            </a:r>
            <a:r>
              <a:rPr sz="2800" spc="-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inputs</a:t>
            </a:r>
            <a:r>
              <a:rPr sz="2800" spc="5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outputs,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which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are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essential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for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learning 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and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modeling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complex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data 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such 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as </a:t>
            </a:r>
            <a:r>
              <a:rPr sz="2800" spc="155" dirty="0">
                <a:solidFill>
                  <a:srgbClr val="44536A"/>
                </a:solidFill>
                <a:latin typeface="Cambria"/>
                <a:cs typeface="Cambria"/>
              </a:rPr>
              <a:t>images,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video, 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44536A"/>
                </a:solidFill>
                <a:latin typeface="Cambria"/>
                <a:cs typeface="Cambria"/>
              </a:rPr>
              <a:t>audio,</a:t>
            </a:r>
            <a:r>
              <a:rPr sz="2800" spc="10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and</a:t>
            </a:r>
            <a:r>
              <a:rPr sz="2800" spc="12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44536A"/>
                </a:solidFill>
                <a:latin typeface="Cambria"/>
                <a:cs typeface="Cambria"/>
              </a:rPr>
              <a:t>data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sets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that</a:t>
            </a:r>
            <a:r>
              <a:rPr sz="2800" spc="-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are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nonlinear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or</a:t>
            </a:r>
            <a:r>
              <a:rPr sz="2800" spc="7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have</a:t>
            </a:r>
            <a:r>
              <a:rPr sz="2800" spc="9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high </a:t>
            </a: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dimensionality.</a:t>
            </a:r>
            <a:endParaRPr sz="2800" dirty="0">
              <a:latin typeface="Cambria"/>
              <a:cs typeface="Cambria"/>
            </a:endParaRPr>
          </a:p>
          <a:p>
            <a:pPr marL="298450" marR="33020" indent="-285750" algn="just">
              <a:lnSpc>
                <a:spcPts val="3020"/>
              </a:lnSpc>
              <a:spcBef>
                <a:spcPts val="1050"/>
              </a:spcBef>
              <a:buFont typeface="Arial MT"/>
              <a:buChar char="•"/>
              <a:tabLst>
                <a:tab pos="298450" algn="l"/>
              </a:tabLst>
            </a:pP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The </a:t>
            </a:r>
            <a:r>
              <a:rPr sz="2800" spc="114" dirty="0">
                <a:solidFill>
                  <a:srgbClr val="44536A"/>
                </a:solidFill>
                <a:latin typeface="Cambria"/>
                <a:cs typeface="Cambria"/>
              </a:rPr>
              <a:t>types </a:t>
            </a:r>
            <a:r>
              <a:rPr sz="2800" spc="40" dirty="0">
                <a:solidFill>
                  <a:srgbClr val="44536A"/>
                </a:solidFill>
                <a:latin typeface="Cambria"/>
                <a:cs typeface="Cambria"/>
              </a:rPr>
              <a:t>of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nonlinear </a:t>
            </a:r>
            <a:r>
              <a:rPr sz="2800" spc="45" dirty="0">
                <a:solidFill>
                  <a:srgbClr val="44536A"/>
                </a:solidFill>
                <a:latin typeface="Cambria"/>
                <a:cs typeface="Cambria"/>
              </a:rPr>
              <a:t>activation functions </a:t>
            </a:r>
            <a:r>
              <a:rPr sz="2800" spc="-10" dirty="0">
                <a:solidFill>
                  <a:srgbClr val="44536A"/>
                </a:solidFill>
                <a:latin typeface="Cambria"/>
                <a:cs typeface="Cambria"/>
              </a:rPr>
              <a:t>that 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are </a:t>
            </a:r>
            <a:r>
              <a:rPr sz="2800" spc="135" dirty="0">
                <a:solidFill>
                  <a:srgbClr val="44536A"/>
                </a:solidFill>
                <a:latin typeface="Cambria"/>
                <a:cs typeface="Cambria"/>
              </a:rPr>
              <a:t>used </a:t>
            </a:r>
            <a:r>
              <a:rPr sz="2800" spc="85" dirty="0">
                <a:solidFill>
                  <a:srgbClr val="44536A"/>
                </a:solidFill>
                <a:latin typeface="Cambria"/>
                <a:cs typeface="Cambria"/>
              </a:rPr>
              <a:t>today </a:t>
            </a:r>
            <a:r>
              <a:rPr sz="2800" spc="9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35" dirty="0">
                <a:solidFill>
                  <a:srgbClr val="44536A"/>
                </a:solidFill>
                <a:latin typeface="Cambria"/>
                <a:cs typeface="Cambria"/>
              </a:rPr>
              <a:t>in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neural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35" dirty="0">
                <a:solidFill>
                  <a:srgbClr val="44536A"/>
                </a:solidFill>
                <a:latin typeface="Cambria"/>
                <a:cs typeface="Cambria"/>
              </a:rPr>
              <a:t>network</a:t>
            </a:r>
            <a:r>
              <a:rPr sz="2800" spc="6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44536A"/>
                </a:solidFill>
                <a:latin typeface="Cambria"/>
                <a:cs typeface="Cambria"/>
              </a:rPr>
              <a:t>models</a:t>
            </a:r>
            <a:r>
              <a:rPr sz="2800" spc="7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44536A"/>
                </a:solidFill>
                <a:latin typeface="Cambria"/>
                <a:cs typeface="Cambria"/>
              </a:rPr>
              <a:t>are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402" y="5263489"/>
            <a:ext cx="4318635" cy="147574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600" spc="95" dirty="0">
                <a:solidFill>
                  <a:srgbClr val="44536A"/>
                </a:solidFill>
                <a:latin typeface="Cambria"/>
                <a:cs typeface="Cambria"/>
              </a:rPr>
              <a:t>sigmoid/logistic</a:t>
            </a:r>
            <a:endParaRPr sz="26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600" spc="75" dirty="0">
                <a:solidFill>
                  <a:srgbClr val="44536A"/>
                </a:solidFill>
                <a:latin typeface="Cambria"/>
                <a:cs typeface="Cambria"/>
              </a:rPr>
              <a:t>tanh/hyperbolic</a:t>
            </a:r>
            <a:r>
              <a:rPr sz="2600" spc="2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spc="70" dirty="0">
                <a:solidFill>
                  <a:srgbClr val="44536A"/>
                </a:solidFill>
                <a:latin typeface="Cambria"/>
                <a:cs typeface="Cambria"/>
              </a:rPr>
              <a:t>tangent</a:t>
            </a:r>
            <a:endParaRPr sz="26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600" spc="55" dirty="0">
                <a:solidFill>
                  <a:srgbClr val="44536A"/>
                </a:solidFill>
                <a:latin typeface="Cambria"/>
                <a:cs typeface="Cambria"/>
              </a:rPr>
              <a:t>ReLU</a:t>
            </a:r>
            <a:r>
              <a:rPr sz="2600" spc="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spc="65" dirty="0">
                <a:solidFill>
                  <a:srgbClr val="44536A"/>
                </a:solidFill>
                <a:latin typeface="Cambria"/>
                <a:cs typeface="Cambria"/>
              </a:rPr>
              <a:t>(rectified</a:t>
            </a:r>
            <a:r>
              <a:rPr sz="2600" spc="35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spc="80" dirty="0">
                <a:solidFill>
                  <a:srgbClr val="44536A"/>
                </a:solidFill>
                <a:latin typeface="Cambria"/>
                <a:cs typeface="Cambria"/>
              </a:rPr>
              <a:t>linear</a:t>
            </a:r>
            <a:r>
              <a:rPr sz="2600" spc="4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44536A"/>
                </a:solidFill>
                <a:latin typeface="Cambria"/>
                <a:cs typeface="Cambria"/>
              </a:rPr>
              <a:t>unit)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91273" y="5195366"/>
            <a:ext cx="2137410" cy="15341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130" dirty="0">
                <a:solidFill>
                  <a:srgbClr val="44536A"/>
                </a:solidFill>
                <a:latin typeface="Cambria"/>
                <a:cs typeface="Cambria"/>
              </a:rPr>
              <a:t>leaky</a:t>
            </a:r>
            <a:r>
              <a:rPr sz="2800" dirty="0">
                <a:solidFill>
                  <a:srgbClr val="44536A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44536A"/>
                </a:solidFill>
                <a:latin typeface="Cambria"/>
                <a:cs typeface="Cambria"/>
              </a:rPr>
              <a:t>ReLU</a:t>
            </a:r>
            <a:endParaRPr sz="2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65" dirty="0">
                <a:solidFill>
                  <a:srgbClr val="44536A"/>
                </a:solidFill>
                <a:latin typeface="Cambria"/>
                <a:cs typeface="Cambria"/>
              </a:rPr>
              <a:t>softmax</a:t>
            </a:r>
            <a:endParaRPr sz="28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2800" spc="50" dirty="0">
                <a:solidFill>
                  <a:srgbClr val="44536A"/>
                </a:solidFill>
                <a:latin typeface="Cambria"/>
                <a:cs typeface="Cambria"/>
              </a:rPr>
              <a:t>swish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8942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65" dirty="0">
                <a:solidFill>
                  <a:srgbClr val="0D5671"/>
                </a:solidFill>
                <a:latin typeface="Cambria"/>
                <a:cs typeface="Cambria"/>
              </a:rPr>
              <a:t>Sigmoid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5" dirty="0">
                <a:solidFill>
                  <a:srgbClr val="0D5671"/>
                </a:solidFill>
                <a:latin typeface="Cambria"/>
                <a:cs typeface="Cambria"/>
              </a:rPr>
              <a:t>Logistic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1250188"/>
            <a:ext cx="7233920" cy="401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b="1" spc="9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19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plotted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b="1" spc="-105" dirty="0">
                <a:solidFill>
                  <a:srgbClr val="C00000"/>
                </a:solidFill>
                <a:latin typeface="Trebuchet MS"/>
                <a:cs typeface="Trebuchet MS"/>
              </a:rPr>
              <a:t>‘</a:t>
            </a:r>
            <a:r>
              <a:rPr sz="1900" b="1" spc="-105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1900" b="1" spc="-105" dirty="0">
                <a:solidFill>
                  <a:srgbClr val="C00000"/>
                </a:solidFill>
                <a:latin typeface="Trebuchet MS"/>
                <a:cs typeface="Trebuchet MS"/>
              </a:rPr>
              <a:t>’</a:t>
            </a:r>
            <a:r>
              <a:rPr sz="1900" b="1" spc="2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shaped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graph.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buClr>
                <a:srgbClr val="1D6194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b="1" spc="60" dirty="0">
                <a:solidFill>
                  <a:srgbClr val="C00000"/>
                </a:solidFill>
                <a:latin typeface="Cambria"/>
                <a:cs typeface="Cambria"/>
              </a:rPr>
              <a:t>Nature:</a:t>
            </a:r>
            <a:r>
              <a:rPr sz="19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Non-linear.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1D6194"/>
              </a:buClr>
              <a:buFont typeface="Wingdings"/>
              <a:buChar char=""/>
            </a:pPr>
            <a:endParaRPr sz="19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buClr>
                <a:srgbClr val="1D6194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b="1" spc="90" dirty="0">
                <a:solidFill>
                  <a:srgbClr val="C00000"/>
                </a:solidFill>
                <a:latin typeface="Cambria"/>
                <a:cs typeface="Cambria"/>
              </a:rPr>
              <a:t>Value</a:t>
            </a:r>
            <a:r>
              <a:rPr sz="19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900" b="1" spc="70" dirty="0">
                <a:solidFill>
                  <a:srgbClr val="C00000"/>
                </a:solidFill>
                <a:latin typeface="Cambria"/>
                <a:cs typeface="Cambria"/>
              </a:rPr>
              <a:t>Range:</a:t>
            </a:r>
            <a:r>
              <a:rPr sz="19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0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1755"/>
              </a:spcBef>
              <a:buClr>
                <a:srgbClr val="1D6194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b="1" spc="80" dirty="0">
                <a:solidFill>
                  <a:srgbClr val="C00000"/>
                </a:solidFill>
                <a:latin typeface="Cambria"/>
                <a:cs typeface="Cambria"/>
              </a:rPr>
              <a:t>Uses:</a:t>
            </a:r>
            <a:r>
              <a:rPr sz="1900" b="1" spc="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Usually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7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binary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classification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,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where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result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either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0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1,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value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sigmoid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lies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between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0 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1 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only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so,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result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predicted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easily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 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 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1 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if 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value  </a:t>
            </a:r>
            <a:r>
              <a:rPr sz="2000" b="1" i="1" spc="50" dirty="0">
                <a:solidFill>
                  <a:srgbClr val="C00000"/>
                </a:solidFill>
                <a:latin typeface="Cambria"/>
                <a:cs typeface="Cambria"/>
              </a:rPr>
              <a:t>is 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greater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than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0.5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30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0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otherwise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28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195" y="2824731"/>
            <a:ext cx="4176272" cy="27630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4107" y="1786889"/>
            <a:ext cx="3590544" cy="8945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588" y="81787"/>
            <a:ext cx="1042797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-1466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-14660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Tanh</a:t>
            </a:r>
            <a:r>
              <a:rPr sz="3600" spc="30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5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  <a:p>
            <a:pPr marL="495934" marR="30480">
              <a:lnSpc>
                <a:spcPct val="150000"/>
              </a:lnSpc>
              <a:spcBef>
                <a:spcPts val="575"/>
              </a:spcBef>
            </a:pPr>
            <a:r>
              <a:rPr sz="2000" b="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b="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b="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0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000" b="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works</a:t>
            </a:r>
            <a:r>
              <a:rPr sz="2000" b="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Cambria"/>
                <a:cs typeface="Cambria"/>
              </a:rPr>
              <a:t>almost</a:t>
            </a:r>
            <a:r>
              <a:rPr sz="2000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Cambria"/>
                <a:cs typeface="Cambria"/>
              </a:rPr>
              <a:t>always</a:t>
            </a:r>
            <a:r>
              <a:rPr sz="2000" spc="25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Cambria"/>
                <a:cs typeface="Cambria"/>
              </a:rPr>
              <a:t>better</a:t>
            </a:r>
            <a:r>
              <a:rPr sz="2000" spc="2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0" spc="130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000" b="0" spc="2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spc="2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2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b="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35" dirty="0">
                <a:solidFill>
                  <a:srgbClr val="404040"/>
                </a:solidFill>
                <a:latin typeface="Cambria"/>
                <a:cs typeface="Cambria"/>
              </a:rPr>
              <a:t>Tanh </a:t>
            </a:r>
            <a:r>
              <a:rPr sz="2000" b="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3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b="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0" dirty="0">
                <a:solidFill>
                  <a:srgbClr val="404040"/>
                </a:solidFill>
                <a:latin typeface="Cambria"/>
                <a:cs typeface="Cambria"/>
              </a:rPr>
              <a:t>also</a:t>
            </a:r>
            <a:r>
              <a:rPr sz="2000" b="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5" dirty="0">
                <a:solidFill>
                  <a:srgbClr val="404040"/>
                </a:solidFill>
                <a:latin typeface="Cambria"/>
                <a:cs typeface="Cambria"/>
              </a:rPr>
              <a:t>knows</a:t>
            </a:r>
            <a:r>
              <a:rPr sz="2000" b="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b="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C00000"/>
                </a:solidFill>
                <a:latin typeface="Cambria"/>
                <a:cs typeface="Cambria"/>
              </a:rPr>
              <a:t>Tangent</a:t>
            </a:r>
            <a:r>
              <a:rPr sz="2000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C00000"/>
                </a:solidFill>
                <a:latin typeface="Cambria"/>
                <a:cs typeface="Cambria"/>
              </a:rPr>
              <a:t>Hyperbolic</a:t>
            </a:r>
            <a:r>
              <a:rPr sz="2000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0" spc="10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2477" y="3271352"/>
            <a:ext cx="4127526" cy="31283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3458" y="1930654"/>
            <a:ext cx="29419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Value</a:t>
            </a:r>
            <a:r>
              <a:rPr sz="2000" b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C00000"/>
                </a:solidFill>
                <a:latin typeface="Cambria"/>
                <a:cs typeface="Cambria"/>
              </a:rPr>
              <a:t>Range:</a:t>
            </a:r>
            <a:r>
              <a:rPr sz="20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-1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+1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801" y="2489200"/>
            <a:ext cx="5727065" cy="1066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2575" indent="-229235">
              <a:lnSpc>
                <a:spcPts val="23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83210" algn="l"/>
              </a:tabLst>
            </a:pP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Nature:</a:t>
            </a:r>
            <a:r>
              <a:rPr sz="2000" b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Non-linear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ts val="23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1097915" algn="l"/>
                <a:tab pos="2197100" algn="l"/>
                <a:tab pos="2974975" algn="l"/>
                <a:tab pos="3403600" algn="l"/>
                <a:tab pos="4483100" algn="l"/>
                <a:tab pos="5457825" algn="l"/>
              </a:tabLst>
            </a:pPr>
            <a:r>
              <a:rPr sz="2000" b="1" spc="155" dirty="0">
                <a:solidFill>
                  <a:srgbClr val="C00000"/>
                </a:solidFill>
                <a:latin typeface="Cambria"/>
                <a:cs typeface="Cambria"/>
              </a:rPr>
              <a:t>U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es</a:t>
            </a:r>
            <a:r>
              <a:rPr sz="2000" b="1" spc="-30" dirty="0">
                <a:solidFill>
                  <a:srgbClr val="C00000"/>
                </a:solidFill>
                <a:latin typeface="Cambria"/>
                <a:cs typeface="Cambria"/>
              </a:rPr>
              <a:t>: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Us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ally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lay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e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r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its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values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lies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between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Cambria"/>
                <a:cs typeface="Cambria"/>
              </a:rPr>
              <a:t>-1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to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29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92569" y="2768854"/>
            <a:ext cx="1138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0995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neu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al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1801" y="3781298"/>
            <a:ext cx="7029450" cy="1466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advantage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negative</a:t>
            </a:r>
            <a:r>
              <a:rPr sz="21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inputs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will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 </a:t>
            </a:r>
            <a:r>
              <a:rPr sz="2000" spc="-4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40" dirty="0">
                <a:solidFill>
                  <a:srgbClr val="C00000"/>
                </a:solidFill>
                <a:latin typeface="Cambria"/>
                <a:cs typeface="Cambria"/>
              </a:rPr>
              <a:t>mapped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strongly negative,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zero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inputs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will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45" dirty="0">
                <a:solidFill>
                  <a:srgbClr val="C00000"/>
                </a:solidFill>
                <a:latin typeface="Cambria"/>
                <a:cs typeface="Cambria"/>
              </a:rPr>
              <a:t>mapped</a:t>
            </a:r>
            <a:r>
              <a:rPr sz="2100" b="1" i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4" dirty="0">
                <a:solidFill>
                  <a:srgbClr val="C00000"/>
                </a:solidFill>
                <a:latin typeface="Cambria"/>
                <a:cs typeface="Cambria"/>
              </a:rPr>
              <a:t>near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20" dirty="0">
                <a:solidFill>
                  <a:srgbClr val="C00000"/>
                </a:solidFill>
                <a:latin typeface="Cambria"/>
                <a:cs typeface="Cambria"/>
              </a:rPr>
              <a:t>zero</a:t>
            </a:r>
            <a:r>
              <a:rPr sz="21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tanh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graph.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1801" y="5695188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6194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3076" y="5665419"/>
            <a:ext cx="6854825" cy="2876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35"/>
              </a:lnSpc>
            </a:pP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Both</a:t>
            </a:r>
            <a:r>
              <a:rPr sz="2000" b="1" i="1" spc="5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i="1" spc="5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30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i="1" spc="5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65" dirty="0">
                <a:solidFill>
                  <a:srgbClr val="C00000"/>
                </a:solidFill>
                <a:latin typeface="Cambria"/>
                <a:cs typeface="Cambria"/>
              </a:rPr>
              <a:t>logistic</a:t>
            </a:r>
            <a:r>
              <a:rPr sz="2000" b="1" i="1" spc="5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b="1" i="1" spc="5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5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functions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3076" y="6122619"/>
            <a:ext cx="3838575" cy="2876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35"/>
              </a:lnSpc>
            </a:pP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are</a:t>
            </a:r>
            <a:r>
              <a:rPr sz="20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used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in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feed-forward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nets.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6905" y="1684782"/>
            <a:ext cx="5616702" cy="95173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288" y="122681"/>
            <a:ext cx="66897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-9259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-9259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Rectified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75" dirty="0">
                <a:solidFill>
                  <a:srgbClr val="0D5671"/>
                </a:solidFill>
                <a:latin typeface="Cambria"/>
                <a:cs typeface="Cambria"/>
              </a:rPr>
              <a:t>linear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0D5671"/>
                </a:solidFill>
                <a:latin typeface="Cambria"/>
                <a:cs typeface="Cambria"/>
              </a:rPr>
              <a:t>unit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" dirty="0">
                <a:solidFill>
                  <a:srgbClr val="0D5671"/>
                </a:solidFill>
                <a:latin typeface="Cambria"/>
                <a:cs typeface="Cambria"/>
              </a:rPr>
              <a:t>(ReLU)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797255"/>
            <a:ext cx="10741025" cy="463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5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5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most</a:t>
            </a:r>
            <a:r>
              <a:rPr sz="2000" b="1" i="1" spc="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widely</a:t>
            </a:r>
            <a:r>
              <a:rPr sz="2000" b="1" i="1" spc="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5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000" b="1" i="1" spc="5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r>
              <a:rPr sz="2000" spc="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Implemented</a:t>
            </a:r>
            <a:r>
              <a:rPr sz="2000" b="1" i="1" spc="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5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i="1" spc="5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layers</a:t>
            </a:r>
            <a:r>
              <a:rPr sz="2000" b="1" i="1" spc="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1D6194"/>
              </a:buClr>
              <a:buFont typeface="Wingdings"/>
              <a:buChar char=""/>
            </a:pPr>
            <a:endParaRPr sz="205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135" dirty="0">
                <a:solidFill>
                  <a:srgbClr val="C00000"/>
                </a:solidFill>
                <a:latin typeface="Cambria"/>
                <a:cs typeface="Cambria"/>
              </a:rPr>
              <a:t>Value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25" dirty="0">
                <a:solidFill>
                  <a:srgbClr val="C00000"/>
                </a:solidFill>
                <a:latin typeface="Cambria"/>
                <a:cs typeface="Cambria"/>
              </a:rPr>
              <a:t>Range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45" dirty="0">
                <a:solidFill>
                  <a:srgbClr val="C00000"/>
                </a:solidFill>
                <a:latin typeface="Cambria"/>
                <a:cs typeface="Cambria"/>
              </a:rPr>
              <a:t>:-</a:t>
            </a:r>
            <a:r>
              <a:rPr sz="20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[0,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inf)</a:t>
            </a:r>
            <a:endParaRPr sz="2000">
              <a:latin typeface="Cambria"/>
              <a:cs typeface="Cambria"/>
            </a:endParaRPr>
          </a:p>
          <a:p>
            <a:pPr marL="241300" indent="-228600" algn="just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Nature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ambria"/>
                <a:cs typeface="Cambria"/>
              </a:rPr>
              <a:t>: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Non-Linear,</a:t>
            </a:r>
            <a:endParaRPr sz="2000">
              <a:latin typeface="Cambria"/>
              <a:cs typeface="Cambria"/>
            </a:endParaRPr>
          </a:p>
          <a:p>
            <a:pPr marL="241300" marR="4502785" indent="-228600" algn="just">
              <a:lnSpc>
                <a:spcPts val="3600"/>
              </a:lnSpc>
              <a:spcBef>
                <a:spcPts val="19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Uses </a:t>
            </a:r>
            <a:r>
              <a:rPr sz="2000" b="1" i="1" spc="-45" dirty="0">
                <a:solidFill>
                  <a:srgbClr val="C00000"/>
                </a:solidFill>
                <a:latin typeface="Cambria"/>
                <a:cs typeface="Cambria"/>
              </a:rPr>
              <a:t>:-</a:t>
            </a:r>
            <a:r>
              <a:rPr sz="2000" b="1" i="1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65" dirty="0">
                <a:solidFill>
                  <a:srgbClr val="C00000"/>
                </a:solidFill>
                <a:latin typeface="Cambria"/>
                <a:cs typeface="Cambria"/>
              </a:rPr>
              <a:t>ReLU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b="1" i="1" spc="70" dirty="0">
                <a:solidFill>
                  <a:srgbClr val="C00000"/>
                </a:solidFill>
                <a:latin typeface="Cambria"/>
                <a:cs typeface="Cambria"/>
              </a:rPr>
              <a:t>less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computationally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expensive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because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involves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simpler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mathematical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operations.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1D6194"/>
              </a:buClr>
              <a:buFont typeface="Wingdings"/>
              <a:buChar char=""/>
            </a:pPr>
            <a:endParaRPr sz="24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1097280" algn="l"/>
                <a:tab pos="2033905" algn="l"/>
                <a:tab pos="2907665" algn="l"/>
                <a:tab pos="3838575" algn="l"/>
                <a:tab pos="4581525" algn="l"/>
                <a:tab pos="5767705" algn="l"/>
              </a:tabLst>
            </a:pPr>
            <a:r>
              <a:rPr sz="2000" b="1" i="1" spc="165" dirty="0">
                <a:solidFill>
                  <a:srgbClr val="C00000"/>
                </a:solidFill>
                <a:latin typeface="Cambria"/>
                <a:cs typeface="Cambria"/>
              </a:rPr>
              <a:t>ReLU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learns	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much	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faster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than	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sigmoid	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i="1" spc="160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i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function.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5533" y="5773673"/>
            <a:ext cx="8382000" cy="831850"/>
          </a:xfrm>
          <a:prstGeom prst="rect">
            <a:avLst/>
          </a:prstGeom>
          <a:solidFill>
            <a:srgbClr val="99FFCC"/>
          </a:solidFill>
        </p:spPr>
        <p:txBody>
          <a:bodyPr vert="horz" wrap="square" lIns="0" tIns="38100" rIns="0" bIns="0" rtlCol="0">
            <a:spAutoFit/>
          </a:bodyPr>
          <a:lstStyle/>
          <a:p>
            <a:pPr marL="3211830" marR="128905" indent="-3076575">
              <a:lnSpc>
                <a:spcPct val="100000"/>
              </a:lnSpc>
              <a:spcBef>
                <a:spcPts val="300"/>
              </a:spcBef>
            </a:pP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It </a:t>
            </a:r>
            <a:r>
              <a:rPr sz="2400" b="1" i="1" dirty="0">
                <a:solidFill>
                  <a:srgbClr val="C00000"/>
                </a:solidFill>
                <a:latin typeface="Cambria"/>
                <a:cs typeface="Cambria"/>
              </a:rPr>
              <a:t>is </a:t>
            </a: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used in </a:t>
            </a:r>
            <a:r>
              <a:rPr sz="2400" b="1" i="1" dirty="0">
                <a:solidFill>
                  <a:srgbClr val="C00000"/>
                </a:solidFill>
                <a:latin typeface="Cambria"/>
                <a:cs typeface="Cambria"/>
              </a:rPr>
              <a:t>almost all the </a:t>
            </a:r>
            <a:r>
              <a:rPr sz="2400" b="1" i="1" spc="-10" dirty="0">
                <a:solidFill>
                  <a:srgbClr val="C00000"/>
                </a:solidFill>
                <a:latin typeface="Cambria"/>
                <a:cs typeface="Cambria"/>
              </a:rPr>
              <a:t>convolutional neural </a:t>
            </a: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networks or </a:t>
            </a:r>
            <a:r>
              <a:rPr sz="2400" b="1" i="1" spc="-5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ambria"/>
                <a:cs typeface="Cambria"/>
              </a:rPr>
              <a:t>deep </a:t>
            </a:r>
            <a:r>
              <a:rPr sz="2400" b="1" i="1" spc="-5" dirty="0">
                <a:solidFill>
                  <a:srgbClr val="C00000"/>
                </a:solidFill>
                <a:latin typeface="Cambria"/>
                <a:cs typeface="Cambria"/>
              </a:rPr>
              <a:t>learning</a:t>
            </a:r>
            <a:r>
              <a:rPr sz="2400" spc="-5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172706" y="1684782"/>
            <a:ext cx="5019675" cy="4042410"/>
            <a:chOff x="7172706" y="1684782"/>
            <a:chExt cx="5019675" cy="40424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9932" y="1684782"/>
              <a:ext cx="3493770" cy="81152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2706" y="2438400"/>
              <a:ext cx="5019294" cy="328879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858" y="730859"/>
            <a:ext cx="9429115" cy="2030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ReLU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not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taking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care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negative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values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turn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them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into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zero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graph,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turn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making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neuron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not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participate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learning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process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of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network.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1D6194"/>
              </a:buClr>
              <a:buFont typeface="Wingdings"/>
              <a:buChar char=""/>
            </a:pP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Leaky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ReLU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attempt</a:t>
            </a:r>
            <a:r>
              <a:rPr sz="20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solve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spc="130" dirty="0">
                <a:solidFill>
                  <a:srgbClr val="C00000"/>
                </a:solidFill>
                <a:latin typeface="Cambria"/>
                <a:cs typeface="Cambria"/>
              </a:rPr>
              <a:t>dying</a:t>
            </a:r>
            <a:r>
              <a:rPr sz="2100" b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spc="100" dirty="0">
                <a:solidFill>
                  <a:srgbClr val="C00000"/>
                </a:solidFill>
                <a:latin typeface="Cambria"/>
                <a:cs typeface="Cambria"/>
              </a:rPr>
              <a:t>ReLU</a:t>
            </a:r>
            <a:r>
              <a:rPr sz="2100" b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problem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3181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75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90" dirty="0">
                <a:solidFill>
                  <a:srgbClr val="0D5671"/>
                </a:solidFill>
                <a:latin typeface="Cambria"/>
                <a:cs typeface="Cambria"/>
              </a:rPr>
              <a:t>Leaky</a:t>
            </a:r>
            <a:r>
              <a:rPr sz="3600" spc="29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0" dirty="0">
                <a:solidFill>
                  <a:srgbClr val="0D5671"/>
                </a:solidFill>
                <a:latin typeface="Cambria"/>
                <a:cs typeface="Cambria"/>
              </a:rPr>
              <a:t>ReLU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31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9104" y="2743200"/>
            <a:ext cx="4882896" cy="31097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883" y="3037332"/>
            <a:ext cx="5154930" cy="7833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28726" y="4005834"/>
            <a:ext cx="5781675" cy="98551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6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spc="65" dirty="0">
                <a:solidFill>
                  <a:srgbClr val="C00000"/>
                </a:solidFill>
                <a:latin typeface="Cambria"/>
                <a:cs typeface="Cambria"/>
              </a:rPr>
              <a:t>leak</a:t>
            </a:r>
            <a:r>
              <a:rPr sz="2100" b="1" spc="1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helps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spc="70" dirty="0">
                <a:solidFill>
                  <a:srgbClr val="C00000"/>
                </a:solidFill>
                <a:latin typeface="Cambria"/>
                <a:cs typeface="Cambria"/>
              </a:rPr>
              <a:t>increase</a:t>
            </a:r>
            <a:r>
              <a:rPr sz="21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spc="75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1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spc="75" dirty="0">
                <a:solidFill>
                  <a:srgbClr val="C00000"/>
                </a:solidFill>
                <a:latin typeface="Cambria"/>
                <a:cs typeface="Cambria"/>
              </a:rPr>
              <a:t>range</a:t>
            </a:r>
            <a:r>
              <a:rPr sz="21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240665">
              <a:lnSpc>
                <a:spcPct val="100000"/>
              </a:lnSpc>
              <a:spcBef>
                <a:spcPts val="1260"/>
              </a:spcBef>
            </a:pPr>
            <a:r>
              <a:rPr sz="2100" b="1" spc="100" dirty="0">
                <a:solidFill>
                  <a:srgbClr val="C00000"/>
                </a:solidFill>
                <a:latin typeface="Cambria"/>
                <a:cs typeface="Cambria"/>
              </a:rPr>
              <a:t>ReLU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0067" y="4718303"/>
            <a:ext cx="4479035" cy="213969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4509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75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95" dirty="0">
                <a:solidFill>
                  <a:srgbClr val="0D5671"/>
                </a:solidFill>
                <a:latin typeface="Cambria"/>
                <a:cs typeface="Cambria"/>
              </a:rPr>
              <a:t>Softmax</a:t>
            </a:r>
            <a:r>
              <a:rPr sz="3600" spc="29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206753"/>
            <a:ext cx="10612120" cy="415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40" dirty="0">
                <a:solidFill>
                  <a:srgbClr val="C00000"/>
                </a:solidFill>
                <a:latin typeface="Cambria"/>
                <a:cs typeface="Cambria"/>
              </a:rPr>
              <a:t>softmax</a:t>
            </a:r>
            <a:r>
              <a:rPr sz="2400" b="1" i="1" spc="22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400" b="1" i="1" spc="22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same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20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4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1D6194"/>
              </a:buClr>
              <a:buFont typeface="Wingdings"/>
              <a:buChar char=""/>
            </a:pPr>
            <a:endParaRPr sz="29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i="1" spc="125" dirty="0">
                <a:solidFill>
                  <a:srgbClr val="C00000"/>
                </a:solidFill>
                <a:latin typeface="Cambria"/>
                <a:cs typeface="Cambria"/>
              </a:rPr>
              <a:t>Nature:</a:t>
            </a:r>
            <a:r>
              <a:rPr sz="24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Non-Linear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1D6194"/>
              </a:buClr>
              <a:buFont typeface="Wingdings"/>
              <a:buChar char=""/>
            </a:pPr>
            <a:endParaRPr sz="29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i="1" spc="110" dirty="0">
                <a:solidFill>
                  <a:srgbClr val="C00000"/>
                </a:solidFill>
                <a:latin typeface="Cambria"/>
                <a:cs typeface="Cambria"/>
              </a:rPr>
              <a:t>Uses:</a:t>
            </a:r>
            <a:r>
              <a:rPr sz="2400" b="1" i="1" spc="22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Usually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handle</a:t>
            </a:r>
            <a:r>
              <a:rPr sz="2400" b="1" i="1" spc="2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00" dirty="0">
                <a:solidFill>
                  <a:srgbClr val="C00000"/>
                </a:solidFill>
                <a:latin typeface="Cambria"/>
                <a:cs typeface="Cambria"/>
              </a:rPr>
              <a:t>multi-classification</a:t>
            </a:r>
            <a:r>
              <a:rPr sz="24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problems.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1D6194"/>
              </a:buClr>
              <a:buFont typeface="Wingdings"/>
              <a:buChar char=""/>
            </a:pPr>
            <a:endParaRPr sz="21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i="1" spc="125" dirty="0">
                <a:solidFill>
                  <a:srgbClr val="C00000"/>
                </a:solidFill>
                <a:latin typeface="Cambria"/>
                <a:cs typeface="Cambria"/>
              </a:rPr>
              <a:t>Output:</a:t>
            </a:r>
            <a:endParaRPr sz="2400">
              <a:latin typeface="Cambria"/>
              <a:cs typeface="Cambria"/>
            </a:endParaRPr>
          </a:p>
          <a:p>
            <a:pPr marL="469900" marR="5080" lvl="1" indent="-228600">
              <a:lnSpc>
                <a:spcPct val="150000"/>
              </a:lnSpc>
              <a:spcBef>
                <a:spcPts val="14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3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calculate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probabilities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target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divided</a:t>
            </a:r>
            <a:r>
              <a:rPr sz="2000" spc="3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by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all</a:t>
            </a:r>
            <a:r>
              <a:rPr sz="2000" spc="3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possible </a:t>
            </a:r>
            <a:r>
              <a:rPr sz="2000" spc="-4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target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classes.</a:t>
            </a:r>
            <a:endParaRPr sz="20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8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high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probability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target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1681" y="4800600"/>
            <a:ext cx="4712970" cy="1524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6513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Swish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23873"/>
            <a:ext cx="98780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Google</a:t>
            </a:r>
            <a:r>
              <a:rPr sz="2400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created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activation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function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called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swish;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performs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better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ReLU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similar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level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computational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efficiency.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5890" y="2615265"/>
            <a:ext cx="5624321" cy="36702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3505200"/>
            <a:ext cx="3531870" cy="10972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154178"/>
            <a:ext cx="7562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-5401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12" baseline="-5401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2800" spc="170" dirty="0">
                <a:solidFill>
                  <a:srgbClr val="0D5671"/>
                </a:solidFill>
                <a:latin typeface="Cambria"/>
                <a:cs typeface="Cambria"/>
              </a:rPr>
              <a:t>Choosing</a:t>
            </a:r>
            <a:r>
              <a:rPr sz="2800" spc="2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D5671"/>
                </a:solidFill>
                <a:latin typeface="Cambria"/>
                <a:cs typeface="Cambria"/>
              </a:rPr>
              <a:t>the</a:t>
            </a:r>
            <a:r>
              <a:rPr sz="2800" spc="254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0D5671"/>
                </a:solidFill>
                <a:latin typeface="Cambria"/>
                <a:cs typeface="Cambria"/>
              </a:rPr>
              <a:t>Right</a:t>
            </a:r>
            <a:r>
              <a:rPr sz="2800" spc="2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2800" spc="2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1188923"/>
            <a:ext cx="9918700" cy="444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basic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rule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thumb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if you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really  </a:t>
            </a:r>
            <a:r>
              <a:rPr sz="2000" b="1" spc="25" dirty="0">
                <a:solidFill>
                  <a:srgbClr val="C00000"/>
                </a:solidFill>
                <a:latin typeface="Cambria"/>
                <a:cs typeface="Cambria"/>
              </a:rPr>
              <a:t>don</a:t>
            </a:r>
            <a:r>
              <a:rPr sz="2000" b="1" spc="25" dirty="0">
                <a:solidFill>
                  <a:srgbClr val="C00000"/>
                </a:solidFill>
                <a:latin typeface="Trebuchet MS"/>
                <a:cs typeface="Trebuchet MS"/>
              </a:rPr>
              <a:t>’</a:t>
            </a:r>
            <a:r>
              <a:rPr sz="2000" b="1" spc="25" dirty="0">
                <a:solidFill>
                  <a:srgbClr val="C00000"/>
                </a:solidFill>
                <a:latin typeface="Cambria"/>
                <a:cs typeface="Cambria"/>
              </a:rPr>
              <a:t>t  </a:t>
            </a:r>
            <a:r>
              <a:rPr sz="2000" b="1" spc="120" dirty="0">
                <a:solidFill>
                  <a:srgbClr val="C00000"/>
                </a:solidFill>
                <a:latin typeface="Cambria"/>
                <a:cs typeface="Cambria"/>
              </a:rPr>
              <a:t>know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what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activation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use,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then 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simply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use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ReLU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 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general 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activation 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most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cases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these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days.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D6194"/>
              </a:buClr>
              <a:buFont typeface="Wingdings"/>
              <a:buChar char=""/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Swish,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Tanh</a:t>
            </a:r>
            <a:r>
              <a:rPr sz="20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well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replace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of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ReLU.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1D6194"/>
              </a:buClr>
              <a:buFont typeface="Wingdings"/>
              <a:buChar char=""/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565785" algn="l"/>
                <a:tab pos="1269365" algn="l"/>
                <a:tab pos="2245995" algn="l"/>
                <a:tab pos="2592070" algn="l"/>
                <a:tab pos="3098800" algn="l"/>
                <a:tab pos="4074160" algn="l"/>
                <a:tab pos="5894705" algn="l"/>
                <a:tab pos="6655434" algn="l"/>
                <a:tab pos="7814945" algn="l"/>
                <a:tab pos="9033510" algn="l"/>
                <a:tab pos="9379585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you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binar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y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classific</a:t>
            </a:r>
            <a:r>
              <a:rPr sz="2000" b="1" spc="35" dirty="0">
                <a:solidFill>
                  <a:srgbClr val="C00000"/>
                </a:solidFill>
                <a:latin typeface="Cambria"/>
                <a:cs typeface="Cambria"/>
              </a:rPr>
              <a:t>at</a:t>
            </a:r>
            <a:r>
              <a:rPr sz="2000" b="1" spc="15" dirty="0">
                <a:solidFill>
                  <a:srgbClr val="C00000"/>
                </a:solidFill>
                <a:latin typeface="Cambria"/>
                <a:cs typeface="Cambria"/>
              </a:rPr>
              <a:t>i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o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b="1" spc="135" dirty="0">
                <a:solidFill>
                  <a:srgbClr val="C00000"/>
                </a:solidFill>
                <a:latin typeface="Cambria"/>
                <a:cs typeface="Cambria"/>
              </a:rPr>
              <a:t>s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i</a:t>
            </a: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g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moid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v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ery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natural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choice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layer.</a:t>
            </a:r>
            <a:endParaRPr sz="20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softmax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a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more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generalized  </a:t>
            </a:r>
            <a:r>
              <a:rPr sz="2000" b="1" i="1" spc="70" dirty="0">
                <a:solidFill>
                  <a:srgbClr val="C00000"/>
                </a:solidFill>
                <a:latin typeface="Cambria"/>
                <a:cs typeface="Cambria"/>
              </a:rPr>
              <a:t>logistic 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activation 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function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multiclass</a:t>
            </a:r>
            <a:r>
              <a:rPr sz="20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classification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34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67000" y="2747772"/>
            <a:ext cx="7519034" cy="1362710"/>
          </a:xfrm>
          <a:custGeom>
            <a:avLst/>
            <a:gdLst/>
            <a:ahLst/>
            <a:cxnLst/>
            <a:rect l="l" t="t" r="r" b="b"/>
            <a:pathLst>
              <a:path w="7519034" h="1362710">
                <a:moveTo>
                  <a:pt x="7518654" y="0"/>
                </a:moveTo>
                <a:lnTo>
                  <a:pt x="0" y="0"/>
                </a:lnTo>
                <a:lnTo>
                  <a:pt x="0" y="1362455"/>
                </a:lnTo>
                <a:lnTo>
                  <a:pt x="7518654" y="1362455"/>
                </a:lnTo>
                <a:lnTo>
                  <a:pt x="751865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45994" y="3217672"/>
            <a:ext cx="57092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10" dirty="0">
                <a:solidFill>
                  <a:srgbClr val="FFFFFF"/>
                </a:solidFill>
                <a:latin typeface="Cambria"/>
                <a:cs typeface="Cambria"/>
              </a:rPr>
              <a:t>Feedforward</a:t>
            </a:r>
            <a:r>
              <a:rPr sz="5400" spc="4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585" dirty="0">
                <a:solidFill>
                  <a:srgbClr val="FFFFFF"/>
                </a:solidFill>
                <a:latin typeface="Cambria"/>
                <a:cs typeface="Cambria"/>
              </a:rPr>
              <a:t>NN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35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00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Feedforward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9740" y="1247140"/>
            <a:ext cx="10007600" cy="462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40" dirty="0">
                <a:solidFill>
                  <a:srgbClr val="404040"/>
                </a:solidFill>
                <a:latin typeface="Cambria"/>
                <a:cs typeface="Cambria"/>
              </a:rPr>
              <a:t>All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14" dirty="0">
                <a:solidFill>
                  <a:srgbClr val="C00000"/>
                </a:solidFill>
                <a:latin typeface="Cambria"/>
                <a:cs typeface="Cambria"/>
              </a:rPr>
              <a:t>nodes</a:t>
            </a:r>
            <a:r>
              <a:rPr sz="2100" b="1" i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20" dirty="0">
                <a:solidFill>
                  <a:srgbClr val="C00000"/>
                </a:solidFill>
                <a:latin typeface="Cambria"/>
                <a:cs typeface="Cambria"/>
              </a:rPr>
              <a:t>fully</a:t>
            </a:r>
            <a:r>
              <a:rPr sz="21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20" dirty="0">
                <a:solidFill>
                  <a:srgbClr val="C00000"/>
                </a:solidFill>
                <a:latin typeface="Cambria"/>
                <a:cs typeface="Cambria"/>
              </a:rPr>
              <a:t>connected</a:t>
            </a:r>
            <a:endParaRPr sz="2100">
              <a:latin typeface="Cambria"/>
              <a:cs typeface="Cambria"/>
            </a:endParaRPr>
          </a:p>
          <a:p>
            <a:pPr marL="241300" marR="695325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Feed-forward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NNs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allow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signals</a:t>
            </a:r>
            <a:r>
              <a:rPr sz="2100" b="1" i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travel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one</a:t>
            </a:r>
            <a:r>
              <a:rPr sz="21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35" dirty="0">
                <a:solidFill>
                  <a:srgbClr val="C00000"/>
                </a:solidFill>
                <a:latin typeface="Cambria"/>
                <a:cs typeface="Cambria"/>
              </a:rPr>
              <a:t>way</a:t>
            </a:r>
            <a:r>
              <a:rPr sz="21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only;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from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input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to </a:t>
            </a:r>
            <a:r>
              <a:rPr sz="2100" spc="-4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output.</a:t>
            </a:r>
            <a:endParaRPr sz="2100">
              <a:latin typeface="Cambria"/>
              <a:cs typeface="Cambria"/>
            </a:endParaRPr>
          </a:p>
          <a:p>
            <a:pPr marL="241300" marR="379095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35" dirty="0">
                <a:solidFill>
                  <a:srgbClr val="C00000"/>
                </a:solidFill>
                <a:latin typeface="Cambria"/>
                <a:cs typeface="Cambria"/>
              </a:rPr>
              <a:t>no</a:t>
            </a:r>
            <a:r>
              <a:rPr sz="21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35" dirty="0">
                <a:solidFill>
                  <a:srgbClr val="C00000"/>
                </a:solidFill>
                <a:latin typeface="Cambria"/>
                <a:cs typeface="Cambria"/>
              </a:rPr>
              <a:t>feedback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60" dirty="0">
                <a:solidFill>
                  <a:srgbClr val="404040"/>
                </a:solidFill>
                <a:latin typeface="Cambria"/>
                <a:cs typeface="Cambria"/>
              </a:rPr>
              <a:t>(loops)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i.e.,</a:t>
            </a:r>
            <a:r>
              <a:rPr sz="21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any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5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does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1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affect </a:t>
            </a:r>
            <a:r>
              <a:rPr sz="2100" spc="-4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30" dirty="0">
                <a:solidFill>
                  <a:srgbClr val="C00000"/>
                </a:solidFill>
                <a:latin typeface="Cambria"/>
                <a:cs typeface="Cambria"/>
              </a:rPr>
              <a:t>same</a:t>
            </a:r>
            <a:r>
              <a:rPr sz="2100" b="1" i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Activation</a:t>
            </a:r>
            <a:r>
              <a:rPr sz="2100" b="1" i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flows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from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input</a:t>
            </a:r>
            <a:r>
              <a:rPr sz="21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05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1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output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85" dirty="0">
                <a:solidFill>
                  <a:srgbClr val="C00000"/>
                </a:solidFill>
                <a:latin typeface="Cambria"/>
                <a:cs typeface="Cambria"/>
              </a:rPr>
              <a:t>without</a:t>
            </a:r>
            <a:r>
              <a:rPr sz="21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45" dirty="0">
                <a:solidFill>
                  <a:srgbClr val="C00000"/>
                </a:solidFill>
                <a:latin typeface="Cambria"/>
                <a:cs typeface="Cambria"/>
              </a:rPr>
              <a:t>back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loops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745"/>
              </a:spcBef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They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5" dirty="0">
                <a:solidFill>
                  <a:srgbClr val="C00000"/>
                </a:solidFill>
                <a:latin typeface="Cambria"/>
                <a:cs typeface="Cambria"/>
              </a:rPr>
              <a:t>extensively</a:t>
            </a:r>
            <a:r>
              <a:rPr sz="2100" b="1" i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10" dirty="0">
                <a:solidFill>
                  <a:srgbClr val="C00000"/>
                </a:solidFill>
                <a:latin typeface="Cambria"/>
                <a:cs typeface="Cambria"/>
              </a:rPr>
              <a:t>used</a:t>
            </a:r>
            <a:r>
              <a:rPr sz="2100" b="1" i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pattern</a:t>
            </a:r>
            <a:r>
              <a:rPr sz="2100" b="1" i="1" spc="1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00" b="1" i="1" spc="100" dirty="0">
                <a:solidFill>
                  <a:srgbClr val="C00000"/>
                </a:solidFill>
                <a:latin typeface="Cambria"/>
                <a:cs typeface="Cambria"/>
              </a:rPr>
              <a:t>recognition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1D6194"/>
              </a:buClr>
              <a:buFont typeface="Wingdings"/>
              <a:buChar char=""/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D6194"/>
              </a:buClr>
              <a:buFont typeface="Wingdings"/>
              <a:buChar char=""/>
            </a:pPr>
            <a:endParaRPr sz="2950">
              <a:latin typeface="Cambria"/>
              <a:cs typeface="Cambria"/>
            </a:endParaRPr>
          </a:p>
          <a:p>
            <a:pPr marL="241300" marR="5080" indent="-228600">
              <a:lnSpc>
                <a:spcPts val="2270"/>
              </a:lnSpc>
              <a:buClr>
                <a:srgbClr val="1D6194"/>
              </a:buClr>
              <a:buSzPct val="73809"/>
              <a:buFont typeface="Wingdings"/>
              <a:buChar char=""/>
              <a:tabLst>
                <a:tab pos="241300" algn="l"/>
                <a:tab pos="638810" algn="l"/>
                <a:tab pos="1433830" algn="l"/>
                <a:tab pos="2268220" algn="l"/>
                <a:tab pos="2901315" algn="l"/>
                <a:tab pos="3609340" algn="l"/>
                <a:tab pos="4020185" algn="l"/>
                <a:tab pos="5363845" algn="l"/>
                <a:tab pos="5723255" algn="l"/>
                <a:tab pos="6842125" algn="l"/>
                <a:tab pos="7689850" algn="l"/>
              </a:tabLst>
            </a:pP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most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cases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ty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ne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work</a:t>
            </a:r>
            <a:r>
              <a:rPr sz="2100" spc="9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trained</a:t>
            </a:r>
            <a:r>
              <a:rPr sz="2100" b="1" i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usin</a:t>
            </a:r>
            <a:r>
              <a:rPr sz="2100" spc="150" dirty="0">
                <a:solidFill>
                  <a:srgbClr val="404040"/>
                </a:solidFill>
                <a:latin typeface="Cambria"/>
                <a:cs typeface="Cambria"/>
              </a:rPr>
              <a:t>g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b="1" i="1" spc="114" dirty="0">
                <a:solidFill>
                  <a:srgbClr val="C00000"/>
                </a:solidFill>
                <a:latin typeface="Cambria"/>
                <a:cs typeface="Cambria"/>
              </a:rPr>
              <a:t>Ba</a:t>
            </a:r>
            <a:r>
              <a:rPr sz="2100" b="1" i="1" spc="80" dirty="0">
                <a:solidFill>
                  <a:srgbClr val="C00000"/>
                </a:solidFill>
                <a:latin typeface="Cambria"/>
                <a:cs typeface="Cambria"/>
              </a:rPr>
              <a:t>c</a:t>
            </a:r>
            <a:r>
              <a:rPr sz="2100" b="1" i="1" spc="175" dirty="0">
                <a:solidFill>
                  <a:srgbClr val="C00000"/>
                </a:solidFill>
                <a:latin typeface="Cambria"/>
                <a:cs typeface="Cambria"/>
              </a:rPr>
              <a:t>k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p</a:t>
            </a:r>
            <a:r>
              <a:rPr sz="2100" b="1" i="1" spc="90" dirty="0">
                <a:solidFill>
                  <a:srgbClr val="C00000"/>
                </a:solidFill>
                <a:latin typeface="Cambria"/>
                <a:cs typeface="Cambria"/>
              </a:rPr>
              <a:t>r</a:t>
            </a:r>
            <a:r>
              <a:rPr sz="2100" b="1" i="1" spc="130" dirty="0">
                <a:solidFill>
                  <a:srgbClr val="C00000"/>
                </a:solidFill>
                <a:latin typeface="Cambria"/>
                <a:cs typeface="Cambria"/>
              </a:rPr>
              <a:t>op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100" b="1" i="1" spc="85" dirty="0">
                <a:solidFill>
                  <a:srgbClr val="C00000"/>
                </a:solidFill>
                <a:latin typeface="Cambria"/>
                <a:cs typeface="Cambria"/>
              </a:rPr>
              <a:t>gation  </a:t>
            </a:r>
            <a:r>
              <a:rPr sz="2100" b="1" i="1" spc="125" dirty="0">
                <a:solidFill>
                  <a:srgbClr val="C00000"/>
                </a:solidFill>
                <a:latin typeface="Cambria"/>
                <a:cs typeface="Cambria"/>
              </a:rPr>
              <a:t>method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36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3130" y="6858"/>
            <a:ext cx="2366772" cy="179603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00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Feedforward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37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1513" y="3403853"/>
            <a:ext cx="4795529" cy="23532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1801" y="1193038"/>
            <a:ext cx="9918065" cy="29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95" dirty="0">
                <a:solidFill>
                  <a:srgbClr val="C00000"/>
                </a:solidFill>
                <a:latin typeface="Cambria"/>
                <a:cs typeface="Cambria"/>
              </a:rPr>
              <a:t>Shallow</a:t>
            </a:r>
            <a:r>
              <a:rPr sz="2400" b="1" spc="2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95" dirty="0">
                <a:solidFill>
                  <a:srgbClr val="C00000"/>
                </a:solidFill>
                <a:latin typeface="Cambria"/>
                <a:cs typeface="Cambria"/>
              </a:rPr>
              <a:t>Feedforward</a:t>
            </a:r>
            <a:r>
              <a:rPr sz="2400" b="1" spc="2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90" dirty="0">
                <a:solidFill>
                  <a:srgbClr val="C00000"/>
                </a:solidFill>
                <a:latin typeface="Cambria"/>
                <a:cs typeface="Cambria"/>
              </a:rPr>
              <a:t>Neural</a:t>
            </a:r>
            <a:r>
              <a:rPr sz="2400" b="1" spc="2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C00000"/>
                </a:solidFill>
                <a:latin typeface="Cambria"/>
                <a:cs typeface="Cambria"/>
              </a:rPr>
              <a:t>Network</a:t>
            </a:r>
            <a:r>
              <a:rPr sz="2400" b="1" spc="2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50" dirty="0">
                <a:solidFill>
                  <a:srgbClr val="C00000"/>
                </a:solidFill>
                <a:latin typeface="Cambria"/>
                <a:cs typeface="Cambria"/>
              </a:rPr>
              <a:t>(Single-layer</a:t>
            </a:r>
            <a:r>
              <a:rPr sz="2400" b="1" spc="2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45" dirty="0">
                <a:solidFill>
                  <a:srgbClr val="C00000"/>
                </a:solidFill>
                <a:latin typeface="Cambria"/>
                <a:cs typeface="Cambria"/>
              </a:rPr>
              <a:t>Perceptron)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simplest</a:t>
            </a:r>
            <a:r>
              <a:rPr sz="2000" b="1" spc="4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feedforward</a:t>
            </a:r>
            <a:r>
              <a:rPr sz="2000" b="1" spc="4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does</a:t>
            </a:r>
            <a:r>
              <a:rPr sz="2000" b="1" spc="4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000" b="1" spc="4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contain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any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hidden</a:t>
            </a:r>
            <a:r>
              <a:rPr sz="20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layer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only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consists</a:t>
            </a:r>
            <a:r>
              <a:rPr sz="2000" b="1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single</a:t>
            </a:r>
            <a:r>
              <a:rPr sz="2000" b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b="1" spc="20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nodes.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1D6194"/>
              </a:buClr>
              <a:buFont typeface="Wingdings"/>
              <a:buChar char=""/>
            </a:pPr>
            <a:endParaRPr sz="24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do</a:t>
            </a:r>
            <a:r>
              <a:rPr sz="2000" b="1" spc="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sz="2000" b="1" spc="5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include</a:t>
            </a:r>
            <a:r>
              <a:rPr sz="2000" spc="5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5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C00000"/>
                </a:solidFill>
                <a:latin typeface="Cambria"/>
                <a:cs typeface="Cambria"/>
              </a:rPr>
              <a:t>input</a:t>
            </a:r>
            <a:r>
              <a:rPr sz="2000" b="1" spc="5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5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5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reason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402" y="4126687"/>
            <a:ext cx="315658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  <a:tabLst>
                <a:tab pos="589280" algn="l"/>
                <a:tab pos="1296670" algn="l"/>
                <a:tab pos="1712595" algn="l"/>
                <a:tab pos="2904490" algn="l"/>
              </a:tabLst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for	th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at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ecau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at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1997075" algn="l"/>
                <a:tab pos="2437765" algn="l"/>
              </a:tabLst>
            </a:pP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computations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done,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9740" y="4126687"/>
            <a:ext cx="2703830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0"/>
              </a:spcBef>
              <a:tabLst>
                <a:tab pos="616585" algn="l"/>
                <a:tab pos="1506220" algn="l"/>
                <a:tab pos="236728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in</a:t>
            </a:r>
            <a:r>
              <a:rPr sz="2000" b="1" spc="90" dirty="0">
                <a:solidFill>
                  <a:srgbClr val="C00000"/>
                </a:solidFill>
                <a:latin typeface="Cambria"/>
                <a:cs typeface="Cambria"/>
              </a:rPr>
              <a:t>p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ut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20" dirty="0">
                <a:solidFill>
                  <a:srgbClr val="C00000"/>
                </a:solidFill>
                <a:latin typeface="Cambria"/>
                <a:cs typeface="Cambria"/>
              </a:rPr>
              <a:t>l</a:t>
            </a:r>
            <a:r>
              <a:rPr sz="2000" b="1" spc="5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yer</a:t>
            </a:r>
            <a:r>
              <a:rPr sz="2000" b="1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000" b="1" spc="95" dirty="0">
                <a:solidFill>
                  <a:srgbClr val="C00000"/>
                </a:solidFill>
                <a:latin typeface="Cambria"/>
                <a:cs typeface="Cambria"/>
              </a:rPr>
              <a:t>no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642620" algn="l"/>
                <a:tab pos="1668145" algn="l"/>
                <a:tab pos="2288540" algn="l"/>
              </a:tabLst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	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uts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re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fed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0402" y="5193791"/>
            <a:ext cx="56737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directly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outputs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via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series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weights.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7200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97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Feedforward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1170940"/>
            <a:ext cx="10586720" cy="139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135" dirty="0">
                <a:solidFill>
                  <a:srgbClr val="C00000"/>
                </a:solidFill>
                <a:latin typeface="Cambria"/>
                <a:cs typeface="Cambria"/>
              </a:rPr>
              <a:t>Deep-Feedforward</a:t>
            </a:r>
            <a:r>
              <a:rPr sz="2400" b="1" i="1" spc="2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50" dirty="0">
                <a:solidFill>
                  <a:srgbClr val="C00000"/>
                </a:solidFill>
                <a:latin typeface="Cambria"/>
                <a:cs typeface="Cambria"/>
              </a:rPr>
              <a:t>Neural</a:t>
            </a:r>
            <a:r>
              <a:rPr sz="24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i="1" spc="145" dirty="0">
                <a:solidFill>
                  <a:srgbClr val="C00000"/>
                </a:solidFill>
                <a:latin typeface="Cambria"/>
                <a:cs typeface="Cambria"/>
              </a:rPr>
              <a:t>Network</a:t>
            </a:r>
            <a:r>
              <a:rPr sz="24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75" dirty="0">
                <a:solidFill>
                  <a:srgbClr val="C00000"/>
                </a:solidFill>
                <a:latin typeface="Cambria"/>
                <a:cs typeface="Cambria"/>
              </a:rPr>
              <a:t>(MLP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75" dirty="0">
                <a:solidFill>
                  <a:srgbClr val="C00000"/>
                </a:solidFill>
                <a:latin typeface="Cambria"/>
                <a:cs typeface="Cambria"/>
              </a:rPr>
              <a:t>-</a:t>
            </a:r>
            <a:r>
              <a:rPr sz="2000" b="1" i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75" dirty="0">
                <a:solidFill>
                  <a:srgbClr val="C00000"/>
                </a:solidFill>
                <a:latin typeface="Cambria"/>
                <a:cs typeface="Cambria"/>
              </a:rPr>
              <a:t>Multi-layer</a:t>
            </a:r>
            <a:r>
              <a:rPr sz="2000" b="1" i="1" spc="2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75" dirty="0">
                <a:solidFill>
                  <a:srgbClr val="C00000"/>
                </a:solidFill>
                <a:latin typeface="Cambria"/>
                <a:cs typeface="Cambria"/>
              </a:rPr>
              <a:t>Perceptron)</a:t>
            </a:r>
            <a:endParaRPr sz="20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38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000" spc="3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consists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multiple</a:t>
            </a:r>
            <a:r>
              <a:rPr sz="2000" b="1" i="1" spc="3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layers</a:t>
            </a:r>
            <a:r>
              <a:rPr sz="2000" b="1" i="1" spc="3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computational</a:t>
            </a:r>
            <a:r>
              <a:rPr sz="2000" spc="3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units,</a:t>
            </a:r>
            <a:r>
              <a:rPr sz="20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usually</a:t>
            </a:r>
            <a:endParaRPr sz="2000" dirty="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interconnected</a:t>
            </a:r>
            <a:r>
              <a:rPr sz="2000" b="1" i="1" spc="2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feed-forward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way.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2794456"/>
            <a:ext cx="7356475" cy="204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neuron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one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has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0" dirty="0">
                <a:solidFill>
                  <a:srgbClr val="C00000"/>
                </a:solidFill>
                <a:latin typeface="Cambria"/>
                <a:cs typeface="Cambria"/>
              </a:rPr>
              <a:t>directed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5" dirty="0">
                <a:solidFill>
                  <a:srgbClr val="C00000"/>
                </a:solidFill>
                <a:latin typeface="Cambria"/>
                <a:cs typeface="Cambria"/>
              </a:rPr>
              <a:t>connections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subsequent</a:t>
            </a:r>
            <a:r>
              <a:rPr sz="2000" b="1" i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layer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76225" marR="866140" indent="-228600" algn="just">
              <a:lnSpc>
                <a:spcPct val="130000"/>
              </a:lnSpc>
              <a:spcBef>
                <a:spcPts val="3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76860" algn="l"/>
              </a:tabLst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many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applications the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units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these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networks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apply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sigmoid</a:t>
            </a:r>
            <a:r>
              <a:rPr sz="2000" b="1" i="1" spc="1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114" dirty="0">
                <a:solidFill>
                  <a:srgbClr val="C00000"/>
                </a:solidFill>
                <a:latin typeface="Cambria"/>
                <a:cs typeface="Cambria"/>
              </a:rPr>
              <a:t>function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an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activation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function.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29016" y="2886201"/>
            <a:ext cx="30695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8945" algn="l"/>
                <a:tab pos="1028065" algn="l"/>
                <a:tab pos="2221865" algn="l"/>
                <a:tab pos="2661285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ne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700" y="5067503"/>
            <a:ext cx="6459220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30000"/>
              </a:lnSpc>
              <a:spcBef>
                <a:spcPts val="1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MLP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very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more </a:t>
            </a:r>
            <a:r>
              <a:rPr sz="2000" b="1" i="1" spc="110" dirty="0">
                <a:solidFill>
                  <a:srgbClr val="C00000"/>
                </a:solidFill>
                <a:latin typeface="Cambria"/>
                <a:cs typeface="Cambria"/>
              </a:rPr>
              <a:t>useful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and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one 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good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reason is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that,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they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able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non-linear </a:t>
            </a:r>
            <a:r>
              <a:rPr sz="2000" b="1" i="1" spc="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representations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(most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cases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data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presented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us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not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linearly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separable).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2050" name="Picture 2" descr="Multilayer Perceptrons in Machine Learning: A Comprehensive Guide | DataCamp">
            <a:extLst>
              <a:ext uri="{FF2B5EF4-FFF2-40B4-BE49-F238E27FC236}">
                <a16:creationId xmlns:a16="http://schemas.microsoft.com/office/drawing/2014/main" id="{64F754B4-2437-4BCF-9258-3B1CB1ABA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720" y="3340857"/>
            <a:ext cx="3848100" cy="343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54000"/>
            <a:ext cx="7891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104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240" dirty="0">
                <a:solidFill>
                  <a:srgbClr val="0D5671"/>
                </a:solidFill>
                <a:latin typeface="Cambria"/>
                <a:cs typeface="Cambria"/>
              </a:rPr>
              <a:t>How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60" dirty="0">
                <a:solidFill>
                  <a:srgbClr val="0D5671"/>
                </a:solidFill>
                <a:latin typeface="Cambria"/>
                <a:cs typeface="Cambria"/>
              </a:rPr>
              <a:t>are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the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70" dirty="0">
                <a:solidFill>
                  <a:srgbClr val="0D5671"/>
                </a:solidFill>
                <a:latin typeface="Cambria"/>
                <a:cs typeface="Cambria"/>
              </a:rPr>
              <a:t>weights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14" dirty="0">
                <a:solidFill>
                  <a:srgbClr val="0D5671"/>
                </a:solidFill>
                <a:latin typeface="Cambria"/>
                <a:cs typeface="Cambria"/>
              </a:rPr>
              <a:t>initialized?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06200" y="33959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39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1748789"/>
            <a:ext cx="3479292" cy="27927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5328094"/>
            <a:ext cx="3745229" cy="134302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676138" y="5391658"/>
            <a:ext cx="600710" cy="85725"/>
          </a:xfrm>
          <a:custGeom>
            <a:avLst/>
            <a:gdLst/>
            <a:ahLst/>
            <a:cxnLst/>
            <a:rect l="l" t="t" r="r" b="b"/>
            <a:pathLst>
              <a:path w="600710" h="85725">
                <a:moveTo>
                  <a:pt x="514731" y="57129"/>
                </a:moveTo>
                <a:lnTo>
                  <a:pt x="514731" y="85724"/>
                </a:lnTo>
                <a:lnTo>
                  <a:pt x="571965" y="57149"/>
                </a:lnTo>
                <a:lnTo>
                  <a:pt x="528954" y="57149"/>
                </a:lnTo>
                <a:lnTo>
                  <a:pt x="514731" y="57129"/>
                </a:lnTo>
                <a:close/>
              </a:path>
              <a:path w="600710" h="85725">
                <a:moveTo>
                  <a:pt x="514731" y="28554"/>
                </a:moveTo>
                <a:lnTo>
                  <a:pt x="514731" y="57129"/>
                </a:lnTo>
                <a:lnTo>
                  <a:pt x="528954" y="57149"/>
                </a:lnTo>
                <a:lnTo>
                  <a:pt x="529082" y="28574"/>
                </a:lnTo>
                <a:lnTo>
                  <a:pt x="514731" y="28554"/>
                </a:lnTo>
                <a:close/>
              </a:path>
              <a:path w="600710" h="85725">
                <a:moveTo>
                  <a:pt x="514731" y="0"/>
                </a:moveTo>
                <a:lnTo>
                  <a:pt x="514731" y="28554"/>
                </a:lnTo>
                <a:lnTo>
                  <a:pt x="529082" y="28574"/>
                </a:lnTo>
                <a:lnTo>
                  <a:pt x="528954" y="57149"/>
                </a:lnTo>
                <a:lnTo>
                  <a:pt x="571965" y="57149"/>
                </a:lnTo>
                <a:lnTo>
                  <a:pt x="600456" y="42925"/>
                </a:lnTo>
                <a:lnTo>
                  <a:pt x="514731" y="0"/>
                </a:lnTo>
                <a:close/>
              </a:path>
              <a:path w="600710" h="85725">
                <a:moveTo>
                  <a:pt x="0" y="27812"/>
                </a:moveTo>
                <a:lnTo>
                  <a:pt x="0" y="56387"/>
                </a:lnTo>
                <a:lnTo>
                  <a:pt x="514731" y="57129"/>
                </a:lnTo>
                <a:lnTo>
                  <a:pt x="514731" y="28554"/>
                </a:lnTo>
                <a:lnTo>
                  <a:pt x="0" y="27812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3458" y="1188923"/>
            <a:ext cx="10461625" cy="518477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general,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spc="55" dirty="0">
                <a:solidFill>
                  <a:srgbClr val="C00000"/>
                </a:solidFill>
                <a:latin typeface="Cambria"/>
                <a:cs typeface="Cambria"/>
              </a:rPr>
              <a:t>initial</a:t>
            </a:r>
            <a:r>
              <a:rPr sz="2000" b="1" i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80" dirty="0">
                <a:solidFill>
                  <a:srgbClr val="C00000"/>
                </a:solidFill>
                <a:latin typeface="Cambria"/>
                <a:cs typeface="Cambria"/>
              </a:rPr>
              <a:t>weights</a:t>
            </a:r>
            <a:r>
              <a:rPr sz="2000" b="1" i="1" spc="2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randomly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chosen,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i="1" spc="95" dirty="0">
                <a:solidFill>
                  <a:srgbClr val="C00000"/>
                </a:solidFill>
                <a:latin typeface="Cambria"/>
                <a:cs typeface="Cambria"/>
              </a:rPr>
              <a:t>typical</a:t>
            </a:r>
            <a:r>
              <a:rPr sz="2000" b="1" i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values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between</a:t>
            </a:r>
            <a:r>
              <a:rPr sz="20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Cambria"/>
                <a:cs typeface="Cambria"/>
              </a:rPr>
              <a:t>-1.0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60" dirty="0">
                <a:solidFill>
                  <a:srgbClr val="C00000"/>
                </a:solidFill>
                <a:latin typeface="Cambria"/>
                <a:cs typeface="Cambria"/>
              </a:rPr>
              <a:t>1.0</a:t>
            </a:r>
            <a:r>
              <a:rPr sz="2000" b="1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45" dirty="0">
                <a:solidFill>
                  <a:srgbClr val="C00000"/>
                </a:solidFill>
                <a:latin typeface="Cambria"/>
                <a:cs typeface="Cambria"/>
              </a:rPr>
              <a:t>or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Cambria"/>
                <a:cs typeface="Cambria"/>
              </a:rPr>
              <a:t>-0.5</a:t>
            </a:r>
            <a:r>
              <a:rPr sz="20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000" b="1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C00000"/>
                </a:solidFill>
                <a:latin typeface="Cambria"/>
                <a:cs typeface="Cambria"/>
              </a:rPr>
              <a:t>0.5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There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two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types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NNs.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first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type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known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  <a:p>
            <a:pPr marL="469900" marR="3465829" lvl="1" indent="-228600">
              <a:lnSpc>
                <a:spcPct val="147300"/>
              </a:lnSpc>
              <a:spcBef>
                <a:spcPts val="66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b="1" spc="80" dirty="0">
                <a:solidFill>
                  <a:srgbClr val="C00000"/>
                </a:solidFill>
                <a:latin typeface="Cambria"/>
                <a:cs typeface="Cambria"/>
              </a:rPr>
              <a:t>Fixed</a:t>
            </a:r>
            <a:r>
              <a:rPr sz="20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Networks</a:t>
            </a:r>
            <a:r>
              <a:rPr sz="2000" b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65" dirty="0">
                <a:solidFill>
                  <a:srgbClr val="C00000"/>
                </a:solidFill>
                <a:latin typeface="Cambria"/>
                <a:cs typeface="Cambria"/>
              </a:rPr>
              <a:t>(feedforward</a:t>
            </a:r>
            <a:r>
              <a:rPr sz="2000" b="1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25" dirty="0">
                <a:solidFill>
                  <a:srgbClr val="C00000"/>
                </a:solidFill>
                <a:latin typeface="Cambria"/>
                <a:cs typeface="Cambria"/>
              </a:rPr>
              <a:t>NN)</a:t>
            </a:r>
            <a:r>
              <a:rPr sz="1800" spc="125" dirty="0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weights </a:t>
            </a:r>
            <a:r>
              <a:rPr sz="1800" spc="-3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404040"/>
                </a:solidFill>
                <a:latin typeface="Cambria"/>
                <a:cs typeface="Cambria"/>
              </a:rPr>
              <a:t>fixed</a:t>
            </a:r>
            <a:endParaRPr sz="18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175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b="1" spc="110" dirty="0">
                <a:solidFill>
                  <a:srgbClr val="C00000"/>
                </a:solidFill>
                <a:latin typeface="Cambria"/>
                <a:cs typeface="Cambria"/>
              </a:rPr>
              <a:t>Adaptive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C00000"/>
                </a:solidFill>
                <a:latin typeface="Cambria"/>
                <a:cs typeface="Cambria"/>
              </a:rPr>
              <a:t>Networks</a:t>
            </a:r>
            <a:r>
              <a:rPr sz="2000" b="1" spc="2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45" dirty="0">
                <a:solidFill>
                  <a:srgbClr val="C00000"/>
                </a:solidFill>
                <a:latin typeface="Cambria"/>
                <a:cs typeface="Cambria"/>
              </a:rPr>
              <a:t>(Backward</a:t>
            </a:r>
            <a:r>
              <a:rPr sz="2000" b="1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55" dirty="0">
                <a:solidFill>
                  <a:srgbClr val="C00000"/>
                </a:solidFill>
                <a:latin typeface="Cambria"/>
                <a:cs typeface="Cambria"/>
              </a:rPr>
              <a:t>Propagation</a:t>
            </a:r>
            <a:r>
              <a:rPr sz="2000" b="1" spc="20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spc="85" dirty="0">
                <a:solidFill>
                  <a:srgbClr val="C00000"/>
                </a:solidFill>
                <a:latin typeface="Cambria"/>
                <a:cs typeface="Cambria"/>
              </a:rPr>
              <a:t>NN)</a:t>
            </a:r>
            <a:r>
              <a:rPr sz="2000" b="1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spc="235" dirty="0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130"/>
              </a:spcBef>
            </a:pP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r>
              <a:rPr sz="18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8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weights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18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404040"/>
                </a:solidFill>
                <a:latin typeface="Cambria"/>
                <a:cs typeface="Cambria"/>
              </a:rPr>
              <a:t>changed</a:t>
            </a:r>
            <a:r>
              <a:rPr sz="18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1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reduce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prediction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error.</a:t>
            </a:r>
            <a:endParaRPr sz="1800">
              <a:latin typeface="Cambria"/>
              <a:cs typeface="Cambria"/>
            </a:endParaRPr>
          </a:p>
          <a:p>
            <a:pPr marL="5948680" marR="5080">
              <a:lnSpc>
                <a:spcPct val="219099"/>
              </a:lnSpc>
              <a:spcBef>
                <a:spcPts val="265"/>
              </a:spcBef>
            </a:pPr>
            <a:r>
              <a:rPr sz="2400" i="1" spc="35" dirty="0">
                <a:solidFill>
                  <a:srgbClr val="009900"/>
                </a:solidFill>
                <a:latin typeface="Cambria"/>
                <a:cs typeface="Cambria"/>
              </a:rPr>
              <a:t>Network</a:t>
            </a:r>
            <a:r>
              <a:rPr sz="2400" i="1" spc="6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-5" dirty="0">
                <a:solidFill>
                  <a:srgbClr val="009900"/>
                </a:solidFill>
                <a:latin typeface="Cambria"/>
                <a:cs typeface="Cambria"/>
              </a:rPr>
              <a:t>activation</a:t>
            </a:r>
            <a:r>
              <a:rPr sz="2400" i="1" spc="6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-15" dirty="0">
                <a:solidFill>
                  <a:srgbClr val="009900"/>
                </a:solidFill>
                <a:latin typeface="Cambria"/>
                <a:cs typeface="Cambria"/>
              </a:rPr>
              <a:t>Forward</a:t>
            </a:r>
            <a:r>
              <a:rPr sz="2400" i="1" spc="7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75" dirty="0">
                <a:solidFill>
                  <a:srgbClr val="009900"/>
                </a:solidFill>
                <a:latin typeface="Cambria"/>
                <a:cs typeface="Cambria"/>
              </a:rPr>
              <a:t>Step </a:t>
            </a:r>
            <a:r>
              <a:rPr sz="2400" i="1" spc="80" dirty="0">
                <a:solidFill>
                  <a:srgbClr val="009900"/>
                </a:solidFill>
                <a:latin typeface="Cambria"/>
                <a:cs typeface="Cambria"/>
              </a:rPr>
              <a:t> </a:t>
            </a:r>
            <a:r>
              <a:rPr sz="2400" i="1" spc="15" dirty="0">
                <a:solidFill>
                  <a:srgbClr val="335B74"/>
                </a:solidFill>
                <a:latin typeface="Cambria"/>
                <a:cs typeface="Cambria"/>
              </a:rPr>
              <a:t>Error</a:t>
            </a:r>
            <a:r>
              <a:rPr sz="2400" i="1" spc="55" dirty="0">
                <a:solidFill>
                  <a:srgbClr val="335B74"/>
                </a:solidFill>
                <a:latin typeface="Cambria"/>
                <a:cs typeface="Cambria"/>
              </a:rPr>
              <a:t> </a:t>
            </a:r>
            <a:r>
              <a:rPr sz="2400" i="1" spc="45" dirty="0">
                <a:solidFill>
                  <a:srgbClr val="335B74"/>
                </a:solidFill>
                <a:latin typeface="Cambria"/>
                <a:cs typeface="Cambria"/>
              </a:rPr>
              <a:t>propagation</a:t>
            </a:r>
            <a:r>
              <a:rPr sz="2400" i="1" spc="60" dirty="0">
                <a:solidFill>
                  <a:srgbClr val="335B74"/>
                </a:solidFill>
                <a:latin typeface="Cambria"/>
                <a:cs typeface="Cambria"/>
              </a:rPr>
              <a:t> </a:t>
            </a:r>
            <a:r>
              <a:rPr sz="2400" i="1" spc="20" dirty="0">
                <a:solidFill>
                  <a:srgbClr val="335B74"/>
                </a:solidFill>
                <a:latin typeface="Cambria"/>
                <a:cs typeface="Cambria"/>
              </a:rPr>
              <a:t>Backward</a:t>
            </a:r>
            <a:r>
              <a:rPr sz="2400" i="1" spc="55" dirty="0">
                <a:solidFill>
                  <a:srgbClr val="335B74"/>
                </a:solidFill>
                <a:latin typeface="Cambria"/>
                <a:cs typeface="Cambria"/>
              </a:rPr>
              <a:t> </a:t>
            </a:r>
            <a:r>
              <a:rPr sz="2400" i="1" spc="75" dirty="0">
                <a:solidFill>
                  <a:srgbClr val="335B74"/>
                </a:solidFill>
                <a:latin typeface="Cambria"/>
                <a:cs typeface="Cambria"/>
              </a:rPr>
              <a:t>Step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66459" y="6166459"/>
            <a:ext cx="600710" cy="85725"/>
          </a:xfrm>
          <a:custGeom>
            <a:avLst/>
            <a:gdLst/>
            <a:ahLst/>
            <a:cxnLst/>
            <a:rect l="l" t="t" r="r" b="b"/>
            <a:pathLst>
              <a:path w="600709" h="85725">
                <a:moveTo>
                  <a:pt x="600456" y="27266"/>
                </a:moveTo>
                <a:lnTo>
                  <a:pt x="571881" y="27343"/>
                </a:lnTo>
                <a:lnTo>
                  <a:pt x="571881" y="55918"/>
                </a:lnTo>
                <a:lnTo>
                  <a:pt x="600456" y="55841"/>
                </a:lnTo>
                <a:lnTo>
                  <a:pt x="600456" y="27266"/>
                </a:lnTo>
                <a:close/>
              </a:path>
              <a:path w="600709" h="85725">
                <a:moveTo>
                  <a:pt x="543306" y="27406"/>
                </a:moveTo>
                <a:lnTo>
                  <a:pt x="514730" y="27482"/>
                </a:lnTo>
                <a:lnTo>
                  <a:pt x="514730" y="56057"/>
                </a:lnTo>
                <a:lnTo>
                  <a:pt x="543306" y="55981"/>
                </a:lnTo>
                <a:lnTo>
                  <a:pt x="543306" y="27406"/>
                </a:lnTo>
                <a:close/>
              </a:path>
              <a:path w="600709" h="85725">
                <a:moveTo>
                  <a:pt x="486155" y="27559"/>
                </a:moveTo>
                <a:lnTo>
                  <a:pt x="457580" y="27622"/>
                </a:lnTo>
                <a:lnTo>
                  <a:pt x="457580" y="56197"/>
                </a:lnTo>
                <a:lnTo>
                  <a:pt x="486155" y="56134"/>
                </a:lnTo>
                <a:lnTo>
                  <a:pt x="486155" y="27559"/>
                </a:lnTo>
                <a:close/>
              </a:path>
              <a:path w="600709" h="85725">
                <a:moveTo>
                  <a:pt x="429005" y="27698"/>
                </a:moveTo>
                <a:lnTo>
                  <a:pt x="400430" y="27774"/>
                </a:lnTo>
                <a:lnTo>
                  <a:pt x="400430" y="56349"/>
                </a:lnTo>
                <a:lnTo>
                  <a:pt x="429005" y="56273"/>
                </a:lnTo>
                <a:lnTo>
                  <a:pt x="429005" y="27698"/>
                </a:lnTo>
                <a:close/>
              </a:path>
              <a:path w="600709" h="85725">
                <a:moveTo>
                  <a:pt x="371855" y="27838"/>
                </a:moveTo>
                <a:lnTo>
                  <a:pt x="343280" y="27914"/>
                </a:lnTo>
                <a:lnTo>
                  <a:pt x="343280" y="56489"/>
                </a:lnTo>
                <a:lnTo>
                  <a:pt x="371855" y="56413"/>
                </a:lnTo>
                <a:lnTo>
                  <a:pt x="371855" y="27838"/>
                </a:lnTo>
                <a:close/>
              </a:path>
              <a:path w="600709" h="85725">
                <a:moveTo>
                  <a:pt x="314705" y="27990"/>
                </a:moveTo>
                <a:lnTo>
                  <a:pt x="286130" y="28067"/>
                </a:lnTo>
                <a:lnTo>
                  <a:pt x="286130" y="56642"/>
                </a:lnTo>
                <a:lnTo>
                  <a:pt x="314705" y="56565"/>
                </a:lnTo>
                <a:lnTo>
                  <a:pt x="314705" y="27990"/>
                </a:lnTo>
                <a:close/>
              </a:path>
              <a:path w="600709" h="85725">
                <a:moveTo>
                  <a:pt x="257555" y="28130"/>
                </a:moveTo>
                <a:lnTo>
                  <a:pt x="228980" y="28206"/>
                </a:lnTo>
                <a:lnTo>
                  <a:pt x="228980" y="56781"/>
                </a:lnTo>
                <a:lnTo>
                  <a:pt x="257555" y="56705"/>
                </a:lnTo>
                <a:lnTo>
                  <a:pt x="257555" y="28130"/>
                </a:lnTo>
                <a:close/>
              </a:path>
              <a:path w="600709" h="85725">
                <a:moveTo>
                  <a:pt x="200405" y="28282"/>
                </a:moveTo>
                <a:lnTo>
                  <a:pt x="171830" y="28346"/>
                </a:lnTo>
                <a:lnTo>
                  <a:pt x="171830" y="56921"/>
                </a:lnTo>
                <a:lnTo>
                  <a:pt x="200405" y="56857"/>
                </a:lnTo>
                <a:lnTo>
                  <a:pt x="200405" y="28282"/>
                </a:lnTo>
                <a:close/>
              </a:path>
              <a:path w="600709" h="85725">
                <a:moveTo>
                  <a:pt x="143255" y="28422"/>
                </a:moveTo>
                <a:lnTo>
                  <a:pt x="114680" y="28498"/>
                </a:lnTo>
                <a:lnTo>
                  <a:pt x="114680" y="57073"/>
                </a:lnTo>
                <a:lnTo>
                  <a:pt x="143255" y="56997"/>
                </a:lnTo>
                <a:lnTo>
                  <a:pt x="143255" y="28422"/>
                </a:lnTo>
                <a:close/>
              </a:path>
              <a:path w="600709" h="85725">
                <a:moveTo>
                  <a:pt x="85598" y="0"/>
                </a:moveTo>
                <a:lnTo>
                  <a:pt x="0" y="43078"/>
                </a:lnTo>
                <a:lnTo>
                  <a:pt x="85851" y="85725"/>
                </a:lnTo>
                <a:lnTo>
                  <a:pt x="85767" y="57175"/>
                </a:lnTo>
                <a:lnTo>
                  <a:pt x="71500" y="57175"/>
                </a:lnTo>
                <a:lnTo>
                  <a:pt x="71374" y="28600"/>
                </a:lnTo>
                <a:lnTo>
                  <a:pt x="85682" y="28575"/>
                </a:lnTo>
                <a:lnTo>
                  <a:pt x="85598" y="0"/>
                </a:lnTo>
                <a:close/>
              </a:path>
              <a:path w="600709" h="85725">
                <a:moveTo>
                  <a:pt x="85682" y="28575"/>
                </a:moveTo>
                <a:lnTo>
                  <a:pt x="71374" y="28600"/>
                </a:lnTo>
                <a:lnTo>
                  <a:pt x="71500" y="57175"/>
                </a:lnTo>
                <a:lnTo>
                  <a:pt x="85767" y="57150"/>
                </a:lnTo>
                <a:lnTo>
                  <a:pt x="85682" y="28575"/>
                </a:lnTo>
                <a:close/>
              </a:path>
              <a:path w="600709" h="85725">
                <a:moveTo>
                  <a:pt x="85767" y="57150"/>
                </a:moveTo>
                <a:lnTo>
                  <a:pt x="71500" y="57175"/>
                </a:lnTo>
                <a:lnTo>
                  <a:pt x="85767" y="57175"/>
                </a:lnTo>
                <a:close/>
              </a:path>
              <a:path w="600709" h="85725">
                <a:moveTo>
                  <a:pt x="86105" y="28575"/>
                </a:moveTo>
                <a:lnTo>
                  <a:pt x="85682" y="28575"/>
                </a:lnTo>
                <a:lnTo>
                  <a:pt x="85767" y="57150"/>
                </a:lnTo>
                <a:lnTo>
                  <a:pt x="86105" y="57150"/>
                </a:lnTo>
                <a:lnTo>
                  <a:pt x="86105" y="28575"/>
                </a:lnTo>
                <a:close/>
              </a:path>
            </a:pathLst>
          </a:custGeom>
          <a:solidFill>
            <a:srgbClr val="335B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67000" y="2747772"/>
            <a:ext cx="7519034" cy="1362710"/>
          </a:xfrm>
          <a:custGeom>
            <a:avLst/>
            <a:gdLst/>
            <a:ahLst/>
            <a:cxnLst/>
            <a:rect l="l" t="t" r="r" b="b"/>
            <a:pathLst>
              <a:path w="7519034" h="1362710">
                <a:moveTo>
                  <a:pt x="7518654" y="0"/>
                </a:moveTo>
                <a:lnTo>
                  <a:pt x="0" y="0"/>
                </a:lnTo>
                <a:lnTo>
                  <a:pt x="0" y="1362455"/>
                </a:lnTo>
                <a:lnTo>
                  <a:pt x="7518654" y="1362455"/>
                </a:lnTo>
                <a:lnTo>
                  <a:pt x="7518654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45994" y="3217672"/>
            <a:ext cx="60255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90" dirty="0">
                <a:solidFill>
                  <a:srgbClr val="FFFFFF"/>
                </a:solidFill>
                <a:latin typeface="Cambria"/>
                <a:cs typeface="Cambria"/>
              </a:rPr>
              <a:t>Back</a:t>
            </a:r>
            <a:r>
              <a:rPr sz="5400" spc="4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70" dirty="0">
                <a:solidFill>
                  <a:srgbClr val="FFFFFF"/>
                </a:solidFill>
                <a:latin typeface="Cambria"/>
                <a:cs typeface="Cambria"/>
              </a:rPr>
              <a:t>Propagation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40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0"/>
            <a:ext cx="9144000" cy="1270000"/>
          </a:xfrm>
          <a:prstGeom prst="rect">
            <a:avLst/>
          </a:prstGeom>
          <a:solidFill>
            <a:srgbClr val="4470C4">
              <a:alpha val="70195"/>
            </a:srgbClr>
          </a:solidFill>
          <a:ln w="12192">
            <a:solidFill>
              <a:srgbClr val="2D528F"/>
            </a:solidFill>
          </a:ln>
        </p:spPr>
        <p:txBody>
          <a:bodyPr vert="horz" wrap="square" lIns="0" tIns="231140" rIns="0" bIns="0" rtlCol="0">
            <a:spAutoFit/>
          </a:bodyPr>
          <a:lstStyle/>
          <a:p>
            <a:pPr marL="1036319">
              <a:lnSpc>
                <a:spcPct val="100000"/>
              </a:lnSpc>
              <a:spcBef>
                <a:spcPts val="1820"/>
              </a:spcBef>
              <a:tabLst>
                <a:tab pos="4984115" algn="l"/>
              </a:tabLst>
            </a:pPr>
            <a:r>
              <a:rPr sz="4400" spc="-10" dirty="0">
                <a:solidFill>
                  <a:srgbClr val="FFFFFF"/>
                </a:solidFill>
              </a:rPr>
              <a:t>Neural</a:t>
            </a:r>
            <a:r>
              <a:rPr sz="4400" spc="-50" dirty="0">
                <a:solidFill>
                  <a:srgbClr val="FFFFFF"/>
                </a:solidFill>
              </a:rPr>
              <a:t> </a:t>
            </a:r>
            <a:r>
              <a:rPr sz="4400" spc="-15" dirty="0">
                <a:solidFill>
                  <a:srgbClr val="FFFFFF"/>
                </a:solidFill>
              </a:rPr>
              <a:t>Network	training</a:t>
            </a:r>
            <a:r>
              <a:rPr sz="4400" spc="-145" dirty="0">
                <a:solidFill>
                  <a:srgbClr val="FFFFFF"/>
                </a:solidFill>
              </a:rPr>
              <a:t> </a:t>
            </a:r>
            <a:r>
              <a:rPr sz="4400" spc="-30" dirty="0">
                <a:solidFill>
                  <a:srgbClr val="FFFFFF"/>
                </a:solidFill>
              </a:rPr>
              <a:t>steps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249423" y="1342644"/>
            <a:ext cx="6320155" cy="711835"/>
          </a:xfrm>
          <a:custGeom>
            <a:avLst/>
            <a:gdLst/>
            <a:ahLst/>
            <a:cxnLst/>
            <a:rect l="l" t="t" r="r" b="b"/>
            <a:pathLst>
              <a:path w="6320155" h="711835">
                <a:moveTo>
                  <a:pt x="6319901" y="0"/>
                </a:moveTo>
                <a:lnTo>
                  <a:pt x="355853" y="0"/>
                </a:lnTo>
                <a:lnTo>
                  <a:pt x="0" y="355726"/>
                </a:lnTo>
                <a:lnTo>
                  <a:pt x="355853" y="711580"/>
                </a:lnTo>
                <a:lnTo>
                  <a:pt x="6319901" y="711580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8976" y="1367789"/>
            <a:ext cx="3277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ni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88235" y="1336547"/>
            <a:ext cx="721995" cy="723900"/>
            <a:chOff x="1888235" y="1336547"/>
            <a:chExt cx="721995" cy="723900"/>
          </a:xfrm>
        </p:grpSpPr>
        <p:sp>
          <p:nvSpPr>
            <p:cNvPr id="6" name="object 6"/>
            <p:cNvSpPr/>
            <p:nvPr/>
          </p:nvSpPr>
          <p:spPr>
            <a:xfrm>
              <a:off x="1894331" y="1342643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5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4167"/>
                  </a:lnTo>
                  <a:lnTo>
                    <a:pt x="104012" y="104139"/>
                  </a:lnTo>
                  <a:lnTo>
                    <a:pt x="73913" y="138302"/>
                  </a:lnTo>
                  <a:lnTo>
                    <a:pt x="48513" y="176148"/>
                  </a:lnTo>
                  <a:lnTo>
                    <a:pt x="27940" y="217296"/>
                  </a:lnTo>
                  <a:lnTo>
                    <a:pt x="12700" y="261238"/>
                  </a:lnTo>
                  <a:lnTo>
                    <a:pt x="3301" y="307466"/>
                  </a:lnTo>
                  <a:lnTo>
                    <a:pt x="0" y="355726"/>
                  </a:lnTo>
                  <a:lnTo>
                    <a:pt x="3301" y="404113"/>
                  </a:lnTo>
                  <a:lnTo>
                    <a:pt x="12700" y="450341"/>
                  </a:lnTo>
                  <a:lnTo>
                    <a:pt x="27940" y="494283"/>
                  </a:lnTo>
                  <a:lnTo>
                    <a:pt x="48513" y="535431"/>
                  </a:lnTo>
                  <a:lnTo>
                    <a:pt x="73913" y="573277"/>
                  </a:lnTo>
                  <a:lnTo>
                    <a:pt x="104012" y="607440"/>
                  </a:lnTo>
                  <a:lnTo>
                    <a:pt x="138049" y="637413"/>
                  </a:lnTo>
                  <a:lnTo>
                    <a:pt x="175768" y="663066"/>
                  </a:lnTo>
                  <a:lnTo>
                    <a:pt x="216788" y="683640"/>
                  </a:lnTo>
                  <a:lnTo>
                    <a:pt x="260604" y="698880"/>
                  </a:lnTo>
                  <a:lnTo>
                    <a:pt x="306705" y="708278"/>
                  </a:lnTo>
                  <a:lnTo>
                    <a:pt x="354965" y="711580"/>
                  </a:lnTo>
                  <a:lnTo>
                    <a:pt x="403098" y="708278"/>
                  </a:lnTo>
                  <a:lnTo>
                    <a:pt x="449199" y="698880"/>
                  </a:lnTo>
                  <a:lnTo>
                    <a:pt x="493013" y="683640"/>
                  </a:lnTo>
                  <a:lnTo>
                    <a:pt x="534035" y="663066"/>
                  </a:lnTo>
                  <a:lnTo>
                    <a:pt x="571754" y="637413"/>
                  </a:lnTo>
                  <a:lnTo>
                    <a:pt x="605790" y="607440"/>
                  </a:lnTo>
                  <a:lnTo>
                    <a:pt x="635888" y="573277"/>
                  </a:lnTo>
                  <a:lnTo>
                    <a:pt x="661288" y="535431"/>
                  </a:lnTo>
                  <a:lnTo>
                    <a:pt x="681863" y="494283"/>
                  </a:lnTo>
                  <a:lnTo>
                    <a:pt x="697103" y="450341"/>
                  </a:lnTo>
                  <a:lnTo>
                    <a:pt x="706501" y="404113"/>
                  </a:lnTo>
                  <a:lnTo>
                    <a:pt x="709803" y="355726"/>
                  </a:lnTo>
                  <a:lnTo>
                    <a:pt x="706501" y="307466"/>
                  </a:lnTo>
                  <a:lnTo>
                    <a:pt x="697103" y="261238"/>
                  </a:lnTo>
                  <a:lnTo>
                    <a:pt x="681863" y="217296"/>
                  </a:lnTo>
                  <a:lnTo>
                    <a:pt x="661288" y="176148"/>
                  </a:lnTo>
                  <a:lnTo>
                    <a:pt x="635888" y="138302"/>
                  </a:lnTo>
                  <a:lnTo>
                    <a:pt x="605790" y="104139"/>
                  </a:lnTo>
                  <a:lnTo>
                    <a:pt x="571754" y="74167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4331" y="1342643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5">
                  <a:moveTo>
                    <a:pt x="0" y="355726"/>
                  </a:moveTo>
                  <a:lnTo>
                    <a:pt x="3301" y="307466"/>
                  </a:lnTo>
                  <a:lnTo>
                    <a:pt x="12700" y="261238"/>
                  </a:lnTo>
                  <a:lnTo>
                    <a:pt x="27940" y="217296"/>
                  </a:lnTo>
                  <a:lnTo>
                    <a:pt x="48513" y="176148"/>
                  </a:lnTo>
                  <a:lnTo>
                    <a:pt x="73913" y="138302"/>
                  </a:lnTo>
                  <a:lnTo>
                    <a:pt x="104012" y="104139"/>
                  </a:lnTo>
                  <a:lnTo>
                    <a:pt x="138049" y="74167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4167"/>
                  </a:lnTo>
                  <a:lnTo>
                    <a:pt x="605790" y="104139"/>
                  </a:lnTo>
                  <a:lnTo>
                    <a:pt x="635888" y="138302"/>
                  </a:lnTo>
                  <a:lnTo>
                    <a:pt x="661288" y="176148"/>
                  </a:lnTo>
                  <a:lnTo>
                    <a:pt x="681863" y="217296"/>
                  </a:lnTo>
                  <a:lnTo>
                    <a:pt x="697103" y="261238"/>
                  </a:lnTo>
                  <a:lnTo>
                    <a:pt x="706501" y="307466"/>
                  </a:lnTo>
                  <a:lnTo>
                    <a:pt x="709803" y="355726"/>
                  </a:lnTo>
                  <a:lnTo>
                    <a:pt x="706501" y="404113"/>
                  </a:lnTo>
                  <a:lnTo>
                    <a:pt x="697103" y="450341"/>
                  </a:lnTo>
                  <a:lnTo>
                    <a:pt x="681863" y="494283"/>
                  </a:lnTo>
                  <a:lnTo>
                    <a:pt x="661288" y="535431"/>
                  </a:lnTo>
                  <a:lnTo>
                    <a:pt x="635888" y="573277"/>
                  </a:lnTo>
                  <a:lnTo>
                    <a:pt x="605790" y="607440"/>
                  </a:lnTo>
                  <a:lnTo>
                    <a:pt x="571754" y="637413"/>
                  </a:lnTo>
                  <a:lnTo>
                    <a:pt x="534035" y="663066"/>
                  </a:lnTo>
                  <a:lnTo>
                    <a:pt x="493013" y="683640"/>
                  </a:lnTo>
                  <a:lnTo>
                    <a:pt x="449199" y="698880"/>
                  </a:lnTo>
                  <a:lnTo>
                    <a:pt x="403098" y="708278"/>
                  </a:lnTo>
                  <a:lnTo>
                    <a:pt x="354965" y="711580"/>
                  </a:lnTo>
                  <a:lnTo>
                    <a:pt x="306705" y="708278"/>
                  </a:lnTo>
                  <a:lnTo>
                    <a:pt x="260604" y="698880"/>
                  </a:lnTo>
                  <a:lnTo>
                    <a:pt x="216788" y="683640"/>
                  </a:lnTo>
                  <a:lnTo>
                    <a:pt x="175768" y="663066"/>
                  </a:lnTo>
                  <a:lnTo>
                    <a:pt x="138049" y="637413"/>
                  </a:lnTo>
                  <a:lnTo>
                    <a:pt x="104012" y="607440"/>
                  </a:lnTo>
                  <a:lnTo>
                    <a:pt x="73913" y="573277"/>
                  </a:lnTo>
                  <a:lnTo>
                    <a:pt x="48513" y="535431"/>
                  </a:lnTo>
                  <a:lnTo>
                    <a:pt x="27940" y="494283"/>
                  </a:lnTo>
                  <a:lnTo>
                    <a:pt x="12700" y="450341"/>
                  </a:lnTo>
                  <a:lnTo>
                    <a:pt x="3301" y="404113"/>
                  </a:lnTo>
                  <a:lnTo>
                    <a:pt x="0" y="355726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249423" y="2266188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30">
                <a:moveTo>
                  <a:pt x="6319901" y="0"/>
                </a:moveTo>
                <a:lnTo>
                  <a:pt x="355092" y="0"/>
                </a:lnTo>
                <a:lnTo>
                  <a:pt x="0" y="354838"/>
                </a:lnTo>
                <a:lnTo>
                  <a:pt x="355092" y="709802"/>
                </a:lnTo>
                <a:lnTo>
                  <a:pt x="6319901" y="709802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28976" y="2290952"/>
            <a:ext cx="30041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Inputs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88235" y="2260092"/>
            <a:ext cx="721995" cy="721995"/>
            <a:chOff x="1888235" y="2260092"/>
            <a:chExt cx="721995" cy="721995"/>
          </a:xfrm>
        </p:grpSpPr>
        <p:sp>
          <p:nvSpPr>
            <p:cNvPr id="11" name="object 11"/>
            <p:cNvSpPr/>
            <p:nvPr/>
          </p:nvSpPr>
          <p:spPr>
            <a:xfrm>
              <a:off x="1894331" y="2266188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30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3913"/>
                  </a:lnTo>
                  <a:lnTo>
                    <a:pt x="104012" y="104012"/>
                  </a:lnTo>
                  <a:lnTo>
                    <a:pt x="73913" y="138049"/>
                  </a:lnTo>
                  <a:lnTo>
                    <a:pt x="48513" y="175767"/>
                  </a:lnTo>
                  <a:lnTo>
                    <a:pt x="27940" y="216788"/>
                  </a:lnTo>
                  <a:lnTo>
                    <a:pt x="12700" y="260603"/>
                  </a:lnTo>
                  <a:lnTo>
                    <a:pt x="3301" y="306704"/>
                  </a:lnTo>
                  <a:lnTo>
                    <a:pt x="0" y="354838"/>
                  </a:lnTo>
                  <a:lnTo>
                    <a:pt x="3301" y="403098"/>
                  </a:lnTo>
                  <a:lnTo>
                    <a:pt x="12700" y="449199"/>
                  </a:lnTo>
                  <a:lnTo>
                    <a:pt x="27940" y="493013"/>
                  </a:lnTo>
                  <a:lnTo>
                    <a:pt x="48513" y="534035"/>
                  </a:lnTo>
                  <a:lnTo>
                    <a:pt x="73913" y="571753"/>
                  </a:lnTo>
                  <a:lnTo>
                    <a:pt x="104012" y="605789"/>
                  </a:lnTo>
                  <a:lnTo>
                    <a:pt x="138049" y="635888"/>
                  </a:lnTo>
                  <a:lnTo>
                    <a:pt x="175768" y="661288"/>
                  </a:lnTo>
                  <a:lnTo>
                    <a:pt x="216788" y="681863"/>
                  </a:lnTo>
                  <a:lnTo>
                    <a:pt x="260604" y="697102"/>
                  </a:lnTo>
                  <a:lnTo>
                    <a:pt x="306705" y="706501"/>
                  </a:lnTo>
                  <a:lnTo>
                    <a:pt x="354965" y="709802"/>
                  </a:lnTo>
                  <a:lnTo>
                    <a:pt x="403098" y="706501"/>
                  </a:lnTo>
                  <a:lnTo>
                    <a:pt x="449199" y="697102"/>
                  </a:lnTo>
                  <a:lnTo>
                    <a:pt x="493013" y="681863"/>
                  </a:lnTo>
                  <a:lnTo>
                    <a:pt x="534035" y="661288"/>
                  </a:lnTo>
                  <a:lnTo>
                    <a:pt x="571754" y="635888"/>
                  </a:lnTo>
                  <a:lnTo>
                    <a:pt x="605790" y="605789"/>
                  </a:lnTo>
                  <a:lnTo>
                    <a:pt x="635888" y="571753"/>
                  </a:lnTo>
                  <a:lnTo>
                    <a:pt x="661288" y="534035"/>
                  </a:lnTo>
                  <a:lnTo>
                    <a:pt x="681863" y="493013"/>
                  </a:lnTo>
                  <a:lnTo>
                    <a:pt x="697103" y="449199"/>
                  </a:lnTo>
                  <a:lnTo>
                    <a:pt x="706501" y="403098"/>
                  </a:lnTo>
                  <a:lnTo>
                    <a:pt x="709803" y="354838"/>
                  </a:lnTo>
                  <a:lnTo>
                    <a:pt x="706501" y="306704"/>
                  </a:lnTo>
                  <a:lnTo>
                    <a:pt x="697103" y="260603"/>
                  </a:lnTo>
                  <a:lnTo>
                    <a:pt x="681863" y="216788"/>
                  </a:lnTo>
                  <a:lnTo>
                    <a:pt x="661288" y="175767"/>
                  </a:lnTo>
                  <a:lnTo>
                    <a:pt x="635888" y="138049"/>
                  </a:lnTo>
                  <a:lnTo>
                    <a:pt x="605790" y="104012"/>
                  </a:lnTo>
                  <a:lnTo>
                    <a:pt x="571754" y="73913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94331" y="2266188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30">
                  <a:moveTo>
                    <a:pt x="0" y="354838"/>
                  </a:moveTo>
                  <a:lnTo>
                    <a:pt x="3301" y="306704"/>
                  </a:lnTo>
                  <a:lnTo>
                    <a:pt x="12700" y="260603"/>
                  </a:lnTo>
                  <a:lnTo>
                    <a:pt x="27940" y="216788"/>
                  </a:lnTo>
                  <a:lnTo>
                    <a:pt x="48513" y="175767"/>
                  </a:lnTo>
                  <a:lnTo>
                    <a:pt x="73913" y="138049"/>
                  </a:lnTo>
                  <a:lnTo>
                    <a:pt x="104012" y="104012"/>
                  </a:lnTo>
                  <a:lnTo>
                    <a:pt x="138049" y="73913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3913"/>
                  </a:lnTo>
                  <a:lnTo>
                    <a:pt x="605790" y="104012"/>
                  </a:lnTo>
                  <a:lnTo>
                    <a:pt x="635888" y="138049"/>
                  </a:lnTo>
                  <a:lnTo>
                    <a:pt x="661288" y="175767"/>
                  </a:lnTo>
                  <a:lnTo>
                    <a:pt x="681863" y="216788"/>
                  </a:lnTo>
                  <a:lnTo>
                    <a:pt x="697103" y="260603"/>
                  </a:lnTo>
                  <a:lnTo>
                    <a:pt x="706501" y="306704"/>
                  </a:lnTo>
                  <a:lnTo>
                    <a:pt x="709803" y="354838"/>
                  </a:lnTo>
                  <a:lnTo>
                    <a:pt x="706501" y="403098"/>
                  </a:lnTo>
                  <a:lnTo>
                    <a:pt x="697103" y="449199"/>
                  </a:lnTo>
                  <a:lnTo>
                    <a:pt x="681863" y="493013"/>
                  </a:lnTo>
                  <a:lnTo>
                    <a:pt x="661288" y="534035"/>
                  </a:lnTo>
                  <a:lnTo>
                    <a:pt x="635888" y="571753"/>
                  </a:lnTo>
                  <a:lnTo>
                    <a:pt x="605790" y="605789"/>
                  </a:lnTo>
                  <a:lnTo>
                    <a:pt x="571754" y="635888"/>
                  </a:lnTo>
                  <a:lnTo>
                    <a:pt x="534035" y="661288"/>
                  </a:lnTo>
                  <a:lnTo>
                    <a:pt x="493013" y="681863"/>
                  </a:lnTo>
                  <a:lnTo>
                    <a:pt x="449199" y="697102"/>
                  </a:lnTo>
                  <a:lnTo>
                    <a:pt x="403098" y="706501"/>
                  </a:lnTo>
                  <a:lnTo>
                    <a:pt x="354965" y="709802"/>
                  </a:lnTo>
                  <a:lnTo>
                    <a:pt x="306705" y="706501"/>
                  </a:lnTo>
                  <a:lnTo>
                    <a:pt x="260604" y="697102"/>
                  </a:lnTo>
                  <a:lnTo>
                    <a:pt x="216788" y="681863"/>
                  </a:lnTo>
                  <a:lnTo>
                    <a:pt x="175768" y="661288"/>
                  </a:lnTo>
                  <a:lnTo>
                    <a:pt x="138049" y="635888"/>
                  </a:lnTo>
                  <a:lnTo>
                    <a:pt x="104012" y="605789"/>
                  </a:lnTo>
                  <a:lnTo>
                    <a:pt x="73913" y="571753"/>
                  </a:lnTo>
                  <a:lnTo>
                    <a:pt x="48513" y="534035"/>
                  </a:lnTo>
                  <a:lnTo>
                    <a:pt x="27940" y="493013"/>
                  </a:lnTo>
                  <a:lnTo>
                    <a:pt x="12700" y="449199"/>
                  </a:lnTo>
                  <a:lnTo>
                    <a:pt x="3301" y="403098"/>
                  </a:lnTo>
                  <a:lnTo>
                    <a:pt x="0" y="35483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249423" y="3188207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29">
                <a:moveTo>
                  <a:pt x="6319901" y="0"/>
                </a:moveTo>
                <a:lnTo>
                  <a:pt x="355092" y="0"/>
                </a:lnTo>
                <a:lnTo>
                  <a:pt x="0" y="354838"/>
                </a:lnTo>
                <a:lnTo>
                  <a:pt x="355092" y="709802"/>
                </a:lnTo>
                <a:lnTo>
                  <a:pt x="6319901" y="709802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27451" y="3214243"/>
            <a:ext cx="53066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Sum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inputs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Weights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88235" y="3182111"/>
            <a:ext cx="721995" cy="721995"/>
            <a:chOff x="1888235" y="3182111"/>
            <a:chExt cx="721995" cy="721995"/>
          </a:xfrm>
        </p:grpSpPr>
        <p:sp>
          <p:nvSpPr>
            <p:cNvPr id="16" name="object 16"/>
            <p:cNvSpPr/>
            <p:nvPr/>
          </p:nvSpPr>
          <p:spPr>
            <a:xfrm>
              <a:off x="1894331" y="3188207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3913"/>
                  </a:lnTo>
                  <a:lnTo>
                    <a:pt x="104012" y="104012"/>
                  </a:lnTo>
                  <a:lnTo>
                    <a:pt x="73913" y="138049"/>
                  </a:lnTo>
                  <a:lnTo>
                    <a:pt x="48513" y="175767"/>
                  </a:lnTo>
                  <a:lnTo>
                    <a:pt x="27940" y="216788"/>
                  </a:lnTo>
                  <a:lnTo>
                    <a:pt x="12700" y="260603"/>
                  </a:lnTo>
                  <a:lnTo>
                    <a:pt x="3301" y="306704"/>
                  </a:lnTo>
                  <a:lnTo>
                    <a:pt x="0" y="354838"/>
                  </a:lnTo>
                  <a:lnTo>
                    <a:pt x="3301" y="403097"/>
                  </a:lnTo>
                  <a:lnTo>
                    <a:pt x="12700" y="449198"/>
                  </a:lnTo>
                  <a:lnTo>
                    <a:pt x="27940" y="493013"/>
                  </a:lnTo>
                  <a:lnTo>
                    <a:pt x="48513" y="534034"/>
                  </a:lnTo>
                  <a:lnTo>
                    <a:pt x="73913" y="571753"/>
                  </a:lnTo>
                  <a:lnTo>
                    <a:pt x="104012" y="605789"/>
                  </a:lnTo>
                  <a:lnTo>
                    <a:pt x="138049" y="635888"/>
                  </a:lnTo>
                  <a:lnTo>
                    <a:pt x="175768" y="661288"/>
                  </a:lnTo>
                  <a:lnTo>
                    <a:pt x="216788" y="681862"/>
                  </a:lnTo>
                  <a:lnTo>
                    <a:pt x="260604" y="697102"/>
                  </a:lnTo>
                  <a:lnTo>
                    <a:pt x="306705" y="706500"/>
                  </a:lnTo>
                  <a:lnTo>
                    <a:pt x="354965" y="709802"/>
                  </a:lnTo>
                  <a:lnTo>
                    <a:pt x="403098" y="706500"/>
                  </a:lnTo>
                  <a:lnTo>
                    <a:pt x="449199" y="697102"/>
                  </a:lnTo>
                  <a:lnTo>
                    <a:pt x="493013" y="681862"/>
                  </a:lnTo>
                  <a:lnTo>
                    <a:pt x="534035" y="661288"/>
                  </a:lnTo>
                  <a:lnTo>
                    <a:pt x="571754" y="635888"/>
                  </a:lnTo>
                  <a:lnTo>
                    <a:pt x="605790" y="605789"/>
                  </a:lnTo>
                  <a:lnTo>
                    <a:pt x="635888" y="571753"/>
                  </a:lnTo>
                  <a:lnTo>
                    <a:pt x="661288" y="534034"/>
                  </a:lnTo>
                  <a:lnTo>
                    <a:pt x="681863" y="493013"/>
                  </a:lnTo>
                  <a:lnTo>
                    <a:pt x="697103" y="449198"/>
                  </a:lnTo>
                  <a:lnTo>
                    <a:pt x="706501" y="403097"/>
                  </a:lnTo>
                  <a:lnTo>
                    <a:pt x="709803" y="354838"/>
                  </a:lnTo>
                  <a:lnTo>
                    <a:pt x="706501" y="306704"/>
                  </a:lnTo>
                  <a:lnTo>
                    <a:pt x="697103" y="260603"/>
                  </a:lnTo>
                  <a:lnTo>
                    <a:pt x="681863" y="216788"/>
                  </a:lnTo>
                  <a:lnTo>
                    <a:pt x="661288" y="175767"/>
                  </a:lnTo>
                  <a:lnTo>
                    <a:pt x="635888" y="138049"/>
                  </a:lnTo>
                  <a:lnTo>
                    <a:pt x="605790" y="104012"/>
                  </a:lnTo>
                  <a:lnTo>
                    <a:pt x="571754" y="73913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94331" y="3188207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0" y="354838"/>
                  </a:moveTo>
                  <a:lnTo>
                    <a:pt x="3301" y="306704"/>
                  </a:lnTo>
                  <a:lnTo>
                    <a:pt x="12700" y="260603"/>
                  </a:lnTo>
                  <a:lnTo>
                    <a:pt x="27940" y="216788"/>
                  </a:lnTo>
                  <a:lnTo>
                    <a:pt x="48513" y="175767"/>
                  </a:lnTo>
                  <a:lnTo>
                    <a:pt x="73913" y="138049"/>
                  </a:lnTo>
                  <a:lnTo>
                    <a:pt x="104012" y="104012"/>
                  </a:lnTo>
                  <a:lnTo>
                    <a:pt x="138049" y="73913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3913"/>
                  </a:lnTo>
                  <a:lnTo>
                    <a:pt x="605790" y="104012"/>
                  </a:lnTo>
                  <a:lnTo>
                    <a:pt x="635888" y="138049"/>
                  </a:lnTo>
                  <a:lnTo>
                    <a:pt x="661288" y="175767"/>
                  </a:lnTo>
                  <a:lnTo>
                    <a:pt x="681863" y="216788"/>
                  </a:lnTo>
                  <a:lnTo>
                    <a:pt x="697103" y="260603"/>
                  </a:lnTo>
                  <a:lnTo>
                    <a:pt x="706501" y="306704"/>
                  </a:lnTo>
                  <a:lnTo>
                    <a:pt x="709803" y="354838"/>
                  </a:lnTo>
                  <a:lnTo>
                    <a:pt x="706501" y="403097"/>
                  </a:lnTo>
                  <a:lnTo>
                    <a:pt x="697103" y="449198"/>
                  </a:lnTo>
                  <a:lnTo>
                    <a:pt x="681863" y="493013"/>
                  </a:lnTo>
                  <a:lnTo>
                    <a:pt x="661288" y="534034"/>
                  </a:lnTo>
                  <a:lnTo>
                    <a:pt x="635888" y="571753"/>
                  </a:lnTo>
                  <a:lnTo>
                    <a:pt x="605790" y="605789"/>
                  </a:lnTo>
                  <a:lnTo>
                    <a:pt x="571754" y="635888"/>
                  </a:lnTo>
                  <a:lnTo>
                    <a:pt x="534035" y="661288"/>
                  </a:lnTo>
                  <a:lnTo>
                    <a:pt x="493013" y="681862"/>
                  </a:lnTo>
                  <a:lnTo>
                    <a:pt x="449199" y="697102"/>
                  </a:lnTo>
                  <a:lnTo>
                    <a:pt x="403098" y="706500"/>
                  </a:lnTo>
                  <a:lnTo>
                    <a:pt x="354965" y="709802"/>
                  </a:lnTo>
                  <a:lnTo>
                    <a:pt x="306705" y="706500"/>
                  </a:lnTo>
                  <a:lnTo>
                    <a:pt x="260604" y="697102"/>
                  </a:lnTo>
                  <a:lnTo>
                    <a:pt x="216788" y="681862"/>
                  </a:lnTo>
                  <a:lnTo>
                    <a:pt x="175768" y="661288"/>
                  </a:lnTo>
                  <a:lnTo>
                    <a:pt x="138049" y="635888"/>
                  </a:lnTo>
                  <a:lnTo>
                    <a:pt x="104012" y="605789"/>
                  </a:lnTo>
                  <a:lnTo>
                    <a:pt x="73913" y="571753"/>
                  </a:lnTo>
                  <a:lnTo>
                    <a:pt x="48513" y="534034"/>
                  </a:lnTo>
                  <a:lnTo>
                    <a:pt x="27940" y="493013"/>
                  </a:lnTo>
                  <a:lnTo>
                    <a:pt x="12700" y="449198"/>
                  </a:lnTo>
                  <a:lnTo>
                    <a:pt x="3301" y="403097"/>
                  </a:lnTo>
                  <a:lnTo>
                    <a:pt x="0" y="35483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2249423" y="4111752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29">
                <a:moveTo>
                  <a:pt x="6319901" y="0"/>
                </a:moveTo>
                <a:lnTo>
                  <a:pt x="355092" y="0"/>
                </a:lnTo>
                <a:lnTo>
                  <a:pt x="0" y="354965"/>
                </a:lnTo>
                <a:lnTo>
                  <a:pt x="355092" y="709803"/>
                </a:lnTo>
                <a:lnTo>
                  <a:pt x="6319901" y="709803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28976" y="4136263"/>
            <a:ext cx="32918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Activation</a:t>
            </a:r>
            <a:r>
              <a:rPr sz="3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88235" y="4105655"/>
            <a:ext cx="721995" cy="721995"/>
            <a:chOff x="1888235" y="4105655"/>
            <a:chExt cx="721995" cy="721995"/>
          </a:xfrm>
        </p:grpSpPr>
        <p:sp>
          <p:nvSpPr>
            <p:cNvPr id="21" name="object 21"/>
            <p:cNvSpPr/>
            <p:nvPr/>
          </p:nvSpPr>
          <p:spPr>
            <a:xfrm>
              <a:off x="1894331" y="4111751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354965" y="0"/>
                  </a:moveTo>
                  <a:lnTo>
                    <a:pt x="306705" y="3302"/>
                  </a:lnTo>
                  <a:lnTo>
                    <a:pt x="260604" y="12700"/>
                  </a:lnTo>
                  <a:lnTo>
                    <a:pt x="216788" y="27940"/>
                  </a:lnTo>
                  <a:lnTo>
                    <a:pt x="175768" y="48514"/>
                  </a:lnTo>
                  <a:lnTo>
                    <a:pt x="138049" y="73914"/>
                  </a:lnTo>
                  <a:lnTo>
                    <a:pt x="104012" y="104012"/>
                  </a:lnTo>
                  <a:lnTo>
                    <a:pt x="73913" y="138049"/>
                  </a:lnTo>
                  <a:lnTo>
                    <a:pt x="48513" y="175768"/>
                  </a:lnTo>
                  <a:lnTo>
                    <a:pt x="27940" y="216789"/>
                  </a:lnTo>
                  <a:lnTo>
                    <a:pt x="12700" y="260604"/>
                  </a:lnTo>
                  <a:lnTo>
                    <a:pt x="3301" y="306705"/>
                  </a:lnTo>
                  <a:lnTo>
                    <a:pt x="0" y="354965"/>
                  </a:lnTo>
                  <a:lnTo>
                    <a:pt x="3301" y="403098"/>
                  </a:lnTo>
                  <a:lnTo>
                    <a:pt x="12700" y="449199"/>
                  </a:lnTo>
                  <a:lnTo>
                    <a:pt x="27940" y="493014"/>
                  </a:lnTo>
                  <a:lnTo>
                    <a:pt x="48513" y="534035"/>
                  </a:lnTo>
                  <a:lnTo>
                    <a:pt x="73913" y="571754"/>
                  </a:lnTo>
                  <a:lnTo>
                    <a:pt x="104012" y="605790"/>
                  </a:lnTo>
                  <a:lnTo>
                    <a:pt x="138049" y="635889"/>
                  </a:lnTo>
                  <a:lnTo>
                    <a:pt x="175768" y="661289"/>
                  </a:lnTo>
                  <a:lnTo>
                    <a:pt x="216788" y="681863"/>
                  </a:lnTo>
                  <a:lnTo>
                    <a:pt x="260604" y="697103"/>
                  </a:lnTo>
                  <a:lnTo>
                    <a:pt x="306705" y="706501"/>
                  </a:lnTo>
                  <a:lnTo>
                    <a:pt x="354965" y="709803"/>
                  </a:lnTo>
                  <a:lnTo>
                    <a:pt x="403098" y="706501"/>
                  </a:lnTo>
                  <a:lnTo>
                    <a:pt x="449199" y="697103"/>
                  </a:lnTo>
                  <a:lnTo>
                    <a:pt x="493013" y="681863"/>
                  </a:lnTo>
                  <a:lnTo>
                    <a:pt x="534035" y="661289"/>
                  </a:lnTo>
                  <a:lnTo>
                    <a:pt x="571754" y="635889"/>
                  </a:lnTo>
                  <a:lnTo>
                    <a:pt x="605790" y="605790"/>
                  </a:lnTo>
                  <a:lnTo>
                    <a:pt x="635888" y="571754"/>
                  </a:lnTo>
                  <a:lnTo>
                    <a:pt x="661288" y="534035"/>
                  </a:lnTo>
                  <a:lnTo>
                    <a:pt x="681863" y="493014"/>
                  </a:lnTo>
                  <a:lnTo>
                    <a:pt x="697103" y="449199"/>
                  </a:lnTo>
                  <a:lnTo>
                    <a:pt x="706501" y="403098"/>
                  </a:lnTo>
                  <a:lnTo>
                    <a:pt x="709803" y="354965"/>
                  </a:lnTo>
                  <a:lnTo>
                    <a:pt x="706501" y="306705"/>
                  </a:lnTo>
                  <a:lnTo>
                    <a:pt x="697103" y="260604"/>
                  </a:lnTo>
                  <a:lnTo>
                    <a:pt x="681863" y="216789"/>
                  </a:lnTo>
                  <a:lnTo>
                    <a:pt x="661288" y="175768"/>
                  </a:lnTo>
                  <a:lnTo>
                    <a:pt x="635888" y="138049"/>
                  </a:lnTo>
                  <a:lnTo>
                    <a:pt x="605790" y="104012"/>
                  </a:lnTo>
                  <a:lnTo>
                    <a:pt x="571754" y="73914"/>
                  </a:lnTo>
                  <a:lnTo>
                    <a:pt x="534035" y="48514"/>
                  </a:lnTo>
                  <a:lnTo>
                    <a:pt x="493013" y="27940"/>
                  </a:lnTo>
                  <a:lnTo>
                    <a:pt x="449199" y="12700"/>
                  </a:lnTo>
                  <a:lnTo>
                    <a:pt x="403098" y="3302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94331" y="4111751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0" y="354965"/>
                  </a:moveTo>
                  <a:lnTo>
                    <a:pt x="3301" y="306705"/>
                  </a:lnTo>
                  <a:lnTo>
                    <a:pt x="12700" y="260604"/>
                  </a:lnTo>
                  <a:lnTo>
                    <a:pt x="27940" y="216789"/>
                  </a:lnTo>
                  <a:lnTo>
                    <a:pt x="48513" y="175768"/>
                  </a:lnTo>
                  <a:lnTo>
                    <a:pt x="73913" y="138049"/>
                  </a:lnTo>
                  <a:lnTo>
                    <a:pt x="104012" y="104012"/>
                  </a:lnTo>
                  <a:lnTo>
                    <a:pt x="138049" y="73914"/>
                  </a:lnTo>
                  <a:lnTo>
                    <a:pt x="175768" y="48514"/>
                  </a:lnTo>
                  <a:lnTo>
                    <a:pt x="216788" y="27940"/>
                  </a:lnTo>
                  <a:lnTo>
                    <a:pt x="260604" y="12700"/>
                  </a:lnTo>
                  <a:lnTo>
                    <a:pt x="306705" y="3302"/>
                  </a:lnTo>
                  <a:lnTo>
                    <a:pt x="354965" y="0"/>
                  </a:lnTo>
                  <a:lnTo>
                    <a:pt x="403098" y="3302"/>
                  </a:lnTo>
                  <a:lnTo>
                    <a:pt x="449199" y="12700"/>
                  </a:lnTo>
                  <a:lnTo>
                    <a:pt x="493013" y="27940"/>
                  </a:lnTo>
                  <a:lnTo>
                    <a:pt x="534035" y="48514"/>
                  </a:lnTo>
                  <a:lnTo>
                    <a:pt x="571754" y="73914"/>
                  </a:lnTo>
                  <a:lnTo>
                    <a:pt x="605790" y="104012"/>
                  </a:lnTo>
                  <a:lnTo>
                    <a:pt x="635888" y="138049"/>
                  </a:lnTo>
                  <a:lnTo>
                    <a:pt x="661288" y="175768"/>
                  </a:lnTo>
                  <a:lnTo>
                    <a:pt x="681863" y="216789"/>
                  </a:lnTo>
                  <a:lnTo>
                    <a:pt x="697103" y="260604"/>
                  </a:lnTo>
                  <a:lnTo>
                    <a:pt x="706501" y="306705"/>
                  </a:lnTo>
                  <a:lnTo>
                    <a:pt x="709803" y="354965"/>
                  </a:lnTo>
                  <a:lnTo>
                    <a:pt x="706501" y="403098"/>
                  </a:lnTo>
                  <a:lnTo>
                    <a:pt x="697103" y="449199"/>
                  </a:lnTo>
                  <a:lnTo>
                    <a:pt x="681863" y="493014"/>
                  </a:lnTo>
                  <a:lnTo>
                    <a:pt x="661288" y="534035"/>
                  </a:lnTo>
                  <a:lnTo>
                    <a:pt x="635888" y="571754"/>
                  </a:lnTo>
                  <a:lnTo>
                    <a:pt x="605790" y="605790"/>
                  </a:lnTo>
                  <a:lnTo>
                    <a:pt x="571754" y="635889"/>
                  </a:lnTo>
                  <a:lnTo>
                    <a:pt x="534035" y="661289"/>
                  </a:lnTo>
                  <a:lnTo>
                    <a:pt x="493013" y="681863"/>
                  </a:lnTo>
                  <a:lnTo>
                    <a:pt x="449199" y="697103"/>
                  </a:lnTo>
                  <a:lnTo>
                    <a:pt x="403098" y="706501"/>
                  </a:lnTo>
                  <a:lnTo>
                    <a:pt x="354965" y="709803"/>
                  </a:lnTo>
                  <a:lnTo>
                    <a:pt x="306705" y="706501"/>
                  </a:lnTo>
                  <a:lnTo>
                    <a:pt x="260604" y="697103"/>
                  </a:lnTo>
                  <a:lnTo>
                    <a:pt x="216788" y="681863"/>
                  </a:lnTo>
                  <a:lnTo>
                    <a:pt x="175768" y="661289"/>
                  </a:lnTo>
                  <a:lnTo>
                    <a:pt x="138049" y="635889"/>
                  </a:lnTo>
                  <a:lnTo>
                    <a:pt x="104012" y="605790"/>
                  </a:lnTo>
                  <a:lnTo>
                    <a:pt x="73913" y="571754"/>
                  </a:lnTo>
                  <a:lnTo>
                    <a:pt x="48513" y="534035"/>
                  </a:lnTo>
                  <a:lnTo>
                    <a:pt x="27940" y="493014"/>
                  </a:lnTo>
                  <a:lnTo>
                    <a:pt x="12700" y="449199"/>
                  </a:lnTo>
                  <a:lnTo>
                    <a:pt x="3301" y="403098"/>
                  </a:lnTo>
                  <a:lnTo>
                    <a:pt x="0" y="35496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2249423" y="5033771"/>
            <a:ext cx="6320155" cy="709930"/>
          </a:xfrm>
          <a:custGeom>
            <a:avLst/>
            <a:gdLst/>
            <a:ahLst/>
            <a:cxnLst/>
            <a:rect l="l" t="t" r="r" b="b"/>
            <a:pathLst>
              <a:path w="6320155" h="709929">
                <a:moveTo>
                  <a:pt x="6319901" y="0"/>
                </a:moveTo>
                <a:lnTo>
                  <a:pt x="355092" y="0"/>
                </a:lnTo>
                <a:lnTo>
                  <a:pt x="0" y="354837"/>
                </a:lnTo>
                <a:lnTo>
                  <a:pt x="355092" y="709802"/>
                </a:lnTo>
                <a:lnTo>
                  <a:pt x="6319901" y="709802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28976" y="5059426"/>
            <a:ext cx="34074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888235" y="5027676"/>
            <a:ext cx="721995" cy="721995"/>
            <a:chOff x="1888235" y="5027676"/>
            <a:chExt cx="721995" cy="721995"/>
          </a:xfrm>
        </p:grpSpPr>
        <p:sp>
          <p:nvSpPr>
            <p:cNvPr id="26" name="object 26"/>
            <p:cNvSpPr/>
            <p:nvPr/>
          </p:nvSpPr>
          <p:spPr>
            <a:xfrm>
              <a:off x="1894331" y="5033772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354965" y="0"/>
                  </a:moveTo>
                  <a:lnTo>
                    <a:pt x="306705" y="3301"/>
                  </a:lnTo>
                  <a:lnTo>
                    <a:pt x="260604" y="12700"/>
                  </a:lnTo>
                  <a:lnTo>
                    <a:pt x="216788" y="27939"/>
                  </a:lnTo>
                  <a:lnTo>
                    <a:pt x="175768" y="48513"/>
                  </a:lnTo>
                  <a:lnTo>
                    <a:pt x="138049" y="73913"/>
                  </a:lnTo>
                  <a:lnTo>
                    <a:pt x="104012" y="104012"/>
                  </a:lnTo>
                  <a:lnTo>
                    <a:pt x="73913" y="138048"/>
                  </a:lnTo>
                  <a:lnTo>
                    <a:pt x="48513" y="175767"/>
                  </a:lnTo>
                  <a:lnTo>
                    <a:pt x="27940" y="216788"/>
                  </a:lnTo>
                  <a:lnTo>
                    <a:pt x="12700" y="260603"/>
                  </a:lnTo>
                  <a:lnTo>
                    <a:pt x="3301" y="306704"/>
                  </a:lnTo>
                  <a:lnTo>
                    <a:pt x="0" y="354837"/>
                  </a:lnTo>
                  <a:lnTo>
                    <a:pt x="3301" y="403097"/>
                  </a:lnTo>
                  <a:lnTo>
                    <a:pt x="12700" y="449198"/>
                  </a:lnTo>
                  <a:lnTo>
                    <a:pt x="27940" y="493013"/>
                  </a:lnTo>
                  <a:lnTo>
                    <a:pt x="48513" y="534034"/>
                  </a:lnTo>
                  <a:lnTo>
                    <a:pt x="73913" y="571766"/>
                  </a:lnTo>
                  <a:lnTo>
                    <a:pt x="104012" y="605840"/>
                  </a:lnTo>
                  <a:lnTo>
                    <a:pt x="138049" y="635850"/>
                  </a:lnTo>
                  <a:lnTo>
                    <a:pt x="175768" y="661339"/>
                  </a:lnTo>
                  <a:lnTo>
                    <a:pt x="216788" y="681913"/>
                  </a:lnTo>
                  <a:lnTo>
                    <a:pt x="260604" y="697128"/>
                  </a:lnTo>
                  <a:lnTo>
                    <a:pt x="306705" y="706564"/>
                  </a:lnTo>
                  <a:lnTo>
                    <a:pt x="354965" y="709802"/>
                  </a:lnTo>
                  <a:lnTo>
                    <a:pt x="403098" y="706564"/>
                  </a:lnTo>
                  <a:lnTo>
                    <a:pt x="449199" y="697128"/>
                  </a:lnTo>
                  <a:lnTo>
                    <a:pt x="493013" y="681913"/>
                  </a:lnTo>
                  <a:lnTo>
                    <a:pt x="534035" y="661339"/>
                  </a:lnTo>
                  <a:lnTo>
                    <a:pt x="571754" y="635850"/>
                  </a:lnTo>
                  <a:lnTo>
                    <a:pt x="605790" y="605840"/>
                  </a:lnTo>
                  <a:lnTo>
                    <a:pt x="635888" y="571766"/>
                  </a:lnTo>
                  <a:lnTo>
                    <a:pt x="661288" y="534034"/>
                  </a:lnTo>
                  <a:lnTo>
                    <a:pt x="681863" y="493013"/>
                  </a:lnTo>
                  <a:lnTo>
                    <a:pt x="697103" y="449198"/>
                  </a:lnTo>
                  <a:lnTo>
                    <a:pt x="706501" y="403097"/>
                  </a:lnTo>
                  <a:lnTo>
                    <a:pt x="709803" y="354837"/>
                  </a:lnTo>
                  <a:lnTo>
                    <a:pt x="706501" y="306704"/>
                  </a:lnTo>
                  <a:lnTo>
                    <a:pt x="697103" y="260603"/>
                  </a:lnTo>
                  <a:lnTo>
                    <a:pt x="681863" y="216788"/>
                  </a:lnTo>
                  <a:lnTo>
                    <a:pt x="661288" y="175767"/>
                  </a:lnTo>
                  <a:lnTo>
                    <a:pt x="635888" y="138048"/>
                  </a:lnTo>
                  <a:lnTo>
                    <a:pt x="605790" y="104012"/>
                  </a:lnTo>
                  <a:lnTo>
                    <a:pt x="571754" y="73913"/>
                  </a:lnTo>
                  <a:lnTo>
                    <a:pt x="534035" y="48513"/>
                  </a:lnTo>
                  <a:lnTo>
                    <a:pt x="493013" y="27939"/>
                  </a:lnTo>
                  <a:lnTo>
                    <a:pt x="449199" y="12700"/>
                  </a:lnTo>
                  <a:lnTo>
                    <a:pt x="403098" y="330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94331" y="5033772"/>
              <a:ext cx="709930" cy="709930"/>
            </a:xfrm>
            <a:custGeom>
              <a:avLst/>
              <a:gdLst/>
              <a:ahLst/>
              <a:cxnLst/>
              <a:rect l="l" t="t" r="r" b="b"/>
              <a:pathLst>
                <a:path w="709930" h="709929">
                  <a:moveTo>
                    <a:pt x="0" y="354837"/>
                  </a:moveTo>
                  <a:lnTo>
                    <a:pt x="3301" y="306704"/>
                  </a:lnTo>
                  <a:lnTo>
                    <a:pt x="12700" y="260603"/>
                  </a:lnTo>
                  <a:lnTo>
                    <a:pt x="27940" y="216788"/>
                  </a:lnTo>
                  <a:lnTo>
                    <a:pt x="48513" y="175767"/>
                  </a:lnTo>
                  <a:lnTo>
                    <a:pt x="73913" y="138048"/>
                  </a:lnTo>
                  <a:lnTo>
                    <a:pt x="104012" y="104012"/>
                  </a:lnTo>
                  <a:lnTo>
                    <a:pt x="138049" y="73913"/>
                  </a:lnTo>
                  <a:lnTo>
                    <a:pt x="175768" y="48513"/>
                  </a:lnTo>
                  <a:lnTo>
                    <a:pt x="216788" y="27939"/>
                  </a:lnTo>
                  <a:lnTo>
                    <a:pt x="260604" y="12700"/>
                  </a:lnTo>
                  <a:lnTo>
                    <a:pt x="306705" y="3301"/>
                  </a:lnTo>
                  <a:lnTo>
                    <a:pt x="354965" y="0"/>
                  </a:lnTo>
                  <a:lnTo>
                    <a:pt x="403098" y="3301"/>
                  </a:lnTo>
                  <a:lnTo>
                    <a:pt x="449199" y="12700"/>
                  </a:lnTo>
                  <a:lnTo>
                    <a:pt x="493013" y="27939"/>
                  </a:lnTo>
                  <a:lnTo>
                    <a:pt x="534035" y="48513"/>
                  </a:lnTo>
                  <a:lnTo>
                    <a:pt x="571754" y="73913"/>
                  </a:lnTo>
                  <a:lnTo>
                    <a:pt x="605790" y="104012"/>
                  </a:lnTo>
                  <a:lnTo>
                    <a:pt x="635888" y="138048"/>
                  </a:lnTo>
                  <a:lnTo>
                    <a:pt x="661288" y="175767"/>
                  </a:lnTo>
                  <a:lnTo>
                    <a:pt x="681863" y="216788"/>
                  </a:lnTo>
                  <a:lnTo>
                    <a:pt x="697103" y="260603"/>
                  </a:lnTo>
                  <a:lnTo>
                    <a:pt x="706501" y="306704"/>
                  </a:lnTo>
                  <a:lnTo>
                    <a:pt x="709803" y="354837"/>
                  </a:lnTo>
                  <a:lnTo>
                    <a:pt x="706501" y="403097"/>
                  </a:lnTo>
                  <a:lnTo>
                    <a:pt x="697103" y="449198"/>
                  </a:lnTo>
                  <a:lnTo>
                    <a:pt x="681863" y="493013"/>
                  </a:lnTo>
                  <a:lnTo>
                    <a:pt x="661288" y="534034"/>
                  </a:lnTo>
                  <a:lnTo>
                    <a:pt x="635888" y="571766"/>
                  </a:lnTo>
                  <a:lnTo>
                    <a:pt x="605790" y="605840"/>
                  </a:lnTo>
                  <a:lnTo>
                    <a:pt x="571754" y="635850"/>
                  </a:lnTo>
                  <a:lnTo>
                    <a:pt x="534035" y="661339"/>
                  </a:lnTo>
                  <a:lnTo>
                    <a:pt x="493013" y="681913"/>
                  </a:lnTo>
                  <a:lnTo>
                    <a:pt x="449199" y="697128"/>
                  </a:lnTo>
                  <a:lnTo>
                    <a:pt x="403098" y="706564"/>
                  </a:lnTo>
                  <a:lnTo>
                    <a:pt x="354965" y="709802"/>
                  </a:lnTo>
                  <a:lnTo>
                    <a:pt x="306705" y="706564"/>
                  </a:lnTo>
                  <a:lnTo>
                    <a:pt x="260604" y="697128"/>
                  </a:lnTo>
                  <a:lnTo>
                    <a:pt x="216788" y="681913"/>
                  </a:lnTo>
                  <a:lnTo>
                    <a:pt x="175768" y="661339"/>
                  </a:lnTo>
                  <a:lnTo>
                    <a:pt x="138049" y="635850"/>
                  </a:lnTo>
                  <a:lnTo>
                    <a:pt x="104012" y="605840"/>
                  </a:lnTo>
                  <a:lnTo>
                    <a:pt x="73913" y="571766"/>
                  </a:lnTo>
                  <a:lnTo>
                    <a:pt x="48513" y="534034"/>
                  </a:lnTo>
                  <a:lnTo>
                    <a:pt x="27940" y="493013"/>
                  </a:lnTo>
                  <a:lnTo>
                    <a:pt x="12700" y="449198"/>
                  </a:lnTo>
                  <a:lnTo>
                    <a:pt x="3301" y="403097"/>
                  </a:lnTo>
                  <a:lnTo>
                    <a:pt x="0" y="35483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2249423" y="5955791"/>
            <a:ext cx="6320155" cy="711835"/>
          </a:xfrm>
          <a:custGeom>
            <a:avLst/>
            <a:gdLst/>
            <a:ahLst/>
            <a:cxnLst/>
            <a:rect l="l" t="t" r="r" b="b"/>
            <a:pathLst>
              <a:path w="6320155" h="711834">
                <a:moveTo>
                  <a:pt x="6319901" y="0"/>
                </a:moveTo>
                <a:lnTo>
                  <a:pt x="355853" y="0"/>
                </a:lnTo>
                <a:lnTo>
                  <a:pt x="0" y="355790"/>
                </a:lnTo>
                <a:lnTo>
                  <a:pt x="355853" y="711581"/>
                </a:lnTo>
                <a:lnTo>
                  <a:pt x="6319901" y="711581"/>
                </a:lnTo>
                <a:lnTo>
                  <a:pt x="631990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728976" y="5982411"/>
            <a:ext cx="23018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888235" y="5949696"/>
            <a:ext cx="721995" cy="723900"/>
            <a:chOff x="1888235" y="5949696"/>
            <a:chExt cx="721995" cy="723900"/>
          </a:xfrm>
        </p:grpSpPr>
        <p:sp>
          <p:nvSpPr>
            <p:cNvPr id="31" name="object 31"/>
            <p:cNvSpPr/>
            <p:nvPr/>
          </p:nvSpPr>
          <p:spPr>
            <a:xfrm>
              <a:off x="1894331" y="5955792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4">
                  <a:moveTo>
                    <a:pt x="354965" y="0"/>
                  </a:moveTo>
                  <a:lnTo>
                    <a:pt x="306705" y="3251"/>
                  </a:lnTo>
                  <a:lnTo>
                    <a:pt x="260604" y="12712"/>
                  </a:lnTo>
                  <a:lnTo>
                    <a:pt x="216788" y="27952"/>
                  </a:lnTo>
                  <a:lnTo>
                    <a:pt x="175768" y="48577"/>
                  </a:lnTo>
                  <a:lnTo>
                    <a:pt x="138049" y="74129"/>
                  </a:lnTo>
                  <a:lnTo>
                    <a:pt x="104012" y="104203"/>
                  </a:lnTo>
                  <a:lnTo>
                    <a:pt x="73913" y="138379"/>
                  </a:lnTo>
                  <a:lnTo>
                    <a:pt x="48513" y="176212"/>
                  </a:lnTo>
                  <a:lnTo>
                    <a:pt x="27940" y="217297"/>
                  </a:lnTo>
                  <a:lnTo>
                    <a:pt x="12700" y="261200"/>
                  </a:lnTo>
                  <a:lnTo>
                    <a:pt x="3301" y="307505"/>
                  </a:lnTo>
                  <a:lnTo>
                    <a:pt x="0" y="355790"/>
                  </a:lnTo>
                  <a:lnTo>
                    <a:pt x="3301" y="404063"/>
                  </a:lnTo>
                  <a:lnTo>
                    <a:pt x="12700" y="450367"/>
                  </a:lnTo>
                  <a:lnTo>
                    <a:pt x="27940" y="494284"/>
                  </a:lnTo>
                  <a:lnTo>
                    <a:pt x="48513" y="535368"/>
                  </a:lnTo>
                  <a:lnTo>
                    <a:pt x="73913" y="573201"/>
                  </a:lnTo>
                  <a:lnTo>
                    <a:pt x="104012" y="607377"/>
                  </a:lnTo>
                  <a:lnTo>
                    <a:pt x="138049" y="637451"/>
                  </a:lnTo>
                  <a:lnTo>
                    <a:pt x="175768" y="663003"/>
                  </a:lnTo>
                  <a:lnTo>
                    <a:pt x="216788" y="683615"/>
                  </a:lnTo>
                  <a:lnTo>
                    <a:pt x="260604" y="698868"/>
                  </a:lnTo>
                  <a:lnTo>
                    <a:pt x="306705" y="708329"/>
                  </a:lnTo>
                  <a:lnTo>
                    <a:pt x="354965" y="711581"/>
                  </a:lnTo>
                  <a:lnTo>
                    <a:pt x="403098" y="708329"/>
                  </a:lnTo>
                  <a:lnTo>
                    <a:pt x="449199" y="698868"/>
                  </a:lnTo>
                  <a:lnTo>
                    <a:pt x="493013" y="683615"/>
                  </a:lnTo>
                  <a:lnTo>
                    <a:pt x="534035" y="663003"/>
                  </a:lnTo>
                  <a:lnTo>
                    <a:pt x="571754" y="637451"/>
                  </a:lnTo>
                  <a:lnTo>
                    <a:pt x="605790" y="607377"/>
                  </a:lnTo>
                  <a:lnTo>
                    <a:pt x="635888" y="573201"/>
                  </a:lnTo>
                  <a:lnTo>
                    <a:pt x="661288" y="535368"/>
                  </a:lnTo>
                  <a:lnTo>
                    <a:pt x="681863" y="494284"/>
                  </a:lnTo>
                  <a:lnTo>
                    <a:pt x="697103" y="450367"/>
                  </a:lnTo>
                  <a:lnTo>
                    <a:pt x="706501" y="404063"/>
                  </a:lnTo>
                  <a:lnTo>
                    <a:pt x="709803" y="355790"/>
                  </a:lnTo>
                  <a:lnTo>
                    <a:pt x="706501" y="307505"/>
                  </a:lnTo>
                  <a:lnTo>
                    <a:pt x="697103" y="261200"/>
                  </a:lnTo>
                  <a:lnTo>
                    <a:pt x="681863" y="217297"/>
                  </a:lnTo>
                  <a:lnTo>
                    <a:pt x="661288" y="176212"/>
                  </a:lnTo>
                  <a:lnTo>
                    <a:pt x="635888" y="138379"/>
                  </a:lnTo>
                  <a:lnTo>
                    <a:pt x="605790" y="104203"/>
                  </a:lnTo>
                  <a:lnTo>
                    <a:pt x="571754" y="74129"/>
                  </a:lnTo>
                  <a:lnTo>
                    <a:pt x="534035" y="48577"/>
                  </a:lnTo>
                  <a:lnTo>
                    <a:pt x="493013" y="27952"/>
                  </a:lnTo>
                  <a:lnTo>
                    <a:pt x="449199" y="12712"/>
                  </a:lnTo>
                  <a:lnTo>
                    <a:pt x="403098" y="3251"/>
                  </a:lnTo>
                  <a:lnTo>
                    <a:pt x="354965" y="0"/>
                  </a:lnTo>
                  <a:close/>
                </a:path>
              </a:pathLst>
            </a:custGeom>
            <a:solidFill>
              <a:srgbClr val="C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94331" y="5955792"/>
              <a:ext cx="709930" cy="711835"/>
            </a:xfrm>
            <a:custGeom>
              <a:avLst/>
              <a:gdLst/>
              <a:ahLst/>
              <a:cxnLst/>
              <a:rect l="l" t="t" r="r" b="b"/>
              <a:pathLst>
                <a:path w="709930" h="711834">
                  <a:moveTo>
                    <a:pt x="0" y="355790"/>
                  </a:moveTo>
                  <a:lnTo>
                    <a:pt x="3301" y="307505"/>
                  </a:lnTo>
                  <a:lnTo>
                    <a:pt x="12700" y="261200"/>
                  </a:lnTo>
                  <a:lnTo>
                    <a:pt x="27940" y="217297"/>
                  </a:lnTo>
                  <a:lnTo>
                    <a:pt x="48513" y="176212"/>
                  </a:lnTo>
                  <a:lnTo>
                    <a:pt x="73913" y="138379"/>
                  </a:lnTo>
                  <a:lnTo>
                    <a:pt x="104012" y="104203"/>
                  </a:lnTo>
                  <a:lnTo>
                    <a:pt x="138049" y="74129"/>
                  </a:lnTo>
                  <a:lnTo>
                    <a:pt x="175768" y="48577"/>
                  </a:lnTo>
                  <a:lnTo>
                    <a:pt x="216788" y="27952"/>
                  </a:lnTo>
                  <a:lnTo>
                    <a:pt x="260604" y="12712"/>
                  </a:lnTo>
                  <a:lnTo>
                    <a:pt x="306705" y="3251"/>
                  </a:lnTo>
                  <a:lnTo>
                    <a:pt x="354965" y="0"/>
                  </a:lnTo>
                  <a:lnTo>
                    <a:pt x="403098" y="3251"/>
                  </a:lnTo>
                  <a:lnTo>
                    <a:pt x="449199" y="12712"/>
                  </a:lnTo>
                  <a:lnTo>
                    <a:pt x="493013" y="27952"/>
                  </a:lnTo>
                  <a:lnTo>
                    <a:pt x="534035" y="48577"/>
                  </a:lnTo>
                  <a:lnTo>
                    <a:pt x="571754" y="74129"/>
                  </a:lnTo>
                  <a:lnTo>
                    <a:pt x="605790" y="104203"/>
                  </a:lnTo>
                  <a:lnTo>
                    <a:pt x="635888" y="138379"/>
                  </a:lnTo>
                  <a:lnTo>
                    <a:pt x="661288" y="176212"/>
                  </a:lnTo>
                  <a:lnTo>
                    <a:pt x="681863" y="217297"/>
                  </a:lnTo>
                  <a:lnTo>
                    <a:pt x="697103" y="261200"/>
                  </a:lnTo>
                  <a:lnTo>
                    <a:pt x="706501" y="307505"/>
                  </a:lnTo>
                  <a:lnTo>
                    <a:pt x="709803" y="355790"/>
                  </a:lnTo>
                  <a:lnTo>
                    <a:pt x="706501" y="404063"/>
                  </a:lnTo>
                  <a:lnTo>
                    <a:pt x="697103" y="450367"/>
                  </a:lnTo>
                  <a:lnTo>
                    <a:pt x="681863" y="494284"/>
                  </a:lnTo>
                  <a:lnTo>
                    <a:pt x="661288" y="535368"/>
                  </a:lnTo>
                  <a:lnTo>
                    <a:pt x="635888" y="573201"/>
                  </a:lnTo>
                  <a:lnTo>
                    <a:pt x="605790" y="607377"/>
                  </a:lnTo>
                  <a:lnTo>
                    <a:pt x="571754" y="637451"/>
                  </a:lnTo>
                  <a:lnTo>
                    <a:pt x="534035" y="663003"/>
                  </a:lnTo>
                  <a:lnTo>
                    <a:pt x="493013" y="683615"/>
                  </a:lnTo>
                  <a:lnTo>
                    <a:pt x="449199" y="698868"/>
                  </a:lnTo>
                  <a:lnTo>
                    <a:pt x="403098" y="708329"/>
                  </a:lnTo>
                  <a:lnTo>
                    <a:pt x="354965" y="711581"/>
                  </a:lnTo>
                  <a:lnTo>
                    <a:pt x="306705" y="708329"/>
                  </a:lnTo>
                  <a:lnTo>
                    <a:pt x="260604" y="698868"/>
                  </a:lnTo>
                  <a:lnTo>
                    <a:pt x="216788" y="683615"/>
                  </a:lnTo>
                  <a:lnTo>
                    <a:pt x="175768" y="663003"/>
                  </a:lnTo>
                  <a:lnTo>
                    <a:pt x="138049" y="637451"/>
                  </a:lnTo>
                  <a:lnTo>
                    <a:pt x="104012" y="607377"/>
                  </a:lnTo>
                  <a:lnTo>
                    <a:pt x="73913" y="573201"/>
                  </a:lnTo>
                  <a:lnTo>
                    <a:pt x="48513" y="535368"/>
                  </a:lnTo>
                  <a:lnTo>
                    <a:pt x="27940" y="494284"/>
                  </a:lnTo>
                  <a:lnTo>
                    <a:pt x="12700" y="450367"/>
                  </a:lnTo>
                  <a:lnTo>
                    <a:pt x="3301" y="404063"/>
                  </a:lnTo>
                  <a:lnTo>
                    <a:pt x="0" y="35579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70354" y="1326261"/>
            <a:ext cx="2317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70354" y="2326386"/>
            <a:ext cx="2317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70354" y="3270961"/>
            <a:ext cx="2324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70354" y="4207255"/>
            <a:ext cx="231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70354" y="5135117"/>
            <a:ext cx="231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5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070354" y="6071412"/>
            <a:ext cx="231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6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6483" y="1502663"/>
            <a:ext cx="8982075" cy="2583180"/>
            <a:chOff x="1586483" y="1502663"/>
            <a:chExt cx="8982075" cy="25831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5627" y="1511807"/>
              <a:ext cx="8964168" cy="25648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91055" y="1507235"/>
              <a:ext cx="8973185" cy="2574290"/>
            </a:xfrm>
            <a:custGeom>
              <a:avLst/>
              <a:gdLst/>
              <a:ahLst/>
              <a:cxnLst/>
              <a:rect l="l" t="t" r="r" b="b"/>
              <a:pathLst>
                <a:path w="8973185" h="2574290">
                  <a:moveTo>
                    <a:pt x="0" y="2573782"/>
                  </a:moveTo>
                  <a:lnTo>
                    <a:pt x="8972804" y="2573782"/>
                  </a:lnTo>
                  <a:lnTo>
                    <a:pt x="8972804" y="0"/>
                  </a:lnTo>
                  <a:lnTo>
                    <a:pt x="0" y="0"/>
                  </a:lnTo>
                  <a:lnTo>
                    <a:pt x="0" y="2573782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91400" y="4221479"/>
            <a:ext cx="1873250" cy="462280"/>
          </a:xfrm>
          <a:prstGeom prst="rect">
            <a:avLst/>
          </a:prstGeom>
          <a:solidFill>
            <a:srgbClr val="8495AE"/>
          </a:solidFill>
        </p:spPr>
        <p:txBody>
          <a:bodyPr vert="horz" wrap="square" lIns="0" tIns="10160" rIns="0" bIns="0" rtlCol="0">
            <a:spAutoFit/>
          </a:bodyPr>
          <a:lstStyle/>
          <a:p>
            <a:pPr marL="337185">
              <a:lnSpc>
                <a:spcPct val="100000"/>
              </a:lnSpc>
              <a:spcBef>
                <a:spcPts val="80"/>
              </a:spcBef>
              <a:tabLst>
                <a:tab pos="628650" algn="l"/>
                <a:tab pos="1384935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	≤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α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≤	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5820" y="4221479"/>
            <a:ext cx="1871980" cy="462280"/>
          </a:xfrm>
          <a:prstGeom prst="rect">
            <a:avLst/>
          </a:prstGeom>
          <a:solidFill>
            <a:srgbClr val="8495AE"/>
          </a:solidFill>
        </p:spPr>
        <p:txBody>
          <a:bodyPr vert="horz" wrap="square" lIns="0" tIns="1333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105"/>
              </a:spcBef>
              <a:tabLst>
                <a:tab pos="623570" algn="l"/>
                <a:tab pos="1385570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0	≤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Symbol"/>
                <a:cs typeface="Symbol"/>
              </a:rPr>
              <a:t>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≤	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2317" y="4146930"/>
            <a:ext cx="2324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libri"/>
                <a:cs typeface="Calibri"/>
              </a:rPr>
              <a:t>Learning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40" dirty="0">
                <a:latin typeface="Calibri"/>
                <a:cs typeface="Calibri"/>
              </a:rPr>
              <a:t>Rate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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4489" y="747522"/>
            <a:ext cx="237617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8120">
              <a:lnSpc>
                <a:spcPts val="3340"/>
              </a:lnSpc>
            </a:pP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 method: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19704" y="28778"/>
            <a:ext cx="22752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Regarding</a:t>
            </a:r>
            <a:r>
              <a:rPr spc="-150" dirty="0"/>
              <a:t> </a:t>
            </a:r>
            <a:r>
              <a:rPr spc="-5" dirty="0"/>
              <a:t>5</a:t>
            </a:r>
            <a:r>
              <a:rPr sz="3150" spc="-7" baseline="21164" dirty="0"/>
              <a:t>th</a:t>
            </a:r>
            <a:endParaRPr sz="3150" baseline="21164"/>
          </a:p>
        </p:txBody>
      </p:sp>
      <p:sp>
        <p:nvSpPr>
          <p:cNvPr id="10" name="object 10"/>
          <p:cNvSpPr txBox="1"/>
          <p:nvPr/>
        </p:nvSpPr>
        <p:spPr>
          <a:xfrm>
            <a:off x="5146928" y="28778"/>
            <a:ext cx="4254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latin typeface="Calibri"/>
                <a:cs typeface="Calibri"/>
              </a:rPr>
              <a:t>step:</a:t>
            </a:r>
            <a:r>
              <a:rPr sz="3200" b="1" spc="-130" dirty="0">
                <a:latin typeface="Calibri"/>
                <a:cs typeface="Calibri"/>
              </a:rPr>
              <a:t> </a:t>
            </a:r>
            <a:r>
              <a:rPr sz="3200" b="1" spc="-40" dirty="0">
                <a:latin typeface="Calibri"/>
                <a:cs typeface="Calibri"/>
              </a:rPr>
              <a:t>Weights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Adaptation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4824984"/>
            <a:ext cx="9108948" cy="184403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Example (SLP) </a:t>
            </a:r>
          </a:p>
        </p:txBody>
      </p:sp>
    </p:spTree>
    <p:extLst>
      <p:ext uri="{BB962C8B-B14F-4D97-AF65-F5344CB8AC3E}">
        <p14:creationId xmlns:p14="http://schemas.microsoft.com/office/powerpoint/2010/main" val="1616189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452755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7487411" y="1234439"/>
            <a:ext cx="2726690" cy="2016125"/>
            <a:chOff x="7487411" y="1234439"/>
            <a:chExt cx="2726690" cy="2016125"/>
          </a:xfrm>
        </p:grpSpPr>
        <p:sp>
          <p:nvSpPr>
            <p:cNvPr id="5" name="object 5"/>
            <p:cNvSpPr/>
            <p:nvPr/>
          </p:nvSpPr>
          <p:spPr>
            <a:xfrm>
              <a:off x="7487411" y="1376171"/>
              <a:ext cx="2726690" cy="1731010"/>
            </a:xfrm>
            <a:custGeom>
              <a:avLst/>
              <a:gdLst/>
              <a:ahLst/>
              <a:cxnLst/>
              <a:rect l="l" t="t" r="r" b="b"/>
              <a:pathLst>
                <a:path w="2726690" h="1731010">
                  <a:moveTo>
                    <a:pt x="352044" y="1177798"/>
                  </a:moveTo>
                  <a:lnTo>
                    <a:pt x="0" y="1177798"/>
                  </a:lnTo>
                </a:path>
                <a:path w="2726690" h="1731010">
                  <a:moveTo>
                    <a:pt x="352044" y="761873"/>
                  </a:moveTo>
                  <a:lnTo>
                    <a:pt x="0" y="761873"/>
                  </a:lnTo>
                </a:path>
                <a:path w="2726690" h="1731010">
                  <a:moveTo>
                    <a:pt x="352044" y="554608"/>
                  </a:moveTo>
                  <a:lnTo>
                    <a:pt x="0" y="554608"/>
                  </a:lnTo>
                </a:path>
                <a:path w="2726690" h="1731010">
                  <a:moveTo>
                    <a:pt x="263652" y="554608"/>
                  </a:moveTo>
                  <a:lnTo>
                    <a:pt x="1231265" y="0"/>
                  </a:lnTo>
                </a:path>
                <a:path w="2726690" h="1731010">
                  <a:moveTo>
                    <a:pt x="263652" y="554608"/>
                  </a:moveTo>
                  <a:lnTo>
                    <a:pt x="1231265" y="415925"/>
                  </a:lnTo>
                </a:path>
                <a:path w="2726690" h="1731010">
                  <a:moveTo>
                    <a:pt x="263652" y="554608"/>
                  </a:moveTo>
                  <a:lnTo>
                    <a:pt x="1231265" y="831976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0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415925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831976"/>
                  </a:lnTo>
                </a:path>
                <a:path w="2726690" h="1731010">
                  <a:moveTo>
                    <a:pt x="352044" y="761873"/>
                  </a:moveTo>
                  <a:lnTo>
                    <a:pt x="1231265" y="1730882"/>
                  </a:lnTo>
                </a:path>
                <a:path w="2726690" h="1731010">
                  <a:moveTo>
                    <a:pt x="352044" y="554608"/>
                  </a:moveTo>
                  <a:lnTo>
                    <a:pt x="1231265" y="1730882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0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415925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831976"/>
                  </a:lnTo>
                </a:path>
                <a:path w="2726690" h="1731010">
                  <a:moveTo>
                    <a:pt x="352044" y="1177798"/>
                  </a:moveTo>
                  <a:lnTo>
                    <a:pt x="1231265" y="1730882"/>
                  </a:lnTo>
                </a:path>
                <a:path w="2726690" h="1731010">
                  <a:moveTo>
                    <a:pt x="1231265" y="1730882"/>
                  </a:moveTo>
                  <a:lnTo>
                    <a:pt x="2110486" y="1523618"/>
                  </a:lnTo>
                </a:path>
                <a:path w="2726690" h="1731010">
                  <a:moveTo>
                    <a:pt x="1231265" y="1730882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1730882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0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0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0"/>
                  </a:moveTo>
                  <a:lnTo>
                    <a:pt x="2110486" y="1523618"/>
                  </a:lnTo>
                </a:path>
                <a:path w="2726690" h="1731010">
                  <a:moveTo>
                    <a:pt x="1231265" y="415925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831976"/>
                  </a:moveTo>
                  <a:lnTo>
                    <a:pt x="2110486" y="208787"/>
                  </a:lnTo>
                </a:path>
                <a:path w="2726690" h="1731010">
                  <a:moveTo>
                    <a:pt x="1231265" y="415925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831976"/>
                  </a:moveTo>
                  <a:lnTo>
                    <a:pt x="2110486" y="623188"/>
                  </a:lnTo>
                </a:path>
                <a:path w="2726690" h="1731010">
                  <a:moveTo>
                    <a:pt x="1231265" y="415925"/>
                  </a:moveTo>
                  <a:lnTo>
                    <a:pt x="2110486" y="1523618"/>
                  </a:lnTo>
                </a:path>
                <a:path w="2726690" h="1731010">
                  <a:moveTo>
                    <a:pt x="1231265" y="831976"/>
                  </a:moveTo>
                  <a:lnTo>
                    <a:pt x="2110486" y="1523618"/>
                  </a:lnTo>
                </a:path>
                <a:path w="2726690" h="1731010">
                  <a:moveTo>
                    <a:pt x="2110486" y="208787"/>
                  </a:moveTo>
                  <a:lnTo>
                    <a:pt x="2726182" y="208787"/>
                  </a:lnTo>
                </a:path>
                <a:path w="2726690" h="1731010">
                  <a:moveTo>
                    <a:pt x="2110486" y="1523618"/>
                  </a:moveTo>
                  <a:lnTo>
                    <a:pt x="2726182" y="1523618"/>
                  </a:lnTo>
                </a:path>
                <a:path w="2726690" h="1731010">
                  <a:moveTo>
                    <a:pt x="2110486" y="623188"/>
                  </a:moveTo>
                  <a:lnTo>
                    <a:pt x="2726182" y="62318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42019" y="123901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90">
                  <a:moveTo>
                    <a:pt x="175895" y="0"/>
                  </a:moveTo>
                  <a:lnTo>
                    <a:pt x="120269" y="6985"/>
                  </a:lnTo>
                  <a:lnTo>
                    <a:pt x="72008" y="26542"/>
                  </a:lnTo>
                  <a:lnTo>
                    <a:pt x="33908" y="56387"/>
                  </a:lnTo>
                  <a:lnTo>
                    <a:pt x="9016" y="94234"/>
                  </a:lnTo>
                  <a:lnTo>
                    <a:pt x="0" y="137795"/>
                  </a:lnTo>
                  <a:lnTo>
                    <a:pt x="9016" y="181228"/>
                  </a:lnTo>
                  <a:lnTo>
                    <a:pt x="33908" y="219075"/>
                  </a:lnTo>
                  <a:lnTo>
                    <a:pt x="72008" y="248920"/>
                  </a:lnTo>
                  <a:lnTo>
                    <a:pt x="120269" y="268477"/>
                  </a:lnTo>
                  <a:lnTo>
                    <a:pt x="175895" y="275463"/>
                  </a:lnTo>
                  <a:lnTo>
                    <a:pt x="231394" y="268477"/>
                  </a:lnTo>
                  <a:lnTo>
                    <a:pt x="279653" y="248920"/>
                  </a:lnTo>
                  <a:lnTo>
                    <a:pt x="317753" y="219075"/>
                  </a:lnTo>
                  <a:lnTo>
                    <a:pt x="342646" y="181228"/>
                  </a:lnTo>
                  <a:lnTo>
                    <a:pt x="351662" y="137795"/>
                  </a:lnTo>
                  <a:lnTo>
                    <a:pt x="342646" y="94234"/>
                  </a:lnTo>
                  <a:lnTo>
                    <a:pt x="317753" y="56387"/>
                  </a:lnTo>
                  <a:lnTo>
                    <a:pt x="279653" y="26542"/>
                  </a:lnTo>
                  <a:lnTo>
                    <a:pt x="231394" y="6985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42019" y="123901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90">
                  <a:moveTo>
                    <a:pt x="0" y="137795"/>
                  </a:moveTo>
                  <a:lnTo>
                    <a:pt x="9016" y="94234"/>
                  </a:lnTo>
                  <a:lnTo>
                    <a:pt x="33908" y="56387"/>
                  </a:lnTo>
                  <a:lnTo>
                    <a:pt x="72008" y="26542"/>
                  </a:lnTo>
                  <a:lnTo>
                    <a:pt x="120269" y="6985"/>
                  </a:lnTo>
                  <a:lnTo>
                    <a:pt x="175895" y="0"/>
                  </a:lnTo>
                  <a:lnTo>
                    <a:pt x="231394" y="6985"/>
                  </a:lnTo>
                  <a:lnTo>
                    <a:pt x="279653" y="26542"/>
                  </a:lnTo>
                  <a:lnTo>
                    <a:pt x="317753" y="56387"/>
                  </a:lnTo>
                  <a:lnTo>
                    <a:pt x="342646" y="94234"/>
                  </a:lnTo>
                  <a:lnTo>
                    <a:pt x="351662" y="137795"/>
                  </a:lnTo>
                  <a:lnTo>
                    <a:pt x="342646" y="181228"/>
                  </a:lnTo>
                  <a:lnTo>
                    <a:pt x="317753" y="219075"/>
                  </a:lnTo>
                  <a:lnTo>
                    <a:pt x="279653" y="248920"/>
                  </a:lnTo>
                  <a:lnTo>
                    <a:pt x="231394" y="268477"/>
                  </a:lnTo>
                  <a:lnTo>
                    <a:pt x="175895" y="275463"/>
                  </a:lnTo>
                  <a:lnTo>
                    <a:pt x="120269" y="268477"/>
                  </a:lnTo>
                  <a:lnTo>
                    <a:pt x="72008" y="248920"/>
                  </a:lnTo>
                  <a:lnTo>
                    <a:pt x="33908" y="219075"/>
                  </a:lnTo>
                  <a:lnTo>
                    <a:pt x="9016" y="181228"/>
                  </a:lnTo>
                  <a:lnTo>
                    <a:pt x="0" y="137795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42019" y="1653539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9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9" y="270129"/>
                  </a:lnTo>
                  <a:lnTo>
                    <a:pt x="175895" y="277240"/>
                  </a:lnTo>
                  <a:lnTo>
                    <a:pt x="231394" y="270129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4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42019" y="1653539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9" y="7112"/>
                  </a:lnTo>
                  <a:lnTo>
                    <a:pt x="175895" y="0"/>
                  </a:lnTo>
                  <a:lnTo>
                    <a:pt x="231394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4" y="270129"/>
                  </a:lnTo>
                  <a:lnTo>
                    <a:pt x="175895" y="277240"/>
                  </a:lnTo>
                  <a:lnTo>
                    <a:pt x="120269" y="270129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42019" y="206959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89">
                  <a:moveTo>
                    <a:pt x="175895" y="0"/>
                  </a:moveTo>
                  <a:lnTo>
                    <a:pt x="120269" y="6985"/>
                  </a:lnTo>
                  <a:lnTo>
                    <a:pt x="72008" y="26543"/>
                  </a:lnTo>
                  <a:lnTo>
                    <a:pt x="33908" y="56387"/>
                  </a:lnTo>
                  <a:lnTo>
                    <a:pt x="9016" y="94234"/>
                  </a:lnTo>
                  <a:lnTo>
                    <a:pt x="0" y="137668"/>
                  </a:lnTo>
                  <a:lnTo>
                    <a:pt x="9016" y="181229"/>
                  </a:lnTo>
                  <a:lnTo>
                    <a:pt x="33908" y="219075"/>
                  </a:lnTo>
                  <a:lnTo>
                    <a:pt x="72008" y="248920"/>
                  </a:lnTo>
                  <a:lnTo>
                    <a:pt x="120269" y="268478"/>
                  </a:lnTo>
                  <a:lnTo>
                    <a:pt x="175895" y="275463"/>
                  </a:lnTo>
                  <a:lnTo>
                    <a:pt x="231394" y="268478"/>
                  </a:lnTo>
                  <a:lnTo>
                    <a:pt x="279653" y="248920"/>
                  </a:lnTo>
                  <a:lnTo>
                    <a:pt x="317753" y="219075"/>
                  </a:lnTo>
                  <a:lnTo>
                    <a:pt x="342646" y="181229"/>
                  </a:lnTo>
                  <a:lnTo>
                    <a:pt x="351662" y="137668"/>
                  </a:lnTo>
                  <a:lnTo>
                    <a:pt x="342646" y="94234"/>
                  </a:lnTo>
                  <a:lnTo>
                    <a:pt x="317753" y="56387"/>
                  </a:lnTo>
                  <a:lnTo>
                    <a:pt x="279653" y="26543"/>
                  </a:lnTo>
                  <a:lnTo>
                    <a:pt x="231394" y="6985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42019" y="2069591"/>
              <a:ext cx="351790" cy="275590"/>
            </a:xfrm>
            <a:custGeom>
              <a:avLst/>
              <a:gdLst/>
              <a:ahLst/>
              <a:cxnLst/>
              <a:rect l="l" t="t" r="r" b="b"/>
              <a:pathLst>
                <a:path w="351790" h="275589">
                  <a:moveTo>
                    <a:pt x="0" y="137668"/>
                  </a:moveTo>
                  <a:lnTo>
                    <a:pt x="9016" y="94234"/>
                  </a:lnTo>
                  <a:lnTo>
                    <a:pt x="33908" y="56387"/>
                  </a:lnTo>
                  <a:lnTo>
                    <a:pt x="72008" y="26543"/>
                  </a:lnTo>
                  <a:lnTo>
                    <a:pt x="120269" y="6985"/>
                  </a:lnTo>
                  <a:lnTo>
                    <a:pt x="175895" y="0"/>
                  </a:lnTo>
                  <a:lnTo>
                    <a:pt x="231394" y="6985"/>
                  </a:lnTo>
                  <a:lnTo>
                    <a:pt x="279653" y="26543"/>
                  </a:lnTo>
                  <a:lnTo>
                    <a:pt x="317753" y="56387"/>
                  </a:lnTo>
                  <a:lnTo>
                    <a:pt x="342646" y="94234"/>
                  </a:lnTo>
                  <a:lnTo>
                    <a:pt x="351662" y="137668"/>
                  </a:lnTo>
                  <a:lnTo>
                    <a:pt x="342646" y="181229"/>
                  </a:lnTo>
                  <a:lnTo>
                    <a:pt x="317753" y="219075"/>
                  </a:lnTo>
                  <a:lnTo>
                    <a:pt x="279653" y="248920"/>
                  </a:lnTo>
                  <a:lnTo>
                    <a:pt x="231394" y="268478"/>
                  </a:lnTo>
                  <a:lnTo>
                    <a:pt x="175895" y="275463"/>
                  </a:lnTo>
                  <a:lnTo>
                    <a:pt x="120269" y="268478"/>
                  </a:lnTo>
                  <a:lnTo>
                    <a:pt x="72008" y="248920"/>
                  </a:lnTo>
                  <a:lnTo>
                    <a:pt x="33908" y="219075"/>
                  </a:lnTo>
                  <a:lnTo>
                    <a:pt x="9016" y="181229"/>
                  </a:lnTo>
                  <a:lnTo>
                    <a:pt x="0" y="137668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42019" y="2968751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9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9" y="270128"/>
                  </a:lnTo>
                  <a:lnTo>
                    <a:pt x="175895" y="277240"/>
                  </a:lnTo>
                  <a:lnTo>
                    <a:pt x="231394" y="270128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4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42019" y="2968751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9" y="7112"/>
                  </a:lnTo>
                  <a:lnTo>
                    <a:pt x="175895" y="0"/>
                  </a:lnTo>
                  <a:lnTo>
                    <a:pt x="231394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4" y="270128"/>
                  </a:lnTo>
                  <a:lnTo>
                    <a:pt x="175895" y="277240"/>
                  </a:lnTo>
                  <a:lnTo>
                    <a:pt x="120269" y="270128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0036" y="2479547"/>
              <a:ext cx="97534" cy="792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0036" y="2618231"/>
              <a:ext cx="97534" cy="792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0036" y="2756915"/>
              <a:ext cx="97534" cy="777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421367" y="1446275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8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8" y="270128"/>
                  </a:lnTo>
                  <a:lnTo>
                    <a:pt x="175895" y="277240"/>
                  </a:lnTo>
                  <a:lnTo>
                    <a:pt x="231393" y="270128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3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21367" y="1446275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8" y="7112"/>
                  </a:lnTo>
                  <a:lnTo>
                    <a:pt x="175895" y="0"/>
                  </a:lnTo>
                  <a:lnTo>
                    <a:pt x="231393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3" y="270128"/>
                  </a:lnTo>
                  <a:lnTo>
                    <a:pt x="175895" y="277240"/>
                  </a:lnTo>
                  <a:lnTo>
                    <a:pt x="120268" y="270128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21367" y="1860803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8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8" y="270129"/>
                  </a:lnTo>
                  <a:lnTo>
                    <a:pt x="175895" y="277241"/>
                  </a:lnTo>
                  <a:lnTo>
                    <a:pt x="231393" y="270129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3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421367" y="1860803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8" y="7112"/>
                  </a:lnTo>
                  <a:lnTo>
                    <a:pt x="175895" y="0"/>
                  </a:lnTo>
                  <a:lnTo>
                    <a:pt x="231393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3" y="270129"/>
                  </a:lnTo>
                  <a:lnTo>
                    <a:pt x="175895" y="277241"/>
                  </a:lnTo>
                  <a:lnTo>
                    <a:pt x="120268" y="270129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421367" y="2761487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175895" y="0"/>
                  </a:moveTo>
                  <a:lnTo>
                    <a:pt x="120268" y="7112"/>
                  </a:lnTo>
                  <a:lnTo>
                    <a:pt x="72008" y="26797"/>
                  </a:lnTo>
                  <a:lnTo>
                    <a:pt x="33908" y="56769"/>
                  </a:lnTo>
                  <a:lnTo>
                    <a:pt x="9016" y="94869"/>
                  </a:lnTo>
                  <a:lnTo>
                    <a:pt x="0" y="138684"/>
                  </a:lnTo>
                  <a:lnTo>
                    <a:pt x="9016" y="182372"/>
                  </a:lnTo>
                  <a:lnTo>
                    <a:pt x="33908" y="220472"/>
                  </a:lnTo>
                  <a:lnTo>
                    <a:pt x="72008" y="250444"/>
                  </a:lnTo>
                  <a:lnTo>
                    <a:pt x="120268" y="270128"/>
                  </a:lnTo>
                  <a:lnTo>
                    <a:pt x="175895" y="277240"/>
                  </a:lnTo>
                  <a:lnTo>
                    <a:pt x="231393" y="270128"/>
                  </a:lnTo>
                  <a:lnTo>
                    <a:pt x="279653" y="250444"/>
                  </a:lnTo>
                  <a:lnTo>
                    <a:pt x="317753" y="220472"/>
                  </a:lnTo>
                  <a:lnTo>
                    <a:pt x="342646" y="182372"/>
                  </a:lnTo>
                  <a:lnTo>
                    <a:pt x="351662" y="138684"/>
                  </a:lnTo>
                  <a:lnTo>
                    <a:pt x="342646" y="94869"/>
                  </a:lnTo>
                  <a:lnTo>
                    <a:pt x="317753" y="56769"/>
                  </a:lnTo>
                  <a:lnTo>
                    <a:pt x="279653" y="26797"/>
                  </a:lnTo>
                  <a:lnTo>
                    <a:pt x="231393" y="711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21367" y="2761487"/>
              <a:ext cx="351790" cy="277495"/>
            </a:xfrm>
            <a:custGeom>
              <a:avLst/>
              <a:gdLst/>
              <a:ahLst/>
              <a:cxnLst/>
              <a:rect l="l" t="t" r="r" b="b"/>
              <a:pathLst>
                <a:path w="351790" h="277494">
                  <a:moveTo>
                    <a:pt x="0" y="138684"/>
                  </a:moveTo>
                  <a:lnTo>
                    <a:pt x="9016" y="94869"/>
                  </a:lnTo>
                  <a:lnTo>
                    <a:pt x="33908" y="56769"/>
                  </a:lnTo>
                  <a:lnTo>
                    <a:pt x="72008" y="26797"/>
                  </a:lnTo>
                  <a:lnTo>
                    <a:pt x="120268" y="7112"/>
                  </a:lnTo>
                  <a:lnTo>
                    <a:pt x="175895" y="0"/>
                  </a:lnTo>
                  <a:lnTo>
                    <a:pt x="231393" y="7112"/>
                  </a:lnTo>
                  <a:lnTo>
                    <a:pt x="279653" y="26797"/>
                  </a:lnTo>
                  <a:lnTo>
                    <a:pt x="317753" y="56769"/>
                  </a:lnTo>
                  <a:lnTo>
                    <a:pt x="342646" y="94869"/>
                  </a:lnTo>
                  <a:lnTo>
                    <a:pt x="351662" y="138684"/>
                  </a:lnTo>
                  <a:lnTo>
                    <a:pt x="342646" y="182372"/>
                  </a:lnTo>
                  <a:lnTo>
                    <a:pt x="317753" y="220472"/>
                  </a:lnTo>
                  <a:lnTo>
                    <a:pt x="279653" y="250444"/>
                  </a:lnTo>
                  <a:lnTo>
                    <a:pt x="231393" y="270128"/>
                  </a:lnTo>
                  <a:lnTo>
                    <a:pt x="175895" y="277240"/>
                  </a:lnTo>
                  <a:lnTo>
                    <a:pt x="120268" y="270128"/>
                  </a:lnTo>
                  <a:lnTo>
                    <a:pt x="72008" y="250444"/>
                  </a:lnTo>
                  <a:lnTo>
                    <a:pt x="33908" y="220472"/>
                  </a:lnTo>
                  <a:lnTo>
                    <a:pt x="9016" y="182372"/>
                  </a:lnTo>
                  <a:lnTo>
                    <a:pt x="0" y="138684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49383" y="2272283"/>
              <a:ext cx="97534" cy="77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49383" y="2410967"/>
              <a:ext cx="97534" cy="77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49383" y="2549651"/>
              <a:ext cx="97534" cy="77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1355" y="1891283"/>
              <a:ext cx="97534" cy="792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1355" y="2098547"/>
              <a:ext cx="97534" cy="7924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1355" y="2514600"/>
              <a:ext cx="97534" cy="7772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334247" y="479297"/>
            <a:ext cx="1221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Feedforward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04888" y="1962844"/>
            <a:ext cx="254000" cy="6102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Inp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uts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357611" y="1856055"/>
            <a:ext cx="254000" cy="7797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Outputs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010143" y="886967"/>
            <a:ext cx="1767839" cy="286385"/>
            <a:chOff x="8010143" y="886967"/>
            <a:chExt cx="1767839" cy="286385"/>
          </a:xfrm>
        </p:grpSpPr>
        <p:sp>
          <p:nvSpPr>
            <p:cNvPr id="33" name="object 33"/>
            <p:cNvSpPr/>
            <p:nvPr/>
          </p:nvSpPr>
          <p:spPr>
            <a:xfrm>
              <a:off x="8014715" y="891539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4">
                  <a:moveTo>
                    <a:pt x="1411731" y="0"/>
                  </a:moveTo>
                  <a:lnTo>
                    <a:pt x="1411731" y="69342"/>
                  </a:lnTo>
                  <a:lnTo>
                    <a:pt x="0" y="69342"/>
                  </a:lnTo>
                  <a:lnTo>
                    <a:pt x="0" y="207899"/>
                  </a:lnTo>
                  <a:lnTo>
                    <a:pt x="1411731" y="207899"/>
                  </a:lnTo>
                  <a:lnTo>
                    <a:pt x="1411731" y="277240"/>
                  </a:lnTo>
                  <a:lnTo>
                    <a:pt x="1758441" y="138684"/>
                  </a:lnTo>
                  <a:lnTo>
                    <a:pt x="1411731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14715" y="891539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4">
                  <a:moveTo>
                    <a:pt x="0" y="69342"/>
                  </a:moveTo>
                  <a:lnTo>
                    <a:pt x="1411731" y="69342"/>
                  </a:lnTo>
                  <a:lnTo>
                    <a:pt x="1411731" y="0"/>
                  </a:lnTo>
                  <a:lnTo>
                    <a:pt x="1758441" y="138684"/>
                  </a:lnTo>
                  <a:lnTo>
                    <a:pt x="1411731" y="277240"/>
                  </a:lnTo>
                  <a:lnTo>
                    <a:pt x="1411731" y="207899"/>
                  </a:lnTo>
                  <a:lnTo>
                    <a:pt x="0" y="207899"/>
                  </a:lnTo>
                  <a:lnTo>
                    <a:pt x="0" y="6934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401939" y="3726307"/>
            <a:ext cx="942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Ba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952231" y="3310128"/>
            <a:ext cx="1767839" cy="286385"/>
            <a:chOff x="7952231" y="3310128"/>
            <a:chExt cx="1767839" cy="286385"/>
          </a:xfrm>
        </p:grpSpPr>
        <p:sp>
          <p:nvSpPr>
            <p:cNvPr id="37" name="object 37"/>
            <p:cNvSpPr/>
            <p:nvPr/>
          </p:nvSpPr>
          <p:spPr>
            <a:xfrm>
              <a:off x="7956803" y="3314700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5">
                  <a:moveTo>
                    <a:pt x="346710" y="0"/>
                  </a:moveTo>
                  <a:lnTo>
                    <a:pt x="0" y="138557"/>
                  </a:lnTo>
                  <a:lnTo>
                    <a:pt x="346710" y="277240"/>
                  </a:lnTo>
                  <a:lnTo>
                    <a:pt x="346710" y="207899"/>
                  </a:lnTo>
                  <a:lnTo>
                    <a:pt x="1758442" y="207899"/>
                  </a:lnTo>
                  <a:lnTo>
                    <a:pt x="1758442" y="69341"/>
                  </a:lnTo>
                  <a:lnTo>
                    <a:pt x="346710" y="69341"/>
                  </a:lnTo>
                  <a:lnTo>
                    <a:pt x="34671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56803" y="3314700"/>
              <a:ext cx="1758950" cy="277495"/>
            </a:xfrm>
            <a:custGeom>
              <a:avLst/>
              <a:gdLst/>
              <a:ahLst/>
              <a:cxnLst/>
              <a:rect l="l" t="t" r="r" b="b"/>
              <a:pathLst>
                <a:path w="1758950" h="277495">
                  <a:moveTo>
                    <a:pt x="1758442" y="207899"/>
                  </a:moveTo>
                  <a:lnTo>
                    <a:pt x="346710" y="207899"/>
                  </a:lnTo>
                  <a:lnTo>
                    <a:pt x="346710" y="277240"/>
                  </a:lnTo>
                  <a:lnTo>
                    <a:pt x="0" y="138557"/>
                  </a:lnTo>
                  <a:lnTo>
                    <a:pt x="346710" y="0"/>
                  </a:lnTo>
                  <a:lnTo>
                    <a:pt x="346710" y="69341"/>
                  </a:lnTo>
                  <a:lnTo>
                    <a:pt x="1758442" y="69341"/>
                  </a:lnTo>
                  <a:lnTo>
                    <a:pt x="1758442" y="20789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710308" y="1448815"/>
            <a:ext cx="4596130" cy="1700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640" indent="-2108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4640" algn="l"/>
              </a:tabLst>
            </a:pPr>
            <a:r>
              <a:rPr sz="2400" b="1" spc="-20" dirty="0">
                <a:latin typeface="Calibri"/>
                <a:cs typeface="Calibri"/>
              </a:rPr>
              <a:t>Fowrward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VS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Backword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passes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5" dirty="0">
                <a:latin typeface="Arial MT"/>
                <a:cs typeface="Arial MT"/>
              </a:rPr>
              <a:t>Backpropagation </a:t>
            </a:r>
            <a:r>
              <a:rPr sz="1800" spc="-10" dirty="0">
                <a:latin typeface="Arial MT"/>
                <a:cs typeface="Arial MT"/>
              </a:rPr>
              <a:t>algorithm </a:t>
            </a:r>
            <a:r>
              <a:rPr sz="1800" spc="-5" dirty="0">
                <a:latin typeface="Arial MT"/>
                <a:cs typeface="Arial MT"/>
              </a:rPr>
              <a:t>is a </a:t>
            </a:r>
            <a:r>
              <a:rPr sz="1800" spc="-10" dirty="0">
                <a:latin typeface="Arial MT"/>
                <a:cs typeface="Arial MT"/>
              </a:rPr>
              <a:t>sensible </a:t>
            </a:r>
            <a:r>
              <a:rPr sz="1800" spc="-5" dirty="0">
                <a:latin typeface="Arial MT"/>
                <a:cs typeface="Arial MT"/>
              </a:rPr>
              <a:t> approach </a:t>
            </a:r>
            <a:r>
              <a:rPr sz="1800" dirty="0">
                <a:latin typeface="Arial MT"/>
                <a:cs typeface="Arial MT"/>
              </a:rPr>
              <a:t>for </a:t>
            </a:r>
            <a:r>
              <a:rPr sz="1800" spc="-10" dirty="0">
                <a:latin typeface="Arial MT"/>
                <a:cs typeface="Arial MT"/>
              </a:rPr>
              <a:t>dividing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contribution of each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weight</a:t>
            </a:r>
            <a:r>
              <a:rPr sz="1800" spc="-25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32204" y="4221479"/>
            <a:ext cx="1440180" cy="576580"/>
          </a:xfrm>
          <a:prstGeom prst="rect">
            <a:avLst/>
          </a:prstGeom>
          <a:solidFill>
            <a:srgbClr val="8FAADC"/>
          </a:solidFill>
          <a:ln w="1219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835"/>
              </a:spcBef>
            </a:pPr>
            <a:r>
              <a:rPr sz="2000" b="1" spc="-25" dirty="0">
                <a:latin typeface="Calibri"/>
                <a:cs typeface="Calibri"/>
              </a:rPr>
              <a:t>Fowrward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32047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09880" marR="306070" indent="12446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latin typeface="Calibri"/>
                <a:cs typeface="Calibri"/>
              </a:rPr>
              <a:t>Input 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45" dirty="0">
                <a:latin typeface="Calibri"/>
                <a:cs typeface="Calibri"/>
              </a:rPr>
              <a:t>w</a:t>
            </a:r>
            <a:r>
              <a:rPr sz="2000" b="1" spc="-5" dirty="0">
                <a:latin typeface="Calibri"/>
                <a:cs typeface="Calibri"/>
              </a:rPr>
              <a:t>eig</a:t>
            </a:r>
            <a:r>
              <a:rPr sz="2000" b="1" spc="-45" dirty="0">
                <a:latin typeface="Calibri"/>
                <a:cs typeface="Calibri"/>
              </a:rPr>
              <a:t>h</a:t>
            </a:r>
            <a:r>
              <a:rPr sz="2000" b="1" dirty="0">
                <a:latin typeface="Calibri"/>
                <a:cs typeface="Calibri"/>
              </a:rPr>
              <a:t>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32204" y="5300471"/>
            <a:ext cx="1440180" cy="576580"/>
          </a:xfrm>
          <a:prstGeom prst="rect">
            <a:avLst/>
          </a:prstGeom>
          <a:solidFill>
            <a:srgbClr val="8FAADC"/>
          </a:solidFill>
          <a:ln w="12190">
            <a:solidFill>
              <a:srgbClr val="000000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844"/>
              </a:spcBef>
            </a:pPr>
            <a:r>
              <a:rPr sz="2000" b="1" spc="-20" dirty="0">
                <a:latin typeface="Calibri"/>
                <a:cs typeface="Calibri"/>
              </a:rPr>
              <a:t>backward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03520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95"/>
              </a:spcBef>
            </a:pPr>
            <a:r>
              <a:rPr sz="2000" b="1" spc="-5" dirty="0">
                <a:latin typeface="Calibri"/>
                <a:cs typeface="Calibri"/>
              </a:rPr>
              <a:t>SOP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176516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40360" marR="177165" indent="-160020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2000" b="1" spc="-65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edicti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047988" y="4221479"/>
            <a:ext cx="1440180" cy="71945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457834" marR="177165" indent="-277495">
              <a:lnSpc>
                <a:spcPct val="100000"/>
              </a:lnSpc>
              <a:spcBef>
                <a:spcPts val="170"/>
              </a:spcBef>
            </a:pPr>
            <a:r>
              <a:rPr sz="2000" b="1" dirty="0">
                <a:latin typeface="Calibri"/>
                <a:cs typeface="Calibri"/>
              </a:rPr>
              <a:t>P</a:t>
            </a:r>
            <a:r>
              <a:rPr sz="2000" b="1" spc="-65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edicti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</a:t>
            </a:r>
            <a:r>
              <a:rPr sz="2000" b="1" spc="-20" dirty="0">
                <a:latin typeface="Calibri"/>
                <a:cs typeface="Calibri"/>
              </a:rPr>
              <a:t>Error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32047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460375" marR="173990" indent="-279400">
              <a:lnSpc>
                <a:spcPct val="100000"/>
              </a:lnSpc>
              <a:spcBef>
                <a:spcPts val="195"/>
              </a:spcBef>
            </a:pPr>
            <a:r>
              <a:rPr sz="2000" b="1" spc="-5" dirty="0">
                <a:latin typeface="Calibri"/>
                <a:cs typeface="Calibri"/>
              </a:rPr>
              <a:t>P</a:t>
            </a:r>
            <a:r>
              <a:rPr sz="2000" b="1" spc="-30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</a:t>
            </a:r>
            <a:r>
              <a:rPr sz="2000" b="1" spc="-10" dirty="0">
                <a:latin typeface="Calibri"/>
                <a:cs typeface="Calibri"/>
              </a:rPr>
              <a:t>t</a:t>
            </a:r>
            <a:r>
              <a:rPr sz="2000" b="1" spc="-15" dirty="0">
                <a:latin typeface="Calibri"/>
                <a:cs typeface="Calibri"/>
              </a:rPr>
              <a:t>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</a:t>
            </a:r>
            <a:r>
              <a:rPr sz="2000" b="1" spc="-20" dirty="0">
                <a:latin typeface="Calibri"/>
                <a:cs typeface="Calibri"/>
              </a:rPr>
              <a:t>Error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03520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340360" marR="173355" indent="-158750">
              <a:lnSpc>
                <a:spcPct val="100000"/>
              </a:lnSpc>
              <a:spcBef>
                <a:spcPts val="195"/>
              </a:spcBef>
            </a:pPr>
            <a:r>
              <a:rPr sz="2000" b="1" spc="-5" dirty="0">
                <a:latin typeface="Calibri"/>
                <a:cs typeface="Calibri"/>
              </a:rPr>
              <a:t>P</a:t>
            </a:r>
            <a:r>
              <a:rPr sz="2000" b="1" spc="-30" dirty="0">
                <a:latin typeface="Calibri"/>
                <a:cs typeface="Calibri"/>
              </a:rPr>
              <a:t>r</a:t>
            </a:r>
            <a:r>
              <a:rPr sz="2000" b="1" spc="-5" dirty="0">
                <a:latin typeface="Calibri"/>
                <a:cs typeface="Calibri"/>
              </a:rPr>
              <a:t>edic</a:t>
            </a:r>
            <a:r>
              <a:rPr sz="2000" b="1" spc="-10" dirty="0">
                <a:latin typeface="Calibri"/>
                <a:cs typeface="Calibri"/>
              </a:rPr>
              <a:t>t</a:t>
            </a:r>
            <a:r>
              <a:rPr sz="2000" b="1" spc="-15" dirty="0">
                <a:latin typeface="Calibri"/>
                <a:cs typeface="Calibri"/>
              </a:rPr>
              <a:t>i</a:t>
            </a:r>
            <a:r>
              <a:rPr sz="2000" b="1" spc="-10" dirty="0">
                <a:latin typeface="Calibri"/>
                <a:cs typeface="Calibri"/>
              </a:rPr>
              <a:t>o</a:t>
            </a:r>
            <a:r>
              <a:rPr sz="2000" b="1" dirty="0">
                <a:latin typeface="Calibri"/>
                <a:cs typeface="Calibri"/>
              </a:rPr>
              <a:t>n  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76516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7907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410"/>
              </a:spcBef>
            </a:pPr>
            <a:r>
              <a:rPr sz="2000" b="1" dirty="0">
                <a:latin typeface="Calibri"/>
                <a:cs typeface="Calibri"/>
              </a:rPr>
              <a:t>SOP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47988" y="5228844"/>
            <a:ext cx="1440180" cy="7213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310515" marR="307975" indent="126364">
              <a:lnSpc>
                <a:spcPct val="100000"/>
              </a:lnSpc>
              <a:spcBef>
                <a:spcPts val="195"/>
              </a:spcBef>
            </a:pPr>
            <a:r>
              <a:rPr sz="2000" b="1" dirty="0">
                <a:latin typeface="Calibri"/>
                <a:cs typeface="Calibri"/>
              </a:rPr>
              <a:t>Input 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w</a:t>
            </a:r>
            <a:r>
              <a:rPr sz="2000" b="1" spc="-15" dirty="0">
                <a:latin typeface="Calibri"/>
                <a:cs typeface="Calibri"/>
              </a:rPr>
              <a:t>eig</a:t>
            </a:r>
            <a:r>
              <a:rPr sz="2000" b="1" spc="-35" dirty="0">
                <a:latin typeface="Calibri"/>
                <a:cs typeface="Calibri"/>
              </a:rPr>
              <a:t>h</a:t>
            </a:r>
            <a:r>
              <a:rPr sz="2000" b="1" spc="-15" dirty="0">
                <a:latin typeface="Calibri"/>
                <a:cs typeface="Calibri"/>
              </a:rPr>
              <a:t>t</a:t>
            </a:r>
            <a:r>
              <a:rPr sz="2000" b="1" dirty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37759" y="4503420"/>
            <a:ext cx="300355" cy="226695"/>
            <a:chOff x="4937759" y="4503420"/>
            <a:chExt cx="300355" cy="226695"/>
          </a:xfrm>
        </p:grpSpPr>
        <p:sp>
          <p:nvSpPr>
            <p:cNvPr id="51" name="object 51"/>
            <p:cNvSpPr/>
            <p:nvPr/>
          </p:nvSpPr>
          <p:spPr>
            <a:xfrm>
              <a:off x="4943855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89" h="214629">
                  <a:moveTo>
                    <a:pt x="180467" y="0"/>
                  </a:moveTo>
                  <a:lnTo>
                    <a:pt x="180467" y="53593"/>
                  </a:lnTo>
                  <a:lnTo>
                    <a:pt x="0" y="53593"/>
                  </a:lnTo>
                  <a:lnTo>
                    <a:pt x="0" y="160908"/>
                  </a:lnTo>
                  <a:lnTo>
                    <a:pt x="180467" y="160908"/>
                  </a:lnTo>
                  <a:lnTo>
                    <a:pt x="180467" y="214502"/>
                  </a:lnTo>
                  <a:lnTo>
                    <a:pt x="287782" y="107187"/>
                  </a:lnTo>
                  <a:lnTo>
                    <a:pt x="18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43855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89" h="214629">
                  <a:moveTo>
                    <a:pt x="0" y="53593"/>
                  </a:moveTo>
                  <a:lnTo>
                    <a:pt x="180467" y="53593"/>
                  </a:lnTo>
                  <a:lnTo>
                    <a:pt x="180467" y="0"/>
                  </a:lnTo>
                  <a:lnTo>
                    <a:pt x="287782" y="107187"/>
                  </a:lnTo>
                  <a:lnTo>
                    <a:pt x="180467" y="214502"/>
                  </a:lnTo>
                  <a:lnTo>
                    <a:pt x="180467" y="160908"/>
                  </a:lnTo>
                  <a:lnTo>
                    <a:pt x="0" y="160908"/>
                  </a:lnTo>
                  <a:lnTo>
                    <a:pt x="0" y="5359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6809231" y="4503420"/>
            <a:ext cx="300355" cy="226695"/>
            <a:chOff x="6809231" y="4503420"/>
            <a:chExt cx="300355" cy="226695"/>
          </a:xfrm>
        </p:grpSpPr>
        <p:sp>
          <p:nvSpPr>
            <p:cNvPr id="54" name="object 54"/>
            <p:cNvSpPr/>
            <p:nvPr/>
          </p:nvSpPr>
          <p:spPr>
            <a:xfrm>
              <a:off x="6815327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180467" y="0"/>
                  </a:moveTo>
                  <a:lnTo>
                    <a:pt x="180467" y="53593"/>
                  </a:lnTo>
                  <a:lnTo>
                    <a:pt x="0" y="53593"/>
                  </a:lnTo>
                  <a:lnTo>
                    <a:pt x="0" y="160908"/>
                  </a:lnTo>
                  <a:lnTo>
                    <a:pt x="180467" y="160908"/>
                  </a:lnTo>
                  <a:lnTo>
                    <a:pt x="180467" y="214502"/>
                  </a:lnTo>
                  <a:lnTo>
                    <a:pt x="287781" y="107187"/>
                  </a:lnTo>
                  <a:lnTo>
                    <a:pt x="18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15327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0" y="53593"/>
                  </a:moveTo>
                  <a:lnTo>
                    <a:pt x="180467" y="53593"/>
                  </a:lnTo>
                  <a:lnTo>
                    <a:pt x="180467" y="0"/>
                  </a:lnTo>
                  <a:lnTo>
                    <a:pt x="287781" y="107187"/>
                  </a:lnTo>
                  <a:lnTo>
                    <a:pt x="180467" y="214502"/>
                  </a:lnTo>
                  <a:lnTo>
                    <a:pt x="180467" y="160908"/>
                  </a:lnTo>
                  <a:lnTo>
                    <a:pt x="0" y="160908"/>
                  </a:lnTo>
                  <a:lnTo>
                    <a:pt x="0" y="5359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8682228" y="4503420"/>
            <a:ext cx="300355" cy="226695"/>
            <a:chOff x="8682228" y="4503420"/>
            <a:chExt cx="300355" cy="226695"/>
          </a:xfrm>
        </p:grpSpPr>
        <p:sp>
          <p:nvSpPr>
            <p:cNvPr id="57" name="object 57"/>
            <p:cNvSpPr/>
            <p:nvPr/>
          </p:nvSpPr>
          <p:spPr>
            <a:xfrm>
              <a:off x="8688324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180467" y="0"/>
                  </a:moveTo>
                  <a:lnTo>
                    <a:pt x="180467" y="53593"/>
                  </a:lnTo>
                  <a:lnTo>
                    <a:pt x="0" y="53593"/>
                  </a:lnTo>
                  <a:lnTo>
                    <a:pt x="0" y="160908"/>
                  </a:lnTo>
                  <a:lnTo>
                    <a:pt x="180467" y="160908"/>
                  </a:lnTo>
                  <a:lnTo>
                    <a:pt x="180467" y="214502"/>
                  </a:lnTo>
                  <a:lnTo>
                    <a:pt x="287781" y="107187"/>
                  </a:lnTo>
                  <a:lnTo>
                    <a:pt x="18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688324" y="4509516"/>
              <a:ext cx="288290" cy="214629"/>
            </a:xfrm>
            <a:custGeom>
              <a:avLst/>
              <a:gdLst/>
              <a:ahLst/>
              <a:cxnLst/>
              <a:rect l="l" t="t" r="r" b="b"/>
              <a:pathLst>
                <a:path w="288290" h="214629">
                  <a:moveTo>
                    <a:pt x="0" y="53593"/>
                  </a:moveTo>
                  <a:lnTo>
                    <a:pt x="180467" y="53593"/>
                  </a:lnTo>
                  <a:lnTo>
                    <a:pt x="180467" y="0"/>
                  </a:lnTo>
                  <a:lnTo>
                    <a:pt x="287781" y="107187"/>
                  </a:lnTo>
                  <a:lnTo>
                    <a:pt x="180467" y="214502"/>
                  </a:lnTo>
                  <a:lnTo>
                    <a:pt x="180467" y="160908"/>
                  </a:lnTo>
                  <a:lnTo>
                    <a:pt x="0" y="160908"/>
                  </a:lnTo>
                  <a:lnTo>
                    <a:pt x="0" y="5359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4937759" y="5510784"/>
            <a:ext cx="300355" cy="228600"/>
            <a:chOff x="4937759" y="5510784"/>
            <a:chExt cx="300355" cy="228600"/>
          </a:xfrm>
        </p:grpSpPr>
        <p:sp>
          <p:nvSpPr>
            <p:cNvPr id="60" name="object 60"/>
            <p:cNvSpPr/>
            <p:nvPr/>
          </p:nvSpPr>
          <p:spPr>
            <a:xfrm>
              <a:off x="4943855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89" h="216535">
                  <a:moveTo>
                    <a:pt x="179705" y="0"/>
                  </a:moveTo>
                  <a:lnTo>
                    <a:pt x="179705" y="54102"/>
                  </a:lnTo>
                  <a:lnTo>
                    <a:pt x="0" y="54102"/>
                  </a:lnTo>
                  <a:lnTo>
                    <a:pt x="0" y="162204"/>
                  </a:lnTo>
                  <a:lnTo>
                    <a:pt x="179705" y="162204"/>
                  </a:lnTo>
                  <a:lnTo>
                    <a:pt x="179705" y="216281"/>
                  </a:lnTo>
                  <a:lnTo>
                    <a:pt x="287782" y="108140"/>
                  </a:lnTo>
                  <a:lnTo>
                    <a:pt x="1797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943855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89" h="216535">
                  <a:moveTo>
                    <a:pt x="0" y="54102"/>
                  </a:moveTo>
                  <a:lnTo>
                    <a:pt x="179705" y="54102"/>
                  </a:lnTo>
                  <a:lnTo>
                    <a:pt x="179705" y="0"/>
                  </a:lnTo>
                  <a:lnTo>
                    <a:pt x="287782" y="108140"/>
                  </a:lnTo>
                  <a:lnTo>
                    <a:pt x="179705" y="216281"/>
                  </a:lnTo>
                  <a:lnTo>
                    <a:pt x="179705" y="162204"/>
                  </a:lnTo>
                  <a:lnTo>
                    <a:pt x="0" y="162204"/>
                  </a:lnTo>
                  <a:lnTo>
                    <a:pt x="0" y="5410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6809231" y="5510784"/>
            <a:ext cx="300355" cy="228600"/>
            <a:chOff x="6809231" y="5510784"/>
            <a:chExt cx="300355" cy="228600"/>
          </a:xfrm>
        </p:grpSpPr>
        <p:sp>
          <p:nvSpPr>
            <p:cNvPr id="63" name="object 63"/>
            <p:cNvSpPr/>
            <p:nvPr/>
          </p:nvSpPr>
          <p:spPr>
            <a:xfrm>
              <a:off x="6815327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179704" y="0"/>
                  </a:moveTo>
                  <a:lnTo>
                    <a:pt x="179704" y="54102"/>
                  </a:lnTo>
                  <a:lnTo>
                    <a:pt x="0" y="54102"/>
                  </a:lnTo>
                  <a:lnTo>
                    <a:pt x="0" y="162204"/>
                  </a:lnTo>
                  <a:lnTo>
                    <a:pt x="179704" y="162204"/>
                  </a:lnTo>
                  <a:lnTo>
                    <a:pt x="179704" y="216281"/>
                  </a:lnTo>
                  <a:lnTo>
                    <a:pt x="287781" y="108140"/>
                  </a:lnTo>
                  <a:lnTo>
                    <a:pt x="179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815327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0" y="54102"/>
                  </a:moveTo>
                  <a:lnTo>
                    <a:pt x="179704" y="54102"/>
                  </a:lnTo>
                  <a:lnTo>
                    <a:pt x="179704" y="0"/>
                  </a:lnTo>
                  <a:lnTo>
                    <a:pt x="287781" y="108140"/>
                  </a:lnTo>
                  <a:lnTo>
                    <a:pt x="179704" y="216281"/>
                  </a:lnTo>
                  <a:lnTo>
                    <a:pt x="179704" y="162204"/>
                  </a:lnTo>
                  <a:lnTo>
                    <a:pt x="0" y="162204"/>
                  </a:lnTo>
                  <a:lnTo>
                    <a:pt x="0" y="5410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8682228" y="5510784"/>
            <a:ext cx="300355" cy="228600"/>
            <a:chOff x="8682228" y="5510784"/>
            <a:chExt cx="300355" cy="228600"/>
          </a:xfrm>
        </p:grpSpPr>
        <p:sp>
          <p:nvSpPr>
            <p:cNvPr id="66" name="object 66"/>
            <p:cNvSpPr/>
            <p:nvPr/>
          </p:nvSpPr>
          <p:spPr>
            <a:xfrm>
              <a:off x="8688324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179704" y="0"/>
                  </a:moveTo>
                  <a:lnTo>
                    <a:pt x="179704" y="54102"/>
                  </a:lnTo>
                  <a:lnTo>
                    <a:pt x="0" y="54102"/>
                  </a:lnTo>
                  <a:lnTo>
                    <a:pt x="0" y="162204"/>
                  </a:lnTo>
                  <a:lnTo>
                    <a:pt x="179704" y="162204"/>
                  </a:lnTo>
                  <a:lnTo>
                    <a:pt x="179704" y="216281"/>
                  </a:lnTo>
                  <a:lnTo>
                    <a:pt x="287781" y="108140"/>
                  </a:lnTo>
                  <a:lnTo>
                    <a:pt x="179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688324" y="5516880"/>
              <a:ext cx="288290" cy="216535"/>
            </a:xfrm>
            <a:custGeom>
              <a:avLst/>
              <a:gdLst/>
              <a:ahLst/>
              <a:cxnLst/>
              <a:rect l="l" t="t" r="r" b="b"/>
              <a:pathLst>
                <a:path w="288290" h="216535">
                  <a:moveTo>
                    <a:pt x="0" y="54102"/>
                  </a:moveTo>
                  <a:lnTo>
                    <a:pt x="179704" y="54102"/>
                  </a:lnTo>
                  <a:lnTo>
                    <a:pt x="179704" y="0"/>
                  </a:lnTo>
                  <a:lnTo>
                    <a:pt x="287781" y="108140"/>
                  </a:lnTo>
                  <a:lnTo>
                    <a:pt x="179704" y="216281"/>
                  </a:lnTo>
                  <a:lnTo>
                    <a:pt x="179704" y="162204"/>
                  </a:lnTo>
                  <a:lnTo>
                    <a:pt x="0" y="162204"/>
                  </a:lnTo>
                  <a:lnTo>
                    <a:pt x="0" y="5410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0090" y="17475"/>
            <a:ext cx="312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Backward</a:t>
            </a:r>
            <a:r>
              <a:rPr sz="4000" spc="-80" dirty="0"/>
              <a:t> </a:t>
            </a:r>
            <a:r>
              <a:rPr sz="4000" spc="-5" dirty="0"/>
              <a:t>pass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5016" y="1729486"/>
            <a:ext cx="9067165" cy="38531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360" indent="-163195">
              <a:lnSpc>
                <a:spcPct val="100000"/>
              </a:lnSpc>
              <a:spcBef>
                <a:spcPts val="95"/>
              </a:spcBef>
              <a:buSzPct val="92857"/>
              <a:buFont typeface="Wingdings"/>
              <a:buChar char=""/>
              <a:tabLst>
                <a:tab pos="213995" algn="l"/>
              </a:tabLst>
            </a:pPr>
            <a:r>
              <a:rPr sz="2800" b="1" spc="-20" dirty="0">
                <a:latin typeface="Calibri"/>
                <a:cs typeface="Calibri"/>
              </a:rPr>
              <a:t>Let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us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work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with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simpler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40" dirty="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  <a:p>
            <a:pPr marL="24765" algn="ctr">
              <a:lnSpc>
                <a:spcPct val="100000"/>
              </a:lnSpc>
              <a:spcBef>
                <a:spcPts val="2680"/>
              </a:spcBef>
            </a:pPr>
            <a:r>
              <a:rPr sz="3600" dirty="0">
                <a:latin typeface="Cambria Math"/>
                <a:cs typeface="Cambria Math"/>
              </a:rPr>
              <a:t>𝒚</a:t>
            </a:r>
            <a:r>
              <a:rPr sz="3600" spc="15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155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𝒙</a:t>
            </a:r>
            <a:r>
              <a:rPr sz="3900" baseline="23504" dirty="0">
                <a:latin typeface="Cambria Math"/>
                <a:cs typeface="Cambria Math"/>
              </a:rPr>
              <a:t>𝟐</a:t>
            </a:r>
            <a:r>
              <a:rPr sz="3900" spc="150" baseline="23504" dirty="0">
                <a:latin typeface="Cambria Math"/>
                <a:cs typeface="Cambria Math"/>
              </a:rPr>
              <a:t> </a:t>
            </a:r>
            <a:r>
              <a:rPr sz="3600" b="1" spc="-5" dirty="0">
                <a:latin typeface="Calibri"/>
                <a:cs typeface="Calibri"/>
              </a:rPr>
              <a:t>z+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  <a:p>
            <a:pPr marL="121920" marR="1009015">
              <a:lnSpc>
                <a:spcPct val="100800"/>
              </a:lnSpc>
              <a:spcBef>
                <a:spcPts val="3470"/>
              </a:spcBef>
            </a:pPr>
            <a:r>
              <a:rPr sz="2400" spc="-15" dirty="0">
                <a:latin typeface="Calibri"/>
                <a:cs typeface="Calibri"/>
              </a:rPr>
              <a:t>How</a:t>
            </a:r>
            <a:r>
              <a:rPr sz="2400" spc="-20" dirty="0">
                <a:latin typeface="Calibri"/>
                <a:cs typeface="Calibri"/>
              </a:rPr>
              <a:t> 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answer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question: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What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" dirty="0">
                <a:latin typeface="Calibri"/>
                <a:cs typeface="Calibri"/>
              </a:rPr>
              <a:t> the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effect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5" dirty="0">
                <a:latin typeface="Calibri"/>
                <a:cs typeface="Calibri"/>
              </a:rPr>
              <a:t> the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output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Y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given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20" dirty="0">
                <a:latin typeface="Calibri"/>
                <a:cs typeface="Calibri"/>
              </a:rPr>
              <a:t>change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in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variable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X?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780"/>
              </a:spcBef>
            </a:pPr>
            <a:r>
              <a:rPr sz="2400" spc="-5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question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answered </a:t>
            </a:r>
            <a:r>
              <a:rPr sz="2400" spc="-5" dirty="0">
                <a:latin typeface="Calibri"/>
                <a:cs typeface="Calibri"/>
              </a:rPr>
              <a:t>using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derivatives.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Derivative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625" spc="-480" baseline="28571" dirty="0">
                <a:latin typeface="Cambria Math"/>
                <a:cs typeface="Cambria Math"/>
              </a:rPr>
              <a:t>𝜕𝑦</a:t>
            </a:r>
            <a:r>
              <a:rPr sz="3600" spc="-480" baseline="2314" dirty="0">
                <a:latin typeface="Nirmala UI"/>
                <a:cs typeface="Nirmala UI"/>
              </a:rPr>
              <a:t>ൗ</a:t>
            </a:r>
            <a:r>
              <a:rPr sz="3600" spc="112" baseline="2314" dirty="0">
                <a:latin typeface="Nirmala UI"/>
                <a:cs typeface="Nirmala UI"/>
              </a:rPr>
              <a:t> </a:t>
            </a:r>
            <a:r>
              <a:rPr sz="3600" spc="127" baseline="2314" dirty="0">
                <a:latin typeface="Nirmala UI"/>
                <a:cs typeface="Nirmala UI"/>
              </a:rPr>
              <a:t> </a:t>
            </a:r>
            <a:r>
              <a:rPr sz="2625" spc="-150" baseline="-17460" dirty="0">
                <a:latin typeface="Cambria Math"/>
                <a:cs typeface="Cambria Math"/>
              </a:rPr>
              <a:t>𝜕𝑥</a:t>
            </a:r>
            <a:endParaRPr sz="2625" baseline="-1746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2400" dirty="0">
                <a:latin typeface="Calibri"/>
                <a:cs typeface="Calibri"/>
              </a:rPr>
              <a:t>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tell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40" dirty="0">
                <a:latin typeface="Calibri"/>
                <a:cs typeface="Calibri"/>
              </a:rPr>
              <a:t>effect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changing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variable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over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output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430" dirty="0">
                <a:latin typeface="Calibri"/>
                <a:cs typeface="Calibri"/>
              </a:rPr>
              <a:t>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4724400"/>
            <a:ext cx="1370076" cy="48615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0090" y="17475"/>
            <a:ext cx="312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Backward</a:t>
            </a:r>
            <a:r>
              <a:rPr sz="4000" spc="-80" dirty="0"/>
              <a:t> </a:t>
            </a:r>
            <a:r>
              <a:rPr sz="4000" spc="-5" dirty="0"/>
              <a:t>pass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8952" y="823975"/>
            <a:ext cx="5640070" cy="1969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 indent="-163830">
              <a:lnSpc>
                <a:spcPct val="100000"/>
              </a:lnSpc>
              <a:spcBef>
                <a:spcPts val="95"/>
              </a:spcBef>
              <a:buSzPct val="92857"/>
              <a:buFont typeface="Wingdings"/>
              <a:buChar char=""/>
              <a:tabLst>
                <a:tab pos="212725" algn="l"/>
              </a:tabLst>
            </a:pPr>
            <a:r>
              <a:rPr sz="2800" b="1" spc="-20" dirty="0">
                <a:latin typeface="Calibri"/>
                <a:cs typeface="Calibri"/>
              </a:rPr>
              <a:t>Calculating</a:t>
            </a:r>
            <a:r>
              <a:rPr sz="2800" b="1" spc="6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Derivatives</a:t>
            </a:r>
            <a:endParaRPr sz="2800">
              <a:latin typeface="Calibri"/>
              <a:cs typeface="Calibri"/>
            </a:endParaRPr>
          </a:p>
          <a:p>
            <a:pPr marL="3478529">
              <a:lnSpc>
                <a:spcPct val="100000"/>
              </a:lnSpc>
              <a:spcBef>
                <a:spcPts val="2585"/>
              </a:spcBef>
            </a:pPr>
            <a:r>
              <a:rPr sz="3600" dirty="0">
                <a:latin typeface="Cambria Math"/>
                <a:cs typeface="Cambria Math"/>
              </a:rPr>
              <a:t>𝒚</a:t>
            </a:r>
            <a:r>
              <a:rPr sz="3600" spc="160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150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𝒙</a:t>
            </a:r>
            <a:r>
              <a:rPr sz="3900" baseline="23504" dirty="0">
                <a:latin typeface="Cambria Math"/>
                <a:cs typeface="Cambria Math"/>
              </a:rPr>
              <a:t>𝟐</a:t>
            </a:r>
            <a:r>
              <a:rPr sz="3900" spc="165" baseline="23504" dirty="0">
                <a:latin typeface="Cambria Math"/>
                <a:cs typeface="Cambria Math"/>
              </a:rPr>
              <a:t> </a:t>
            </a:r>
            <a:r>
              <a:rPr sz="3600" b="1" spc="-5" dirty="0">
                <a:latin typeface="Calibri"/>
                <a:cs typeface="Calibri"/>
              </a:rPr>
              <a:t>z+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160"/>
              </a:spcBef>
            </a:pP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55" dirty="0">
                <a:latin typeface="Calibri"/>
                <a:cs typeface="Calibri"/>
              </a:rPr>
              <a:t>v</a:t>
            </a:r>
            <a:r>
              <a:rPr sz="2400" spc="-35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ti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 </a:t>
            </a:r>
            <a:r>
              <a:rPr sz="2625" spc="-300" baseline="30158" dirty="0">
                <a:latin typeface="Cambria Math"/>
                <a:cs typeface="Cambria Math"/>
              </a:rPr>
              <a:t>𝜕</a:t>
            </a:r>
            <a:r>
              <a:rPr sz="2625" spc="-284" baseline="30158" dirty="0">
                <a:latin typeface="Cambria Math"/>
                <a:cs typeface="Cambria Math"/>
              </a:rPr>
              <a:t>𝑦</a:t>
            </a:r>
            <a:r>
              <a:rPr sz="3600" spc="-862" baseline="2314" dirty="0">
                <a:latin typeface="Nirmala UI"/>
                <a:cs typeface="Nirmala UI"/>
              </a:rPr>
              <a:t>ൗ</a:t>
            </a:r>
            <a:r>
              <a:rPr sz="3600" spc="1725" baseline="2314" dirty="0">
                <a:latin typeface="Nirmala UI"/>
                <a:cs typeface="Nirmala UI"/>
              </a:rPr>
              <a:t> </a:t>
            </a:r>
            <a:r>
              <a:rPr sz="2625" spc="-292" baseline="-17460" dirty="0">
                <a:latin typeface="Cambria Math"/>
                <a:cs typeface="Cambria Math"/>
              </a:rPr>
              <a:t>𝜕</a:t>
            </a:r>
            <a:r>
              <a:rPr sz="2625" baseline="-17460" dirty="0">
                <a:latin typeface="Cambria Math"/>
                <a:cs typeface="Cambria Math"/>
              </a:rPr>
              <a:t>𝑥</a:t>
            </a:r>
            <a:r>
              <a:rPr sz="2625" spc="-270" baseline="-174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35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ul</a:t>
            </a:r>
            <a:r>
              <a:rPr sz="2400" spc="-35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7052" y="2765805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>
                <a:latin typeface="Calibri"/>
                <a:cs typeface="Calibri"/>
              </a:rPr>
              <a:t>f</a:t>
            </a:r>
            <a:r>
              <a:rPr sz="2400" spc="-3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ll</a:t>
            </a:r>
            <a:r>
              <a:rPr sz="2400" spc="-4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55691" y="3348226"/>
            <a:ext cx="394970" cy="29209"/>
          </a:xfrm>
          <a:custGeom>
            <a:avLst/>
            <a:gdLst/>
            <a:ahLst/>
            <a:cxnLst/>
            <a:rect l="l" t="t" r="r" b="b"/>
            <a:pathLst>
              <a:path w="394970" h="29210">
                <a:moveTo>
                  <a:pt x="394462" y="0"/>
                </a:moveTo>
                <a:lnTo>
                  <a:pt x="0" y="0"/>
                </a:lnTo>
                <a:lnTo>
                  <a:pt x="0" y="28703"/>
                </a:lnTo>
                <a:lnTo>
                  <a:pt x="394462" y="28703"/>
                </a:lnTo>
                <a:lnTo>
                  <a:pt x="394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39258" y="2874391"/>
            <a:ext cx="2266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mbria Math"/>
                <a:cs typeface="Cambria Math"/>
              </a:rPr>
              <a:t>𝝏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3246" y="3372739"/>
            <a:ext cx="4203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25" dirty="0">
                <a:latin typeface="Cambria Math"/>
                <a:cs typeface="Cambria Math"/>
              </a:rPr>
              <a:t>𝝏</a:t>
            </a:r>
            <a:r>
              <a:rPr sz="2600" dirty="0">
                <a:latin typeface="Cambria Math"/>
                <a:cs typeface="Cambria Math"/>
              </a:rPr>
              <a:t>𝒙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89727" y="2998673"/>
            <a:ext cx="1319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/>
                <a:cs typeface="Cambria Math"/>
              </a:rPr>
              <a:t>𝒙</a:t>
            </a:r>
            <a:r>
              <a:rPr sz="3900" baseline="23504" dirty="0">
                <a:latin typeface="Cambria Math"/>
                <a:cs typeface="Cambria Math"/>
              </a:rPr>
              <a:t>𝟐</a:t>
            </a:r>
            <a:r>
              <a:rPr sz="3900" spc="112" baseline="23504" dirty="0">
                <a:latin typeface="Cambria Math"/>
                <a:cs typeface="Cambria Math"/>
              </a:rPr>
              <a:t> </a:t>
            </a:r>
            <a:r>
              <a:rPr sz="3600" b="1" spc="-5" dirty="0">
                <a:latin typeface="Calibri"/>
                <a:cs typeface="Calibri"/>
              </a:rPr>
              <a:t>z+</a:t>
            </a:r>
            <a:r>
              <a:rPr sz="3600" b="1" spc="-1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8045" y="3928364"/>
            <a:ext cx="4477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 </a:t>
            </a:r>
            <a:r>
              <a:rPr sz="2400" spc="-20" dirty="0">
                <a:latin typeface="Calibri"/>
                <a:cs typeface="Calibri"/>
              </a:rPr>
              <a:t>two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derivative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rules: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25167" y="4550664"/>
            <a:ext cx="1607820" cy="661670"/>
            <a:chOff x="1725167" y="4550664"/>
            <a:chExt cx="1607820" cy="6616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5167" y="4550664"/>
              <a:ext cx="1607820" cy="6080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2243" y="4564380"/>
              <a:ext cx="1153668" cy="6477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5459" y="4581144"/>
              <a:ext cx="1511808" cy="50444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152014" y="4636389"/>
            <a:ext cx="7556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Square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62115" y="4622291"/>
            <a:ext cx="1607820" cy="661670"/>
            <a:chOff x="6262115" y="4622291"/>
            <a:chExt cx="1607820" cy="66167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2115" y="4622291"/>
              <a:ext cx="1607819" cy="6080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5559" y="4636007"/>
              <a:ext cx="1359408" cy="6476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2407" y="4652771"/>
              <a:ext cx="1511808" cy="50444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585966" y="4708347"/>
            <a:ext cx="9550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spc="-6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86200" y="4928617"/>
            <a:ext cx="306070" cy="22860"/>
          </a:xfrm>
          <a:custGeom>
            <a:avLst/>
            <a:gdLst/>
            <a:ahLst/>
            <a:cxnLst/>
            <a:rect l="l" t="t" r="r" b="b"/>
            <a:pathLst>
              <a:path w="306070" h="22860">
                <a:moveTo>
                  <a:pt x="305942" y="0"/>
                </a:moveTo>
                <a:lnTo>
                  <a:pt x="0" y="0"/>
                </a:lnTo>
                <a:lnTo>
                  <a:pt x="0" y="22858"/>
                </a:lnTo>
                <a:lnTo>
                  <a:pt x="305942" y="22858"/>
                </a:lnTo>
                <a:lnTo>
                  <a:pt x="3059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948176" y="4554092"/>
            <a:ext cx="18415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Cambria Math"/>
                <a:cs typeface="Cambria Math"/>
              </a:rPr>
              <a:t>𝝏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10308" y="4869165"/>
            <a:ext cx="2496185" cy="8610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70"/>
              </a:spcBef>
            </a:pPr>
            <a:r>
              <a:rPr sz="2050" spc="-10" dirty="0">
                <a:latin typeface="Cambria Math"/>
                <a:cs typeface="Cambria Math"/>
              </a:rPr>
              <a:t>𝝏𝒙</a:t>
            </a:r>
            <a:endParaRPr sz="2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Result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92219" y="4654753"/>
            <a:ext cx="1020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 Math"/>
                <a:cs typeface="Cambria Math"/>
              </a:rPr>
              <a:t>𝒙</a:t>
            </a:r>
            <a:r>
              <a:rPr sz="3075" spc="-15" baseline="23035" dirty="0">
                <a:latin typeface="Cambria Math"/>
                <a:cs typeface="Cambria Math"/>
              </a:rPr>
              <a:t>𝟐</a:t>
            </a:r>
            <a:r>
              <a:rPr sz="3075" spc="7" baseline="23035" dirty="0">
                <a:latin typeface="Cambria Math"/>
                <a:cs typeface="Cambria Math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=2x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674607" y="4981955"/>
            <a:ext cx="307975" cy="22860"/>
          </a:xfrm>
          <a:custGeom>
            <a:avLst/>
            <a:gdLst/>
            <a:ahLst/>
            <a:cxnLst/>
            <a:rect l="l" t="t" r="r" b="b"/>
            <a:pathLst>
              <a:path w="307975" h="22860">
                <a:moveTo>
                  <a:pt x="307467" y="0"/>
                </a:moveTo>
                <a:lnTo>
                  <a:pt x="0" y="0"/>
                </a:lnTo>
                <a:lnTo>
                  <a:pt x="0" y="22860"/>
                </a:lnTo>
                <a:lnTo>
                  <a:pt x="307467" y="22860"/>
                </a:lnTo>
                <a:lnTo>
                  <a:pt x="307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664320" y="4994909"/>
            <a:ext cx="33274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5" dirty="0">
                <a:latin typeface="Cambria Math"/>
                <a:cs typeface="Cambria Math"/>
              </a:rPr>
              <a:t>𝝏</a:t>
            </a:r>
            <a:r>
              <a:rPr sz="2050" dirty="0">
                <a:latin typeface="Cambria Math"/>
                <a:cs typeface="Cambria Math"/>
              </a:rPr>
              <a:t>𝒙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38996" y="4516373"/>
            <a:ext cx="839469" cy="65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45"/>
              </a:lnSpc>
              <a:spcBef>
                <a:spcPts val="100"/>
              </a:spcBef>
            </a:pPr>
            <a:r>
              <a:rPr sz="2050" dirty="0">
                <a:latin typeface="Cambria Math"/>
                <a:cs typeface="Cambria Math"/>
              </a:rPr>
              <a:t>𝝏</a:t>
            </a:r>
            <a:endParaRPr sz="2050">
              <a:latin typeface="Cambria Math"/>
              <a:cs typeface="Cambria Math"/>
            </a:endParaRPr>
          </a:p>
          <a:p>
            <a:pPr marL="321945">
              <a:lnSpc>
                <a:spcPts val="2945"/>
              </a:lnSpc>
            </a:pPr>
            <a:r>
              <a:rPr sz="2800" b="1" dirty="0">
                <a:latin typeface="Calibri"/>
                <a:cs typeface="Calibri"/>
              </a:rPr>
              <a:t>c</a:t>
            </a:r>
            <a:r>
              <a:rPr sz="2800" b="1" spc="-20" dirty="0">
                <a:latin typeface="Calibri"/>
                <a:cs typeface="Calibri"/>
              </a:rPr>
              <a:t>=</a:t>
            </a:r>
            <a:r>
              <a:rPr sz="2800" b="1" spc="-5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01084" y="6260593"/>
            <a:ext cx="306070" cy="22860"/>
          </a:xfrm>
          <a:custGeom>
            <a:avLst/>
            <a:gdLst/>
            <a:ahLst/>
            <a:cxnLst/>
            <a:rect l="l" t="t" r="r" b="b"/>
            <a:pathLst>
              <a:path w="306070" h="22860">
                <a:moveTo>
                  <a:pt x="305942" y="0"/>
                </a:moveTo>
                <a:lnTo>
                  <a:pt x="0" y="0"/>
                </a:lnTo>
                <a:lnTo>
                  <a:pt x="0" y="22858"/>
                </a:lnTo>
                <a:lnTo>
                  <a:pt x="305942" y="22858"/>
                </a:lnTo>
                <a:lnTo>
                  <a:pt x="3059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163314" y="5887008"/>
            <a:ext cx="18415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Cambria Math"/>
                <a:cs typeface="Cambria Math"/>
              </a:rPr>
              <a:t>𝝏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88638" y="6274104"/>
            <a:ext cx="33274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5" dirty="0">
                <a:latin typeface="Cambria Math"/>
                <a:cs typeface="Cambria Math"/>
              </a:rPr>
              <a:t>𝝏</a:t>
            </a:r>
            <a:r>
              <a:rPr sz="2050" dirty="0">
                <a:latin typeface="Cambria Math"/>
                <a:cs typeface="Cambria Math"/>
              </a:rPr>
              <a:t>𝒙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07357" y="5988202"/>
            <a:ext cx="2729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Cambria Math"/>
                <a:cs typeface="Cambria Math"/>
              </a:rPr>
              <a:t>𝒙</a:t>
            </a:r>
            <a:r>
              <a:rPr sz="3075" spc="-22" baseline="23035" dirty="0">
                <a:latin typeface="Cambria Math"/>
                <a:cs typeface="Cambria Math"/>
              </a:rPr>
              <a:t>𝟐</a:t>
            </a:r>
            <a:r>
              <a:rPr sz="3075" spc="82" baseline="23035" dirty="0">
                <a:latin typeface="Cambria Math"/>
                <a:cs typeface="Cambria Math"/>
              </a:rPr>
              <a:t> </a:t>
            </a:r>
            <a:r>
              <a:rPr sz="2800" b="1" spc="-5" dirty="0">
                <a:latin typeface="Calibri"/>
                <a:cs typeface="Calibri"/>
              </a:rPr>
              <a:t>z+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c=2zx+0=2zx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03091" y="2278379"/>
            <a:ext cx="1127760" cy="4861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0090" y="17475"/>
            <a:ext cx="312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Backward</a:t>
            </a:r>
            <a:r>
              <a:rPr sz="4000" spc="-80" dirty="0"/>
              <a:t> </a:t>
            </a:r>
            <a:r>
              <a:rPr sz="4000" spc="-5" dirty="0"/>
              <a:t>pass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66163" y="830707"/>
            <a:ext cx="7336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indent="-140335">
              <a:lnSpc>
                <a:spcPct val="100000"/>
              </a:lnSpc>
              <a:spcBef>
                <a:spcPts val="100"/>
              </a:spcBef>
              <a:buSzPct val="91666"/>
              <a:buFont typeface="Wingdings"/>
              <a:buChar char=""/>
              <a:tabLst>
                <a:tab pos="153035" algn="l"/>
              </a:tabLst>
            </a:pPr>
            <a:r>
              <a:rPr sz="2400" b="1" spc="-20" dirty="0">
                <a:latin typeface="Calibri"/>
                <a:cs typeface="Calibri"/>
              </a:rPr>
              <a:t>Calculating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Derivative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5" dirty="0">
                <a:latin typeface="Calibri"/>
                <a:cs typeface="Calibri"/>
              </a:rPr>
              <a:t> prediction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Error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wrt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40" dirty="0">
                <a:latin typeface="Calibri"/>
                <a:cs typeface="Calibri"/>
              </a:rPr>
              <a:t>Weights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70247" y="1860804"/>
            <a:ext cx="213360" cy="22860"/>
          </a:xfrm>
          <a:custGeom>
            <a:avLst/>
            <a:gdLst/>
            <a:ahLst/>
            <a:cxnLst/>
            <a:rect l="l" t="t" r="r" b="b"/>
            <a:pathLst>
              <a:path w="213360" h="22860">
                <a:moveTo>
                  <a:pt x="213360" y="0"/>
                </a:moveTo>
                <a:lnTo>
                  <a:pt x="0" y="0"/>
                </a:lnTo>
                <a:lnTo>
                  <a:pt x="0" y="22860"/>
                </a:lnTo>
                <a:lnTo>
                  <a:pt x="213360" y="22860"/>
                </a:lnTo>
                <a:lnTo>
                  <a:pt x="213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58436" y="1834337"/>
            <a:ext cx="23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81502" y="1596390"/>
            <a:ext cx="5142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89635" algn="l"/>
              </a:tabLst>
            </a:pPr>
            <a:r>
              <a:rPr sz="2800" spc="-5" dirty="0">
                <a:latin typeface="Cambria Math"/>
                <a:cs typeface="Cambria Math"/>
              </a:rPr>
              <a:t>𝑬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4200" spc="-7" baseline="34722" dirty="0">
                <a:latin typeface="Cambria Math"/>
                <a:cs typeface="Cambria Math"/>
              </a:rPr>
              <a:t>𝟏</a:t>
            </a:r>
            <a:r>
              <a:rPr sz="4200" spc="-247" baseline="34722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(𝒅𝒆𝒔</a:t>
            </a:r>
            <a:r>
              <a:rPr sz="2800" spc="-15" dirty="0">
                <a:latin typeface="Cambria Math"/>
                <a:cs typeface="Cambria Math"/>
              </a:rPr>
              <a:t>𝒊</a:t>
            </a:r>
            <a:r>
              <a:rPr sz="2800" spc="-10" dirty="0">
                <a:latin typeface="Cambria Math"/>
                <a:cs typeface="Cambria Math"/>
              </a:rPr>
              <a:t>𝒓</a:t>
            </a:r>
            <a:r>
              <a:rPr sz="2800" spc="-5" dirty="0">
                <a:latin typeface="Cambria Math"/>
                <a:cs typeface="Cambria Math"/>
              </a:rPr>
              <a:t>𝒆𝒅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−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𝒑</a:t>
            </a:r>
            <a:r>
              <a:rPr sz="2800" spc="-10" dirty="0">
                <a:latin typeface="Cambria Math"/>
                <a:cs typeface="Cambria Math"/>
              </a:rPr>
              <a:t>𝒓</a:t>
            </a:r>
            <a:r>
              <a:rPr sz="2800" spc="-5" dirty="0">
                <a:latin typeface="Cambria Math"/>
                <a:cs typeface="Cambria Math"/>
              </a:rPr>
              <a:t>𝒆𝒅</a:t>
            </a:r>
            <a:r>
              <a:rPr sz="2800" spc="-15" dirty="0">
                <a:latin typeface="Cambria Math"/>
                <a:cs typeface="Cambria Math"/>
              </a:rPr>
              <a:t>𝒊</a:t>
            </a:r>
            <a:r>
              <a:rPr sz="2800" spc="-5" dirty="0">
                <a:latin typeface="Cambria Math"/>
                <a:cs typeface="Cambria Math"/>
              </a:rPr>
              <a:t>𝒄𝒕</a:t>
            </a:r>
            <a:r>
              <a:rPr sz="2800" spc="-20" dirty="0">
                <a:latin typeface="Cambria Math"/>
                <a:cs typeface="Cambria Math"/>
              </a:rPr>
              <a:t>𝒆</a:t>
            </a:r>
            <a:r>
              <a:rPr sz="2800" spc="-5" dirty="0">
                <a:latin typeface="Cambria Math"/>
                <a:cs typeface="Cambria Math"/>
              </a:rPr>
              <a:t>𝒅</a:t>
            </a:r>
            <a:r>
              <a:rPr sz="2800" spc="-15" dirty="0">
                <a:latin typeface="Cambria Math"/>
                <a:cs typeface="Cambria Math"/>
              </a:rPr>
              <a:t>)</a:t>
            </a:r>
            <a:r>
              <a:rPr sz="3075" baseline="23035" dirty="0">
                <a:latin typeface="Cambria Math"/>
                <a:cs typeface="Cambria Math"/>
              </a:rPr>
              <a:t>𝟐</a:t>
            </a:r>
            <a:endParaRPr sz="3075" baseline="23035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3282" y="2829560"/>
            <a:ext cx="2308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 Math"/>
                <a:cs typeface="Cambria Math"/>
              </a:rPr>
              <a:t>𝒑𝒓𝒆𝒅𝒊𝒄𝒕𝒆𝒅</a:t>
            </a:r>
            <a:r>
              <a:rPr sz="2000" spc="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75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Cambria Math"/>
                <a:cs typeface="Cambria Math"/>
              </a:rPr>
              <a:t>𝒇(𝒔)</a:t>
            </a:r>
            <a:r>
              <a:rPr sz="2000" spc="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56419" y="3022083"/>
            <a:ext cx="836294" cy="16510"/>
          </a:xfrm>
          <a:custGeom>
            <a:avLst/>
            <a:gdLst/>
            <a:ahLst/>
            <a:cxnLst/>
            <a:rect l="l" t="t" r="r" b="b"/>
            <a:pathLst>
              <a:path w="836295" h="16510">
                <a:moveTo>
                  <a:pt x="836168" y="0"/>
                </a:moveTo>
                <a:lnTo>
                  <a:pt x="0" y="0"/>
                </a:lnTo>
                <a:lnTo>
                  <a:pt x="0" y="16391"/>
                </a:lnTo>
                <a:lnTo>
                  <a:pt x="836168" y="16391"/>
                </a:lnTo>
                <a:lnTo>
                  <a:pt x="836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87508" y="2636977"/>
            <a:ext cx="1784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25305" y="3006344"/>
            <a:ext cx="8947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𝟏</a:t>
            </a:r>
            <a:r>
              <a:rPr sz="2000" spc="-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spc="-5" dirty="0">
                <a:latin typeface="Cambria Math"/>
                <a:cs typeface="Cambria Math"/>
              </a:rPr>
              <a:t>𝒆</a:t>
            </a:r>
            <a:r>
              <a:rPr sz="2175" spc="-7" baseline="19157" dirty="0">
                <a:latin typeface="Cambria Math"/>
                <a:cs typeface="Cambria Math"/>
              </a:rPr>
              <a:t>−𝒔</a:t>
            </a:r>
            <a:endParaRPr sz="2175" baseline="19157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32204" y="2115311"/>
            <a:ext cx="7077075" cy="1170305"/>
            <a:chOff x="1632204" y="2115311"/>
            <a:chExt cx="7077075" cy="1170305"/>
          </a:xfrm>
        </p:grpSpPr>
        <p:sp>
          <p:nvSpPr>
            <p:cNvPr id="12" name="object 12"/>
            <p:cNvSpPr/>
            <p:nvPr/>
          </p:nvSpPr>
          <p:spPr>
            <a:xfrm>
              <a:off x="3146298" y="2134361"/>
              <a:ext cx="5544185" cy="577215"/>
            </a:xfrm>
            <a:custGeom>
              <a:avLst/>
              <a:gdLst/>
              <a:ahLst/>
              <a:cxnLst/>
              <a:rect l="l" t="t" r="r" b="b"/>
              <a:pathLst>
                <a:path w="5544184" h="577214">
                  <a:moveTo>
                    <a:pt x="0" y="577088"/>
                  </a:moveTo>
                  <a:lnTo>
                    <a:pt x="3428" y="525145"/>
                  </a:lnTo>
                  <a:lnTo>
                    <a:pt x="13334" y="476376"/>
                  </a:lnTo>
                  <a:lnTo>
                    <a:pt x="29082" y="431418"/>
                  </a:lnTo>
                  <a:lnTo>
                    <a:pt x="50164" y="391160"/>
                  </a:lnTo>
                  <a:lnTo>
                    <a:pt x="75818" y="356362"/>
                  </a:lnTo>
                  <a:lnTo>
                    <a:pt x="105537" y="327913"/>
                  </a:lnTo>
                  <a:lnTo>
                    <a:pt x="138684" y="306577"/>
                  </a:lnTo>
                  <a:lnTo>
                    <a:pt x="174751" y="293242"/>
                  </a:lnTo>
                  <a:lnTo>
                    <a:pt x="213105" y="288543"/>
                  </a:lnTo>
                  <a:lnTo>
                    <a:pt x="2558796" y="288543"/>
                  </a:lnTo>
                  <a:lnTo>
                    <a:pt x="2597150" y="283845"/>
                  </a:lnTo>
                  <a:lnTo>
                    <a:pt x="2633217" y="270510"/>
                  </a:lnTo>
                  <a:lnTo>
                    <a:pt x="2666365" y="249174"/>
                  </a:lnTo>
                  <a:lnTo>
                    <a:pt x="2696082" y="220725"/>
                  </a:lnTo>
                  <a:lnTo>
                    <a:pt x="2721737" y="185927"/>
                  </a:lnTo>
                  <a:lnTo>
                    <a:pt x="2742818" y="145668"/>
                  </a:lnTo>
                  <a:lnTo>
                    <a:pt x="2758566" y="100711"/>
                  </a:lnTo>
                  <a:lnTo>
                    <a:pt x="2768473" y="51815"/>
                  </a:lnTo>
                  <a:lnTo>
                    <a:pt x="2771902" y="0"/>
                  </a:lnTo>
                  <a:lnTo>
                    <a:pt x="2775330" y="51815"/>
                  </a:lnTo>
                  <a:lnTo>
                    <a:pt x="2785237" y="100711"/>
                  </a:lnTo>
                  <a:lnTo>
                    <a:pt x="2800985" y="145668"/>
                  </a:lnTo>
                  <a:lnTo>
                    <a:pt x="2822066" y="185927"/>
                  </a:lnTo>
                  <a:lnTo>
                    <a:pt x="2847721" y="220725"/>
                  </a:lnTo>
                  <a:lnTo>
                    <a:pt x="2877439" y="249174"/>
                  </a:lnTo>
                  <a:lnTo>
                    <a:pt x="2910586" y="270510"/>
                  </a:lnTo>
                  <a:lnTo>
                    <a:pt x="2946654" y="283845"/>
                  </a:lnTo>
                  <a:lnTo>
                    <a:pt x="2985007" y="288543"/>
                  </a:lnTo>
                  <a:lnTo>
                    <a:pt x="5330698" y="288543"/>
                  </a:lnTo>
                  <a:lnTo>
                    <a:pt x="5369052" y="293242"/>
                  </a:lnTo>
                  <a:lnTo>
                    <a:pt x="5405120" y="306577"/>
                  </a:lnTo>
                  <a:lnTo>
                    <a:pt x="5438267" y="327913"/>
                  </a:lnTo>
                  <a:lnTo>
                    <a:pt x="5467984" y="356362"/>
                  </a:lnTo>
                  <a:lnTo>
                    <a:pt x="5493638" y="391160"/>
                  </a:lnTo>
                  <a:lnTo>
                    <a:pt x="5514721" y="431418"/>
                  </a:lnTo>
                  <a:lnTo>
                    <a:pt x="5530469" y="476376"/>
                  </a:lnTo>
                  <a:lnTo>
                    <a:pt x="5540375" y="525145"/>
                  </a:lnTo>
                  <a:lnTo>
                    <a:pt x="5543804" y="5770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32204" y="2709671"/>
              <a:ext cx="2880360" cy="575945"/>
            </a:xfrm>
            <a:custGeom>
              <a:avLst/>
              <a:gdLst/>
              <a:ahLst/>
              <a:cxnLst/>
              <a:rect l="l" t="t" r="r" b="b"/>
              <a:pathLst>
                <a:path w="2880360" h="575945">
                  <a:moveTo>
                    <a:pt x="2880360" y="0"/>
                  </a:moveTo>
                  <a:lnTo>
                    <a:pt x="0" y="0"/>
                  </a:lnTo>
                  <a:lnTo>
                    <a:pt x="0" y="575563"/>
                  </a:lnTo>
                  <a:lnTo>
                    <a:pt x="2880360" y="575563"/>
                  </a:lnTo>
                  <a:lnTo>
                    <a:pt x="2880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48154" y="2828671"/>
            <a:ext cx="2581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mbria Math"/>
                <a:cs typeface="Cambria Math"/>
              </a:rPr>
              <a:t>𝒑𝒓𝒆𝒅𝒆𝒔𝒊𝒓𝒆𝒅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𝑪𝒐𝒏𝒔𝒕𝒂𝒏𝒕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01214" y="2669794"/>
            <a:ext cx="6242685" cy="1780539"/>
            <a:chOff x="2601214" y="2669794"/>
            <a:chExt cx="6242685" cy="1780539"/>
          </a:xfrm>
        </p:grpSpPr>
        <p:sp>
          <p:nvSpPr>
            <p:cNvPr id="16" name="object 16"/>
            <p:cNvSpPr/>
            <p:nvPr/>
          </p:nvSpPr>
          <p:spPr>
            <a:xfrm>
              <a:off x="2607564" y="2676144"/>
              <a:ext cx="922019" cy="937260"/>
            </a:xfrm>
            <a:custGeom>
              <a:avLst/>
              <a:gdLst/>
              <a:ahLst/>
              <a:cxnLst/>
              <a:rect l="l" t="t" r="r" b="b"/>
              <a:pathLst>
                <a:path w="922020" h="937260">
                  <a:moveTo>
                    <a:pt x="655065" y="0"/>
                  </a:moveTo>
                  <a:lnTo>
                    <a:pt x="471678" y="224408"/>
                  </a:lnTo>
                  <a:lnTo>
                    <a:pt x="247650" y="40766"/>
                  </a:lnTo>
                  <a:lnTo>
                    <a:pt x="0" y="343915"/>
                  </a:lnTo>
                  <a:lnTo>
                    <a:pt x="224155" y="527430"/>
                  </a:lnTo>
                  <a:lnTo>
                    <a:pt x="40767" y="751839"/>
                  </a:lnTo>
                  <a:lnTo>
                    <a:pt x="266573" y="936878"/>
                  </a:lnTo>
                  <a:lnTo>
                    <a:pt x="449961" y="712469"/>
                  </a:lnTo>
                  <a:lnTo>
                    <a:pt x="673988" y="896111"/>
                  </a:lnTo>
                  <a:lnTo>
                    <a:pt x="921638" y="592963"/>
                  </a:lnTo>
                  <a:lnTo>
                    <a:pt x="697484" y="409320"/>
                  </a:lnTo>
                  <a:lnTo>
                    <a:pt x="880872" y="184911"/>
                  </a:lnTo>
                  <a:lnTo>
                    <a:pt x="6550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07564" y="2676144"/>
              <a:ext cx="922019" cy="937260"/>
            </a:xfrm>
            <a:custGeom>
              <a:avLst/>
              <a:gdLst/>
              <a:ahLst/>
              <a:cxnLst/>
              <a:rect l="l" t="t" r="r" b="b"/>
              <a:pathLst>
                <a:path w="922020" h="937260">
                  <a:moveTo>
                    <a:pt x="40767" y="751839"/>
                  </a:moveTo>
                  <a:lnTo>
                    <a:pt x="224155" y="527430"/>
                  </a:lnTo>
                  <a:lnTo>
                    <a:pt x="0" y="343915"/>
                  </a:lnTo>
                  <a:lnTo>
                    <a:pt x="247650" y="40766"/>
                  </a:lnTo>
                  <a:lnTo>
                    <a:pt x="471678" y="224408"/>
                  </a:lnTo>
                  <a:lnTo>
                    <a:pt x="655065" y="0"/>
                  </a:lnTo>
                  <a:lnTo>
                    <a:pt x="880872" y="184911"/>
                  </a:lnTo>
                  <a:lnTo>
                    <a:pt x="697484" y="409320"/>
                  </a:lnTo>
                  <a:lnTo>
                    <a:pt x="921638" y="592963"/>
                  </a:lnTo>
                  <a:lnTo>
                    <a:pt x="673988" y="896111"/>
                  </a:lnTo>
                  <a:lnTo>
                    <a:pt x="449961" y="712469"/>
                  </a:lnTo>
                  <a:lnTo>
                    <a:pt x="266573" y="936878"/>
                  </a:lnTo>
                  <a:lnTo>
                    <a:pt x="40767" y="751839"/>
                  </a:lnTo>
                </a:path>
              </a:pathLst>
            </a:custGeom>
            <a:ln w="126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9668" y="3630168"/>
              <a:ext cx="5401055" cy="81686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439668" y="3630168"/>
              <a:ext cx="5401310" cy="816610"/>
            </a:xfrm>
            <a:custGeom>
              <a:avLst/>
              <a:gdLst/>
              <a:ahLst/>
              <a:cxnLst/>
              <a:rect l="l" t="t" r="r" b="b"/>
              <a:pathLst>
                <a:path w="5401309" h="816610">
                  <a:moveTo>
                    <a:pt x="0" y="816483"/>
                  </a:moveTo>
                  <a:lnTo>
                    <a:pt x="5400801" y="816483"/>
                  </a:lnTo>
                  <a:lnTo>
                    <a:pt x="5400801" y="0"/>
                  </a:lnTo>
                  <a:lnTo>
                    <a:pt x="0" y="0"/>
                  </a:lnTo>
                  <a:lnTo>
                    <a:pt x="0" y="816483"/>
                  </a:lnTo>
                  <a:close/>
                </a:path>
              </a:pathLst>
            </a:custGeom>
            <a:ln w="6096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8492" y="4078224"/>
              <a:ext cx="213360" cy="22860"/>
            </a:xfrm>
            <a:custGeom>
              <a:avLst/>
              <a:gdLst/>
              <a:ahLst/>
              <a:cxnLst/>
              <a:rect l="l" t="t" r="r" b="b"/>
              <a:pathLst>
                <a:path w="213360" h="22860">
                  <a:moveTo>
                    <a:pt x="21336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213360" y="22859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86680" y="4053332"/>
            <a:ext cx="23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11523" y="3815588"/>
            <a:ext cx="3044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88365" algn="l"/>
              </a:tabLst>
            </a:pPr>
            <a:r>
              <a:rPr sz="2800" spc="-5" dirty="0">
                <a:latin typeface="Cambria Math"/>
                <a:cs typeface="Cambria Math"/>
              </a:rPr>
              <a:t>𝑬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4200" spc="-7" baseline="34722" dirty="0">
                <a:latin typeface="Cambria Math"/>
                <a:cs typeface="Cambria Math"/>
              </a:rPr>
              <a:t>𝟏</a:t>
            </a:r>
            <a:r>
              <a:rPr sz="4200" spc="-232" baseline="34722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(𝒅𝒆𝒔</a:t>
            </a:r>
            <a:r>
              <a:rPr sz="2800" spc="-15" dirty="0">
                <a:latin typeface="Cambria Math"/>
                <a:cs typeface="Cambria Math"/>
              </a:rPr>
              <a:t>𝒊</a:t>
            </a:r>
            <a:r>
              <a:rPr sz="2800" spc="-10" dirty="0">
                <a:latin typeface="Cambria Math"/>
                <a:cs typeface="Cambria Math"/>
              </a:rPr>
              <a:t>𝒓</a:t>
            </a:r>
            <a:r>
              <a:rPr sz="2800" spc="-5" dirty="0">
                <a:latin typeface="Cambria Math"/>
                <a:cs typeface="Cambria Math"/>
              </a:rPr>
              <a:t>𝒆𝒅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0004" y="4078223"/>
            <a:ext cx="1164590" cy="22860"/>
          </a:xfrm>
          <a:custGeom>
            <a:avLst/>
            <a:gdLst/>
            <a:ahLst/>
            <a:cxnLst/>
            <a:rect l="l" t="t" r="r" b="b"/>
            <a:pathLst>
              <a:path w="1164590" h="22860">
                <a:moveTo>
                  <a:pt x="1164081" y="0"/>
                </a:moveTo>
                <a:lnTo>
                  <a:pt x="0" y="0"/>
                </a:lnTo>
                <a:lnTo>
                  <a:pt x="0" y="22859"/>
                </a:lnTo>
                <a:lnTo>
                  <a:pt x="1164081" y="22859"/>
                </a:lnTo>
                <a:lnTo>
                  <a:pt x="11640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55205" y="3547364"/>
            <a:ext cx="23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60413" y="4049979"/>
            <a:ext cx="1216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𝟏</a:t>
            </a:r>
            <a:r>
              <a:rPr sz="2800" spc="-7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+</a:t>
            </a:r>
            <a:r>
              <a:rPr sz="2800" spc="-7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𝒆</a:t>
            </a:r>
            <a:r>
              <a:rPr sz="3075" spc="-30" baseline="18970" dirty="0">
                <a:latin typeface="Cambria Math"/>
                <a:cs typeface="Cambria Math"/>
              </a:rPr>
              <a:t>−𝒔</a:t>
            </a:r>
            <a:endParaRPr sz="3075" baseline="1897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18653" y="3686047"/>
            <a:ext cx="380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spc="-7" baseline="-16865" dirty="0">
                <a:latin typeface="Cambria Math"/>
                <a:cs typeface="Cambria Math"/>
              </a:rPr>
              <a:t>)</a:t>
            </a:r>
            <a:r>
              <a:rPr sz="2050" spc="-5" dirty="0">
                <a:latin typeface="Cambria Math"/>
                <a:cs typeface="Cambria Math"/>
              </a:rPr>
              <a:t>𝟐</a:t>
            </a:r>
            <a:endParaRPr sz="205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944111" y="4581144"/>
            <a:ext cx="4264660" cy="962025"/>
            <a:chOff x="3944111" y="4581144"/>
            <a:chExt cx="4264660" cy="96202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8495" y="4605528"/>
              <a:ext cx="4239767" cy="9372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44111" y="4581144"/>
              <a:ext cx="4239895" cy="935990"/>
            </a:xfrm>
            <a:custGeom>
              <a:avLst/>
              <a:gdLst/>
              <a:ahLst/>
              <a:cxnLst/>
              <a:rect l="l" t="t" r="r" b="b"/>
              <a:pathLst>
                <a:path w="4239895" h="935989">
                  <a:moveTo>
                    <a:pt x="4239641" y="0"/>
                  </a:moveTo>
                  <a:lnTo>
                    <a:pt x="0" y="0"/>
                  </a:lnTo>
                  <a:lnTo>
                    <a:pt x="0" y="935481"/>
                  </a:lnTo>
                  <a:lnTo>
                    <a:pt x="4239641" y="935481"/>
                  </a:lnTo>
                  <a:lnTo>
                    <a:pt x="4239641" y="0"/>
                  </a:lnTo>
                  <a:close/>
                </a:path>
              </a:pathLst>
            </a:custGeom>
            <a:solidFill>
              <a:srgbClr val="B4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72507" y="4588890"/>
            <a:ext cx="1695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i="1" dirty="0">
                <a:latin typeface="Times New Roman"/>
                <a:cs typeface="Times New Roman"/>
              </a:rPr>
              <a:t>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77660" y="4776342"/>
            <a:ext cx="26289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950" i="1" dirty="0">
                <a:latin typeface="Times New Roman"/>
                <a:cs typeface="Times New Roman"/>
              </a:rPr>
              <a:t>w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6141" y="4867783"/>
            <a:ext cx="5943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384810" algn="l"/>
              </a:tabLst>
            </a:pPr>
            <a:r>
              <a:rPr sz="1700" i="1" spc="40" dirty="0">
                <a:latin typeface="Times New Roman"/>
                <a:cs typeface="Times New Roman"/>
              </a:rPr>
              <a:t>j</a:t>
            </a:r>
            <a:r>
              <a:rPr sz="1700" i="1" dirty="0">
                <a:latin typeface="Times New Roman"/>
                <a:cs typeface="Times New Roman"/>
              </a:rPr>
              <a:t> i	</a:t>
            </a:r>
            <a:r>
              <a:rPr sz="3675" spc="-7" baseline="13605" dirty="0">
                <a:latin typeface="Symbol"/>
                <a:cs typeface="Symbol"/>
              </a:rPr>
              <a:t></a:t>
            </a:r>
            <a:endParaRPr sz="3675" baseline="13605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02906" y="4776342"/>
            <a:ext cx="43307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950" i="1" dirty="0">
                <a:latin typeface="Times New Roman"/>
                <a:cs typeface="Times New Roman"/>
              </a:rPr>
              <a:t>b</a:t>
            </a:r>
            <a:r>
              <a:rPr sz="2950" i="1" spc="145" dirty="0">
                <a:latin typeface="Times New Roman"/>
                <a:cs typeface="Times New Roman"/>
              </a:rPr>
              <a:t> </a:t>
            </a:r>
            <a:r>
              <a:rPr sz="2550" i="1" baseline="-6535" dirty="0">
                <a:latin typeface="Times New Roman"/>
                <a:cs typeface="Times New Roman"/>
              </a:rPr>
              <a:t>i</a:t>
            </a:r>
            <a:endParaRPr sz="2550" baseline="-6535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68190" y="4777485"/>
            <a:ext cx="58928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05130" algn="l"/>
              </a:tabLst>
            </a:pPr>
            <a:r>
              <a:rPr sz="2450" i="1" spc="-5" dirty="0">
                <a:latin typeface="Times New Roman"/>
                <a:cs typeface="Times New Roman"/>
              </a:rPr>
              <a:t>s	</a:t>
            </a:r>
            <a:r>
              <a:rPr sz="2450" spc="-5" dirty="0">
                <a:latin typeface="Symbol"/>
                <a:cs typeface="Symbol"/>
              </a:rPr>
              <a:t>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68315" y="4777485"/>
            <a:ext cx="36068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450" i="1" spc="-5" dirty="0">
                <a:latin typeface="Times New Roman"/>
                <a:cs typeface="Times New Roman"/>
              </a:rPr>
              <a:t>x</a:t>
            </a:r>
            <a:r>
              <a:rPr sz="2450" i="1" spc="90" dirty="0">
                <a:latin typeface="Times New Roman"/>
                <a:cs typeface="Times New Roman"/>
              </a:rPr>
              <a:t> </a:t>
            </a:r>
            <a:r>
              <a:rPr sz="2550" i="1" baseline="-16339" dirty="0">
                <a:latin typeface="Times New Roman"/>
                <a:cs typeface="Times New Roman"/>
              </a:rPr>
              <a:t>i</a:t>
            </a:r>
            <a:endParaRPr sz="2550" baseline="-16339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62778" y="4751578"/>
            <a:ext cx="309245" cy="70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3410"/>
              </a:lnSpc>
              <a:spcBef>
                <a:spcPts val="100"/>
              </a:spcBef>
            </a:pPr>
            <a:r>
              <a:rPr sz="2950" dirty="0">
                <a:latin typeface="Symbol"/>
                <a:cs typeface="Symbol"/>
              </a:rPr>
              <a:t></a:t>
            </a:r>
            <a:endParaRPr sz="2950">
              <a:latin typeface="Symbol"/>
              <a:cs typeface="Symbol"/>
            </a:endParaRPr>
          </a:p>
          <a:p>
            <a:pPr marR="5080" algn="r">
              <a:lnSpc>
                <a:spcPts val="1910"/>
              </a:lnSpc>
            </a:pPr>
            <a:r>
              <a:rPr sz="1700" i="1" dirty="0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439667" y="5650991"/>
            <a:ext cx="5425440" cy="1042669"/>
            <a:chOff x="3439667" y="5650991"/>
            <a:chExt cx="5425440" cy="1042669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64051" y="5675375"/>
              <a:ext cx="5401056" cy="101803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439667" y="5650991"/>
              <a:ext cx="5401310" cy="1017905"/>
            </a:xfrm>
            <a:custGeom>
              <a:avLst/>
              <a:gdLst/>
              <a:ahLst/>
              <a:cxnLst/>
              <a:rect l="l" t="t" r="r" b="b"/>
              <a:pathLst>
                <a:path w="5401309" h="1017904">
                  <a:moveTo>
                    <a:pt x="5400801" y="0"/>
                  </a:moveTo>
                  <a:lnTo>
                    <a:pt x="0" y="0"/>
                  </a:lnTo>
                  <a:lnTo>
                    <a:pt x="0" y="1017524"/>
                  </a:lnTo>
                  <a:lnTo>
                    <a:pt x="5400801" y="1017524"/>
                  </a:lnTo>
                  <a:lnTo>
                    <a:pt x="5400801" y="0"/>
                  </a:lnTo>
                  <a:close/>
                </a:path>
              </a:pathLst>
            </a:custGeom>
            <a:solidFill>
              <a:srgbClr val="B4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29505" y="6020561"/>
              <a:ext cx="3921125" cy="0"/>
            </a:xfrm>
            <a:custGeom>
              <a:avLst/>
              <a:gdLst/>
              <a:ahLst/>
              <a:cxnLst/>
              <a:rect l="l" t="t" r="r" b="b"/>
              <a:pathLst>
                <a:path w="3921125">
                  <a:moveTo>
                    <a:pt x="0" y="0"/>
                  </a:moveTo>
                  <a:lnTo>
                    <a:pt x="324866" y="0"/>
                  </a:lnTo>
                </a:path>
                <a:path w="3921125">
                  <a:moveTo>
                    <a:pt x="1358519" y="0"/>
                  </a:moveTo>
                  <a:lnTo>
                    <a:pt x="3920871" y="0"/>
                  </a:lnTo>
                </a:path>
              </a:pathLst>
            </a:custGeom>
            <a:ln w="19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375650" y="5789167"/>
            <a:ext cx="97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78595" y="5770879"/>
            <a:ext cx="102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68490" y="6012281"/>
            <a:ext cx="762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14465" y="6424676"/>
            <a:ext cx="48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Times New Roman"/>
                <a:cs typeface="Times New Roman"/>
              </a:rPr>
              <a:t>j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85991" y="5522067"/>
            <a:ext cx="635635" cy="97028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175"/>
              </a:spcBef>
              <a:tabLst>
                <a:tab pos="290195" algn="l"/>
              </a:tabLst>
            </a:pPr>
            <a:r>
              <a:rPr sz="2400" i="1" dirty="0">
                <a:latin typeface="Times New Roman"/>
                <a:cs typeface="Times New Roman"/>
              </a:rPr>
              <a:t>x	</a:t>
            </a:r>
            <a:r>
              <a:rPr sz="1500" i="1" spc="-7" baseline="-5555" dirty="0">
                <a:latin typeface="Times New Roman"/>
                <a:cs typeface="Times New Roman"/>
              </a:rPr>
              <a:t>i</a:t>
            </a:r>
            <a:r>
              <a:rPr sz="1500" i="1" spc="330" baseline="-55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34275" y="6114694"/>
            <a:ext cx="766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692785" algn="l"/>
              </a:tabLst>
            </a:pPr>
            <a:r>
              <a:rPr sz="1000" i="1" spc="-5" dirty="0">
                <a:latin typeface="Times New Roman"/>
                <a:cs typeface="Times New Roman"/>
              </a:rPr>
              <a:t>i</a:t>
            </a:r>
            <a:r>
              <a:rPr sz="1000" i="1" spc="1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j</a:t>
            </a:r>
            <a:r>
              <a:rPr sz="1000" i="1" spc="310" dirty="0">
                <a:latin typeface="Times New Roman"/>
                <a:cs typeface="Times New Roman"/>
              </a:rPr>
              <a:t> </a:t>
            </a:r>
            <a:r>
              <a:rPr sz="2100" baseline="23809" dirty="0">
                <a:latin typeface="Symbol"/>
                <a:cs typeface="Symbol"/>
              </a:rPr>
              <a:t></a:t>
            </a:r>
            <a:r>
              <a:rPr sz="2100" spc="660" baseline="23809" dirty="0">
                <a:latin typeface="Times New Roman"/>
                <a:cs typeface="Times New Roman"/>
              </a:rPr>
              <a:t> </a:t>
            </a:r>
            <a:r>
              <a:rPr sz="3600" i="1" baseline="2314" dirty="0">
                <a:latin typeface="Times New Roman"/>
                <a:cs typeface="Times New Roman"/>
              </a:rPr>
              <a:t>b	</a:t>
            </a:r>
            <a:r>
              <a:rPr sz="1000" i="1" spc="-5" dirty="0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95009" y="6033008"/>
            <a:ext cx="645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600" i="1" baseline="-24305" dirty="0">
                <a:latin typeface="Times New Roman"/>
                <a:cs typeface="Times New Roman"/>
              </a:rPr>
              <a:t>e</a:t>
            </a:r>
            <a:r>
              <a:rPr sz="3600" i="1" spc="-187" baseline="-24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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3600" baseline="-6944" dirty="0">
                <a:latin typeface="Symbol"/>
                <a:cs typeface="Symbol"/>
              </a:rPr>
              <a:t></a:t>
            </a:r>
            <a:endParaRPr sz="3600" baseline="-6944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53967" y="5758992"/>
            <a:ext cx="6159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62915" algn="l"/>
              </a:tabLst>
            </a:pPr>
            <a:r>
              <a:rPr sz="2000" i="1" dirty="0">
                <a:latin typeface="Times New Roman"/>
                <a:cs typeface="Times New Roman"/>
              </a:rPr>
              <a:t>E	</a:t>
            </a:r>
            <a:r>
              <a:rPr sz="2000" dirty="0"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37176" y="5758992"/>
            <a:ext cx="728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sz="2000" dirty="0">
                <a:latin typeface="Times New Roman"/>
                <a:cs typeface="Times New Roman"/>
              </a:rPr>
              <a:t>( 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	</a:t>
            </a:r>
            <a:r>
              <a:rPr sz="2000" dirty="0">
                <a:latin typeface="Symbol"/>
                <a:cs typeface="Symbol"/>
              </a:rPr>
              <a:t>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68367" y="5537098"/>
            <a:ext cx="147955" cy="80581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7620">
              <a:lnSpc>
                <a:spcPct val="100000"/>
              </a:lnSpc>
              <a:spcBef>
                <a:spcPts val="670"/>
              </a:spcBef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872" y="2919983"/>
            <a:ext cx="8857488" cy="83058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289547" y="2311714"/>
            <a:ext cx="424180" cy="497205"/>
            <a:chOff x="6289547" y="2311714"/>
            <a:chExt cx="424180" cy="4972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4540" y="2311714"/>
              <a:ext cx="409008" cy="49717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89547" y="2540508"/>
              <a:ext cx="402590" cy="0"/>
            </a:xfrm>
            <a:custGeom>
              <a:avLst/>
              <a:gdLst/>
              <a:ahLst/>
              <a:cxnLst/>
              <a:rect l="l" t="t" r="r" b="b"/>
              <a:pathLst>
                <a:path w="402590">
                  <a:moveTo>
                    <a:pt x="0" y="0"/>
                  </a:moveTo>
                  <a:lnTo>
                    <a:pt x="402208" y="0"/>
                  </a:lnTo>
                </a:path>
              </a:pathLst>
            </a:custGeom>
            <a:ln w="11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82317" y="1306575"/>
            <a:ext cx="7435850" cy="152146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1220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20" dirty="0">
                <a:latin typeface="Calibri"/>
                <a:cs typeface="Calibri"/>
              </a:rPr>
              <a:t>Backword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pass</a:t>
            </a:r>
            <a:endParaRPr sz="2400">
              <a:latin typeface="Calibri"/>
              <a:cs typeface="Calibri"/>
            </a:endParaRPr>
          </a:p>
          <a:p>
            <a:pPr marL="445134">
              <a:lnSpc>
                <a:spcPct val="100000"/>
              </a:lnSpc>
              <a:spcBef>
                <a:spcPts val="84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change</a:t>
            </a:r>
            <a:r>
              <a:rPr sz="1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prediction</a:t>
            </a:r>
            <a:r>
              <a:rPr sz="1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Error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(E)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given</a:t>
            </a:r>
            <a:r>
              <a:rPr sz="1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change</a:t>
            </a:r>
            <a:r>
              <a:rPr sz="1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weight</a:t>
            </a:r>
            <a:r>
              <a:rPr sz="1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(W)</a:t>
            </a:r>
            <a:r>
              <a:rPr sz="1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  <a:p>
            <a:pPr marL="864235">
              <a:lnSpc>
                <a:spcPct val="100000"/>
              </a:lnSpc>
              <a:spcBef>
                <a:spcPts val="25"/>
              </a:spcBef>
              <a:tabLst>
                <a:tab pos="4565015" algn="l"/>
              </a:tabLst>
            </a:pPr>
            <a:r>
              <a:rPr sz="1800" b="1" dirty="0">
                <a:latin typeface="Calibri"/>
                <a:cs typeface="Calibri"/>
              </a:rPr>
              <a:t>Get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partial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derivative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spc="-105" dirty="0">
                <a:latin typeface="Calibri"/>
                <a:cs typeface="Calibri"/>
              </a:rPr>
              <a:t>W.R.T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	</a:t>
            </a:r>
            <a:r>
              <a:rPr sz="1800" spc="40" dirty="0">
                <a:latin typeface="Symbol"/>
                <a:cs typeface="Symbol"/>
              </a:rPr>
              <a:t></a:t>
            </a:r>
            <a:r>
              <a:rPr sz="1800" i="1" spc="4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  <a:p>
            <a:pPr marL="1934210" algn="ctr">
              <a:lnSpc>
                <a:spcPct val="100000"/>
              </a:lnSpc>
              <a:spcBef>
                <a:spcPts val="430"/>
              </a:spcBef>
            </a:pPr>
            <a:r>
              <a:rPr sz="1800" spc="45" dirty="0">
                <a:latin typeface="Symbol"/>
                <a:cs typeface="Symbol"/>
              </a:rPr>
              <a:t></a:t>
            </a:r>
            <a:r>
              <a:rPr sz="1800" i="1" spc="45" dirty="0"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6900" y="4149852"/>
            <a:ext cx="1431036" cy="48310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289810" y="403174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71570" y="4117975"/>
            <a:ext cx="10477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5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66799" y="4133215"/>
            <a:ext cx="181038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algn="ctr">
              <a:lnSpc>
                <a:spcPts val="1980"/>
              </a:lnSpc>
              <a:spcBef>
                <a:spcPts val="100"/>
              </a:spcBef>
              <a:tabLst>
                <a:tab pos="713740" algn="l"/>
              </a:tabLst>
            </a:pP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i="1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spc="45" dirty="0">
                <a:latin typeface="Times New Roman"/>
                <a:cs typeface="Times New Roman"/>
              </a:rPr>
              <a:t>(</a:t>
            </a:r>
            <a:r>
              <a:rPr sz="1800" i="1" spc="45" dirty="0">
                <a:latin typeface="Times New Roman"/>
                <a:cs typeface="Times New Roman"/>
              </a:rPr>
              <a:t>d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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i="1" spc="65" dirty="0">
                <a:latin typeface="Times New Roman"/>
                <a:cs typeface="Times New Roman"/>
              </a:rPr>
              <a:t>y</a:t>
            </a:r>
            <a:r>
              <a:rPr sz="1800" spc="6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R="202565" algn="ctr">
              <a:lnSpc>
                <a:spcPts val="1980"/>
              </a:lnSpc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1499"/>
              </a:lnSpc>
              <a:spcBef>
                <a:spcPts val="900"/>
              </a:spcBef>
            </a:pPr>
            <a:r>
              <a:rPr sz="1400" dirty="0">
                <a:latin typeface="Calibri"/>
                <a:cs typeface="Calibri"/>
              </a:rPr>
              <a:t>d</a:t>
            </a:r>
            <a:r>
              <a:rPr sz="1400" spc="2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(desired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output)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Const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</a:t>
            </a:r>
            <a:r>
              <a:rPr sz="1400" spc="2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</a:t>
            </a:r>
            <a:r>
              <a:rPr sz="1400" spc="-20" dirty="0">
                <a:latin typeface="Calibri"/>
                <a:cs typeface="Calibri"/>
              </a:rPr>
              <a:t> predicted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output)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0059" y="4018788"/>
            <a:ext cx="1417320" cy="615950"/>
            <a:chOff x="4290059" y="4018788"/>
            <a:chExt cx="1417320" cy="61595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0059" y="4018788"/>
              <a:ext cx="1417319" cy="61569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002529" y="4293870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0" y="0"/>
                  </a:moveTo>
                  <a:lnTo>
                    <a:pt x="680720" y="0"/>
                  </a:lnTo>
                </a:path>
              </a:pathLst>
            </a:custGeom>
            <a:ln w="13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41060" y="4275201"/>
            <a:ext cx="2095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40" dirty="0">
                <a:latin typeface="Symbol"/>
                <a:cs typeface="Symbol"/>
              </a:rPr>
              <a:t></a:t>
            </a:r>
            <a:r>
              <a:rPr sz="1500" i="1" spc="-5" dirty="0">
                <a:latin typeface="Times New Roman"/>
                <a:cs typeface="Times New Roman"/>
              </a:rPr>
              <a:t>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82336" y="4309617"/>
            <a:ext cx="4787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60" dirty="0">
                <a:latin typeface="Times New Roman"/>
                <a:cs typeface="Times New Roman"/>
              </a:rPr>
              <a:t>1</a:t>
            </a:r>
            <a:r>
              <a:rPr sz="2200" spc="215" dirty="0">
                <a:latin typeface="Symbol"/>
                <a:cs typeface="Symbol"/>
              </a:rPr>
              <a:t></a:t>
            </a:r>
            <a:r>
              <a:rPr sz="2200" spc="-5" dirty="0"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6182" y="3884422"/>
            <a:ext cx="1651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05680" y="4063365"/>
            <a:ext cx="6540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f</a:t>
            </a:r>
            <a:r>
              <a:rPr sz="2200" i="1" spc="-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</a:t>
            </a:r>
            <a:r>
              <a:rPr sz="2200" i="1" spc="-35" dirty="0">
                <a:latin typeface="Times New Roman"/>
                <a:cs typeface="Times New Roman"/>
              </a:rPr>
              <a:t>s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87114" y="4764404"/>
            <a:ext cx="18389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</a:t>
            </a:r>
            <a:r>
              <a:rPr sz="1400" spc="5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(Sum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Product</a:t>
            </a:r>
            <a:r>
              <a:rPr sz="1400" spc="29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SOP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20611" y="4012691"/>
            <a:ext cx="1923288" cy="6477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880097" y="3868039"/>
            <a:ext cx="1631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5" dirty="0">
                <a:latin typeface="Times New Roman"/>
                <a:cs typeface="Times New Roman"/>
              </a:rPr>
              <a:t>m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93560" y="4031996"/>
            <a:ext cx="3740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s</a:t>
            </a:r>
            <a:r>
              <a:rPr sz="2200" i="1" spc="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35748" y="4031996"/>
            <a:ext cx="1492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68718" y="4036567"/>
            <a:ext cx="3892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dirty="0">
                <a:latin typeface="Times New Roman"/>
                <a:cs typeface="Times New Roman"/>
              </a:rPr>
              <a:t>i</a:t>
            </a:r>
            <a:r>
              <a:rPr sz="1500" i="1" spc="245" dirty="0">
                <a:latin typeface="Times New Roman"/>
                <a:cs typeface="Times New Roman"/>
              </a:rPr>
              <a:t> </a:t>
            </a:r>
            <a:r>
              <a:rPr sz="3900" i="1" baseline="1068" dirty="0">
                <a:latin typeface="Times New Roman"/>
                <a:cs typeface="Times New Roman"/>
              </a:rPr>
              <a:t>w</a:t>
            </a:r>
            <a:endParaRPr sz="3900" baseline="1068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86293" y="4187444"/>
            <a:ext cx="1352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25" dirty="0">
                <a:latin typeface="Times New Roman"/>
                <a:cs typeface="Times New Roman"/>
              </a:rPr>
              <a:t>j</a:t>
            </a:r>
            <a:r>
              <a:rPr sz="1500" i="1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34630" y="3980179"/>
            <a:ext cx="4508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379" indent="-208915">
              <a:lnSpc>
                <a:spcPct val="100000"/>
              </a:lnSpc>
              <a:spcBef>
                <a:spcPts val="100"/>
              </a:spcBef>
              <a:buSzPct val="84615"/>
              <a:buFont typeface="Symbol"/>
              <a:buChar char=""/>
              <a:tabLst>
                <a:tab pos="247015" algn="l"/>
              </a:tabLst>
            </a:pPr>
            <a:r>
              <a:rPr sz="3900" i="1" baseline="-8547" dirty="0">
                <a:latin typeface="Times New Roman"/>
                <a:cs typeface="Times New Roman"/>
              </a:rPr>
              <a:t>b</a:t>
            </a:r>
            <a:endParaRPr sz="3900" baseline="-854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50173" y="4187444"/>
            <a:ext cx="78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26377" y="4009135"/>
            <a:ext cx="261620" cy="63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070"/>
              </a:lnSpc>
              <a:spcBef>
                <a:spcPts val="100"/>
              </a:spcBef>
            </a:pPr>
            <a:r>
              <a:rPr sz="2600" dirty="0">
                <a:latin typeface="Symbol"/>
                <a:cs typeface="Symbol"/>
              </a:rPr>
              <a:t></a:t>
            </a:r>
            <a:endParaRPr sz="2600">
              <a:latin typeface="Symbol"/>
              <a:cs typeface="Symbol"/>
            </a:endParaRPr>
          </a:p>
          <a:p>
            <a:pPr marL="48260" algn="ctr">
              <a:lnSpc>
                <a:spcPts val="1750"/>
              </a:lnSpc>
            </a:pPr>
            <a:r>
              <a:rPr sz="1500" i="1" dirty="0">
                <a:latin typeface="Times New Roman"/>
                <a:cs typeface="Times New Roman"/>
              </a:rPr>
              <a:t>j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287267" y="5228844"/>
            <a:ext cx="6361430" cy="1466215"/>
            <a:chOff x="3287267" y="5228844"/>
            <a:chExt cx="6361430" cy="1466215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11651" y="5253228"/>
              <a:ext cx="6336792" cy="144170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287267" y="5228844"/>
              <a:ext cx="6336665" cy="1440180"/>
            </a:xfrm>
            <a:custGeom>
              <a:avLst/>
              <a:gdLst/>
              <a:ahLst/>
              <a:cxnLst/>
              <a:rect l="l" t="t" r="r" b="b"/>
              <a:pathLst>
                <a:path w="6336665" h="1440179">
                  <a:moveTo>
                    <a:pt x="6336284" y="0"/>
                  </a:moveTo>
                  <a:lnTo>
                    <a:pt x="0" y="0"/>
                  </a:lnTo>
                  <a:lnTo>
                    <a:pt x="0" y="1440179"/>
                  </a:lnTo>
                  <a:lnTo>
                    <a:pt x="6336284" y="1440179"/>
                  </a:lnTo>
                  <a:lnTo>
                    <a:pt x="6336284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47031" y="5751576"/>
              <a:ext cx="4602480" cy="0"/>
            </a:xfrm>
            <a:custGeom>
              <a:avLst/>
              <a:gdLst/>
              <a:ahLst/>
              <a:cxnLst/>
              <a:rect l="l" t="t" r="r" b="b"/>
              <a:pathLst>
                <a:path w="4602480">
                  <a:moveTo>
                    <a:pt x="0" y="0"/>
                  </a:moveTo>
                  <a:lnTo>
                    <a:pt x="381253" y="0"/>
                  </a:lnTo>
                </a:path>
                <a:path w="4602480">
                  <a:moveTo>
                    <a:pt x="1594484" y="0"/>
                  </a:moveTo>
                  <a:lnTo>
                    <a:pt x="4602098" y="0"/>
                  </a:lnTo>
                </a:path>
              </a:pathLst>
            </a:custGeom>
            <a:ln w="23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052814" y="5299659"/>
            <a:ext cx="427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200" spc="-7" baseline="-21825" dirty="0">
                <a:latin typeface="Times New Roman"/>
                <a:cs typeface="Times New Roman"/>
              </a:rPr>
              <a:t>)</a:t>
            </a:r>
            <a:r>
              <a:rPr sz="4200" spc="262" baseline="-218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5336" y="5232298"/>
            <a:ext cx="190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55356" y="6151270"/>
            <a:ext cx="62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42936" y="5878474"/>
            <a:ext cx="15474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3705" algn="l"/>
                <a:tab pos="1318260" algn="l"/>
              </a:tabLst>
            </a:pPr>
            <a:r>
              <a:rPr sz="3400" i="1" spc="-5" dirty="0">
                <a:latin typeface="Times New Roman"/>
                <a:cs typeface="Times New Roman"/>
              </a:rPr>
              <a:t>x	w	b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85708" y="6081166"/>
            <a:ext cx="9099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21690" algn="l"/>
              </a:tabLst>
            </a:pPr>
            <a:r>
              <a:rPr sz="1400" i="1" dirty="0">
                <a:latin typeface="Times New Roman"/>
                <a:cs typeface="Times New Roman"/>
              </a:rPr>
              <a:t>i</a:t>
            </a:r>
            <a:r>
              <a:rPr sz="1400" i="1" spc="-9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j</a:t>
            </a:r>
            <a:r>
              <a:rPr sz="1400" i="1" spc="229" dirty="0">
                <a:latin typeface="Times New Roman"/>
                <a:cs typeface="Times New Roman"/>
              </a:rPr>
              <a:t> </a:t>
            </a:r>
            <a:r>
              <a:rPr sz="2925" baseline="22792" dirty="0">
                <a:latin typeface="Symbol"/>
                <a:cs typeface="Symbol"/>
              </a:rPr>
              <a:t></a:t>
            </a:r>
            <a:r>
              <a:rPr sz="2925" baseline="22792" dirty="0">
                <a:latin typeface="Times New Roman"/>
                <a:cs typeface="Times New Roman"/>
              </a:rPr>
              <a:t>	</a:t>
            </a:r>
            <a:r>
              <a:rPr sz="1400" i="1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80505" y="5968085"/>
            <a:ext cx="2044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spc="-5" dirty="0">
                <a:latin typeface="Times New Roman"/>
                <a:cs typeface="Times New Roman"/>
              </a:rPr>
              <a:t>e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88278" y="5746800"/>
            <a:ext cx="69469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1815">
              <a:lnSpc>
                <a:spcPts val="944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  <a:p>
            <a:pPr marL="25400">
              <a:lnSpc>
                <a:spcPts val="3345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-170" dirty="0">
                <a:latin typeface="Times New Roman"/>
                <a:cs typeface="Times New Roman"/>
              </a:rPr>
              <a:t> </a:t>
            </a:r>
            <a:r>
              <a:rPr sz="5100" spc="-7" baseline="-8169" dirty="0">
                <a:latin typeface="Symbol"/>
                <a:cs typeface="Symbol"/>
              </a:rPr>
              <a:t></a:t>
            </a:r>
            <a:endParaRPr sz="5100" baseline="-8169">
              <a:latin typeface="Symbol"/>
              <a:cs typeface="Symbol"/>
            </a:endParaRPr>
          </a:p>
          <a:p>
            <a:pPr marL="606425">
              <a:lnSpc>
                <a:spcPct val="100000"/>
              </a:lnSpc>
              <a:spcBef>
                <a:spcPts val="305"/>
              </a:spcBef>
            </a:pPr>
            <a:r>
              <a:rPr sz="1400" i="1" dirty="0">
                <a:latin typeface="Times New Roman"/>
                <a:cs typeface="Times New Roman"/>
              </a:rPr>
              <a:t>j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20109" y="5393232"/>
            <a:ext cx="7524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44195" algn="l"/>
              </a:tabLst>
            </a:pPr>
            <a:r>
              <a:rPr sz="2800" i="1" spc="-5" dirty="0">
                <a:latin typeface="Times New Roman"/>
                <a:cs typeface="Times New Roman"/>
              </a:rPr>
              <a:t>E	</a:t>
            </a:r>
            <a:r>
              <a:rPr sz="2800" spc="-5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26203" y="5393232"/>
            <a:ext cx="884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76275" algn="l"/>
              </a:tabLst>
            </a:pP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d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Symbol"/>
                <a:cs typeface="Symbol"/>
              </a:rPr>
              <a:t>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93386" y="5081625"/>
            <a:ext cx="199390" cy="11169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5"/>
              </a:spcBef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8890">
              <a:lnSpc>
                <a:spcPct val="100000"/>
              </a:lnSpc>
              <a:spcBef>
                <a:spcPts val="935"/>
              </a:spcBef>
            </a:pPr>
            <a:r>
              <a:rPr sz="2800" spc="-5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54668" y="4274820"/>
            <a:ext cx="777240" cy="176783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9093454" y="4047819"/>
            <a:ext cx="74549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i="1" dirty="0">
                <a:latin typeface="Times New Roman"/>
                <a:cs typeface="Times New Roman"/>
              </a:rPr>
              <a:t>w</a:t>
            </a:r>
            <a:r>
              <a:rPr sz="2600" i="1" spc="23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Times New Roman"/>
                <a:cs typeface="Times New Roman"/>
              </a:rPr>
              <a:t>,</a:t>
            </a:r>
            <a:r>
              <a:rPr sz="3225" spc="-262" baseline="1033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332214" y="4206620"/>
            <a:ext cx="5918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1500" dirty="0">
                <a:latin typeface="Times New Roman"/>
                <a:cs typeface="Times New Roman"/>
              </a:rPr>
              <a:t>1	2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782317" y="1448815"/>
            <a:ext cx="243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114" dirty="0">
                <a:latin typeface="Calibri"/>
                <a:cs typeface="Calibri"/>
              </a:rPr>
              <a:t>W</a:t>
            </a:r>
            <a:r>
              <a:rPr sz="2400" b="1" spc="-25" dirty="0">
                <a:latin typeface="Calibri"/>
                <a:cs typeface="Calibri"/>
              </a:rPr>
              <a:t>e</a:t>
            </a:r>
            <a:r>
              <a:rPr sz="2400" b="1" spc="-30" dirty="0">
                <a:latin typeface="Calibri"/>
                <a:cs typeface="Calibri"/>
              </a:rPr>
              <a:t>i</a:t>
            </a:r>
            <a:r>
              <a:rPr sz="2400" b="1" spc="-25" dirty="0">
                <a:latin typeface="Calibri"/>
                <a:cs typeface="Calibri"/>
              </a:rPr>
              <a:t>g</a:t>
            </a:r>
            <a:r>
              <a:rPr sz="2400" b="1" spc="-55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ri</a:t>
            </a:r>
            <a:r>
              <a:rPr sz="2400" b="1" spc="-45" dirty="0">
                <a:latin typeface="Calibri"/>
                <a:cs typeface="Calibri"/>
              </a:rPr>
              <a:t>v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spc="-20" dirty="0">
                <a:latin typeface="Calibri"/>
                <a:cs typeface="Calibri"/>
              </a:rPr>
              <a:t>t</a:t>
            </a:r>
            <a:r>
              <a:rPr sz="2400" b="1" spc="-15" dirty="0">
                <a:latin typeface="Calibri"/>
                <a:cs typeface="Calibri"/>
              </a:rPr>
              <a:t>i</a:t>
            </a:r>
            <a:r>
              <a:rPr sz="2400" b="1" spc="-35" dirty="0">
                <a:latin typeface="Calibri"/>
                <a:cs typeface="Calibri"/>
              </a:rPr>
              <a:t>v</a:t>
            </a:r>
            <a:r>
              <a:rPr sz="2400" b="1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42872" y="2157983"/>
            <a:ext cx="8857615" cy="1583690"/>
            <a:chOff x="1642872" y="2157983"/>
            <a:chExt cx="8857615" cy="15836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2872" y="2157983"/>
              <a:ext cx="8857488" cy="832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2964" y="2962655"/>
              <a:ext cx="1914143" cy="77876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63489" y="3342894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0" y="0"/>
                  </a:moveTo>
                  <a:lnTo>
                    <a:pt x="680974" y="0"/>
                  </a:lnTo>
                </a:path>
              </a:pathLst>
            </a:custGeom>
            <a:ln w="13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6900" y="3198875"/>
              <a:ext cx="1431036" cy="4831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86000" y="3418331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19">
                  <a:moveTo>
                    <a:pt x="0" y="0"/>
                  </a:moveTo>
                  <a:lnTo>
                    <a:pt x="159893" y="0"/>
                  </a:lnTo>
                </a:path>
              </a:pathLst>
            </a:custGeom>
            <a:ln w="11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181553"/>
            <a:ext cx="1480185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98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E</a:t>
            </a:r>
            <a:r>
              <a:rPr sz="1800" i="1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2700" baseline="29320" dirty="0">
                <a:latin typeface="Times New Roman"/>
                <a:cs typeface="Times New Roman"/>
              </a:rPr>
              <a:t>1</a:t>
            </a:r>
            <a:r>
              <a:rPr sz="2700" spc="82" baseline="29320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(</a:t>
            </a:r>
            <a:r>
              <a:rPr sz="1800" i="1" spc="45" dirty="0">
                <a:latin typeface="Times New Roman"/>
                <a:cs typeface="Times New Roman"/>
              </a:rPr>
              <a:t>d</a:t>
            </a:r>
            <a:r>
              <a:rPr sz="1800" i="1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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i="1" spc="85" dirty="0">
                <a:latin typeface="Times New Roman"/>
                <a:cs typeface="Times New Roman"/>
              </a:rPr>
              <a:t>y</a:t>
            </a:r>
            <a:r>
              <a:rPr sz="1800" spc="85" dirty="0">
                <a:latin typeface="Times New Roman"/>
                <a:cs typeface="Times New Roman"/>
              </a:rPr>
              <a:t>)</a:t>
            </a:r>
            <a:r>
              <a:rPr sz="1875" spc="127" baseline="28888" dirty="0">
                <a:latin typeface="Times New Roman"/>
                <a:cs typeface="Times New Roman"/>
              </a:rPr>
              <a:t>2</a:t>
            </a:r>
            <a:endParaRPr sz="1875" baseline="28888">
              <a:latin typeface="Times New Roman"/>
              <a:cs typeface="Times New Roman"/>
            </a:endParaRPr>
          </a:p>
          <a:p>
            <a:pPr marR="370205" algn="ctr">
              <a:lnSpc>
                <a:spcPts val="1980"/>
              </a:lnSpc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7396" y="2933192"/>
            <a:ext cx="1651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20055" y="3358388"/>
            <a:ext cx="7143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spc="60" dirty="0">
                <a:latin typeface="Times New Roman"/>
                <a:cs typeface="Times New Roman"/>
              </a:rPr>
              <a:t>1</a:t>
            </a:r>
            <a:r>
              <a:rPr sz="2200" spc="60" dirty="0">
                <a:latin typeface="Symbol"/>
                <a:cs typeface="Symbol"/>
              </a:rPr>
              <a:t></a:t>
            </a:r>
            <a:r>
              <a:rPr sz="2200" spc="60" dirty="0">
                <a:latin typeface="Times New Roman"/>
                <a:cs typeface="Times New Roman"/>
              </a:rPr>
              <a:t>e</a:t>
            </a:r>
            <a:r>
              <a:rPr sz="2250" spc="89" baseline="31481" dirty="0">
                <a:latin typeface="Symbol"/>
                <a:cs typeface="Symbol"/>
              </a:rPr>
              <a:t></a:t>
            </a:r>
            <a:r>
              <a:rPr sz="2250" i="1" spc="89" baseline="31481" dirty="0">
                <a:latin typeface="Times New Roman"/>
                <a:cs typeface="Times New Roman"/>
              </a:rPr>
              <a:t>s</a:t>
            </a:r>
            <a:endParaRPr sz="2250" baseline="3148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5984" y="3112388"/>
            <a:ext cx="10553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5" dirty="0">
                <a:latin typeface="Times New Roman"/>
                <a:cs typeface="Times New Roman"/>
              </a:rPr>
              <a:t>y</a:t>
            </a:r>
            <a:r>
              <a:rPr sz="2200" i="1" spc="-2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f</a:t>
            </a:r>
            <a:r>
              <a:rPr sz="2200" i="1" spc="-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</a:t>
            </a:r>
            <a:r>
              <a:rPr sz="2200" i="1" spc="-35" dirty="0">
                <a:latin typeface="Times New Roman"/>
                <a:cs typeface="Times New Roman"/>
              </a:rPr>
              <a:t>s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23432" y="3215639"/>
            <a:ext cx="2417064" cy="25907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070980" y="3070606"/>
            <a:ext cx="24765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25" i="1" spc="-7" baseline="10335" dirty="0">
                <a:latin typeface="Times New Roman"/>
                <a:cs typeface="Times New Roman"/>
              </a:rPr>
              <a:t>s</a:t>
            </a:r>
            <a:r>
              <a:rPr sz="3225" i="1" spc="240" baseline="1033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Symbol"/>
                <a:cs typeface="Symbol"/>
              </a:rPr>
              <a:t></a:t>
            </a:r>
            <a:r>
              <a:rPr sz="3225" spc="367" baseline="10335" dirty="0">
                <a:latin typeface="Times New Roman"/>
                <a:cs typeface="Times New Roman"/>
              </a:rPr>
              <a:t> </a:t>
            </a:r>
            <a:r>
              <a:rPr sz="2600" i="1" spc="-5" dirty="0">
                <a:latin typeface="Times New Roman"/>
                <a:cs typeface="Times New Roman"/>
              </a:rPr>
              <a:t>x</a:t>
            </a:r>
            <a:r>
              <a:rPr sz="2250" spc="-7" baseline="-5555" dirty="0">
                <a:latin typeface="Times New Roman"/>
                <a:cs typeface="Times New Roman"/>
              </a:rPr>
              <a:t>1</a:t>
            </a:r>
            <a:r>
              <a:rPr sz="2250" spc="-112" baseline="-5555" dirty="0">
                <a:latin typeface="Times New Roman"/>
                <a:cs typeface="Times New Roman"/>
              </a:rPr>
              <a:t> </a:t>
            </a: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250" spc="-44" baseline="-5555" dirty="0">
                <a:latin typeface="Times New Roman"/>
                <a:cs typeface="Times New Roman"/>
              </a:rPr>
              <a:t>1</a:t>
            </a:r>
            <a:r>
              <a:rPr sz="2250" spc="-60" baseline="-555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Symbol"/>
                <a:cs typeface="Symbol"/>
              </a:rPr>
              <a:t></a:t>
            </a:r>
            <a:r>
              <a:rPr sz="3225" spc="187" baseline="10335" dirty="0">
                <a:latin typeface="Times New Roman"/>
                <a:cs typeface="Times New Roman"/>
              </a:rPr>
              <a:t> </a:t>
            </a:r>
            <a:r>
              <a:rPr sz="2600" i="1" spc="85" dirty="0">
                <a:latin typeface="Times New Roman"/>
                <a:cs typeface="Times New Roman"/>
              </a:rPr>
              <a:t>x</a:t>
            </a:r>
            <a:r>
              <a:rPr sz="2250" spc="127" baseline="-5555" dirty="0">
                <a:latin typeface="Times New Roman"/>
                <a:cs typeface="Times New Roman"/>
              </a:rPr>
              <a:t>2</a:t>
            </a:r>
            <a:r>
              <a:rPr sz="2250" spc="60" baseline="-5555" dirty="0">
                <a:latin typeface="Times New Roman"/>
                <a:cs typeface="Times New Roman"/>
              </a:rPr>
              <a:t> </a:t>
            </a:r>
            <a:r>
              <a:rPr sz="2600" i="1" spc="60" dirty="0">
                <a:latin typeface="Times New Roman"/>
                <a:cs typeface="Times New Roman"/>
              </a:rPr>
              <a:t>w</a:t>
            </a:r>
            <a:r>
              <a:rPr sz="2250" spc="89" baseline="-5555" dirty="0">
                <a:latin typeface="Times New Roman"/>
                <a:cs typeface="Times New Roman"/>
              </a:rPr>
              <a:t>2</a:t>
            </a:r>
            <a:r>
              <a:rPr sz="2250" spc="157" baseline="-5555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Symbol"/>
                <a:cs typeface="Symbol"/>
              </a:rPr>
              <a:t></a:t>
            </a:r>
            <a:r>
              <a:rPr sz="3225" spc="-135" baseline="1033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b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54668" y="3323844"/>
            <a:ext cx="777240" cy="17678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093072" y="3097149"/>
            <a:ext cx="7448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i="1" dirty="0">
                <a:latin typeface="Times New Roman"/>
                <a:cs typeface="Times New Roman"/>
              </a:rPr>
              <a:t>w</a:t>
            </a:r>
            <a:r>
              <a:rPr sz="2600" i="1" spc="240" dirty="0">
                <a:latin typeface="Times New Roman"/>
                <a:cs typeface="Times New Roman"/>
              </a:rPr>
              <a:t> </a:t>
            </a:r>
            <a:r>
              <a:rPr sz="3225" spc="-7" baseline="10335" dirty="0">
                <a:latin typeface="Times New Roman"/>
                <a:cs typeface="Times New Roman"/>
              </a:rPr>
              <a:t>,</a:t>
            </a:r>
            <a:r>
              <a:rPr sz="3225" spc="-262" baseline="1033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31832" y="3255645"/>
            <a:ext cx="5918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z="1500" dirty="0">
                <a:latin typeface="Times New Roman"/>
                <a:cs typeface="Times New Roman"/>
              </a:rPr>
              <a:t>1	2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45435" y="3710940"/>
            <a:ext cx="7399020" cy="804545"/>
            <a:chOff x="2345435" y="3710940"/>
            <a:chExt cx="7399020" cy="804545"/>
          </a:xfrm>
        </p:grpSpPr>
        <p:sp>
          <p:nvSpPr>
            <p:cNvPr id="21" name="object 21"/>
            <p:cNvSpPr/>
            <p:nvPr/>
          </p:nvSpPr>
          <p:spPr>
            <a:xfrm>
              <a:off x="3386327" y="3788664"/>
              <a:ext cx="1097280" cy="720725"/>
            </a:xfrm>
            <a:custGeom>
              <a:avLst/>
              <a:gdLst/>
              <a:ahLst/>
              <a:cxnLst/>
              <a:rect l="l" t="t" r="r" b="b"/>
              <a:pathLst>
                <a:path w="1097279" h="720725">
                  <a:moveTo>
                    <a:pt x="946531" y="0"/>
                  </a:moveTo>
                  <a:lnTo>
                    <a:pt x="736092" y="180086"/>
                  </a:lnTo>
                  <a:lnTo>
                    <a:pt x="826262" y="180086"/>
                  </a:lnTo>
                  <a:lnTo>
                    <a:pt x="811149" y="219583"/>
                  </a:lnTo>
                  <a:lnTo>
                    <a:pt x="793496" y="258063"/>
                  </a:lnTo>
                  <a:lnTo>
                    <a:pt x="773049" y="295402"/>
                  </a:lnTo>
                  <a:lnTo>
                    <a:pt x="750062" y="331724"/>
                  </a:lnTo>
                  <a:lnTo>
                    <a:pt x="724535" y="366649"/>
                  </a:lnTo>
                  <a:lnTo>
                    <a:pt x="696595" y="400431"/>
                  </a:lnTo>
                  <a:lnTo>
                    <a:pt x="666369" y="432816"/>
                  </a:lnTo>
                  <a:lnTo>
                    <a:pt x="633984" y="463804"/>
                  </a:lnTo>
                  <a:lnTo>
                    <a:pt x="599439" y="493394"/>
                  </a:lnTo>
                  <a:lnTo>
                    <a:pt x="562863" y="521335"/>
                  </a:lnTo>
                  <a:lnTo>
                    <a:pt x="524383" y="547751"/>
                  </a:lnTo>
                  <a:lnTo>
                    <a:pt x="484124" y="572643"/>
                  </a:lnTo>
                  <a:lnTo>
                    <a:pt x="442087" y="595630"/>
                  </a:lnTo>
                  <a:lnTo>
                    <a:pt x="398272" y="616966"/>
                  </a:lnTo>
                  <a:lnTo>
                    <a:pt x="353060" y="636524"/>
                  </a:lnTo>
                  <a:lnTo>
                    <a:pt x="306197" y="654177"/>
                  </a:lnTo>
                  <a:lnTo>
                    <a:pt x="258063" y="669798"/>
                  </a:lnTo>
                  <a:lnTo>
                    <a:pt x="208661" y="683513"/>
                  </a:lnTo>
                  <a:lnTo>
                    <a:pt x="158114" y="695198"/>
                  </a:lnTo>
                  <a:lnTo>
                    <a:pt x="106299" y="704596"/>
                  </a:lnTo>
                  <a:lnTo>
                    <a:pt x="53594" y="711962"/>
                  </a:lnTo>
                  <a:lnTo>
                    <a:pt x="0" y="717042"/>
                  </a:lnTo>
                  <a:lnTo>
                    <a:pt x="53339" y="719836"/>
                  </a:lnTo>
                  <a:lnTo>
                    <a:pt x="106172" y="720217"/>
                  </a:lnTo>
                  <a:lnTo>
                    <a:pt x="158496" y="718566"/>
                  </a:lnTo>
                  <a:lnTo>
                    <a:pt x="210312" y="714629"/>
                  </a:lnTo>
                  <a:lnTo>
                    <a:pt x="261366" y="708533"/>
                  </a:lnTo>
                  <a:lnTo>
                    <a:pt x="311658" y="700405"/>
                  </a:lnTo>
                  <a:lnTo>
                    <a:pt x="361061" y="690372"/>
                  </a:lnTo>
                  <a:lnTo>
                    <a:pt x="409448" y="678180"/>
                  </a:lnTo>
                  <a:lnTo>
                    <a:pt x="456692" y="664210"/>
                  </a:lnTo>
                  <a:lnTo>
                    <a:pt x="502920" y="648335"/>
                  </a:lnTo>
                  <a:lnTo>
                    <a:pt x="547877" y="630555"/>
                  </a:lnTo>
                  <a:lnTo>
                    <a:pt x="591312" y="611124"/>
                  </a:lnTo>
                  <a:lnTo>
                    <a:pt x="633476" y="589915"/>
                  </a:lnTo>
                  <a:lnTo>
                    <a:pt x="673988" y="566928"/>
                  </a:lnTo>
                  <a:lnTo>
                    <a:pt x="712977" y="542417"/>
                  </a:lnTo>
                  <a:lnTo>
                    <a:pt x="750188" y="516381"/>
                  </a:lnTo>
                  <a:lnTo>
                    <a:pt x="785495" y="488823"/>
                  </a:lnTo>
                  <a:lnTo>
                    <a:pt x="819023" y="459740"/>
                  </a:lnTo>
                  <a:lnTo>
                    <a:pt x="850519" y="429260"/>
                  </a:lnTo>
                  <a:lnTo>
                    <a:pt x="879856" y="397383"/>
                  </a:lnTo>
                  <a:lnTo>
                    <a:pt x="907034" y="364109"/>
                  </a:lnTo>
                  <a:lnTo>
                    <a:pt x="931926" y="329692"/>
                  </a:lnTo>
                  <a:lnTo>
                    <a:pt x="954405" y="294005"/>
                  </a:lnTo>
                  <a:lnTo>
                    <a:pt x="974344" y="257175"/>
                  </a:lnTo>
                  <a:lnTo>
                    <a:pt x="991870" y="219202"/>
                  </a:lnTo>
                  <a:lnTo>
                    <a:pt x="1006601" y="180086"/>
                  </a:lnTo>
                  <a:lnTo>
                    <a:pt x="1096899" y="180086"/>
                  </a:lnTo>
                  <a:lnTo>
                    <a:pt x="946531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51531" y="3788664"/>
              <a:ext cx="1126490" cy="720725"/>
            </a:xfrm>
            <a:custGeom>
              <a:avLst/>
              <a:gdLst/>
              <a:ahLst/>
              <a:cxnLst/>
              <a:rect l="l" t="t" r="r" b="b"/>
              <a:pathLst>
                <a:path w="1126489" h="720725">
                  <a:moveTo>
                    <a:pt x="180212" y="0"/>
                  </a:moveTo>
                  <a:lnTo>
                    <a:pt x="0" y="0"/>
                  </a:lnTo>
                  <a:lnTo>
                    <a:pt x="1524" y="40893"/>
                  </a:lnTo>
                  <a:lnTo>
                    <a:pt x="5968" y="81153"/>
                  </a:lnTo>
                  <a:lnTo>
                    <a:pt x="13207" y="120777"/>
                  </a:lnTo>
                  <a:lnTo>
                    <a:pt x="23368" y="159638"/>
                  </a:lnTo>
                  <a:lnTo>
                    <a:pt x="36068" y="197738"/>
                  </a:lnTo>
                  <a:lnTo>
                    <a:pt x="51562" y="235077"/>
                  </a:lnTo>
                  <a:lnTo>
                    <a:pt x="69468" y="271399"/>
                  </a:lnTo>
                  <a:lnTo>
                    <a:pt x="89916" y="306831"/>
                  </a:lnTo>
                  <a:lnTo>
                    <a:pt x="112649" y="341249"/>
                  </a:lnTo>
                  <a:lnTo>
                    <a:pt x="137794" y="374523"/>
                  </a:lnTo>
                  <a:lnTo>
                    <a:pt x="165100" y="406781"/>
                  </a:lnTo>
                  <a:lnTo>
                    <a:pt x="194563" y="437642"/>
                  </a:lnTo>
                  <a:lnTo>
                    <a:pt x="226060" y="467360"/>
                  </a:lnTo>
                  <a:lnTo>
                    <a:pt x="259587" y="495681"/>
                  </a:lnTo>
                  <a:lnTo>
                    <a:pt x="294894" y="522731"/>
                  </a:lnTo>
                  <a:lnTo>
                    <a:pt x="332105" y="548132"/>
                  </a:lnTo>
                  <a:lnTo>
                    <a:pt x="371094" y="572262"/>
                  </a:lnTo>
                  <a:lnTo>
                    <a:pt x="411734" y="594613"/>
                  </a:lnTo>
                  <a:lnTo>
                    <a:pt x="454025" y="615442"/>
                  </a:lnTo>
                  <a:lnTo>
                    <a:pt x="497713" y="634492"/>
                  </a:lnTo>
                  <a:lnTo>
                    <a:pt x="542798" y="651891"/>
                  </a:lnTo>
                  <a:lnTo>
                    <a:pt x="589407" y="667512"/>
                  </a:lnTo>
                  <a:lnTo>
                    <a:pt x="637159" y="681101"/>
                  </a:lnTo>
                  <a:lnTo>
                    <a:pt x="686054" y="692912"/>
                  </a:lnTo>
                  <a:lnTo>
                    <a:pt x="736092" y="702563"/>
                  </a:lnTo>
                  <a:lnTo>
                    <a:pt x="787145" y="710311"/>
                  </a:lnTo>
                  <a:lnTo>
                    <a:pt x="839216" y="715772"/>
                  </a:lnTo>
                  <a:lnTo>
                    <a:pt x="892048" y="719201"/>
                  </a:lnTo>
                  <a:lnTo>
                    <a:pt x="945769" y="720344"/>
                  </a:lnTo>
                  <a:lnTo>
                    <a:pt x="1125982" y="720344"/>
                  </a:lnTo>
                  <a:lnTo>
                    <a:pt x="1072260" y="719201"/>
                  </a:lnTo>
                  <a:lnTo>
                    <a:pt x="1019429" y="715772"/>
                  </a:lnTo>
                  <a:lnTo>
                    <a:pt x="967485" y="710311"/>
                  </a:lnTo>
                  <a:lnTo>
                    <a:pt x="916305" y="702563"/>
                  </a:lnTo>
                  <a:lnTo>
                    <a:pt x="866267" y="692912"/>
                  </a:lnTo>
                  <a:lnTo>
                    <a:pt x="817372" y="681101"/>
                  </a:lnTo>
                  <a:lnTo>
                    <a:pt x="769619" y="667512"/>
                  </a:lnTo>
                  <a:lnTo>
                    <a:pt x="723138" y="651891"/>
                  </a:lnTo>
                  <a:lnTo>
                    <a:pt x="677926" y="634492"/>
                  </a:lnTo>
                  <a:lnTo>
                    <a:pt x="634238" y="615442"/>
                  </a:lnTo>
                  <a:lnTo>
                    <a:pt x="592074" y="594613"/>
                  </a:lnTo>
                  <a:lnTo>
                    <a:pt x="551434" y="572262"/>
                  </a:lnTo>
                  <a:lnTo>
                    <a:pt x="512444" y="548132"/>
                  </a:lnTo>
                  <a:lnTo>
                    <a:pt x="475234" y="522731"/>
                  </a:lnTo>
                  <a:lnTo>
                    <a:pt x="439800" y="495681"/>
                  </a:lnTo>
                  <a:lnTo>
                    <a:pt x="406273" y="467360"/>
                  </a:lnTo>
                  <a:lnTo>
                    <a:pt x="374776" y="437642"/>
                  </a:lnTo>
                  <a:lnTo>
                    <a:pt x="345313" y="406781"/>
                  </a:lnTo>
                  <a:lnTo>
                    <a:pt x="318007" y="374523"/>
                  </a:lnTo>
                  <a:lnTo>
                    <a:pt x="292862" y="341249"/>
                  </a:lnTo>
                  <a:lnTo>
                    <a:pt x="270129" y="306831"/>
                  </a:lnTo>
                  <a:lnTo>
                    <a:pt x="249681" y="271399"/>
                  </a:lnTo>
                  <a:lnTo>
                    <a:pt x="231775" y="235077"/>
                  </a:lnTo>
                  <a:lnTo>
                    <a:pt x="216407" y="197738"/>
                  </a:lnTo>
                  <a:lnTo>
                    <a:pt x="203581" y="159638"/>
                  </a:lnTo>
                  <a:lnTo>
                    <a:pt x="193548" y="120777"/>
                  </a:lnTo>
                  <a:lnTo>
                    <a:pt x="186181" y="81153"/>
                  </a:lnTo>
                  <a:lnTo>
                    <a:pt x="181737" y="40893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51531" y="3788664"/>
              <a:ext cx="2131060" cy="720725"/>
            </a:xfrm>
            <a:custGeom>
              <a:avLst/>
              <a:gdLst/>
              <a:ahLst/>
              <a:cxnLst/>
              <a:rect l="l" t="t" r="r" b="b"/>
              <a:pathLst>
                <a:path w="2131060" h="720725">
                  <a:moveTo>
                    <a:pt x="1035177" y="717042"/>
                  </a:moveTo>
                  <a:lnTo>
                    <a:pt x="1088770" y="711962"/>
                  </a:lnTo>
                  <a:lnTo>
                    <a:pt x="1141348" y="704596"/>
                  </a:lnTo>
                  <a:lnTo>
                    <a:pt x="1193038" y="695198"/>
                  </a:lnTo>
                  <a:lnTo>
                    <a:pt x="1243583" y="683513"/>
                  </a:lnTo>
                  <a:lnTo>
                    <a:pt x="1292987" y="669798"/>
                  </a:lnTo>
                  <a:lnTo>
                    <a:pt x="1340993" y="654177"/>
                  </a:lnTo>
                  <a:lnTo>
                    <a:pt x="1387729" y="636524"/>
                  </a:lnTo>
                  <a:lnTo>
                    <a:pt x="1432941" y="616966"/>
                  </a:lnTo>
                  <a:lnTo>
                    <a:pt x="1476629" y="595630"/>
                  </a:lnTo>
                  <a:lnTo>
                    <a:pt x="1518666" y="572643"/>
                  </a:lnTo>
                  <a:lnTo>
                    <a:pt x="1558925" y="547751"/>
                  </a:lnTo>
                  <a:lnTo>
                    <a:pt x="1597279" y="521335"/>
                  </a:lnTo>
                  <a:lnTo>
                    <a:pt x="1633855" y="493394"/>
                  </a:lnTo>
                  <a:lnTo>
                    <a:pt x="1668271" y="463804"/>
                  </a:lnTo>
                  <a:lnTo>
                    <a:pt x="1700657" y="432816"/>
                  </a:lnTo>
                  <a:lnTo>
                    <a:pt x="1730883" y="400431"/>
                  </a:lnTo>
                  <a:lnTo>
                    <a:pt x="1758695" y="366649"/>
                  </a:lnTo>
                  <a:lnTo>
                    <a:pt x="1784095" y="331724"/>
                  </a:lnTo>
                  <a:lnTo>
                    <a:pt x="1807083" y="295402"/>
                  </a:lnTo>
                  <a:lnTo>
                    <a:pt x="1827530" y="258063"/>
                  </a:lnTo>
                  <a:lnTo>
                    <a:pt x="1845309" y="219583"/>
                  </a:lnTo>
                  <a:lnTo>
                    <a:pt x="1860295" y="180086"/>
                  </a:lnTo>
                  <a:lnTo>
                    <a:pt x="1770253" y="180086"/>
                  </a:lnTo>
                  <a:lnTo>
                    <a:pt x="1980310" y="0"/>
                  </a:lnTo>
                  <a:lnTo>
                    <a:pt x="2130552" y="180086"/>
                  </a:lnTo>
                  <a:lnTo>
                    <a:pt x="2040382" y="180086"/>
                  </a:lnTo>
                  <a:lnTo>
                    <a:pt x="2025522" y="219329"/>
                  </a:lnTo>
                  <a:lnTo>
                    <a:pt x="2007996" y="257556"/>
                  </a:lnTo>
                  <a:lnTo>
                    <a:pt x="1987804" y="294640"/>
                  </a:lnTo>
                  <a:lnTo>
                    <a:pt x="1965197" y="330581"/>
                  </a:lnTo>
                  <a:lnTo>
                    <a:pt x="1940052" y="365252"/>
                  </a:lnTo>
                  <a:lnTo>
                    <a:pt x="1912620" y="398653"/>
                  </a:lnTo>
                  <a:lnTo>
                    <a:pt x="1882902" y="430784"/>
                  </a:lnTo>
                  <a:lnTo>
                    <a:pt x="1851025" y="461518"/>
                  </a:lnTo>
                  <a:lnTo>
                    <a:pt x="1817116" y="490728"/>
                  </a:lnTo>
                  <a:lnTo>
                    <a:pt x="1781302" y="518541"/>
                  </a:lnTo>
                  <a:lnTo>
                    <a:pt x="1743583" y="544830"/>
                  </a:lnTo>
                  <a:lnTo>
                    <a:pt x="1704085" y="569468"/>
                  </a:lnTo>
                  <a:lnTo>
                    <a:pt x="1662938" y="592455"/>
                  </a:lnTo>
                  <a:lnTo>
                    <a:pt x="1620139" y="613791"/>
                  </a:lnTo>
                  <a:lnTo>
                    <a:pt x="1575816" y="633222"/>
                  </a:lnTo>
                  <a:lnTo>
                    <a:pt x="1530222" y="651002"/>
                  </a:lnTo>
                  <a:lnTo>
                    <a:pt x="1483233" y="666750"/>
                  </a:lnTo>
                  <a:lnTo>
                    <a:pt x="1434972" y="680593"/>
                  </a:lnTo>
                  <a:lnTo>
                    <a:pt x="1385696" y="692531"/>
                  </a:lnTo>
                  <a:lnTo>
                    <a:pt x="1335278" y="702437"/>
                  </a:lnTo>
                  <a:lnTo>
                    <a:pt x="1283970" y="710184"/>
                  </a:lnTo>
                  <a:lnTo>
                    <a:pt x="1231772" y="715772"/>
                  </a:lnTo>
                  <a:lnTo>
                    <a:pt x="1178941" y="719201"/>
                  </a:lnTo>
                  <a:lnTo>
                    <a:pt x="1125346" y="720344"/>
                  </a:lnTo>
                  <a:lnTo>
                    <a:pt x="945133" y="720344"/>
                  </a:lnTo>
                  <a:lnTo>
                    <a:pt x="891540" y="719201"/>
                  </a:lnTo>
                  <a:lnTo>
                    <a:pt x="838707" y="715772"/>
                  </a:lnTo>
                  <a:lnTo>
                    <a:pt x="786638" y="710311"/>
                  </a:lnTo>
                  <a:lnTo>
                    <a:pt x="735711" y="702563"/>
                  </a:lnTo>
                  <a:lnTo>
                    <a:pt x="685673" y="692912"/>
                  </a:lnTo>
                  <a:lnTo>
                    <a:pt x="636778" y="681101"/>
                  </a:lnTo>
                  <a:lnTo>
                    <a:pt x="589026" y="667512"/>
                  </a:lnTo>
                  <a:lnTo>
                    <a:pt x="542544" y="651891"/>
                  </a:lnTo>
                  <a:lnTo>
                    <a:pt x="497459" y="634492"/>
                  </a:lnTo>
                  <a:lnTo>
                    <a:pt x="453770" y="615442"/>
                  </a:lnTo>
                  <a:lnTo>
                    <a:pt x="411480" y="594613"/>
                  </a:lnTo>
                  <a:lnTo>
                    <a:pt x="370967" y="572262"/>
                  </a:lnTo>
                  <a:lnTo>
                    <a:pt x="331978" y="548132"/>
                  </a:lnTo>
                  <a:lnTo>
                    <a:pt x="294767" y="522731"/>
                  </a:lnTo>
                  <a:lnTo>
                    <a:pt x="259334" y="495681"/>
                  </a:lnTo>
                  <a:lnTo>
                    <a:pt x="225932" y="467360"/>
                  </a:lnTo>
                  <a:lnTo>
                    <a:pt x="194437" y="437642"/>
                  </a:lnTo>
                  <a:lnTo>
                    <a:pt x="164973" y="406781"/>
                  </a:lnTo>
                  <a:lnTo>
                    <a:pt x="137668" y="374523"/>
                  </a:lnTo>
                  <a:lnTo>
                    <a:pt x="112522" y="341249"/>
                  </a:lnTo>
                  <a:lnTo>
                    <a:pt x="89788" y="306831"/>
                  </a:lnTo>
                  <a:lnTo>
                    <a:pt x="69468" y="271399"/>
                  </a:lnTo>
                  <a:lnTo>
                    <a:pt x="51435" y="235077"/>
                  </a:lnTo>
                  <a:lnTo>
                    <a:pt x="36068" y="197738"/>
                  </a:lnTo>
                  <a:lnTo>
                    <a:pt x="23241" y="159638"/>
                  </a:lnTo>
                  <a:lnTo>
                    <a:pt x="13207" y="120777"/>
                  </a:lnTo>
                  <a:lnTo>
                    <a:pt x="5968" y="81153"/>
                  </a:lnTo>
                  <a:lnTo>
                    <a:pt x="1524" y="40893"/>
                  </a:lnTo>
                  <a:lnTo>
                    <a:pt x="0" y="0"/>
                  </a:lnTo>
                  <a:lnTo>
                    <a:pt x="180212" y="0"/>
                  </a:lnTo>
                  <a:lnTo>
                    <a:pt x="181610" y="40893"/>
                  </a:lnTo>
                  <a:lnTo>
                    <a:pt x="186055" y="81153"/>
                  </a:lnTo>
                  <a:lnTo>
                    <a:pt x="193420" y="120777"/>
                  </a:lnTo>
                  <a:lnTo>
                    <a:pt x="203454" y="159638"/>
                  </a:lnTo>
                  <a:lnTo>
                    <a:pt x="216281" y="197738"/>
                  </a:lnTo>
                  <a:lnTo>
                    <a:pt x="231648" y="235077"/>
                  </a:lnTo>
                  <a:lnTo>
                    <a:pt x="249555" y="271399"/>
                  </a:lnTo>
                  <a:lnTo>
                    <a:pt x="270001" y="306831"/>
                  </a:lnTo>
                  <a:lnTo>
                    <a:pt x="292735" y="341249"/>
                  </a:lnTo>
                  <a:lnTo>
                    <a:pt x="317881" y="374523"/>
                  </a:lnTo>
                  <a:lnTo>
                    <a:pt x="345186" y="406781"/>
                  </a:lnTo>
                  <a:lnTo>
                    <a:pt x="374523" y="437642"/>
                  </a:lnTo>
                  <a:lnTo>
                    <a:pt x="406019" y="467360"/>
                  </a:lnTo>
                  <a:lnTo>
                    <a:pt x="439547" y="495681"/>
                  </a:lnTo>
                  <a:lnTo>
                    <a:pt x="474980" y="522731"/>
                  </a:lnTo>
                  <a:lnTo>
                    <a:pt x="512191" y="548132"/>
                  </a:lnTo>
                  <a:lnTo>
                    <a:pt x="551053" y="572262"/>
                  </a:lnTo>
                  <a:lnTo>
                    <a:pt x="591693" y="594613"/>
                  </a:lnTo>
                  <a:lnTo>
                    <a:pt x="633857" y="615442"/>
                  </a:lnTo>
                  <a:lnTo>
                    <a:pt x="677544" y="634492"/>
                  </a:lnTo>
                  <a:lnTo>
                    <a:pt x="722757" y="651891"/>
                  </a:lnTo>
                  <a:lnTo>
                    <a:pt x="769238" y="667512"/>
                  </a:lnTo>
                  <a:lnTo>
                    <a:pt x="816863" y="681101"/>
                  </a:lnTo>
                  <a:lnTo>
                    <a:pt x="865759" y="692912"/>
                  </a:lnTo>
                  <a:lnTo>
                    <a:pt x="915796" y="702563"/>
                  </a:lnTo>
                  <a:lnTo>
                    <a:pt x="966851" y="710311"/>
                  </a:lnTo>
                  <a:lnTo>
                    <a:pt x="1018794" y="715772"/>
                  </a:lnTo>
                  <a:lnTo>
                    <a:pt x="1071753" y="719201"/>
                  </a:lnTo>
                  <a:lnTo>
                    <a:pt x="1125346" y="720344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95059" y="3717036"/>
              <a:ext cx="1094740" cy="719455"/>
            </a:xfrm>
            <a:custGeom>
              <a:avLst/>
              <a:gdLst/>
              <a:ahLst/>
              <a:cxnLst/>
              <a:rect l="l" t="t" r="r" b="b"/>
              <a:pathLst>
                <a:path w="1094740" h="719454">
                  <a:moveTo>
                    <a:pt x="944498" y="0"/>
                  </a:moveTo>
                  <a:lnTo>
                    <a:pt x="734694" y="179831"/>
                  </a:lnTo>
                  <a:lnTo>
                    <a:pt x="824611" y="179831"/>
                  </a:lnTo>
                  <a:lnTo>
                    <a:pt x="809624" y="219201"/>
                  </a:lnTo>
                  <a:lnTo>
                    <a:pt x="791971" y="257682"/>
                  </a:lnTo>
                  <a:lnTo>
                    <a:pt x="771524" y="295020"/>
                  </a:lnTo>
                  <a:lnTo>
                    <a:pt x="748538" y="331215"/>
                  </a:lnTo>
                  <a:lnTo>
                    <a:pt x="723138" y="366140"/>
                  </a:lnTo>
                  <a:lnTo>
                    <a:pt x="695197" y="399795"/>
                  </a:lnTo>
                  <a:lnTo>
                    <a:pt x="665098" y="432181"/>
                  </a:lnTo>
                  <a:lnTo>
                    <a:pt x="632713" y="463041"/>
                  </a:lnTo>
                  <a:lnTo>
                    <a:pt x="598296" y="492632"/>
                  </a:lnTo>
                  <a:lnTo>
                    <a:pt x="561720" y="520572"/>
                  </a:lnTo>
                  <a:lnTo>
                    <a:pt x="523366" y="546988"/>
                  </a:lnTo>
                  <a:lnTo>
                    <a:pt x="483108" y="571626"/>
                  </a:lnTo>
                  <a:lnTo>
                    <a:pt x="441070" y="594740"/>
                  </a:lnTo>
                  <a:lnTo>
                    <a:pt x="397510" y="616076"/>
                  </a:lnTo>
                  <a:lnTo>
                    <a:pt x="352297" y="635507"/>
                  </a:lnTo>
                  <a:lnTo>
                    <a:pt x="305562" y="653161"/>
                  </a:lnTo>
                  <a:lnTo>
                    <a:pt x="257555" y="668782"/>
                  </a:lnTo>
                  <a:lnTo>
                    <a:pt x="208279" y="682370"/>
                  </a:lnTo>
                  <a:lnTo>
                    <a:pt x="157734" y="694055"/>
                  </a:lnTo>
                  <a:lnTo>
                    <a:pt x="106172" y="703580"/>
                  </a:lnTo>
                  <a:lnTo>
                    <a:pt x="53466" y="710819"/>
                  </a:lnTo>
                  <a:lnTo>
                    <a:pt x="0" y="715899"/>
                  </a:lnTo>
                  <a:lnTo>
                    <a:pt x="53212" y="718693"/>
                  </a:lnTo>
                  <a:lnTo>
                    <a:pt x="105917" y="719074"/>
                  </a:lnTo>
                  <a:lnTo>
                    <a:pt x="158114" y="717295"/>
                  </a:lnTo>
                  <a:lnTo>
                    <a:pt x="209803" y="713486"/>
                  </a:lnTo>
                  <a:lnTo>
                    <a:pt x="260730" y="707389"/>
                  </a:lnTo>
                  <a:lnTo>
                    <a:pt x="310895" y="699262"/>
                  </a:lnTo>
                  <a:lnTo>
                    <a:pt x="360171" y="689228"/>
                  </a:lnTo>
                  <a:lnTo>
                    <a:pt x="408432" y="677037"/>
                  </a:lnTo>
                  <a:lnTo>
                    <a:pt x="455675" y="663066"/>
                  </a:lnTo>
                  <a:lnTo>
                    <a:pt x="501776" y="647191"/>
                  </a:lnTo>
                  <a:lnTo>
                    <a:pt x="546481" y="629538"/>
                  </a:lnTo>
                  <a:lnTo>
                    <a:pt x="590041" y="610107"/>
                  </a:lnTo>
                  <a:lnTo>
                    <a:pt x="631951" y="588899"/>
                  </a:lnTo>
                  <a:lnTo>
                    <a:pt x="672464" y="566038"/>
                  </a:lnTo>
                  <a:lnTo>
                    <a:pt x="711326" y="541527"/>
                  </a:lnTo>
                  <a:lnTo>
                    <a:pt x="748411" y="515493"/>
                  </a:lnTo>
                  <a:lnTo>
                    <a:pt x="783716" y="487933"/>
                  </a:lnTo>
                  <a:lnTo>
                    <a:pt x="817117" y="458977"/>
                  </a:lnTo>
                  <a:lnTo>
                    <a:pt x="848487" y="428497"/>
                  </a:lnTo>
                  <a:lnTo>
                    <a:pt x="877823" y="396747"/>
                  </a:lnTo>
                  <a:lnTo>
                    <a:pt x="904874" y="363600"/>
                  </a:lnTo>
                  <a:lnTo>
                    <a:pt x="929766" y="329183"/>
                  </a:lnTo>
                  <a:lnTo>
                    <a:pt x="952245" y="293496"/>
                  </a:lnTo>
                  <a:lnTo>
                    <a:pt x="972185" y="256666"/>
                  </a:lnTo>
                  <a:lnTo>
                    <a:pt x="989584" y="218820"/>
                  </a:lnTo>
                  <a:lnTo>
                    <a:pt x="1004315" y="179831"/>
                  </a:lnTo>
                  <a:lnTo>
                    <a:pt x="1094232" y="179831"/>
                  </a:lnTo>
                  <a:lnTo>
                    <a:pt x="94449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60263" y="3717036"/>
              <a:ext cx="1124585" cy="719455"/>
            </a:xfrm>
            <a:custGeom>
              <a:avLst/>
              <a:gdLst/>
              <a:ahLst/>
              <a:cxnLst/>
              <a:rect l="l" t="t" r="r" b="b"/>
              <a:pathLst>
                <a:path w="1124585" h="719454">
                  <a:moveTo>
                    <a:pt x="179705" y="0"/>
                  </a:moveTo>
                  <a:lnTo>
                    <a:pt x="0" y="0"/>
                  </a:lnTo>
                  <a:lnTo>
                    <a:pt x="1524" y="40766"/>
                  </a:lnTo>
                  <a:lnTo>
                    <a:pt x="5969" y="81025"/>
                  </a:lnTo>
                  <a:lnTo>
                    <a:pt x="13208" y="120522"/>
                  </a:lnTo>
                  <a:lnTo>
                    <a:pt x="23240" y="159384"/>
                  </a:lnTo>
                  <a:lnTo>
                    <a:pt x="36068" y="197484"/>
                  </a:lnTo>
                  <a:lnTo>
                    <a:pt x="51435" y="234695"/>
                  </a:lnTo>
                  <a:lnTo>
                    <a:pt x="69341" y="271018"/>
                  </a:lnTo>
                  <a:lnTo>
                    <a:pt x="89788" y="306324"/>
                  </a:lnTo>
                  <a:lnTo>
                    <a:pt x="112522" y="340740"/>
                  </a:lnTo>
                  <a:lnTo>
                    <a:pt x="137540" y="373888"/>
                  </a:lnTo>
                  <a:lnTo>
                    <a:pt x="164846" y="406019"/>
                  </a:lnTo>
                  <a:lnTo>
                    <a:pt x="194183" y="437006"/>
                  </a:lnTo>
                  <a:lnTo>
                    <a:pt x="225678" y="466597"/>
                  </a:lnTo>
                  <a:lnTo>
                    <a:pt x="259207" y="494919"/>
                  </a:lnTo>
                  <a:lnTo>
                    <a:pt x="294513" y="521843"/>
                  </a:lnTo>
                  <a:lnTo>
                    <a:pt x="331724" y="547369"/>
                  </a:lnTo>
                  <a:lnTo>
                    <a:pt x="370586" y="571245"/>
                  </a:lnTo>
                  <a:lnTo>
                    <a:pt x="411225" y="593725"/>
                  </a:lnTo>
                  <a:lnTo>
                    <a:pt x="453389" y="614426"/>
                  </a:lnTo>
                  <a:lnTo>
                    <a:pt x="497077" y="633476"/>
                  </a:lnTo>
                  <a:lnTo>
                    <a:pt x="542163" y="650875"/>
                  </a:lnTo>
                  <a:lnTo>
                    <a:pt x="588518" y="666369"/>
                  </a:lnTo>
                  <a:lnTo>
                    <a:pt x="636270" y="680084"/>
                  </a:lnTo>
                  <a:lnTo>
                    <a:pt x="685164" y="691769"/>
                  </a:lnTo>
                  <a:lnTo>
                    <a:pt x="735076" y="701420"/>
                  </a:lnTo>
                  <a:lnTo>
                    <a:pt x="786130" y="709168"/>
                  </a:lnTo>
                  <a:lnTo>
                    <a:pt x="838073" y="714628"/>
                  </a:lnTo>
                  <a:lnTo>
                    <a:pt x="890905" y="718057"/>
                  </a:lnTo>
                  <a:lnTo>
                    <a:pt x="944499" y="719201"/>
                  </a:lnTo>
                  <a:lnTo>
                    <a:pt x="1124203" y="719201"/>
                  </a:lnTo>
                  <a:lnTo>
                    <a:pt x="1070610" y="718057"/>
                  </a:lnTo>
                  <a:lnTo>
                    <a:pt x="1017777" y="714628"/>
                  </a:lnTo>
                  <a:lnTo>
                    <a:pt x="965835" y="709168"/>
                  </a:lnTo>
                  <a:lnTo>
                    <a:pt x="914908" y="701420"/>
                  </a:lnTo>
                  <a:lnTo>
                    <a:pt x="864870" y="691769"/>
                  </a:lnTo>
                  <a:lnTo>
                    <a:pt x="815975" y="680084"/>
                  </a:lnTo>
                  <a:lnTo>
                    <a:pt x="768350" y="666369"/>
                  </a:lnTo>
                  <a:lnTo>
                    <a:pt x="721868" y="650875"/>
                  </a:lnTo>
                  <a:lnTo>
                    <a:pt x="676783" y="633476"/>
                  </a:lnTo>
                  <a:lnTo>
                    <a:pt x="633095" y="614426"/>
                  </a:lnTo>
                  <a:lnTo>
                    <a:pt x="590931" y="593725"/>
                  </a:lnTo>
                  <a:lnTo>
                    <a:pt x="550418" y="571245"/>
                  </a:lnTo>
                  <a:lnTo>
                    <a:pt x="511428" y="547369"/>
                  </a:lnTo>
                  <a:lnTo>
                    <a:pt x="474345" y="521843"/>
                  </a:lnTo>
                  <a:lnTo>
                    <a:pt x="438912" y="494919"/>
                  </a:lnTo>
                  <a:lnTo>
                    <a:pt x="405511" y="466597"/>
                  </a:lnTo>
                  <a:lnTo>
                    <a:pt x="374014" y="437006"/>
                  </a:lnTo>
                  <a:lnTo>
                    <a:pt x="344550" y="406019"/>
                  </a:lnTo>
                  <a:lnTo>
                    <a:pt x="317246" y="373888"/>
                  </a:lnTo>
                  <a:lnTo>
                    <a:pt x="292226" y="340740"/>
                  </a:lnTo>
                  <a:lnTo>
                    <a:pt x="269494" y="306324"/>
                  </a:lnTo>
                  <a:lnTo>
                    <a:pt x="249047" y="271018"/>
                  </a:lnTo>
                  <a:lnTo>
                    <a:pt x="231139" y="234695"/>
                  </a:lnTo>
                  <a:lnTo>
                    <a:pt x="215773" y="197484"/>
                  </a:lnTo>
                  <a:lnTo>
                    <a:pt x="203073" y="159384"/>
                  </a:lnTo>
                  <a:lnTo>
                    <a:pt x="192912" y="120522"/>
                  </a:lnTo>
                  <a:lnTo>
                    <a:pt x="185674" y="81025"/>
                  </a:lnTo>
                  <a:lnTo>
                    <a:pt x="181228" y="40766"/>
                  </a:lnTo>
                  <a:lnTo>
                    <a:pt x="179705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60263" y="3717036"/>
              <a:ext cx="2129155" cy="719455"/>
            </a:xfrm>
            <a:custGeom>
              <a:avLst/>
              <a:gdLst/>
              <a:ahLst/>
              <a:cxnLst/>
              <a:rect l="l" t="t" r="r" b="b"/>
              <a:pathLst>
                <a:path w="2129154" h="719454">
                  <a:moveTo>
                    <a:pt x="1034414" y="715899"/>
                  </a:moveTo>
                  <a:lnTo>
                    <a:pt x="1088009" y="710819"/>
                  </a:lnTo>
                  <a:lnTo>
                    <a:pt x="1140587" y="703580"/>
                  </a:lnTo>
                  <a:lnTo>
                    <a:pt x="1192149" y="694055"/>
                  </a:lnTo>
                  <a:lnTo>
                    <a:pt x="1242695" y="682370"/>
                  </a:lnTo>
                  <a:lnTo>
                    <a:pt x="1292098" y="668782"/>
                  </a:lnTo>
                  <a:lnTo>
                    <a:pt x="1340103" y="653161"/>
                  </a:lnTo>
                  <a:lnTo>
                    <a:pt x="1386839" y="635507"/>
                  </a:lnTo>
                  <a:lnTo>
                    <a:pt x="1432052" y="616076"/>
                  </a:lnTo>
                  <a:lnTo>
                    <a:pt x="1475613" y="594740"/>
                  </a:lnTo>
                  <a:lnTo>
                    <a:pt x="1517650" y="571626"/>
                  </a:lnTo>
                  <a:lnTo>
                    <a:pt x="1557909" y="546988"/>
                  </a:lnTo>
                  <a:lnTo>
                    <a:pt x="1596263" y="520572"/>
                  </a:lnTo>
                  <a:lnTo>
                    <a:pt x="1632839" y="492632"/>
                  </a:lnTo>
                  <a:lnTo>
                    <a:pt x="1667256" y="463041"/>
                  </a:lnTo>
                  <a:lnTo>
                    <a:pt x="1699640" y="432181"/>
                  </a:lnTo>
                  <a:lnTo>
                    <a:pt x="1729739" y="399795"/>
                  </a:lnTo>
                  <a:lnTo>
                    <a:pt x="1757553" y="366140"/>
                  </a:lnTo>
                  <a:lnTo>
                    <a:pt x="1783080" y="331215"/>
                  </a:lnTo>
                  <a:lnTo>
                    <a:pt x="1806066" y="295020"/>
                  </a:lnTo>
                  <a:lnTo>
                    <a:pt x="1826387" y="257682"/>
                  </a:lnTo>
                  <a:lnTo>
                    <a:pt x="1844166" y="219201"/>
                  </a:lnTo>
                  <a:lnTo>
                    <a:pt x="1859153" y="179831"/>
                  </a:lnTo>
                  <a:lnTo>
                    <a:pt x="1769237" y="179831"/>
                  </a:lnTo>
                  <a:lnTo>
                    <a:pt x="1978914" y="0"/>
                  </a:lnTo>
                  <a:lnTo>
                    <a:pt x="2128774" y="179831"/>
                  </a:lnTo>
                  <a:lnTo>
                    <a:pt x="2038858" y="179831"/>
                  </a:lnTo>
                  <a:lnTo>
                    <a:pt x="2023999" y="218947"/>
                  </a:lnTo>
                  <a:lnTo>
                    <a:pt x="2006472" y="257175"/>
                  </a:lnTo>
                  <a:lnTo>
                    <a:pt x="1986407" y="294131"/>
                  </a:lnTo>
                  <a:lnTo>
                    <a:pt x="1963674" y="330072"/>
                  </a:lnTo>
                  <a:lnTo>
                    <a:pt x="1938528" y="364616"/>
                  </a:lnTo>
                  <a:lnTo>
                    <a:pt x="1911095" y="398018"/>
                  </a:lnTo>
                  <a:lnTo>
                    <a:pt x="1881505" y="430149"/>
                  </a:lnTo>
                  <a:lnTo>
                    <a:pt x="1849628" y="460756"/>
                  </a:lnTo>
                  <a:lnTo>
                    <a:pt x="1815718" y="489965"/>
                  </a:lnTo>
                  <a:lnTo>
                    <a:pt x="1779905" y="517778"/>
                  </a:lnTo>
                  <a:lnTo>
                    <a:pt x="1742186" y="543940"/>
                  </a:lnTo>
                  <a:lnTo>
                    <a:pt x="1702815" y="568578"/>
                  </a:lnTo>
                  <a:lnTo>
                    <a:pt x="1661540" y="591565"/>
                  </a:lnTo>
                  <a:lnTo>
                    <a:pt x="1618868" y="612775"/>
                  </a:lnTo>
                  <a:lnTo>
                    <a:pt x="1574545" y="632206"/>
                  </a:lnTo>
                  <a:lnTo>
                    <a:pt x="1528953" y="649986"/>
                  </a:lnTo>
                  <a:lnTo>
                    <a:pt x="1481963" y="665733"/>
                  </a:lnTo>
                  <a:lnTo>
                    <a:pt x="1433830" y="679576"/>
                  </a:lnTo>
                  <a:lnTo>
                    <a:pt x="1384427" y="691514"/>
                  </a:lnTo>
                  <a:lnTo>
                    <a:pt x="1334135" y="701294"/>
                  </a:lnTo>
                  <a:lnTo>
                    <a:pt x="1282827" y="709040"/>
                  </a:lnTo>
                  <a:lnTo>
                    <a:pt x="1230757" y="714628"/>
                  </a:lnTo>
                  <a:lnTo>
                    <a:pt x="1177798" y="718057"/>
                  </a:lnTo>
                  <a:lnTo>
                    <a:pt x="1124331" y="719201"/>
                  </a:lnTo>
                  <a:lnTo>
                    <a:pt x="944499" y="719201"/>
                  </a:lnTo>
                  <a:lnTo>
                    <a:pt x="890905" y="718057"/>
                  </a:lnTo>
                  <a:lnTo>
                    <a:pt x="838073" y="714628"/>
                  </a:lnTo>
                  <a:lnTo>
                    <a:pt x="786130" y="709168"/>
                  </a:lnTo>
                  <a:lnTo>
                    <a:pt x="735202" y="701420"/>
                  </a:lnTo>
                  <a:lnTo>
                    <a:pt x="685164" y="691769"/>
                  </a:lnTo>
                  <a:lnTo>
                    <a:pt x="636270" y="680084"/>
                  </a:lnTo>
                  <a:lnTo>
                    <a:pt x="588645" y="666369"/>
                  </a:lnTo>
                  <a:lnTo>
                    <a:pt x="542163" y="650875"/>
                  </a:lnTo>
                  <a:lnTo>
                    <a:pt x="497077" y="633476"/>
                  </a:lnTo>
                  <a:lnTo>
                    <a:pt x="453389" y="614426"/>
                  </a:lnTo>
                  <a:lnTo>
                    <a:pt x="411225" y="593725"/>
                  </a:lnTo>
                  <a:lnTo>
                    <a:pt x="370713" y="571245"/>
                  </a:lnTo>
                  <a:lnTo>
                    <a:pt x="331724" y="547369"/>
                  </a:lnTo>
                  <a:lnTo>
                    <a:pt x="294513" y="521843"/>
                  </a:lnTo>
                  <a:lnTo>
                    <a:pt x="259207" y="494919"/>
                  </a:lnTo>
                  <a:lnTo>
                    <a:pt x="225678" y="466597"/>
                  </a:lnTo>
                  <a:lnTo>
                    <a:pt x="194310" y="437006"/>
                  </a:lnTo>
                  <a:lnTo>
                    <a:pt x="164846" y="406019"/>
                  </a:lnTo>
                  <a:lnTo>
                    <a:pt x="137540" y="373888"/>
                  </a:lnTo>
                  <a:lnTo>
                    <a:pt x="112522" y="340740"/>
                  </a:lnTo>
                  <a:lnTo>
                    <a:pt x="89788" y="306324"/>
                  </a:lnTo>
                  <a:lnTo>
                    <a:pt x="69341" y="271018"/>
                  </a:lnTo>
                  <a:lnTo>
                    <a:pt x="51435" y="234695"/>
                  </a:lnTo>
                  <a:lnTo>
                    <a:pt x="36068" y="197484"/>
                  </a:lnTo>
                  <a:lnTo>
                    <a:pt x="23240" y="159384"/>
                  </a:lnTo>
                  <a:lnTo>
                    <a:pt x="13208" y="120522"/>
                  </a:lnTo>
                  <a:lnTo>
                    <a:pt x="5969" y="81025"/>
                  </a:lnTo>
                  <a:lnTo>
                    <a:pt x="1524" y="40766"/>
                  </a:lnTo>
                  <a:lnTo>
                    <a:pt x="0" y="0"/>
                  </a:lnTo>
                  <a:lnTo>
                    <a:pt x="179705" y="0"/>
                  </a:lnTo>
                  <a:lnTo>
                    <a:pt x="181228" y="40766"/>
                  </a:lnTo>
                  <a:lnTo>
                    <a:pt x="185674" y="81025"/>
                  </a:lnTo>
                  <a:lnTo>
                    <a:pt x="193039" y="120522"/>
                  </a:lnTo>
                  <a:lnTo>
                    <a:pt x="203073" y="159384"/>
                  </a:lnTo>
                  <a:lnTo>
                    <a:pt x="215773" y="197484"/>
                  </a:lnTo>
                  <a:lnTo>
                    <a:pt x="231139" y="234695"/>
                  </a:lnTo>
                  <a:lnTo>
                    <a:pt x="249174" y="271018"/>
                  </a:lnTo>
                  <a:lnTo>
                    <a:pt x="269494" y="306324"/>
                  </a:lnTo>
                  <a:lnTo>
                    <a:pt x="292226" y="340740"/>
                  </a:lnTo>
                  <a:lnTo>
                    <a:pt x="317373" y="373888"/>
                  </a:lnTo>
                  <a:lnTo>
                    <a:pt x="344550" y="406019"/>
                  </a:lnTo>
                  <a:lnTo>
                    <a:pt x="374014" y="437006"/>
                  </a:lnTo>
                  <a:lnTo>
                    <a:pt x="405511" y="466597"/>
                  </a:lnTo>
                  <a:lnTo>
                    <a:pt x="438912" y="494919"/>
                  </a:lnTo>
                  <a:lnTo>
                    <a:pt x="474345" y="521843"/>
                  </a:lnTo>
                  <a:lnTo>
                    <a:pt x="511556" y="547369"/>
                  </a:lnTo>
                  <a:lnTo>
                    <a:pt x="550418" y="571245"/>
                  </a:lnTo>
                  <a:lnTo>
                    <a:pt x="591058" y="593725"/>
                  </a:lnTo>
                  <a:lnTo>
                    <a:pt x="633222" y="614426"/>
                  </a:lnTo>
                  <a:lnTo>
                    <a:pt x="676910" y="633476"/>
                  </a:lnTo>
                  <a:lnTo>
                    <a:pt x="721995" y="650875"/>
                  </a:lnTo>
                  <a:lnTo>
                    <a:pt x="768350" y="666369"/>
                  </a:lnTo>
                  <a:lnTo>
                    <a:pt x="816101" y="680084"/>
                  </a:lnTo>
                  <a:lnTo>
                    <a:pt x="864997" y="691769"/>
                  </a:lnTo>
                  <a:lnTo>
                    <a:pt x="914908" y="701420"/>
                  </a:lnTo>
                  <a:lnTo>
                    <a:pt x="965962" y="709168"/>
                  </a:lnTo>
                  <a:lnTo>
                    <a:pt x="1017905" y="714628"/>
                  </a:lnTo>
                  <a:lnTo>
                    <a:pt x="1070737" y="718057"/>
                  </a:lnTo>
                  <a:lnTo>
                    <a:pt x="1124331" y="71920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42603" y="3717036"/>
              <a:ext cx="1097280" cy="719455"/>
            </a:xfrm>
            <a:custGeom>
              <a:avLst/>
              <a:gdLst/>
              <a:ahLst/>
              <a:cxnLst/>
              <a:rect l="l" t="t" r="r" b="b"/>
              <a:pathLst>
                <a:path w="1097279" h="719454">
                  <a:moveTo>
                    <a:pt x="946785" y="0"/>
                  </a:moveTo>
                  <a:lnTo>
                    <a:pt x="736726" y="179831"/>
                  </a:lnTo>
                  <a:lnTo>
                    <a:pt x="826770" y="179831"/>
                  </a:lnTo>
                  <a:lnTo>
                    <a:pt x="811656" y="219328"/>
                  </a:lnTo>
                  <a:lnTo>
                    <a:pt x="793876" y="257682"/>
                  </a:lnTo>
                  <a:lnTo>
                    <a:pt x="773429" y="295020"/>
                  </a:lnTo>
                  <a:lnTo>
                    <a:pt x="750443" y="331215"/>
                  </a:lnTo>
                  <a:lnTo>
                    <a:pt x="724916" y="366140"/>
                  </a:lnTo>
                  <a:lnTo>
                    <a:pt x="696976" y="399795"/>
                  </a:lnTo>
                  <a:lnTo>
                    <a:pt x="666750" y="432181"/>
                  </a:lnTo>
                  <a:lnTo>
                    <a:pt x="634365" y="463169"/>
                  </a:lnTo>
                  <a:lnTo>
                    <a:pt x="599821" y="492632"/>
                  </a:lnTo>
                  <a:lnTo>
                    <a:pt x="563245" y="520572"/>
                  </a:lnTo>
                  <a:lnTo>
                    <a:pt x="524637" y="546988"/>
                  </a:lnTo>
                  <a:lnTo>
                    <a:pt x="484377" y="571753"/>
                  </a:lnTo>
                  <a:lnTo>
                    <a:pt x="442214" y="594740"/>
                  </a:lnTo>
                  <a:lnTo>
                    <a:pt x="398525" y="616076"/>
                  </a:lnTo>
                  <a:lnTo>
                    <a:pt x="353187" y="635507"/>
                  </a:lnTo>
                  <a:lnTo>
                    <a:pt x="306324" y="653161"/>
                  </a:lnTo>
                  <a:lnTo>
                    <a:pt x="258191" y="668782"/>
                  </a:lnTo>
                  <a:lnTo>
                    <a:pt x="208788" y="682497"/>
                  </a:lnTo>
                  <a:lnTo>
                    <a:pt x="158115" y="694055"/>
                  </a:lnTo>
                  <a:lnTo>
                    <a:pt x="106425" y="703580"/>
                  </a:lnTo>
                  <a:lnTo>
                    <a:pt x="53594" y="710819"/>
                  </a:lnTo>
                  <a:lnTo>
                    <a:pt x="0" y="715899"/>
                  </a:lnTo>
                  <a:lnTo>
                    <a:pt x="53340" y="718693"/>
                  </a:lnTo>
                  <a:lnTo>
                    <a:pt x="106172" y="719074"/>
                  </a:lnTo>
                  <a:lnTo>
                    <a:pt x="158496" y="717295"/>
                  </a:lnTo>
                  <a:lnTo>
                    <a:pt x="210312" y="713486"/>
                  </a:lnTo>
                  <a:lnTo>
                    <a:pt x="261366" y="707389"/>
                  </a:lnTo>
                  <a:lnTo>
                    <a:pt x="311657" y="699262"/>
                  </a:lnTo>
                  <a:lnTo>
                    <a:pt x="361061" y="689228"/>
                  </a:lnTo>
                  <a:lnTo>
                    <a:pt x="409448" y="677037"/>
                  </a:lnTo>
                  <a:lnTo>
                    <a:pt x="456819" y="663066"/>
                  </a:lnTo>
                  <a:lnTo>
                    <a:pt x="502920" y="647191"/>
                  </a:lnTo>
                  <a:lnTo>
                    <a:pt x="547877" y="629538"/>
                  </a:lnTo>
                  <a:lnTo>
                    <a:pt x="591439" y="610107"/>
                  </a:lnTo>
                  <a:lnTo>
                    <a:pt x="633476" y="588899"/>
                  </a:lnTo>
                  <a:lnTo>
                    <a:pt x="674116" y="566038"/>
                  </a:lnTo>
                  <a:lnTo>
                    <a:pt x="712977" y="541527"/>
                  </a:lnTo>
                  <a:lnTo>
                    <a:pt x="750189" y="515493"/>
                  </a:lnTo>
                  <a:lnTo>
                    <a:pt x="785622" y="487933"/>
                  </a:lnTo>
                  <a:lnTo>
                    <a:pt x="819023" y="458977"/>
                  </a:lnTo>
                  <a:lnTo>
                    <a:pt x="850519" y="428497"/>
                  </a:lnTo>
                  <a:lnTo>
                    <a:pt x="879855" y="396747"/>
                  </a:lnTo>
                  <a:lnTo>
                    <a:pt x="907034" y="363600"/>
                  </a:lnTo>
                  <a:lnTo>
                    <a:pt x="931926" y="329183"/>
                  </a:lnTo>
                  <a:lnTo>
                    <a:pt x="954404" y="293496"/>
                  </a:lnTo>
                  <a:lnTo>
                    <a:pt x="974471" y="256666"/>
                  </a:lnTo>
                  <a:lnTo>
                    <a:pt x="991997" y="218820"/>
                  </a:lnTo>
                  <a:lnTo>
                    <a:pt x="1006728" y="179831"/>
                  </a:lnTo>
                  <a:lnTo>
                    <a:pt x="1096772" y="179831"/>
                  </a:lnTo>
                  <a:lnTo>
                    <a:pt x="94678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07807" y="3717036"/>
              <a:ext cx="1125855" cy="719455"/>
            </a:xfrm>
            <a:custGeom>
              <a:avLst/>
              <a:gdLst/>
              <a:ahLst/>
              <a:cxnLst/>
              <a:rect l="l" t="t" r="r" b="b"/>
              <a:pathLst>
                <a:path w="1125854" h="719454">
                  <a:moveTo>
                    <a:pt x="179832" y="0"/>
                  </a:moveTo>
                  <a:lnTo>
                    <a:pt x="0" y="0"/>
                  </a:lnTo>
                  <a:lnTo>
                    <a:pt x="1524" y="40766"/>
                  </a:lnTo>
                  <a:lnTo>
                    <a:pt x="5969" y="81025"/>
                  </a:lnTo>
                  <a:lnTo>
                    <a:pt x="13208" y="120522"/>
                  </a:lnTo>
                  <a:lnTo>
                    <a:pt x="23368" y="159384"/>
                  </a:lnTo>
                  <a:lnTo>
                    <a:pt x="36068" y="197484"/>
                  </a:lnTo>
                  <a:lnTo>
                    <a:pt x="51562" y="234695"/>
                  </a:lnTo>
                  <a:lnTo>
                    <a:pt x="69469" y="271018"/>
                  </a:lnTo>
                  <a:lnTo>
                    <a:pt x="89916" y="306324"/>
                  </a:lnTo>
                  <a:lnTo>
                    <a:pt x="112649" y="340740"/>
                  </a:lnTo>
                  <a:lnTo>
                    <a:pt x="137795" y="373888"/>
                  </a:lnTo>
                  <a:lnTo>
                    <a:pt x="165100" y="406019"/>
                  </a:lnTo>
                  <a:lnTo>
                    <a:pt x="194564" y="437006"/>
                  </a:lnTo>
                  <a:lnTo>
                    <a:pt x="226060" y="466597"/>
                  </a:lnTo>
                  <a:lnTo>
                    <a:pt x="259588" y="494919"/>
                  </a:lnTo>
                  <a:lnTo>
                    <a:pt x="295021" y="521843"/>
                  </a:lnTo>
                  <a:lnTo>
                    <a:pt x="332232" y="547369"/>
                  </a:lnTo>
                  <a:lnTo>
                    <a:pt x="371221" y="571245"/>
                  </a:lnTo>
                  <a:lnTo>
                    <a:pt x="411861" y="593725"/>
                  </a:lnTo>
                  <a:lnTo>
                    <a:pt x="454151" y="614426"/>
                  </a:lnTo>
                  <a:lnTo>
                    <a:pt x="497840" y="633476"/>
                  </a:lnTo>
                  <a:lnTo>
                    <a:pt x="543051" y="650875"/>
                  </a:lnTo>
                  <a:lnTo>
                    <a:pt x="589534" y="666369"/>
                  </a:lnTo>
                  <a:lnTo>
                    <a:pt x="637286" y="680084"/>
                  </a:lnTo>
                  <a:lnTo>
                    <a:pt x="686181" y="691769"/>
                  </a:lnTo>
                  <a:lnTo>
                    <a:pt x="736346" y="701420"/>
                  </a:lnTo>
                  <a:lnTo>
                    <a:pt x="787400" y="709168"/>
                  </a:lnTo>
                  <a:lnTo>
                    <a:pt x="839343" y="714628"/>
                  </a:lnTo>
                  <a:lnTo>
                    <a:pt x="892301" y="718057"/>
                  </a:lnTo>
                  <a:lnTo>
                    <a:pt x="946023" y="719201"/>
                  </a:lnTo>
                  <a:lnTo>
                    <a:pt x="1125855" y="719201"/>
                  </a:lnTo>
                  <a:lnTo>
                    <a:pt x="1072134" y="718057"/>
                  </a:lnTo>
                  <a:lnTo>
                    <a:pt x="1019301" y="714628"/>
                  </a:lnTo>
                  <a:lnTo>
                    <a:pt x="967232" y="709168"/>
                  </a:lnTo>
                  <a:lnTo>
                    <a:pt x="916177" y="701420"/>
                  </a:lnTo>
                  <a:lnTo>
                    <a:pt x="866140" y="691769"/>
                  </a:lnTo>
                  <a:lnTo>
                    <a:pt x="817118" y="680084"/>
                  </a:lnTo>
                  <a:lnTo>
                    <a:pt x="769366" y="666369"/>
                  </a:lnTo>
                  <a:lnTo>
                    <a:pt x="722884" y="650875"/>
                  </a:lnTo>
                  <a:lnTo>
                    <a:pt x="677799" y="633476"/>
                  </a:lnTo>
                  <a:lnTo>
                    <a:pt x="633984" y="614426"/>
                  </a:lnTo>
                  <a:lnTo>
                    <a:pt x="591820" y="593725"/>
                  </a:lnTo>
                  <a:lnTo>
                    <a:pt x="551180" y="571245"/>
                  </a:lnTo>
                  <a:lnTo>
                    <a:pt x="512191" y="547369"/>
                  </a:lnTo>
                  <a:lnTo>
                    <a:pt x="474852" y="521843"/>
                  </a:lnTo>
                  <a:lnTo>
                    <a:pt x="439547" y="494919"/>
                  </a:lnTo>
                  <a:lnTo>
                    <a:pt x="406019" y="466597"/>
                  </a:lnTo>
                  <a:lnTo>
                    <a:pt x="374396" y="437006"/>
                  </a:lnTo>
                  <a:lnTo>
                    <a:pt x="344932" y="406019"/>
                  </a:lnTo>
                  <a:lnTo>
                    <a:pt x="317626" y="373888"/>
                  </a:lnTo>
                  <a:lnTo>
                    <a:pt x="292608" y="340740"/>
                  </a:lnTo>
                  <a:lnTo>
                    <a:pt x="269748" y="306324"/>
                  </a:lnTo>
                  <a:lnTo>
                    <a:pt x="249300" y="271018"/>
                  </a:lnTo>
                  <a:lnTo>
                    <a:pt x="231394" y="234695"/>
                  </a:lnTo>
                  <a:lnTo>
                    <a:pt x="216026" y="197484"/>
                  </a:lnTo>
                  <a:lnTo>
                    <a:pt x="203200" y="159384"/>
                  </a:lnTo>
                  <a:lnTo>
                    <a:pt x="193167" y="120522"/>
                  </a:lnTo>
                  <a:lnTo>
                    <a:pt x="185800" y="81025"/>
                  </a:lnTo>
                  <a:lnTo>
                    <a:pt x="181356" y="40766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07807" y="3717036"/>
              <a:ext cx="2131060" cy="719455"/>
            </a:xfrm>
            <a:custGeom>
              <a:avLst/>
              <a:gdLst/>
              <a:ahLst/>
              <a:cxnLst/>
              <a:rect l="l" t="t" r="r" b="b"/>
              <a:pathLst>
                <a:path w="2131059" h="719454">
                  <a:moveTo>
                    <a:pt x="1035303" y="715899"/>
                  </a:moveTo>
                  <a:lnTo>
                    <a:pt x="1088898" y="710819"/>
                  </a:lnTo>
                  <a:lnTo>
                    <a:pt x="1141602" y="703580"/>
                  </a:lnTo>
                  <a:lnTo>
                    <a:pt x="1193165" y="694055"/>
                  </a:lnTo>
                  <a:lnTo>
                    <a:pt x="1243838" y="682497"/>
                  </a:lnTo>
                  <a:lnTo>
                    <a:pt x="1293114" y="668782"/>
                  </a:lnTo>
                  <a:lnTo>
                    <a:pt x="1341247" y="653161"/>
                  </a:lnTo>
                  <a:lnTo>
                    <a:pt x="1387983" y="635507"/>
                  </a:lnTo>
                  <a:lnTo>
                    <a:pt x="1433195" y="616076"/>
                  </a:lnTo>
                  <a:lnTo>
                    <a:pt x="1476883" y="594740"/>
                  </a:lnTo>
                  <a:lnTo>
                    <a:pt x="1518920" y="571753"/>
                  </a:lnTo>
                  <a:lnTo>
                    <a:pt x="1559306" y="546988"/>
                  </a:lnTo>
                  <a:lnTo>
                    <a:pt x="1597787" y="520572"/>
                  </a:lnTo>
                  <a:lnTo>
                    <a:pt x="1634236" y="492632"/>
                  </a:lnTo>
                  <a:lnTo>
                    <a:pt x="1668780" y="463169"/>
                  </a:lnTo>
                  <a:lnTo>
                    <a:pt x="1701165" y="432181"/>
                  </a:lnTo>
                  <a:lnTo>
                    <a:pt x="1731391" y="399795"/>
                  </a:lnTo>
                  <a:lnTo>
                    <a:pt x="1759203" y="366140"/>
                  </a:lnTo>
                  <a:lnTo>
                    <a:pt x="1784731" y="331215"/>
                  </a:lnTo>
                  <a:lnTo>
                    <a:pt x="1807718" y="295020"/>
                  </a:lnTo>
                  <a:lnTo>
                    <a:pt x="1828165" y="257682"/>
                  </a:lnTo>
                  <a:lnTo>
                    <a:pt x="1845945" y="219328"/>
                  </a:lnTo>
                  <a:lnTo>
                    <a:pt x="1860931" y="179831"/>
                  </a:lnTo>
                  <a:lnTo>
                    <a:pt x="1771015" y="179831"/>
                  </a:lnTo>
                  <a:lnTo>
                    <a:pt x="1980692" y="0"/>
                  </a:lnTo>
                  <a:lnTo>
                    <a:pt x="2130552" y="179831"/>
                  </a:lnTo>
                  <a:lnTo>
                    <a:pt x="2040636" y="179831"/>
                  </a:lnTo>
                  <a:lnTo>
                    <a:pt x="2025777" y="218947"/>
                  </a:lnTo>
                  <a:lnTo>
                    <a:pt x="2008251" y="257175"/>
                  </a:lnTo>
                  <a:lnTo>
                    <a:pt x="1988058" y="294131"/>
                  </a:lnTo>
                  <a:lnTo>
                    <a:pt x="1965325" y="330072"/>
                  </a:lnTo>
                  <a:lnTo>
                    <a:pt x="1940178" y="364616"/>
                  </a:lnTo>
                  <a:lnTo>
                    <a:pt x="1912747" y="398018"/>
                  </a:lnTo>
                  <a:lnTo>
                    <a:pt x="1883028" y="430149"/>
                  </a:lnTo>
                  <a:lnTo>
                    <a:pt x="1851152" y="460756"/>
                  </a:lnTo>
                  <a:lnTo>
                    <a:pt x="1817243" y="489965"/>
                  </a:lnTo>
                  <a:lnTo>
                    <a:pt x="1781428" y="517778"/>
                  </a:lnTo>
                  <a:lnTo>
                    <a:pt x="1743710" y="543940"/>
                  </a:lnTo>
                  <a:lnTo>
                    <a:pt x="1704213" y="568578"/>
                  </a:lnTo>
                  <a:lnTo>
                    <a:pt x="1662938" y="591565"/>
                  </a:lnTo>
                  <a:lnTo>
                    <a:pt x="1620139" y="612775"/>
                  </a:lnTo>
                  <a:lnTo>
                    <a:pt x="1575816" y="632206"/>
                  </a:lnTo>
                  <a:lnTo>
                    <a:pt x="1530223" y="649986"/>
                  </a:lnTo>
                  <a:lnTo>
                    <a:pt x="1483106" y="665733"/>
                  </a:lnTo>
                  <a:lnTo>
                    <a:pt x="1434973" y="679576"/>
                  </a:lnTo>
                  <a:lnTo>
                    <a:pt x="1385570" y="691514"/>
                  </a:lnTo>
                  <a:lnTo>
                    <a:pt x="1335151" y="701294"/>
                  </a:lnTo>
                  <a:lnTo>
                    <a:pt x="1283843" y="709040"/>
                  </a:lnTo>
                  <a:lnTo>
                    <a:pt x="1231773" y="714628"/>
                  </a:lnTo>
                  <a:lnTo>
                    <a:pt x="1178814" y="718057"/>
                  </a:lnTo>
                  <a:lnTo>
                    <a:pt x="1125220" y="719201"/>
                  </a:lnTo>
                  <a:lnTo>
                    <a:pt x="945388" y="719201"/>
                  </a:lnTo>
                  <a:lnTo>
                    <a:pt x="891794" y="718057"/>
                  </a:lnTo>
                  <a:lnTo>
                    <a:pt x="838962" y="714628"/>
                  </a:lnTo>
                  <a:lnTo>
                    <a:pt x="786892" y="709168"/>
                  </a:lnTo>
                  <a:lnTo>
                    <a:pt x="735838" y="701420"/>
                  </a:lnTo>
                  <a:lnTo>
                    <a:pt x="685800" y="691769"/>
                  </a:lnTo>
                  <a:lnTo>
                    <a:pt x="636905" y="680084"/>
                  </a:lnTo>
                  <a:lnTo>
                    <a:pt x="589152" y="666369"/>
                  </a:lnTo>
                  <a:lnTo>
                    <a:pt x="542671" y="650875"/>
                  </a:lnTo>
                  <a:lnTo>
                    <a:pt x="497586" y="633476"/>
                  </a:lnTo>
                  <a:lnTo>
                    <a:pt x="453898" y="614426"/>
                  </a:lnTo>
                  <a:lnTo>
                    <a:pt x="411607" y="593725"/>
                  </a:lnTo>
                  <a:lnTo>
                    <a:pt x="370967" y="571245"/>
                  </a:lnTo>
                  <a:lnTo>
                    <a:pt x="332105" y="547369"/>
                  </a:lnTo>
                  <a:lnTo>
                    <a:pt x="294894" y="521843"/>
                  </a:lnTo>
                  <a:lnTo>
                    <a:pt x="259461" y="494919"/>
                  </a:lnTo>
                  <a:lnTo>
                    <a:pt x="225933" y="466597"/>
                  </a:lnTo>
                  <a:lnTo>
                    <a:pt x="194437" y="437006"/>
                  </a:lnTo>
                  <a:lnTo>
                    <a:pt x="164973" y="406019"/>
                  </a:lnTo>
                  <a:lnTo>
                    <a:pt x="137668" y="373888"/>
                  </a:lnTo>
                  <a:lnTo>
                    <a:pt x="112649" y="340740"/>
                  </a:lnTo>
                  <a:lnTo>
                    <a:pt x="89789" y="306324"/>
                  </a:lnTo>
                  <a:lnTo>
                    <a:pt x="69469" y="271018"/>
                  </a:lnTo>
                  <a:lnTo>
                    <a:pt x="51435" y="234695"/>
                  </a:lnTo>
                  <a:lnTo>
                    <a:pt x="36068" y="197484"/>
                  </a:lnTo>
                  <a:lnTo>
                    <a:pt x="23368" y="159384"/>
                  </a:lnTo>
                  <a:lnTo>
                    <a:pt x="13208" y="120522"/>
                  </a:lnTo>
                  <a:lnTo>
                    <a:pt x="5969" y="81025"/>
                  </a:lnTo>
                  <a:lnTo>
                    <a:pt x="1524" y="40766"/>
                  </a:lnTo>
                  <a:lnTo>
                    <a:pt x="0" y="0"/>
                  </a:lnTo>
                  <a:lnTo>
                    <a:pt x="179832" y="0"/>
                  </a:lnTo>
                  <a:lnTo>
                    <a:pt x="181228" y="40766"/>
                  </a:lnTo>
                  <a:lnTo>
                    <a:pt x="185674" y="81025"/>
                  </a:lnTo>
                  <a:lnTo>
                    <a:pt x="193040" y="120522"/>
                  </a:lnTo>
                  <a:lnTo>
                    <a:pt x="203073" y="159384"/>
                  </a:lnTo>
                  <a:lnTo>
                    <a:pt x="215900" y="197484"/>
                  </a:lnTo>
                  <a:lnTo>
                    <a:pt x="231267" y="234695"/>
                  </a:lnTo>
                  <a:lnTo>
                    <a:pt x="249174" y="271018"/>
                  </a:lnTo>
                  <a:lnTo>
                    <a:pt x="269621" y="306324"/>
                  </a:lnTo>
                  <a:lnTo>
                    <a:pt x="292353" y="340740"/>
                  </a:lnTo>
                  <a:lnTo>
                    <a:pt x="317500" y="373888"/>
                  </a:lnTo>
                  <a:lnTo>
                    <a:pt x="344805" y="406019"/>
                  </a:lnTo>
                  <a:lnTo>
                    <a:pt x="374269" y="437006"/>
                  </a:lnTo>
                  <a:lnTo>
                    <a:pt x="405765" y="466597"/>
                  </a:lnTo>
                  <a:lnTo>
                    <a:pt x="439293" y="494919"/>
                  </a:lnTo>
                  <a:lnTo>
                    <a:pt x="474599" y="521843"/>
                  </a:lnTo>
                  <a:lnTo>
                    <a:pt x="511810" y="547369"/>
                  </a:lnTo>
                  <a:lnTo>
                    <a:pt x="550799" y="571245"/>
                  </a:lnTo>
                  <a:lnTo>
                    <a:pt x="591439" y="593725"/>
                  </a:lnTo>
                  <a:lnTo>
                    <a:pt x="633602" y="614426"/>
                  </a:lnTo>
                  <a:lnTo>
                    <a:pt x="677418" y="633476"/>
                  </a:lnTo>
                  <a:lnTo>
                    <a:pt x="722502" y="650875"/>
                  </a:lnTo>
                  <a:lnTo>
                    <a:pt x="768985" y="666369"/>
                  </a:lnTo>
                  <a:lnTo>
                    <a:pt x="816737" y="680084"/>
                  </a:lnTo>
                  <a:lnTo>
                    <a:pt x="865632" y="691769"/>
                  </a:lnTo>
                  <a:lnTo>
                    <a:pt x="915670" y="701420"/>
                  </a:lnTo>
                  <a:lnTo>
                    <a:pt x="966724" y="709168"/>
                  </a:lnTo>
                  <a:lnTo>
                    <a:pt x="1018667" y="714628"/>
                  </a:lnTo>
                  <a:lnTo>
                    <a:pt x="1071499" y="718057"/>
                  </a:lnTo>
                  <a:lnTo>
                    <a:pt x="1125220" y="719201"/>
                  </a:lnTo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683257" y="4692396"/>
            <a:ext cx="429259" cy="605155"/>
            <a:chOff x="1683257" y="4692396"/>
            <a:chExt cx="429259" cy="605155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97735" y="4692396"/>
              <a:ext cx="414527" cy="6050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683257" y="4978146"/>
              <a:ext cx="402590" cy="0"/>
            </a:xfrm>
            <a:custGeom>
              <a:avLst/>
              <a:gdLst/>
              <a:ahLst/>
              <a:cxnLst/>
              <a:rect l="l" t="t" r="r" b="b"/>
              <a:pathLst>
                <a:path w="402589">
                  <a:moveTo>
                    <a:pt x="0" y="0"/>
                  </a:moveTo>
                  <a:lnTo>
                    <a:pt x="402209" y="0"/>
                  </a:lnTo>
                </a:path>
              </a:pathLst>
            </a:custGeom>
            <a:ln w="14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687195" y="4972050"/>
            <a:ext cx="3797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5" dirty="0">
                <a:latin typeface="Symbol"/>
                <a:cs typeface="Symbol"/>
              </a:rPr>
              <a:t></a:t>
            </a:r>
            <a:r>
              <a:rPr sz="2200" i="1" spc="-5" dirty="0">
                <a:latin typeface="Times New Roman"/>
                <a:cs typeface="Times New Roman"/>
              </a:rPr>
              <a:t>W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26438" y="4569078"/>
            <a:ext cx="318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5" dirty="0">
                <a:latin typeface="Symbol"/>
                <a:cs typeface="Symbol"/>
              </a:rPr>
              <a:t></a:t>
            </a:r>
            <a:r>
              <a:rPr sz="2200" i="1" spc="-5" dirty="0"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029711" y="4730496"/>
            <a:ext cx="431800" cy="581025"/>
            <a:chOff x="3029711" y="4730496"/>
            <a:chExt cx="431800" cy="581025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4951" y="4730496"/>
              <a:ext cx="416051" cy="58064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029711" y="4974336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0" y="0"/>
                  </a:moveTo>
                  <a:lnTo>
                    <a:pt x="404875" y="0"/>
                  </a:lnTo>
                </a:path>
              </a:pathLst>
            </a:custGeom>
            <a:ln w="12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067939" y="4964125"/>
            <a:ext cx="288290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Symbol"/>
                <a:cs typeface="Symbol"/>
              </a:rPr>
              <a:t></a:t>
            </a:r>
            <a:r>
              <a:rPr sz="1950" spc="-26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y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38094" y="4610861"/>
            <a:ext cx="3295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Symbol"/>
                <a:cs typeface="Symbol"/>
              </a:rPr>
              <a:t></a:t>
            </a:r>
            <a:r>
              <a:rPr sz="1950" spc="-254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E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46647" y="4681728"/>
            <a:ext cx="394970" cy="553720"/>
            <a:chOff x="5946647" y="4681728"/>
            <a:chExt cx="394970" cy="553720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58839" y="4681728"/>
              <a:ext cx="382524" cy="5532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946647" y="4939284"/>
              <a:ext cx="367665" cy="0"/>
            </a:xfrm>
            <a:custGeom>
              <a:avLst/>
              <a:gdLst/>
              <a:ahLst/>
              <a:cxnLst/>
              <a:rect l="l" t="t" r="r" b="b"/>
              <a:pathLst>
                <a:path w="367664">
                  <a:moveTo>
                    <a:pt x="0" y="0"/>
                  </a:moveTo>
                  <a:lnTo>
                    <a:pt x="367156" y="0"/>
                  </a:lnTo>
                </a:path>
              </a:pathLst>
            </a:custGeom>
            <a:ln w="128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968365" y="4933950"/>
            <a:ext cx="287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ymbol"/>
                <a:cs typeface="Symbol"/>
              </a:rPr>
              <a:t>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57696" y="4566665"/>
            <a:ext cx="3016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ymbol"/>
                <a:cs typeface="Symbol"/>
              </a:rPr>
              <a:t>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173973" y="4636008"/>
            <a:ext cx="1115060" cy="684530"/>
            <a:chOff x="8173973" y="4636008"/>
            <a:chExt cx="1115060" cy="684530"/>
          </a:xfrm>
        </p:grpSpPr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88451" y="4636008"/>
              <a:ext cx="1100327" cy="68427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173973" y="4918710"/>
              <a:ext cx="1089025" cy="0"/>
            </a:xfrm>
            <a:custGeom>
              <a:avLst/>
              <a:gdLst/>
              <a:ahLst/>
              <a:cxnLst/>
              <a:rect l="l" t="t" r="r" b="b"/>
              <a:pathLst>
                <a:path w="1089025">
                  <a:moveTo>
                    <a:pt x="0" y="0"/>
                  </a:moveTo>
                  <a:lnTo>
                    <a:pt x="460755" y="0"/>
                  </a:lnTo>
                </a:path>
                <a:path w="1089025">
                  <a:moveTo>
                    <a:pt x="595122" y="0"/>
                  </a:moveTo>
                  <a:lnTo>
                    <a:pt x="1089025" y="0"/>
                  </a:lnTo>
                </a:path>
              </a:pathLst>
            </a:custGeom>
            <a:ln w="134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153654" y="4509261"/>
            <a:ext cx="1139825" cy="774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95"/>
              </a:spcBef>
              <a:tabLst>
                <a:tab pos="516255" algn="l"/>
                <a:tab pos="749300" algn="l"/>
              </a:tabLst>
            </a:pPr>
            <a:r>
              <a:rPr sz="2200" spc="-60" dirty="0">
                <a:latin typeface="Symbol"/>
                <a:cs typeface="Symbol"/>
              </a:rPr>
              <a:t></a:t>
            </a:r>
            <a:r>
              <a:rPr sz="2200" i="1" spc="-60" dirty="0">
                <a:latin typeface="Times New Roman"/>
                <a:cs typeface="Times New Roman"/>
              </a:rPr>
              <a:t>s	</a:t>
            </a:r>
            <a:r>
              <a:rPr sz="3300" spc="-7" baseline="-30303" dirty="0">
                <a:latin typeface="Times New Roman"/>
                <a:cs typeface="Times New Roman"/>
              </a:rPr>
              <a:t>,	</a:t>
            </a:r>
            <a:r>
              <a:rPr sz="2200" spc="-60" dirty="0">
                <a:latin typeface="Symbol"/>
                <a:cs typeface="Symbol"/>
              </a:rPr>
              <a:t></a:t>
            </a:r>
            <a:r>
              <a:rPr sz="2200" i="1" spc="-6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5"/>
              </a:spcBef>
              <a:tabLst>
                <a:tab pos="632460" algn="l"/>
              </a:tabLst>
            </a:pPr>
            <a:r>
              <a:rPr sz="2200" spc="-5" dirty="0">
                <a:latin typeface="Symbol"/>
                <a:cs typeface="Symbol"/>
              </a:rPr>
              <a:t></a:t>
            </a:r>
            <a:r>
              <a:rPr sz="2200" spc="-305" dirty="0">
                <a:latin typeface="Times New Roman"/>
                <a:cs typeface="Times New Roman"/>
              </a:rPr>
              <a:t> </a:t>
            </a:r>
            <a:r>
              <a:rPr sz="3975" i="1" spc="-517" baseline="-7337" dirty="0">
                <a:latin typeface="Times New Roman"/>
                <a:cs typeface="Times New Roman"/>
              </a:rPr>
              <a:t>w</a:t>
            </a:r>
            <a:r>
              <a:rPr sz="2325" spc="-7" baseline="-19713" dirty="0">
                <a:latin typeface="Times New Roman"/>
                <a:cs typeface="Times New Roman"/>
              </a:rPr>
              <a:t>1</a:t>
            </a:r>
            <a:r>
              <a:rPr sz="2325" baseline="-19713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Symbol"/>
                <a:cs typeface="Symbol"/>
              </a:rPr>
              <a:t></a:t>
            </a:r>
            <a:r>
              <a:rPr sz="2200" spc="-305" dirty="0">
                <a:latin typeface="Times New Roman"/>
                <a:cs typeface="Times New Roman"/>
              </a:rPr>
              <a:t> </a:t>
            </a:r>
            <a:r>
              <a:rPr sz="3975" i="1" spc="-277" baseline="-7337" dirty="0">
                <a:latin typeface="Times New Roman"/>
                <a:cs typeface="Times New Roman"/>
              </a:rPr>
              <a:t>w</a:t>
            </a:r>
            <a:r>
              <a:rPr sz="2325" spc="-7" baseline="-19713" dirty="0">
                <a:latin typeface="Times New Roman"/>
                <a:cs typeface="Times New Roman"/>
              </a:rPr>
              <a:t>2</a:t>
            </a:r>
            <a:endParaRPr sz="2325" baseline="-19713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403348" y="4850865"/>
            <a:ext cx="329565" cy="224154"/>
            <a:chOff x="2403348" y="4850865"/>
            <a:chExt cx="329565" cy="224154"/>
          </a:xfrm>
        </p:grpSpPr>
        <p:sp>
          <p:nvSpPr>
            <p:cNvPr id="50" name="object 50"/>
            <p:cNvSpPr/>
            <p:nvPr/>
          </p:nvSpPr>
          <p:spPr>
            <a:xfrm>
              <a:off x="2409444" y="4856962"/>
              <a:ext cx="316865" cy="211454"/>
            </a:xfrm>
            <a:custGeom>
              <a:avLst/>
              <a:gdLst/>
              <a:ahLst/>
              <a:cxnLst/>
              <a:rect l="l" t="t" r="r" b="b"/>
              <a:pathLst>
                <a:path w="316864" h="211454">
                  <a:moveTo>
                    <a:pt x="316865" y="126873"/>
                  </a:moveTo>
                  <a:lnTo>
                    <a:pt x="0" y="126873"/>
                  </a:lnTo>
                  <a:lnTo>
                    <a:pt x="0" y="211353"/>
                  </a:lnTo>
                  <a:lnTo>
                    <a:pt x="316865" y="211353"/>
                  </a:lnTo>
                  <a:lnTo>
                    <a:pt x="316865" y="126873"/>
                  </a:lnTo>
                  <a:close/>
                </a:path>
                <a:path w="316864" h="211454">
                  <a:moveTo>
                    <a:pt x="316865" y="0"/>
                  </a:moveTo>
                  <a:lnTo>
                    <a:pt x="0" y="0"/>
                  </a:lnTo>
                  <a:lnTo>
                    <a:pt x="0" y="84480"/>
                  </a:lnTo>
                  <a:lnTo>
                    <a:pt x="316865" y="84480"/>
                  </a:lnTo>
                  <a:lnTo>
                    <a:pt x="31686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409444" y="4856961"/>
              <a:ext cx="316865" cy="211454"/>
            </a:xfrm>
            <a:custGeom>
              <a:avLst/>
              <a:gdLst/>
              <a:ahLst/>
              <a:cxnLst/>
              <a:rect l="l" t="t" r="r" b="b"/>
              <a:pathLst>
                <a:path w="316864" h="211454">
                  <a:moveTo>
                    <a:pt x="0" y="84481"/>
                  </a:moveTo>
                  <a:lnTo>
                    <a:pt x="316864" y="84481"/>
                  </a:lnTo>
                  <a:lnTo>
                    <a:pt x="316864" y="0"/>
                  </a:lnTo>
                  <a:lnTo>
                    <a:pt x="0" y="0"/>
                  </a:lnTo>
                  <a:lnTo>
                    <a:pt x="0" y="84481"/>
                  </a:lnTo>
                  <a:close/>
                </a:path>
                <a:path w="316864" h="211454">
                  <a:moveTo>
                    <a:pt x="0" y="211354"/>
                  </a:moveTo>
                  <a:lnTo>
                    <a:pt x="316864" y="211354"/>
                  </a:lnTo>
                  <a:lnTo>
                    <a:pt x="316864" y="126873"/>
                  </a:lnTo>
                  <a:lnTo>
                    <a:pt x="0" y="126873"/>
                  </a:lnTo>
                  <a:lnTo>
                    <a:pt x="0" y="21135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4529328" y="4828032"/>
            <a:ext cx="325120" cy="268605"/>
            <a:chOff x="4529328" y="4828032"/>
            <a:chExt cx="325120" cy="268605"/>
          </a:xfrm>
        </p:grpSpPr>
        <p:sp>
          <p:nvSpPr>
            <p:cNvPr id="53" name="object 53"/>
            <p:cNvSpPr/>
            <p:nvPr/>
          </p:nvSpPr>
          <p:spPr>
            <a:xfrm>
              <a:off x="4535424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263143" y="0"/>
                  </a:moveTo>
                  <a:lnTo>
                    <a:pt x="156210" y="75946"/>
                  </a:lnTo>
                  <a:lnTo>
                    <a:pt x="49275" y="0"/>
                  </a:lnTo>
                  <a:lnTo>
                    <a:pt x="0" y="68834"/>
                  </a:lnTo>
                  <a:lnTo>
                    <a:pt x="83058" y="128016"/>
                  </a:lnTo>
                  <a:lnTo>
                    <a:pt x="0" y="187071"/>
                  </a:lnTo>
                  <a:lnTo>
                    <a:pt x="49275" y="255905"/>
                  </a:lnTo>
                  <a:lnTo>
                    <a:pt x="156210" y="179959"/>
                  </a:lnTo>
                  <a:lnTo>
                    <a:pt x="263143" y="255905"/>
                  </a:lnTo>
                  <a:lnTo>
                    <a:pt x="312420" y="187071"/>
                  </a:lnTo>
                  <a:lnTo>
                    <a:pt x="229362" y="128016"/>
                  </a:lnTo>
                  <a:lnTo>
                    <a:pt x="312420" y="68834"/>
                  </a:lnTo>
                  <a:lnTo>
                    <a:pt x="26314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35424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0" y="68834"/>
                  </a:moveTo>
                  <a:lnTo>
                    <a:pt x="49275" y="0"/>
                  </a:lnTo>
                  <a:lnTo>
                    <a:pt x="156210" y="75946"/>
                  </a:lnTo>
                  <a:lnTo>
                    <a:pt x="263143" y="0"/>
                  </a:lnTo>
                  <a:lnTo>
                    <a:pt x="312420" y="68834"/>
                  </a:lnTo>
                  <a:lnTo>
                    <a:pt x="229362" y="128016"/>
                  </a:lnTo>
                  <a:lnTo>
                    <a:pt x="312420" y="187071"/>
                  </a:lnTo>
                  <a:lnTo>
                    <a:pt x="263143" y="255905"/>
                  </a:lnTo>
                  <a:lnTo>
                    <a:pt x="156210" y="179959"/>
                  </a:lnTo>
                  <a:lnTo>
                    <a:pt x="49275" y="255905"/>
                  </a:lnTo>
                  <a:lnTo>
                    <a:pt x="0" y="187071"/>
                  </a:lnTo>
                  <a:lnTo>
                    <a:pt x="83058" y="128016"/>
                  </a:lnTo>
                  <a:lnTo>
                    <a:pt x="0" y="6883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7193280" y="4828032"/>
            <a:ext cx="325120" cy="268605"/>
            <a:chOff x="7193280" y="4828032"/>
            <a:chExt cx="325120" cy="268605"/>
          </a:xfrm>
        </p:grpSpPr>
        <p:sp>
          <p:nvSpPr>
            <p:cNvPr id="56" name="object 56"/>
            <p:cNvSpPr/>
            <p:nvPr/>
          </p:nvSpPr>
          <p:spPr>
            <a:xfrm>
              <a:off x="7199376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263144" y="0"/>
                  </a:moveTo>
                  <a:lnTo>
                    <a:pt x="156209" y="75946"/>
                  </a:lnTo>
                  <a:lnTo>
                    <a:pt x="49275" y="0"/>
                  </a:lnTo>
                  <a:lnTo>
                    <a:pt x="0" y="68834"/>
                  </a:lnTo>
                  <a:lnTo>
                    <a:pt x="83057" y="128016"/>
                  </a:lnTo>
                  <a:lnTo>
                    <a:pt x="0" y="187071"/>
                  </a:lnTo>
                  <a:lnTo>
                    <a:pt x="49275" y="255905"/>
                  </a:lnTo>
                  <a:lnTo>
                    <a:pt x="156209" y="179959"/>
                  </a:lnTo>
                  <a:lnTo>
                    <a:pt x="263144" y="255905"/>
                  </a:lnTo>
                  <a:lnTo>
                    <a:pt x="312420" y="187071"/>
                  </a:lnTo>
                  <a:lnTo>
                    <a:pt x="229362" y="128016"/>
                  </a:lnTo>
                  <a:lnTo>
                    <a:pt x="312420" y="68834"/>
                  </a:lnTo>
                  <a:lnTo>
                    <a:pt x="26314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199376" y="4834128"/>
              <a:ext cx="312420" cy="255904"/>
            </a:xfrm>
            <a:custGeom>
              <a:avLst/>
              <a:gdLst/>
              <a:ahLst/>
              <a:cxnLst/>
              <a:rect l="l" t="t" r="r" b="b"/>
              <a:pathLst>
                <a:path w="312420" h="255904">
                  <a:moveTo>
                    <a:pt x="0" y="68834"/>
                  </a:moveTo>
                  <a:lnTo>
                    <a:pt x="49275" y="0"/>
                  </a:lnTo>
                  <a:lnTo>
                    <a:pt x="156209" y="75946"/>
                  </a:lnTo>
                  <a:lnTo>
                    <a:pt x="263144" y="0"/>
                  </a:lnTo>
                  <a:lnTo>
                    <a:pt x="312420" y="68834"/>
                  </a:lnTo>
                  <a:lnTo>
                    <a:pt x="229362" y="128016"/>
                  </a:lnTo>
                  <a:lnTo>
                    <a:pt x="312420" y="187071"/>
                  </a:lnTo>
                  <a:lnTo>
                    <a:pt x="263144" y="255905"/>
                  </a:lnTo>
                  <a:lnTo>
                    <a:pt x="156209" y="179959"/>
                  </a:lnTo>
                  <a:lnTo>
                    <a:pt x="49275" y="255905"/>
                  </a:lnTo>
                  <a:lnTo>
                    <a:pt x="0" y="187071"/>
                  </a:lnTo>
                  <a:lnTo>
                    <a:pt x="83057" y="128016"/>
                  </a:lnTo>
                  <a:lnTo>
                    <a:pt x="0" y="68834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7385304" y="687323"/>
            <a:ext cx="3289300" cy="1163955"/>
            <a:chOff x="7385304" y="687323"/>
            <a:chExt cx="3289300" cy="1163955"/>
          </a:xfrm>
        </p:grpSpPr>
        <p:sp>
          <p:nvSpPr>
            <p:cNvPr id="59" name="object 59"/>
            <p:cNvSpPr/>
            <p:nvPr/>
          </p:nvSpPr>
          <p:spPr>
            <a:xfrm>
              <a:off x="7391400" y="693419"/>
              <a:ext cx="3276600" cy="1151890"/>
            </a:xfrm>
            <a:custGeom>
              <a:avLst/>
              <a:gdLst/>
              <a:ahLst/>
              <a:cxnLst/>
              <a:rect l="l" t="t" r="r" b="b"/>
              <a:pathLst>
                <a:path w="3276600" h="1151889">
                  <a:moveTo>
                    <a:pt x="2243581" y="0"/>
                  </a:moveTo>
                  <a:lnTo>
                    <a:pt x="1738756" y="231520"/>
                  </a:lnTo>
                  <a:lnTo>
                    <a:pt x="1474724" y="100710"/>
                  </a:lnTo>
                  <a:lnTo>
                    <a:pt x="1296924" y="340232"/>
                  </a:lnTo>
                  <a:lnTo>
                    <a:pt x="682878" y="193293"/>
                  </a:lnTo>
                  <a:lnTo>
                    <a:pt x="814958" y="416813"/>
                  </a:lnTo>
                  <a:lnTo>
                    <a:pt x="177800" y="440943"/>
                  </a:lnTo>
                  <a:lnTo>
                    <a:pt x="596900" y="618108"/>
                  </a:lnTo>
                  <a:lnTo>
                    <a:pt x="0" y="686562"/>
                  </a:lnTo>
                  <a:lnTo>
                    <a:pt x="505078" y="819530"/>
                  </a:lnTo>
                  <a:lnTo>
                    <a:pt x="194945" y="950467"/>
                  </a:lnTo>
                  <a:lnTo>
                    <a:pt x="728852" y="972565"/>
                  </a:lnTo>
                  <a:lnTo>
                    <a:pt x="745871" y="1151763"/>
                  </a:lnTo>
                  <a:lnTo>
                    <a:pt x="1141856" y="966342"/>
                  </a:lnTo>
                  <a:lnTo>
                    <a:pt x="1319783" y="1051052"/>
                  </a:lnTo>
                  <a:lnTo>
                    <a:pt x="1497583" y="926210"/>
                  </a:lnTo>
                  <a:lnTo>
                    <a:pt x="1761490" y="1004696"/>
                  </a:lnTo>
                  <a:lnTo>
                    <a:pt x="1847596" y="849756"/>
                  </a:lnTo>
                  <a:lnTo>
                    <a:pt x="2266569" y="926210"/>
                  </a:lnTo>
                  <a:lnTo>
                    <a:pt x="2220849" y="765175"/>
                  </a:lnTo>
                  <a:lnTo>
                    <a:pt x="2863596" y="833501"/>
                  </a:lnTo>
                  <a:lnTo>
                    <a:pt x="2484754" y="656335"/>
                  </a:lnTo>
                  <a:lnTo>
                    <a:pt x="2771394" y="601979"/>
                  </a:lnTo>
                  <a:lnTo>
                    <a:pt x="2576576" y="501395"/>
                  </a:lnTo>
                  <a:lnTo>
                    <a:pt x="3276600" y="354329"/>
                  </a:lnTo>
                  <a:lnTo>
                    <a:pt x="2484754" y="348233"/>
                  </a:lnTo>
                  <a:lnTo>
                    <a:pt x="2731516" y="169163"/>
                  </a:lnTo>
                  <a:lnTo>
                    <a:pt x="2203323" y="307975"/>
                  </a:lnTo>
                  <a:lnTo>
                    <a:pt x="2243581" y="0"/>
                  </a:lnTo>
                  <a:close/>
                </a:path>
              </a:pathLst>
            </a:custGeom>
            <a:solidFill>
              <a:srgbClr val="00A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91400" y="693419"/>
              <a:ext cx="3276600" cy="1151890"/>
            </a:xfrm>
            <a:custGeom>
              <a:avLst/>
              <a:gdLst/>
              <a:ahLst/>
              <a:cxnLst/>
              <a:rect l="l" t="t" r="r" b="b"/>
              <a:pathLst>
                <a:path w="3276600" h="1151889">
                  <a:moveTo>
                    <a:pt x="1738756" y="231520"/>
                  </a:moveTo>
                  <a:lnTo>
                    <a:pt x="2243581" y="0"/>
                  </a:lnTo>
                  <a:lnTo>
                    <a:pt x="2203323" y="307975"/>
                  </a:lnTo>
                  <a:lnTo>
                    <a:pt x="2731516" y="169163"/>
                  </a:lnTo>
                  <a:lnTo>
                    <a:pt x="2484754" y="348233"/>
                  </a:lnTo>
                  <a:lnTo>
                    <a:pt x="3276600" y="354329"/>
                  </a:lnTo>
                  <a:lnTo>
                    <a:pt x="2576576" y="501395"/>
                  </a:lnTo>
                  <a:lnTo>
                    <a:pt x="2771394" y="601979"/>
                  </a:lnTo>
                  <a:lnTo>
                    <a:pt x="2484754" y="656335"/>
                  </a:lnTo>
                  <a:lnTo>
                    <a:pt x="2863596" y="833501"/>
                  </a:lnTo>
                  <a:lnTo>
                    <a:pt x="2220849" y="765175"/>
                  </a:lnTo>
                  <a:lnTo>
                    <a:pt x="2266569" y="926210"/>
                  </a:lnTo>
                  <a:lnTo>
                    <a:pt x="1847596" y="849756"/>
                  </a:lnTo>
                  <a:lnTo>
                    <a:pt x="1761490" y="1004696"/>
                  </a:lnTo>
                  <a:lnTo>
                    <a:pt x="1497583" y="926210"/>
                  </a:lnTo>
                  <a:lnTo>
                    <a:pt x="1319783" y="1051052"/>
                  </a:lnTo>
                  <a:lnTo>
                    <a:pt x="1141856" y="966342"/>
                  </a:lnTo>
                  <a:lnTo>
                    <a:pt x="745871" y="1151763"/>
                  </a:lnTo>
                  <a:lnTo>
                    <a:pt x="728852" y="972565"/>
                  </a:lnTo>
                  <a:lnTo>
                    <a:pt x="194945" y="950467"/>
                  </a:lnTo>
                  <a:lnTo>
                    <a:pt x="505078" y="819530"/>
                  </a:lnTo>
                  <a:lnTo>
                    <a:pt x="0" y="686562"/>
                  </a:lnTo>
                  <a:lnTo>
                    <a:pt x="596900" y="618108"/>
                  </a:lnTo>
                  <a:lnTo>
                    <a:pt x="177800" y="440943"/>
                  </a:lnTo>
                  <a:lnTo>
                    <a:pt x="814958" y="416813"/>
                  </a:lnTo>
                  <a:lnTo>
                    <a:pt x="682878" y="193293"/>
                  </a:lnTo>
                  <a:lnTo>
                    <a:pt x="1296924" y="340232"/>
                  </a:lnTo>
                  <a:lnTo>
                    <a:pt x="1474724" y="100710"/>
                  </a:lnTo>
                  <a:lnTo>
                    <a:pt x="1738756" y="231520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36406" y="1091945"/>
            <a:ext cx="11360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Ch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12864" y="5686044"/>
            <a:ext cx="3267455" cy="935736"/>
          </a:xfrm>
          <a:prstGeom prst="rect">
            <a:avLst/>
          </a:prstGeom>
        </p:spPr>
      </p:pic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6888480" y="5661659"/>
          <a:ext cx="3265801" cy="9354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6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408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5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55" dirty="0">
                          <a:latin typeface="Times New Roman"/>
                          <a:cs typeface="Times New Roman"/>
                        </a:rPr>
                        <a:t>E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490"/>
                        </a:lnSpc>
                        <a:spcBef>
                          <a:spcPts val="1365"/>
                        </a:spcBef>
                      </a:pPr>
                      <a:r>
                        <a:rPr sz="2450" dirty="0">
                          <a:latin typeface="Symbol"/>
                          <a:cs typeface="Symbol"/>
                        </a:rPr>
                        <a:t></a:t>
                      </a:r>
                      <a:endParaRPr sz="2450">
                        <a:latin typeface="Symbol"/>
                        <a:cs typeface="Symbol"/>
                      </a:endParaRPr>
                    </a:p>
                  </a:txBody>
                  <a:tcPr marL="0" marR="0" marT="173355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5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55" dirty="0">
                          <a:latin typeface="Times New Roman"/>
                          <a:cs typeface="Times New Roman"/>
                        </a:rPr>
                        <a:t>E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2490"/>
                        </a:lnSpc>
                        <a:spcBef>
                          <a:spcPts val="1365"/>
                        </a:spcBef>
                      </a:pPr>
                      <a:r>
                        <a:rPr sz="2450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73355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50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50" dirty="0">
                          <a:latin typeface="Times New Roman"/>
                          <a:cs typeface="Times New Roman"/>
                        </a:rPr>
                        <a:t>y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2490"/>
                        </a:lnSpc>
                        <a:spcBef>
                          <a:spcPts val="1365"/>
                        </a:spcBef>
                      </a:pPr>
                      <a:r>
                        <a:rPr sz="2450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73355" marB="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50" spc="4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45" dirty="0">
                          <a:latin typeface="Times New Roman"/>
                          <a:cs typeface="Times New Roman"/>
                        </a:rPr>
                        <a:t>s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073">
                <a:tc>
                  <a:txBody>
                    <a:bodyPr/>
                    <a:lstStyle/>
                    <a:p>
                      <a:pPr marL="24765" algn="ctr">
                        <a:lnSpc>
                          <a:spcPts val="2655"/>
                        </a:lnSpc>
                      </a:pPr>
                      <a:r>
                        <a:rPr sz="2450" spc="-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i="1" spc="127" baseline="-7532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550" spc="127" baseline="-19607" dirty="0">
                          <a:latin typeface="Times New Roman"/>
                          <a:cs typeface="Times New Roman"/>
                        </a:rPr>
                        <a:t>2</a:t>
                      </a:r>
                      <a:endParaRPr sz="2550" baseline="-1960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02590">
                        <a:lnSpc>
                          <a:spcPts val="2555"/>
                        </a:lnSpc>
                      </a:pPr>
                      <a:r>
                        <a:rPr sz="2450" spc="4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45" dirty="0">
                          <a:latin typeface="Times New Roman"/>
                          <a:cs typeface="Times New Roman"/>
                        </a:rPr>
                        <a:t>y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8610">
                        <a:lnSpc>
                          <a:spcPts val="2555"/>
                        </a:lnSpc>
                      </a:pPr>
                      <a:r>
                        <a:rPr sz="2450" spc="4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i="1" spc="45" dirty="0">
                          <a:latin typeface="Times New Roman"/>
                          <a:cs typeface="Times New Roman"/>
                        </a:rPr>
                        <a:t>s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92735">
                        <a:lnSpc>
                          <a:spcPts val="2655"/>
                        </a:lnSpc>
                      </a:pPr>
                      <a:r>
                        <a:rPr sz="2450" spc="-5" dirty="0">
                          <a:latin typeface="Symbol"/>
                          <a:cs typeface="Symbol"/>
                        </a:rPr>
                        <a:t></a:t>
                      </a:r>
                      <a:r>
                        <a:rPr sz="24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425" i="1" spc="127" baseline="-7532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550" spc="127" baseline="-19607" dirty="0">
                          <a:latin typeface="Times New Roman"/>
                          <a:cs typeface="Times New Roman"/>
                        </a:rPr>
                        <a:t>2</a:t>
                      </a:r>
                      <a:endParaRPr sz="2550" baseline="-1960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object 64"/>
          <p:cNvSpPr/>
          <p:nvPr/>
        </p:nvSpPr>
        <p:spPr>
          <a:xfrm>
            <a:off x="6957821" y="6115050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>
                <a:moveTo>
                  <a:pt x="0" y="0"/>
                </a:moveTo>
                <a:lnTo>
                  <a:pt x="671576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007604" y="6115050"/>
            <a:ext cx="439420" cy="0"/>
          </a:xfrm>
          <a:custGeom>
            <a:avLst/>
            <a:gdLst/>
            <a:ahLst/>
            <a:cxnLst/>
            <a:rect l="l" t="t" r="r" b="b"/>
            <a:pathLst>
              <a:path w="439420">
                <a:moveTo>
                  <a:pt x="0" y="0"/>
                </a:moveTo>
                <a:lnTo>
                  <a:pt x="439420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731884" y="6115050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4">
                <a:moveTo>
                  <a:pt x="0" y="0"/>
                </a:moveTo>
                <a:lnTo>
                  <a:pt x="374904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391522" y="6115050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>
                <a:moveTo>
                  <a:pt x="0" y="0"/>
                </a:moveTo>
                <a:lnTo>
                  <a:pt x="671576" y="0"/>
                </a:lnTo>
              </a:path>
            </a:pathLst>
          </a:custGeom>
          <a:ln w="16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8" name="object 68"/>
          <p:cNvGrpSpPr/>
          <p:nvPr/>
        </p:nvGrpSpPr>
        <p:grpSpPr>
          <a:xfrm>
            <a:off x="1731264" y="5661659"/>
            <a:ext cx="3310254" cy="911860"/>
            <a:chOff x="1731264" y="5661659"/>
            <a:chExt cx="3310254" cy="911860"/>
          </a:xfrm>
        </p:grpSpPr>
        <p:pic>
          <p:nvPicPr>
            <p:cNvPr id="69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5648" y="5686043"/>
              <a:ext cx="3285744" cy="886968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731264" y="5661659"/>
              <a:ext cx="3284220" cy="887094"/>
            </a:xfrm>
            <a:custGeom>
              <a:avLst/>
              <a:gdLst/>
              <a:ahLst/>
              <a:cxnLst/>
              <a:rect l="l" t="t" r="r" b="b"/>
              <a:pathLst>
                <a:path w="3284220" h="887095">
                  <a:moveTo>
                    <a:pt x="3284220" y="0"/>
                  </a:moveTo>
                  <a:lnTo>
                    <a:pt x="0" y="0"/>
                  </a:lnTo>
                  <a:lnTo>
                    <a:pt x="0" y="886840"/>
                  </a:lnTo>
                  <a:lnTo>
                    <a:pt x="3284220" y="886840"/>
                  </a:lnTo>
                  <a:lnTo>
                    <a:pt x="328422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803654" y="6092189"/>
              <a:ext cx="3131820" cy="0"/>
            </a:xfrm>
            <a:custGeom>
              <a:avLst/>
              <a:gdLst/>
              <a:ahLst/>
              <a:cxnLst/>
              <a:rect l="l" t="t" r="r" b="b"/>
              <a:pathLst>
                <a:path w="3131820">
                  <a:moveTo>
                    <a:pt x="0" y="0"/>
                  </a:moveTo>
                  <a:lnTo>
                    <a:pt x="650620" y="0"/>
                  </a:lnTo>
                </a:path>
                <a:path w="3131820">
                  <a:moveTo>
                    <a:pt x="1043432" y="0"/>
                  </a:moveTo>
                  <a:lnTo>
                    <a:pt x="1499870" y="0"/>
                  </a:lnTo>
                </a:path>
                <a:path w="3131820">
                  <a:moveTo>
                    <a:pt x="1795525" y="0"/>
                  </a:moveTo>
                  <a:lnTo>
                    <a:pt x="2185035" y="0"/>
                  </a:lnTo>
                </a:path>
                <a:path w="3131820">
                  <a:moveTo>
                    <a:pt x="2480691" y="0"/>
                  </a:moveTo>
                  <a:lnTo>
                    <a:pt x="3131311" y="0"/>
                  </a:lnTo>
                </a:path>
              </a:pathLst>
            </a:custGeom>
            <a:ln w="163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763522" y="5663285"/>
            <a:ext cx="3213100" cy="80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  <a:tabLst>
                <a:tab pos="790575" algn="l"/>
                <a:tab pos="1106170" algn="l"/>
                <a:tab pos="1614805" algn="l"/>
                <a:tab pos="2299970" algn="l"/>
                <a:tab pos="2685415" algn="l"/>
              </a:tabLst>
            </a:pPr>
            <a:r>
              <a:rPr sz="2300" dirty="0">
                <a:latin typeface="Symbol"/>
                <a:cs typeface="Symbol"/>
              </a:rPr>
              <a:t></a:t>
            </a:r>
            <a:r>
              <a:rPr sz="2300" spc="-31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E	</a:t>
            </a:r>
            <a:r>
              <a:rPr sz="3450" baseline="-28985" dirty="0">
                <a:latin typeface="Symbol"/>
                <a:cs typeface="Symbol"/>
              </a:rPr>
              <a:t></a:t>
            </a:r>
            <a:r>
              <a:rPr sz="3450" baseline="-28985" dirty="0">
                <a:latin typeface="Times New Roman"/>
                <a:cs typeface="Times New Roman"/>
              </a:rPr>
              <a:t>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1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E	</a:t>
            </a:r>
            <a:r>
              <a:rPr sz="3450" i="1" baseline="-28985" dirty="0">
                <a:latin typeface="Times New Roman"/>
                <a:cs typeface="Times New Roman"/>
              </a:rPr>
              <a:t>x </a:t>
            </a:r>
            <a:r>
              <a:rPr sz="3450" i="1" spc="-412" baseline="-289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5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y	</a:t>
            </a:r>
            <a:r>
              <a:rPr sz="3450" i="1" baseline="-28985" dirty="0">
                <a:latin typeface="Times New Roman"/>
                <a:cs typeface="Times New Roman"/>
              </a:rPr>
              <a:t>x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6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s</a:t>
            </a:r>
            <a:endParaRPr sz="23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30"/>
              </a:spcBef>
              <a:tabLst>
                <a:tab pos="1140460" algn="l"/>
                <a:tab pos="1870710" algn="l"/>
                <a:tab pos="2544445" algn="l"/>
              </a:tabLst>
            </a:pPr>
            <a:r>
              <a:rPr sz="2300" dirty="0">
                <a:latin typeface="Symbol"/>
                <a:cs typeface="Symbol"/>
              </a:rPr>
              <a:t></a:t>
            </a:r>
            <a:r>
              <a:rPr sz="2300" spc="170" dirty="0">
                <a:latin typeface="Times New Roman"/>
                <a:cs typeface="Times New Roman"/>
              </a:rPr>
              <a:t> </a:t>
            </a:r>
            <a:r>
              <a:rPr sz="4200" i="1" spc="112" baseline="-6944" dirty="0">
                <a:latin typeface="Times New Roman"/>
                <a:cs typeface="Times New Roman"/>
              </a:rPr>
              <a:t>w</a:t>
            </a:r>
            <a:r>
              <a:rPr sz="2400" spc="112" baseline="-19097" dirty="0">
                <a:latin typeface="Times New Roman"/>
                <a:cs typeface="Times New Roman"/>
              </a:rPr>
              <a:t>1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4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y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-36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s	</a:t>
            </a:r>
            <a:r>
              <a:rPr sz="2300" dirty="0">
                <a:latin typeface="Symbol"/>
                <a:cs typeface="Symbol"/>
              </a:rPr>
              <a:t>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4200" i="1" spc="112" baseline="-6944" dirty="0">
                <a:latin typeface="Times New Roman"/>
                <a:cs typeface="Times New Roman"/>
              </a:rPr>
              <a:t>w</a:t>
            </a:r>
            <a:r>
              <a:rPr sz="2400" spc="112" baseline="-19097" dirty="0">
                <a:latin typeface="Times New Roman"/>
                <a:cs typeface="Times New Roman"/>
              </a:rPr>
              <a:t>1</a:t>
            </a:r>
            <a:endParaRPr sz="2400" baseline="-1909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6751" y="28778"/>
            <a:ext cx="67195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z="3200" b="1" spc="-40" dirty="0">
                <a:latin typeface="Calibri"/>
                <a:cs typeface="Calibri"/>
              </a:rPr>
              <a:t>Regarding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5</a:t>
            </a:r>
            <a:r>
              <a:rPr sz="3150" b="1" spc="-7" baseline="21164" dirty="0">
                <a:latin typeface="Calibri"/>
                <a:cs typeface="Calibri"/>
              </a:rPr>
              <a:t>th	</a:t>
            </a:r>
            <a:r>
              <a:rPr sz="3200" b="1" spc="-25" dirty="0">
                <a:latin typeface="Calibri"/>
                <a:cs typeface="Calibri"/>
              </a:rPr>
              <a:t>step:</a:t>
            </a:r>
            <a:r>
              <a:rPr sz="3200" b="1" spc="-120" dirty="0">
                <a:latin typeface="Calibri"/>
                <a:cs typeface="Calibri"/>
              </a:rPr>
              <a:t> </a:t>
            </a:r>
            <a:r>
              <a:rPr sz="3200" b="1" spc="-40" dirty="0">
                <a:latin typeface="Calibri"/>
                <a:cs typeface="Calibri"/>
              </a:rPr>
              <a:t>Weights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Adaptation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2317" y="1448815"/>
            <a:ext cx="243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114" dirty="0">
                <a:latin typeface="Calibri"/>
                <a:cs typeface="Calibri"/>
              </a:rPr>
              <a:t>W</a:t>
            </a:r>
            <a:r>
              <a:rPr sz="2400" b="1" spc="-25" dirty="0">
                <a:latin typeface="Calibri"/>
                <a:cs typeface="Calibri"/>
              </a:rPr>
              <a:t>e</a:t>
            </a:r>
            <a:r>
              <a:rPr sz="2400" b="1" spc="-30" dirty="0">
                <a:latin typeface="Calibri"/>
                <a:cs typeface="Calibri"/>
              </a:rPr>
              <a:t>i</a:t>
            </a:r>
            <a:r>
              <a:rPr sz="2400" b="1" spc="-25" dirty="0">
                <a:latin typeface="Calibri"/>
                <a:cs typeface="Calibri"/>
              </a:rPr>
              <a:t>g</a:t>
            </a:r>
            <a:r>
              <a:rPr sz="2400" b="1" spc="-55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ri</a:t>
            </a:r>
            <a:r>
              <a:rPr sz="2400" b="1" spc="-45" dirty="0">
                <a:latin typeface="Calibri"/>
                <a:cs typeface="Calibri"/>
              </a:rPr>
              <a:t>v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spc="-20" dirty="0">
                <a:latin typeface="Calibri"/>
                <a:cs typeface="Calibri"/>
              </a:rPr>
              <a:t>t</a:t>
            </a:r>
            <a:r>
              <a:rPr sz="2400" b="1" spc="-15" dirty="0">
                <a:latin typeface="Calibri"/>
                <a:cs typeface="Calibri"/>
              </a:rPr>
              <a:t>i</a:t>
            </a:r>
            <a:r>
              <a:rPr sz="2400" b="1" spc="-35" dirty="0">
                <a:latin typeface="Calibri"/>
                <a:cs typeface="Calibri"/>
              </a:rPr>
              <a:t>v</a:t>
            </a:r>
            <a:r>
              <a:rPr sz="2400" b="1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32204" y="2060448"/>
            <a:ext cx="4236720" cy="890269"/>
            <a:chOff x="1632204" y="2060448"/>
            <a:chExt cx="4236720" cy="89026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6588" y="2084832"/>
              <a:ext cx="4212336" cy="8656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32204" y="2060448"/>
              <a:ext cx="4210685" cy="864235"/>
            </a:xfrm>
            <a:custGeom>
              <a:avLst/>
              <a:gdLst/>
              <a:ahLst/>
              <a:cxnLst/>
              <a:rect l="l" t="t" r="r" b="b"/>
              <a:pathLst>
                <a:path w="4210685" h="864235">
                  <a:moveTo>
                    <a:pt x="4210304" y="0"/>
                  </a:moveTo>
                  <a:lnTo>
                    <a:pt x="0" y="0"/>
                  </a:lnTo>
                  <a:lnTo>
                    <a:pt x="0" y="863980"/>
                  </a:lnTo>
                  <a:lnTo>
                    <a:pt x="4210304" y="863980"/>
                  </a:lnTo>
                  <a:lnTo>
                    <a:pt x="4210304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07642" y="2478786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476250" y="0"/>
                  </a:lnTo>
                </a:path>
                <a:path w="1600200">
                  <a:moveTo>
                    <a:pt x="886078" y="0"/>
                  </a:moveTo>
                  <a:lnTo>
                    <a:pt x="1292352" y="0"/>
                  </a:lnTo>
                </a:path>
                <a:path w="1600200">
                  <a:moveTo>
                    <a:pt x="1362328" y="0"/>
                  </a:moveTo>
                  <a:lnTo>
                    <a:pt x="1599819" y="0"/>
                  </a:lnTo>
                </a:path>
              </a:pathLst>
            </a:custGeom>
            <a:ln w="16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289301" y="2212085"/>
            <a:ext cx="17018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3042" y="1992655"/>
            <a:ext cx="1524635" cy="84709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30"/>
              </a:spcBef>
              <a:tabLst>
                <a:tab pos="967105" algn="l"/>
              </a:tabLst>
            </a:pPr>
            <a:r>
              <a:rPr sz="2250" dirty="0">
                <a:latin typeface="Symbol"/>
                <a:cs typeface="Symbol"/>
              </a:rPr>
              <a:t></a:t>
            </a:r>
            <a:r>
              <a:rPr sz="2250" spc="-204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E	</a:t>
            </a:r>
            <a:r>
              <a:rPr sz="2250" dirty="0">
                <a:latin typeface="Symbol"/>
                <a:cs typeface="Symbol"/>
              </a:rPr>
              <a:t></a:t>
            </a:r>
            <a:endParaRPr sz="2250">
              <a:latin typeface="Symbol"/>
              <a:cs typeface="Symbol"/>
            </a:endParaRPr>
          </a:p>
          <a:p>
            <a:pPr marL="34290">
              <a:lnSpc>
                <a:spcPct val="100000"/>
              </a:lnSpc>
              <a:spcBef>
                <a:spcPts val="535"/>
              </a:spcBef>
              <a:tabLst>
                <a:tab pos="884555" algn="l"/>
                <a:tab pos="1367790" algn="l"/>
              </a:tabLst>
            </a:pPr>
            <a:r>
              <a:rPr sz="2250" dirty="0">
                <a:latin typeface="Symbol"/>
                <a:cs typeface="Symbol"/>
              </a:rPr>
              <a:t></a:t>
            </a:r>
            <a:r>
              <a:rPr sz="2250" spc="-26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y	</a:t>
            </a:r>
            <a:r>
              <a:rPr sz="2250" dirty="0">
                <a:latin typeface="Symbol"/>
                <a:cs typeface="Symbol"/>
              </a:rPr>
              <a:t></a:t>
            </a:r>
            <a:r>
              <a:rPr sz="2250" spc="-26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y	</a:t>
            </a:r>
            <a:r>
              <a:rPr sz="2250" dirty="0">
                <a:latin typeface="Times New Roman"/>
                <a:cs typeface="Times New Roman"/>
              </a:rPr>
              <a:t>2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8032" y="2243454"/>
            <a:ext cx="264604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28345" algn="l"/>
                <a:tab pos="1033144" algn="l"/>
                <a:tab pos="1629410" algn="l"/>
                <a:tab pos="1962785" algn="l"/>
              </a:tabLst>
            </a:pPr>
            <a:r>
              <a:rPr sz="3375" baseline="29629" dirty="0">
                <a:latin typeface="Times New Roman"/>
                <a:cs typeface="Times New Roman"/>
              </a:rPr>
              <a:t>1</a:t>
            </a:r>
            <a:r>
              <a:rPr sz="3375" spc="652" baseline="29629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(</a:t>
            </a:r>
            <a:r>
              <a:rPr sz="2250" spc="-23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	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i="1" dirty="0">
                <a:latin typeface="Times New Roman"/>
                <a:cs typeface="Times New Roman"/>
              </a:rPr>
              <a:t>y</a:t>
            </a:r>
            <a:r>
              <a:rPr sz="2250" i="1" spc="-21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)</a:t>
            </a:r>
            <a:r>
              <a:rPr sz="2250" spc="-200" dirty="0">
                <a:latin typeface="Times New Roman"/>
                <a:cs typeface="Times New Roman"/>
              </a:rPr>
              <a:t> </a:t>
            </a:r>
            <a:r>
              <a:rPr sz="2325" spc="-7" baseline="30465" dirty="0">
                <a:latin typeface="Times New Roman"/>
                <a:cs typeface="Times New Roman"/>
              </a:rPr>
              <a:t>2	</a:t>
            </a:r>
            <a:r>
              <a:rPr sz="2250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i="1" dirty="0">
                <a:latin typeface="Times New Roman"/>
                <a:cs typeface="Times New Roman"/>
              </a:rPr>
              <a:t>y</a:t>
            </a:r>
            <a:r>
              <a:rPr sz="2250" i="1" spc="254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24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d</a:t>
            </a:r>
            <a:endParaRPr sz="22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9052" y="3069335"/>
            <a:ext cx="5499100" cy="1031875"/>
            <a:chOff x="1559052" y="3069335"/>
            <a:chExt cx="5499100" cy="10318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436" y="3093719"/>
              <a:ext cx="5474208" cy="10073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59052" y="3069335"/>
              <a:ext cx="5472430" cy="1007110"/>
            </a:xfrm>
            <a:custGeom>
              <a:avLst/>
              <a:gdLst/>
              <a:ahLst/>
              <a:cxnLst/>
              <a:rect l="l" t="t" r="r" b="b"/>
              <a:pathLst>
                <a:path w="5472430" h="1007110">
                  <a:moveTo>
                    <a:pt x="5472303" y="0"/>
                  </a:moveTo>
                  <a:lnTo>
                    <a:pt x="0" y="0"/>
                  </a:lnTo>
                  <a:lnTo>
                    <a:pt x="0" y="1006982"/>
                  </a:lnTo>
                  <a:lnTo>
                    <a:pt x="5472303" y="1006982"/>
                  </a:lnTo>
                  <a:lnTo>
                    <a:pt x="547230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32204" y="3592067"/>
              <a:ext cx="5199380" cy="0"/>
            </a:xfrm>
            <a:custGeom>
              <a:avLst/>
              <a:gdLst/>
              <a:ahLst/>
              <a:cxnLst/>
              <a:rect l="l" t="t" r="r" b="b"/>
              <a:pathLst>
                <a:path w="5199380">
                  <a:moveTo>
                    <a:pt x="0" y="0"/>
                  </a:moveTo>
                  <a:lnTo>
                    <a:pt x="395223" y="0"/>
                  </a:lnTo>
                </a:path>
                <a:path w="5199380">
                  <a:moveTo>
                    <a:pt x="793876" y="0"/>
                  </a:moveTo>
                  <a:lnTo>
                    <a:pt x="1166495" y="0"/>
                  </a:lnTo>
                </a:path>
                <a:path w="5199380">
                  <a:moveTo>
                    <a:pt x="1234439" y="0"/>
                  </a:moveTo>
                  <a:lnTo>
                    <a:pt x="2213991" y="0"/>
                  </a:lnTo>
                </a:path>
                <a:path w="5199380">
                  <a:moveTo>
                    <a:pt x="2612644" y="0"/>
                  </a:moveTo>
                  <a:lnTo>
                    <a:pt x="3592322" y="0"/>
                  </a:lnTo>
                </a:path>
                <a:path w="5199380">
                  <a:moveTo>
                    <a:pt x="4219702" y="0"/>
                  </a:moveTo>
                  <a:lnTo>
                    <a:pt x="5199253" y="0"/>
                  </a:lnTo>
                </a:path>
              </a:pathLst>
            </a:custGeom>
            <a:ln w="18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850126" y="3301746"/>
            <a:ext cx="131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82184" y="3303270"/>
            <a:ext cx="5099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229" dirty="0">
                <a:latin typeface="Times New Roman"/>
                <a:cs typeface="Times New Roman"/>
              </a:rPr>
              <a:t>(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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03446" y="2940862"/>
            <a:ext cx="2607945" cy="113919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58419" algn="ctr">
              <a:lnSpc>
                <a:spcPct val="100000"/>
              </a:lnSpc>
              <a:spcBef>
                <a:spcPts val="1125"/>
              </a:spcBef>
              <a:tabLst>
                <a:tab pos="1666239" algn="l"/>
              </a:tabLst>
            </a:pPr>
            <a:r>
              <a:rPr sz="2800" spc="-5" dirty="0">
                <a:latin typeface="Times New Roman"/>
                <a:cs typeface="Times New Roman"/>
              </a:rPr>
              <a:t>1	1</a:t>
            </a:r>
            <a:endParaRPr sz="28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019"/>
              </a:spcBef>
              <a:tabLst>
                <a:tab pos="1607185" algn="l"/>
              </a:tabLst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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e</a:t>
            </a:r>
            <a:r>
              <a:rPr sz="2925" spc="240" baseline="31339" dirty="0">
                <a:latin typeface="Symbol"/>
                <a:cs typeface="Symbol"/>
              </a:rPr>
              <a:t></a:t>
            </a:r>
            <a:r>
              <a:rPr sz="2925" i="1" baseline="31339" dirty="0">
                <a:latin typeface="Times New Roman"/>
                <a:cs typeface="Times New Roman"/>
              </a:rPr>
              <a:t>s	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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e</a:t>
            </a:r>
            <a:r>
              <a:rPr sz="2925" spc="247" baseline="31339" dirty="0">
                <a:latin typeface="Symbol"/>
                <a:cs typeface="Symbol"/>
              </a:rPr>
              <a:t></a:t>
            </a:r>
            <a:r>
              <a:rPr sz="2925" i="1" baseline="31339" dirty="0">
                <a:latin typeface="Times New Roman"/>
                <a:cs typeface="Times New Roman"/>
              </a:rPr>
              <a:t>s</a:t>
            </a:r>
            <a:endParaRPr sz="2925" baseline="3133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49953" y="3309365"/>
            <a:ext cx="207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26080" y="3621481"/>
            <a:ext cx="1379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200" spc="-15" baseline="3968" dirty="0">
                <a:latin typeface="Symbol"/>
                <a:cs typeface="Symbol"/>
              </a:rPr>
              <a:t></a:t>
            </a:r>
            <a:r>
              <a:rPr sz="4200" i="1" spc="-7" baseline="3968" dirty="0">
                <a:latin typeface="Times New Roman"/>
                <a:cs typeface="Times New Roman"/>
              </a:rPr>
              <a:t>s</a:t>
            </a:r>
            <a:r>
              <a:rPr sz="4200" i="1" spc="30" baseline="3968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43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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190" dirty="0">
                <a:latin typeface="Times New Roman"/>
                <a:cs typeface="Times New Roman"/>
              </a:rPr>
              <a:t>e</a:t>
            </a:r>
            <a:r>
              <a:rPr sz="2925" spc="240" baseline="31339" dirty="0">
                <a:latin typeface="Symbol"/>
                <a:cs typeface="Symbol"/>
              </a:rPr>
              <a:t></a:t>
            </a:r>
            <a:r>
              <a:rPr sz="2925" i="1" baseline="31339" dirty="0">
                <a:latin typeface="Times New Roman"/>
                <a:cs typeface="Times New Roman"/>
              </a:rPr>
              <a:t>s</a:t>
            </a:r>
            <a:endParaRPr sz="2925" baseline="3133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68145" y="3586988"/>
            <a:ext cx="326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Symbol"/>
                <a:cs typeface="Symbol"/>
              </a:rPr>
              <a:t></a:t>
            </a:r>
            <a:r>
              <a:rPr sz="2800" i="1" spc="-5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18488" y="3073654"/>
            <a:ext cx="1861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10540" algn="l"/>
                <a:tab pos="899160" algn="l"/>
                <a:tab pos="1645920" algn="l"/>
              </a:tabLst>
            </a:pPr>
            <a:r>
              <a:rPr sz="2800" dirty="0">
                <a:latin typeface="Symbol"/>
                <a:cs typeface="Symbol"/>
              </a:rPr>
              <a:t></a:t>
            </a:r>
            <a:r>
              <a:rPr sz="2800" i="1" dirty="0">
                <a:latin typeface="Times New Roman"/>
                <a:cs typeface="Times New Roman"/>
              </a:rPr>
              <a:t>y	</a:t>
            </a:r>
            <a:r>
              <a:rPr sz="4200" spc="-7" baseline="-29761" dirty="0">
                <a:latin typeface="Symbol"/>
                <a:cs typeface="Symbol"/>
              </a:rPr>
              <a:t></a:t>
            </a:r>
            <a:r>
              <a:rPr sz="4200" spc="-7" baseline="-29761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Symbol"/>
                <a:cs typeface="Symbol"/>
              </a:rPr>
              <a:t></a:t>
            </a:r>
            <a:r>
              <a:rPr sz="2800" spc="-5" dirty="0">
                <a:latin typeface="Times New Roman"/>
                <a:cs typeface="Times New Roman"/>
              </a:rPr>
              <a:t>	1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59052" y="4221479"/>
            <a:ext cx="4203700" cy="1103630"/>
            <a:chOff x="1559052" y="4221479"/>
            <a:chExt cx="4203700" cy="110363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3436" y="4245863"/>
              <a:ext cx="4178808" cy="107899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559052" y="4221479"/>
              <a:ext cx="4177029" cy="1078865"/>
            </a:xfrm>
            <a:custGeom>
              <a:avLst/>
              <a:gdLst/>
              <a:ahLst/>
              <a:cxnLst/>
              <a:rect l="l" t="t" r="r" b="b"/>
              <a:pathLst>
                <a:path w="4177029" h="1078864">
                  <a:moveTo>
                    <a:pt x="4176903" y="0"/>
                  </a:moveTo>
                  <a:lnTo>
                    <a:pt x="0" y="0"/>
                  </a:lnTo>
                  <a:lnTo>
                    <a:pt x="0" y="1078484"/>
                  </a:lnTo>
                  <a:lnTo>
                    <a:pt x="4176903" y="1078484"/>
                  </a:lnTo>
                  <a:lnTo>
                    <a:pt x="417690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80261" y="4448047"/>
            <a:ext cx="4194175" cy="755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875"/>
              </a:lnSpc>
              <a:spcBef>
                <a:spcPts val="95"/>
              </a:spcBef>
              <a:tabLst>
                <a:tab pos="1499870" algn="l"/>
              </a:tabLst>
            </a:pPr>
            <a:r>
              <a:rPr sz="4200" u="heavy" spc="-7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-494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-412" baseline="3869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4200" i="1" u="heavy" spc="-7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4200" i="1" u="heavy" spc="352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i="1" spc="-60" baseline="38690" dirty="0">
                <a:latin typeface="Times New Roman"/>
                <a:cs typeface="Times New Roman"/>
              </a:rPr>
              <a:t> </a:t>
            </a:r>
            <a:r>
              <a:rPr sz="4200" spc="-7" baseline="8928" dirty="0">
                <a:latin typeface="Symbol"/>
                <a:cs typeface="Symbol"/>
              </a:rPr>
              <a:t></a:t>
            </a:r>
            <a:r>
              <a:rPr sz="4200" spc="-532" baseline="8928" dirty="0">
                <a:latin typeface="Times New Roman"/>
                <a:cs typeface="Times New Roman"/>
              </a:rPr>
              <a:t> </a:t>
            </a:r>
            <a:r>
              <a:rPr sz="4200" u="heavy" spc="-7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150" baseline="386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200" u="heavy" spc="-7" baseline="3869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4200" baseline="38690" dirty="0">
                <a:latin typeface="Times New Roman"/>
                <a:cs typeface="Times New Roman"/>
              </a:rPr>
              <a:t>	</a:t>
            </a:r>
            <a:r>
              <a:rPr sz="3400" i="1" spc="-370" dirty="0">
                <a:latin typeface="Times New Roman"/>
                <a:cs typeface="Times New Roman"/>
              </a:rPr>
              <a:t>x</a:t>
            </a:r>
            <a:r>
              <a:rPr sz="2925" spc="104" baseline="-8547" dirty="0">
                <a:latin typeface="Times New Roman"/>
                <a:cs typeface="Times New Roman"/>
              </a:rPr>
              <a:t>1</a:t>
            </a:r>
            <a:r>
              <a:rPr sz="3400" i="1" spc="-625" dirty="0">
                <a:latin typeface="Times New Roman"/>
                <a:cs typeface="Times New Roman"/>
              </a:rPr>
              <a:t>w</a:t>
            </a:r>
            <a:r>
              <a:rPr sz="2925" spc="179" baseline="-8547" dirty="0">
                <a:latin typeface="Times New Roman"/>
                <a:cs typeface="Times New Roman"/>
              </a:rPr>
              <a:t>1</a:t>
            </a:r>
            <a:r>
              <a:rPr sz="4200" spc="-7" baseline="8928" dirty="0">
                <a:latin typeface="Symbol"/>
                <a:cs typeface="Symbol"/>
              </a:rPr>
              <a:t></a:t>
            </a:r>
            <a:r>
              <a:rPr sz="4200" spc="-600" baseline="8928" dirty="0">
                <a:latin typeface="Times New Roman"/>
                <a:cs typeface="Times New Roman"/>
              </a:rPr>
              <a:t> </a:t>
            </a:r>
            <a:r>
              <a:rPr sz="3400" i="1" spc="-190" dirty="0">
                <a:latin typeface="Times New Roman"/>
                <a:cs typeface="Times New Roman"/>
              </a:rPr>
              <a:t>x</a:t>
            </a:r>
            <a:r>
              <a:rPr sz="2925" baseline="-8547" dirty="0">
                <a:latin typeface="Times New Roman"/>
                <a:cs typeface="Times New Roman"/>
              </a:rPr>
              <a:t>2</a:t>
            </a:r>
            <a:r>
              <a:rPr sz="2925" spc="-457" baseline="-8547" dirty="0">
                <a:latin typeface="Times New Roman"/>
                <a:cs typeface="Times New Roman"/>
              </a:rPr>
              <a:t> </a:t>
            </a:r>
            <a:r>
              <a:rPr sz="3400" i="1" spc="-425" dirty="0">
                <a:latin typeface="Times New Roman"/>
                <a:cs typeface="Times New Roman"/>
              </a:rPr>
              <a:t>w</a:t>
            </a:r>
            <a:r>
              <a:rPr sz="2925" baseline="-8547" dirty="0">
                <a:latin typeface="Times New Roman"/>
                <a:cs typeface="Times New Roman"/>
              </a:rPr>
              <a:t>2</a:t>
            </a:r>
            <a:r>
              <a:rPr sz="2925" spc="-390" baseline="-8547" dirty="0">
                <a:latin typeface="Times New Roman"/>
                <a:cs typeface="Times New Roman"/>
              </a:rPr>
              <a:t> </a:t>
            </a:r>
            <a:r>
              <a:rPr sz="4200" spc="120" baseline="8928" dirty="0">
                <a:latin typeface="Symbol"/>
                <a:cs typeface="Symbol"/>
              </a:rPr>
              <a:t></a:t>
            </a:r>
            <a:r>
              <a:rPr sz="3400" i="1" spc="-5" dirty="0">
                <a:latin typeface="Times New Roman"/>
                <a:cs typeface="Times New Roman"/>
              </a:rPr>
              <a:t>b</a:t>
            </a:r>
            <a:r>
              <a:rPr sz="3400" i="1" spc="210" dirty="0">
                <a:latin typeface="Times New Roman"/>
                <a:cs typeface="Times New Roman"/>
              </a:rPr>
              <a:t> </a:t>
            </a:r>
            <a:r>
              <a:rPr sz="4200" spc="-7" baseline="8928" dirty="0">
                <a:latin typeface="Symbol"/>
                <a:cs typeface="Symbol"/>
              </a:rPr>
              <a:t></a:t>
            </a:r>
            <a:r>
              <a:rPr sz="4200" spc="-405" baseline="8928" dirty="0">
                <a:latin typeface="Times New Roman"/>
                <a:cs typeface="Times New Roman"/>
              </a:rPr>
              <a:t> </a:t>
            </a:r>
            <a:r>
              <a:rPr sz="3400" i="1" spc="-360" dirty="0">
                <a:latin typeface="Times New Roman"/>
                <a:cs typeface="Times New Roman"/>
              </a:rPr>
              <a:t>x</a:t>
            </a:r>
            <a:r>
              <a:rPr sz="2925" baseline="-8547" dirty="0">
                <a:latin typeface="Times New Roman"/>
                <a:cs typeface="Times New Roman"/>
              </a:rPr>
              <a:t>1</a:t>
            </a:r>
            <a:endParaRPr sz="2925" baseline="-8547">
              <a:latin typeface="Times New Roman"/>
              <a:cs typeface="Times New Roman"/>
            </a:endParaRPr>
          </a:p>
          <a:p>
            <a:pPr marL="57785">
              <a:lnSpc>
                <a:spcPts val="2875"/>
              </a:lnSpc>
              <a:tabLst>
                <a:tab pos="917575" algn="l"/>
              </a:tabLst>
            </a:pPr>
            <a:r>
              <a:rPr sz="2800" spc="-145" dirty="0">
                <a:latin typeface="Symbol"/>
                <a:cs typeface="Symbol"/>
              </a:rPr>
              <a:t></a:t>
            </a:r>
            <a:r>
              <a:rPr sz="5100" i="1" spc="-217" baseline="-7352" dirty="0">
                <a:latin typeface="Times New Roman"/>
                <a:cs typeface="Times New Roman"/>
              </a:rPr>
              <a:t>w</a:t>
            </a:r>
            <a:r>
              <a:rPr sz="2925" spc="-217" baseline="-25641" dirty="0">
                <a:latin typeface="Times New Roman"/>
                <a:cs typeface="Times New Roman"/>
              </a:rPr>
              <a:t>1	</a:t>
            </a:r>
            <a:r>
              <a:rPr sz="2800" spc="-145" dirty="0">
                <a:latin typeface="Symbol"/>
                <a:cs typeface="Symbol"/>
              </a:rPr>
              <a:t></a:t>
            </a:r>
            <a:r>
              <a:rPr sz="5100" i="1" spc="-217" baseline="-7352" dirty="0">
                <a:latin typeface="Times New Roman"/>
                <a:cs typeface="Times New Roman"/>
              </a:rPr>
              <a:t>w</a:t>
            </a:r>
            <a:r>
              <a:rPr sz="2925" spc="-217" baseline="-25641" dirty="0">
                <a:latin typeface="Times New Roman"/>
                <a:cs typeface="Times New Roman"/>
              </a:rPr>
              <a:t>1</a:t>
            </a:r>
            <a:endParaRPr sz="2925" baseline="-25641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93535" y="4293108"/>
            <a:ext cx="4391025" cy="1003300"/>
            <a:chOff x="6193535" y="4293108"/>
            <a:chExt cx="4391025" cy="100330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7919" y="4317492"/>
              <a:ext cx="4366260" cy="97840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193535" y="4293108"/>
              <a:ext cx="4366260" cy="976630"/>
            </a:xfrm>
            <a:custGeom>
              <a:avLst/>
              <a:gdLst/>
              <a:ahLst/>
              <a:cxnLst/>
              <a:rect l="l" t="t" r="r" b="b"/>
              <a:pathLst>
                <a:path w="4366259" h="976629">
                  <a:moveTo>
                    <a:pt x="4366260" y="0"/>
                  </a:moveTo>
                  <a:lnTo>
                    <a:pt x="0" y="0"/>
                  </a:lnTo>
                  <a:lnTo>
                    <a:pt x="0" y="976502"/>
                  </a:lnTo>
                  <a:lnTo>
                    <a:pt x="4366260" y="976502"/>
                  </a:lnTo>
                  <a:lnTo>
                    <a:pt x="436626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36461" y="4691252"/>
            <a:ext cx="1556385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51230" algn="l"/>
              </a:tabLst>
            </a:pPr>
            <a:r>
              <a:rPr sz="2550" spc="-5" dirty="0">
                <a:latin typeface="Symbol"/>
                <a:cs typeface="Symbol"/>
              </a:rPr>
              <a:t></a:t>
            </a:r>
            <a:r>
              <a:rPr sz="2550" spc="-310" dirty="0">
                <a:latin typeface="Times New Roman"/>
                <a:cs typeface="Times New Roman"/>
              </a:rPr>
              <a:t> </a:t>
            </a:r>
            <a:r>
              <a:rPr sz="4575" i="1" spc="-247" baseline="-7285" dirty="0">
                <a:latin typeface="Times New Roman"/>
                <a:cs typeface="Times New Roman"/>
              </a:rPr>
              <a:t>w</a:t>
            </a:r>
            <a:r>
              <a:rPr sz="2700" baseline="-24691" dirty="0">
                <a:latin typeface="Times New Roman"/>
                <a:cs typeface="Times New Roman"/>
              </a:rPr>
              <a:t>2	</a:t>
            </a:r>
            <a:r>
              <a:rPr sz="2550" spc="-5" dirty="0">
                <a:latin typeface="Symbol"/>
                <a:cs typeface="Symbol"/>
              </a:rPr>
              <a:t></a:t>
            </a:r>
            <a:r>
              <a:rPr sz="2550" spc="-315" dirty="0">
                <a:latin typeface="Times New Roman"/>
                <a:cs typeface="Times New Roman"/>
              </a:rPr>
              <a:t> </a:t>
            </a:r>
            <a:r>
              <a:rPr sz="4575" i="1" spc="-240" baseline="-7285" dirty="0">
                <a:latin typeface="Times New Roman"/>
                <a:cs typeface="Times New Roman"/>
              </a:rPr>
              <a:t>w</a:t>
            </a:r>
            <a:r>
              <a:rPr sz="2700" baseline="-24691" dirty="0">
                <a:latin typeface="Times New Roman"/>
                <a:cs typeface="Times New Roman"/>
              </a:rPr>
              <a:t>2</a:t>
            </a:r>
            <a:endParaRPr sz="2700" baseline="-24691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28460" y="4334713"/>
            <a:ext cx="82613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608965" algn="l"/>
              </a:tabLst>
            </a:pPr>
            <a:r>
              <a:rPr sz="255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0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0" u="heavy" spc="-5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2550" i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	</a:t>
            </a:r>
            <a:r>
              <a:rPr sz="3825" spc="-7" baseline="-30501" dirty="0">
                <a:latin typeface="Symbol"/>
                <a:cs typeface="Symbol"/>
              </a:rPr>
              <a:t></a:t>
            </a:r>
            <a:endParaRPr sz="3825" baseline="-30501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000620" y="4689728"/>
            <a:ext cx="749935" cy="22860"/>
          </a:xfrm>
          <a:custGeom>
            <a:avLst/>
            <a:gdLst/>
            <a:ahLst/>
            <a:cxnLst/>
            <a:rect l="l" t="t" r="r" b="b"/>
            <a:pathLst>
              <a:path w="749934" h="22860">
                <a:moveTo>
                  <a:pt x="749807" y="0"/>
                </a:moveTo>
                <a:lnTo>
                  <a:pt x="0" y="0"/>
                </a:lnTo>
                <a:lnTo>
                  <a:pt x="0" y="22860"/>
                </a:lnTo>
                <a:lnTo>
                  <a:pt x="749807" y="22860"/>
                </a:lnTo>
                <a:lnTo>
                  <a:pt x="749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357109" y="4499305"/>
            <a:ext cx="319849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93700" algn="l"/>
                <a:tab pos="2619375" algn="l"/>
              </a:tabLst>
            </a:pPr>
            <a:r>
              <a:rPr sz="3825" spc="-7" baseline="39215" dirty="0">
                <a:latin typeface="Symbol"/>
                <a:cs typeface="Symbol"/>
              </a:rPr>
              <a:t></a:t>
            </a:r>
            <a:r>
              <a:rPr sz="3825" spc="-7" baseline="39215" dirty="0">
                <a:latin typeface="Times New Roman"/>
                <a:cs typeface="Times New Roman"/>
              </a:rPr>
              <a:t>	</a:t>
            </a:r>
            <a:r>
              <a:rPr sz="3050" i="1" spc="-5" dirty="0">
                <a:latin typeface="Times New Roman"/>
                <a:cs typeface="Times New Roman"/>
              </a:rPr>
              <a:t>x</a:t>
            </a:r>
            <a:r>
              <a:rPr sz="3050" i="1" spc="-420" dirty="0">
                <a:latin typeface="Times New Roman"/>
                <a:cs typeface="Times New Roman"/>
              </a:rPr>
              <a:t> </a:t>
            </a:r>
            <a:r>
              <a:rPr sz="2700" spc="-585" baseline="-9259" dirty="0">
                <a:latin typeface="Times New Roman"/>
                <a:cs typeface="Times New Roman"/>
              </a:rPr>
              <a:t>1</a:t>
            </a:r>
            <a:r>
              <a:rPr sz="3050" i="1" spc="200" dirty="0">
                <a:latin typeface="Times New Roman"/>
                <a:cs typeface="Times New Roman"/>
              </a:rPr>
              <a:t>w</a:t>
            </a:r>
            <a:r>
              <a:rPr sz="2700" spc="-472" baseline="-9259" dirty="0">
                <a:latin typeface="Times New Roman"/>
                <a:cs typeface="Times New Roman"/>
              </a:rPr>
              <a:t>1</a:t>
            </a:r>
            <a:r>
              <a:rPr sz="3825" spc="-7" baseline="8714" dirty="0">
                <a:latin typeface="Symbol"/>
                <a:cs typeface="Symbol"/>
              </a:rPr>
              <a:t></a:t>
            </a:r>
            <a:r>
              <a:rPr sz="3825" spc="-262" baseline="8714" dirty="0">
                <a:latin typeface="Times New Roman"/>
                <a:cs typeface="Times New Roman"/>
              </a:rPr>
              <a:t> </a:t>
            </a:r>
            <a:r>
              <a:rPr sz="3050" i="1" dirty="0">
                <a:latin typeface="Times New Roman"/>
                <a:cs typeface="Times New Roman"/>
              </a:rPr>
              <a:t>x</a:t>
            </a:r>
            <a:r>
              <a:rPr sz="3050" i="1" spc="-229" dirty="0">
                <a:latin typeface="Times New Roman"/>
                <a:cs typeface="Times New Roman"/>
              </a:rPr>
              <a:t> </a:t>
            </a:r>
            <a:r>
              <a:rPr sz="2700" baseline="-9259" dirty="0">
                <a:latin typeface="Times New Roman"/>
                <a:cs typeface="Times New Roman"/>
              </a:rPr>
              <a:t>2</a:t>
            </a:r>
            <a:r>
              <a:rPr sz="2700" spc="-254" baseline="-9259" dirty="0">
                <a:latin typeface="Times New Roman"/>
                <a:cs typeface="Times New Roman"/>
              </a:rPr>
              <a:t> </a:t>
            </a:r>
            <a:r>
              <a:rPr sz="3050" i="1" spc="-160" dirty="0">
                <a:latin typeface="Times New Roman"/>
                <a:cs typeface="Times New Roman"/>
              </a:rPr>
              <a:t>w</a:t>
            </a:r>
            <a:r>
              <a:rPr sz="2700" baseline="-9259" dirty="0">
                <a:latin typeface="Times New Roman"/>
                <a:cs typeface="Times New Roman"/>
              </a:rPr>
              <a:t>2</a:t>
            </a:r>
            <a:r>
              <a:rPr sz="2700" spc="-179" baseline="-9259" dirty="0">
                <a:latin typeface="Times New Roman"/>
                <a:cs typeface="Times New Roman"/>
              </a:rPr>
              <a:t> </a:t>
            </a:r>
            <a:r>
              <a:rPr sz="3825" spc="-7" baseline="8714" dirty="0">
                <a:latin typeface="Symbol"/>
                <a:cs typeface="Symbol"/>
              </a:rPr>
              <a:t></a:t>
            </a:r>
            <a:r>
              <a:rPr sz="3825" spc="-592" baseline="8714" dirty="0">
                <a:latin typeface="Times New Roman"/>
                <a:cs typeface="Times New Roman"/>
              </a:rPr>
              <a:t> </a:t>
            </a:r>
            <a:r>
              <a:rPr sz="3050" i="1" dirty="0">
                <a:latin typeface="Times New Roman"/>
                <a:cs typeface="Times New Roman"/>
              </a:rPr>
              <a:t>b	</a:t>
            </a:r>
            <a:r>
              <a:rPr sz="3825" spc="-7" baseline="8714" dirty="0">
                <a:latin typeface="Symbol"/>
                <a:cs typeface="Symbol"/>
              </a:rPr>
              <a:t></a:t>
            </a:r>
            <a:r>
              <a:rPr sz="3825" spc="-157" baseline="8714" dirty="0">
                <a:latin typeface="Times New Roman"/>
                <a:cs typeface="Times New Roman"/>
              </a:rPr>
              <a:t> </a:t>
            </a:r>
            <a:r>
              <a:rPr sz="3050" i="1" spc="70" dirty="0">
                <a:latin typeface="Times New Roman"/>
                <a:cs typeface="Times New Roman"/>
              </a:rPr>
              <a:t>x</a:t>
            </a:r>
            <a:r>
              <a:rPr sz="2700" baseline="-9259" dirty="0">
                <a:latin typeface="Times New Roman"/>
                <a:cs typeface="Times New Roman"/>
              </a:rPr>
              <a:t>2</a:t>
            </a:r>
            <a:endParaRPr sz="2700" baseline="-9259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215639" y="5548884"/>
            <a:ext cx="5364480" cy="1158240"/>
            <a:chOff x="3215639" y="5548884"/>
            <a:chExt cx="5364480" cy="1158240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27831" y="5561076"/>
              <a:ext cx="5352288" cy="114604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15639" y="5548884"/>
              <a:ext cx="5327650" cy="1120140"/>
            </a:xfrm>
            <a:custGeom>
              <a:avLst/>
              <a:gdLst/>
              <a:ahLst/>
              <a:cxnLst/>
              <a:rect l="l" t="t" r="r" b="b"/>
              <a:pathLst>
                <a:path w="5327650" h="1120140">
                  <a:moveTo>
                    <a:pt x="5327523" y="0"/>
                  </a:moveTo>
                  <a:lnTo>
                    <a:pt x="0" y="0"/>
                  </a:lnTo>
                  <a:lnTo>
                    <a:pt x="0" y="1120139"/>
                  </a:lnTo>
                  <a:lnTo>
                    <a:pt x="5327523" y="1120139"/>
                  </a:lnTo>
                  <a:lnTo>
                    <a:pt x="5327523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85816" y="6091428"/>
              <a:ext cx="2587625" cy="0"/>
            </a:xfrm>
            <a:custGeom>
              <a:avLst/>
              <a:gdLst/>
              <a:ahLst/>
              <a:cxnLst/>
              <a:rect l="l" t="t" r="r" b="b"/>
              <a:pathLst>
                <a:path w="2587625">
                  <a:moveTo>
                    <a:pt x="0" y="0"/>
                  </a:moveTo>
                  <a:lnTo>
                    <a:pt x="979932" y="0"/>
                  </a:lnTo>
                </a:path>
                <a:path w="2587625">
                  <a:moveTo>
                    <a:pt x="1607692" y="0"/>
                  </a:moveTo>
                  <a:lnTo>
                    <a:pt x="2587625" y="0"/>
                  </a:lnTo>
                </a:path>
              </a:pathLst>
            </a:custGeom>
            <a:ln w="183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367776" y="6013196"/>
            <a:ext cx="9842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i="1" dirty="0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25366" y="6307632"/>
            <a:ext cx="9842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i="1" dirty="0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954391" y="5712967"/>
            <a:ext cx="46291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50" dirty="0">
                <a:latin typeface="Times New Roman"/>
                <a:cs typeface="Times New Roman"/>
              </a:rPr>
              <a:t>)</a:t>
            </a:r>
            <a:r>
              <a:rPr sz="2950" spc="-235" dirty="0">
                <a:latin typeface="Times New Roman"/>
                <a:cs typeface="Times New Roman"/>
              </a:rPr>
              <a:t> </a:t>
            </a:r>
            <a:r>
              <a:rPr sz="5250" i="1" baseline="-7936" dirty="0">
                <a:latin typeface="Times New Roman"/>
                <a:cs typeface="Times New Roman"/>
              </a:rPr>
              <a:t>x</a:t>
            </a:r>
            <a:endParaRPr sz="5250" baseline="-7936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10959" y="5785510"/>
            <a:ext cx="53149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275" dirty="0">
                <a:latin typeface="Times New Roman"/>
                <a:cs typeface="Times New Roman"/>
              </a:rPr>
              <a:t>(</a:t>
            </a:r>
            <a:r>
              <a:rPr sz="2950" spc="180" dirty="0">
                <a:latin typeface="Times New Roman"/>
                <a:cs typeface="Times New Roman"/>
              </a:rPr>
              <a:t>1</a:t>
            </a:r>
            <a:r>
              <a:rPr sz="2950" dirty="0">
                <a:latin typeface="Symbol"/>
                <a:cs typeface="Symbol"/>
              </a:rPr>
              <a:t>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72658" y="5545632"/>
            <a:ext cx="21336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80858" y="5545632"/>
            <a:ext cx="21336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dirty="0"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43397" y="6111646"/>
            <a:ext cx="99314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50" spc="180" dirty="0">
                <a:latin typeface="Times New Roman"/>
                <a:cs typeface="Times New Roman"/>
              </a:rPr>
              <a:t>1</a:t>
            </a:r>
            <a:r>
              <a:rPr sz="2950" dirty="0">
                <a:latin typeface="Symbol"/>
                <a:cs typeface="Symbol"/>
              </a:rPr>
              <a:t></a:t>
            </a:r>
            <a:r>
              <a:rPr sz="2950" spc="-285" dirty="0">
                <a:latin typeface="Times New Roman"/>
                <a:cs typeface="Times New Roman"/>
              </a:rPr>
              <a:t> </a:t>
            </a:r>
            <a:r>
              <a:rPr sz="2950" spc="140" dirty="0">
                <a:latin typeface="Times New Roman"/>
                <a:cs typeface="Times New Roman"/>
              </a:rPr>
              <a:t>e</a:t>
            </a:r>
            <a:r>
              <a:rPr sz="3075" spc="157" baseline="29810" dirty="0">
                <a:latin typeface="Symbol"/>
                <a:cs typeface="Symbol"/>
              </a:rPr>
              <a:t></a:t>
            </a:r>
            <a:r>
              <a:rPr sz="3075" i="1" baseline="29810" dirty="0">
                <a:latin typeface="Times New Roman"/>
                <a:cs typeface="Times New Roman"/>
              </a:rPr>
              <a:t>s</a:t>
            </a:r>
            <a:endParaRPr sz="3075" baseline="2981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51218" y="6111646"/>
            <a:ext cx="99377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50" spc="180" dirty="0">
                <a:latin typeface="Times New Roman"/>
                <a:cs typeface="Times New Roman"/>
              </a:rPr>
              <a:t>1</a:t>
            </a:r>
            <a:r>
              <a:rPr sz="2950" dirty="0">
                <a:latin typeface="Symbol"/>
                <a:cs typeface="Symbol"/>
              </a:rPr>
              <a:t></a:t>
            </a:r>
            <a:r>
              <a:rPr sz="2950" spc="-285" dirty="0">
                <a:latin typeface="Times New Roman"/>
                <a:cs typeface="Times New Roman"/>
              </a:rPr>
              <a:t> </a:t>
            </a:r>
            <a:r>
              <a:rPr sz="2950" spc="140" dirty="0">
                <a:latin typeface="Times New Roman"/>
                <a:cs typeface="Times New Roman"/>
              </a:rPr>
              <a:t>e</a:t>
            </a:r>
            <a:r>
              <a:rPr sz="3075" spc="157" baseline="29810" dirty="0">
                <a:latin typeface="Symbol"/>
                <a:cs typeface="Symbol"/>
              </a:rPr>
              <a:t></a:t>
            </a:r>
            <a:r>
              <a:rPr sz="3075" i="1" baseline="29810" dirty="0">
                <a:latin typeface="Times New Roman"/>
                <a:cs typeface="Times New Roman"/>
              </a:rPr>
              <a:t>s</a:t>
            </a:r>
            <a:endParaRPr sz="3075" baseline="2981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50564" y="5680354"/>
            <a:ext cx="2120900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3075"/>
              </a:lnSpc>
              <a:spcBef>
                <a:spcPts val="100"/>
              </a:spcBef>
            </a:pPr>
            <a:r>
              <a:rPr sz="4425" u="heavy" spc="300" baseline="3013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25" u="heavy" spc="-120" baseline="30131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4425" i="1" u="heavy" baseline="3013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4425" i="1" u="heavy" spc="390" baseline="3013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25" i="1" spc="97" baseline="30131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Symbol"/>
                <a:cs typeface="Symbol"/>
              </a:rPr>
              <a:t></a:t>
            </a:r>
            <a:r>
              <a:rPr sz="2950" spc="-114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(</a:t>
            </a:r>
            <a:r>
              <a:rPr sz="2950" spc="-434" dirty="0">
                <a:latin typeface="Times New Roman"/>
                <a:cs typeface="Times New Roman"/>
              </a:rPr>
              <a:t> </a:t>
            </a:r>
            <a:r>
              <a:rPr sz="2950" i="1" dirty="0">
                <a:latin typeface="Times New Roman"/>
                <a:cs typeface="Times New Roman"/>
              </a:rPr>
              <a:t>y</a:t>
            </a:r>
            <a:r>
              <a:rPr sz="2950" i="1" spc="-20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Symbol"/>
                <a:cs typeface="Symbol"/>
              </a:rPr>
              <a:t></a:t>
            </a:r>
            <a:r>
              <a:rPr sz="2950" spc="-285" dirty="0">
                <a:latin typeface="Times New Roman"/>
                <a:cs typeface="Times New Roman"/>
              </a:rPr>
              <a:t> </a:t>
            </a:r>
            <a:r>
              <a:rPr sz="2950" i="1" spc="250" dirty="0">
                <a:latin typeface="Times New Roman"/>
                <a:cs typeface="Times New Roman"/>
              </a:rPr>
              <a:t>d</a:t>
            </a:r>
            <a:r>
              <a:rPr sz="2950" dirty="0">
                <a:latin typeface="Times New Roman"/>
                <a:cs typeface="Times New Roman"/>
              </a:rPr>
              <a:t>)</a:t>
            </a:r>
            <a:endParaRPr sz="2950">
              <a:latin typeface="Times New Roman"/>
              <a:cs typeface="Times New Roman"/>
            </a:endParaRPr>
          </a:p>
          <a:p>
            <a:pPr marL="62230">
              <a:lnSpc>
                <a:spcPts val="3735"/>
              </a:lnSpc>
            </a:pPr>
            <a:r>
              <a:rPr sz="2950" dirty="0">
                <a:latin typeface="Symbol"/>
                <a:cs typeface="Symbol"/>
              </a:rPr>
              <a:t></a:t>
            </a:r>
            <a:r>
              <a:rPr sz="2950" spc="-280" dirty="0">
                <a:latin typeface="Times New Roman"/>
                <a:cs typeface="Times New Roman"/>
              </a:rPr>
              <a:t> </a:t>
            </a:r>
            <a:r>
              <a:rPr sz="5250" i="1" baseline="-7936" dirty="0">
                <a:latin typeface="Times New Roman"/>
                <a:cs typeface="Times New Roman"/>
              </a:rPr>
              <a:t>w</a:t>
            </a:r>
            <a:endParaRPr sz="5250" baseline="-7936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209544" y="5542788"/>
            <a:ext cx="5340350" cy="1132205"/>
          </a:xfrm>
          <a:custGeom>
            <a:avLst/>
            <a:gdLst/>
            <a:ahLst/>
            <a:cxnLst/>
            <a:rect l="l" t="t" r="r" b="b"/>
            <a:pathLst>
              <a:path w="5340350" h="1132204">
                <a:moveTo>
                  <a:pt x="0" y="1131824"/>
                </a:moveTo>
                <a:lnTo>
                  <a:pt x="5339841" y="1131824"/>
                </a:lnTo>
                <a:lnTo>
                  <a:pt x="5339841" y="0"/>
                </a:lnTo>
                <a:lnTo>
                  <a:pt x="0" y="0"/>
                </a:lnTo>
                <a:lnTo>
                  <a:pt x="0" y="113182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489" y="747522"/>
            <a:ext cx="5400040" cy="524510"/>
          </a:xfrm>
          <a:prstGeom prst="rect">
            <a:avLst/>
          </a:prstGeom>
          <a:solidFill>
            <a:srgbClr val="4470C4"/>
          </a:solidFill>
          <a:ln w="41148">
            <a:solidFill>
              <a:srgbClr val="006E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334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method: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751" y="28778"/>
            <a:ext cx="6756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452370" algn="l"/>
              </a:tabLst>
            </a:pPr>
            <a:r>
              <a:rPr spc="-25" dirty="0"/>
              <a:t>Regarding</a:t>
            </a:r>
            <a:r>
              <a:rPr spc="-60" dirty="0"/>
              <a:t> </a:t>
            </a:r>
            <a:r>
              <a:rPr dirty="0"/>
              <a:t>5</a:t>
            </a:r>
            <a:r>
              <a:rPr sz="3150" baseline="21164" dirty="0"/>
              <a:t>th	</a:t>
            </a:r>
            <a:r>
              <a:rPr sz="3200" spc="-10" dirty="0"/>
              <a:t>step:</a:t>
            </a:r>
            <a:r>
              <a:rPr sz="3200" spc="-110" dirty="0"/>
              <a:t> </a:t>
            </a:r>
            <a:r>
              <a:rPr sz="3200" spc="-20" dirty="0"/>
              <a:t>Weights</a:t>
            </a:r>
            <a:r>
              <a:rPr sz="3200" spc="-85" dirty="0"/>
              <a:t> </a:t>
            </a:r>
            <a:r>
              <a:rPr sz="3200" spc="-10" dirty="0"/>
              <a:t>Adaptation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782317" y="1334927"/>
            <a:ext cx="7057390" cy="94361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220979" indent="-208915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21615" algn="l"/>
              </a:tabLst>
            </a:pPr>
            <a:r>
              <a:rPr sz="2400" b="1" spc="-25" dirty="0">
                <a:latin typeface="Calibri"/>
                <a:cs typeface="Calibri"/>
              </a:rPr>
              <a:t>Update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Weights</a:t>
            </a:r>
            <a:endParaRPr sz="2400">
              <a:latin typeface="Calibri"/>
              <a:cs typeface="Calibri"/>
            </a:endParaRPr>
          </a:p>
          <a:p>
            <a:pPr marL="445134">
              <a:lnSpc>
                <a:spcPct val="100000"/>
              </a:lnSpc>
              <a:spcBef>
                <a:spcPts val="815"/>
              </a:spcBef>
            </a:pPr>
            <a:r>
              <a:rPr sz="2200" b="1" spc="-5" dirty="0">
                <a:latin typeface="Calibri"/>
                <a:cs typeface="Calibri"/>
              </a:rPr>
              <a:t>In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order</a:t>
            </a:r>
            <a:r>
              <a:rPr sz="2200" b="1" spc="55" dirty="0">
                <a:latin typeface="Calibri"/>
                <a:cs typeface="Calibri"/>
              </a:rPr>
              <a:t> </a:t>
            </a:r>
            <a:r>
              <a:rPr sz="2200" b="1" spc="-30" dirty="0">
                <a:latin typeface="Calibri"/>
                <a:cs typeface="Calibri"/>
              </a:rPr>
              <a:t>to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update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the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weights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,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use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the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Gradient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Descent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1523" y="2523744"/>
            <a:ext cx="4235196" cy="74066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979919" y="3639311"/>
            <a:ext cx="3099435" cy="2188210"/>
            <a:chOff x="6979919" y="3639311"/>
            <a:chExt cx="3099435" cy="2188210"/>
          </a:xfrm>
        </p:grpSpPr>
        <p:sp>
          <p:nvSpPr>
            <p:cNvPr id="7" name="object 7"/>
            <p:cNvSpPr/>
            <p:nvPr/>
          </p:nvSpPr>
          <p:spPr>
            <a:xfrm>
              <a:off x="6979919" y="3639311"/>
              <a:ext cx="3099435" cy="2188210"/>
            </a:xfrm>
            <a:custGeom>
              <a:avLst/>
              <a:gdLst/>
              <a:ahLst/>
              <a:cxnLst/>
              <a:rect l="l" t="t" r="r" b="b"/>
              <a:pathLst>
                <a:path w="3099434" h="2188210">
                  <a:moveTo>
                    <a:pt x="294766" y="0"/>
                  </a:moveTo>
                  <a:lnTo>
                    <a:pt x="185038" y="188087"/>
                  </a:lnTo>
                  <a:lnTo>
                    <a:pt x="181863" y="197612"/>
                  </a:lnTo>
                  <a:lnTo>
                    <a:pt x="182499" y="207263"/>
                  </a:lnTo>
                  <a:lnTo>
                    <a:pt x="186689" y="215900"/>
                  </a:lnTo>
                  <a:lnTo>
                    <a:pt x="194055" y="222504"/>
                  </a:lnTo>
                  <a:lnTo>
                    <a:pt x="203580" y="225806"/>
                  </a:lnTo>
                  <a:lnTo>
                    <a:pt x="213232" y="225170"/>
                  </a:lnTo>
                  <a:lnTo>
                    <a:pt x="221869" y="220980"/>
                  </a:lnTo>
                  <a:lnTo>
                    <a:pt x="228473" y="213487"/>
                  </a:lnTo>
                  <a:lnTo>
                    <a:pt x="269621" y="143001"/>
                  </a:lnTo>
                  <a:lnTo>
                    <a:pt x="269621" y="2034209"/>
                  </a:lnTo>
                  <a:lnTo>
                    <a:pt x="0" y="2040458"/>
                  </a:lnTo>
                  <a:lnTo>
                    <a:pt x="1270" y="2090737"/>
                  </a:lnTo>
                  <a:lnTo>
                    <a:pt x="269621" y="2084527"/>
                  </a:lnTo>
                  <a:lnTo>
                    <a:pt x="269621" y="2188070"/>
                  </a:lnTo>
                  <a:lnTo>
                    <a:pt x="319912" y="2188057"/>
                  </a:lnTo>
                  <a:lnTo>
                    <a:pt x="319912" y="2083358"/>
                  </a:lnTo>
                  <a:lnTo>
                    <a:pt x="2957195" y="2022195"/>
                  </a:lnTo>
                  <a:lnTo>
                    <a:pt x="2887599" y="2064981"/>
                  </a:lnTo>
                  <a:lnTo>
                    <a:pt x="2886202" y="2106879"/>
                  </a:lnTo>
                  <a:lnTo>
                    <a:pt x="2904616" y="2111273"/>
                  </a:lnTo>
                  <a:lnTo>
                    <a:pt x="2914014" y="2107819"/>
                  </a:lnTo>
                  <a:lnTo>
                    <a:pt x="3099434" y="1993747"/>
                  </a:lnTo>
                  <a:lnTo>
                    <a:pt x="2908934" y="1888489"/>
                  </a:lnTo>
                  <a:lnTo>
                    <a:pt x="2899409" y="1885441"/>
                  </a:lnTo>
                  <a:lnTo>
                    <a:pt x="2889757" y="1886203"/>
                  </a:lnTo>
                  <a:lnTo>
                    <a:pt x="2881122" y="1890649"/>
                  </a:lnTo>
                  <a:lnTo>
                    <a:pt x="2874772" y="1898269"/>
                  </a:lnTo>
                  <a:lnTo>
                    <a:pt x="2871724" y="1907794"/>
                  </a:lnTo>
                  <a:lnTo>
                    <a:pt x="2872485" y="1917319"/>
                  </a:lnTo>
                  <a:lnTo>
                    <a:pt x="2876930" y="1925954"/>
                  </a:lnTo>
                  <a:lnTo>
                    <a:pt x="2884551" y="1932432"/>
                  </a:lnTo>
                  <a:lnTo>
                    <a:pt x="2956052" y="1971916"/>
                  </a:lnTo>
                  <a:lnTo>
                    <a:pt x="319912" y="2033041"/>
                  </a:lnTo>
                  <a:lnTo>
                    <a:pt x="319912" y="143001"/>
                  </a:lnTo>
                  <a:lnTo>
                    <a:pt x="361060" y="213487"/>
                  </a:lnTo>
                  <a:lnTo>
                    <a:pt x="367664" y="220980"/>
                  </a:lnTo>
                  <a:lnTo>
                    <a:pt x="376427" y="225170"/>
                  </a:lnTo>
                  <a:lnTo>
                    <a:pt x="386079" y="225806"/>
                  </a:lnTo>
                  <a:lnTo>
                    <a:pt x="395477" y="222504"/>
                  </a:lnTo>
                  <a:lnTo>
                    <a:pt x="402971" y="215900"/>
                  </a:lnTo>
                  <a:lnTo>
                    <a:pt x="407161" y="207263"/>
                  </a:lnTo>
                  <a:lnTo>
                    <a:pt x="407797" y="197612"/>
                  </a:lnTo>
                  <a:lnTo>
                    <a:pt x="404495" y="188087"/>
                  </a:lnTo>
                  <a:lnTo>
                    <a:pt x="2947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00365" y="3793997"/>
              <a:ext cx="2255520" cy="1776730"/>
            </a:xfrm>
            <a:custGeom>
              <a:avLst/>
              <a:gdLst/>
              <a:ahLst/>
              <a:cxnLst/>
              <a:rect l="l" t="t" r="r" b="b"/>
              <a:pathLst>
                <a:path w="2255520" h="1776729">
                  <a:moveTo>
                    <a:pt x="2255519" y="297560"/>
                  </a:moveTo>
                  <a:lnTo>
                    <a:pt x="2246756" y="357250"/>
                  </a:lnTo>
                  <a:lnTo>
                    <a:pt x="2236978" y="416051"/>
                  </a:lnTo>
                  <a:lnTo>
                    <a:pt x="2226055" y="473963"/>
                  </a:lnTo>
                  <a:lnTo>
                    <a:pt x="2214244" y="530859"/>
                  </a:lnTo>
                  <a:lnTo>
                    <a:pt x="2201290" y="586866"/>
                  </a:lnTo>
                  <a:lnTo>
                    <a:pt x="2187448" y="641731"/>
                  </a:lnTo>
                  <a:lnTo>
                    <a:pt x="2172588" y="695706"/>
                  </a:lnTo>
                  <a:lnTo>
                    <a:pt x="2156840" y="748664"/>
                  </a:lnTo>
                  <a:lnTo>
                    <a:pt x="2140077" y="800481"/>
                  </a:lnTo>
                  <a:lnTo>
                    <a:pt x="2122551" y="851281"/>
                  </a:lnTo>
                  <a:lnTo>
                    <a:pt x="2104008" y="900938"/>
                  </a:lnTo>
                  <a:lnTo>
                    <a:pt x="2084704" y="949451"/>
                  </a:lnTo>
                  <a:lnTo>
                    <a:pt x="2064511" y="996950"/>
                  </a:lnTo>
                  <a:lnTo>
                    <a:pt x="2043556" y="1043177"/>
                  </a:lnTo>
                  <a:lnTo>
                    <a:pt x="2021712" y="1088135"/>
                  </a:lnTo>
                  <a:lnTo>
                    <a:pt x="1999233" y="1131951"/>
                  </a:lnTo>
                  <a:lnTo>
                    <a:pt x="1975865" y="1174622"/>
                  </a:lnTo>
                  <a:lnTo>
                    <a:pt x="1951862" y="1215897"/>
                  </a:lnTo>
                  <a:lnTo>
                    <a:pt x="1927098" y="1256029"/>
                  </a:lnTo>
                  <a:lnTo>
                    <a:pt x="1901698" y="1294764"/>
                  </a:lnTo>
                  <a:lnTo>
                    <a:pt x="1875535" y="1332229"/>
                  </a:lnTo>
                  <a:lnTo>
                    <a:pt x="1848865" y="1368297"/>
                  </a:lnTo>
                  <a:lnTo>
                    <a:pt x="1821433" y="1402969"/>
                  </a:lnTo>
                  <a:lnTo>
                    <a:pt x="1793493" y="1436370"/>
                  </a:lnTo>
                  <a:lnTo>
                    <a:pt x="1764918" y="1468246"/>
                  </a:lnTo>
                  <a:lnTo>
                    <a:pt x="1735835" y="1498727"/>
                  </a:lnTo>
                  <a:lnTo>
                    <a:pt x="1706244" y="1527683"/>
                  </a:lnTo>
                  <a:lnTo>
                    <a:pt x="1676018" y="1555242"/>
                  </a:lnTo>
                  <a:lnTo>
                    <a:pt x="1645411" y="1581277"/>
                  </a:lnTo>
                  <a:lnTo>
                    <a:pt x="1614297" y="1605788"/>
                  </a:lnTo>
                  <a:lnTo>
                    <a:pt x="1582674" y="1628775"/>
                  </a:lnTo>
                  <a:lnTo>
                    <a:pt x="1550669" y="1650238"/>
                  </a:lnTo>
                  <a:lnTo>
                    <a:pt x="1485391" y="1688211"/>
                  </a:lnTo>
                  <a:lnTo>
                    <a:pt x="1418589" y="1719707"/>
                  </a:lnTo>
                  <a:lnTo>
                    <a:pt x="1350644" y="1744471"/>
                  </a:lnTo>
                  <a:lnTo>
                    <a:pt x="1281429" y="1762252"/>
                  </a:lnTo>
                  <a:lnTo>
                    <a:pt x="1211326" y="1773046"/>
                  </a:lnTo>
                  <a:lnTo>
                    <a:pt x="1140332" y="1776602"/>
                  </a:lnTo>
                  <a:lnTo>
                    <a:pt x="1104645" y="1775587"/>
                  </a:lnTo>
                  <a:lnTo>
                    <a:pt x="1032763" y="1767966"/>
                  </a:lnTo>
                  <a:lnTo>
                    <a:pt x="960627" y="1752600"/>
                  </a:lnTo>
                  <a:lnTo>
                    <a:pt x="888237" y="1729358"/>
                  </a:lnTo>
                  <a:lnTo>
                    <a:pt x="820165" y="1700149"/>
                  </a:lnTo>
                  <a:lnTo>
                    <a:pt x="753872" y="1664335"/>
                  </a:lnTo>
                  <a:lnTo>
                    <a:pt x="721486" y="1644141"/>
                  </a:lnTo>
                  <a:lnTo>
                    <a:pt x="689609" y="1622298"/>
                  </a:lnTo>
                  <a:lnTo>
                    <a:pt x="658240" y="1599057"/>
                  </a:lnTo>
                  <a:lnTo>
                    <a:pt x="627506" y="1574292"/>
                  </a:lnTo>
                  <a:lnTo>
                    <a:pt x="597153" y="1548130"/>
                  </a:lnTo>
                  <a:lnTo>
                    <a:pt x="567435" y="1520443"/>
                  </a:lnTo>
                  <a:lnTo>
                    <a:pt x="538352" y="1491488"/>
                  </a:lnTo>
                  <a:lnTo>
                    <a:pt x="509777" y="1461008"/>
                  </a:lnTo>
                  <a:lnTo>
                    <a:pt x="481837" y="1429258"/>
                  </a:lnTo>
                  <a:lnTo>
                    <a:pt x="454532" y="1396238"/>
                  </a:lnTo>
                  <a:lnTo>
                    <a:pt x="427862" y="1361947"/>
                  </a:lnTo>
                  <a:lnTo>
                    <a:pt x="401827" y="1326388"/>
                  </a:lnTo>
                  <a:lnTo>
                    <a:pt x="376427" y="1289684"/>
                  </a:lnTo>
                  <a:lnTo>
                    <a:pt x="351789" y="1251712"/>
                  </a:lnTo>
                  <a:lnTo>
                    <a:pt x="327786" y="1212595"/>
                  </a:lnTo>
                  <a:lnTo>
                    <a:pt x="304545" y="1172337"/>
                  </a:lnTo>
                  <a:lnTo>
                    <a:pt x="281939" y="1130934"/>
                  </a:lnTo>
                  <a:lnTo>
                    <a:pt x="260223" y="1088516"/>
                  </a:lnTo>
                  <a:lnTo>
                    <a:pt x="239140" y="1044956"/>
                  </a:lnTo>
                  <a:lnTo>
                    <a:pt x="218820" y="1000506"/>
                  </a:lnTo>
                  <a:lnTo>
                    <a:pt x="199389" y="955039"/>
                  </a:lnTo>
                  <a:lnTo>
                    <a:pt x="180720" y="908557"/>
                  </a:lnTo>
                  <a:lnTo>
                    <a:pt x="162813" y="861187"/>
                  </a:lnTo>
                  <a:lnTo>
                    <a:pt x="145795" y="812926"/>
                  </a:lnTo>
                  <a:lnTo>
                    <a:pt x="129666" y="763777"/>
                  </a:lnTo>
                  <a:lnTo>
                    <a:pt x="114300" y="713739"/>
                  </a:lnTo>
                  <a:lnTo>
                    <a:pt x="99822" y="662939"/>
                  </a:lnTo>
                  <a:lnTo>
                    <a:pt x="86232" y="611377"/>
                  </a:lnTo>
                  <a:lnTo>
                    <a:pt x="73659" y="558926"/>
                  </a:lnTo>
                  <a:lnTo>
                    <a:pt x="61849" y="505840"/>
                  </a:lnTo>
                  <a:lnTo>
                    <a:pt x="51053" y="452119"/>
                  </a:lnTo>
                  <a:lnTo>
                    <a:pt x="41148" y="397637"/>
                  </a:lnTo>
                  <a:lnTo>
                    <a:pt x="32257" y="342519"/>
                  </a:lnTo>
                  <a:lnTo>
                    <a:pt x="24383" y="286765"/>
                  </a:lnTo>
                  <a:lnTo>
                    <a:pt x="17399" y="230504"/>
                  </a:lnTo>
                  <a:lnTo>
                    <a:pt x="11556" y="173608"/>
                  </a:lnTo>
                  <a:lnTo>
                    <a:pt x="6603" y="116204"/>
                  </a:lnTo>
                  <a:lnTo>
                    <a:pt x="2793" y="58293"/>
                  </a:lnTo>
                  <a:lnTo>
                    <a:pt x="0" y="0"/>
                  </a:lnTo>
                </a:path>
              </a:pathLst>
            </a:custGeom>
            <a:ln w="25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485890" y="3249625"/>
            <a:ext cx="693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spc="-5" dirty="0">
                <a:latin typeface="Verdana"/>
                <a:cs typeface="Verdana"/>
              </a:rPr>
              <a:t>w)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95054" y="3769614"/>
            <a:ext cx="883919" cy="1800860"/>
          </a:xfrm>
          <a:custGeom>
            <a:avLst/>
            <a:gdLst/>
            <a:ahLst/>
            <a:cxnLst/>
            <a:rect l="l" t="t" r="r" b="b"/>
            <a:pathLst>
              <a:path w="883920" h="1800860">
                <a:moveTo>
                  <a:pt x="883920" y="0"/>
                </a:moveTo>
                <a:lnTo>
                  <a:pt x="0" y="1800860"/>
                </a:lnTo>
              </a:path>
            </a:pathLst>
          </a:custGeom>
          <a:ln w="50290">
            <a:solidFill>
              <a:srgbClr val="001F5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586976" y="4629658"/>
            <a:ext cx="829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+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slop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455152" y="5777484"/>
            <a:ext cx="591185" cy="227329"/>
            <a:chOff x="8455152" y="5777484"/>
            <a:chExt cx="591185" cy="227329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5152" y="5777484"/>
              <a:ext cx="226059" cy="22692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517890" y="5865685"/>
              <a:ext cx="528320" cy="50800"/>
            </a:xfrm>
            <a:custGeom>
              <a:avLst/>
              <a:gdLst/>
              <a:ahLst/>
              <a:cxnLst/>
              <a:rect l="l" t="t" r="r" b="b"/>
              <a:pathLst>
                <a:path w="528320" h="50800">
                  <a:moveTo>
                    <a:pt x="528320" y="0"/>
                  </a:moveTo>
                  <a:lnTo>
                    <a:pt x="80391" y="0"/>
                  </a:lnTo>
                  <a:lnTo>
                    <a:pt x="74498" y="3441"/>
                  </a:lnTo>
                  <a:lnTo>
                    <a:pt x="0" y="3441"/>
                  </a:lnTo>
                  <a:lnTo>
                    <a:pt x="0" y="47078"/>
                  </a:lnTo>
                  <a:lnTo>
                    <a:pt x="74498" y="47078"/>
                  </a:lnTo>
                  <a:lnTo>
                    <a:pt x="80391" y="50520"/>
                  </a:lnTo>
                  <a:lnTo>
                    <a:pt x="528320" y="50520"/>
                  </a:lnTo>
                  <a:lnTo>
                    <a:pt x="52832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387717" y="5689912"/>
            <a:ext cx="2613660" cy="81470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R="349885" algn="r">
              <a:lnSpc>
                <a:spcPct val="100000"/>
              </a:lnSpc>
              <a:spcBef>
                <a:spcPts val="359"/>
              </a:spcBef>
            </a:pPr>
            <a:r>
              <a:rPr sz="2800" spc="-5" dirty="0">
                <a:latin typeface="Verdana"/>
                <a:cs typeface="Verdana"/>
              </a:rPr>
              <a:t>w</a:t>
            </a:r>
            <a:endParaRPr sz="28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90"/>
              </a:spcBef>
            </a:pPr>
            <a:r>
              <a:rPr sz="2000" dirty="0">
                <a:latin typeface="Verdana"/>
                <a:cs typeface="Verdana"/>
              </a:rPr>
              <a:t>W</a:t>
            </a:r>
            <a:r>
              <a:rPr sz="1950" baseline="-17094" dirty="0">
                <a:latin typeface="Verdana"/>
                <a:cs typeface="Verdana"/>
              </a:rPr>
              <a:t>new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</a:t>
            </a:r>
            <a:r>
              <a:rPr sz="1950" spc="-15" baseline="-17094" dirty="0">
                <a:latin typeface="Verdana"/>
                <a:cs typeface="Verdana"/>
              </a:rPr>
              <a:t>old</a:t>
            </a:r>
            <a:r>
              <a:rPr sz="1950" spc="-37" baseline="-1709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Symbol"/>
                <a:cs typeface="Symbol"/>
              </a:rPr>
              <a:t></a:t>
            </a:r>
            <a:r>
              <a:rPr sz="2000" spc="-5" dirty="0">
                <a:latin typeface="Verdana"/>
                <a:cs typeface="Verdana"/>
              </a:rPr>
              <a:t>(+ve)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050780" y="6150864"/>
            <a:ext cx="300355" cy="443230"/>
            <a:chOff x="10050780" y="6150864"/>
            <a:chExt cx="300355" cy="443230"/>
          </a:xfrm>
        </p:grpSpPr>
        <p:sp>
          <p:nvSpPr>
            <p:cNvPr id="17" name="object 17"/>
            <p:cNvSpPr/>
            <p:nvPr/>
          </p:nvSpPr>
          <p:spPr>
            <a:xfrm>
              <a:off x="10056876" y="6156960"/>
              <a:ext cx="288290" cy="431165"/>
            </a:xfrm>
            <a:custGeom>
              <a:avLst/>
              <a:gdLst/>
              <a:ahLst/>
              <a:cxnLst/>
              <a:rect l="l" t="t" r="r" b="b"/>
              <a:pathLst>
                <a:path w="288290" h="431165">
                  <a:moveTo>
                    <a:pt x="215773" y="0"/>
                  </a:moveTo>
                  <a:lnTo>
                    <a:pt x="71881" y="0"/>
                  </a:lnTo>
                  <a:lnTo>
                    <a:pt x="71881" y="286931"/>
                  </a:lnTo>
                  <a:lnTo>
                    <a:pt x="0" y="286931"/>
                  </a:lnTo>
                  <a:lnTo>
                    <a:pt x="143891" y="430783"/>
                  </a:lnTo>
                  <a:lnTo>
                    <a:pt x="287781" y="286931"/>
                  </a:lnTo>
                  <a:lnTo>
                    <a:pt x="215773" y="286931"/>
                  </a:lnTo>
                  <a:lnTo>
                    <a:pt x="2157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056876" y="6156960"/>
              <a:ext cx="288290" cy="431165"/>
            </a:xfrm>
            <a:custGeom>
              <a:avLst/>
              <a:gdLst/>
              <a:ahLst/>
              <a:cxnLst/>
              <a:rect l="l" t="t" r="r" b="b"/>
              <a:pathLst>
                <a:path w="288290" h="431165">
                  <a:moveTo>
                    <a:pt x="0" y="286931"/>
                  </a:moveTo>
                  <a:lnTo>
                    <a:pt x="71881" y="286931"/>
                  </a:lnTo>
                  <a:lnTo>
                    <a:pt x="71881" y="0"/>
                  </a:lnTo>
                  <a:lnTo>
                    <a:pt x="215773" y="0"/>
                  </a:lnTo>
                  <a:lnTo>
                    <a:pt x="215773" y="286931"/>
                  </a:lnTo>
                  <a:lnTo>
                    <a:pt x="287781" y="286931"/>
                  </a:lnTo>
                  <a:lnTo>
                    <a:pt x="143891" y="430783"/>
                  </a:lnTo>
                  <a:lnTo>
                    <a:pt x="0" y="286931"/>
                  </a:lnTo>
                  <a:close/>
                </a:path>
              </a:pathLst>
            </a:custGeom>
            <a:ln w="12192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046732" y="3639311"/>
            <a:ext cx="3099435" cy="2188210"/>
            <a:chOff x="2046732" y="3639311"/>
            <a:chExt cx="3099435" cy="2188210"/>
          </a:xfrm>
        </p:grpSpPr>
        <p:sp>
          <p:nvSpPr>
            <p:cNvPr id="20" name="object 20"/>
            <p:cNvSpPr/>
            <p:nvPr/>
          </p:nvSpPr>
          <p:spPr>
            <a:xfrm>
              <a:off x="2046732" y="3639311"/>
              <a:ext cx="3099435" cy="2188210"/>
            </a:xfrm>
            <a:custGeom>
              <a:avLst/>
              <a:gdLst/>
              <a:ahLst/>
              <a:cxnLst/>
              <a:rect l="l" t="t" r="r" b="b"/>
              <a:pathLst>
                <a:path w="3099435" h="2188210">
                  <a:moveTo>
                    <a:pt x="296291" y="0"/>
                  </a:moveTo>
                  <a:lnTo>
                    <a:pt x="186562" y="188087"/>
                  </a:lnTo>
                  <a:lnTo>
                    <a:pt x="183387" y="197612"/>
                  </a:lnTo>
                  <a:lnTo>
                    <a:pt x="184023" y="207263"/>
                  </a:lnTo>
                  <a:lnTo>
                    <a:pt x="188213" y="215900"/>
                  </a:lnTo>
                  <a:lnTo>
                    <a:pt x="195580" y="222504"/>
                  </a:lnTo>
                  <a:lnTo>
                    <a:pt x="205105" y="225806"/>
                  </a:lnTo>
                  <a:lnTo>
                    <a:pt x="214756" y="225170"/>
                  </a:lnTo>
                  <a:lnTo>
                    <a:pt x="223393" y="220980"/>
                  </a:lnTo>
                  <a:lnTo>
                    <a:pt x="229997" y="213487"/>
                  </a:lnTo>
                  <a:lnTo>
                    <a:pt x="271144" y="143001"/>
                  </a:lnTo>
                  <a:lnTo>
                    <a:pt x="271144" y="2034171"/>
                  </a:lnTo>
                  <a:lnTo>
                    <a:pt x="0" y="2040458"/>
                  </a:lnTo>
                  <a:lnTo>
                    <a:pt x="1269" y="2090737"/>
                  </a:lnTo>
                  <a:lnTo>
                    <a:pt x="271144" y="2084489"/>
                  </a:lnTo>
                  <a:lnTo>
                    <a:pt x="271144" y="2188057"/>
                  </a:lnTo>
                  <a:lnTo>
                    <a:pt x="321437" y="2188057"/>
                  </a:lnTo>
                  <a:lnTo>
                    <a:pt x="321437" y="2083320"/>
                  </a:lnTo>
                  <a:lnTo>
                    <a:pt x="2957195" y="2022195"/>
                  </a:lnTo>
                  <a:lnTo>
                    <a:pt x="2887598" y="2064981"/>
                  </a:lnTo>
                  <a:lnTo>
                    <a:pt x="2886202" y="2106879"/>
                  </a:lnTo>
                  <a:lnTo>
                    <a:pt x="2904617" y="2111273"/>
                  </a:lnTo>
                  <a:lnTo>
                    <a:pt x="2914015" y="2107819"/>
                  </a:lnTo>
                  <a:lnTo>
                    <a:pt x="3099435" y="1993747"/>
                  </a:lnTo>
                  <a:lnTo>
                    <a:pt x="2908935" y="1888489"/>
                  </a:lnTo>
                  <a:lnTo>
                    <a:pt x="2899410" y="1885441"/>
                  </a:lnTo>
                  <a:lnTo>
                    <a:pt x="2889758" y="1886203"/>
                  </a:lnTo>
                  <a:lnTo>
                    <a:pt x="2881122" y="1890649"/>
                  </a:lnTo>
                  <a:lnTo>
                    <a:pt x="2874772" y="1898269"/>
                  </a:lnTo>
                  <a:lnTo>
                    <a:pt x="2871723" y="1907794"/>
                  </a:lnTo>
                  <a:lnTo>
                    <a:pt x="2872485" y="1917319"/>
                  </a:lnTo>
                  <a:lnTo>
                    <a:pt x="2876931" y="1925954"/>
                  </a:lnTo>
                  <a:lnTo>
                    <a:pt x="2884551" y="1932432"/>
                  </a:lnTo>
                  <a:lnTo>
                    <a:pt x="2956052" y="1971916"/>
                  </a:lnTo>
                  <a:lnTo>
                    <a:pt x="321437" y="2033003"/>
                  </a:lnTo>
                  <a:lnTo>
                    <a:pt x="321437" y="143001"/>
                  </a:lnTo>
                  <a:lnTo>
                    <a:pt x="362585" y="213487"/>
                  </a:lnTo>
                  <a:lnTo>
                    <a:pt x="369188" y="220980"/>
                  </a:lnTo>
                  <a:lnTo>
                    <a:pt x="377951" y="225170"/>
                  </a:lnTo>
                  <a:lnTo>
                    <a:pt x="387604" y="225806"/>
                  </a:lnTo>
                  <a:lnTo>
                    <a:pt x="397001" y="222504"/>
                  </a:lnTo>
                  <a:lnTo>
                    <a:pt x="404494" y="215900"/>
                  </a:lnTo>
                  <a:lnTo>
                    <a:pt x="408686" y="207263"/>
                  </a:lnTo>
                  <a:lnTo>
                    <a:pt x="409320" y="197612"/>
                  </a:lnTo>
                  <a:lnTo>
                    <a:pt x="406019" y="188087"/>
                  </a:lnTo>
                  <a:lnTo>
                    <a:pt x="2962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67178" y="3793997"/>
              <a:ext cx="2256790" cy="1776730"/>
            </a:xfrm>
            <a:custGeom>
              <a:avLst/>
              <a:gdLst/>
              <a:ahLst/>
              <a:cxnLst/>
              <a:rect l="l" t="t" r="r" b="b"/>
              <a:pathLst>
                <a:path w="2256790" h="1776729">
                  <a:moveTo>
                    <a:pt x="2256536" y="297688"/>
                  </a:moveTo>
                  <a:lnTo>
                    <a:pt x="2247773" y="357377"/>
                  </a:lnTo>
                  <a:lnTo>
                    <a:pt x="2237994" y="416178"/>
                  </a:lnTo>
                  <a:lnTo>
                    <a:pt x="2227072" y="474090"/>
                  </a:lnTo>
                  <a:lnTo>
                    <a:pt x="2215261" y="530987"/>
                  </a:lnTo>
                  <a:lnTo>
                    <a:pt x="2202307" y="586866"/>
                  </a:lnTo>
                  <a:lnTo>
                    <a:pt x="2188464" y="641857"/>
                  </a:lnTo>
                  <a:lnTo>
                    <a:pt x="2173605" y="695832"/>
                  </a:lnTo>
                  <a:lnTo>
                    <a:pt x="2157730" y="748664"/>
                  </a:lnTo>
                  <a:lnTo>
                    <a:pt x="2141093" y="800607"/>
                  </a:lnTo>
                  <a:lnTo>
                    <a:pt x="2123440" y="851281"/>
                  </a:lnTo>
                  <a:lnTo>
                    <a:pt x="2104898" y="900938"/>
                  </a:lnTo>
                  <a:lnTo>
                    <a:pt x="2085594" y="949578"/>
                  </a:lnTo>
                  <a:lnTo>
                    <a:pt x="2065401" y="996950"/>
                  </a:lnTo>
                  <a:lnTo>
                    <a:pt x="2044446" y="1043177"/>
                  </a:lnTo>
                  <a:lnTo>
                    <a:pt x="2022602" y="1088135"/>
                  </a:lnTo>
                  <a:lnTo>
                    <a:pt x="2000123" y="1132077"/>
                  </a:lnTo>
                  <a:lnTo>
                    <a:pt x="1976755" y="1174622"/>
                  </a:lnTo>
                  <a:lnTo>
                    <a:pt x="1952752" y="1215897"/>
                  </a:lnTo>
                  <a:lnTo>
                    <a:pt x="1927987" y="1256029"/>
                  </a:lnTo>
                  <a:lnTo>
                    <a:pt x="1902460" y="1294764"/>
                  </a:lnTo>
                  <a:lnTo>
                    <a:pt x="1876425" y="1332229"/>
                  </a:lnTo>
                  <a:lnTo>
                    <a:pt x="1849627" y="1368297"/>
                  </a:lnTo>
                  <a:lnTo>
                    <a:pt x="1822196" y="1402969"/>
                  </a:lnTo>
                  <a:lnTo>
                    <a:pt x="1794256" y="1436243"/>
                  </a:lnTo>
                  <a:lnTo>
                    <a:pt x="1765681" y="1468246"/>
                  </a:lnTo>
                  <a:lnTo>
                    <a:pt x="1736598" y="1498727"/>
                  </a:lnTo>
                  <a:lnTo>
                    <a:pt x="1706880" y="1527683"/>
                  </a:lnTo>
                  <a:lnTo>
                    <a:pt x="1676781" y="1555242"/>
                  </a:lnTo>
                  <a:lnTo>
                    <a:pt x="1646047" y="1581277"/>
                  </a:lnTo>
                  <a:lnTo>
                    <a:pt x="1614932" y="1605788"/>
                  </a:lnTo>
                  <a:lnTo>
                    <a:pt x="1583309" y="1628775"/>
                  </a:lnTo>
                  <a:lnTo>
                    <a:pt x="1551305" y="1650111"/>
                  </a:lnTo>
                  <a:lnTo>
                    <a:pt x="1486027" y="1688083"/>
                  </a:lnTo>
                  <a:lnTo>
                    <a:pt x="1419225" y="1719579"/>
                  </a:lnTo>
                  <a:lnTo>
                    <a:pt x="1351152" y="1744345"/>
                  </a:lnTo>
                  <a:lnTo>
                    <a:pt x="1281938" y="1762125"/>
                  </a:lnTo>
                  <a:lnTo>
                    <a:pt x="1211834" y="1772920"/>
                  </a:lnTo>
                  <a:lnTo>
                    <a:pt x="1140841" y="1776476"/>
                  </a:lnTo>
                  <a:lnTo>
                    <a:pt x="1105027" y="1775460"/>
                  </a:lnTo>
                  <a:lnTo>
                    <a:pt x="1033272" y="1767713"/>
                  </a:lnTo>
                  <a:lnTo>
                    <a:pt x="961009" y="1752345"/>
                  </a:lnTo>
                  <a:lnTo>
                    <a:pt x="888619" y="1729104"/>
                  </a:lnTo>
                  <a:lnTo>
                    <a:pt x="820547" y="1699895"/>
                  </a:lnTo>
                  <a:lnTo>
                    <a:pt x="754252" y="1664080"/>
                  </a:lnTo>
                  <a:lnTo>
                    <a:pt x="721868" y="1643888"/>
                  </a:lnTo>
                  <a:lnTo>
                    <a:pt x="689863" y="1622043"/>
                  </a:lnTo>
                  <a:lnTo>
                    <a:pt x="658495" y="1598802"/>
                  </a:lnTo>
                  <a:lnTo>
                    <a:pt x="627634" y="1574038"/>
                  </a:lnTo>
                  <a:lnTo>
                    <a:pt x="597408" y="1547876"/>
                  </a:lnTo>
                  <a:lnTo>
                    <a:pt x="567690" y="1520189"/>
                  </a:lnTo>
                  <a:lnTo>
                    <a:pt x="538480" y="1491233"/>
                  </a:lnTo>
                  <a:lnTo>
                    <a:pt x="509905" y="1460754"/>
                  </a:lnTo>
                  <a:lnTo>
                    <a:pt x="481965" y="1429131"/>
                  </a:lnTo>
                  <a:lnTo>
                    <a:pt x="454660" y="1395983"/>
                  </a:lnTo>
                  <a:lnTo>
                    <a:pt x="427990" y="1361694"/>
                  </a:lnTo>
                  <a:lnTo>
                    <a:pt x="401955" y="1326133"/>
                  </a:lnTo>
                  <a:lnTo>
                    <a:pt x="376555" y="1289431"/>
                  </a:lnTo>
                  <a:lnTo>
                    <a:pt x="351917" y="1251458"/>
                  </a:lnTo>
                  <a:lnTo>
                    <a:pt x="327914" y="1212341"/>
                  </a:lnTo>
                  <a:lnTo>
                    <a:pt x="304673" y="1172083"/>
                  </a:lnTo>
                  <a:lnTo>
                    <a:pt x="282067" y="1130681"/>
                  </a:lnTo>
                  <a:lnTo>
                    <a:pt x="260223" y="1088263"/>
                  </a:lnTo>
                  <a:lnTo>
                    <a:pt x="239268" y="1044828"/>
                  </a:lnTo>
                  <a:lnTo>
                    <a:pt x="218948" y="1000251"/>
                  </a:lnTo>
                  <a:lnTo>
                    <a:pt x="199390" y="954785"/>
                  </a:lnTo>
                  <a:lnTo>
                    <a:pt x="180721" y="908431"/>
                  </a:lnTo>
                  <a:lnTo>
                    <a:pt x="162941" y="861059"/>
                  </a:lnTo>
                  <a:lnTo>
                    <a:pt x="145796" y="812672"/>
                  </a:lnTo>
                  <a:lnTo>
                    <a:pt x="129667" y="763524"/>
                  </a:lnTo>
                  <a:lnTo>
                    <a:pt x="114300" y="713613"/>
                  </a:lnTo>
                  <a:lnTo>
                    <a:pt x="99822" y="662813"/>
                  </a:lnTo>
                  <a:lnTo>
                    <a:pt x="86233" y="611124"/>
                  </a:lnTo>
                  <a:lnTo>
                    <a:pt x="73660" y="558800"/>
                  </a:lnTo>
                  <a:lnTo>
                    <a:pt x="61849" y="505713"/>
                  </a:lnTo>
                  <a:lnTo>
                    <a:pt x="51054" y="451993"/>
                  </a:lnTo>
                  <a:lnTo>
                    <a:pt x="41148" y="397509"/>
                  </a:lnTo>
                  <a:lnTo>
                    <a:pt x="32258" y="342391"/>
                  </a:lnTo>
                  <a:lnTo>
                    <a:pt x="24384" y="286765"/>
                  </a:lnTo>
                  <a:lnTo>
                    <a:pt x="17399" y="230377"/>
                  </a:lnTo>
                  <a:lnTo>
                    <a:pt x="11557" y="173608"/>
                  </a:lnTo>
                  <a:lnTo>
                    <a:pt x="6604" y="116204"/>
                  </a:lnTo>
                  <a:lnTo>
                    <a:pt x="2794" y="58293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552447" y="3249625"/>
            <a:ext cx="693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spc="-5" dirty="0">
                <a:latin typeface="Verdana"/>
                <a:cs typeface="Verdana"/>
              </a:rPr>
              <a:t>w)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25445" y="3717797"/>
            <a:ext cx="483234" cy="1872614"/>
          </a:xfrm>
          <a:custGeom>
            <a:avLst/>
            <a:gdLst/>
            <a:ahLst/>
            <a:cxnLst/>
            <a:rect l="l" t="t" r="r" b="b"/>
            <a:pathLst>
              <a:path w="483235" h="1872614">
                <a:moveTo>
                  <a:pt x="0" y="0"/>
                </a:moveTo>
                <a:lnTo>
                  <a:pt x="482727" y="1872589"/>
                </a:lnTo>
              </a:path>
            </a:pathLst>
          </a:custGeom>
          <a:ln w="50291">
            <a:solidFill>
              <a:srgbClr val="001F5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88411" y="4246879"/>
            <a:ext cx="734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-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slop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215639" y="5763767"/>
            <a:ext cx="707390" cy="227329"/>
            <a:chOff x="3215639" y="5763767"/>
            <a:chExt cx="707390" cy="227329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6715" y="5877229"/>
              <a:ext cx="182880" cy="11346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215639" y="5851969"/>
              <a:ext cx="607695" cy="50800"/>
            </a:xfrm>
            <a:custGeom>
              <a:avLst/>
              <a:gdLst/>
              <a:ahLst/>
              <a:cxnLst/>
              <a:rect l="l" t="t" r="r" b="b"/>
              <a:pathLst>
                <a:path w="607695" h="50800">
                  <a:moveTo>
                    <a:pt x="564007" y="0"/>
                  </a:moveTo>
                  <a:lnTo>
                    <a:pt x="0" y="0"/>
                  </a:lnTo>
                  <a:lnTo>
                    <a:pt x="0" y="50520"/>
                  </a:lnTo>
                  <a:lnTo>
                    <a:pt x="564007" y="50520"/>
                  </a:lnTo>
                  <a:lnTo>
                    <a:pt x="607187" y="25260"/>
                  </a:lnTo>
                  <a:lnTo>
                    <a:pt x="5640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6715" y="5763767"/>
              <a:ext cx="226060" cy="13872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406265" y="5723635"/>
            <a:ext cx="316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Verdana"/>
                <a:cs typeface="Verdana"/>
              </a:rPr>
              <a:t>w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05507" y="6147308"/>
            <a:ext cx="2508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W</a:t>
            </a:r>
            <a:r>
              <a:rPr sz="1950" baseline="-17094" dirty="0">
                <a:latin typeface="Verdana"/>
                <a:cs typeface="Verdana"/>
              </a:rPr>
              <a:t>new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</a:t>
            </a:r>
            <a:r>
              <a:rPr sz="1950" spc="-15" baseline="-17094" dirty="0">
                <a:latin typeface="Verdana"/>
                <a:cs typeface="Verdana"/>
              </a:rPr>
              <a:t>old</a:t>
            </a:r>
            <a:r>
              <a:rPr sz="1950" spc="-22" baseline="-1709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Symbol"/>
                <a:cs typeface="Symbol"/>
              </a:rPr>
              <a:t></a:t>
            </a:r>
            <a:r>
              <a:rPr sz="2000" spc="-20" dirty="0">
                <a:latin typeface="Verdana"/>
                <a:cs typeface="Verdana"/>
              </a:rPr>
              <a:t>(-ve)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30140" y="6015228"/>
            <a:ext cx="307975" cy="516255"/>
            <a:chOff x="4930140" y="6015228"/>
            <a:chExt cx="307975" cy="516255"/>
          </a:xfrm>
        </p:grpSpPr>
        <p:sp>
          <p:nvSpPr>
            <p:cNvPr id="32" name="object 32"/>
            <p:cNvSpPr/>
            <p:nvPr/>
          </p:nvSpPr>
          <p:spPr>
            <a:xfrm>
              <a:off x="4936236" y="6021324"/>
              <a:ext cx="295910" cy="504190"/>
            </a:xfrm>
            <a:custGeom>
              <a:avLst/>
              <a:gdLst/>
              <a:ahLst/>
              <a:cxnLst/>
              <a:rect l="l" t="t" r="r" b="b"/>
              <a:pathLst>
                <a:path w="295910" h="504190">
                  <a:moveTo>
                    <a:pt x="147700" y="0"/>
                  </a:moveTo>
                  <a:lnTo>
                    <a:pt x="0" y="147713"/>
                  </a:lnTo>
                  <a:lnTo>
                    <a:pt x="73787" y="147713"/>
                  </a:lnTo>
                  <a:lnTo>
                    <a:pt x="73787" y="504063"/>
                  </a:lnTo>
                  <a:lnTo>
                    <a:pt x="221487" y="504063"/>
                  </a:lnTo>
                  <a:lnTo>
                    <a:pt x="221487" y="147713"/>
                  </a:lnTo>
                  <a:lnTo>
                    <a:pt x="295401" y="147713"/>
                  </a:lnTo>
                  <a:lnTo>
                    <a:pt x="1477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36236" y="6021324"/>
              <a:ext cx="295910" cy="504190"/>
            </a:xfrm>
            <a:custGeom>
              <a:avLst/>
              <a:gdLst/>
              <a:ahLst/>
              <a:cxnLst/>
              <a:rect l="l" t="t" r="r" b="b"/>
              <a:pathLst>
                <a:path w="295910" h="504190">
                  <a:moveTo>
                    <a:pt x="295401" y="147713"/>
                  </a:moveTo>
                  <a:lnTo>
                    <a:pt x="221487" y="147713"/>
                  </a:lnTo>
                  <a:lnTo>
                    <a:pt x="221487" y="504063"/>
                  </a:lnTo>
                  <a:lnTo>
                    <a:pt x="73787" y="504063"/>
                  </a:lnTo>
                  <a:lnTo>
                    <a:pt x="73787" y="147713"/>
                  </a:lnTo>
                  <a:lnTo>
                    <a:pt x="0" y="147713"/>
                  </a:lnTo>
                  <a:lnTo>
                    <a:pt x="147700" y="0"/>
                  </a:lnTo>
                  <a:lnTo>
                    <a:pt x="295401" y="147713"/>
                  </a:lnTo>
                  <a:close/>
                </a:path>
              </a:pathLst>
            </a:custGeom>
            <a:ln w="12191">
              <a:solidFill>
                <a:srgbClr val="2D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Example (MLP) </a:t>
            </a:r>
          </a:p>
        </p:txBody>
      </p:sp>
    </p:spTree>
    <p:extLst>
      <p:ext uri="{BB962C8B-B14F-4D97-AF65-F5344CB8AC3E}">
        <p14:creationId xmlns:p14="http://schemas.microsoft.com/office/powerpoint/2010/main" val="34167203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9020941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5712" y="762000"/>
            <a:ext cx="9180576" cy="55885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8340" y="4937582"/>
            <a:ext cx="1845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Learning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rate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: </a:t>
            </a:r>
            <a:r>
              <a:rPr sz="1800" b="1" spc="-5" dirty="0">
                <a:latin typeface="Calibri"/>
                <a:cs typeface="Calibri"/>
              </a:rPr>
              <a:t>0.01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1572" y="3120772"/>
            <a:ext cx="33972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4000" b="1" spc="305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28600"/>
            <a:ext cx="283845" cy="6345555"/>
          </a:xfrm>
          <a:custGeom>
            <a:avLst/>
            <a:gdLst/>
            <a:ahLst/>
            <a:cxnLst/>
            <a:rect l="l" t="t" r="r" b="b"/>
            <a:pathLst>
              <a:path w="283845" h="6345555">
                <a:moveTo>
                  <a:pt x="283464" y="0"/>
                </a:moveTo>
                <a:lnTo>
                  <a:pt x="0" y="0"/>
                </a:lnTo>
                <a:lnTo>
                  <a:pt x="0" y="6345174"/>
                </a:lnTo>
                <a:lnTo>
                  <a:pt x="283464" y="6345174"/>
                </a:lnTo>
                <a:lnTo>
                  <a:pt x="283464" y="0"/>
                </a:lnTo>
                <a:close/>
              </a:path>
            </a:pathLst>
          </a:custGeom>
          <a:solidFill>
            <a:srgbClr val="42B9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14600" y="1752600"/>
            <a:ext cx="6705600" cy="2967355"/>
          </a:xfrm>
          <a:custGeom>
            <a:avLst/>
            <a:gdLst/>
            <a:ahLst/>
            <a:cxnLst/>
            <a:rect l="l" t="t" r="r" b="b"/>
            <a:pathLst>
              <a:path w="6705600" h="2967354">
                <a:moveTo>
                  <a:pt x="6705600" y="0"/>
                </a:moveTo>
                <a:lnTo>
                  <a:pt x="0" y="0"/>
                </a:lnTo>
                <a:lnTo>
                  <a:pt x="0" y="2967228"/>
                </a:lnTo>
                <a:lnTo>
                  <a:pt x="6705600" y="2967228"/>
                </a:lnTo>
                <a:lnTo>
                  <a:pt x="6705600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93594" y="2180843"/>
            <a:ext cx="628586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210" dirty="0">
                <a:solidFill>
                  <a:srgbClr val="FFFFFF"/>
                </a:solidFill>
                <a:latin typeface="Cambria"/>
                <a:cs typeface="Cambria"/>
              </a:rPr>
              <a:t>Role</a:t>
            </a:r>
            <a:r>
              <a:rPr sz="5400" spc="4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37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5400" spc="45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280" dirty="0">
                <a:solidFill>
                  <a:srgbClr val="FFFFFF"/>
                </a:solidFill>
                <a:latin typeface="Cambria"/>
                <a:cs typeface="Cambria"/>
              </a:rPr>
              <a:t>Activation </a:t>
            </a:r>
            <a:r>
              <a:rPr sz="5400" spc="-1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220" dirty="0">
                <a:solidFill>
                  <a:srgbClr val="FFFFFF"/>
                </a:solidFill>
                <a:latin typeface="Cambria"/>
                <a:cs typeface="Cambria"/>
              </a:rPr>
              <a:t>Function</a:t>
            </a:r>
            <a:r>
              <a:rPr sz="5400" spc="4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60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5400" spc="4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90" dirty="0">
                <a:solidFill>
                  <a:srgbClr val="FFFFFF"/>
                </a:solidFill>
                <a:latin typeface="Cambria"/>
                <a:cs typeface="Cambria"/>
              </a:rPr>
              <a:t>Back </a:t>
            </a:r>
            <a:r>
              <a:rPr sz="5400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5400" spc="170" dirty="0">
                <a:solidFill>
                  <a:srgbClr val="FFFFFF"/>
                </a:solidFill>
                <a:latin typeface="Cambria"/>
                <a:cs typeface="Cambria"/>
              </a:rPr>
              <a:t>Propagation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325" y="6331711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852" y="6306311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51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8" y="160782"/>
            <a:ext cx="11042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740" algn="l"/>
              </a:tabLst>
            </a:pPr>
            <a:r>
              <a:rPr sz="5400" spc="405" baseline="-4629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84469" y="3213735"/>
            <a:ext cx="1437640" cy="345440"/>
          </a:xfrm>
          <a:custGeom>
            <a:avLst/>
            <a:gdLst/>
            <a:ahLst/>
            <a:cxnLst/>
            <a:rect l="l" t="t" r="r" b="b"/>
            <a:pathLst>
              <a:path w="1437640" h="345439">
                <a:moveTo>
                  <a:pt x="1437131" y="0"/>
                </a:moveTo>
                <a:lnTo>
                  <a:pt x="0" y="0"/>
                </a:lnTo>
                <a:lnTo>
                  <a:pt x="0" y="345186"/>
                </a:lnTo>
                <a:lnTo>
                  <a:pt x="1437131" y="345186"/>
                </a:lnTo>
                <a:lnTo>
                  <a:pt x="14371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4126" y="3175508"/>
            <a:ext cx="11240770" cy="3593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0" dirty="0">
                <a:solidFill>
                  <a:srgbClr val="FF0066"/>
                </a:solidFill>
                <a:latin typeface="Cambria"/>
                <a:cs typeface="Cambria"/>
              </a:rPr>
              <a:t>Step-Function</a:t>
            </a:r>
            <a:r>
              <a:rPr sz="2400" b="1" spc="2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35" dirty="0">
                <a:solidFill>
                  <a:srgbClr val="FF0066"/>
                </a:solidFill>
                <a:latin typeface="Cambria"/>
                <a:cs typeface="Cambria"/>
              </a:rPr>
              <a:t>(Binary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55" dirty="0">
                <a:solidFill>
                  <a:srgbClr val="FF0066"/>
                </a:solidFill>
                <a:latin typeface="Cambria"/>
                <a:cs typeface="Cambria"/>
              </a:rPr>
              <a:t>Function):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Problems?</a:t>
            </a:r>
            <a:endParaRPr sz="2400" dirty="0">
              <a:latin typeface="Cambria"/>
              <a:cs typeface="Cambria"/>
            </a:endParaRPr>
          </a:p>
          <a:p>
            <a:pPr marL="240665" marR="266700" indent="-228600">
              <a:lnSpc>
                <a:spcPct val="150000"/>
              </a:lnSpc>
              <a:spcBef>
                <a:spcPts val="20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90" dirty="0">
                <a:latin typeface="Cambria"/>
                <a:cs typeface="Cambria"/>
              </a:rPr>
              <a:t>As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we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know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that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output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of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this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activation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function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is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either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0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0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FF0000"/>
                </a:solidFill>
                <a:latin typeface="Cambria"/>
                <a:cs typeface="Cambria"/>
              </a:rPr>
              <a:t>zero</a:t>
            </a:r>
            <a:r>
              <a:rPr sz="20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which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are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constant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values,</a:t>
            </a:r>
            <a:endParaRPr sz="2000" dirty="0">
              <a:latin typeface="Cambria"/>
              <a:cs typeface="Cambria"/>
            </a:endParaRPr>
          </a:p>
          <a:p>
            <a:pPr marL="240665" marR="268605" indent="-228600">
              <a:lnSpc>
                <a:spcPct val="1501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4" dirty="0">
                <a:latin typeface="Cambria"/>
                <a:cs typeface="Cambria"/>
              </a:rPr>
              <a:t>So,</a:t>
            </a:r>
            <a:r>
              <a:rPr sz="2000" spc="54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during</a:t>
            </a:r>
            <a:r>
              <a:rPr sz="2000" spc="54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Back-Propagation</a:t>
            </a:r>
            <a:r>
              <a:rPr sz="2000" spc="55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process,</a:t>
            </a:r>
            <a:r>
              <a:rPr sz="2000" spc="55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if</a:t>
            </a:r>
            <a:r>
              <a:rPr sz="2000" spc="55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you</a:t>
            </a:r>
            <a:r>
              <a:rPr sz="2000" spc="55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take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derivative</a:t>
            </a:r>
            <a:r>
              <a:rPr sz="2000" spc="550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of</a:t>
            </a:r>
            <a:r>
              <a:rPr sz="2000" spc="56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55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constant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values,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answer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is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FF0000"/>
                </a:solidFill>
                <a:latin typeface="Cambria"/>
                <a:cs typeface="Cambria"/>
              </a:rPr>
              <a:t>0</a:t>
            </a:r>
            <a:r>
              <a:rPr sz="2000" spc="110" dirty="0">
                <a:latin typeface="Cambria"/>
                <a:cs typeface="Cambria"/>
              </a:rPr>
              <a:t>.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D6194"/>
              </a:buClr>
              <a:buFont typeface="Wingdings"/>
              <a:buChar char=""/>
            </a:pPr>
            <a:endParaRPr sz="2700" dirty="0">
              <a:latin typeface="Cambria"/>
              <a:cs typeface="Cambria"/>
            </a:endParaRPr>
          </a:p>
          <a:p>
            <a:pPr marL="241300" indent="-228600">
              <a:lnSpc>
                <a:spcPts val="2295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50" dirty="0">
                <a:latin typeface="Cambria"/>
                <a:cs typeface="Cambria"/>
              </a:rPr>
              <a:t>It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cannot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help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us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to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update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weights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of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model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(with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backward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propagation).</a:t>
            </a:r>
            <a:endParaRPr sz="2000" dirty="0">
              <a:latin typeface="Cambria"/>
              <a:cs typeface="Cambria"/>
            </a:endParaRPr>
          </a:p>
          <a:p>
            <a:pPr marR="5080" algn="r">
              <a:lnSpc>
                <a:spcPts val="1215"/>
              </a:lnSpc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9134" y="1095641"/>
            <a:ext cx="1202690" cy="299085"/>
          </a:xfrm>
          <a:custGeom>
            <a:avLst/>
            <a:gdLst/>
            <a:ahLst/>
            <a:cxnLst/>
            <a:rect l="l" t="t" r="r" b="b"/>
            <a:pathLst>
              <a:path w="1202689" h="299084">
                <a:moveTo>
                  <a:pt x="1202423" y="0"/>
                </a:moveTo>
                <a:lnTo>
                  <a:pt x="1131570" y="0"/>
                </a:lnTo>
                <a:lnTo>
                  <a:pt x="0" y="0"/>
                </a:lnTo>
                <a:lnTo>
                  <a:pt x="0" y="298691"/>
                </a:lnTo>
                <a:lnTo>
                  <a:pt x="1131557" y="298691"/>
                </a:lnTo>
                <a:lnTo>
                  <a:pt x="1202423" y="298691"/>
                </a:lnTo>
                <a:lnTo>
                  <a:pt x="120242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9134" y="1806574"/>
            <a:ext cx="935355" cy="299085"/>
          </a:xfrm>
          <a:custGeom>
            <a:avLst/>
            <a:gdLst/>
            <a:ahLst/>
            <a:cxnLst/>
            <a:rect l="l" t="t" r="r" b="b"/>
            <a:pathLst>
              <a:path w="935355" h="299085">
                <a:moveTo>
                  <a:pt x="934961" y="0"/>
                </a:moveTo>
                <a:lnTo>
                  <a:pt x="881634" y="0"/>
                </a:lnTo>
                <a:lnTo>
                  <a:pt x="0" y="0"/>
                </a:lnTo>
                <a:lnTo>
                  <a:pt x="0" y="298704"/>
                </a:lnTo>
                <a:lnTo>
                  <a:pt x="881621" y="298704"/>
                </a:lnTo>
                <a:lnTo>
                  <a:pt x="934961" y="298704"/>
                </a:lnTo>
                <a:lnTo>
                  <a:pt x="934961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9208" y="946785"/>
            <a:ext cx="10791190" cy="1678305"/>
          </a:xfrm>
          <a:prstGeom prst="rect">
            <a:avLst/>
          </a:prstGeom>
          <a:ln w="9525">
            <a:solidFill>
              <a:srgbClr val="61A29F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319405" indent="-229235">
              <a:lnSpc>
                <a:spcPct val="100000"/>
              </a:lnSpc>
              <a:spcBef>
                <a:spcPts val="10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000" b="1" spc="85" dirty="0">
                <a:latin typeface="Cambria"/>
                <a:cs typeface="Cambria"/>
              </a:rPr>
              <a:t>Question:</a:t>
            </a:r>
            <a:r>
              <a:rPr sz="2000" b="1" spc="440" dirty="0">
                <a:latin typeface="Cambria"/>
                <a:cs typeface="Cambria"/>
              </a:rPr>
              <a:t> </a:t>
            </a:r>
            <a:r>
              <a:rPr sz="2000" spc="5" dirty="0">
                <a:latin typeface="Cambria"/>
                <a:cs typeface="Cambria"/>
              </a:rPr>
              <a:t>How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we </a:t>
            </a:r>
            <a:r>
              <a:rPr sz="2000" spc="90" dirty="0">
                <a:latin typeface="Cambria"/>
                <a:cs typeface="Cambria"/>
              </a:rPr>
              <a:t>can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update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weights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of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deep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neural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net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model?</a:t>
            </a:r>
            <a:endParaRPr sz="2000">
              <a:latin typeface="Cambria"/>
              <a:cs typeface="Cambria"/>
            </a:endParaRPr>
          </a:p>
          <a:p>
            <a:pPr marL="319405" marR="84455" indent="-228600">
              <a:lnSpc>
                <a:spcPct val="150000"/>
              </a:lnSpc>
              <a:spcBef>
                <a:spcPts val="20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000" spc="55" dirty="0">
                <a:latin typeface="Cambria"/>
                <a:cs typeface="Cambria"/>
              </a:rPr>
              <a:t>Answer: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Stochastic </a:t>
            </a:r>
            <a:r>
              <a:rPr sz="2000" spc="85" dirty="0">
                <a:latin typeface="Cambria"/>
                <a:cs typeface="Cambria"/>
              </a:rPr>
              <a:t>Gradient </a:t>
            </a:r>
            <a:r>
              <a:rPr sz="2000" spc="100" dirty="0">
                <a:latin typeface="Cambria"/>
                <a:cs typeface="Cambria"/>
              </a:rPr>
              <a:t>Decent </a:t>
            </a:r>
            <a:r>
              <a:rPr sz="2000" spc="70" dirty="0">
                <a:latin typeface="Cambria"/>
                <a:cs typeface="Cambria"/>
              </a:rPr>
              <a:t>algorithm, </a:t>
            </a:r>
            <a:r>
              <a:rPr sz="2000" spc="50" dirty="0">
                <a:latin typeface="Cambria"/>
                <a:cs typeface="Cambria"/>
              </a:rPr>
              <a:t>actually </a:t>
            </a:r>
            <a:r>
              <a:rPr sz="2000" spc="85" dirty="0">
                <a:latin typeface="Cambria"/>
                <a:cs typeface="Cambria"/>
              </a:rPr>
              <a:t>play </a:t>
            </a:r>
            <a:r>
              <a:rPr sz="2000" spc="80" dirty="0">
                <a:latin typeface="Cambria"/>
                <a:cs typeface="Cambria"/>
              </a:rPr>
              <a:t>a </a:t>
            </a:r>
            <a:r>
              <a:rPr sz="2000" spc="55" dirty="0">
                <a:latin typeface="Cambria"/>
                <a:cs typeface="Cambria"/>
              </a:rPr>
              <a:t>role </a:t>
            </a:r>
            <a:r>
              <a:rPr sz="2000" spc="5" dirty="0">
                <a:latin typeface="Cambria"/>
                <a:cs typeface="Cambria"/>
              </a:rPr>
              <a:t>to </a:t>
            </a:r>
            <a:r>
              <a:rPr sz="2000" spc="75" dirty="0">
                <a:latin typeface="Cambria"/>
                <a:cs typeface="Cambria"/>
              </a:rPr>
              <a:t>calculate </a:t>
            </a:r>
            <a:r>
              <a:rPr sz="2000" spc="70" dirty="0">
                <a:latin typeface="Cambria"/>
                <a:cs typeface="Cambria"/>
              </a:rPr>
              <a:t>value </a:t>
            </a:r>
            <a:r>
              <a:rPr sz="2000" spc="80" dirty="0">
                <a:latin typeface="Cambria"/>
                <a:cs typeface="Cambria"/>
              </a:rPr>
              <a:t>and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update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weights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of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the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model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by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applying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partial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derivative</a:t>
            </a:r>
            <a:r>
              <a:rPr sz="2000" spc="90" dirty="0">
                <a:latin typeface="Cambria"/>
                <a:cs typeface="Cambria"/>
              </a:rPr>
              <a:t> process.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8" y="160782"/>
            <a:ext cx="11042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740" algn="l"/>
              </a:tabLst>
            </a:pPr>
            <a:r>
              <a:rPr sz="5400" spc="405" baseline="-4629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5401" y="1245108"/>
            <a:ext cx="1437640" cy="345440"/>
          </a:xfrm>
          <a:custGeom>
            <a:avLst/>
            <a:gdLst/>
            <a:ahLst/>
            <a:cxnLst/>
            <a:rect l="l" t="t" r="r" b="b"/>
            <a:pathLst>
              <a:path w="1437639" h="345440">
                <a:moveTo>
                  <a:pt x="1437131" y="0"/>
                </a:moveTo>
                <a:lnTo>
                  <a:pt x="0" y="0"/>
                </a:lnTo>
                <a:lnTo>
                  <a:pt x="0" y="345186"/>
                </a:lnTo>
                <a:lnTo>
                  <a:pt x="1437131" y="345186"/>
                </a:lnTo>
                <a:lnTo>
                  <a:pt x="14371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976609" y="6575806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026" name="Picture 2" descr="Understanding Gradient Descent Algorithm and Its Role in Linear Regression">
            <a:extLst>
              <a:ext uri="{FF2B5EF4-FFF2-40B4-BE49-F238E27FC236}">
                <a16:creationId xmlns:a16="http://schemas.microsoft.com/office/drawing/2014/main" id="{9AFB1FC0-FB8C-4211-A20D-9C738F2CC1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2" t="3172" r="7447"/>
          <a:stretch/>
        </p:blipFill>
        <p:spPr bwMode="auto">
          <a:xfrm>
            <a:off x="7910068" y="703337"/>
            <a:ext cx="3603752" cy="208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5"/>
          <p:cNvSpPr txBox="1"/>
          <p:nvPr/>
        </p:nvSpPr>
        <p:spPr>
          <a:xfrm>
            <a:off x="743459" y="1206753"/>
            <a:ext cx="9010142" cy="5062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5" dirty="0">
                <a:solidFill>
                  <a:srgbClr val="FF0066"/>
                </a:solidFill>
                <a:latin typeface="Cambria"/>
                <a:cs typeface="Cambria"/>
              </a:rPr>
              <a:t>Linear</a:t>
            </a:r>
            <a:r>
              <a:rPr sz="2400" b="1" spc="204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Problems?</a:t>
            </a:r>
            <a:endParaRPr lang="en-US" sz="2400" b="1" spc="85" dirty="0">
              <a:solidFill>
                <a:srgbClr val="FF0066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800" dirty="0">
              <a:latin typeface="Cambria"/>
              <a:cs typeface="Cambria"/>
            </a:endParaRPr>
          </a:p>
          <a:p>
            <a:pPr marL="241300" indent="-228600"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600" spc="190" dirty="0">
                <a:latin typeface="Cambria"/>
                <a:cs typeface="Cambria"/>
              </a:rPr>
              <a:t>As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we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know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that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the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40" dirty="0">
                <a:latin typeface="Cambria"/>
                <a:cs typeface="Cambria"/>
              </a:rPr>
              <a:t>output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70" dirty="0">
                <a:latin typeface="Cambria"/>
                <a:cs typeface="Cambria"/>
              </a:rPr>
              <a:t>of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this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activation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35" dirty="0">
                <a:latin typeface="Cambria"/>
                <a:cs typeface="Cambria"/>
              </a:rPr>
              <a:t>function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is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145" dirty="0">
                <a:solidFill>
                  <a:srgbClr val="FF0066"/>
                </a:solidFill>
                <a:latin typeface="Cambria"/>
                <a:cs typeface="Cambria"/>
              </a:rPr>
              <a:t>A</a:t>
            </a:r>
            <a:r>
              <a:rPr sz="16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225" dirty="0">
                <a:solidFill>
                  <a:srgbClr val="FF0066"/>
                </a:solidFill>
                <a:latin typeface="Cambria"/>
                <a:cs typeface="Cambria"/>
              </a:rPr>
              <a:t>=</a:t>
            </a:r>
            <a:r>
              <a:rPr sz="1600" spc="6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FF0066"/>
                </a:solidFill>
                <a:latin typeface="Cambria"/>
                <a:cs typeface="Cambria"/>
              </a:rPr>
              <a:t>w</a:t>
            </a:r>
            <a:r>
              <a:rPr sz="16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-5" dirty="0">
                <a:solidFill>
                  <a:srgbClr val="FF0066"/>
                </a:solidFill>
                <a:latin typeface="Cambria Math"/>
                <a:cs typeface="Cambria Math"/>
              </a:rPr>
              <a:t>∗</a:t>
            </a:r>
            <a:r>
              <a:rPr sz="1600" spc="50" dirty="0">
                <a:solidFill>
                  <a:srgbClr val="FF0066"/>
                </a:solidFill>
                <a:latin typeface="Cambria Math"/>
                <a:cs typeface="Cambria Math"/>
              </a:rPr>
              <a:t> </a:t>
            </a:r>
            <a:r>
              <a:rPr sz="1600" spc="125" dirty="0">
                <a:solidFill>
                  <a:srgbClr val="FF0066"/>
                </a:solidFill>
                <a:latin typeface="Cambria"/>
                <a:cs typeface="Cambria"/>
              </a:rPr>
              <a:t>x,</a:t>
            </a:r>
            <a:endParaRPr sz="1600" dirty="0">
              <a:latin typeface="Cambria"/>
              <a:cs typeface="Cambria"/>
            </a:endParaRP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sz="1600" spc="114" dirty="0">
                <a:latin typeface="Cambria"/>
                <a:cs typeface="Cambria"/>
              </a:rPr>
              <a:t>So,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75" dirty="0">
                <a:latin typeface="Cambria"/>
                <a:cs typeface="Cambria"/>
              </a:rPr>
              <a:t>d</a:t>
            </a:r>
            <a:r>
              <a:rPr sz="1600" spc="105" dirty="0">
                <a:latin typeface="Cambria"/>
                <a:cs typeface="Cambria"/>
              </a:rPr>
              <a:t>urin</a:t>
            </a:r>
            <a:r>
              <a:rPr sz="1600" spc="120" dirty="0">
                <a:latin typeface="Cambria"/>
                <a:cs typeface="Cambria"/>
              </a:rPr>
              <a:t>g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30" dirty="0">
                <a:latin typeface="Cambria"/>
                <a:cs typeface="Cambria"/>
              </a:rPr>
              <a:t>th</a:t>
            </a:r>
            <a:r>
              <a:rPr sz="1600" spc="80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90" dirty="0">
                <a:latin typeface="Cambria"/>
                <a:cs typeface="Cambria"/>
              </a:rPr>
              <a:t>Bac</a:t>
            </a:r>
            <a:r>
              <a:rPr sz="1600" spc="100" dirty="0">
                <a:latin typeface="Cambria"/>
                <a:cs typeface="Cambria"/>
              </a:rPr>
              <a:t>k</a:t>
            </a:r>
            <a:r>
              <a:rPr sz="1600" spc="-15" dirty="0">
                <a:latin typeface="Cambria"/>
                <a:cs typeface="Cambria"/>
              </a:rPr>
              <a:t>-</a:t>
            </a:r>
            <a:r>
              <a:rPr sz="1600" spc="90" dirty="0">
                <a:latin typeface="Cambria"/>
                <a:cs typeface="Cambria"/>
              </a:rPr>
              <a:t>Prop</a:t>
            </a:r>
            <a:r>
              <a:rPr sz="1600" spc="125" dirty="0">
                <a:latin typeface="Cambria"/>
                <a:cs typeface="Cambria"/>
              </a:rPr>
              <a:t>aga</a:t>
            </a:r>
            <a:r>
              <a:rPr sz="1600" spc="75" dirty="0">
                <a:latin typeface="Cambria"/>
                <a:cs typeface="Cambria"/>
              </a:rPr>
              <a:t>t</a:t>
            </a:r>
            <a:r>
              <a:rPr sz="1600" spc="95" dirty="0">
                <a:latin typeface="Cambria"/>
                <a:cs typeface="Cambria"/>
              </a:rPr>
              <a:t>io</a:t>
            </a:r>
            <a:r>
              <a:rPr sz="1600" spc="140" dirty="0">
                <a:latin typeface="Cambria"/>
                <a:cs typeface="Cambria"/>
              </a:rPr>
              <a:t>n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25" dirty="0">
                <a:latin typeface="Cambria"/>
                <a:cs typeface="Cambria"/>
              </a:rPr>
              <a:t>pro</a:t>
            </a:r>
            <a:r>
              <a:rPr sz="1600" spc="100" dirty="0">
                <a:latin typeface="Cambria"/>
                <a:cs typeface="Cambria"/>
              </a:rPr>
              <a:t>c</a:t>
            </a:r>
            <a:r>
              <a:rPr sz="1600" spc="120" dirty="0">
                <a:latin typeface="Cambria"/>
                <a:cs typeface="Cambria"/>
              </a:rPr>
              <a:t>e</a:t>
            </a:r>
            <a:r>
              <a:rPr sz="1600" spc="110" dirty="0">
                <a:latin typeface="Cambria"/>
                <a:cs typeface="Cambria"/>
              </a:rPr>
              <a:t>s</a:t>
            </a:r>
            <a:r>
              <a:rPr sz="1600" spc="130" dirty="0">
                <a:latin typeface="Cambria"/>
                <a:cs typeface="Cambria"/>
              </a:rPr>
              <a:t>s,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25" dirty="0">
                <a:latin typeface="Cambria"/>
                <a:cs typeface="Cambria"/>
              </a:rPr>
              <a:t>if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20" dirty="0">
                <a:latin typeface="Cambria"/>
                <a:cs typeface="Cambria"/>
              </a:rPr>
              <a:t>yo</a:t>
            </a:r>
            <a:r>
              <a:rPr sz="1600" spc="135" dirty="0">
                <a:latin typeface="Cambria"/>
                <a:cs typeface="Cambria"/>
              </a:rPr>
              <a:t>u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10" dirty="0">
                <a:latin typeface="Cambria"/>
                <a:cs typeface="Cambria"/>
              </a:rPr>
              <a:t>ta</a:t>
            </a:r>
            <a:r>
              <a:rPr sz="1600" spc="150" dirty="0">
                <a:latin typeface="Cambria"/>
                <a:cs typeface="Cambria"/>
              </a:rPr>
              <a:t>k</a:t>
            </a:r>
            <a:r>
              <a:rPr sz="1600" spc="80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30" dirty="0">
                <a:latin typeface="Cambria"/>
                <a:cs typeface="Cambria"/>
              </a:rPr>
              <a:t>th</a:t>
            </a:r>
            <a:r>
              <a:rPr sz="1600" spc="80" dirty="0">
                <a:latin typeface="Cambria"/>
                <a:cs typeface="Cambria"/>
              </a:rPr>
              <a:t>e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b="1" spc="70" dirty="0">
                <a:latin typeface="Cambria"/>
                <a:cs typeface="Cambria"/>
              </a:rPr>
              <a:t>derivat</a:t>
            </a:r>
            <a:r>
              <a:rPr sz="1600" b="1" spc="35" dirty="0">
                <a:latin typeface="Cambria"/>
                <a:cs typeface="Cambria"/>
              </a:rPr>
              <a:t>i</a:t>
            </a:r>
            <a:r>
              <a:rPr sz="1600" b="1" spc="155" dirty="0">
                <a:latin typeface="Cambria"/>
                <a:cs typeface="Cambria"/>
              </a:rPr>
              <a:t>ve</a:t>
            </a:r>
            <a:r>
              <a:rPr sz="1600" b="1" dirty="0">
                <a:latin typeface="Cambria"/>
                <a:cs typeface="Cambria"/>
              </a:rPr>
              <a:t>	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130" dirty="0">
                <a:solidFill>
                  <a:srgbClr val="FF0066"/>
                </a:solidFill>
                <a:latin typeface="Cambria"/>
                <a:cs typeface="Cambria"/>
              </a:rPr>
              <a:t>consta</a:t>
            </a:r>
            <a:r>
              <a:rPr sz="1600" spc="150" dirty="0">
                <a:solidFill>
                  <a:srgbClr val="FF0066"/>
                </a:solidFill>
                <a:latin typeface="Cambria"/>
                <a:cs typeface="Cambria"/>
              </a:rPr>
              <a:t>n</a:t>
            </a:r>
            <a:r>
              <a:rPr sz="1600" spc="80" dirty="0">
                <a:solidFill>
                  <a:srgbClr val="FF0066"/>
                </a:solidFill>
                <a:latin typeface="Cambria"/>
                <a:cs typeface="Cambria"/>
              </a:rPr>
              <a:t>t  </a:t>
            </a:r>
            <a:r>
              <a:rPr sz="1600" spc="105" dirty="0">
                <a:solidFill>
                  <a:srgbClr val="FF0066"/>
                </a:solidFill>
                <a:latin typeface="Cambria"/>
                <a:cs typeface="Cambria"/>
              </a:rPr>
              <a:t>values</a:t>
            </a:r>
            <a:r>
              <a:rPr sz="1600" spc="1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latin typeface="Cambria"/>
                <a:cs typeface="Cambria"/>
              </a:rPr>
              <a:t>is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110" dirty="0">
                <a:latin typeface="Cambria"/>
                <a:cs typeface="Cambria"/>
              </a:rPr>
              <a:t>generated.</a:t>
            </a:r>
            <a:endParaRPr lang="en-US" sz="1600" spc="110" dirty="0">
              <a:latin typeface="Cambria"/>
              <a:cs typeface="Cambria"/>
            </a:endParaRP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Lack of Non-linearity</a:t>
            </a:r>
            <a:r>
              <a:rPr lang="en-US" sz="1600" b="1" dirty="0">
                <a:latin typeface="Cambria"/>
                <a:cs typeface="Cambria"/>
              </a:rPr>
              <a:t>: </a:t>
            </a:r>
            <a:r>
              <a:rPr lang="en-US" sz="1600" dirty="0">
                <a:latin typeface="Cambria"/>
                <a:cs typeface="Cambria"/>
              </a:rPr>
              <a:t>The network reduces to a single linear transformation, limiting its ability to learn complex patterns.</a:t>
            </a: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Constant Gradient: </a:t>
            </a:r>
            <a:r>
              <a:rPr lang="en-US" sz="1600" dirty="0">
                <a:latin typeface="Cambria"/>
                <a:cs typeface="Cambria"/>
              </a:rPr>
              <a:t>The constant derivative means gradients 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don't change</a:t>
            </a:r>
            <a:r>
              <a:rPr lang="en-US" sz="1600" dirty="0">
                <a:latin typeface="Cambria"/>
                <a:cs typeface="Cambria"/>
              </a:rPr>
              <a:t>, slowing learning and preventing the network from capturing intricate features.</a:t>
            </a: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Gradient Issues: </a:t>
            </a:r>
            <a:r>
              <a:rPr lang="en-US" sz="1600" dirty="0">
                <a:latin typeface="Cambria"/>
                <a:cs typeface="Cambria"/>
              </a:rPr>
              <a:t>Linear functions can still cause 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vanishing</a:t>
            </a:r>
            <a:r>
              <a:rPr lang="en-US" sz="1600" dirty="0">
                <a:latin typeface="Cambria"/>
                <a:cs typeface="Cambria"/>
              </a:rPr>
              <a:t> or 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exploding</a:t>
            </a:r>
            <a:r>
              <a:rPr lang="en-US" sz="1600" dirty="0">
                <a:latin typeface="Cambria"/>
                <a:cs typeface="Cambria"/>
              </a:rPr>
              <a:t> gradients, especially with deep networks.</a:t>
            </a:r>
          </a:p>
          <a:p>
            <a:pPr marL="241300" marR="5080" indent="-228600"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  <a:tab pos="746760" algn="l"/>
                <a:tab pos="1713230" algn="l"/>
                <a:tab pos="2257425" algn="l"/>
                <a:tab pos="4547870" algn="l"/>
                <a:tab pos="5709920" algn="l"/>
                <a:tab pos="6039485" algn="l"/>
                <a:tab pos="6641465" algn="l"/>
                <a:tab pos="7315834" algn="l"/>
                <a:tab pos="7860030" algn="l"/>
                <a:tab pos="9314815" algn="l"/>
                <a:tab pos="96012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ambria"/>
                <a:cs typeface="Cambria"/>
              </a:rPr>
              <a:t>Complexity Limitations</a:t>
            </a:r>
            <a:r>
              <a:rPr lang="en-US" sz="1600" dirty="0">
                <a:solidFill>
                  <a:srgbClr val="FF0000"/>
                </a:solidFill>
                <a:latin typeface="Cambria"/>
                <a:cs typeface="Cambria"/>
              </a:rPr>
              <a:t>: </a:t>
            </a:r>
            <a:r>
              <a:rPr lang="en-US" sz="1600" dirty="0">
                <a:latin typeface="Cambria"/>
                <a:cs typeface="Cambria"/>
              </a:rPr>
              <a:t>Linear functions only model linear relationships, hindering the network's ability to fit non-linear data.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707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10" dirty="0">
                <a:solidFill>
                  <a:srgbClr val="FF0066"/>
                </a:solidFill>
                <a:latin typeface="Cambria"/>
                <a:cs typeface="Cambria"/>
              </a:rPr>
              <a:t>Sigmoid</a:t>
            </a:r>
            <a:r>
              <a:rPr sz="2400" b="1" spc="18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4533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75806"/>
            <a:ext cx="10185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54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0460" y="3393185"/>
            <a:ext cx="4554771" cy="24414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43458" y="1763013"/>
            <a:ext cx="11142980" cy="2177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spc="30" dirty="0">
                <a:solidFill>
                  <a:srgbClr val="FF0066"/>
                </a:solidFill>
                <a:latin typeface="Cambria"/>
                <a:cs typeface="Cambria"/>
              </a:rPr>
              <a:t>Problem-1:</a:t>
            </a:r>
            <a:r>
              <a:rPr sz="2000" b="1" spc="18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Vanishing</a:t>
            </a:r>
            <a:r>
              <a:rPr sz="2000" b="1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0066FF"/>
                </a:solidFill>
                <a:latin typeface="Cambria"/>
                <a:cs typeface="Cambria"/>
              </a:rPr>
              <a:t>Gradients</a:t>
            </a:r>
            <a:endParaRPr sz="2000" dirty="0">
              <a:latin typeface="Cambria"/>
              <a:cs typeface="Cambria"/>
            </a:endParaRPr>
          </a:p>
          <a:p>
            <a:pPr marL="469900" marR="5080" lvl="1" indent="-228600">
              <a:lnSpc>
                <a:spcPct val="150000"/>
              </a:lnSpc>
              <a:spcBef>
                <a:spcPts val="19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40" dirty="0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this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activation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function,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gradient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values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are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significant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range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en-US" sz="2200" spc="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en-US" sz="2200" spc="-25" dirty="0">
                <a:solidFill>
                  <a:srgbClr val="7E7E7E"/>
                </a:solidFill>
                <a:latin typeface="Cambria"/>
                <a:cs typeface="Cambria"/>
              </a:rPr>
              <a:t>1</a:t>
            </a:r>
            <a:r>
              <a:rPr sz="2200" spc="-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7E7E7E"/>
                </a:solidFill>
                <a:latin typeface="Cambria"/>
                <a:cs typeface="Cambria"/>
              </a:rPr>
              <a:t>graph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gets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much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flatter</a:t>
            </a:r>
            <a:r>
              <a:rPr sz="2200" spc="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other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regions.</a:t>
            </a:r>
            <a:endParaRPr sz="2200" dirty="0">
              <a:latin typeface="Cambria"/>
              <a:cs typeface="Cambria"/>
            </a:endParaRPr>
          </a:p>
          <a:p>
            <a:pPr marL="492125" lvl="1" indent="-229235">
              <a:lnSpc>
                <a:spcPct val="100000"/>
              </a:lnSpc>
              <a:spcBef>
                <a:spcPts val="203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92759" algn="l"/>
              </a:tabLst>
            </a:pP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This</a:t>
            </a:r>
            <a:r>
              <a:rPr sz="2200" spc="25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implies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Cambria"/>
                <a:cs typeface="Cambria"/>
              </a:rPr>
              <a:t>that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values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greater</a:t>
            </a:r>
            <a:r>
              <a:rPr sz="2200" spc="2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than</a:t>
            </a:r>
            <a:r>
              <a:rPr sz="2200" spc="2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en-US" sz="2200" spc="-2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3010" y="3915714"/>
            <a:ext cx="4588510" cy="965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502284" algn="l"/>
                <a:tab pos="1213485" algn="l"/>
                <a:tab pos="1706880" algn="l"/>
                <a:tab pos="1979295" algn="l"/>
                <a:tab pos="2447290" algn="l"/>
                <a:tab pos="2501265" algn="l"/>
                <a:tab pos="3172460" algn="l"/>
                <a:tab pos="3267710" algn="l"/>
                <a:tab pos="3992245" algn="l"/>
              </a:tabLst>
            </a:pP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o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l</a:t>
            </a:r>
            <a:r>
              <a:rPr sz="2200" spc="14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ss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than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lang="en-US" sz="2200" spc="35" dirty="0">
                <a:solidFill>
                  <a:srgbClr val="7E7E7E"/>
                </a:solidFill>
                <a:latin typeface="Cambria"/>
                <a:cs typeface="Cambria"/>
              </a:rPr>
              <a:t>1</a:t>
            </a:r>
            <a:r>
              <a:rPr sz="2200" spc="190" dirty="0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	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w</a:t>
            </a:r>
            <a:r>
              <a:rPr sz="2200" spc="-5" dirty="0">
                <a:solidFill>
                  <a:srgbClr val="7E7E7E"/>
                </a:solidFill>
                <a:latin typeface="Cambria"/>
                <a:cs typeface="Cambria"/>
              </a:rPr>
              <a:t>i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l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l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h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200" spc="185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2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y 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gradients.	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As	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		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gradient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5764" y="3915714"/>
            <a:ext cx="71882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>
              <a:lnSpc>
                <a:spcPct val="150000"/>
              </a:lnSpc>
              <a:spcBef>
                <a:spcPts val="100"/>
              </a:spcBef>
            </a:pP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s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m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ll  v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al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u</a:t>
            </a:r>
            <a:r>
              <a:rPr sz="2200" spc="185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3010" y="4921960"/>
            <a:ext cx="548005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approaches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zero,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network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200" spc="2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" dirty="0">
                <a:solidFill>
                  <a:srgbClr val="7E7E7E"/>
                </a:solidFill>
                <a:latin typeface="Cambria"/>
                <a:cs typeface="Cambria"/>
              </a:rPr>
              <a:t>not</a:t>
            </a:r>
            <a:r>
              <a:rPr sz="2200" spc="2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really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learning.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38094" y="5920740"/>
            <a:ext cx="7782559" cy="873760"/>
          </a:xfrm>
          <a:custGeom>
            <a:avLst/>
            <a:gdLst/>
            <a:ahLst/>
            <a:cxnLst/>
            <a:rect l="l" t="t" r="r" b="b"/>
            <a:pathLst>
              <a:path w="7782559" h="873759">
                <a:moveTo>
                  <a:pt x="7782306" y="0"/>
                </a:moveTo>
                <a:lnTo>
                  <a:pt x="0" y="0"/>
                </a:lnTo>
                <a:lnTo>
                  <a:pt x="0" y="873252"/>
                </a:lnTo>
                <a:lnTo>
                  <a:pt x="7782306" y="873252"/>
                </a:lnTo>
                <a:lnTo>
                  <a:pt x="7782306" y="0"/>
                </a:lnTo>
                <a:close/>
              </a:path>
            </a:pathLst>
          </a:custGeom>
          <a:solidFill>
            <a:srgbClr val="FCE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29407" y="6059563"/>
            <a:ext cx="770890" cy="2692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1800" spc="50" dirty="0">
                <a:solidFill>
                  <a:srgbClr val="7E7E7E"/>
                </a:solidFill>
                <a:latin typeface="Cambria"/>
                <a:cs typeface="Cambria"/>
              </a:rPr>
              <a:t>Issues: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87215" y="6034532"/>
            <a:ext cx="6852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7E7E7E"/>
                </a:solidFill>
                <a:latin typeface="Cambria"/>
                <a:cs typeface="Cambria"/>
              </a:rPr>
              <a:t>(1)</a:t>
            </a:r>
            <a:r>
              <a:rPr sz="1800" spc="19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7E7E7E"/>
                </a:solidFill>
                <a:latin typeface="Cambria"/>
                <a:cs typeface="Cambria"/>
              </a:rPr>
              <a:t>less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7E7E7E"/>
                </a:solidFill>
                <a:latin typeface="Cambria"/>
                <a:cs typeface="Cambria"/>
              </a:rPr>
              <a:t>contributing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learning</a:t>
            </a:r>
            <a:r>
              <a:rPr sz="1800" spc="2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1800" spc="20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1800" spc="19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0066FF"/>
                </a:solidFill>
                <a:latin typeface="Cambria"/>
                <a:cs typeface="Cambria"/>
              </a:rPr>
              <a:t>very</a:t>
            </a:r>
            <a:r>
              <a:rPr sz="1800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15" dirty="0">
                <a:solidFill>
                  <a:srgbClr val="0066FF"/>
                </a:solidFill>
                <a:latin typeface="Cambria"/>
                <a:cs typeface="Cambria"/>
              </a:rPr>
              <a:t>slow</a:t>
            </a:r>
            <a:r>
              <a:rPr sz="1800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1800" spc="20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1800" spc="20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0066FF"/>
                </a:solidFill>
                <a:latin typeface="Cambria"/>
                <a:cs typeface="Cambria"/>
              </a:rPr>
              <a:t>weights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6833" y="6446011"/>
            <a:ext cx="6410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0066FF"/>
                </a:solidFill>
                <a:latin typeface="Cambria"/>
                <a:cs typeface="Cambria"/>
              </a:rPr>
              <a:t>updates</a:t>
            </a:r>
            <a:r>
              <a:rPr sz="1800" spc="3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-15" dirty="0">
                <a:solidFill>
                  <a:srgbClr val="7E7E7E"/>
                </a:solidFill>
                <a:latin typeface="Cambria"/>
                <a:cs typeface="Cambria"/>
              </a:rPr>
              <a:t>(2)</a:t>
            </a:r>
            <a:r>
              <a:rPr sz="18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0066FF"/>
                </a:solidFill>
                <a:latin typeface="Cambria"/>
                <a:cs typeface="Cambria"/>
              </a:rPr>
              <a:t>computationally</a:t>
            </a:r>
            <a:r>
              <a:rPr sz="1800" spc="3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very</a:t>
            </a:r>
            <a:r>
              <a:rPr sz="18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FF0066"/>
                </a:solidFill>
                <a:latin typeface="Cambria"/>
                <a:cs typeface="Cambria"/>
              </a:rPr>
              <a:t>costly</a:t>
            </a:r>
            <a:r>
              <a:rPr sz="1800" spc="4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18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0066FF"/>
                </a:solidFill>
                <a:latin typeface="Cambria"/>
                <a:cs typeface="Cambria"/>
              </a:rPr>
              <a:t>time</a:t>
            </a:r>
            <a:r>
              <a:rPr sz="1800" spc="4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FF0066"/>
                </a:solidFill>
                <a:latin typeface="Cambria"/>
                <a:cs typeface="Cambria"/>
              </a:rPr>
              <a:t>consuming</a:t>
            </a:r>
            <a:r>
              <a:rPr sz="1800" spc="75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707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10" dirty="0">
                <a:solidFill>
                  <a:srgbClr val="FF0066"/>
                </a:solidFill>
                <a:latin typeface="Cambria"/>
                <a:cs typeface="Cambria"/>
              </a:rPr>
              <a:t>Sigmoid</a:t>
            </a:r>
            <a:r>
              <a:rPr sz="2400" b="1" spc="18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4533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458" y="1763013"/>
            <a:ext cx="11143615" cy="284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9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spc="30" dirty="0">
                <a:solidFill>
                  <a:srgbClr val="FF0066"/>
                </a:solidFill>
                <a:latin typeface="Cambria"/>
                <a:cs typeface="Cambria"/>
              </a:rPr>
              <a:t>Problem-2:</a:t>
            </a:r>
            <a:r>
              <a:rPr sz="2000" b="1" spc="18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0066FF"/>
                </a:solidFill>
                <a:latin typeface="Cambria"/>
                <a:cs typeface="Cambria"/>
              </a:rPr>
              <a:t>Sigmoid</a:t>
            </a:r>
            <a:r>
              <a:rPr sz="2000" b="1" spc="19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0066FF"/>
                </a:solidFill>
                <a:latin typeface="Cambria"/>
                <a:cs typeface="Cambria"/>
              </a:rPr>
              <a:t>is</a:t>
            </a:r>
            <a:r>
              <a:rPr sz="2000" b="1" spc="18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0066FF"/>
                </a:solidFill>
                <a:latin typeface="Cambria"/>
                <a:cs typeface="Cambria"/>
              </a:rPr>
              <a:t>not</a:t>
            </a:r>
            <a:r>
              <a:rPr sz="2000" b="1" spc="19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symmetric</a:t>
            </a:r>
            <a:r>
              <a:rPr sz="2000" b="1" spc="20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0" dirty="0">
                <a:solidFill>
                  <a:srgbClr val="0066FF"/>
                </a:solidFill>
                <a:latin typeface="Cambria"/>
                <a:cs typeface="Cambria"/>
              </a:rPr>
              <a:t>around</a:t>
            </a:r>
            <a:r>
              <a:rPr sz="2000" b="1" spc="19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0066FF"/>
                </a:solidFill>
                <a:latin typeface="Cambria"/>
                <a:cs typeface="Cambria"/>
              </a:rPr>
              <a:t>Zero</a:t>
            </a:r>
            <a:endParaRPr sz="2000" dirty="0">
              <a:latin typeface="Cambria"/>
              <a:cs typeface="Cambria"/>
            </a:endParaRPr>
          </a:p>
          <a:p>
            <a:pPr marL="469900" marR="5080" lvl="1" indent="-228600" algn="just">
              <a:lnSpc>
                <a:spcPct val="150000"/>
              </a:lnSpc>
              <a:spcBef>
                <a:spcPts val="19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We're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providing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any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value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7E7E7E"/>
                </a:solidFill>
                <a:latin typeface="Cambria"/>
                <a:cs typeface="Cambria"/>
              </a:rPr>
              <a:t>sigmoid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functions,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we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are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getting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answer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between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FF0066"/>
                </a:solidFill>
                <a:latin typeface="Cambria"/>
                <a:cs typeface="Cambria"/>
              </a:rPr>
              <a:t>zero</a:t>
            </a:r>
            <a:r>
              <a:rPr sz="2200" spc="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FF0066"/>
                </a:solidFill>
                <a:latin typeface="Cambria"/>
                <a:cs typeface="Cambria"/>
              </a:rPr>
              <a:t>one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sz="2200" spc="-1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always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getting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positive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answer,</a:t>
            </a:r>
            <a:r>
              <a:rPr sz="2200" spc="-11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which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make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30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" dirty="0">
                <a:solidFill>
                  <a:srgbClr val="FF0066"/>
                </a:solidFill>
                <a:latin typeface="Cambria"/>
                <a:cs typeface="Cambria"/>
              </a:rPr>
              <a:t>not</a:t>
            </a:r>
            <a:r>
              <a:rPr sz="22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FF0066"/>
                </a:solidFill>
                <a:latin typeface="Cambria"/>
                <a:cs typeface="Cambria"/>
              </a:rPr>
              <a:t>symmetric </a:t>
            </a:r>
            <a:r>
              <a:rPr sz="2200" spc="-4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FF0066"/>
                </a:solidFill>
                <a:latin typeface="Cambria"/>
                <a:cs typeface="Cambria"/>
              </a:rPr>
              <a:t>around</a:t>
            </a:r>
            <a:r>
              <a:rPr sz="2200" spc="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FF0066"/>
                </a:solidFill>
                <a:latin typeface="Cambria"/>
                <a:cs typeface="Cambria"/>
              </a:rPr>
              <a:t>zero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22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4E67C7"/>
              </a:buClr>
              <a:buFont typeface="Wingdings"/>
              <a:buChar char=""/>
            </a:pPr>
            <a:endParaRPr sz="2800" dirty="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The 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output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all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neurons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will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0" dirty="0">
                <a:solidFill>
                  <a:srgbClr val="7E7E7E"/>
                </a:solidFill>
                <a:latin typeface="Cambria"/>
                <a:cs typeface="Cambria"/>
              </a:rPr>
              <a:t>be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220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FF0000"/>
                </a:solidFill>
                <a:latin typeface="Cambria"/>
                <a:cs typeface="Cambria"/>
              </a:rPr>
              <a:t>sign.</a:t>
            </a:r>
            <a:endParaRPr sz="220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55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262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Tanh</a:t>
            </a:r>
            <a:r>
              <a:rPr sz="2400" b="1" spc="19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2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0286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458" y="1772157"/>
            <a:ext cx="978789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-55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solve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symmetric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around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issue</a:t>
            </a:r>
            <a:r>
              <a:rPr lang="en-US" sz="2200" spc="85" dirty="0">
                <a:solidFill>
                  <a:srgbClr val="7E7E7E"/>
                </a:solidFill>
                <a:latin typeface="Cambria"/>
                <a:cs typeface="Cambria"/>
              </a:rPr>
              <a:t> (-1 to +1)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sz="2200" spc="-11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face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b="1" spc="35" dirty="0">
                <a:solidFill>
                  <a:srgbClr val="FF0066"/>
                </a:solidFill>
                <a:latin typeface="Cambria"/>
                <a:cs typeface="Cambria"/>
              </a:rPr>
              <a:t>Problem-1:</a:t>
            </a:r>
            <a:r>
              <a:rPr sz="2000" b="1" spc="18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Vanishing</a:t>
            </a:r>
            <a:r>
              <a:rPr sz="2000" b="1" spc="21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75" dirty="0">
                <a:solidFill>
                  <a:srgbClr val="0066FF"/>
                </a:solidFill>
                <a:latin typeface="Cambria"/>
                <a:cs typeface="Cambria"/>
              </a:rPr>
              <a:t>Gradients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383" y="3030601"/>
            <a:ext cx="962660" cy="3575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40"/>
              </a:lnSpc>
            </a:pP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Issues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562" y="2859785"/>
            <a:ext cx="5942965" cy="2795905"/>
          </a:xfrm>
          <a:prstGeom prst="rect">
            <a:avLst/>
          </a:prstGeom>
          <a:solidFill>
            <a:srgbClr val="FCEB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550">
              <a:latin typeface="Times New Roman"/>
              <a:cs typeface="Times New Roman"/>
            </a:endParaRPr>
          </a:p>
          <a:p>
            <a:pPr marL="548640" marR="83185" indent="-457200">
              <a:lnSpc>
                <a:spcPct val="150000"/>
              </a:lnSpc>
              <a:buAutoNum type="arabicParenBoth"/>
              <a:tabLst>
                <a:tab pos="549275" algn="l"/>
                <a:tab pos="1235075" algn="l"/>
                <a:tab pos="3112135" algn="l"/>
                <a:tab pos="3519170" algn="l"/>
                <a:tab pos="4852670" algn="l"/>
                <a:tab pos="5297170" algn="l"/>
                <a:tab pos="5622290" algn="l"/>
              </a:tabLst>
            </a:pPr>
            <a:r>
              <a:rPr sz="2400" spc="95" dirty="0">
                <a:solidFill>
                  <a:srgbClr val="7E7E7E"/>
                </a:solidFill>
                <a:latin typeface="Cambria"/>
                <a:cs typeface="Cambria"/>
              </a:rPr>
              <a:t>less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0" dirty="0">
                <a:solidFill>
                  <a:srgbClr val="7E7E7E"/>
                </a:solidFill>
                <a:latin typeface="Cambria"/>
                <a:cs typeface="Cambria"/>
              </a:rPr>
              <a:t>cont</a:t>
            </a:r>
            <a:r>
              <a:rPr sz="2400" spc="85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400" spc="90" dirty="0">
                <a:solidFill>
                  <a:srgbClr val="7E7E7E"/>
                </a:solidFill>
                <a:latin typeface="Cambria"/>
                <a:cs typeface="Cambria"/>
              </a:rPr>
              <a:t>i</a:t>
            </a:r>
            <a:r>
              <a:rPr sz="2400" spc="145" dirty="0">
                <a:solidFill>
                  <a:srgbClr val="7E7E7E"/>
                </a:solidFill>
                <a:latin typeface="Cambria"/>
                <a:cs typeface="Cambria"/>
              </a:rPr>
              <a:t>b</a:t>
            </a: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uting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3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90" dirty="0">
                <a:solidFill>
                  <a:srgbClr val="7E7E7E"/>
                </a:solidFill>
                <a:latin typeface="Cambria"/>
                <a:cs typeface="Cambria"/>
              </a:rPr>
              <a:t>lea</a:t>
            </a:r>
            <a:r>
              <a:rPr sz="2400" spc="155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400" spc="95" dirty="0">
                <a:solidFill>
                  <a:srgbClr val="7E7E7E"/>
                </a:solidFill>
                <a:latin typeface="Cambria"/>
                <a:cs typeface="Cambria"/>
              </a:rPr>
              <a:t>nin</a:t>
            </a:r>
            <a:r>
              <a:rPr sz="2400" spc="110" dirty="0">
                <a:solidFill>
                  <a:srgbClr val="7E7E7E"/>
                </a:solidFill>
                <a:latin typeface="Cambria"/>
                <a:cs typeface="Cambria"/>
              </a:rPr>
              <a:t>g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8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400" spc="75" dirty="0">
                <a:solidFill>
                  <a:srgbClr val="7E7E7E"/>
                </a:solidFill>
                <a:latin typeface="Cambria"/>
                <a:cs typeface="Cambria"/>
              </a:rPr>
              <a:t>s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-30" dirty="0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40" dirty="0">
                <a:solidFill>
                  <a:srgbClr val="7E7E7E"/>
                </a:solidFill>
                <a:latin typeface="Cambria"/>
                <a:cs typeface="Cambria"/>
              </a:rPr>
              <a:t>is  </a:t>
            </a:r>
            <a:r>
              <a:rPr sz="2400" spc="100" dirty="0">
                <a:solidFill>
                  <a:srgbClr val="0066FF"/>
                </a:solidFill>
                <a:latin typeface="Cambria"/>
                <a:cs typeface="Cambria"/>
              </a:rPr>
              <a:t>very</a:t>
            </a:r>
            <a:r>
              <a:rPr sz="2400" spc="65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solidFill>
                  <a:srgbClr val="0066FF"/>
                </a:solidFill>
                <a:latin typeface="Cambria"/>
                <a:cs typeface="Cambria"/>
              </a:rPr>
              <a:t>slow</a:t>
            </a:r>
            <a:r>
              <a:rPr sz="2400" spc="6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066FF"/>
                </a:solidFill>
                <a:latin typeface="Cambria"/>
                <a:cs typeface="Cambria"/>
              </a:rPr>
              <a:t>weights </a:t>
            </a:r>
            <a:r>
              <a:rPr sz="2400" spc="90" dirty="0">
                <a:solidFill>
                  <a:srgbClr val="0066FF"/>
                </a:solidFill>
                <a:latin typeface="Cambria"/>
                <a:cs typeface="Cambria"/>
              </a:rPr>
              <a:t>updates</a:t>
            </a:r>
            <a:endParaRPr sz="2400">
              <a:latin typeface="Cambria"/>
              <a:cs typeface="Cambria"/>
            </a:endParaRPr>
          </a:p>
          <a:p>
            <a:pPr marL="548640" marR="82550" indent="-457200">
              <a:lnSpc>
                <a:spcPct val="150000"/>
              </a:lnSpc>
              <a:buAutoNum type="arabicParenBoth"/>
              <a:tabLst>
                <a:tab pos="549275" algn="l"/>
              </a:tabLst>
            </a:pPr>
            <a:r>
              <a:rPr sz="2400" spc="60" dirty="0">
                <a:solidFill>
                  <a:srgbClr val="0066FF"/>
                </a:solidFill>
                <a:latin typeface="Cambria"/>
                <a:cs typeface="Cambria"/>
              </a:rPr>
              <a:t>computationally</a:t>
            </a:r>
            <a:r>
              <a:rPr sz="2400" spc="36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very</a:t>
            </a:r>
            <a:r>
              <a:rPr sz="2400" spc="3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FF0066"/>
                </a:solidFill>
                <a:latin typeface="Cambria"/>
                <a:cs typeface="Cambria"/>
              </a:rPr>
              <a:t>costly</a:t>
            </a:r>
            <a:r>
              <a:rPr sz="2400" spc="3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400" spc="3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0066FF"/>
                </a:solidFill>
                <a:latin typeface="Cambria"/>
                <a:cs typeface="Cambria"/>
              </a:rPr>
              <a:t>time </a:t>
            </a:r>
            <a:r>
              <a:rPr sz="2400" spc="-509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FF0066"/>
                </a:solidFill>
                <a:latin typeface="Cambria"/>
                <a:cs typeface="Cambria"/>
              </a:rPr>
              <a:t>consuming</a:t>
            </a:r>
            <a:r>
              <a:rPr sz="2400" spc="95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026" name="Picture 2" descr="Hyperbolic Tangent (tanh) Activation Function [with python code] -  Vidyasheela">
            <a:extLst>
              <a:ext uri="{FF2B5EF4-FFF2-40B4-BE49-F238E27FC236}">
                <a16:creationId xmlns:a16="http://schemas.microsoft.com/office/drawing/2014/main" id="{6EFC7803-B276-43A8-A38A-7A21C633E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869" y="2925455"/>
            <a:ext cx="4567824" cy="266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27178"/>
            <a:ext cx="11000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77646"/>
            <a:ext cx="4270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14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400" b="1" spc="1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7907" y="1016508"/>
            <a:ext cx="1290320" cy="345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75"/>
              </a:lnSpc>
            </a:pPr>
            <a:r>
              <a:rPr sz="2400" b="1" spc="70" dirty="0">
                <a:solidFill>
                  <a:srgbClr val="FF0066"/>
                </a:solidFill>
                <a:latin typeface="Cambria"/>
                <a:cs typeface="Cambria"/>
              </a:rPr>
              <a:t>Problem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458" y="1780540"/>
            <a:ext cx="800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  <a:tab pos="558165" algn="l"/>
              </a:tabLst>
            </a:pPr>
            <a:r>
              <a:rPr sz="2400" spc="-65" dirty="0">
                <a:solidFill>
                  <a:srgbClr val="7E7E7E"/>
                </a:solidFill>
                <a:latin typeface="Cambria"/>
                <a:cs typeface="Cambria"/>
              </a:rPr>
              <a:t>I</a:t>
            </a:r>
            <a:r>
              <a:rPr sz="2400" spc="-60" dirty="0">
                <a:solidFill>
                  <a:srgbClr val="7E7E7E"/>
                </a:solidFill>
                <a:latin typeface="Cambria"/>
                <a:cs typeface="Cambria"/>
              </a:rPr>
              <a:t>t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9763" y="1811273"/>
            <a:ext cx="5013325" cy="692497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40"/>
              </a:lnSpc>
              <a:tabLst>
                <a:tab pos="514984" algn="l"/>
                <a:tab pos="1369060" algn="l"/>
                <a:tab pos="3747770" algn="l"/>
              </a:tabLst>
            </a:pPr>
            <a:r>
              <a:rPr sz="2400" spc="45" dirty="0">
                <a:solidFill>
                  <a:srgbClr val="7E7E7E"/>
                </a:solidFill>
                <a:latin typeface="Cambria"/>
                <a:cs typeface="Cambria"/>
              </a:rPr>
              <a:t>far	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more	</a:t>
            </a:r>
            <a:r>
              <a:rPr sz="2400" spc="60" dirty="0">
                <a:solidFill>
                  <a:srgbClr val="7E7E7E"/>
                </a:solidFill>
                <a:latin typeface="Cambria"/>
                <a:cs typeface="Cambria"/>
              </a:rPr>
              <a:t>computationally	</a:t>
            </a:r>
            <a:r>
              <a:rPr sz="2400" spc="65" dirty="0">
                <a:solidFill>
                  <a:srgbClr val="7E7E7E"/>
                </a:solidFill>
                <a:latin typeface="Cambria"/>
                <a:cs typeface="Cambria"/>
              </a:rPr>
              <a:t>efficient</a:t>
            </a:r>
            <a:r>
              <a:rPr lang="en-US" sz="24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lang="ar-EG" sz="2400" spc="65" dirty="0">
                <a:solidFill>
                  <a:srgbClr val="7E7E7E"/>
                </a:solidFill>
                <a:latin typeface="Cambria"/>
                <a:cs typeface="Cambria"/>
              </a:rPr>
              <a:t>اكثر كفاءة حسابية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0895" y="1780540"/>
            <a:ext cx="5226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4715" algn="l"/>
                <a:tab pos="2450465" algn="l"/>
                <a:tab pos="2846705" algn="l"/>
                <a:tab pos="3418204" algn="l"/>
                <a:tab pos="4685030" algn="l"/>
              </a:tabLst>
            </a:pPr>
            <a:r>
              <a:rPr sz="2400" spc="-65" dirty="0">
                <a:solidFill>
                  <a:srgbClr val="7E7E7E"/>
                </a:solidFill>
                <a:latin typeface="Cambria"/>
                <a:cs typeface="Cambria"/>
              </a:rPr>
              <a:t>w</a:t>
            </a:r>
            <a:r>
              <a:rPr sz="2400" spc="90" dirty="0">
                <a:solidFill>
                  <a:srgbClr val="7E7E7E"/>
                </a:solidFill>
                <a:latin typeface="Cambria"/>
                <a:cs typeface="Cambria"/>
              </a:rPr>
              <a:t>he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n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125" dirty="0">
                <a:solidFill>
                  <a:srgbClr val="7E7E7E"/>
                </a:solidFill>
                <a:latin typeface="Cambria"/>
                <a:cs typeface="Cambria"/>
              </a:rPr>
              <a:t>compa</a:t>
            </a:r>
            <a:r>
              <a:rPr sz="2400" spc="-114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400" spc="165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400" spc="195" dirty="0">
                <a:solidFill>
                  <a:srgbClr val="7E7E7E"/>
                </a:solidFill>
                <a:latin typeface="Cambria"/>
                <a:cs typeface="Cambria"/>
              </a:rPr>
              <a:t>d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5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4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400" spc="105" dirty="0">
                <a:solidFill>
                  <a:srgbClr val="FF0066"/>
                </a:solidFill>
                <a:latin typeface="Cambria"/>
                <a:cs typeface="Cambria"/>
              </a:rPr>
              <a:t>sigmoi</a:t>
            </a:r>
            <a:r>
              <a:rPr sz="2400" spc="165" dirty="0">
                <a:solidFill>
                  <a:srgbClr val="FF0066"/>
                </a:solidFill>
                <a:latin typeface="Cambria"/>
                <a:cs typeface="Cambria"/>
              </a:rPr>
              <a:t>d</a:t>
            </a:r>
            <a:r>
              <a:rPr sz="24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400" spc="10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743458" y="2416860"/>
            <a:ext cx="6718300" cy="331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00"/>
              </a:spcBef>
            </a:pPr>
            <a:r>
              <a:rPr spc="25" dirty="0">
                <a:solidFill>
                  <a:srgbClr val="FF0066"/>
                </a:solidFill>
              </a:rPr>
              <a:t>tanh</a:t>
            </a:r>
            <a:r>
              <a:rPr spc="35" dirty="0">
                <a:solidFill>
                  <a:srgbClr val="FF0066"/>
                </a:solidFill>
              </a:rPr>
              <a:t> </a:t>
            </a:r>
            <a:r>
              <a:rPr spc="55" dirty="0"/>
              <a:t>function.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/>
          </a:p>
          <a:p>
            <a:pPr marL="256540" indent="-229235">
              <a:lnSpc>
                <a:spcPct val="100000"/>
              </a:lnSpc>
              <a:buClr>
                <a:srgbClr val="4E67C7"/>
              </a:buClr>
              <a:buSzPct val="75000"/>
              <a:buFont typeface="Wingdings"/>
              <a:buChar char=""/>
              <a:tabLst>
                <a:tab pos="256540" algn="l"/>
              </a:tabLst>
            </a:pPr>
            <a:r>
              <a:rPr sz="2000" b="1" spc="30" dirty="0">
                <a:solidFill>
                  <a:srgbClr val="FF0066"/>
                </a:solidFill>
                <a:latin typeface="Cambria"/>
                <a:cs typeface="Cambria"/>
              </a:rPr>
              <a:t>Problem-1:</a:t>
            </a:r>
            <a:r>
              <a:rPr sz="2000" b="1" spc="1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b="1" spc="90" dirty="0">
                <a:solidFill>
                  <a:srgbClr val="0066FF"/>
                </a:solidFill>
                <a:latin typeface="Cambria"/>
                <a:cs typeface="Cambria"/>
              </a:rPr>
              <a:t>Dead</a:t>
            </a:r>
            <a:r>
              <a:rPr sz="2000" b="1" spc="180" dirty="0">
                <a:solidFill>
                  <a:srgbClr val="0066FF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0066FF"/>
                </a:solidFill>
                <a:latin typeface="Cambria"/>
                <a:cs typeface="Cambria"/>
              </a:rPr>
              <a:t>Neurons</a:t>
            </a:r>
            <a:endParaRPr sz="2000" dirty="0">
              <a:latin typeface="Cambria"/>
              <a:cs typeface="Cambria"/>
            </a:endParaRPr>
          </a:p>
          <a:p>
            <a:pPr marL="241300" marR="24765" indent="-228600">
              <a:lnSpc>
                <a:spcPct val="150000"/>
              </a:lnSpc>
              <a:spcBef>
                <a:spcPts val="92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/>
              <a:t>As</a:t>
            </a:r>
            <a:r>
              <a:rPr sz="2000" spc="65" dirty="0"/>
              <a:t> </a:t>
            </a:r>
            <a:r>
              <a:rPr sz="2000" spc="-95" dirty="0"/>
              <a:t>it</a:t>
            </a:r>
            <a:r>
              <a:rPr sz="2000" spc="-95" dirty="0">
                <a:latin typeface="Trebuchet MS"/>
                <a:cs typeface="Trebuchet MS"/>
              </a:rPr>
              <a:t>’</a:t>
            </a:r>
            <a:r>
              <a:rPr sz="2000" spc="-95" dirty="0"/>
              <a:t>s</a:t>
            </a:r>
            <a:r>
              <a:rPr sz="2000" spc="75" dirty="0"/>
              <a:t> </a:t>
            </a:r>
            <a:r>
              <a:rPr sz="2000" spc="10" dirty="0"/>
              <a:t>not</a:t>
            </a:r>
            <a:r>
              <a:rPr sz="2000" spc="70" dirty="0"/>
              <a:t> </a:t>
            </a:r>
            <a:r>
              <a:rPr sz="2000" spc="105" dirty="0"/>
              <a:t>dealing</a:t>
            </a:r>
            <a:r>
              <a:rPr sz="2000" spc="80" dirty="0"/>
              <a:t> </a:t>
            </a:r>
            <a:r>
              <a:rPr sz="2000" spc="75" dirty="0"/>
              <a:t>negative </a:t>
            </a:r>
            <a:r>
              <a:rPr sz="2000" spc="85" dirty="0"/>
              <a:t>values,</a:t>
            </a:r>
            <a:r>
              <a:rPr sz="2000" spc="-100" dirty="0"/>
              <a:t> </a:t>
            </a:r>
            <a:r>
              <a:rPr sz="2000" spc="45" dirty="0"/>
              <a:t>the</a:t>
            </a:r>
            <a:r>
              <a:rPr sz="2000" spc="75" dirty="0"/>
              <a:t> </a:t>
            </a:r>
            <a:r>
              <a:rPr sz="2000" spc="70" dirty="0"/>
              <a:t>gradient</a:t>
            </a:r>
            <a:r>
              <a:rPr sz="2000" spc="80" dirty="0"/>
              <a:t> </a:t>
            </a:r>
            <a:r>
              <a:rPr sz="2000" spc="70" dirty="0"/>
              <a:t>value</a:t>
            </a:r>
            <a:r>
              <a:rPr sz="2000" spc="80" dirty="0"/>
              <a:t> </a:t>
            </a:r>
            <a:r>
              <a:rPr sz="2000" spc="35" dirty="0"/>
              <a:t>is </a:t>
            </a:r>
            <a:r>
              <a:rPr sz="2000" spc="-425" dirty="0"/>
              <a:t> </a:t>
            </a:r>
            <a:r>
              <a:rPr sz="2000" spc="40" dirty="0"/>
              <a:t>zero.</a:t>
            </a:r>
            <a:endParaRPr sz="2000" dirty="0">
              <a:latin typeface="Trebuchet MS"/>
              <a:cs typeface="Trebuchet MS"/>
            </a:endParaRPr>
          </a:p>
          <a:p>
            <a:pPr marL="241300" marR="5080" indent="-228600">
              <a:lnSpc>
                <a:spcPct val="150000"/>
              </a:lnSpc>
              <a:spcBef>
                <a:spcPts val="20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/>
              <a:t>Due</a:t>
            </a:r>
            <a:r>
              <a:rPr sz="2000" spc="500" dirty="0"/>
              <a:t> </a:t>
            </a:r>
            <a:r>
              <a:rPr sz="2000" spc="5" dirty="0"/>
              <a:t>to</a:t>
            </a:r>
            <a:r>
              <a:rPr sz="2000" spc="60" dirty="0"/>
              <a:t> </a:t>
            </a:r>
            <a:r>
              <a:rPr sz="2000" spc="10" dirty="0"/>
              <a:t>this</a:t>
            </a:r>
            <a:r>
              <a:rPr sz="2000" spc="50" dirty="0"/>
              <a:t> </a:t>
            </a:r>
            <a:r>
              <a:rPr sz="2000" spc="70" dirty="0"/>
              <a:t>reason,</a:t>
            </a:r>
            <a:r>
              <a:rPr sz="2000" spc="345" dirty="0"/>
              <a:t> </a:t>
            </a:r>
            <a:r>
              <a:rPr sz="2000" spc="85" dirty="0"/>
              <a:t>during</a:t>
            </a:r>
            <a:r>
              <a:rPr sz="2000" spc="500" dirty="0"/>
              <a:t> </a:t>
            </a:r>
            <a:r>
              <a:rPr sz="2000" spc="45" dirty="0"/>
              <a:t>the</a:t>
            </a:r>
            <a:r>
              <a:rPr sz="2000" spc="500" dirty="0"/>
              <a:t> </a:t>
            </a:r>
            <a:r>
              <a:rPr sz="2000" spc="65" dirty="0"/>
              <a:t>Back-Propogation,</a:t>
            </a:r>
            <a:r>
              <a:rPr sz="2000" spc="335" dirty="0"/>
              <a:t> </a:t>
            </a:r>
            <a:r>
              <a:rPr sz="2000" spc="45" dirty="0"/>
              <a:t>the </a:t>
            </a:r>
            <a:r>
              <a:rPr sz="2000" spc="-430" dirty="0"/>
              <a:t> </a:t>
            </a:r>
            <a:r>
              <a:rPr sz="2000" spc="55" dirty="0"/>
              <a:t>weights</a:t>
            </a:r>
            <a:r>
              <a:rPr sz="2000" spc="225" dirty="0"/>
              <a:t> </a:t>
            </a:r>
            <a:r>
              <a:rPr sz="2000" spc="80" dirty="0"/>
              <a:t>and</a:t>
            </a:r>
            <a:r>
              <a:rPr sz="2000" spc="225" dirty="0"/>
              <a:t> </a:t>
            </a:r>
            <a:r>
              <a:rPr sz="2000" spc="95" dirty="0"/>
              <a:t>biases</a:t>
            </a:r>
            <a:r>
              <a:rPr sz="2000" spc="229" dirty="0"/>
              <a:t> </a:t>
            </a:r>
            <a:r>
              <a:rPr sz="2000" spc="35" dirty="0"/>
              <a:t>for</a:t>
            </a:r>
            <a:r>
              <a:rPr sz="2000" spc="225" dirty="0"/>
              <a:t> </a:t>
            </a:r>
            <a:r>
              <a:rPr sz="2000" spc="90" dirty="0">
                <a:solidFill>
                  <a:srgbClr val="FF0000"/>
                </a:solidFill>
              </a:rPr>
              <a:t>some</a:t>
            </a:r>
            <a:r>
              <a:rPr sz="2000" spc="229" dirty="0">
                <a:solidFill>
                  <a:srgbClr val="FF0000"/>
                </a:solidFill>
              </a:rPr>
              <a:t> </a:t>
            </a:r>
            <a:r>
              <a:rPr sz="2000" spc="45" dirty="0">
                <a:solidFill>
                  <a:srgbClr val="FF0000"/>
                </a:solidFill>
              </a:rPr>
              <a:t>neurons</a:t>
            </a:r>
            <a:r>
              <a:rPr sz="2000" spc="229" dirty="0">
                <a:solidFill>
                  <a:srgbClr val="FF0000"/>
                </a:solidFill>
              </a:rPr>
              <a:t> </a:t>
            </a:r>
            <a:r>
              <a:rPr sz="2000" spc="50" dirty="0">
                <a:solidFill>
                  <a:srgbClr val="FF0000"/>
                </a:solidFill>
              </a:rPr>
              <a:t>are</a:t>
            </a:r>
            <a:r>
              <a:rPr sz="2000" spc="229" dirty="0">
                <a:solidFill>
                  <a:srgbClr val="FF0000"/>
                </a:solidFill>
              </a:rPr>
              <a:t> </a:t>
            </a:r>
            <a:r>
              <a:rPr sz="2000" spc="10" dirty="0">
                <a:solidFill>
                  <a:srgbClr val="FF0000"/>
                </a:solidFill>
              </a:rPr>
              <a:t>not</a:t>
            </a:r>
            <a:r>
              <a:rPr sz="2000" spc="235" dirty="0">
                <a:solidFill>
                  <a:srgbClr val="FF0000"/>
                </a:solidFill>
              </a:rPr>
              <a:t> </a:t>
            </a:r>
            <a:r>
              <a:rPr sz="2000" spc="95" dirty="0">
                <a:solidFill>
                  <a:srgbClr val="FF0000"/>
                </a:solidFill>
              </a:rPr>
              <a:t>updated</a:t>
            </a:r>
            <a:r>
              <a:rPr sz="2000" spc="95" dirty="0"/>
              <a:t>.</a:t>
            </a:r>
            <a:endParaRPr sz="2000" dirty="0"/>
          </a:p>
        </p:txBody>
      </p:sp>
      <p:sp>
        <p:nvSpPr>
          <p:cNvPr id="10" name="object 10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57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53261" y="2421953"/>
            <a:ext cx="4561840" cy="2921635"/>
            <a:chOff x="7553261" y="2421953"/>
            <a:chExt cx="4561840" cy="292163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2849" y="2431542"/>
              <a:ext cx="4542282" cy="290245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58023" y="2426716"/>
              <a:ext cx="4552315" cy="2912110"/>
            </a:xfrm>
            <a:custGeom>
              <a:avLst/>
              <a:gdLst/>
              <a:ahLst/>
              <a:cxnLst/>
              <a:rect l="l" t="t" r="r" b="b"/>
              <a:pathLst>
                <a:path w="4552315" h="2912110">
                  <a:moveTo>
                    <a:pt x="0" y="2911982"/>
                  </a:moveTo>
                  <a:lnTo>
                    <a:pt x="4551807" y="2911982"/>
                  </a:lnTo>
                  <a:lnTo>
                    <a:pt x="4551807" y="0"/>
                  </a:lnTo>
                  <a:lnTo>
                    <a:pt x="0" y="0"/>
                  </a:lnTo>
                  <a:lnTo>
                    <a:pt x="0" y="291198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8750" y="5417820"/>
            <a:ext cx="2914650" cy="9906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259963" y="5798019"/>
            <a:ext cx="197993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90"/>
              </a:lnSpc>
              <a:tabLst>
                <a:tab pos="819150" algn="l"/>
              </a:tabLst>
            </a:pPr>
            <a:r>
              <a:rPr sz="2000" spc="130" dirty="0">
                <a:solidFill>
                  <a:srgbClr val="7E7E7E"/>
                </a:solidFill>
                <a:latin typeface="Cambria"/>
                <a:cs typeface="Cambria"/>
              </a:rPr>
              <a:t>dead	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neurons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6817" y="5618683"/>
            <a:ext cx="64700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719455" algn="l"/>
                <a:tab pos="1352550" algn="l"/>
                <a:tab pos="4283075" algn="l"/>
                <a:tab pos="5191760" algn="l"/>
                <a:tab pos="6080760" algn="l"/>
              </a:tabLst>
            </a:pPr>
            <a:r>
              <a:rPr sz="2000" spc="-20" dirty="0">
                <a:solidFill>
                  <a:srgbClr val="7E7E7E"/>
                </a:solidFill>
                <a:latin typeface="Cambria"/>
                <a:cs typeface="Cambria"/>
              </a:rPr>
              <a:t>T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h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can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c</a:t>
            </a:r>
            <a:r>
              <a:rPr sz="2000" spc="-20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eat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-50" dirty="0">
                <a:solidFill>
                  <a:srgbClr val="7E7E7E"/>
                </a:solidFill>
                <a:latin typeface="Cambria"/>
                <a:cs typeface="Cambria"/>
              </a:rPr>
              <a:t>w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hic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h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n</a:t>
            </a:r>
            <a:r>
              <a:rPr sz="2000" spc="10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220" dirty="0">
                <a:solidFill>
                  <a:srgbClr val="7E7E7E"/>
                </a:solidFill>
                <a:latin typeface="Cambria"/>
                <a:cs typeface="Cambria"/>
              </a:rPr>
              <a:t>g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et 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activated.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7178"/>
            <a:ext cx="10974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sz="5400" spc="405" baseline="-20833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400" spc="130" dirty="0">
                <a:solidFill>
                  <a:srgbClr val="0D5671"/>
                </a:solidFill>
                <a:latin typeface="Cambria"/>
                <a:cs typeface="Cambria"/>
              </a:rPr>
              <a:t>Role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23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7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4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100" dirty="0">
                <a:solidFill>
                  <a:srgbClr val="0D5671"/>
                </a:solidFill>
                <a:latin typeface="Cambria"/>
                <a:cs typeface="Cambria"/>
              </a:rPr>
              <a:t>in</a:t>
            </a:r>
            <a:r>
              <a:rPr sz="34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400" spc="90" dirty="0">
                <a:solidFill>
                  <a:srgbClr val="0D5671"/>
                </a:solidFill>
                <a:latin typeface="Cambria"/>
                <a:cs typeface="Cambria"/>
              </a:rPr>
              <a:t>Back-Propagation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3458" y="950213"/>
            <a:ext cx="11144250" cy="546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25" dirty="0">
                <a:solidFill>
                  <a:srgbClr val="FF0066"/>
                </a:solidFill>
                <a:latin typeface="Cambria"/>
                <a:cs typeface="Cambria"/>
              </a:rPr>
              <a:t>Leaky</a:t>
            </a:r>
            <a:r>
              <a:rPr sz="2400" b="1" spc="21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14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400" b="1" spc="19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  <a:p>
            <a:pPr marL="241300" marR="7620" indent="-228600">
              <a:lnSpc>
                <a:spcPct val="140000"/>
              </a:lnSpc>
              <a:spcBef>
                <a:spcPts val="124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Multiply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4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small</a:t>
            </a:r>
            <a:r>
              <a:rPr sz="2200" spc="4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value</a:t>
            </a:r>
            <a:r>
              <a:rPr sz="2200" spc="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input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incase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negative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values</a:t>
            </a:r>
            <a:r>
              <a:rPr sz="2200" spc="4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avoid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45" dirty="0">
                <a:solidFill>
                  <a:srgbClr val="7E7E7E"/>
                </a:solidFill>
                <a:latin typeface="Cambria"/>
                <a:cs typeface="Cambria"/>
              </a:rPr>
              <a:t>dead</a:t>
            </a:r>
            <a:r>
              <a:rPr sz="2200" spc="4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neurons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situation.</a:t>
            </a:r>
            <a:endParaRPr sz="22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31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Swish</a:t>
            </a:r>
            <a:r>
              <a:rPr sz="2400" b="1" spc="21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  <a:p>
            <a:pPr marL="469900" marR="5080" lvl="1" indent="-228600">
              <a:lnSpc>
                <a:spcPct val="140100"/>
              </a:lnSpc>
              <a:spcBef>
                <a:spcPts val="124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40" dirty="0">
                <a:solidFill>
                  <a:srgbClr val="7E7E7E"/>
                </a:solidFill>
                <a:latin typeface="Cambria"/>
                <a:cs typeface="Cambria"/>
              </a:rPr>
              <a:t>Swish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200" spc="3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2200" spc="3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computationally</a:t>
            </a:r>
            <a:r>
              <a:rPr sz="2200" spc="3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efficient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2200" spc="3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ReLU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shows</a:t>
            </a:r>
            <a:r>
              <a:rPr sz="2200" spc="3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better</a:t>
            </a:r>
            <a:r>
              <a:rPr sz="2200" spc="3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performance</a:t>
            </a:r>
            <a:r>
              <a:rPr sz="2200" spc="3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" dirty="0">
                <a:solidFill>
                  <a:srgbClr val="7E7E7E"/>
                </a:solidFill>
                <a:latin typeface="Cambria"/>
                <a:cs typeface="Cambria"/>
              </a:rPr>
              <a:t>than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ReLU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on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40" dirty="0">
                <a:solidFill>
                  <a:srgbClr val="7E7E7E"/>
                </a:solidFill>
                <a:latin typeface="Cambria"/>
                <a:cs typeface="Cambria"/>
              </a:rPr>
              <a:t>deeper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models.</a:t>
            </a:r>
            <a:endParaRPr sz="22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225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values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swish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ranges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0" dirty="0">
                <a:solidFill>
                  <a:srgbClr val="7E7E7E"/>
                </a:solidFill>
                <a:latin typeface="Cambria"/>
                <a:cs typeface="Cambria"/>
              </a:rPr>
              <a:t>from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7E7E7E"/>
                </a:solidFill>
                <a:latin typeface="Cambria"/>
                <a:cs typeface="Cambria"/>
              </a:rPr>
              <a:t>negative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5" dirty="0">
                <a:solidFill>
                  <a:srgbClr val="7E7E7E"/>
                </a:solidFill>
                <a:latin typeface="Cambria"/>
                <a:cs typeface="Cambria"/>
              </a:rPr>
              <a:t>infinity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5" dirty="0">
                <a:solidFill>
                  <a:srgbClr val="7E7E7E"/>
                </a:solidFill>
                <a:latin typeface="Cambria"/>
                <a:cs typeface="Cambria"/>
              </a:rPr>
              <a:t>infinity.</a:t>
            </a:r>
            <a:endParaRPr sz="22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31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b="1" spc="130" dirty="0">
                <a:solidFill>
                  <a:srgbClr val="FF0066"/>
                </a:solidFill>
                <a:latin typeface="Cambria"/>
                <a:cs typeface="Cambria"/>
              </a:rPr>
              <a:t>Softmax</a:t>
            </a:r>
            <a:r>
              <a:rPr sz="2400" b="1" spc="229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120" dirty="0">
                <a:solidFill>
                  <a:srgbClr val="FF0066"/>
                </a:solidFill>
                <a:latin typeface="Cambria"/>
                <a:cs typeface="Cambria"/>
              </a:rPr>
              <a:t>Activation</a:t>
            </a:r>
            <a:r>
              <a:rPr sz="2400" b="1" spc="23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400" b="1" spc="85" dirty="0">
                <a:solidFill>
                  <a:srgbClr val="FF0066"/>
                </a:solidFill>
                <a:latin typeface="Cambria"/>
                <a:cs typeface="Cambria"/>
              </a:rPr>
              <a:t>Function:</a:t>
            </a:r>
            <a:endParaRPr sz="2400">
              <a:latin typeface="Cambria"/>
              <a:cs typeface="Cambria"/>
            </a:endParaRPr>
          </a:p>
          <a:p>
            <a:pPr marL="469900" marR="8890" lvl="1" indent="-228600">
              <a:lnSpc>
                <a:spcPct val="120700"/>
              </a:lnSpc>
              <a:spcBef>
                <a:spcPts val="139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Softmax</a:t>
            </a:r>
            <a:r>
              <a:rPr sz="2000" spc="2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2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often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described</a:t>
            </a:r>
            <a:r>
              <a:rPr sz="2000" spc="23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combination</a:t>
            </a:r>
            <a:r>
              <a:rPr sz="2000" spc="2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7E7E7E"/>
                </a:solidFill>
                <a:latin typeface="Cambria"/>
                <a:cs typeface="Cambria"/>
              </a:rPr>
              <a:t>multiple</a:t>
            </a:r>
            <a:r>
              <a:rPr sz="2000" spc="2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sigmoids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23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used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for </a:t>
            </a:r>
            <a:r>
              <a:rPr sz="2000" spc="-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multi-class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problems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58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1456" y="690372"/>
            <a:ext cx="2411729" cy="89077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88" y="52323"/>
            <a:ext cx="9534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8795" algn="l"/>
              </a:tabLst>
            </a:pPr>
            <a:r>
              <a:rPr sz="5400" spc="405" baseline="-17746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220" dirty="0">
                <a:solidFill>
                  <a:srgbClr val="0D5671"/>
                </a:solidFill>
                <a:latin typeface="Cambria"/>
                <a:cs typeface="Cambria"/>
              </a:rPr>
              <a:t>Choosing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0D5671"/>
                </a:solidFill>
                <a:latin typeface="Cambria"/>
                <a:cs typeface="Cambria"/>
              </a:rPr>
              <a:t>the</a:t>
            </a:r>
            <a:r>
              <a:rPr sz="3600" spc="31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14" dirty="0">
                <a:solidFill>
                  <a:srgbClr val="0D5671"/>
                </a:solidFill>
                <a:latin typeface="Cambria"/>
                <a:cs typeface="Cambria"/>
              </a:rPr>
              <a:t>right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0D5671"/>
                </a:solidFill>
                <a:latin typeface="Cambria"/>
                <a:cs typeface="Cambria"/>
              </a:rPr>
              <a:t>Activation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50" dirty="0">
                <a:solidFill>
                  <a:srgbClr val="0D5671"/>
                </a:solidFill>
                <a:latin typeface="Cambria"/>
                <a:cs typeface="Cambria"/>
              </a:rPr>
              <a:t>Function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027" y="664260"/>
            <a:ext cx="10838180" cy="203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2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135" dirty="0">
                <a:solidFill>
                  <a:srgbClr val="7E7E7E"/>
                </a:solidFill>
                <a:latin typeface="Cambria"/>
                <a:cs typeface="Cambria"/>
              </a:rPr>
              <a:t>Depending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7E7E7E"/>
                </a:solidFill>
                <a:latin typeface="Cambria"/>
                <a:cs typeface="Cambria"/>
              </a:rPr>
              <a:t>upon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properties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problem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we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might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200" dirty="0">
                <a:solidFill>
                  <a:srgbClr val="7E7E7E"/>
                </a:solidFill>
                <a:latin typeface="Cambria"/>
                <a:cs typeface="Cambria"/>
              </a:rPr>
              <a:t>be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able </a:t>
            </a:r>
            <a:r>
              <a:rPr sz="22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2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make</a:t>
            </a:r>
            <a:r>
              <a:rPr sz="22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200" spc="13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7E7E7E"/>
                </a:solidFill>
                <a:latin typeface="Cambria"/>
                <a:cs typeface="Cambria"/>
              </a:rPr>
              <a:t>better </a:t>
            </a:r>
            <a:r>
              <a:rPr sz="2200" spc="-47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choice</a:t>
            </a:r>
            <a:r>
              <a:rPr sz="22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7E7E7E"/>
                </a:solidFill>
                <a:latin typeface="Cambria"/>
                <a:cs typeface="Cambria"/>
              </a:rPr>
              <a:t>easy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7E7E7E"/>
                </a:solidFill>
                <a:latin typeface="Cambria"/>
                <a:cs typeface="Cambria"/>
              </a:rPr>
              <a:t>quicker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7E7E7E"/>
                </a:solidFill>
                <a:latin typeface="Cambria"/>
                <a:cs typeface="Cambria"/>
              </a:rPr>
              <a:t>convergence</a:t>
            </a:r>
            <a:r>
              <a:rPr sz="22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2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7E7E7E"/>
                </a:solidFill>
                <a:latin typeface="Cambria"/>
                <a:cs typeface="Cambria"/>
              </a:rPr>
              <a:t>network.</a:t>
            </a:r>
            <a:endParaRPr sz="2200">
              <a:latin typeface="Cambria"/>
              <a:cs typeface="Cambria"/>
            </a:endParaRPr>
          </a:p>
          <a:p>
            <a:pPr marL="469900" marR="6350" lvl="1" indent="-229235">
              <a:lnSpc>
                <a:spcPct val="150200"/>
              </a:lnSpc>
              <a:spcBef>
                <a:spcPts val="645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2000" spc="95" dirty="0">
                <a:solidFill>
                  <a:srgbClr val="FF0066"/>
                </a:solidFill>
                <a:latin typeface="Cambria"/>
                <a:cs typeface="Cambria"/>
              </a:rPr>
              <a:t>Sigmoid</a:t>
            </a:r>
            <a:r>
              <a:rPr sz="2000" spc="39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functions</a:t>
            </a:r>
            <a:r>
              <a:rPr sz="2000" spc="3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their</a:t>
            </a:r>
            <a:r>
              <a:rPr sz="2000" spc="39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combinations</a:t>
            </a:r>
            <a:r>
              <a:rPr sz="2000" spc="3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generally</a:t>
            </a:r>
            <a:r>
              <a:rPr sz="2000" spc="3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5" dirty="0">
                <a:solidFill>
                  <a:srgbClr val="7E7E7E"/>
                </a:solidFill>
                <a:latin typeface="Cambria"/>
                <a:cs typeface="Cambria"/>
              </a:rPr>
              <a:t>work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better</a:t>
            </a:r>
            <a:r>
              <a:rPr sz="2000" spc="38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7E7E7E"/>
                </a:solidFill>
                <a:latin typeface="Cambria"/>
                <a:cs typeface="Cambria"/>
              </a:rPr>
              <a:t>case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3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binary </a:t>
            </a:r>
            <a:r>
              <a:rPr sz="2000" spc="-4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classifiers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2296" y="2925191"/>
            <a:ext cx="236728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5"/>
              </a:lnSpc>
              <a:tabLst>
                <a:tab pos="1412240" algn="l"/>
              </a:tabLst>
            </a:pPr>
            <a:r>
              <a:rPr sz="2000" spc="70" dirty="0">
                <a:solidFill>
                  <a:srgbClr val="7E7E7E"/>
                </a:solidFill>
                <a:latin typeface="Cambria"/>
                <a:cs typeface="Cambria"/>
              </a:rPr>
              <a:t>sometimes	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v</a:t>
            </a:r>
            <a:r>
              <a:rPr sz="2000" spc="110" dirty="0">
                <a:solidFill>
                  <a:srgbClr val="7E7E7E"/>
                </a:solidFill>
                <a:latin typeface="Cambria"/>
                <a:cs typeface="Cambria"/>
              </a:rPr>
              <a:t>oided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627" y="2745079"/>
            <a:ext cx="10610215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2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  <a:tab pos="1359535" algn="l"/>
                <a:tab pos="1948180" algn="l"/>
                <a:tab pos="2600960" algn="l"/>
                <a:tab pos="3804920" algn="l"/>
                <a:tab pos="6833234" algn="l"/>
                <a:tab pos="7430134" algn="l"/>
                <a:tab pos="7802245" algn="l"/>
                <a:tab pos="8320405" algn="l"/>
                <a:tab pos="9601200" algn="l"/>
              </a:tabLst>
            </a:pP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Sigmo</a:t>
            </a:r>
            <a:r>
              <a:rPr sz="2000" spc="85" dirty="0">
                <a:solidFill>
                  <a:srgbClr val="FF0066"/>
                </a:solidFill>
                <a:latin typeface="Cambria"/>
                <a:cs typeface="Cambria"/>
              </a:rPr>
              <a:t>id</a:t>
            </a:r>
            <a:r>
              <a:rPr sz="20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an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d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20" dirty="0">
                <a:solidFill>
                  <a:srgbClr val="FF0066"/>
                </a:solidFill>
                <a:latin typeface="Cambria"/>
                <a:cs typeface="Cambria"/>
              </a:rPr>
              <a:t>tanh</a:t>
            </a:r>
            <a:r>
              <a:rPr sz="20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spc="-100" dirty="0">
                <a:solidFill>
                  <a:srgbClr val="7E7E7E"/>
                </a:solidFill>
                <a:latin typeface="Cambria"/>
                <a:cs typeface="Cambria"/>
              </a:rPr>
              <a:t>r</a:t>
            </a:r>
            <a:r>
              <a:rPr sz="2000" spc="170" dirty="0">
                <a:solidFill>
                  <a:srgbClr val="7E7E7E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7E7E7E"/>
                </a:solidFill>
                <a:latin typeface="Cambria"/>
                <a:cs typeface="Cambria"/>
              </a:rPr>
              <a:t>due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5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sz="2000" spc="45" dirty="0">
                <a:solidFill>
                  <a:srgbClr val="FF0066"/>
                </a:solidFill>
                <a:latin typeface="Cambria"/>
                <a:cs typeface="Cambria"/>
              </a:rPr>
              <a:t>v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anishing</a:t>
            </a:r>
            <a:r>
              <a:rPr sz="2000" dirty="0">
                <a:solidFill>
                  <a:srgbClr val="FF0066"/>
                </a:solidFill>
                <a:latin typeface="Cambria"/>
                <a:cs typeface="Cambria"/>
              </a:rPr>
              <a:t>	</a:t>
            </a:r>
            <a:r>
              <a:rPr sz="2000" spc="145" dirty="0">
                <a:solidFill>
                  <a:srgbClr val="FF0066"/>
                </a:solidFill>
                <a:latin typeface="Cambria"/>
                <a:cs typeface="Cambria"/>
              </a:rPr>
              <a:t>g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r</a:t>
            </a:r>
            <a:r>
              <a:rPr sz="2000" spc="105" dirty="0">
                <a:solidFill>
                  <a:srgbClr val="FF0066"/>
                </a:solidFill>
                <a:latin typeface="Cambria"/>
                <a:cs typeface="Cambria"/>
              </a:rPr>
              <a:t>adie</a:t>
            </a:r>
            <a:r>
              <a:rPr sz="2000" spc="-20" dirty="0">
                <a:solidFill>
                  <a:srgbClr val="FF0066"/>
                </a:solidFill>
                <a:latin typeface="Cambria"/>
                <a:cs typeface="Cambria"/>
              </a:rPr>
              <a:t>nt  </a:t>
            </a:r>
            <a:r>
              <a:rPr sz="2000" spc="80" dirty="0">
                <a:solidFill>
                  <a:srgbClr val="7E7E7E"/>
                </a:solidFill>
                <a:latin typeface="Cambria"/>
                <a:cs typeface="Cambria"/>
              </a:rPr>
              <a:t>problem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8245" y="3917315"/>
            <a:ext cx="318643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5"/>
              </a:lnSpc>
            </a:pP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general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activation</a:t>
            </a:r>
            <a:r>
              <a:rPr sz="2000" spc="1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627" y="3889755"/>
            <a:ext cx="10604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  <a:tab pos="5590540" algn="l"/>
              </a:tabLst>
            </a:pP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000" spc="1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1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1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a	and</a:t>
            </a:r>
            <a:r>
              <a:rPr sz="2000" spc="1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14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used</a:t>
            </a:r>
            <a:r>
              <a:rPr sz="2000" spc="14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in</a:t>
            </a:r>
            <a:r>
              <a:rPr sz="2000" spc="1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most</a:t>
            </a:r>
            <a:r>
              <a:rPr sz="2000" spc="1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cases</a:t>
            </a:r>
            <a:r>
              <a:rPr sz="2000" spc="13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these</a:t>
            </a:r>
            <a:r>
              <a:rPr sz="2000" spc="14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FF0066"/>
                </a:solidFill>
                <a:latin typeface="Cambria"/>
                <a:cs typeface="Cambria"/>
              </a:rPr>
              <a:t>days</a:t>
            </a:r>
            <a:r>
              <a:rPr sz="2000" spc="100" dirty="0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r>
              <a:rPr sz="2000" spc="-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Cambria"/>
                <a:cs typeface="Cambria"/>
              </a:rPr>
              <a:t>If</a:t>
            </a:r>
            <a:r>
              <a:rPr sz="2000" spc="1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we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0552" y="4374515"/>
            <a:ext cx="1719580" cy="299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5"/>
              </a:lnSpc>
            </a:pPr>
            <a:r>
              <a:rPr sz="2000" spc="135" dirty="0">
                <a:solidFill>
                  <a:srgbClr val="7E7E7E"/>
                </a:solidFill>
                <a:latin typeface="Cambria"/>
                <a:cs typeface="Cambria"/>
              </a:rPr>
              <a:t>dead</a:t>
            </a:r>
            <a:r>
              <a:rPr sz="2000" spc="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neurons,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2482" y="4346955"/>
            <a:ext cx="90481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7015" algn="l"/>
              </a:tabLst>
            </a:pP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encounter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case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	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then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leaky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function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best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7E7E7E"/>
                </a:solidFill>
                <a:latin typeface="Cambria"/>
                <a:cs typeface="Cambria"/>
              </a:rPr>
              <a:t>choice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3627" y="4881117"/>
            <a:ext cx="9641840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Always</a:t>
            </a:r>
            <a:r>
              <a:rPr sz="2000" spc="4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FF0066"/>
                </a:solidFill>
                <a:latin typeface="Cambria"/>
                <a:cs typeface="Cambria"/>
              </a:rPr>
              <a:t>keep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in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mind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FF0066"/>
                </a:solidFill>
                <a:latin typeface="Cambria"/>
                <a:cs typeface="Cambria"/>
              </a:rPr>
              <a:t>that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ReLU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function</a:t>
            </a:r>
            <a:r>
              <a:rPr sz="2000" spc="6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should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only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185" dirty="0">
                <a:solidFill>
                  <a:srgbClr val="FF0066"/>
                </a:solidFill>
                <a:latin typeface="Cambria"/>
                <a:cs typeface="Cambria"/>
              </a:rPr>
              <a:t>be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FF0066"/>
                </a:solidFill>
                <a:latin typeface="Cambria"/>
                <a:cs typeface="Cambria"/>
              </a:rPr>
              <a:t>used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FF0066"/>
                </a:solidFill>
                <a:latin typeface="Cambria"/>
                <a:cs typeface="Cambria"/>
              </a:rPr>
              <a:t>in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FF0066"/>
                </a:solidFill>
                <a:latin typeface="Cambria"/>
                <a:cs typeface="Cambria"/>
              </a:rPr>
              <a:t>the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66"/>
                </a:solidFill>
                <a:latin typeface="Cambria"/>
                <a:cs typeface="Cambria"/>
              </a:rPr>
              <a:t>hidden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layers</a:t>
            </a:r>
            <a:endParaRPr sz="20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181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40" dirty="0">
                <a:solidFill>
                  <a:srgbClr val="FF0066"/>
                </a:solidFill>
                <a:latin typeface="Cambria"/>
                <a:cs typeface="Cambria"/>
              </a:rPr>
              <a:t>Swish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also</a:t>
            </a:r>
            <a:r>
              <a:rPr sz="2000" spc="5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recommended</a:t>
            </a:r>
            <a:r>
              <a:rPr sz="20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place</a:t>
            </a:r>
            <a:r>
              <a:rPr sz="2000" spc="4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ReLU</a:t>
            </a:r>
            <a:endParaRPr sz="2000">
              <a:latin typeface="Cambria"/>
              <a:cs typeface="Cambria"/>
            </a:endParaRPr>
          </a:p>
          <a:p>
            <a:pPr marL="241300" indent="-229235">
              <a:lnSpc>
                <a:spcPct val="100000"/>
              </a:lnSpc>
              <a:spcBef>
                <a:spcPts val="1800"/>
              </a:spcBef>
              <a:buClr>
                <a:srgbClr val="4E67C7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Softmax</a:t>
            </a:r>
            <a:r>
              <a:rPr sz="2000" spc="55" dirty="0">
                <a:solidFill>
                  <a:srgbClr val="FF0066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used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5" dirty="0">
                <a:solidFill>
                  <a:srgbClr val="7E7E7E"/>
                </a:solidFill>
                <a:latin typeface="Cambria"/>
                <a:cs typeface="Cambria"/>
              </a:rPr>
              <a:t>output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layer</a:t>
            </a:r>
            <a:r>
              <a:rPr sz="2000" spc="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sz="2000" spc="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7E7E7E"/>
                </a:solidFill>
                <a:latin typeface="Cambria"/>
                <a:cs typeface="Cambria"/>
              </a:rPr>
              <a:t>multi-classification</a:t>
            </a:r>
            <a:r>
              <a:rPr sz="2000" spc="5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problem.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59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52323"/>
            <a:ext cx="9113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06095" algn="l"/>
              </a:tabLst>
            </a:pPr>
            <a:r>
              <a:rPr sz="5400" spc="405" baseline="-17746" dirty="0">
                <a:solidFill>
                  <a:srgbClr val="77CEEE"/>
                </a:solidFill>
                <a:latin typeface="Cambria"/>
                <a:cs typeface="Cambria"/>
              </a:rPr>
              <a:t>+	</a:t>
            </a:r>
            <a:r>
              <a:rPr sz="3600" spc="155" dirty="0">
                <a:solidFill>
                  <a:srgbClr val="0D5671"/>
                </a:solidFill>
                <a:latin typeface="Cambria"/>
                <a:cs typeface="Cambria"/>
              </a:rPr>
              <a:t>Steps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0D5671"/>
                </a:solidFill>
                <a:latin typeface="Cambria"/>
                <a:cs typeface="Cambria"/>
              </a:rPr>
              <a:t>to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Create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Deep</a:t>
            </a:r>
            <a:r>
              <a:rPr sz="3600" spc="33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0D5671"/>
                </a:solidFill>
                <a:latin typeface="Cambria"/>
                <a:cs typeface="Cambria"/>
              </a:rPr>
              <a:t>Neural</a:t>
            </a:r>
            <a:r>
              <a:rPr sz="3600" spc="3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0D5671"/>
                </a:solidFill>
                <a:latin typeface="Cambria"/>
                <a:cs typeface="Cambria"/>
              </a:rPr>
              <a:t>Network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027" y="1113027"/>
            <a:ext cx="8832215" cy="531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404040"/>
                </a:solidFill>
                <a:latin typeface="Cambria"/>
                <a:cs typeface="Cambria"/>
              </a:rPr>
              <a:t>Four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basic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things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required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build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Deep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25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Creation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(using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Keras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API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[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Sequential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-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FF0066"/>
                </a:solidFill>
                <a:latin typeface="Cambria"/>
                <a:cs typeface="Cambria"/>
              </a:rPr>
              <a:t>Functional</a:t>
            </a:r>
            <a:r>
              <a:rPr sz="2000" spc="35" dirty="0">
                <a:solidFill>
                  <a:srgbClr val="404040"/>
                </a:solidFill>
                <a:latin typeface="Cambria"/>
                <a:cs typeface="Cambria"/>
              </a:rPr>
              <a:t>])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Compilation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model.compile(</a:t>
            </a:r>
            <a:r>
              <a:rPr sz="2000" spc="70" dirty="0">
                <a:solidFill>
                  <a:srgbClr val="0066FF"/>
                </a:solidFill>
                <a:latin typeface="Cambria"/>
                <a:cs typeface="Cambria"/>
              </a:rPr>
              <a:t>parameters</a:t>
            </a:r>
            <a:r>
              <a:rPr sz="2000" spc="70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-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Training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model.fit(</a:t>
            </a:r>
            <a:r>
              <a:rPr sz="2000" spc="50" dirty="0">
                <a:solidFill>
                  <a:srgbClr val="0066FF"/>
                </a:solidFill>
                <a:latin typeface="Cambria"/>
                <a:cs typeface="Cambria"/>
              </a:rPr>
              <a:t>parameters</a:t>
            </a:r>
            <a:r>
              <a:rPr sz="2000" spc="50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Evaluate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model.evaluate(</a:t>
            </a:r>
            <a:r>
              <a:rPr sz="2000" spc="75" dirty="0">
                <a:solidFill>
                  <a:srgbClr val="0066FF"/>
                </a:solidFill>
                <a:latin typeface="Cambria"/>
                <a:cs typeface="Cambria"/>
              </a:rPr>
              <a:t>X_test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,</a:t>
            </a:r>
            <a:r>
              <a:rPr sz="2000" spc="75" dirty="0">
                <a:solidFill>
                  <a:srgbClr val="0066FF"/>
                </a:solidFill>
                <a:latin typeface="Cambria"/>
                <a:cs typeface="Cambria"/>
              </a:rPr>
              <a:t>Y_test</a:t>
            </a:r>
            <a:r>
              <a:rPr sz="2000" spc="75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4E67C7"/>
              </a:buClr>
              <a:buFont typeface="Cambria"/>
              <a:buAutoNum type="arabicPeriod"/>
            </a:pPr>
            <a:endParaRPr sz="27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Clr>
                <a:srgbClr val="4E67C7"/>
              </a:buClr>
              <a:buSzPct val="75000"/>
              <a:buAutoNum type="arabicPeriod"/>
              <a:tabLst>
                <a:tab pos="469900" algn="l"/>
                <a:tab pos="470534" algn="l"/>
              </a:tabLst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Cambria"/>
                <a:cs typeface="Cambria"/>
              </a:rPr>
              <a:t>Prediction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model.predict(</a:t>
            </a:r>
            <a:r>
              <a:rPr sz="2000" spc="65" dirty="0">
                <a:solidFill>
                  <a:srgbClr val="0066FF"/>
                </a:solidFill>
                <a:latin typeface="Cambria"/>
                <a:cs typeface="Cambria"/>
              </a:rPr>
              <a:t>X_test</a:t>
            </a:r>
            <a:r>
              <a:rPr sz="2000" spc="65" dirty="0">
                <a:solidFill>
                  <a:srgbClr val="FF0066"/>
                </a:solidFill>
                <a:latin typeface="Cambria"/>
                <a:cs typeface="Cambria"/>
              </a:rPr>
              <a:t>)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>
              <a:latin typeface="Cambria"/>
              <a:cs typeface="Cambria"/>
            </a:endParaRPr>
          </a:p>
          <a:p>
            <a:pPr marL="158115">
              <a:lnSpc>
                <a:spcPct val="100000"/>
              </a:lnSpc>
              <a:spcBef>
                <a:spcPts val="5"/>
              </a:spcBef>
            </a:pPr>
            <a:r>
              <a:rPr sz="1800" spc="-120" dirty="0">
                <a:latin typeface="Cambria"/>
                <a:cs typeface="Cambria"/>
              </a:rPr>
              <a:t>F</a:t>
            </a:r>
            <a:r>
              <a:rPr sz="1800" spc="40" dirty="0">
                <a:latin typeface="Cambria"/>
                <a:cs typeface="Cambria"/>
              </a:rPr>
              <a:t>o</a:t>
            </a:r>
            <a:r>
              <a:rPr sz="1800" spc="35" dirty="0">
                <a:latin typeface="Cambria"/>
                <a:cs typeface="Cambria"/>
              </a:rPr>
              <a:t>r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mo</a:t>
            </a:r>
            <a:r>
              <a:rPr sz="1800" spc="-60" dirty="0">
                <a:latin typeface="Cambria"/>
                <a:cs typeface="Cambria"/>
              </a:rPr>
              <a:t>r</a:t>
            </a:r>
            <a:r>
              <a:rPr sz="1800" spc="150" dirty="0">
                <a:latin typeface="Cambria"/>
                <a:cs typeface="Cambria"/>
              </a:rPr>
              <a:t>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det</a:t>
            </a:r>
            <a:r>
              <a:rPr sz="1800" spc="65" dirty="0">
                <a:latin typeface="Cambria"/>
                <a:cs typeface="Cambria"/>
              </a:rPr>
              <a:t>ails,</a:t>
            </a:r>
            <a:r>
              <a:rPr sz="1800" spc="-10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visit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these </a:t>
            </a:r>
            <a:r>
              <a:rPr sz="1800" spc="-65" dirty="0">
                <a:latin typeface="Cambria"/>
                <a:cs typeface="Cambria"/>
              </a:rPr>
              <a:t>w</a:t>
            </a:r>
            <a:r>
              <a:rPr sz="1800" spc="120" dirty="0">
                <a:latin typeface="Cambria"/>
                <a:cs typeface="Cambria"/>
              </a:rPr>
              <a:t>e</a:t>
            </a:r>
            <a:r>
              <a:rPr sz="1800" spc="175" dirty="0">
                <a:latin typeface="Cambria"/>
                <a:cs typeface="Cambria"/>
              </a:rPr>
              <a:t>b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o</a:t>
            </a:r>
            <a:r>
              <a:rPr sz="1800" spc="35" dirty="0">
                <a:latin typeface="Cambria"/>
                <a:cs typeface="Cambria"/>
              </a:rPr>
              <a:t>r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Sea</a:t>
            </a:r>
            <a:r>
              <a:rPr sz="1800" spc="-15" dirty="0">
                <a:latin typeface="Cambria"/>
                <a:cs typeface="Cambria"/>
              </a:rPr>
              <a:t>r</a:t>
            </a:r>
            <a:r>
              <a:rPr sz="1800" spc="90" dirty="0">
                <a:latin typeface="Cambria"/>
                <a:cs typeface="Cambria"/>
              </a:rPr>
              <a:t>ch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135" dirty="0">
                <a:latin typeface="Cambria"/>
                <a:cs typeface="Cambria"/>
              </a:rPr>
              <a:t>e</a:t>
            </a:r>
            <a:r>
              <a:rPr sz="1800" spc="95" dirty="0">
                <a:latin typeface="Cambria"/>
                <a:cs typeface="Cambria"/>
              </a:rPr>
              <a:t>xample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125" dirty="0">
                <a:latin typeface="Cambria"/>
                <a:cs typeface="Cambria"/>
              </a:rPr>
              <a:t>code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</a:t>
            </a:r>
            <a:r>
              <a:rPr sz="1800" spc="20" dirty="0">
                <a:latin typeface="Cambria"/>
                <a:cs typeface="Cambria"/>
              </a:rPr>
              <a:t>v</a:t>
            </a:r>
            <a:r>
              <a:rPr sz="1800" spc="80" dirty="0">
                <a:latin typeface="Cambria"/>
                <a:cs typeface="Cambria"/>
              </a:rPr>
              <a:t>e</a:t>
            </a:r>
            <a:r>
              <a:rPr sz="1800" spc="70" dirty="0">
                <a:latin typeface="Cambria"/>
                <a:cs typeface="Cambria"/>
              </a:rPr>
              <a:t>r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gi</a:t>
            </a:r>
            <a:r>
              <a:rPr sz="1800" spc="60" dirty="0">
                <a:latin typeface="Cambria"/>
                <a:cs typeface="Cambria"/>
              </a:rPr>
              <a:t>t</a:t>
            </a:r>
            <a:r>
              <a:rPr sz="1800" spc="70" dirty="0">
                <a:latin typeface="Cambria"/>
                <a:cs typeface="Cambria"/>
              </a:rPr>
              <a:t>hub</a:t>
            </a:r>
            <a:endParaRPr sz="1800">
              <a:latin typeface="Cambria"/>
              <a:cs typeface="Cambria"/>
            </a:endParaRPr>
          </a:p>
          <a:p>
            <a:pPr marL="1619885">
              <a:lnSpc>
                <a:spcPct val="100000"/>
              </a:lnSpc>
              <a:spcBef>
                <a:spcPts val="620"/>
              </a:spcBef>
            </a:pPr>
            <a:r>
              <a:rPr sz="1400" u="sng" spc="35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Cambria"/>
                <a:cs typeface="Cambria"/>
                <a:hlinkClick r:id="rId2"/>
              </a:rPr>
              <a:t>https://keras.io/examples/structured_data/structured_data_classification_from_scratch/</a:t>
            </a:r>
            <a:endParaRPr sz="1400">
              <a:latin typeface="Cambria"/>
              <a:cs typeface="Cambria"/>
            </a:endParaRPr>
          </a:p>
          <a:p>
            <a:pPr marL="1619885">
              <a:lnSpc>
                <a:spcPct val="100000"/>
              </a:lnSpc>
              <a:spcBef>
                <a:spcPts val="1320"/>
              </a:spcBef>
            </a:pPr>
            <a:r>
              <a:rPr sz="1400" u="sng" spc="25" dirty="0">
                <a:solidFill>
                  <a:srgbClr val="6DAC1C"/>
                </a:solidFill>
                <a:uFill>
                  <a:solidFill>
                    <a:srgbClr val="6DAC1C"/>
                  </a:solidFill>
                </a:uFill>
                <a:latin typeface="Cambria"/>
                <a:cs typeface="Cambria"/>
                <a:hlinkClick r:id="rId3"/>
              </a:rPr>
              <a:t>https://machinelearningmastery.com/tutorial-first-neural-network-python-keras/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61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288" y="254000"/>
            <a:ext cx="5212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405" baseline="6172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r>
              <a:rPr sz="5400" spc="89" baseline="6172" dirty="0">
                <a:solidFill>
                  <a:srgbClr val="77CEEE"/>
                </a:solidFill>
                <a:latin typeface="Cambria"/>
                <a:cs typeface="Cambria"/>
              </a:rPr>
              <a:t> </a:t>
            </a:r>
            <a:r>
              <a:rPr sz="3600" spc="165" dirty="0">
                <a:solidFill>
                  <a:srgbClr val="0D5671"/>
                </a:solidFill>
                <a:latin typeface="Cambria"/>
                <a:cs typeface="Cambria"/>
              </a:rPr>
              <a:t>Applications</a:t>
            </a:r>
            <a:r>
              <a:rPr sz="3600" spc="3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24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600" spc="31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600" spc="42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994" y="1094739"/>
            <a:ext cx="8839835" cy="4496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Signal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processing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Pattern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recognition,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e.g.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handwritten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characters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face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identification.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Speech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recognition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Human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Emotion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Detection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Sales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forecasting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Industrial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process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control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Risk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management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1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Medical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diagnosis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Texture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analysis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62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68683" y="64769"/>
            <a:ext cx="551815" cy="1600200"/>
          </a:xfrm>
          <a:custGeom>
            <a:avLst/>
            <a:gdLst/>
            <a:ahLst/>
            <a:cxnLst/>
            <a:rect l="l" t="t" r="r" b="b"/>
            <a:pathLst>
              <a:path w="551815" h="1600200">
                <a:moveTo>
                  <a:pt x="551687" y="0"/>
                </a:moveTo>
                <a:lnTo>
                  <a:pt x="0" y="0"/>
                </a:lnTo>
                <a:lnTo>
                  <a:pt x="0" y="1600200"/>
                </a:lnTo>
                <a:lnTo>
                  <a:pt x="551687" y="1600200"/>
                </a:lnTo>
                <a:lnTo>
                  <a:pt x="551687" y="0"/>
                </a:lnTo>
                <a:close/>
              </a:path>
            </a:pathLst>
          </a:custGeom>
          <a:solidFill>
            <a:srgbClr val="1C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4988" y="200659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70" dirty="0">
                <a:solidFill>
                  <a:srgbClr val="77CEEE"/>
                </a:solidFill>
                <a:latin typeface="Cambria"/>
                <a:cs typeface="Cambria"/>
              </a:rPr>
              <a:t>+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91900" y="64769"/>
            <a:ext cx="121920" cy="1600200"/>
          </a:xfrm>
          <a:custGeom>
            <a:avLst/>
            <a:gdLst/>
            <a:ahLst/>
            <a:cxnLst/>
            <a:rect l="l" t="t" r="r" b="b"/>
            <a:pathLst>
              <a:path w="121920" h="1600200">
                <a:moveTo>
                  <a:pt x="121920" y="0"/>
                </a:moveTo>
                <a:lnTo>
                  <a:pt x="0" y="0"/>
                </a:lnTo>
                <a:lnTo>
                  <a:pt x="0" y="1600200"/>
                </a:lnTo>
                <a:lnTo>
                  <a:pt x="121920" y="1600200"/>
                </a:lnTo>
                <a:lnTo>
                  <a:pt x="121920" y="0"/>
                </a:lnTo>
                <a:close/>
              </a:path>
            </a:pathLst>
          </a:custGeom>
          <a:solidFill>
            <a:srgbClr val="308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580" y="2438780"/>
            <a:ext cx="5203190" cy="3429000"/>
          </a:xfrm>
          <a:custGeom>
            <a:avLst/>
            <a:gdLst/>
            <a:ahLst/>
            <a:cxnLst/>
            <a:rect l="l" t="t" r="r" b="b"/>
            <a:pathLst>
              <a:path w="5203190" h="3429000">
                <a:moveTo>
                  <a:pt x="0" y="3429000"/>
                </a:moveTo>
                <a:lnTo>
                  <a:pt x="5202936" y="3429000"/>
                </a:lnTo>
                <a:lnTo>
                  <a:pt x="5202936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ln w="9525">
            <a:solidFill>
              <a:srgbClr val="1CAC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2343" y="2443543"/>
            <a:ext cx="5193665" cy="3419475"/>
          </a:xfrm>
          <a:prstGeom prst="rect">
            <a:avLst/>
          </a:prstGeom>
          <a:solidFill>
            <a:srgbClr val="D3F5F7"/>
          </a:solidFill>
        </p:spPr>
        <p:txBody>
          <a:bodyPr vert="horz" wrap="square" lIns="0" tIns="0" rIns="0" bIns="0" rtlCol="0">
            <a:spAutoFit/>
          </a:bodyPr>
          <a:lstStyle/>
          <a:p>
            <a:pPr marL="314325" indent="-229235">
              <a:lnSpc>
                <a:spcPts val="1825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4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14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spc="35" dirty="0">
                <a:solidFill>
                  <a:srgbClr val="C00000"/>
                </a:solidFill>
                <a:latin typeface="Cambria"/>
                <a:cs typeface="Cambria"/>
              </a:rPr>
              <a:t>non-linear</a:t>
            </a:r>
            <a:r>
              <a:rPr sz="16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95" dirty="0">
                <a:solidFill>
                  <a:srgbClr val="C00000"/>
                </a:solidFill>
                <a:latin typeface="Cambria"/>
                <a:cs typeface="Cambria"/>
              </a:rPr>
              <a:t>systems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1D6194"/>
              </a:buClr>
              <a:buFont typeface="Wingdings"/>
              <a:buChar char=""/>
            </a:pPr>
            <a:endParaRPr sz="1650">
              <a:latin typeface="Cambria"/>
              <a:cs typeface="Cambria"/>
            </a:endParaRPr>
          </a:p>
          <a:p>
            <a:pPr marL="314325" marR="172085" indent="-228600">
              <a:lnSpc>
                <a:spcPts val="154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Cambria"/>
                <a:cs typeface="Cambria"/>
              </a:rPr>
              <a:t>ability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404040"/>
                </a:solidFill>
                <a:latin typeface="Cambria"/>
                <a:cs typeface="Cambria"/>
              </a:rPr>
              <a:t>allows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16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adapt </a:t>
            </a:r>
            <a:r>
              <a:rPr sz="1600" spc="-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changes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surrounding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404040"/>
                </a:solidFill>
                <a:latin typeface="Cambria"/>
                <a:cs typeface="Cambria"/>
              </a:rPr>
              <a:t>environment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1D6194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314325" marR="509905" indent="-228600">
              <a:lnSpc>
                <a:spcPts val="1540"/>
              </a:lnSpc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4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404040"/>
                </a:solidFill>
                <a:latin typeface="Cambria"/>
                <a:cs typeface="Cambria"/>
              </a:rPr>
              <a:t>provide</a:t>
            </a:r>
            <a:r>
              <a:rPr sz="16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spc="80" dirty="0">
                <a:solidFill>
                  <a:srgbClr val="C00000"/>
                </a:solidFill>
                <a:latin typeface="Cambria"/>
                <a:cs typeface="Cambria"/>
              </a:rPr>
              <a:t>confidence</a:t>
            </a:r>
            <a:r>
              <a:rPr sz="16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65" dirty="0">
                <a:solidFill>
                  <a:srgbClr val="C00000"/>
                </a:solidFill>
                <a:latin typeface="Cambria"/>
                <a:cs typeface="Cambria"/>
              </a:rPr>
              <a:t>level</a:t>
            </a:r>
            <a:r>
              <a:rPr sz="1600" b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55" dirty="0">
                <a:solidFill>
                  <a:srgbClr val="C00000"/>
                </a:solidFill>
                <a:latin typeface="Cambria"/>
                <a:cs typeface="Cambria"/>
              </a:rPr>
              <a:t>to</a:t>
            </a:r>
            <a:r>
              <a:rPr sz="1600" b="1" spc="1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3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1600" b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95" dirty="0">
                <a:solidFill>
                  <a:srgbClr val="C00000"/>
                </a:solidFill>
                <a:latin typeface="Cambria"/>
                <a:cs typeface="Cambria"/>
              </a:rPr>
              <a:t>given </a:t>
            </a:r>
            <a:r>
              <a:rPr sz="1600" b="1" spc="-3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spc="60" dirty="0">
                <a:solidFill>
                  <a:srgbClr val="C00000"/>
                </a:solidFill>
                <a:latin typeface="Cambria"/>
                <a:cs typeface="Cambria"/>
              </a:rPr>
              <a:t>solution</a:t>
            </a:r>
            <a:endParaRPr sz="1600">
              <a:latin typeface="Cambria"/>
              <a:cs typeface="Cambria"/>
            </a:endParaRPr>
          </a:p>
          <a:p>
            <a:pPr marL="314325" indent="-229235">
              <a:lnSpc>
                <a:spcPct val="100000"/>
              </a:lnSpc>
              <a:spcBef>
                <a:spcPts val="1625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learn</a:t>
            </a:r>
            <a:r>
              <a:rPr sz="1600" b="1" i="1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404040"/>
                </a:solidFill>
                <a:latin typeface="Cambria"/>
                <a:cs typeface="Cambria"/>
              </a:rPr>
              <a:t>more</a:t>
            </a:r>
            <a:r>
              <a:rPr sz="16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85" dirty="0">
                <a:solidFill>
                  <a:srgbClr val="C00000"/>
                </a:solidFill>
                <a:latin typeface="Cambria"/>
                <a:cs typeface="Cambria"/>
              </a:rPr>
              <a:t>complicated</a:t>
            </a:r>
            <a:r>
              <a:rPr sz="1600" b="1" i="1" spc="1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class</a:t>
            </a:r>
            <a:r>
              <a:rPr sz="1600" b="1" i="1" spc="1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80" dirty="0">
                <a:solidFill>
                  <a:srgbClr val="C00000"/>
                </a:solidFill>
                <a:latin typeface="Cambria"/>
                <a:cs typeface="Cambria"/>
              </a:rPr>
              <a:t>boundaries</a:t>
            </a:r>
            <a:endParaRPr sz="1600">
              <a:latin typeface="Cambria"/>
              <a:cs typeface="Cambria"/>
            </a:endParaRPr>
          </a:p>
          <a:p>
            <a:pPr marL="314325" indent="-229235">
              <a:lnSpc>
                <a:spcPct val="100000"/>
              </a:lnSpc>
              <a:spcBef>
                <a:spcPts val="161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404040"/>
                </a:solidFill>
                <a:latin typeface="Cambria"/>
                <a:cs typeface="Cambria"/>
              </a:rPr>
              <a:t>handle</a:t>
            </a:r>
            <a:r>
              <a:rPr sz="16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70" dirty="0">
                <a:solidFill>
                  <a:srgbClr val="C00000"/>
                </a:solidFill>
                <a:latin typeface="Cambria"/>
                <a:cs typeface="Cambria"/>
              </a:rPr>
              <a:t>large</a:t>
            </a:r>
            <a:r>
              <a:rPr sz="1600" b="1" i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105" dirty="0">
                <a:solidFill>
                  <a:srgbClr val="C00000"/>
                </a:solidFill>
                <a:latin typeface="Cambria"/>
                <a:cs typeface="Cambria"/>
              </a:rPr>
              <a:t>number</a:t>
            </a:r>
            <a:r>
              <a:rPr sz="16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spc="13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16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404040"/>
                </a:solidFill>
                <a:latin typeface="Cambria"/>
                <a:cs typeface="Cambria"/>
              </a:rPr>
              <a:t>features</a:t>
            </a:r>
            <a:endParaRPr sz="1600">
              <a:latin typeface="Cambria"/>
              <a:cs typeface="Cambria"/>
            </a:endParaRPr>
          </a:p>
          <a:p>
            <a:pPr marL="314325" indent="-229235">
              <a:lnSpc>
                <a:spcPct val="100000"/>
              </a:lnSpc>
              <a:spcBef>
                <a:spcPts val="1620"/>
              </a:spcBef>
              <a:buClr>
                <a:srgbClr val="1D6194"/>
              </a:buClr>
              <a:buSzPct val="75000"/>
              <a:buFont typeface="Wingdings"/>
              <a:buChar char=""/>
              <a:tabLst>
                <a:tab pos="314960" algn="l"/>
              </a:tabLst>
            </a:pPr>
            <a:r>
              <a:rPr sz="1600" spc="85" dirty="0">
                <a:solidFill>
                  <a:srgbClr val="404040"/>
                </a:solidFill>
                <a:latin typeface="Cambria"/>
                <a:cs typeface="Cambria"/>
              </a:rPr>
              <a:t>Have</a:t>
            </a:r>
            <a:r>
              <a:rPr sz="16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noise</a:t>
            </a:r>
            <a:r>
              <a:rPr sz="1600" b="1" i="1" spc="1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600" b="1" i="1" spc="75" dirty="0">
                <a:solidFill>
                  <a:srgbClr val="C00000"/>
                </a:solidFill>
                <a:latin typeface="Cambria"/>
                <a:cs typeface="Cambria"/>
              </a:rPr>
              <a:t>tolerance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580" y="1771269"/>
            <a:ext cx="5203190" cy="664210"/>
          </a:xfrm>
          <a:custGeom>
            <a:avLst/>
            <a:gdLst/>
            <a:ahLst/>
            <a:cxnLst/>
            <a:rect l="l" t="t" r="r" b="b"/>
            <a:pathLst>
              <a:path w="5203190" h="664210">
                <a:moveTo>
                  <a:pt x="0" y="663701"/>
                </a:moveTo>
                <a:lnTo>
                  <a:pt x="5202936" y="663701"/>
                </a:lnTo>
                <a:lnTo>
                  <a:pt x="5202936" y="0"/>
                </a:lnTo>
                <a:lnTo>
                  <a:pt x="0" y="0"/>
                </a:lnTo>
                <a:lnTo>
                  <a:pt x="0" y="663701"/>
                </a:lnTo>
                <a:close/>
              </a:path>
            </a:pathLst>
          </a:custGeom>
          <a:ln w="9525">
            <a:solidFill>
              <a:srgbClr val="1CAC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2343" y="1776031"/>
            <a:ext cx="5193665" cy="654685"/>
          </a:xfrm>
          <a:prstGeom prst="rect">
            <a:avLst/>
          </a:prstGeom>
          <a:solidFill>
            <a:srgbClr val="A3DEF4"/>
          </a:solidFill>
        </p:spPr>
        <p:txBody>
          <a:bodyPr vert="horz" wrap="square" lIns="0" tIns="3302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60"/>
              </a:spcBef>
            </a:pPr>
            <a:r>
              <a:rPr sz="3200" b="1" spc="85" dirty="0">
                <a:solidFill>
                  <a:srgbClr val="0D5671"/>
                </a:solidFill>
                <a:latin typeface="Cambria"/>
                <a:cs typeface="Cambria"/>
              </a:rPr>
              <a:t>Pros</a:t>
            </a:r>
            <a:r>
              <a:rPr sz="3200" b="1" spc="26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21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200" b="1" spc="254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37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96268" y="126237"/>
            <a:ext cx="219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FFFFFF"/>
                </a:solidFill>
                <a:latin typeface="Cambria"/>
                <a:cs typeface="Cambria"/>
              </a:rPr>
              <a:t>63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91618" y="2564320"/>
            <a:ext cx="5212715" cy="2241550"/>
            <a:chOff x="6091618" y="2564320"/>
            <a:chExt cx="5212715" cy="2241550"/>
          </a:xfrm>
        </p:grpSpPr>
        <p:sp>
          <p:nvSpPr>
            <p:cNvPr id="11" name="object 11"/>
            <p:cNvSpPr/>
            <p:nvPr/>
          </p:nvSpPr>
          <p:spPr>
            <a:xfrm>
              <a:off x="6096380" y="2569082"/>
              <a:ext cx="5203190" cy="2232025"/>
            </a:xfrm>
            <a:custGeom>
              <a:avLst/>
              <a:gdLst/>
              <a:ahLst/>
              <a:cxnLst/>
              <a:rect l="l" t="t" r="r" b="b"/>
              <a:pathLst>
                <a:path w="5203190" h="2232025">
                  <a:moveTo>
                    <a:pt x="5202936" y="0"/>
                  </a:moveTo>
                  <a:lnTo>
                    <a:pt x="0" y="0"/>
                  </a:lnTo>
                  <a:lnTo>
                    <a:pt x="0" y="2231898"/>
                  </a:lnTo>
                  <a:lnTo>
                    <a:pt x="5202936" y="2231898"/>
                  </a:lnTo>
                  <a:lnTo>
                    <a:pt x="5202936" y="0"/>
                  </a:lnTo>
                  <a:close/>
                </a:path>
              </a:pathLst>
            </a:custGeom>
            <a:solidFill>
              <a:srgbClr val="D3F5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6380" y="2569082"/>
              <a:ext cx="5203190" cy="2232025"/>
            </a:xfrm>
            <a:custGeom>
              <a:avLst/>
              <a:gdLst/>
              <a:ahLst/>
              <a:cxnLst/>
              <a:rect l="l" t="t" r="r" b="b"/>
              <a:pathLst>
                <a:path w="5203190" h="2232025">
                  <a:moveTo>
                    <a:pt x="0" y="2231898"/>
                  </a:moveTo>
                  <a:lnTo>
                    <a:pt x="5202936" y="2231898"/>
                  </a:lnTo>
                  <a:lnTo>
                    <a:pt x="5202936" y="0"/>
                  </a:lnTo>
                  <a:lnTo>
                    <a:pt x="0" y="0"/>
                  </a:lnTo>
                  <a:lnTo>
                    <a:pt x="0" y="2231898"/>
                  </a:lnTo>
                  <a:close/>
                </a:path>
              </a:pathLst>
            </a:custGeom>
            <a:ln w="9525">
              <a:solidFill>
                <a:srgbClr val="1CAC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87947" y="2595372"/>
            <a:ext cx="24364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Font typeface="Wingdings"/>
              <a:buChar char=""/>
              <a:tabLst>
                <a:tab pos="228600" algn="l"/>
              </a:tabLst>
            </a:pP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Long</a:t>
            </a:r>
            <a:r>
              <a:rPr sz="2000" b="1" i="1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training</a:t>
            </a:r>
            <a:r>
              <a:rPr sz="2000" b="1" i="1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Time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7947" y="3154933"/>
            <a:ext cx="2186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Font typeface="Wingdings"/>
              <a:buChar char=""/>
              <a:tabLst>
                <a:tab pos="228600" algn="l"/>
              </a:tabLst>
            </a:pP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Hard</a:t>
            </a:r>
            <a:r>
              <a:rPr sz="2000" b="1" i="1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interpret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7947" y="3713479"/>
            <a:ext cx="450342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5080" indent="-228600">
              <a:lnSpc>
                <a:spcPct val="100000"/>
              </a:lnSpc>
              <a:spcBef>
                <a:spcPts val="95"/>
              </a:spcBef>
              <a:buClr>
                <a:srgbClr val="1D6194"/>
              </a:buClr>
              <a:buFont typeface="Wingdings"/>
              <a:buChar char=""/>
              <a:tabLst>
                <a:tab pos="228600" algn="l"/>
              </a:tabLst>
            </a:pP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Hard </a:t>
            </a:r>
            <a:r>
              <a:rPr sz="2000" spc="-15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implement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:</a:t>
            </a:r>
            <a:r>
              <a:rPr sz="20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trail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error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for </a:t>
            </a:r>
            <a:r>
              <a:rPr sz="2000" spc="-4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mbria"/>
                <a:cs typeface="Cambria"/>
              </a:rPr>
              <a:t>choosing</a:t>
            </a:r>
            <a:r>
              <a:rPr sz="2000" b="1" i="1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ambria"/>
                <a:cs typeface="Cambria"/>
              </a:rPr>
              <a:t>number</a:t>
            </a:r>
            <a:r>
              <a:rPr sz="2000" b="1" i="1" spc="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of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nodes,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ambria"/>
                <a:cs typeface="Cambria"/>
              </a:rPr>
              <a:t>adjusting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weights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91618" y="1900618"/>
            <a:ext cx="5212715" cy="673735"/>
            <a:chOff x="6091618" y="1900618"/>
            <a:chExt cx="5212715" cy="673735"/>
          </a:xfrm>
        </p:grpSpPr>
        <p:sp>
          <p:nvSpPr>
            <p:cNvPr id="17" name="object 17"/>
            <p:cNvSpPr/>
            <p:nvPr/>
          </p:nvSpPr>
          <p:spPr>
            <a:xfrm>
              <a:off x="6096380" y="1905380"/>
              <a:ext cx="5203190" cy="664210"/>
            </a:xfrm>
            <a:custGeom>
              <a:avLst/>
              <a:gdLst/>
              <a:ahLst/>
              <a:cxnLst/>
              <a:rect l="l" t="t" r="r" b="b"/>
              <a:pathLst>
                <a:path w="5203190" h="664210">
                  <a:moveTo>
                    <a:pt x="5202936" y="0"/>
                  </a:moveTo>
                  <a:lnTo>
                    <a:pt x="0" y="0"/>
                  </a:lnTo>
                  <a:lnTo>
                    <a:pt x="0" y="663701"/>
                  </a:lnTo>
                  <a:lnTo>
                    <a:pt x="5202936" y="663701"/>
                  </a:lnTo>
                  <a:lnTo>
                    <a:pt x="5202936" y="0"/>
                  </a:lnTo>
                  <a:close/>
                </a:path>
              </a:pathLst>
            </a:custGeom>
            <a:solidFill>
              <a:srgbClr val="A3D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380" y="1905380"/>
              <a:ext cx="5203190" cy="664210"/>
            </a:xfrm>
            <a:custGeom>
              <a:avLst/>
              <a:gdLst/>
              <a:ahLst/>
              <a:cxnLst/>
              <a:rect l="l" t="t" r="r" b="b"/>
              <a:pathLst>
                <a:path w="5203190" h="664210">
                  <a:moveTo>
                    <a:pt x="0" y="663701"/>
                  </a:moveTo>
                  <a:lnTo>
                    <a:pt x="5202936" y="663701"/>
                  </a:lnTo>
                  <a:lnTo>
                    <a:pt x="5202936" y="0"/>
                  </a:lnTo>
                  <a:lnTo>
                    <a:pt x="0" y="0"/>
                  </a:lnTo>
                  <a:lnTo>
                    <a:pt x="0" y="663701"/>
                  </a:lnTo>
                  <a:close/>
                </a:path>
              </a:pathLst>
            </a:custGeom>
            <a:ln w="9525">
              <a:solidFill>
                <a:srgbClr val="1CAC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96380" y="1905380"/>
            <a:ext cx="5203190" cy="664210"/>
          </a:xfrm>
          <a:prstGeom prst="rect">
            <a:avLst/>
          </a:prstGeom>
          <a:solidFill>
            <a:srgbClr val="A3DEF4"/>
          </a:solidFill>
          <a:ln w="9525">
            <a:solidFill>
              <a:srgbClr val="1CACE3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3200" b="1" spc="-10" dirty="0">
                <a:solidFill>
                  <a:srgbClr val="0D5671"/>
                </a:solidFill>
                <a:latin typeface="Cambria"/>
                <a:cs typeface="Cambria"/>
              </a:rPr>
              <a:t>Cons</a:t>
            </a:r>
            <a:r>
              <a:rPr sz="3200" b="1" spc="-20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-5" dirty="0">
                <a:solidFill>
                  <a:srgbClr val="0D5671"/>
                </a:solidFill>
                <a:latin typeface="Cambria"/>
                <a:cs typeface="Cambria"/>
              </a:rPr>
              <a:t>of</a:t>
            </a:r>
            <a:r>
              <a:rPr sz="3200" b="1" spc="-25" dirty="0">
                <a:solidFill>
                  <a:srgbClr val="0D5671"/>
                </a:solidFill>
                <a:latin typeface="Cambria"/>
                <a:cs typeface="Cambria"/>
              </a:rPr>
              <a:t> </a:t>
            </a:r>
            <a:r>
              <a:rPr sz="3200" b="1" spc="-5" dirty="0">
                <a:solidFill>
                  <a:srgbClr val="0D5671"/>
                </a:solidFill>
                <a:latin typeface="Cambria"/>
                <a:cs typeface="Cambria"/>
              </a:rPr>
              <a:t>ANN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76609" y="6582750"/>
            <a:ext cx="1018540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March</a:t>
            </a:r>
            <a:r>
              <a:rPr sz="1100" b="1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5" dirty="0">
                <a:solidFill>
                  <a:srgbClr val="585858"/>
                </a:solidFill>
                <a:latin typeface="Cambria"/>
                <a:cs typeface="Cambria"/>
              </a:rPr>
              <a:t>20,</a:t>
            </a:r>
            <a:r>
              <a:rPr sz="1100" b="1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b="1" spc="-1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089F-1D64-4390-98D2-1D5C46D2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2743200"/>
            <a:ext cx="6718300" cy="1107996"/>
          </a:xfrm>
        </p:spPr>
        <p:txBody>
          <a:bodyPr/>
          <a:lstStyle/>
          <a:p>
            <a:pPr algn="ctr"/>
            <a:r>
              <a:rPr lang="en-US" sz="7200" dirty="0"/>
              <a:t>Thanks </a:t>
            </a:r>
          </a:p>
        </p:txBody>
      </p:sp>
    </p:spTree>
    <p:extLst>
      <p:ext uri="{BB962C8B-B14F-4D97-AF65-F5344CB8AC3E}">
        <p14:creationId xmlns:p14="http://schemas.microsoft.com/office/powerpoint/2010/main" val="97860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DAC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1232</TotalTime>
  <Words>4384</Words>
  <Application>Microsoft Office PowerPoint</Application>
  <PresentationFormat>Widescreen</PresentationFormat>
  <Paragraphs>711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9" baseType="lpstr">
      <vt:lpstr>Arial</vt:lpstr>
      <vt:lpstr>Arial MT</vt:lpstr>
      <vt:lpstr>Calibri</vt:lpstr>
      <vt:lpstr>Cambria</vt:lpstr>
      <vt:lpstr>Cambria Math</vt:lpstr>
      <vt:lpstr>Nirmala UI</vt:lpstr>
      <vt:lpstr>Segoe UI</vt:lpstr>
      <vt:lpstr>Symbol</vt:lpstr>
      <vt:lpstr>Times New Roman</vt:lpstr>
      <vt:lpstr>Trebuchet MS</vt:lpstr>
      <vt:lpstr>Verdana</vt:lpstr>
      <vt:lpstr>Wingdings</vt:lpstr>
      <vt:lpstr>Office Theme</vt:lpstr>
      <vt:lpstr>+</vt:lpstr>
      <vt:lpstr>+ Outline</vt:lpstr>
      <vt:lpstr>+ What is Neural Network?</vt:lpstr>
      <vt:lpstr>+ What is Neuron?</vt:lpstr>
      <vt:lpstr>+ From Biological to Artificial Neurons</vt:lpstr>
      <vt:lpstr>+ McCulloch-Pitts Neuron (1st ver.)</vt:lpstr>
      <vt:lpstr>+ McCulloch-Pitts Neuron (1st ver.)</vt:lpstr>
      <vt:lpstr>+ Linear Threshold Unit (LTU) Neuron (2nd ver.)</vt:lpstr>
      <vt:lpstr>+ Linear Threshold Unit (LTU) Neuron (2nd ver.)</vt:lpstr>
      <vt:lpstr>+ Perceptron (3rd ver.)</vt:lpstr>
      <vt:lpstr>+ Perceptron (3rd ver.)</vt:lpstr>
      <vt:lpstr>+ How ANN works?</vt:lpstr>
      <vt:lpstr>+ How ANN works?</vt:lpstr>
      <vt:lpstr>+ Activity - Example</vt:lpstr>
      <vt:lpstr>Activation Functions</vt:lpstr>
      <vt:lpstr>Perceptron (3rd ver.)</vt:lpstr>
      <vt:lpstr>Perceptron (3rd ver.)</vt:lpstr>
      <vt:lpstr>+ What is Neural Network?</vt:lpstr>
      <vt:lpstr>+ What is Neural Network?</vt:lpstr>
      <vt:lpstr>+ What is Neural Network?</vt:lpstr>
      <vt:lpstr>Activation Functions</vt:lpstr>
      <vt:lpstr>Activation Functions</vt:lpstr>
      <vt:lpstr>+ Activation function</vt:lpstr>
      <vt:lpstr>+ Activation function</vt:lpstr>
      <vt:lpstr>+ Activation function</vt:lpstr>
      <vt:lpstr>+ Activation function</vt:lpstr>
      <vt:lpstr>+ Sigmoid Logistic Activation Function</vt:lpstr>
      <vt:lpstr>+ Tanh Function The activation that works almost always better than sigmoid function is Tanh  function also knows as Tangent Hyperbolic function.</vt:lpstr>
      <vt:lpstr>+ Rectified linear unit (ReLU)</vt:lpstr>
      <vt:lpstr>+ Leaky ReLU</vt:lpstr>
      <vt:lpstr>+ Softmax Function</vt:lpstr>
      <vt:lpstr>+ Swish Activation Function</vt:lpstr>
      <vt:lpstr>+ Choosing the Right Activation Function</vt:lpstr>
      <vt:lpstr>Feedforward NN</vt:lpstr>
      <vt:lpstr>+ Feedforward Neural Network</vt:lpstr>
      <vt:lpstr>+ Feedforward Neural Network</vt:lpstr>
      <vt:lpstr>+ Feedforward Neural Network</vt:lpstr>
      <vt:lpstr>+ How are the weights initialized?</vt:lpstr>
      <vt:lpstr>Back Propagation</vt:lpstr>
      <vt:lpstr>Neural Network training steps</vt:lpstr>
      <vt:lpstr>Regarding 5th</vt:lpstr>
      <vt:lpstr>PowerPoint Presentation</vt:lpstr>
      <vt:lpstr>Regarding 5th step: Weights Adaptation</vt:lpstr>
      <vt:lpstr>Backward pass</vt:lpstr>
      <vt:lpstr>Backward pass</vt:lpstr>
      <vt:lpstr>Backward pass</vt:lpstr>
      <vt:lpstr>Regarding 5th step: Weights Adaptation</vt:lpstr>
      <vt:lpstr>Regarding 5th step: Weights Adaptation</vt:lpstr>
      <vt:lpstr>PowerPoint Presentation</vt:lpstr>
      <vt:lpstr>Regarding 5th step: Weights Adaptation</vt:lpstr>
      <vt:lpstr>PowerPoint Presentation</vt:lpstr>
      <vt:lpstr>PowerPoint Presentation</vt:lpstr>
      <vt:lpstr>PowerPoint Presentation</vt:lpstr>
      <vt:lpstr>Role of Activation  Function in Back  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Role of Activation Function in Back-Propagation</vt:lpstr>
      <vt:lpstr>+ Choosing the right Activation Function</vt:lpstr>
      <vt:lpstr>+ Steps to Create Deep Neural Network</vt:lpstr>
      <vt:lpstr>+ Applications of ANN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+</dc:title>
  <cp:lastModifiedBy>Ahmed Yousry</cp:lastModifiedBy>
  <cp:revision>12</cp:revision>
  <dcterms:created xsi:type="dcterms:W3CDTF">2024-08-29T14:20:23Z</dcterms:created>
  <dcterms:modified xsi:type="dcterms:W3CDTF">2026-04-16T19:35:18Z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2024-08-29T00:00:00Z</vt:filetime>
  </property>
</Properties>
</file>