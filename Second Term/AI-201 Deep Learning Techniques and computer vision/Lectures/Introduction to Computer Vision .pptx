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5" r:id="rId14"/>
    <p:sldId id="277" r:id="rId15"/>
    <p:sldId id="278" r:id="rId16"/>
    <p:sldId id="269" r:id="rId17"/>
    <p:sldId id="270" r:id="rId18"/>
    <p:sldId id="272" r:id="rId19"/>
    <p:sldId id="273" r:id="rId20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Plus Jakarta Sans" panose="020B0604020202020204" charset="0"/>
      <p:regular r:id="rId26"/>
      <p:bold r:id="rId27"/>
      <p:italic r:id="rId28"/>
      <p:boldItalic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ExtraBold" panose="00000900000000000000" pitchFamily="2" charset="0"/>
      <p:bold r:id="rId34"/>
      <p:boldItalic r:id="rId35"/>
    </p:embeddedFont>
    <p:embeddedFont>
      <p:font typeface="Poppins SemiBold" panose="00000700000000000000" pitchFamily="2" charset="0"/>
      <p:regular r:id="rId36"/>
      <p:bold r:id="rId37"/>
      <p:italic r:id="rId38"/>
      <p:boldItalic r:id="rId39"/>
    </p:embeddedFont>
    <p:embeddedFont>
      <p:font typeface="Urbanist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font" Target="fonts/font2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font" Target="fonts/font2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57217" y="2735609"/>
            <a:ext cx="8077415" cy="5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rgbClr val="F1F5F9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Introduction to Computer Vision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5924" y="4502645"/>
            <a:ext cx="7620000" cy="1052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Extracting Semantic Meaning and Quantitative Structure from Pixels. </a:t>
            </a:r>
          </a:p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25" dirty="0">
              <a:solidFill>
                <a:srgbClr val="94A3B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Dr. Ahmed Yousry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715000" y="2805112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320528" y="3033712"/>
            <a:ext cx="7550943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Foundations &amp; AI Landscapes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304925" y="3900487"/>
            <a:ext cx="95821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Positioning computer vision within advanced computing, machine learning paradigms, and fundamental image-processing matrices.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64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81025" y="1812130"/>
            <a:ext cx="559069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Paradigm of Artificial Intelligence</a:t>
            </a:r>
            <a:endParaRPr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581025" y="2155030"/>
            <a:ext cx="53244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Computer Vision (CV) functions as a crucial subset of Artificial Intelligence (AI) and Machine Learning (ML), interfacing deeply with robotics, autonomous systems, and NLP.</a:t>
            </a:r>
            <a:endParaRPr dirty="0"/>
          </a:p>
        </p:txBody>
      </p:sp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1723" y="1559718"/>
            <a:ext cx="6048375" cy="404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14400" y="33670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Nested Fields: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Machine Learning and Deep Learning form the operational core of modern visual reasoning.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14400" y="39385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Interdisciplinary:</a:t>
            </a:r>
            <a:r>
              <a:rPr lang="en-US" sz="11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Combines digital signal processing, neurological simulation, and mathematical optimization.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914400" y="45100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Practical Domains:</a:t>
            </a:r>
            <a:r>
              <a:rPr lang="en-US" sz="11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Powers mission-critical components in autonomous driving, industrial robotics, and medical diagnostics.</a:t>
            </a:r>
            <a:endParaRPr dirty="0"/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400425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971925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543425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Computer Vision Ecosystem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81025" y="1585231"/>
            <a:ext cx="559069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Mathematical Binary Heuristics</a:t>
            </a:r>
            <a:endParaRPr sz="1600"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1947862"/>
            <a:ext cx="532447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modern deep neural networks, image processing focused on pixel transformations, threshold structures, and geometric feature mapping.</a:t>
            </a:r>
            <a:endParaRPr sz="1600"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914400" y="3138487"/>
            <a:ext cx="4991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Binarization: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Maps an RGB channel to a high-contrast binary black-and-white grid.</a:t>
            </a:r>
            <a:endParaRPr sz="160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914400" y="3709987"/>
            <a:ext cx="4991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Connected Components: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Groups adjacent pixel clusters using coordinate connectivity rules (4-way or 8-way).</a:t>
            </a:r>
            <a:endParaRPr sz="1600"/>
          </a:p>
        </p:txBody>
      </p:sp>
      <p:sp>
        <p:nvSpPr>
          <p:cNvPr id="123" name="Google Shape;123;p16"/>
          <p:cNvSpPr txBox="1"/>
          <p:nvPr/>
        </p:nvSpPr>
        <p:spPr>
          <a:xfrm>
            <a:off x="914400" y="4281487"/>
            <a:ext cx="4991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Counting: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Measures distinct contours and segmented elements to count geometric shapes directly.</a:t>
            </a:r>
            <a:endParaRPr sz="1600" dirty="0"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718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433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14825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81025" y="485775"/>
            <a:ext cx="1158144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Traditional Image Processing Pipelines</a:t>
            </a:r>
            <a:endParaRPr sz="1600"/>
          </a:p>
        </p:txBody>
      </p:sp>
      <p:sp>
        <p:nvSpPr>
          <p:cNvPr id="128" name="Google Shape;128;p16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FAFFAB-B510-4D92-B793-B1ED6D0DA9F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646"/>
          <a:stretch/>
        </p:blipFill>
        <p:spPr>
          <a:xfrm>
            <a:off x="508000" y="1279134"/>
            <a:ext cx="9134924" cy="5213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64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05302" y="1804987"/>
            <a:ext cx="559069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 dirty="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Evolution of Feature Pipelines</a:t>
            </a:r>
            <a:endParaRPr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581025" y="2257425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transition to deep representation learning removed human feature templates from the training loop entirely.</a:t>
            </a:r>
            <a:endParaRPr dirty="0"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1248" y="1171575"/>
            <a:ext cx="5505450" cy="491267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14400" y="3138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Classical ML: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Requires engineers to hand-craft visual descriptor matrices (HOG, SIFT) before classifying with SVMs.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14400" y="37099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Learning: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Uses convolutional layer hierarchies to automatically detect raw edges, midpoint textures, and global semantic shapes.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14400" y="4281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Unified Grid: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Merges features and classifier layers into an end-to-end backpropagation loop.</a:t>
            </a:r>
            <a:endParaRPr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71825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7433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31482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Machine Learning vs. Deep Learning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/>
          <p:nvPr/>
        </p:nvSpPr>
        <p:spPr>
          <a:xfrm>
            <a:off x="5715000" y="2805112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2490549" y="3033712"/>
            <a:ext cx="7210901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Core Computer Vision Fields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2295525" y="3900487"/>
            <a:ext cx="7600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detailed inspection of standard detection, tracking, reconstruction, and biometric analytical modalities.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5200" y="3604072"/>
            <a:ext cx="6146800" cy="3253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64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81025" y="2176462"/>
            <a:ext cx="559069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Understanding Spatial Resolution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81025" y="2566987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Computer vision tasks are defined by their structural precision and spatial granularity across image grids.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14400" y="3138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Classification: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Determines global image semantic categories (e.g., predicting a single "cat" label).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14400" y="37099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 Detection: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Draws bounding coordinates around individual visual targets.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14400" y="4281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Semantic Segmentation: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Assigns labels to every pixel to outline clean silhouettes.</a:t>
            </a:r>
            <a:endParaRPr/>
          </a:p>
        </p:txBody>
      </p:sp>
      <p:pic>
        <p:nvPicPr>
          <p:cNvPr id="166" name="Google Shape;16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718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433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14825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Classification, Detection &amp; Segmentation</a:t>
            </a:r>
            <a:endParaRPr dirty="0"/>
          </a:p>
        </p:txBody>
      </p:sp>
      <p:sp>
        <p:nvSpPr>
          <p:cNvPr id="170" name="Google Shape;170;p19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Difference in Image Classification, Semantic Segmentation, Object Detection,  and Instance Segmentation : r/learnmachinelearning">
            <a:extLst>
              <a:ext uri="{FF2B5EF4-FFF2-40B4-BE49-F238E27FC236}">
                <a16:creationId xmlns:a16="http://schemas.microsoft.com/office/drawing/2014/main" id="{D1A80658-577E-49FD-B59B-73EFA40C7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723" y="2389635"/>
            <a:ext cx="5762625" cy="2727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64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581025" y="2176462"/>
            <a:ext cx="559069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Temporal Association Over Time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81025" y="2566987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 Tracking links localized detections across consecutive frames to maintain distinct identities over time.</a:t>
            </a:r>
            <a:endParaRPr/>
          </a:p>
        </p:txBody>
      </p:sp>
      <p:pic>
        <p:nvPicPr>
          <p:cNvPr id="179" name="Google Shape;17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61245"/>
            <a:ext cx="53054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914400" y="3138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Temporal ID Association: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Connects bounding coordinates dynamically across changing frames.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14400" y="37099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Surveillance Monitoring: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Vital for counting people, analyzing traffic, and detecting anomalies.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914400" y="4281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Algorithms: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Combines Kalman Filters, Hungarian matching, and Deep SORT feature networks.</a:t>
            </a:r>
            <a:endParaRPr/>
          </a:p>
        </p:txBody>
      </p:sp>
      <p:pic>
        <p:nvPicPr>
          <p:cNvPr id="183" name="Google Shape;18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71825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743325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314825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Multi-Object Video Tracking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2" descr="Multiple object tracking with YOLOv3+central tracker - YouTube">
            <a:extLst>
              <a:ext uri="{FF2B5EF4-FFF2-40B4-BE49-F238E27FC236}">
                <a16:creationId xmlns:a16="http://schemas.microsoft.com/office/drawing/2014/main" id="{C67ED003-07E7-4F1A-87D6-2DA8A24EE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32" r="27933"/>
          <a:stretch/>
        </p:blipFill>
        <p:spPr bwMode="auto">
          <a:xfrm>
            <a:off x="6455229" y="3294969"/>
            <a:ext cx="2982804" cy="316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64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581025" y="2176462"/>
            <a:ext cx="559069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High-Dimensional Coordinate Vectors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81025" y="2566987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Face mesh trackers analyze facial topology in real-time, mapping coordinates to identify expressions and verify biometrics.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914400" y="3138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Dense Geometry Mesh:</a:t>
            </a:r>
            <a:r>
              <a:rPr lang="en-US" sz="11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Fits hundreds of 3D virtual markers onto facial features like the mouth, nose, and eyes.</a:t>
            </a:r>
            <a:endParaRPr dirty="0"/>
          </a:p>
        </p:txBody>
      </p:sp>
      <p:sp>
        <p:nvSpPr>
          <p:cNvPr id="198" name="Google Shape;198;p21"/>
          <p:cNvSpPr txBox="1"/>
          <p:nvPr/>
        </p:nvSpPr>
        <p:spPr>
          <a:xfrm>
            <a:off x="914400" y="37099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Biometric Verification: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Calculates spatial ratios to accurately distinguish individual users.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914400" y="4281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Expression Analysis: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Interprets deformation patterns to gauge user emotions in real-time.</a:t>
            </a:r>
            <a:endParaRPr/>
          </a:p>
        </p:txBody>
      </p:sp>
      <p:pic>
        <p:nvPicPr>
          <p:cNvPr id="200" name="Google Shape;20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43325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1482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Biometrics &amp; Face Mesh Landmark Tracking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Picture 6" descr="Face Recognition · datadocs">
            <a:extLst>
              <a:ext uri="{FF2B5EF4-FFF2-40B4-BE49-F238E27FC236}">
                <a16:creationId xmlns:a16="http://schemas.microsoft.com/office/drawing/2014/main" id="{9E1FAAFC-EEF5-4402-94C1-EDF350B3C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4598" y="2372106"/>
            <a:ext cx="5223691" cy="274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64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581025" y="2176462"/>
            <a:ext cx="559069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Translating Handwriting to Digitized Text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81025" y="2566987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Optical Character Recognition (OCR) converts printed, typed, or handwritten letters into machine-encoded text streams.</a:t>
            </a:r>
            <a:endParaRPr/>
          </a:p>
        </p:txBody>
      </p:sp>
      <p:pic>
        <p:nvPicPr>
          <p:cNvPr id="212" name="Google Shape;21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185987"/>
            <a:ext cx="53054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914400" y="3138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Handwriting Challenges:</a:t>
            </a:r>
            <a:r>
              <a:rPr lang="en-US" sz="11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Evaluates highly variable strokes and continuous cursive letters.</a:t>
            </a:r>
            <a:endParaRPr dirty="0"/>
          </a:p>
        </p:txBody>
      </p:sp>
      <p:sp>
        <p:nvSpPr>
          <p:cNvPr id="214" name="Google Shape;214;p22"/>
          <p:cNvSpPr txBox="1"/>
          <p:nvPr/>
        </p:nvSpPr>
        <p:spPr>
          <a:xfrm>
            <a:off x="914400" y="37099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Text Layout Analysis:</a:t>
            </a:r>
            <a:r>
              <a:rPr lang="en-US" sz="11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Segments document structures into zones, columns, lines, and individual characters.</a:t>
            </a:r>
            <a:endParaRPr dirty="0"/>
          </a:p>
        </p:txBody>
      </p:sp>
      <p:sp>
        <p:nvSpPr>
          <p:cNvPr id="215" name="Google Shape;215;p22"/>
          <p:cNvSpPr txBox="1"/>
          <p:nvPr/>
        </p:nvSpPr>
        <p:spPr>
          <a:xfrm>
            <a:off x="914400" y="4281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NLP Integration:</a:t>
            </a:r>
            <a:r>
              <a:rPr lang="en-US" sz="11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Feeds digitized text directly to downstream language models for automated parsing.</a:t>
            </a:r>
            <a:endParaRPr dirty="0"/>
          </a:p>
        </p:txBody>
      </p:sp>
      <p:pic>
        <p:nvPicPr>
          <p:cNvPr id="216" name="Google Shape;21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1718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7433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314825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Optical Character Recognition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76462"/>
            <a:ext cx="53244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581025" y="2176462"/>
            <a:ext cx="559069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Skeletal Keypoint Graph Mapping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81025" y="2566987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Pose estimation models extract skeleton graph structures from human figures to monitor posture, actions, and movement mechanics.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914400" y="3138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Joint Coordinates:</a:t>
            </a:r>
            <a:r>
              <a:rPr lang="en-US" sz="11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Isolates key human anatomical junctions (shoulders, elbows, knees, ankles).</a:t>
            </a:r>
            <a:endParaRPr dirty="0"/>
          </a:p>
        </p:txBody>
      </p:sp>
      <p:sp>
        <p:nvSpPr>
          <p:cNvPr id="231" name="Google Shape;231;p23"/>
          <p:cNvSpPr txBox="1"/>
          <p:nvPr/>
        </p:nvSpPr>
        <p:spPr>
          <a:xfrm>
            <a:off x="914400" y="37099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Spatial Skeletal Graph:</a:t>
            </a:r>
            <a:r>
              <a:rPr lang="en-US" sz="11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Connects extracted </a:t>
            </a:r>
            <a:r>
              <a:rPr lang="en-US" sz="1125" b="0" i="0" u="none" strike="noStrike" cap="none" dirty="0" err="1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keypoints</a:t>
            </a:r>
            <a:r>
              <a:rPr lang="en-US" sz="1125" b="0" i="0" u="none" strike="noStrike" cap="none" dirty="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with coordinate vectors to model current posture.</a:t>
            </a:r>
            <a:endParaRPr dirty="0"/>
          </a:p>
        </p:txBody>
      </p:sp>
      <p:sp>
        <p:nvSpPr>
          <p:cNvPr id="232" name="Google Shape;232;p23"/>
          <p:cNvSpPr txBox="1"/>
          <p:nvPr/>
        </p:nvSpPr>
        <p:spPr>
          <a:xfrm>
            <a:off x="914400" y="4281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 Cases: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Powers athletic analysis, gesture control systems, and clinical movement therapy.</a:t>
            </a:r>
            <a:endParaRPr/>
          </a:p>
        </p:txBody>
      </p:sp>
      <p:pic>
        <p:nvPicPr>
          <p:cNvPr id="233" name="Google Shape;23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718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43325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14825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Human Pose Estimation &amp; Biomechanics</a:t>
            </a:r>
            <a:endParaRPr dirty="0"/>
          </a:p>
        </p:txBody>
      </p:sp>
      <p:sp>
        <p:nvSpPr>
          <p:cNvPr id="237" name="Google Shape;237;p23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Best Pose Estimation Models &amp; How to Deploy Them">
            <a:extLst>
              <a:ext uri="{FF2B5EF4-FFF2-40B4-BE49-F238E27FC236}">
                <a16:creationId xmlns:a16="http://schemas.microsoft.com/office/drawing/2014/main" id="{1218316E-B830-479A-B3C5-5217E6AAB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748" y="1226516"/>
            <a:ext cx="4905375" cy="268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uman Pose Estimation for Fitness &amp; Sports Apps">
            <a:extLst>
              <a:ext uri="{FF2B5EF4-FFF2-40B4-BE49-F238E27FC236}">
                <a16:creationId xmlns:a16="http://schemas.microsoft.com/office/drawing/2014/main" id="{37CD68F4-5B7E-436D-A431-1E9BB88E0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748" y="3929573"/>
            <a:ext cx="4749362" cy="268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1400" y="2000250"/>
            <a:ext cx="4229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71500" y="2601366"/>
            <a:ext cx="666083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Depth Estimation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71500" y="3087141"/>
            <a:ext cx="6343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Measures the </a:t>
            </a:r>
            <a:r>
              <a:rPr lang="en-US" sz="165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distance of objects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 a 2D image to reconstruct a 3D environment mapping.</a:t>
            </a:r>
            <a:endParaRPr/>
          </a:p>
        </p:txBody>
      </p:sp>
      <p:pic>
        <p:nvPicPr>
          <p:cNvPr id="129" name="Google Shape;12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00925" y="2009775"/>
            <a:ext cx="42100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914400" y="3882419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952500" y="3883372"/>
            <a:ext cx="59626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Essential for </a:t>
            </a:r>
            <a:r>
              <a:rPr lang="en-US" sz="165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AR (Augmented Reality)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placement.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914400" y="4175760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952500" y="4176712"/>
            <a:ext cx="59626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Powering </a:t>
            </a:r>
            <a:r>
              <a:rPr lang="en-US" sz="165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Robotic Navigation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collision avoidance.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14400" y="4469100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52500" y="4470052"/>
            <a:ext cx="59626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Visualized through "Depth Heatmaps" where color indicates proximity.</a:t>
            </a:r>
            <a:endParaRPr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SPATIAL UNDERSTANDING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2672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352" y="2313682"/>
            <a:ext cx="3492549" cy="3291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13682"/>
            <a:ext cx="3492549" cy="343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13682"/>
            <a:ext cx="3492549" cy="3183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0525" y="263753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784223" y="3285232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Zero-Shot Learning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57250" y="3828157"/>
            <a:ext cx="2921049" cy="1777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Detecting objects 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model was </a:t>
            </a:r>
            <a:r>
              <a:rPr lang="en-US" sz="1650" b="1" i="0" u="none" strike="noStrike" cap="none" dirty="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never trained on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by using semantic relationships and general knowledge.</a:t>
            </a:r>
            <a:endParaRPr dirty="0"/>
          </a:p>
        </p:txBody>
      </p:sp>
      <p:pic>
        <p:nvPicPr>
          <p:cNvPr id="149" name="Google Shape;14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6375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4562523" y="3285232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Feature Extraction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635549" y="3828157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Converting visual patterns into </a:t>
            </a:r>
            <a:r>
              <a:rPr lang="en-US" sz="1650" b="1" i="0" u="none" strike="noStrike" cap="none" dirty="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numerical vectors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complex tasks like facial recognition and biometric security.</a:t>
            </a:r>
            <a:endParaRPr dirty="0"/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699" y="26375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8340822" y="3285232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Mask Generation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413849" y="3828157"/>
            <a:ext cx="292104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Automated isolation of subjects to create </a:t>
            </a:r>
            <a:r>
              <a:rPr lang="en-US" sz="1650" b="1" i="0" u="none" strike="noStrike" cap="non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binary cutouts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enabling instant object removal or backdrop changes.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8232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ADVANCED AI TECHNIQUES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20"/>
          <p:cNvGraphicFramePr/>
          <p:nvPr/>
        </p:nvGraphicFramePr>
        <p:xfrm>
          <a:off x="571500" y="1714500"/>
          <a:ext cx="11049000" cy="47965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26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CV Task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 Visual Output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A3E63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Real-World Application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Image Classification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Single Subject Label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Automated Photo Sorting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Object Detection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Bounding Boxes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Traffic &amp; Security Monitoring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Image Segmentation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Pixel-Level Mask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Medical Diagnostics &amp; MRI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Depth Estimation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Distance Mapping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Autonomous Drone Navigation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Keypoint Detection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Skeleton/Landmarks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Fitness Tracking &amp; CGI Mo-Cap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 Extraction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Mathematical Vectors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Facial Recognition Systems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" name="Google Shape;174;p20"/>
          <p:cNvSpPr/>
          <p:nvPr/>
        </p:nvSpPr>
        <p:spPr>
          <a:xfrm>
            <a:off x="571500" y="2379315"/>
            <a:ext cx="3264991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836491" y="2379315"/>
            <a:ext cx="3317230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153721" y="2379315"/>
            <a:ext cx="4466778" cy="1905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71500" y="3077467"/>
            <a:ext cx="3264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836491" y="3077467"/>
            <a:ext cx="33172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153721" y="3077467"/>
            <a:ext cx="44667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71500" y="3761333"/>
            <a:ext cx="3264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3836491" y="3761333"/>
            <a:ext cx="33172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153721" y="3761333"/>
            <a:ext cx="44667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71500" y="4445198"/>
            <a:ext cx="3264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836491" y="4445198"/>
            <a:ext cx="33172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153721" y="4445198"/>
            <a:ext cx="44667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71500" y="5129063"/>
            <a:ext cx="3264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836491" y="5129063"/>
            <a:ext cx="33172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153721" y="5129063"/>
            <a:ext cx="44667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71500" y="5812928"/>
            <a:ext cx="3264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836491" y="5812928"/>
            <a:ext cx="33172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7153721" y="5812928"/>
            <a:ext cx="44667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71500" y="6496794"/>
            <a:ext cx="32649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836491" y="6496794"/>
            <a:ext cx="331723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7153721" y="6496794"/>
            <a:ext cx="44667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CV TASK SUMMARY TABLE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489198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*Estimated adoption based on current enterprise AI deployment trends.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INDUSTRY ADOPTION RATE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581025" y="2176462"/>
            <a:ext cx="559069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Real-Time Processing Standard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581025" y="2566987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OpenCV is the premier open-source tool for computer vision, offering highly optimized image processing functions.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914400" y="3138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C++ Core Backend: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High-performance base framework wrapped in easy-to-use Python APIs.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914400" y="37099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Installation Setup: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Run `pip install opencv-python` in your terminal to quickly start local development.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914400" y="4281487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Versatility: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Seamlessly handles file input/output, camera feeds, matrix math, and neural net execution.</a:t>
            </a:r>
            <a:endParaRPr/>
          </a:p>
        </p:txBody>
      </p:sp>
      <p:pic>
        <p:nvPicPr>
          <p:cNvPr id="275" name="Google Shape;27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71825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43325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14825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OpenCV Development Library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Picture 2" descr="OpenCV: An Excellent Tool for Computer Vision - opensourceforu">
            <a:extLst>
              <a:ext uri="{FF2B5EF4-FFF2-40B4-BE49-F238E27FC236}">
                <a16:creationId xmlns:a16="http://schemas.microsoft.com/office/drawing/2014/main" id="{F0151FEF-293C-49F9-B0B2-9BBF111D9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348" y="2795587"/>
            <a:ext cx="3967252" cy="2029968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 txBox="1"/>
          <p:nvPr/>
        </p:nvSpPr>
        <p:spPr>
          <a:xfrm>
            <a:off x="581025" y="2130623"/>
            <a:ext cx="559069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Standard Pipeline Steps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581025" y="2521148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foundational OpenCV Python script that reads an image, transforms it to grayscale, and displays the output: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914400" y="3121223"/>
            <a:ext cx="49911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cv2.imread: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Loads the file into memory as a NumPy matrix.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914400" y="3478410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cv2.cvtColor: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Transforms the BGR array into a single-channel grayscale matrix.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914400" y="4049910"/>
            <a:ext cx="49911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cv2.imshow: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Opens a native rendering window to display the output.</a:t>
            </a:r>
            <a:endParaRPr/>
          </a:p>
        </p:txBody>
      </p:sp>
      <p:pic>
        <p:nvPicPr>
          <p:cNvPr id="290" name="Google Shape;29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5456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11748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83248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Writing Grayscale Transforms in OpenCV</a:t>
            </a:r>
            <a:endParaRPr/>
          </a:p>
        </p:txBody>
      </p:sp>
      <p:sp>
        <p:nvSpPr>
          <p:cNvPr id="294" name="Google Shape;294;p27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581025" y="1824037"/>
            <a:ext cx="110299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81025" y="2633662"/>
            <a:ext cx="110299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81025" y="3443287"/>
            <a:ext cx="110299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581025" y="4252912"/>
            <a:ext cx="110299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581025" y="2624137"/>
            <a:ext cx="11029950" cy="9525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581025" y="2624137"/>
            <a:ext cx="11029950" cy="9525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581025" y="3433762"/>
            <a:ext cx="11029950" cy="9525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581025" y="3433762"/>
            <a:ext cx="11029950" cy="9525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581025" y="4243387"/>
            <a:ext cx="11029950" cy="9525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581025" y="4243387"/>
            <a:ext cx="11029950" cy="9525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9"/>
          <p:cNvSpPr/>
          <p:nvPr/>
        </p:nvSpPr>
        <p:spPr>
          <a:xfrm>
            <a:off x="581025" y="5053012"/>
            <a:ext cx="11029950" cy="9525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581025" y="5053012"/>
            <a:ext cx="11029950" cy="9525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38337"/>
            <a:ext cx="10477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9"/>
          <p:cNvSpPr txBox="1"/>
          <p:nvPr/>
        </p:nvSpPr>
        <p:spPr>
          <a:xfrm>
            <a:off x="1914525" y="2007393"/>
            <a:ext cx="96964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Ecosystem Relationship Diagram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1914525" y="2269331"/>
            <a:ext cx="9696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 query: artificial intelligence computer vision machine learning deep learning relationship diagram</a:t>
            </a:r>
            <a:endParaRPr/>
          </a:p>
        </p:txBody>
      </p:sp>
      <p:pic>
        <p:nvPicPr>
          <p:cNvPr id="324" name="Google Shape;324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747962"/>
            <a:ext cx="10477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9"/>
          <p:cNvSpPr txBox="1"/>
          <p:nvPr/>
        </p:nvSpPr>
        <p:spPr>
          <a:xfrm>
            <a:off x="1914525" y="2817018"/>
            <a:ext cx="96964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Connected Components Pipeline Step-by-Step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1914525" y="3078956"/>
            <a:ext cx="9696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 query: connected components labeling thresholding pipeline diagram</a:t>
            </a:r>
            <a:endParaRPr/>
          </a:p>
        </p:txBody>
      </p:sp>
      <p:pic>
        <p:nvPicPr>
          <p:cNvPr id="327" name="Google Shape;327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557587"/>
            <a:ext cx="10477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1914525" y="3626643"/>
            <a:ext cx="96964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Extraction vs Deep Learning Cat Classification Diagram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1914525" y="3888581"/>
            <a:ext cx="9696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 query: machine learning feature extraction vs deep learning end to end neural network cat classification diagram</a:t>
            </a:r>
            <a:endParaRPr/>
          </a:p>
        </p:txBody>
      </p:sp>
      <p:pic>
        <p:nvPicPr>
          <p:cNvPr id="330" name="Google Shape;330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67212"/>
            <a:ext cx="10477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9"/>
          <p:cNvSpPr txBox="1"/>
          <p:nvPr/>
        </p:nvSpPr>
        <p:spPr>
          <a:xfrm>
            <a:off x="1914525" y="4436268"/>
            <a:ext cx="96964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Video Tracking Analysis Frame Overlay</a:t>
            </a:r>
            <a:endParaRPr/>
          </a:p>
        </p:txBody>
      </p:sp>
      <p:sp>
        <p:nvSpPr>
          <p:cNvPr id="332" name="Google Shape;332;p29"/>
          <p:cNvSpPr txBox="1"/>
          <p:nvPr/>
        </p:nvSpPr>
        <p:spPr>
          <a:xfrm>
            <a:off x="1914525" y="4698206"/>
            <a:ext cx="9696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 query: multi object tracking camera surveillance frame</a:t>
            </a:r>
            <a:endParaRPr/>
          </a:p>
        </p:txBody>
      </p:sp>
      <p:pic>
        <p:nvPicPr>
          <p:cNvPr id="333" name="Google Shape;333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176837"/>
            <a:ext cx="10477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9"/>
          <p:cNvSpPr txBox="1"/>
          <p:nvPr/>
        </p:nvSpPr>
        <p:spPr>
          <a:xfrm>
            <a:off x="1914525" y="5245893"/>
            <a:ext cx="969645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Handwritten Optical Character Recognition Steps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1914525" y="5507831"/>
            <a:ext cx="9696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 query: handwritten optical character recognition process diagram</a:t>
            </a:r>
            <a:endParaRPr/>
          </a:p>
        </p:txBody>
      </p:sp>
      <p:sp>
        <p:nvSpPr>
          <p:cNvPr id="336" name="Google Shape;336;p29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Asset Sources</a:t>
            </a:r>
            <a:endParaRPr/>
          </a:p>
        </p:txBody>
      </p:sp>
      <p:sp>
        <p:nvSpPr>
          <p:cNvPr id="337" name="Google Shape;337;p29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0"/>
          <p:cNvSpPr/>
          <p:nvPr/>
        </p:nvSpPr>
        <p:spPr>
          <a:xfrm>
            <a:off x="581025" y="1833562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581025" y="260508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581025" y="3376612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581025" y="4148137"/>
            <a:ext cx="110299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581025" y="25955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581025" y="25955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581025" y="33670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581025" y="33670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581025" y="41386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581025" y="41386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581025" y="50815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581025" y="50815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9764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 txBox="1"/>
          <p:nvPr/>
        </p:nvSpPr>
        <p:spPr>
          <a:xfrm>
            <a:off x="1676400" y="198358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https://osu-wams-blogs-uploads.s3.amazonaws.com/blogs.dir/2115/files/2024/12/Artifical-Intelligence-1.png</a:t>
            </a:r>
            <a:endParaRPr/>
          </a:p>
        </p:txBody>
      </p:sp>
      <p:sp>
        <p:nvSpPr>
          <p:cNvPr id="356" name="Google Shape;356;p30"/>
          <p:cNvSpPr txBox="1"/>
          <p:nvPr/>
        </p:nvSpPr>
        <p:spPr>
          <a:xfrm>
            <a:off x="1676400" y="221694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blogs.oregonstate.edu</a:t>
            </a:r>
            <a:endParaRPr/>
          </a:p>
        </p:txBody>
      </p:sp>
      <p:pic>
        <p:nvPicPr>
          <p:cNvPr id="357" name="Google Shape;35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479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0"/>
          <p:cNvSpPr txBox="1"/>
          <p:nvPr/>
        </p:nvSpPr>
        <p:spPr>
          <a:xfrm>
            <a:off x="1676400" y="275510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https://www.mdpi.com/sensors/sensors-25-03011/article_deploy/html/images/sensors-25-03011-g005-550.jpg</a:t>
            </a:r>
            <a:endParaRPr/>
          </a:p>
        </p:txBody>
      </p:sp>
      <p:sp>
        <p:nvSpPr>
          <p:cNvPr id="359" name="Google Shape;359;p30"/>
          <p:cNvSpPr txBox="1"/>
          <p:nvPr/>
        </p:nvSpPr>
        <p:spPr>
          <a:xfrm>
            <a:off x="1676400" y="298846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www.mdpi.com</a:t>
            </a:r>
            <a:endParaRPr/>
          </a:p>
        </p:txBody>
      </p:sp>
      <p:pic>
        <p:nvPicPr>
          <p:cNvPr id="360" name="Google Shape;36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5194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0"/>
          <p:cNvSpPr txBox="1"/>
          <p:nvPr/>
        </p:nvSpPr>
        <p:spPr>
          <a:xfrm>
            <a:off x="1676400" y="352663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https://miro.medium.com/v2/resize:fit:1400/1*auECAV4SSFoSwVtl33mcaA.png</a:t>
            </a:r>
            <a:endParaRPr/>
          </a:p>
        </p:txBody>
      </p:sp>
      <p:sp>
        <p:nvSpPr>
          <p:cNvPr id="362" name="Google Shape;362;p30"/>
          <p:cNvSpPr txBox="1"/>
          <p:nvPr/>
        </p:nvSpPr>
        <p:spPr>
          <a:xfrm>
            <a:off x="1676400" y="375999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medium.com</a:t>
            </a:r>
            <a:endParaRPr/>
          </a:p>
        </p:txBody>
      </p:sp>
      <p:pic>
        <p:nvPicPr>
          <p:cNvPr id="363" name="Google Shape;363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3767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0"/>
          <p:cNvSpPr txBox="1"/>
          <p:nvPr/>
        </p:nvSpPr>
        <p:spPr>
          <a:xfrm>
            <a:off x="1676400" y="4291012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https://i.ytimg.com/vi/oBL84CeLwKk/hq720.jpg?sqp=-oaymwE7CK4FEIIDSFryq4qpAy0IARUAAAAAGAElAADIQj0AgKJD8AEB-AH-CYAC0AWKAgwIABABGGUgZShlMA8=&amp;rs=AOn4CLBKuFskmNIhveFEyMS85C52WgkqWw</a:t>
            </a:r>
            <a:endParaRPr/>
          </a:p>
        </p:txBody>
      </p:sp>
      <p:sp>
        <p:nvSpPr>
          <p:cNvPr id="365" name="Google Shape;365;p30"/>
          <p:cNvSpPr txBox="1"/>
          <p:nvPr/>
        </p:nvSpPr>
        <p:spPr>
          <a:xfrm>
            <a:off x="1676400" y="4710112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www.youtube.com</a:t>
            </a:r>
            <a:endParaRPr/>
          </a:p>
        </p:txBody>
      </p:sp>
      <p:pic>
        <p:nvPicPr>
          <p:cNvPr id="366" name="Google Shape;366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52339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0"/>
          <p:cNvSpPr txBox="1"/>
          <p:nvPr/>
        </p:nvSpPr>
        <p:spPr>
          <a:xfrm>
            <a:off x="1676400" y="524113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https://www.labellerr.com/blog/content/images/2023/06/banner.webp</a:t>
            </a:r>
            <a:endParaRPr/>
          </a:p>
        </p:txBody>
      </p:sp>
      <p:sp>
        <p:nvSpPr>
          <p:cNvPr id="368" name="Google Shape;368;p30"/>
          <p:cNvSpPr txBox="1"/>
          <p:nvPr/>
        </p:nvSpPr>
        <p:spPr>
          <a:xfrm>
            <a:off x="1676400" y="547449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www.labellerr.com</a:t>
            </a:r>
            <a:endParaRPr/>
          </a:p>
        </p:txBody>
      </p:sp>
      <p:sp>
        <p:nvSpPr>
          <p:cNvPr id="369" name="Google Shape;369;p30"/>
          <p:cNvSpPr txBox="1"/>
          <p:nvPr/>
        </p:nvSpPr>
        <p:spPr>
          <a:xfrm>
            <a:off x="581025" y="4857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1F5F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581025" y="1057275"/>
            <a:ext cx="11029950" cy="19050"/>
          </a:xfrm>
          <a:prstGeom prst="rect">
            <a:avLst/>
          </a:prstGeom>
          <a:solidFill>
            <a:srgbClr val="1E2E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1214</Words>
  <Application>Microsoft Office PowerPoint</Application>
  <PresentationFormat>Widescreen</PresentationFormat>
  <Paragraphs>131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Calibri</vt:lpstr>
      <vt:lpstr>Poppins ExtraBold</vt:lpstr>
      <vt:lpstr>Poppins</vt:lpstr>
      <vt:lpstr>Plus Jakarta Sans</vt:lpstr>
      <vt:lpstr>Arial</vt:lpstr>
      <vt:lpstr>Urbanist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ahmed.abdelsatar@fci.bu.edu.eg</cp:lastModifiedBy>
  <cp:revision>7</cp:revision>
  <dcterms:modified xsi:type="dcterms:W3CDTF">2026-06-02T15:36:04Z</dcterms:modified>
</cp:coreProperties>
</file>