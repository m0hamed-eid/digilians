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71" r:id="rId4"/>
    <p:sldId id="258" r:id="rId5"/>
    <p:sldId id="270" r:id="rId6"/>
    <p:sldId id="259" r:id="rId7"/>
    <p:sldId id="260" r:id="rId8"/>
    <p:sldId id="272" r:id="rId9"/>
    <p:sldId id="261" r:id="rId10"/>
    <p:sldId id="269" r:id="rId11"/>
    <p:sldId id="262" r:id="rId12"/>
    <p:sldId id="263" r:id="rId13"/>
    <p:sldId id="273" r:id="rId14"/>
    <p:sldId id="266" r:id="rId15"/>
    <p:sldId id="267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JetBrains Mono" panose="020B0604020202020204" charset="0"/>
      <p:regular r:id="rId22"/>
      <p:bold r:id="rId23"/>
      <p:italic r:id="rId24"/>
      <p:boldItalic r:id="rId25"/>
    </p:embeddedFont>
    <p:embeddedFont>
      <p:font typeface="Urbanist" panose="020B0604020202020204" charset="0"/>
      <p:regular r:id="rId26"/>
      <p:bold r:id="rId27"/>
      <p:italic r:id="rId28"/>
      <p:boldItalic r:id="rId29"/>
    </p:embeddedFont>
    <p:embeddedFont>
      <p:font typeface="Urbanist Medium" panose="020B0604020202020204" charset="0"/>
      <p:regular r:id="rId30"/>
      <p:bold r:id="rId31"/>
      <p:italic r:id="rId32"/>
      <p:boldItalic r:id="rId33"/>
    </p:embeddedFont>
    <p:embeddedFont>
      <p:font typeface="Urbanist SemiBold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5A95C4-726D-4106-9DEF-5CFF3823784C}">
  <a:tblStyle styleId="{D15A95C4-726D-4106-9DEF-5CFF3823784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95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0" y="4640460"/>
            <a:ext cx="28575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700587" y="1417439"/>
            <a:ext cx="2790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DEEP LEARNING SERIES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85461" y="1798439"/>
            <a:ext cx="862107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Autoencoder Architectures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&amp; Generative Models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871787" y="3497460"/>
            <a:ext cx="64484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Feature Extraction, Denoising, and Variational Synthesis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57750" y="5011935"/>
            <a:ext cx="2476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Dr. Ahmed Yousry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05136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Anatomy of an Autoencoder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180513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Information Bottleneck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357586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Autoencoders are multi-layer neural networks designed to reconstruct their own input through a compressed representation.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3405336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Layer L1 (Input):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High-dimensional data features.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38339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Layer L2 (Code):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bottleneck layer with reduced units, forcing the capture of "essential structure".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4548336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Layer L3 (Output):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Reconstruction of L1, aiming for 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0533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3396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4833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61831" y="4591719"/>
            <a:ext cx="400794" cy="198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1D3F49-ADEF-468A-A267-6C771E95B1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3168" y="1443186"/>
            <a:ext cx="5355432" cy="4781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algorithm&#10;&#10;AI-generated content may be incorrect.">
            <a:extLst>
              <a:ext uri="{FF2B5EF4-FFF2-40B4-BE49-F238E27FC236}">
                <a16:creationId xmlns:a16="http://schemas.microsoft.com/office/drawing/2014/main" id="{DB028E40-7E8B-4D4A-AF7D-D6173B97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614"/>
            <a:ext cx="12192000" cy="647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7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19586"/>
            <a:ext cx="528637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19586"/>
            <a:ext cx="5286375" cy="83730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Reconstruction Optimization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180513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Function Definitions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357586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network systematically maps data back and forth using activation functions (e.g., Sigmoid or Tanh):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334125" y="180513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Objective Function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334125" y="2357586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Training minimizes the difference between input and output, often using Squared Error: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334125" y="4099768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Gradient descent is performed on this loss to learn weight parameters and biases .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847725" y="3510111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Encoder Activation: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7725" y="3872060"/>
            <a:ext cx="1600200" cy="26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47725" y="4386411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Decoder Reconstruction: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7725" y="4716659"/>
            <a:ext cx="1676400" cy="360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0349" y="3357711"/>
            <a:ext cx="2924175" cy="51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96300" y="4595068"/>
            <a:ext cx="179933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29687" y="4566493"/>
            <a:ext cx="952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paper with text and numbers&#10;&#10;AI-generated content may be incorrect.">
            <a:extLst>
              <a:ext uri="{FF2B5EF4-FFF2-40B4-BE49-F238E27FC236}">
                <a16:creationId xmlns:a16="http://schemas.microsoft.com/office/drawing/2014/main" id="{B6DFF957-F8A0-4F5D-9905-11C8C8A50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813" y="609600"/>
            <a:ext cx="8185059" cy="588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5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571500" y="1323677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Robust Feature Learning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2209502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Denoising (DAE) Architecture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90482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DAE is trained to reconstruct the original clean input from a stochastically corrupted version .</a:t>
            </a:r>
            <a:endParaRPr dirty="0"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0508" y="3019126"/>
            <a:ext cx="177526" cy="161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3165" y="3365772"/>
            <a:ext cx="223737" cy="204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904875" y="3857327"/>
            <a:ext cx="4619625" cy="3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Noise Injection: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Input is corrupted via a function 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904875" y="4300983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Latent Capture: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Forces the model to learn stable dependencies and "un-corrupt" the data.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904875" y="5015358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Reconstruction: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Loss is calculated between the predicted output and the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original clean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input.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573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86350" y="3971627"/>
            <a:ext cx="230981" cy="186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0098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1535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9235D37E-2E8A-4B76-9741-99567B5298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diagram of a training and reconstruction&#10;&#10;AI-generated content may be incorrect.">
            <a:extLst>
              <a:ext uri="{FF2B5EF4-FFF2-40B4-BE49-F238E27FC236}">
                <a16:creationId xmlns:a16="http://schemas.microsoft.com/office/drawing/2014/main" id="{3F980A09-FD68-4D0C-9363-72013156F6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500" y="1976485"/>
            <a:ext cx="6611382" cy="37616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945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05136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Stacked Autoencoders (SAE)</a:t>
            </a:r>
            <a:endParaRPr dirty="0"/>
          </a:p>
        </p:txBody>
      </p:sp>
      <p:sp>
        <p:nvSpPr>
          <p:cNvPr id="154" name="Google Shape;154;p17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180513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Greedy Training Strategy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2357586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SAEs form a deep hierarchy where each layer receives input from the latent code of the layer below.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04875" y="316721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Layer-wise Pre-training: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Each level is trained independently in an unsupervised fashion.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04875" y="3881586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Latent Transfer: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Once Layer 1 is trained, its encoder serves as input for Layer 2.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04875" y="45959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Weight Initialization: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This provides a superior starting point for deep networks.</a:t>
            </a:r>
            <a:endParaRPr/>
          </a:p>
        </p:txBody>
      </p:sp>
      <p:pic>
        <p:nvPicPr>
          <p:cNvPr id="161" name="Google Shape;16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6721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8158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15216" y="3938532"/>
            <a:ext cx="213255" cy="263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9596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2C77197-183F-48D0-A4BB-2659F220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260" y="2036844"/>
            <a:ext cx="6193783" cy="3341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4DCBFA-42F6-4060-9C3E-297FD50AC5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diagram of multiple rows of colorful dots&#10;&#10;AI-generated content may be incorrect.">
            <a:extLst>
              <a:ext uri="{FF2B5EF4-FFF2-40B4-BE49-F238E27FC236}">
                <a16:creationId xmlns:a16="http://schemas.microsoft.com/office/drawing/2014/main" id="{CAB93CDA-4F54-451E-8CE4-3DFD004B7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23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12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5136"/>
            <a:ext cx="3555950" cy="2821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805136"/>
            <a:ext cx="3555950" cy="2821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805136"/>
            <a:ext cx="3556099" cy="282178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Supervised Fine-Tuning</a:t>
            </a:r>
            <a:endParaRPr dirty="0"/>
          </a:p>
        </p:txBody>
      </p:sp>
      <p:sp>
        <p:nvSpPr>
          <p:cNvPr id="174" name="Google Shape;174;p18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500791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hybrid approach leverages unsupervised data structure to boost supervised accuracy.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66775" y="2836217"/>
            <a:ext cx="31136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Stack Encoders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66775" y="3283892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Compose the pre-trained encoders into a single multi-layer stack, discarding decoder weights.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613225" y="2836217"/>
            <a:ext cx="31136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Add Classifier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613225" y="3283892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Append a target output layer (e.g., Softmax) on top of the final encoder representation.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359675" y="2836217"/>
            <a:ext cx="311382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Global Tuning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359675" y="3283892"/>
            <a:ext cx="29655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Optimize the entire system using backpropagation to minimize supervised classification cost.</a:t>
            </a:r>
            <a:endParaRPr/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128986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12898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128986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iagram of different colored blocks&#10;&#10;AI-generated content may be incorrect.">
            <a:extLst>
              <a:ext uri="{FF2B5EF4-FFF2-40B4-BE49-F238E27FC236}">
                <a16:creationId xmlns:a16="http://schemas.microsoft.com/office/drawing/2014/main" id="{BA9FC815-5437-460E-BBED-3896A1C6B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709612"/>
            <a:ext cx="9582604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65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5136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658416" y="223986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Spatial Encoding via CAEs</a:t>
            </a:r>
            <a:endParaRPr dirty="0"/>
          </a:p>
        </p:txBody>
      </p:sp>
      <p:sp>
        <p:nvSpPr>
          <p:cNvPr id="192" name="Google Shape;192;p19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334125" y="180513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Convolutional Autoencoders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334125" y="2357586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Specifically designed for image data, replacing fully connected layers with convolution and pooling operators.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610350" y="3557736"/>
            <a:ext cx="477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Projection Operation: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0350" y="3919686"/>
            <a:ext cx="248855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6667500" y="4510236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Unpooling: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Inverting pooling by distributing values back across spatial locations.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667500" y="522461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Weights: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Filter weights are learned to extract visual patterns.</a:t>
            </a:r>
            <a:endParaRPr/>
          </a:p>
        </p:txBody>
      </p:sp>
      <p:pic>
        <p:nvPicPr>
          <p:cNvPr id="200" name="Google Shape;2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51023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22461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01075" y="5300811"/>
            <a:ext cx="285601" cy="176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diagram of a convolutions of a convolutions&#10;&#10;AI-generated content may be incorrect.">
            <a:extLst>
              <a:ext uri="{FF2B5EF4-FFF2-40B4-BE49-F238E27FC236}">
                <a16:creationId xmlns:a16="http://schemas.microsoft.com/office/drawing/2014/main" id="{CCC84E90-9FB8-407D-8898-392E149B15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919312"/>
            <a:ext cx="12192000" cy="598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05136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Probabilistic Synthesis: VAE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180513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Stochastic Latent Variables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2357586"/>
            <a:ext cx="5286375" cy="615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Unlike deterministic AEs, VAEs learn a probability distribution .</a:t>
            </a:r>
            <a:endParaRPr/>
          </a:p>
        </p:txBody>
      </p:sp>
      <p:pic>
        <p:nvPicPr>
          <p:cNvPr id="213" name="Google Shape;21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2193" y="1200447"/>
            <a:ext cx="5933926" cy="5019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10011"/>
            <a:ext cx="873769" cy="26268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904875" y="321081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Encoder Outputs: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Predicts both Mea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ar-EG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and Std Dev</a:t>
            </a:r>
            <a:r>
              <a:rPr lang="ar-EG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   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.</a:t>
            </a:r>
            <a:endParaRPr dirty="0"/>
          </a:p>
        </p:txBody>
      </p:sp>
      <p:sp>
        <p:nvSpPr>
          <p:cNvPr id="216" name="Google Shape;216;p20"/>
          <p:cNvSpPr txBox="1"/>
          <p:nvPr/>
        </p:nvSpPr>
        <p:spPr>
          <a:xfrm>
            <a:off x="904875" y="3639442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Sampling: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latent vector </a:t>
            </a:r>
            <a:r>
              <a:rPr lang="ar-EG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 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is sampled to feed the decoder.</a:t>
            </a:r>
            <a:endParaRPr dirty="0"/>
          </a:p>
        </p:txBody>
      </p:sp>
      <p:sp>
        <p:nvSpPr>
          <p:cNvPr id="217" name="Google Shape;217;p20"/>
          <p:cNvSpPr txBox="1"/>
          <p:nvPr/>
        </p:nvSpPr>
        <p:spPr>
          <a:xfrm>
            <a:off x="904875" y="435381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Generative Power: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Sampling from the latent space creates new, synthetic examples.</a:t>
            </a:r>
            <a:endParaRPr/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2108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14800" y="3325117"/>
            <a:ext cx="102244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38924" y="3250479"/>
            <a:ext cx="229789" cy="281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3944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33724" y="3754858"/>
            <a:ext cx="133351" cy="2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5381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variety of functions&#10;&#10;AI-generated content may be incorrect.">
            <a:extLst>
              <a:ext uri="{FF2B5EF4-FFF2-40B4-BE49-F238E27FC236}">
                <a16:creationId xmlns:a16="http://schemas.microsoft.com/office/drawing/2014/main" id="{8309E667-BF05-4F38-97A6-AC715F45A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941"/>
            <a:ext cx="12192000" cy="66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28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B82F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Architecture Comparison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9" name="Google Shape;269;p23"/>
          <p:cNvGraphicFramePr/>
          <p:nvPr>
            <p:extLst>
              <p:ext uri="{D42A27DB-BD31-4B8C-83A1-F6EECF244321}">
                <p14:modId xmlns:p14="http://schemas.microsoft.com/office/powerpoint/2010/main" val="1784902826"/>
              </p:ext>
            </p:extLst>
          </p:nvPr>
        </p:nvGraphicFramePr>
        <p:xfrm>
          <a:off x="571500" y="1995636"/>
          <a:ext cx="11049025" cy="2857500"/>
        </p:xfrm>
        <a:graphic>
          <a:graphicData uri="http://schemas.openxmlformats.org/drawingml/2006/table">
            <a:tbl>
              <a:tblPr firstRow="1" bandRow="1">
                <a:noFill/>
                <a:tableStyleId>{D15A95C4-726D-4106-9DEF-5CFF3823784C}</a:tableStyleId>
              </a:tblPr>
              <a:tblGrid>
                <a:gridCol w="313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Objective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Mechanism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AE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Dimensionality Reduction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Information Bottleneck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Denoising (DAE)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Robust Feature Extraction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Reconstruction from Noise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Convolutional (CAE)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Spatial Image Analysis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Conv/Pooling Layers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Variational (VAE)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Synthetic Data Generation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Probabilistic Sampling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0" name="Google Shape;270;p23"/>
          <p:cNvSpPr/>
          <p:nvPr/>
        </p:nvSpPr>
        <p:spPr>
          <a:xfrm>
            <a:off x="571500" y="2548086"/>
            <a:ext cx="313193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3703439" y="2548086"/>
            <a:ext cx="400198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7705427" y="2548086"/>
            <a:ext cx="391507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3133873"/>
            <a:ext cx="31319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703439" y="3133873"/>
            <a:ext cx="40019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7705427" y="3133873"/>
            <a:ext cx="39150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71500" y="3705373"/>
            <a:ext cx="31319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703439" y="3705373"/>
            <a:ext cx="40019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705427" y="3705373"/>
            <a:ext cx="39150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71500" y="4276873"/>
            <a:ext cx="31319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3703439" y="4276873"/>
            <a:ext cx="400198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7705427" y="4276873"/>
            <a:ext cx="39150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" y="-8007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4320778" y="2004119"/>
            <a:ext cx="3550443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2938462" y="2948880"/>
            <a:ext cx="63150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Deep Learning Series: Autoencoders &amp; Latent Spaces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4310062" y="4377630"/>
            <a:ext cx="35718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Dr. Ahmed Yousry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514</Words>
  <Application>Microsoft Office PowerPoint</Application>
  <PresentationFormat>Widescreen</PresentationFormat>
  <Paragraphs>69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JetBrains Mono</vt:lpstr>
      <vt:lpstr>Urbanist</vt:lpstr>
      <vt:lpstr>Calibri</vt:lpstr>
      <vt:lpstr>Urbanist Medium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Ahmed Yousry</cp:lastModifiedBy>
  <cp:revision>13</cp:revision>
  <dcterms:modified xsi:type="dcterms:W3CDTF">2026-07-20T13:06:19Z</dcterms:modified>
</cp:coreProperties>
</file>