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notesMasterIdLst>
    <p:notesMasterId r:id="rId19"/>
  </p:notesMasterIdLst>
  <p:sldIdLst>
    <p:sldId id="397" r:id="rId2"/>
    <p:sldId id="372" r:id="rId3"/>
    <p:sldId id="408" r:id="rId4"/>
    <p:sldId id="373" r:id="rId5"/>
    <p:sldId id="399" r:id="rId6"/>
    <p:sldId id="400" r:id="rId7"/>
    <p:sldId id="401" r:id="rId8"/>
    <p:sldId id="409" r:id="rId9"/>
    <p:sldId id="406" r:id="rId10"/>
    <p:sldId id="410" r:id="rId11"/>
    <p:sldId id="407" r:id="rId12"/>
    <p:sldId id="404" r:id="rId13"/>
    <p:sldId id="318" r:id="rId14"/>
    <p:sldId id="319" r:id="rId15"/>
    <p:sldId id="320" r:id="rId16"/>
    <p:sldId id="321" r:id="rId17"/>
    <p:sldId id="32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DAEA"/>
    <a:srgbClr val="000000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2099FE-BD50-44B8-AFFD-73D435E1F60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A9654C-E0E0-4709-B41A-97D0A8A2C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465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6B139-107E-409B-2ED4-D4A7DD4C5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1A52A-93FE-785E-2FA6-2FAEDC350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F14E7-9A9A-4F42-8931-10DE7C905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CFF7A-F30C-A6D9-3895-30612B80F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F90A2-3B62-6325-470A-B9B73EA93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648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69DA-E42A-FE27-AA41-731BF2052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59706-A550-C6E9-2720-CCB282CEC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20CA7-9C9A-0577-4CCD-3B87820F6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4383E-53DD-9D18-FC66-F2C5FF94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E639E-9C8E-E271-40E4-1C19C8C0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80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27F23-6EBB-5E3A-30D0-D948972C0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A5F3C-F325-379C-B4CA-0108AA6C9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DA449-FEEC-643B-9141-070D4A94D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BE56D-096C-E0A5-180D-02A6773F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F5F4F-7E6C-8842-D7E6-3F331FDB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917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6DB9F-C686-3FDA-8C23-FE9672E97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6D82F-B545-0F57-871B-B0D3E0AE4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4FC397-DA15-A6B6-C3B1-040DAD2EB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34DF6-DAD6-0A6C-C15A-E2CE1F6AB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2694A-D2A5-D287-CFF3-E6CFA0070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75350-79E3-62A1-BA99-47777829C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321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F5BEB-3BB7-9510-AC43-7603A6E62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BA45-26C3-EFE3-C70B-12B9C735A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CCCDA-CF94-D76F-FE8D-315A5E9BB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465874-5205-B359-3B7A-BA141F61D9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991210-59C7-9C12-7645-7567F15635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C59402-73BF-384F-8C22-742ABA88B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1C473C-376E-933E-4CDD-63D0596BA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869F79-D83E-A230-AC6B-14EA1EDF5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959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EA40C-46FF-F138-A81F-6594AEDFA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3D89BE-0076-61C4-2228-F37D0B5A1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878F3C-E92F-F7FD-7457-84D9EC10D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7360B0-9F7A-3F31-5FD8-5227DC5B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335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47AD4A-540A-390C-B2A0-10FF2477F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138C24-6E50-16FE-9199-C0884CCC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242A5-58B1-2A09-BAF7-831A0ED9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034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E3468-0DFC-1009-E8E1-9C49B5D50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CBE10-5665-6F86-E6B6-A73F1C0EF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528356-C29C-6313-AF1D-ADB1E5A82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6CB27-29DF-BD60-24EE-3BCF9D33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6F8643-E1BC-6E17-B879-BC99195B7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9D382-5555-B048-A326-EA3559709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381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79A6B-2CF1-39AE-15A7-BA13C15B9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7C3373-1EC9-E4B7-6811-9F5358792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09B7A5-F627-82B4-6EB7-4EC6BAAD49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F0924-9A1B-ADC7-8C25-31EA87FC3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42CC3-849C-1BB4-E9D5-7B8FB930D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189ED-E57A-B354-B83D-48ED9C9F0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413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BA469-1C75-CF6A-53BC-9C9D35B5B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319B9-1033-848C-A76C-699B343BE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6D228-3DFD-30BA-5759-323799AC0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4A193-9DC3-8403-8915-1ECB15D9D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38746-1675-A898-C3BA-D00B16911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447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40EC28-665D-BA5B-52B4-18F905411E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62566-2EDA-004B-AFC3-81E755CED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57600-E167-4DD2-97FF-B5DE6FCBE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83542-C3EB-2B0B-1AF7-5119932DC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93BAB-A4B8-CE77-B6D9-573117916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1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74364F-4A4B-7386-A435-22F321D8F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483A6-1F3F-7B65-8E8D-2AB48AF22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C05A4-6C72-63AF-337A-BC58AB896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88EB7-673A-EA28-C197-EC276A7899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2AE80-9F80-5AFE-CF88-CA7E60583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49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hyperlink" Target="https://github.com/facebookresearch/detectron2/blob/master/MODEL_ZOO.md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2841B8-39D1-60C9-71F3-BFD49476A6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5031" y="1380754"/>
            <a:ext cx="5561938" cy="2513516"/>
          </a:xfrm>
        </p:spPr>
        <p:txBody>
          <a:bodyPr>
            <a:normAutofit/>
          </a:bodyPr>
          <a:lstStyle/>
          <a:p>
            <a:r>
              <a:rPr lang="en-US" sz="56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</a:t>
            </a:r>
            <a:br>
              <a:rPr lang="en-US" sz="5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600" b="1">
                <a:latin typeface="Times New Roman" panose="02020603050405020304" pitchFamily="18" charset="0"/>
                <a:cs typeface="Times New Roman" panose="02020603050405020304" pitchFamily="18" charset="0"/>
              </a:rPr>
              <a:t>(CV)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633AC-863C-395F-7D50-076B7E4228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5031" y="4076802"/>
            <a:ext cx="5561938" cy="1534587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[RCNN Family]</a:t>
            </a:r>
          </a:p>
          <a:p>
            <a:endParaRPr lang="en-US" b="1"/>
          </a:p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Arc 91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20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0554"/>
            <a:ext cx="11353800" cy="821649"/>
          </a:xfrm>
        </p:spPr>
        <p:txBody>
          <a:bodyPr/>
          <a:lstStyle/>
          <a:p>
            <a:r>
              <a:rPr lang="en-US" b="1" cap="none" dirty="0">
                <a:solidFill>
                  <a:srgbClr val="FF0000"/>
                </a:solidFill>
              </a:rPr>
              <a:t>R-CNN for object detection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41052" y="1155897"/>
            <a:ext cx="11506199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ArialMT"/>
              </a:rPr>
              <a:t>• Scan the input image for possible objects using an algorithm called </a:t>
            </a:r>
            <a:r>
              <a:rPr lang="en-US" sz="2800" b="1" dirty="0">
                <a:solidFill>
                  <a:srgbClr val="FF0000"/>
                </a:solidFill>
                <a:latin typeface="Arial-BoldMT"/>
              </a:rPr>
              <a:t>Selective Search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ArialMT"/>
              </a:rPr>
              <a:t>enerating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Arial-BoldMT"/>
              </a:rPr>
              <a:t>~2000 region 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proposals.</a:t>
            </a:r>
          </a:p>
          <a:p>
            <a:endParaRPr lang="en-US" sz="2800" dirty="0">
              <a:solidFill>
                <a:srgbClr val="000000"/>
              </a:solidFill>
              <a:latin typeface="ArialMT"/>
            </a:endParaRPr>
          </a:p>
          <a:p>
            <a:r>
              <a:rPr lang="en-US" sz="2800" dirty="0">
                <a:solidFill>
                  <a:srgbClr val="000000"/>
                </a:solidFill>
                <a:latin typeface="ArialMT"/>
              </a:rPr>
              <a:t>• Run a convolutional neural net (CNN) on top of each of </a:t>
            </a:r>
            <a:r>
              <a:rPr lang="en-US" sz="2800" b="1" dirty="0">
                <a:solidFill>
                  <a:srgbClr val="000000"/>
                </a:solidFill>
                <a:latin typeface="ArialMT"/>
              </a:rPr>
              <a:t>these region 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proposals.</a:t>
            </a:r>
          </a:p>
          <a:p>
            <a:endParaRPr lang="en-US" sz="2800" dirty="0">
              <a:solidFill>
                <a:srgbClr val="000000"/>
              </a:solidFill>
              <a:latin typeface="ArialMT"/>
            </a:endParaRPr>
          </a:p>
          <a:p>
            <a:r>
              <a:rPr lang="en-US" sz="2800" dirty="0">
                <a:solidFill>
                  <a:srgbClr val="000000"/>
                </a:solidFill>
                <a:latin typeface="ArialMT"/>
              </a:rPr>
              <a:t>• Take the output of each CNN and feed it into </a:t>
            </a:r>
          </a:p>
          <a:p>
            <a:pPr marL="800100" lvl="1" indent="-342900">
              <a:buAutoNum type="alphaLcParenR"/>
            </a:pPr>
            <a:r>
              <a:rPr lang="en-US" sz="2400" b="1" dirty="0">
                <a:solidFill>
                  <a:srgbClr val="FF0000"/>
                </a:solidFill>
                <a:latin typeface="Arial-BoldMT"/>
              </a:rPr>
              <a:t>SVM </a:t>
            </a:r>
            <a:r>
              <a:rPr lang="en-US" sz="2400" dirty="0">
                <a:solidFill>
                  <a:srgbClr val="000000"/>
                </a:solidFill>
                <a:latin typeface="ArialMT"/>
              </a:rPr>
              <a:t>to classify the region</a:t>
            </a:r>
          </a:p>
          <a:p>
            <a:pPr marL="800100" lvl="1" indent="-342900">
              <a:buFontTx/>
              <a:buAutoNum type="alphaLcParenR"/>
            </a:pPr>
            <a:r>
              <a:rPr lang="en-US" sz="2400" b="1" dirty="0">
                <a:solidFill>
                  <a:srgbClr val="FF0000"/>
                </a:solidFill>
                <a:latin typeface="Arial-BoldMT"/>
              </a:rPr>
              <a:t>Linear regressor </a:t>
            </a:r>
            <a:r>
              <a:rPr lang="en-US" sz="2400" dirty="0">
                <a:solidFill>
                  <a:srgbClr val="000000"/>
                </a:solidFill>
                <a:latin typeface="ArialMT"/>
              </a:rPr>
              <a:t>to tighten the bounding box of the object if such an object exists.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67502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B30915-B1D0-4F6B-A0A3-C51D93B72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Selective Search Algorithm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7617BC-846B-45F8-8181-8837BA20E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Initial Segmentation</a:t>
            </a:r>
            <a:r>
              <a:rPr lang="en-US" dirty="0"/>
              <a:t>: Over-segments the image into thousands of tiny, initial starter regions.</a:t>
            </a:r>
          </a:p>
          <a:p>
            <a:r>
              <a:rPr lang="en-US" dirty="0"/>
              <a:t> </a:t>
            </a:r>
            <a:r>
              <a:rPr lang="en-US" b="1" dirty="0"/>
              <a:t>Similarity Calculation</a:t>
            </a:r>
            <a:r>
              <a:rPr lang="en-US" dirty="0"/>
              <a:t>: Measures how alike adjacent regions are based on color, texture, size, and shape fit.</a:t>
            </a:r>
          </a:p>
          <a:p>
            <a:r>
              <a:rPr lang="en-US" b="1" dirty="0"/>
              <a:t> Iterative Merging</a:t>
            </a:r>
            <a:r>
              <a:rPr lang="en-US" dirty="0"/>
              <a:t>: Continually merges the two most similar neighboring regions into a larger one.</a:t>
            </a:r>
          </a:p>
          <a:p>
            <a:r>
              <a:rPr lang="en-US" dirty="0"/>
              <a:t> </a:t>
            </a:r>
            <a:r>
              <a:rPr lang="en-US" b="1" dirty="0"/>
              <a:t>Hierarchical Grouping</a:t>
            </a:r>
            <a:r>
              <a:rPr lang="en-US" dirty="0"/>
              <a:t>: Repeats this merging process from the bottom up until the entire image is a single region.</a:t>
            </a:r>
          </a:p>
          <a:p>
            <a:r>
              <a:rPr lang="en-US" dirty="0"/>
              <a:t> </a:t>
            </a:r>
            <a:r>
              <a:rPr lang="en-US" b="1" dirty="0"/>
              <a:t>Proposal Generation</a:t>
            </a:r>
            <a:r>
              <a:rPr lang="en-US" dirty="0"/>
              <a:t>: Draws bounding boxes around every region created during the process, resulting in the ~2000 region proposals</a:t>
            </a:r>
          </a:p>
        </p:txBody>
      </p:sp>
    </p:spTree>
    <p:extLst>
      <p:ext uri="{BB962C8B-B14F-4D97-AF65-F5344CB8AC3E}">
        <p14:creationId xmlns:p14="http://schemas.microsoft.com/office/powerpoint/2010/main" val="3098564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672453-1675-A6E4-45B3-CD1F5EF48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28" y="1844974"/>
            <a:ext cx="10028582" cy="435708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AC1F003-6016-6643-FE83-4894705A131D}"/>
              </a:ext>
            </a:extLst>
          </p:cNvPr>
          <p:cNvSpPr txBox="1">
            <a:spLocks/>
          </p:cNvSpPr>
          <p:nvPr/>
        </p:nvSpPr>
        <p:spPr>
          <a:xfrm>
            <a:off x="0" y="232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0000"/>
                </a:solidFill>
              </a:rPr>
              <a:t>R-CNN Architecture</a:t>
            </a:r>
          </a:p>
        </p:txBody>
      </p:sp>
    </p:spTree>
    <p:extLst>
      <p:ext uri="{BB962C8B-B14F-4D97-AF65-F5344CB8AC3E}">
        <p14:creationId xmlns:p14="http://schemas.microsoft.com/office/powerpoint/2010/main" val="2959616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53E1C8-D2DB-3BB7-CD5A-FD83DA627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BCA79B-91F1-C848-5DF1-5B9947869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b="1" kern="1200" cap="none">
                <a:solidFill>
                  <a:schemeClr val="tx1"/>
                </a:solidFill>
                <a:latin typeface="+mj-lt"/>
                <a:ea typeface="+mj-ea"/>
                <a:cs typeface="+mj-cs"/>
              </a:rPr>
              <a:t>Fast R-CNN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707664-60D9-3512-41DD-4C009D329C76}"/>
              </a:ext>
            </a:extLst>
          </p:cNvPr>
          <p:cNvSpPr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• The purpose of the </a:t>
            </a:r>
            <a:r>
              <a:rPr lang="en-US" sz="2200" b="1" dirty="0"/>
              <a:t>Fast Region-based Convolutional Network </a:t>
            </a:r>
            <a:r>
              <a:rPr lang="en-US" sz="2200" dirty="0"/>
              <a:t>(Fast R-CNN) is to reduce the time consumption related to the high number of models necessary to analyze all region proposals.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• Performing feature extraction over the image before proposing regions, thus only running </a:t>
            </a:r>
            <a:r>
              <a:rPr lang="en-US" sz="2200" b="1" dirty="0"/>
              <a:t>one CNN </a:t>
            </a:r>
            <a:r>
              <a:rPr lang="en-US" sz="2200" dirty="0"/>
              <a:t>over the entire image instead of 2000 CNN’s over 2000 overlapping regions.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2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• Replacing the SVM with a </a:t>
            </a:r>
            <a:r>
              <a:rPr lang="en-US" sz="2200" dirty="0" err="1"/>
              <a:t>softmax</a:t>
            </a:r>
            <a:r>
              <a:rPr lang="en-US" sz="2200" dirty="0"/>
              <a:t> layer, thus extending the neural network for predictions instead of creating a new model.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EFD5B-2E96-0479-6CD9-7E14C2B58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680D392-614A-43D7-BA76-AB1FFE045AF8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451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6191D6-0415-4AC4-0061-A1EBB85EB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0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8FED6B6-0F7C-0E81-09D1-055D1B7CED1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8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Fast R-CNN Architecture</a:t>
            </a:r>
          </a:p>
        </p:txBody>
      </p:sp>
      <p:pic>
        <p:nvPicPr>
          <p:cNvPr id="5" name="Picture 2" descr="2) Fast R-CNN - 한땀한땀 딥러닝 컴퓨터 비전 백과사전">
            <a:extLst>
              <a:ext uri="{FF2B5EF4-FFF2-40B4-BE49-F238E27FC236}">
                <a16:creationId xmlns:a16="http://schemas.microsoft.com/office/drawing/2014/main" id="{D4B4F654-9726-F4C3-0EFD-B465D903FD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1234" y="2535188"/>
            <a:ext cx="5828261" cy="359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Fast R-CNN | ML - GeeksforGeeks">
            <a:extLst>
              <a:ext uri="{FF2B5EF4-FFF2-40B4-BE49-F238E27FC236}">
                <a16:creationId xmlns:a16="http://schemas.microsoft.com/office/drawing/2014/main" id="{17A09B65-EC5D-4E6C-B9E2-D99F54CC6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82505" y="3147155"/>
            <a:ext cx="5828261" cy="2375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876B-F23B-EE1B-B365-A3CAA55FB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680D392-614A-43D7-BA76-AB1FFE045AF8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26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4AC96-6B69-4D1A-5507-BEF420201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3620D-AF36-B04A-6260-06A57699A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237"/>
            <a:ext cx="10515600" cy="1325563"/>
          </a:xfrm>
        </p:spPr>
        <p:txBody>
          <a:bodyPr/>
          <a:lstStyle/>
          <a:p>
            <a:r>
              <a:rPr lang="en-US" b="1" cap="none" dirty="0">
                <a:solidFill>
                  <a:srgbClr val="FF0000"/>
                </a:solidFill>
              </a:rPr>
              <a:t>Faster R-CNN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31237-DC08-2AC7-9F1D-9D430A361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18007B-0764-64A3-8E36-20B19E390D07}"/>
              </a:ext>
            </a:extLst>
          </p:cNvPr>
          <p:cNvSpPr/>
          <p:nvPr/>
        </p:nvSpPr>
        <p:spPr>
          <a:xfrm>
            <a:off x="150779" y="1348800"/>
            <a:ext cx="12041221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• Step 1: Feature Extraction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The input image is passed through a pre-trained CNN backbone (the original Faster R-CNN used </a:t>
            </a:r>
            <a:r>
              <a:rPr lang="en-US" sz="2000" b="1" dirty="0"/>
              <a:t>VGG</a:t>
            </a:r>
            <a:r>
              <a:rPr lang="en-US" sz="2000" dirty="0"/>
              <a:t>).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The network extracts a </a:t>
            </a:r>
            <a:r>
              <a:rPr lang="en-US" sz="2000" b="1" dirty="0"/>
              <a:t>convolutional feature map</a:t>
            </a:r>
            <a:r>
              <a:rPr lang="en-US" sz="2000" dirty="0"/>
              <a:t>, which is then used for subsequent processing.</a:t>
            </a:r>
          </a:p>
          <a:p>
            <a:r>
              <a:rPr lang="en-US" sz="2000" b="1" dirty="0"/>
              <a:t>• Step 2: Region Proposal Network (RPN)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The RPN takes the feature map and proposes a set of </a:t>
            </a:r>
            <a:r>
              <a:rPr lang="en-US" sz="2000" b="1" dirty="0"/>
              <a:t>candidate regions</a:t>
            </a:r>
            <a:r>
              <a:rPr lang="en-US" sz="2000" dirty="0"/>
              <a:t> (bounding boxes) that may contain objects.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It does this by generating multiple region proposals using </a:t>
            </a:r>
            <a:r>
              <a:rPr lang="en-US" sz="2000" b="1" dirty="0"/>
              <a:t>k anchor boxes</a:t>
            </a:r>
            <a:r>
              <a:rPr lang="en-US" sz="2000" dirty="0"/>
              <a:t> of predefined scales and aspect ratios.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k anchor boxes</a:t>
            </a:r>
            <a:r>
              <a:rPr lang="en-US" sz="2000" dirty="0"/>
              <a:t> = the number of predefined bounding box shapes (scales + ratios) that the network uses at each feature map location to generate region proposals.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Each anchor = one rectangle shape.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You choose different scales (small, medium, large)And different aspect ratios (e.g., 1:1, 2:1, 1:2)</a:t>
            </a:r>
            <a:br>
              <a:rPr lang="en-US" sz="2000" dirty="0"/>
            </a:br>
            <a:r>
              <a:rPr lang="en-US" sz="2000" dirty="0"/>
              <a:t>This module significantly speeds up both training and inference compared to earlier methods.</a:t>
            </a:r>
          </a:p>
          <a:p>
            <a:r>
              <a:rPr lang="en-US" sz="2000" b="1" dirty="0"/>
              <a:t>• Step 3: R-CNN Module</a:t>
            </a:r>
          </a:p>
          <a:p>
            <a:r>
              <a:rPr lang="en-US" sz="2000" dirty="0"/>
              <a:t>For each proposed region, the R-CNN head performs two tasks:</a:t>
            </a:r>
          </a:p>
          <a:p>
            <a:pPr lvl="1">
              <a:buFont typeface="+mj-lt"/>
              <a:buAutoNum type="arabicPeriod"/>
            </a:pPr>
            <a:r>
              <a:rPr lang="en-US" sz="2000" b="1" dirty="0"/>
              <a:t>Classification</a:t>
            </a:r>
            <a:r>
              <a:rPr lang="en-US" sz="2000" dirty="0"/>
              <a:t> – Determine what object (if any) is inside the region, including the “background” category.</a:t>
            </a:r>
          </a:p>
          <a:p>
            <a:pPr lvl="1">
              <a:buFont typeface="+mj-lt"/>
              <a:buAutoNum type="arabicPeriod"/>
            </a:pPr>
            <a:r>
              <a:rPr lang="en-US" sz="2000" b="1" dirty="0"/>
              <a:t>Bounding Box Regression</a:t>
            </a:r>
            <a:r>
              <a:rPr lang="en-US" sz="2000" dirty="0"/>
              <a:t> – Refine the bounding box coordinates to better align with the detected object.</a:t>
            </a:r>
          </a:p>
        </p:txBody>
      </p:sp>
      <p:sp>
        <p:nvSpPr>
          <p:cNvPr id="3" name="AutoShape 2" descr="Generated image">
            <a:extLst>
              <a:ext uri="{FF2B5EF4-FFF2-40B4-BE49-F238E27FC236}">
                <a16:creationId xmlns:a16="http://schemas.microsoft.com/office/drawing/2014/main" id="{8E644A23-E7EC-4719-851A-AD915F10CB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080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CBD64C-1931-4673-912A-06F935D09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/>
              <a:t>How RPN Detects Objects (Anchor Box Labeling)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94AD63-EFE6-4917-9AE8-60EE22324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endParaRPr lang="en-US" sz="2200"/>
          </a:p>
          <a:p>
            <a:r>
              <a:rPr lang="en-US" sz="2200"/>
              <a:t> </a:t>
            </a:r>
            <a:r>
              <a:rPr lang="en-US" sz="2200" b="1"/>
              <a:t>Intersection over Union (IoU): </a:t>
            </a:r>
            <a:r>
              <a:rPr lang="en-US" sz="2200"/>
              <a:t>Measures the overlap between the Anchor Box and the Ground Truth (true object box).</a:t>
            </a:r>
          </a:p>
          <a:p>
            <a:r>
              <a:rPr lang="en-US" sz="2200"/>
              <a:t> </a:t>
            </a:r>
            <a:r>
              <a:rPr lang="en-US" sz="2200" b="1"/>
              <a:t>Positive Anchors (Object): </a:t>
            </a:r>
            <a:r>
              <a:rPr lang="en-US" sz="2200"/>
              <a:t>Boxes with high IoU (e.g., &gt; 0.7) are labeled as containing an object.</a:t>
            </a:r>
          </a:p>
          <a:p>
            <a:r>
              <a:rPr lang="en-US" sz="2200"/>
              <a:t> </a:t>
            </a:r>
            <a:r>
              <a:rPr lang="en-US" sz="2200" b="1"/>
              <a:t>Negative Anchors (Background): </a:t>
            </a:r>
            <a:r>
              <a:rPr lang="en-US" sz="2200"/>
              <a:t>Boxes with low IoU (e.g., &lt; 0.3) are labeled as background.</a:t>
            </a:r>
          </a:p>
          <a:p>
            <a:r>
              <a:rPr lang="en-US" sz="2200"/>
              <a:t> </a:t>
            </a:r>
            <a:r>
              <a:rPr lang="en-US" sz="2200" b="1"/>
              <a:t>RPN Classification Head</a:t>
            </a:r>
            <a:r>
              <a:rPr lang="en-US" sz="2200"/>
              <a:t>: Outputs a probability score for each anchor box p_object vs. p_background to filter out empty regions.</a:t>
            </a:r>
          </a:p>
          <a:p>
            <a:r>
              <a:rPr lang="en-US" sz="2200"/>
              <a:t> </a:t>
            </a:r>
            <a:r>
              <a:rPr lang="en-US" sz="2200" b="1"/>
              <a:t>Bounding Box Regression</a:t>
            </a:r>
            <a:r>
              <a:rPr lang="en-US" sz="2200"/>
              <a:t>: Automatically adjusts the coordinates of the chosen anchor box to tightly fit the object.</a:t>
            </a:r>
          </a:p>
        </p:txBody>
      </p:sp>
    </p:spTree>
    <p:extLst>
      <p:ext uri="{BB962C8B-B14F-4D97-AF65-F5344CB8AC3E}">
        <p14:creationId xmlns:p14="http://schemas.microsoft.com/office/powerpoint/2010/main" val="308167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71A521-62EC-4736-A1B8-279B654AA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  <a:prstGeom prst="ellipse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illustration</a:t>
            </a:r>
          </a:p>
        </p:txBody>
      </p:sp>
      <p:sp>
        <p:nvSpPr>
          <p:cNvPr id="2059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Anchor Boxes at a certain position in the feature map. | Download  Scientific Diagram">
            <a:extLst>
              <a:ext uri="{FF2B5EF4-FFF2-40B4-BE49-F238E27FC236}">
                <a16:creationId xmlns:a16="http://schemas.microsoft.com/office/drawing/2014/main" id="{D6D09A71-753F-4542-AA7A-9E08DDB9B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50197" y="1132503"/>
            <a:ext cx="7214616" cy="5304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Faster R-CNN | ML - GeeksforGeeks">
            <a:extLst>
              <a:ext uri="{FF2B5EF4-FFF2-40B4-BE49-F238E27FC236}">
                <a16:creationId xmlns:a16="http://schemas.microsoft.com/office/drawing/2014/main" id="{E19E3FE4-9192-40FE-AC75-E3286F4829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39501" y="364625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60403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59D3A0-317D-4BD4-B36C-8864643D1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Mask RCNN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493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A2BEC29-D5F3-4E1C-A5D1-A0D2CEC437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274" y="767292"/>
            <a:ext cx="6277426" cy="5571065"/>
          </a:xfrm>
          <a:prstGeom prst="rect">
            <a:avLst/>
          </a:prstGeom>
          <a:ln>
            <a:noFill/>
          </a:ln>
        </p:spPr>
      </p:pic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72957F-4476-458C-9CC5-8171B9A225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799"/>
          <a:stretch/>
        </p:blipFill>
        <p:spPr>
          <a:xfrm>
            <a:off x="6022329" y="717840"/>
            <a:ext cx="6169671" cy="54966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D063FA-AB74-4CA0-85CD-93F61A283690}"/>
              </a:ext>
            </a:extLst>
          </p:cNvPr>
          <p:cNvSpPr txBox="1"/>
          <p:nvPr/>
        </p:nvSpPr>
        <p:spPr>
          <a:xfrm>
            <a:off x="1353324" y="274045"/>
            <a:ext cx="87128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Steps of Mask RCNN</a:t>
            </a:r>
          </a:p>
        </p:txBody>
      </p:sp>
    </p:spTree>
    <p:extLst>
      <p:ext uri="{BB962C8B-B14F-4D97-AF65-F5344CB8AC3E}">
        <p14:creationId xmlns:p14="http://schemas.microsoft.com/office/powerpoint/2010/main" val="83280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910B8A-03C7-6BFA-1818-EC0438516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A9388D2-C255-268D-79AB-9BC25F2496EE}"/>
              </a:ext>
            </a:extLst>
          </p:cNvPr>
          <p:cNvSpPr txBox="1">
            <a:spLocks/>
          </p:cNvSpPr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Mask R-CNN Architecture</a:t>
            </a:r>
          </a:p>
        </p:txBody>
      </p:sp>
      <p:pic>
        <p:nvPicPr>
          <p:cNvPr id="7" name="Picture 6" descr="A diagram of a computer process&#10;&#10;AI-generated content may be incorrect.">
            <a:extLst>
              <a:ext uri="{FF2B5EF4-FFF2-40B4-BE49-F238E27FC236}">
                <a16:creationId xmlns:a16="http://schemas.microsoft.com/office/drawing/2014/main" id="{3EA98D9A-2DC6-4A30-8CD1-6F9F3FBAD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69" y="1966293"/>
            <a:ext cx="10353860" cy="445216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A73F8-1F3F-58EA-E14A-D73D94815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680D392-614A-43D7-BA76-AB1FFE045AF8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60D787BF-9611-4809-8F4A-E7203494E1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264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Detectron2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7004" y="1837765"/>
            <a:ext cx="1196502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rgbClr val="000000"/>
                </a:solidFill>
                <a:latin typeface="ArialMT"/>
              </a:rPr>
              <a:t>• Detectron2 was built by </a:t>
            </a:r>
            <a:r>
              <a:rPr lang="en-US" sz="2600" b="1" dirty="0">
                <a:solidFill>
                  <a:srgbClr val="FF0000"/>
                </a:solidFill>
                <a:latin typeface="Arial-BoldMT"/>
              </a:rPr>
              <a:t>Facebook AI </a:t>
            </a:r>
            <a:r>
              <a:rPr lang="en-US" sz="2600" dirty="0">
                <a:solidFill>
                  <a:srgbClr val="000000"/>
                </a:solidFill>
                <a:latin typeface="ArialMT"/>
              </a:rPr>
              <a:t>Research (FAIR) to support rapid implementation and evaluation of </a:t>
            </a:r>
            <a:r>
              <a:rPr lang="en-US" sz="2600" b="1" dirty="0">
                <a:solidFill>
                  <a:srgbClr val="FF0000"/>
                </a:solidFill>
                <a:latin typeface="Arial-BoldMT"/>
              </a:rPr>
              <a:t>novel computer vision research</a:t>
            </a:r>
            <a:r>
              <a:rPr lang="en-US" sz="2600" dirty="0">
                <a:solidFill>
                  <a:srgbClr val="000000"/>
                </a:solidFill>
                <a:latin typeface="ArialMT"/>
              </a:rPr>
              <a:t>.</a:t>
            </a:r>
          </a:p>
          <a:p>
            <a:endParaRPr lang="en-US" sz="2600" dirty="0">
              <a:solidFill>
                <a:srgbClr val="000000"/>
              </a:solidFill>
              <a:latin typeface="ArialMT"/>
            </a:endParaRPr>
          </a:p>
          <a:p>
            <a:r>
              <a:rPr lang="en-US" sz="2600" dirty="0">
                <a:solidFill>
                  <a:srgbClr val="000000"/>
                </a:solidFill>
                <a:latin typeface="ArialMT"/>
              </a:rPr>
              <a:t>• Detectron2 is now implemented in </a:t>
            </a:r>
            <a:r>
              <a:rPr lang="en-US" sz="2600" b="1" dirty="0" err="1">
                <a:solidFill>
                  <a:srgbClr val="FF0000"/>
                </a:solidFill>
                <a:latin typeface="Arial-BoldMT"/>
              </a:rPr>
              <a:t>PyTorch</a:t>
            </a:r>
            <a:r>
              <a:rPr lang="en-US" sz="2600" dirty="0">
                <a:solidFill>
                  <a:srgbClr val="000000"/>
                </a:solidFill>
                <a:latin typeface="ArialMT"/>
              </a:rPr>
              <a:t>.</a:t>
            </a:r>
          </a:p>
          <a:p>
            <a:endParaRPr lang="en-US" sz="2600" dirty="0">
              <a:solidFill>
                <a:srgbClr val="000000"/>
              </a:solidFill>
              <a:latin typeface="ArialMT"/>
            </a:endParaRPr>
          </a:p>
          <a:p>
            <a:r>
              <a:rPr lang="en-US" sz="2600" dirty="0">
                <a:solidFill>
                  <a:srgbClr val="000000"/>
                </a:solidFill>
                <a:latin typeface="ArialMT"/>
              </a:rPr>
              <a:t>• Detectron2 is </a:t>
            </a:r>
            <a:r>
              <a:rPr lang="en-US" sz="2600" b="1" dirty="0">
                <a:solidFill>
                  <a:srgbClr val="FF0000"/>
                </a:solidFill>
                <a:latin typeface="Arial-BoldMT"/>
              </a:rPr>
              <a:t>flexible </a:t>
            </a:r>
            <a:r>
              <a:rPr lang="en-US" sz="2600" dirty="0">
                <a:solidFill>
                  <a:srgbClr val="000000"/>
                </a:solidFill>
                <a:latin typeface="ArialMT"/>
              </a:rPr>
              <a:t>and </a:t>
            </a:r>
            <a:r>
              <a:rPr lang="en-US" sz="2600" b="1" dirty="0">
                <a:solidFill>
                  <a:srgbClr val="FF0000"/>
                </a:solidFill>
                <a:latin typeface="Arial-BoldMT"/>
              </a:rPr>
              <a:t>extensible</a:t>
            </a:r>
            <a:r>
              <a:rPr lang="en-US" sz="2600" dirty="0">
                <a:solidFill>
                  <a:srgbClr val="000000"/>
                </a:solidFill>
                <a:latin typeface="ArialMT"/>
              </a:rPr>
              <a:t>, and able to provide fast training on </a:t>
            </a:r>
            <a:r>
              <a:rPr lang="en-US" sz="2600" b="1" dirty="0">
                <a:solidFill>
                  <a:srgbClr val="FF0000"/>
                </a:solidFill>
                <a:latin typeface="Arial-BoldMT"/>
              </a:rPr>
              <a:t>single or multiple GPU </a:t>
            </a:r>
            <a:r>
              <a:rPr lang="en-US" sz="2600" dirty="0">
                <a:solidFill>
                  <a:srgbClr val="000000"/>
                </a:solidFill>
                <a:latin typeface="ArialMT"/>
              </a:rPr>
              <a:t>servers.</a:t>
            </a:r>
          </a:p>
          <a:p>
            <a:endParaRPr lang="en-US" sz="2600" dirty="0">
              <a:solidFill>
                <a:srgbClr val="000000"/>
              </a:solidFill>
              <a:latin typeface="ArialMT"/>
            </a:endParaRPr>
          </a:p>
          <a:p>
            <a:r>
              <a:rPr lang="en-US" sz="2600" dirty="0">
                <a:solidFill>
                  <a:srgbClr val="000000"/>
                </a:solidFill>
                <a:latin typeface="ArialMT"/>
              </a:rPr>
              <a:t>• Detectron2 </a:t>
            </a:r>
            <a:r>
              <a:rPr lang="en-US" sz="2600" b="1" dirty="0">
                <a:solidFill>
                  <a:srgbClr val="FF0000"/>
                </a:solidFill>
                <a:latin typeface="Arial-BoldMT"/>
              </a:rPr>
              <a:t>can be used as a library </a:t>
            </a:r>
            <a:r>
              <a:rPr lang="en-US" sz="2600" dirty="0">
                <a:solidFill>
                  <a:srgbClr val="000000"/>
                </a:solidFill>
                <a:latin typeface="ArialMT"/>
              </a:rPr>
              <a:t>to support different projects on top of it.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524496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Detectron2  Model Zoo</a:t>
            </a:r>
          </a:p>
        </p:txBody>
      </p:sp>
      <p:sp>
        <p:nvSpPr>
          <p:cNvPr id="8" name="Rectangle 7"/>
          <p:cNvSpPr/>
          <p:nvPr/>
        </p:nvSpPr>
        <p:spPr>
          <a:xfrm>
            <a:off x="8571507" y="387224"/>
            <a:ext cx="3291839" cy="830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400" b="1">
                <a:solidFill>
                  <a:srgbClr val="FFFFFF"/>
                </a:solidFill>
              </a:rPr>
              <a:t>Detectron2 Model Zoo : </a:t>
            </a:r>
            <a:r>
              <a:rPr lang="en-US" sz="1400" i="1">
                <a:solidFill>
                  <a:srgbClr val="FFFFFF"/>
                </a:solidFill>
                <a:hlinkClick r:id="rId2"/>
              </a:rPr>
              <a:t>https://github.com/facebookresearch/detectron2/blob/master/MODEL_ZOO.md</a:t>
            </a:r>
            <a:endParaRPr lang="en-US" sz="1400">
              <a:solidFill>
                <a:srgbClr val="FFFFFF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lum bright="-20000" contrast="40000"/>
          </a:blip>
          <a:stretch>
            <a:fillRect/>
          </a:stretch>
        </p:blipFill>
        <p:spPr>
          <a:xfrm>
            <a:off x="715748" y="2575215"/>
            <a:ext cx="5131088" cy="32100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lum bright="-20000" contrast="40000"/>
          </a:blip>
          <a:stretch>
            <a:fillRect/>
          </a:stretch>
        </p:blipFill>
        <p:spPr>
          <a:xfrm>
            <a:off x="6345165" y="2299433"/>
            <a:ext cx="5131087" cy="383459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4320" y="6431079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680D392-614A-43D7-BA76-AB1FFE045AF8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4990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Detectron2 - Inference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15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7591"/>
            <a:ext cx="11768484" cy="5065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907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Train Detectron2 On A Custom Dataset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3846" y="1584308"/>
            <a:ext cx="767549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C10000"/>
                </a:solidFill>
                <a:latin typeface="Arial-BoldMT"/>
              </a:rPr>
              <a:t>Convert your data-set to COCO-format</a:t>
            </a:r>
            <a:endParaRPr lang="en-US" sz="3200" dirty="0"/>
          </a:p>
        </p:txBody>
      </p:sp>
      <p:sp>
        <p:nvSpPr>
          <p:cNvPr id="6" name="Rectangle 5"/>
          <p:cNvSpPr/>
          <p:nvPr/>
        </p:nvSpPr>
        <p:spPr>
          <a:xfrm>
            <a:off x="685800" y="2422540"/>
            <a:ext cx="1140568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ArialMT"/>
              </a:rPr>
              <a:t>The COCO dataset is formatted in </a:t>
            </a:r>
            <a:r>
              <a:rPr lang="en-US" sz="2800" b="1" dirty="0">
                <a:solidFill>
                  <a:srgbClr val="FF0000"/>
                </a:solidFill>
                <a:latin typeface="Arial-BoldMT"/>
              </a:rPr>
              <a:t>JSON 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and has five annotation types: </a:t>
            </a:r>
            <a:r>
              <a:rPr lang="en-US" sz="2800" dirty="0">
                <a:solidFill>
                  <a:srgbClr val="1F2DA9"/>
                </a:solidFill>
                <a:latin typeface="ArialMT"/>
              </a:rPr>
              <a:t>object detection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, </a:t>
            </a:r>
            <a:r>
              <a:rPr lang="en-US" sz="2800" dirty="0" err="1">
                <a:solidFill>
                  <a:srgbClr val="1F2DA9"/>
                </a:solidFill>
                <a:latin typeface="ArialMT"/>
              </a:rPr>
              <a:t>keypoint</a:t>
            </a:r>
            <a:r>
              <a:rPr lang="en-US" sz="2800" dirty="0">
                <a:solidFill>
                  <a:srgbClr val="1F2DA9"/>
                </a:solidFill>
                <a:latin typeface="ArialMT"/>
              </a:rPr>
              <a:t> detection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, </a:t>
            </a:r>
            <a:r>
              <a:rPr lang="en-US" sz="2800" dirty="0">
                <a:solidFill>
                  <a:srgbClr val="1F2DA9"/>
                </a:solidFill>
                <a:latin typeface="ArialMT"/>
              </a:rPr>
              <a:t>stuff segmentation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, </a:t>
            </a:r>
            <a:r>
              <a:rPr lang="en-US" sz="2800" dirty="0">
                <a:solidFill>
                  <a:srgbClr val="1F2DA9"/>
                </a:solidFill>
                <a:latin typeface="ArialMT"/>
              </a:rPr>
              <a:t>panoptic segmentation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, and </a:t>
            </a:r>
            <a:r>
              <a:rPr lang="en-US" sz="2800" dirty="0">
                <a:solidFill>
                  <a:srgbClr val="1F2DA9"/>
                </a:solidFill>
                <a:latin typeface="ArialMT"/>
              </a:rPr>
              <a:t>image captioning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. It is a collection of </a:t>
            </a:r>
            <a:r>
              <a:rPr lang="en-US" sz="2800" dirty="0">
                <a:solidFill>
                  <a:srgbClr val="FF0000"/>
                </a:solidFill>
                <a:latin typeface="ArialMT"/>
              </a:rPr>
              <a:t>“info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”, “</a:t>
            </a:r>
            <a:r>
              <a:rPr lang="en-US" sz="2800" dirty="0">
                <a:solidFill>
                  <a:srgbClr val="FF0000"/>
                </a:solidFill>
                <a:latin typeface="ArialMT"/>
              </a:rPr>
              <a:t>licenses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”, “</a:t>
            </a:r>
            <a:r>
              <a:rPr lang="en-US" sz="2800" dirty="0">
                <a:solidFill>
                  <a:srgbClr val="FF0000"/>
                </a:solidFill>
                <a:latin typeface="ArialMT"/>
              </a:rPr>
              <a:t>images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”, “</a:t>
            </a:r>
            <a:r>
              <a:rPr lang="en-US" sz="2800" dirty="0">
                <a:solidFill>
                  <a:srgbClr val="FF0000"/>
                </a:solidFill>
                <a:latin typeface="ArialMT"/>
              </a:rPr>
              <a:t>annotations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”, “</a:t>
            </a:r>
            <a:r>
              <a:rPr lang="en-US" sz="2800" dirty="0">
                <a:solidFill>
                  <a:srgbClr val="FF0000"/>
                </a:solidFill>
                <a:latin typeface="ArialMT"/>
              </a:rPr>
              <a:t>categories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” (in most cases), and “</a:t>
            </a:r>
            <a:r>
              <a:rPr lang="en-US" sz="2800" dirty="0">
                <a:solidFill>
                  <a:srgbClr val="FF0000"/>
                </a:solidFill>
                <a:latin typeface="ArialMT"/>
              </a:rPr>
              <a:t>segment info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” (in one case).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73749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17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6" y="0"/>
            <a:ext cx="12100945" cy="635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407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912</TotalTime>
  <Words>826</Words>
  <Application>Microsoft Office PowerPoint</Application>
  <PresentationFormat>Widescreen</PresentationFormat>
  <Paragraphs>75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Arial-BoldMT</vt:lpstr>
      <vt:lpstr>ArialMT</vt:lpstr>
      <vt:lpstr>Calibri</vt:lpstr>
      <vt:lpstr>Calibri Light</vt:lpstr>
      <vt:lpstr>Times New Roman</vt:lpstr>
      <vt:lpstr>Office Theme</vt:lpstr>
      <vt:lpstr>Computer Vision (CV)</vt:lpstr>
      <vt:lpstr>R-CNN for object detection</vt:lpstr>
      <vt:lpstr>Selective Search Algorithm </vt:lpstr>
      <vt:lpstr>PowerPoint Presentation</vt:lpstr>
      <vt:lpstr>Fast R-CNN</vt:lpstr>
      <vt:lpstr>PowerPoint Presentation</vt:lpstr>
      <vt:lpstr>Faster R-CNN</vt:lpstr>
      <vt:lpstr>How RPN Detects Objects (Anchor Box Labeling)</vt:lpstr>
      <vt:lpstr>illustration</vt:lpstr>
      <vt:lpstr>Mask RCNN</vt:lpstr>
      <vt:lpstr>PowerPoint Presentation</vt:lpstr>
      <vt:lpstr>PowerPoint Presentation</vt:lpstr>
      <vt:lpstr>Detectron2</vt:lpstr>
      <vt:lpstr>Detectron2  Model Zoo</vt:lpstr>
      <vt:lpstr>Detectron2 - Inference</vt:lpstr>
      <vt:lpstr>Train Detectron2 On A Custom Dataset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 (CV)</dc:title>
  <dc:creator>hossam180099@fci.bu.edu.eg</dc:creator>
  <cp:lastModifiedBy>ahmed.abdelsatar@fci.bu.edu.eg</cp:lastModifiedBy>
  <cp:revision>79</cp:revision>
  <dcterms:created xsi:type="dcterms:W3CDTF">2024-02-18T11:35:13Z</dcterms:created>
  <dcterms:modified xsi:type="dcterms:W3CDTF">2026-06-24T10:39:37Z</dcterms:modified>
</cp:coreProperties>
</file>