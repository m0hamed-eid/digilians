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314" r:id="rId10"/>
    <p:sldId id="315" r:id="rId11"/>
    <p:sldId id="316" r:id="rId12"/>
    <p:sldId id="341" r:id="rId13"/>
    <p:sldId id="285" r:id="rId14"/>
    <p:sldId id="407" r:id="rId15"/>
    <p:sldId id="410" r:id="rId16"/>
    <p:sldId id="278" r:id="rId17"/>
    <p:sldId id="282" r:id="rId18"/>
    <p:sldId id="286" r:id="rId19"/>
    <p:sldId id="408" r:id="rId20"/>
    <p:sldId id="409" r:id="rId21"/>
    <p:sldId id="287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1AE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1AE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1AE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1AE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2618" y="58877"/>
            <a:ext cx="11574322" cy="610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1AE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679" y="1159840"/>
            <a:ext cx="7840980" cy="4370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6939" y="6446122"/>
            <a:ext cx="70485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8718" y="6446122"/>
            <a:ext cx="23495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3988" y="320041"/>
            <a:ext cx="6707084" cy="38926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66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Transfer</a:t>
            </a:r>
            <a:r>
              <a:rPr lang="en-US" sz="6600" b="0" kern="1200" spc="-19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Learning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3699" y="4631161"/>
            <a:ext cx="6707366" cy="1569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en-US" sz="24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Dr.</a:t>
            </a:r>
            <a:r>
              <a:rPr lang="en-US" sz="24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Ahmed Yousry</a:t>
            </a:r>
            <a:endParaRPr lang="en-US" sz="2400" kern="1200" spc="-135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Graphic 8" descr="Classroom">
            <a:extLst>
              <a:ext uri="{FF2B5EF4-FFF2-40B4-BE49-F238E27FC236}">
                <a16:creationId xmlns:a16="http://schemas.microsoft.com/office/drawing/2014/main" id="{F6231EB4-A1FC-CF7E-AD90-AB35FBAE1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1226248"/>
            <a:ext cx="4087368" cy="4087368"/>
          </a:xfrm>
          <a:prstGeom prst="rect">
            <a:avLst/>
          </a:prstGeom>
        </p:spPr>
      </p:pic>
      <p:sp>
        <p:nvSpPr>
          <p:cNvPr id="3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</a:pPr>
            <a:fld id="{81D60167-4931-47E6-BA6A-407CBD079E47}" type="slidenum">
              <a:rPr lang="en-US" kern="1200" spc="-2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Aft>
                  <a:spcPts val="600"/>
                </a:spcAft>
              </a:pPr>
              <a:t>1</a:t>
            </a:fld>
            <a:endParaRPr lang="en-US" kern="1200" spc="-25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02132" y="1555929"/>
            <a:ext cx="5764530" cy="3369512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15"/>
              </a:spcBef>
              <a:buClr>
                <a:srgbClr val="4471C4"/>
              </a:buClr>
              <a:buFont typeface="Wingdings"/>
              <a:buChar char=""/>
              <a:tabLst>
                <a:tab pos="354965" algn="l"/>
              </a:tabLst>
            </a:pPr>
            <a:r>
              <a:rPr sz="2800" spc="-10" dirty="0">
                <a:latin typeface="Times New Roman"/>
                <a:cs typeface="Times New Roman"/>
              </a:rPr>
              <a:t>Motivation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4471C4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Basics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idea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Transfer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Learning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4471C4"/>
              </a:buClr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Formal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Definition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4471C4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Transfer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Strategies</a:t>
            </a:r>
            <a:endParaRPr lang="en-US" sz="2800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4471C4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800" spc="-10" dirty="0">
                <a:latin typeface="Times New Roman"/>
                <a:cs typeface="Times New Roman"/>
              </a:rPr>
              <a:t>Keras applications</a:t>
            </a: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4471C4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800" spc="-10" dirty="0">
                <a:latin typeface="Times New Roman"/>
                <a:cs typeface="Times New Roman"/>
              </a:rPr>
              <a:t>Simple example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9285" y="798321"/>
            <a:ext cx="13354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Classify</a:t>
            </a:r>
            <a:r>
              <a:rPr spc="-30" dirty="0"/>
              <a:t> </a:t>
            </a:r>
            <a:r>
              <a:rPr dirty="0"/>
              <a:t>Cats,</a:t>
            </a:r>
            <a:r>
              <a:rPr spc="-25" dirty="0"/>
              <a:t> </a:t>
            </a:r>
            <a:r>
              <a:rPr dirty="0"/>
              <a:t>Dogs,</a:t>
            </a:r>
            <a:r>
              <a:rPr spc="-25" dirty="0"/>
              <a:t> </a:t>
            </a:r>
            <a:r>
              <a:rPr dirty="0"/>
              <a:t>Chinchillas</a:t>
            </a:r>
            <a:r>
              <a:rPr spc="-30" dirty="0"/>
              <a:t> </a:t>
            </a:r>
            <a:r>
              <a:rPr spc="-25" dirty="0"/>
              <a:t>etc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7399" y="1344739"/>
            <a:ext cx="8477145" cy="47903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Classify</a:t>
            </a:r>
            <a:r>
              <a:rPr spc="-30" dirty="0"/>
              <a:t> </a:t>
            </a:r>
            <a:r>
              <a:rPr dirty="0"/>
              <a:t>Cats,</a:t>
            </a:r>
            <a:r>
              <a:rPr spc="-25" dirty="0"/>
              <a:t> </a:t>
            </a:r>
            <a:r>
              <a:rPr dirty="0"/>
              <a:t>Dogs,</a:t>
            </a:r>
            <a:r>
              <a:rPr spc="-25" dirty="0"/>
              <a:t> </a:t>
            </a:r>
            <a:r>
              <a:rPr dirty="0"/>
              <a:t>Chinchillas</a:t>
            </a:r>
            <a:r>
              <a:rPr spc="-30" dirty="0"/>
              <a:t> </a:t>
            </a:r>
            <a:r>
              <a:rPr spc="-25" dirty="0"/>
              <a:t>etc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07617"/>
            <a:ext cx="9278879" cy="52912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Classify</a:t>
            </a:r>
            <a:r>
              <a:rPr spc="-15" dirty="0"/>
              <a:t> </a:t>
            </a:r>
            <a:r>
              <a:rPr spc="-10" dirty="0"/>
              <a:t>Rarest</a:t>
            </a:r>
            <a:r>
              <a:rPr spc="-190" dirty="0"/>
              <a:t> </a:t>
            </a:r>
            <a:r>
              <a:rPr spc="-10" dirty="0"/>
              <a:t>Animals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222502"/>
            <a:ext cx="9531477" cy="54989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388B5E-18CC-4D49-B7AE-B27BA1EB4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8877"/>
            <a:ext cx="5649113" cy="13908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7840" y="1087373"/>
            <a:ext cx="10836275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>
              <a:lnSpc>
                <a:spcPct val="100400"/>
              </a:lnSpc>
              <a:spcBef>
                <a:spcPts val="80"/>
              </a:spcBef>
              <a:buClr>
                <a:srgbClr val="4471C4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classifier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trained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few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minutes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CPU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little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data?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Transfer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30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Rescue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0" y="2136396"/>
            <a:ext cx="4163059" cy="40249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20" dirty="0"/>
              <a:t> </a:t>
            </a:r>
            <a:r>
              <a:rPr dirty="0"/>
              <a:t>idea</a:t>
            </a:r>
            <a:r>
              <a:rPr spc="-15" dirty="0"/>
              <a:t> </a:t>
            </a:r>
            <a:r>
              <a:rPr dirty="0"/>
              <a:t>of</a:t>
            </a:r>
            <a:r>
              <a:rPr spc="695" dirty="0"/>
              <a:t> </a:t>
            </a:r>
            <a:r>
              <a:rPr spc="-25" dirty="0"/>
              <a:t>Transfer</a:t>
            </a:r>
            <a:r>
              <a:rPr spc="-85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87932" y="900430"/>
            <a:ext cx="10401935" cy="5328285"/>
            <a:chOff x="1487932" y="900430"/>
            <a:chExt cx="10401935" cy="5328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7932" y="1018399"/>
              <a:ext cx="7038112" cy="52097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2684" y="900430"/>
              <a:ext cx="5146929" cy="270306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06679" y="1159001"/>
            <a:ext cx="10302240" cy="217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lr>
                <a:srgbClr val="4471C4"/>
              </a:buClr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How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make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image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classifier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trained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 </a:t>
            </a:r>
            <a:r>
              <a:rPr sz="3200" dirty="0">
                <a:latin typeface="Times New Roman"/>
                <a:cs typeface="Times New Roman"/>
              </a:rPr>
              <a:t>few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minutes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CPU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little</a:t>
            </a:r>
            <a:r>
              <a:rPr sz="3200" spc="-10" dirty="0">
                <a:latin typeface="Times New Roman"/>
                <a:cs typeface="Times New Roman"/>
              </a:rPr>
              <a:t> data?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65"/>
              </a:spcBef>
              <a:buClr>
                <a:srgbClr val="4471C4"/>
              </a:buClr>
              <a:buFont typeface="Wingdings"/>
              <a:buChar char=""/>
            </a:pPr>
            <a:endParaRPr sz="3200">
              <a:latin typeface="Times New Roman"/>
              <a:cs typeface="Times New Roman"/>
            </a:endParaRPr>
          </a:p>
          <a:p>
            <a:pPr marL="844550" lvl="1" indent="-374650">
              <a:lnSpc>
                <a:spcPct val="100000"/>
              </a:lnSpc>
              <a:spcBef>
                <a:spcPts val="5"/>
              </a:spcBef>
              <a:buClr>
                <a:srgbClr val="4471C4"/>
              </a:buClr>
              <a:buFont typeface="Wingdings"/>
              <a:buChar char=""/>
              <a:tabLst>
                <a:tab pos="844550" algn="l"/>
              </a:tabLst>
            </a:pP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pre-</a:t>
            </a:r>
            <a:r>
              <a:rPr sz="2800" dirty="0">
                <a:latin typeface="Times New Roman"/>
                <a:cs typeface="Times New Roman"/>
              </a:rPr>
              <a:t>trained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models,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i.e.,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known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weights.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981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15" dirty="0"/>
              <a:t> </a:t>
            </a:r>
            <a:r>
              <a:rPr dirty="0"/>
              <a:t>idea</a:t>
            </a:r>
            <a:r>
              <a:rPr spc="-15" dirty="0"/>
              <a:t> </a:t>
            </a:r>
            <a:r>
              <a:rPr dirty="0"/>
              <a:t>of</a:t>
            </a:r>
            <a:r>
              <a:rPr spc="695" dirty="0"/>
              <a:t> </a:t>
            </a:r>
            <a:r>
              <a:rPr spc="-25" dirty="0"/>
              <a:t>Transfer</a:t>
            </a:r>
            <a:r>
              <a:rPr spc="-85" dirty="0"/>
              <a:t> </a:t>
            </a:r>
            <a:r>
              <a:rPr dirty="0"/>
              <a:t>Learning</a:t>
            </a:r>
            <a:r>
              <a:rPr spc="-35" dirty="0"/>
              <a:t> </a:t>
            </a:r>
            <a:r>
              <a:rPr spc="-10" dirty="0"/>
              <a:t>(cont)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85089" y="200355"/>
            <a:ext cx="331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95" dirty="0">
                <a:solidFill>
                  <a:srgbClr val="89B9D3"/>
                </a:solidFill>
                <a:latin typeface="Trebuchet MS"/>
                <a:cs typeface="Trebuchet MS"/>
              </a:rPr>
              <a:t>+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57916" y="281940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199"/>
                </a:lnTo>
                <a:lnTo>
                  <a:pt x="121920" y="1600199"/>
                </a:lnTo>
                <a:lnTo>
                  <a:pt x="121920" y="0"/>
                </a:lnTo>
                <a:close/>
              </a:path>
            </a:pathLst>
          </a:custGeom>
          <a:solidFill>
            <a:srgbClr val="F6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459" y="86614"/>
            <a:ext cx="4386580" cy="5318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509375" y="339597"/>
            <a:ext cx="21780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mbria"/>
                <a:cs typeface="Cambria"/>
              </a:rPr>
              <a:t>58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048" y="1165860"/>
            <a:ext cx="694944" cy="476097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07058" y="1240612"/>
            <a:ext cx="123571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latin typeface="Cambria"/>
                <a:cs typeface="Cambria"/>
              </a:rPr>
              <a:t>1.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Train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125" dirty="0">
                <a:latin typeface="Cambria"/>
                <a:cs typeface="Cambria"/>
              </a:rPr>
              <a:t>on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100" dirty="0">
                <a:latin typeface="Cambria"/>
                <a:cs typeface="Cambria"/>
              </a:rPr>
              <a:t>Imagenet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73011" y="3400044"/>
            <a:ext cx="57910" cy="5791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6723" y="1165860"/>
            <a:ext cx="696468" cy="476097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401058" y="1071498"/>
            <a:ext cx="1637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90" dirty="0">
                <a:latin typeface="Cambria"/>
                <a:cs typeface="Cambria"/>
              </a:rPr>
              <a:t>2.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Small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dataset: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27857" y="1340230"/>
            <a:ext cx="2813050" cy="4622800"/>
            <a:chOff x="3427857" y="1340230"/>
            <a:chExt cx="2813050" cy="4622800"/>
          </a:xfrm>
        </p:grpSpPr>
        <p:sp>
          <p:nvSpPr>
            <p:cNvPr id="16" name="object 16"/>
            <p:cNvSpPr/>
            <p:nvPr/>
          </p:nvSpPr>
          <p:spPr>
            <a:xfrm>
              <a:off x="3437382" y="5478017"/>
              <a:ext cx="885825" cy="475615"/>
            </a:xfrm>
            <a:custGeom>
              <a:avLst/>
              <a:gdLst/>
              <a:ahLst/>
              <a:cxnLst/>
              <a:rect l="l" t="t" r="r" b="b"/>
              <a:pathLst>
                <a:path w="885825" h="475614">
                  <a:moveTo>
                    <a:pt x="0" y="475487"/>
                  </a:moveTo>
                  <a:lnTo>
                    <a:pt x="885443" y="475487"/>
                  </a:lnTo>
                  <a:lnTo>
                    <a:pt x="885443" y="0"/>
                  </a:lnTo>
                  <a:lnTo>
                    <a:pt x="0" y="0"/>
                  </a:lnTo>
                  <a:lnTo>
                    <a:pt x="0" y="475487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2826" y="5652261"/>
              <a:ext cx="460375" cy="127000"/>
            </a:xfrm>
            <a:custGeom>
              <a:avLst/>
              <a:gdLst/>
              <a:ahLst/>
              <a:cxnLst/>
              <a:rect l="l" t="t" r="r" b="b"/>
              <a:pathLst>
                <a:path w="460375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73025"/>
                  </a:lnTo>
                  <a:lnTo>
                    <a:pt x="114300" y="73025"/>
                  </a:lnTo>
                  <a:lnTo>
                    <a:pt x="114300" y="53975"/>
                  </a:lnTo>
                  <a:lnTo>
                    <a:pt x="127000" y="53975"/>
                  </a:lnTo>
                  <a:lnTo>
                    <a:pt x="127000" y="0"/>
                  </a:lnTo>
                  <a:close/>
                </a:path>
                <a:path w="460375" h="127000">
                  <a:moveTo>
                    <a:pt x="127000" y="53975"/>
                  </a:moveTo>
                  <a:lnTo>
                    <a:pt x="114300" y="53975"/>
                  </a:lnTo>
                  <a:lnTo>
                    <a:pt x="114300" y="73025"/>
                  </a:lnTo>
                  <a:lnTo>
                    <a:pt x="127000" y="73025"/>
                  </a:lnTo>
                  <a:lnTo>
                    <a:pt x="127000" y="53975"/>
                  </a:lnTo>
                  <a:close/>
                </a:path>
                <a:path w="460375" h="127000">
                  <a:moveTo>
                    <a:pt x="459866" y="53975"/>
                  </a:moveTo>
                  <a:lnTo>
                    <a:pt x="127000" y="53975"/>
                  </a:lnTo>
                  <a:lnTo>
                    <a:pt x="127000" y="73025"/>
                  </a:lnTo>
                  <a:lnTo>
                    <a:pt x="459866" y="73025"/>
                  </a:lnTo>
                  <a:lnTo>
                    <a:pt x="459866" y="539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3758" y="1340230"/>
              <a:ext cx="1826640" cy="2362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293870" y="1587245"/>
              <a:ext cx="224154" cy="3801110"/>
            </a:xfrm>
            <a:custGeom>
              <a:avLst/>
              <a:gdLst/>
              <a:ahLst/>
              <a:cxnLst/>
              <a:rect l="l" t="t" r="r" b="b"/>
              <a:pathLst>
                <a:path w="224154" h="3801110">
                  <a:moveTo>
                    <a:pt x="0" y="0"/>
                  </a:moveTo>
                  <a:lnTo>
                    <a:pt x="56529" y="34741"/>
                  </a:lnTo>
                  <a:lnTo>
                    <a:pt x="79200" y="74533"/>
                  </a:lnTo>
                  <a:lnTo>
                    <a:pt x="96717" y="126040"/>
                  </a:lnTo>
                  <a:lnTo>
                    <a:pt x="108011" y="186839"/>
                  </a:lnTo>
                  <a:lnTo>
                    <a:pt x="112013" y="254507"/>
                  </a:lnTo>
                  <a:lnTo>
                    <a:pt x="112013" y="1645919"/>
                  </a:lnTo>
                  <a:lnTo>
                    <a:pt x="116016" y="1713588"/>
                  </a:lnTo>
                  <a:lnTo>
                    <a:pt x="127310" y="1774387"/>
                  </a:lnTo>
                  <a:lnTo>
                    <a:pt x="144827" y="1825894"/>
                  </a:lnTo>
                  <a:lnTo>
                    <a:pt x="167498" y="1865686"/>
                  </a:lnTo>
                  <a:lnTo>
                    <a:pt x="224027" y="1900427"/>
                  </a:lnTo>
                  <a:lnTo>
                    <a:pt x="194255" y="1909517"/>
                  </a:lnTo>
                  <a:lnTo>
                    <a:pt x="144827" y="1974961"/>
                  </a:lnTo>
                  <a:lnTo>
                    <a:pt x="127310" y="2026468"/>
                  </a:lnTo>
                  <a:lnTo>
                    <a:pt x="116016" y="2087267"/>
                  </a:lnTo>
                  <a:lnTo>
                    <a:pt x="112013" y="2154935"/>
                  </a:lnTo>
                  <a:lnTo>
                    <a:pt x="112013" y="3546348"/>
                  </a:lnTo>
                  <a:lnTo>
                    <a:pt x="108011" y="3614016"/>
                  </a:lnTo>
                  <a:lnTo>
                    <a:pt x="96717" y="3674815"/>
                  </a:lnTo>
                  <a:lnTo>
                    <a:pt x="79200" y="3726322"/>
                  </a:lnTo>
                  <a:lnTo>
                    <a:pt x="56529" y="3766114"/>
                  </a:lnTo>
                  <a:lnTo>
                    <a:pt x="29772" y="3791766"/>
                  </a:lnTo>
                  <a:lnTo>
                    <a:pt x="0" y="3800855"/>
                  </a:lnTo>
                </a:path>
              </a:pathLst>
            </a:custGeom>
            <a:ln w="19050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34865" y="3263900"/>
            <a:ext cx="6705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latin typeface="Cambria"/>
                <a:cs typeface="Cambria"/>
              </a:rPr>
              <a:t>F</a:t>
            </a:r>
            <a:r>
              <a:rPr sz="1600" spc="10" dirty="0">
                <a:latin typeface="Cambria"/>
                <a:cs typeface="Cambria"/>
              </a:rPr>
              <a:t>r</a:t>
            </a:r>
            <a:r>
              <a:rPr sz="1600" spc="70" dirty="0">
                <a:latin typeface="Cambria"/>
                <a:cs typeface="Cambria"/>
              </a:rPr>
              <a:t>ee</a:t>
            </a:r>
            <a:r>
              <a:rPr sz="1600" spc="225" dirty="0">
                <a:latin typeface="Cambria"/>
                <a:cs typeface="Cambria"/>
              </a:rPr>
              <a:t>z</a:t>
            </a:r>
            <a:r>
              <a:rPr sz="1600" spc="40" dirty="0">
                <a:latin typeface="Cambria"/>
                <a:cs typeface="Cambria"/>
              </a:rPr>
              <a:t>e  </a:t>
            </a:r>
            <a:r>
              <a:rPr sz="1600" spc="90" dirty="0">
                <a:latin typeface="Cambria"/>
                <a:cs typeface="Cambria"/>
              </a:rPr>
              <a:t>these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43017" y="5532221"/>
            <a:ext cx="5492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85" dirty="0">
                <a:latin typeface="Cambria"/>
                <a:cs typeface="Cambria"/>
              </a:rPr>
              <a:t>T</a:t>
            </a:r>
            <a:r>
              <a:rPr sz="1600" spc="45" dirty="0">
                <a:latin typeface="Cambria"/>
                <a:cs typeface="Cambria"/>
              </a:rPr>
              <a:t>r</a:t>
            </a:r>
            <a:r>
              <a:rPr sz="1600" spc="80" dirty="0">
                <a:latin typeface="Cambria"/>
                <a:cs typeface="Cambria"/>
              </a:rPr>
              <a:t>ain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90" dirty="0">
                <a:latin typeface="Cambria"/>
                <a:cs typeface="Cambria"/>
              </a:rPr>
              <a:t>this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68465" y="1232916"/>
            <a:ext cx="1490345" cy="4797425"/>
            <a:chOff x="6768465" y="1232916"/>
            <a:chExt cx="1490345" cy="479742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8856" y="1232916"/>
              <a:ext cx="694944" cy="476097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777990" y="4382261"/>
              <a:ext cx="885825" cy="1638300"/>
            </a:xfrm>
            <a:custGeom>
              <a:avLst/>
              <a:gdLst/>
              <a:ahLst/>
              <a:cxnLst/>
              <a:rect l="l" t="t" r="r" b="b"/>
              <a:pathLst>
                <a:path w="885825" h="1638300">
                  <a:moveTo>
                    <a:pt x="0" y="1638300"/>
                  </a:moveTo>
                  <a:lnTo>
                    <a:pt x="885444" y="1638300"/>
                  </a:lnTo>
                  <a:lnTo>
                    <a:pt x="885444" y="0"/>
                  </a:lnTo>
                  <a:lnTo>
                    <a:pt x="0" y="0"/>
                  </a:lnTo>
                  <a:lnTo>
                    <a:pt x="0" y="163830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63434" y="5138674"/>
              <a:ext cx="594995" cy="127000"/>
            </a:xfrm>
            <a:custGeom>
              <a:avLst/>
              <a:gdLst/>
              <a:ahLst/>
              <a:cxnLst/>
              <a:rect l="l" t="t" r="r" b="b"/>
              <a:pathLst>
                <a:path w="594995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73025"/>
                  </a:lnTo>
                  <a:lnTo>
                    <a:pt x="114300" y="73025"/>
                  </a:lnTo>
                  <a:lnTo>
                    <a:pt x="114300" y="53975"/>
                  </a:lnTo>
                  <a:lnTo>
                    <a:pt x="127000" y="53975"/>
                  </a:lnTo>
                  <a:lnTo>
                    <a:pt x="127000" y="0"/>
                  </a:lnTo>
                  <a:close/>
                </a:path>
                <a:path w="594995" h="127000">
                  <a:moveTo>
                    <a:pt x="127000" y="53975"/>
                  </a:moveTo>
                  <a:lnTo>
                    <a:pt x="114300" y="53975"/>
                  </a:lnTo>
                  <a:lnTo>
                    <a:pt x="114300" y="73025"/>
                  </a:lnTo>
                  <a:lnTo>
                    <a:pt x="127000" y="73025"/>
                  </a:lnTo>
                  <a:lnTo>
                    <a:pt x="127000" y="53975"/>
                  </a:lnTo>
                  <a:close/>
                </a:path>
                <a:path w="594995" h="127000">
                  <a:moveTo>
                    <a:pt x="594868" y="53975"/>
                  </a:moveTo>
                  <a:lnTo>
                    <a:pt x="127000" y="53975"/>
                  </a:lnTo>
                  <a:lnTo>
                    <a:pt x="127000" y="73025"/>
                  </a:lnTo>
                  <a:lnTo>
                    <a:pt x="594868" y="73025"/>
                  </a:lnTo>
                  <a:lnTo>
                    <a:pt x="594868" y="539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07046" y="1642110"/>
              <a:ext cx="224154" cy="2680970"/>
            </a:xfrm>
            <a:custGeom>
              <a:avLst/>
              <a:gdLst/>
              <a:ahLst/>
              <a:cxnLst/>
              <a:rect l="l" t="t" r="r" b="b"/>
              <a:pathLst>
                <a:path w="224154" h="2680970">
                  <a:moveTo>
                    <a:pt x="0" y="0"/>
                  </a:moveTo>
                  <a:lnTo>
                    <a:pt x="56529" y="34741"/>
                  </a:lnTo>
                  <a:lnTo>
                    <a:pt x="79200" y="74533"/>
                  </a:lnTo>
                  <a:lnTo>
                    <a:pt x="96717" y="126040"/>
                  </a:lnTo>
                  <a:lnTo>
                    <a:pt x="108011" y="186839"/>
                  </a:lnTo>
                  <a:lnTo>
                    <a:pt x="112013" y="254507"/>
                  </a:lnTo>
                  <a:lnTo>
                    <a:pt x="112013" y="1085850"/>
                  </a:lnTo>
                  <a:lnTo>
                    <a:pt x="116016" y="1153518"/>
                  </a:lnTo>
                  <a:lnTo>
                    <a:pt x="127310" y="1214317"/>
                  </a:lnTo>
                  <a:lnTo>
                    <a:pt x="144827" y="1265824"/>
                  </a:lnTo>
                  <a:lnTo>
                    <a:pt x="167498" y="1305616"/>
                  </a:lnTo>
                  <a:lnTo>
                    <a:pt x="224027" y="1340357"/>
                  </a:lnTo>
                  <a:lnTo>
                    <a:pt x="194255" y="1349447"/>
                  </a:lnTo>
                  <a:lnTo>
                    <a:pt x="144827" y="1414891"/>
                  </a:lnTo>
                  <a:lnTo>
                    <a:pt x="127310" y="1466398"/>
                  </a:lnTo>
                  <a:lnTo>
                    <a:pt x="116016" y="1527197"/>
                  </a:lnTo>
                  <a:lnTo>
                    <a:pt x="112013" y="1594865"/>
                  </a:lnTo>
                  <a:lnTo>
                    <a:pt x="112013" y="2426208"/>
                  </a:lnTo>
                  <a:lnTo>
                    <a:pt x="108011" y="2493876"/>
                  </a:lnTo>
                  <a:lnTo>
                    <a:pt x="96717" y="2554675"/>
                  </a:lnTo>
                  <a:lnTo>
                    <a:pt x="79200" y="2606182"/>
                  </a:lnTo>
                  <a:lnTo>
                    <a:pt x="56529" y="2645974"/>
                  </a:lnTo>
                  <a:lnTo>
                    <a:pt x="29772" y="2671626"/>
                  </a:lnTo>
                  <a:lnTo>
                    <a:pt x="0" y="2680716"/>
                  </a:lnTo>
                </a:path>
              </a:pathLst>
            </a:custGeom>
            <a:ln w="19050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955026" y="1104341"/>
            <a:ext cx="1892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85" dirty="0">
                <a:latin typeface="Cambria"/>
                <a:cs typeface="Cambria"/>
              </a:rPr>
              <a:t>3.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Medium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dataset: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67726" y="1373758"/>
            <a:ext cx="1166774" cy="23622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955026" y="1836547"/>
            <a:ext cx="2052955" cy="1251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95" dirty="0">
                <a:solidFill>
                  <a:srgbClr val="FF0000"/>
                </a:solidFill>
                <a:latin typeface="Cambria"/>
                <a:cs typeface="Cambria"/>
              </a:rPr>
              <a:t>more</a:t>
            </a:r>
            <a:r>
              <a:rPr sz="16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60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16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FF0000"/>
                </a:solidFill>
                <a:latin typeface="Cambria"/>
                <a:cs typeface="Cambria"/>
              </a:rPr>
              <a:t>retrain </a:t>
            </a:r>
            <a:r>
              <a:rPr sz="16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FF0000"/>
                </a:solidFill>
                <a:latin typeface="Cambria"/>
                <a:cs typeface="Cambria"/>
              </a:rPr>
              <a:t>more</a:t>
            </a:r>
            <a:r>
              <a:rPr sz="16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13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6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6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FF0000"/>
                </a:solidFill>
                <a:latin typeface="Cambria"/>
                <a:cs typeface="Cambria"/>
              </a:rPr>
              <a:t>network </a:t>
            </a:r>
            <a:r>
              <a:rPr sz="1600" spc="-3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5" dirty="0">
                <a:solidFill>
                  <a:srgbClr val="FF0000"/>
                </a:solidFill>
                <a:latin typeface="Cambria"/>
                <a:cs typeface="Cambria"/>
              </a:rPr>
              <a:t>(or</a:t>
            </a:r>
            <a:r>
              <a:rPr sz="16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FF0000"/>
                </a:solidFill>
                <a:latin typeface="Cambria"/>
                <a:cs typeface="Cambria"/>
              </a:rPr>
              <a:t>all</a:t>
            </a:r>
            <a:r>
              <a:rPr sz="1600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13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6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"/>
                <a:cs typeface="Cambria"/>
              </a:rPr>
              <a:t>it)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Cambria"/>
              <a:cs typeface="Cambria"/>
            </a:endParaRPr>
          </a:p>
          <a:p>
            <a:pPr marL="28575">
              <a:lnSpc>
                <a:spcPct val="100000"/>
              </a:lnSpc>
            </a:pPr>
            <a:r>
              <a:rPr sz="1600" spc="75" dirty="0">
                <a:latin typeface="Cambria"/>
                <a:cs typeface="Cambria"/>
              </a:rPr>
              <a:t>Freeze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these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37295" y="5038090"/>
            <a:ext cx="9874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75" dirty="0">
                <a:latin typeface="Cambria"/>
                <a:cs typeface="Cambria"/>
              </a:rPr>
              <a:t>Train</a:t>
            </a:r>
            <a:r>
              <a:rPr sz="1600" spc="90" dirty="0">
                <a:latin typeface="Cambria"/>
                <a:cs typeface="Cambria"/>
              </a:rPr>
              <a:t> this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85089" y="200355"/>
            <a:ext cx="331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95" dirty="0">
                <a:solidFill>
                  <a:srgbClr val="89B9D3"/>
                </a:solidFill>
                <a:latin typeface="Trebuchet MS"/>
                <a:cs typeface="Trebuchet MS"/>
              </a:rPr>
              <a:t>+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57916" y="281940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199"/>
                </a:lnTo>
                <a:lnTo>
                  <a:pt x="121920" y="1600199"/>
                </a:lnTo>
                <a:lnTo>
                  <a:pt x="121920" y="0"/>
                </a:lnTo>
                <a:close/>
              </a:path>
            </a:pathLst>
          </a:custGeom>
          <a:solidFill>
            <a:srgbClr val="F6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459" y="86614"/>
            <a:ext cx="4386580" cy="5318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509375" y="339597"/>
            <a:ext cx="21780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mbria"/>
                <a:cs typeface="Cambria"/>
              </a:rPr>
              <a:t>59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0159" y="3409188"/>
            <a:ext cx="2970276" cy="193548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8080" y="683412"/>
            <a:ext cx="9933305" cy="5299710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25"/>
              </a:spcBef>
              <a:buClr>
                <a:srgbClr val="89B9D3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95" dirty="0">
                <a:solidFill>
                  <a:srgbClr val="FF0000"/>
                </a:solidFill>
                <a:latin typeface="Cambria"/>
                <a:cs typeface="Cambria"/>
              </a:rPr>
              <a:t>What</a:t>
            </a:r>
            <a:r>
              <a:rPr sz="220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2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FF0000"/>
                </a:solidFill>
                <a:latin typeface="Cambria"/>
                <a:cs typeface="Cambria"/>
              </a:rPr>
              <a:t>Transfer</a:t>
            </a:r>
            <a:r>
              <a:rPr sz="2200" spc="2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FF0000"/>
                </a:solidFill>
                <a:latin typeface="Cambria"/>
                <a:cs typeface="Cambria"/>
              </a:rPr>
              <a:t>Learning?</a:t>
            </a:r>
            <a:endParaRPr sz="22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430"/>
              </a:spcBef>
              <a:buClr>
                <a:srgbClr val="89B9D3"/>
              </a:buClr>
              <a:buSzPct val="75000"/>
              <a:buFont typeface="Wingdings"/>
              <a:buChar char=""/>
              <a:tabLst>
                <a:tab pos="241300" algn="l"/>
                <a:tab pos="678180" algn="l"/>
                <a:tab pos="1932939" algn="l"/>
                <a:tab pos="3284854" algn="l"/>
                <a:tab pos="3888740" algn="l"/>
                <a:tab pos="5516245" algn="l"/>
                <a:tab pos="5967730" algn="l"/>
                <a:tab pos="6467475" algn="l"/>
                <a:tab pos="7633334" algn="l"/>
                <a:tab pos="8776335" algn="l"/>
              </a:tabLst>
            </a:pPr>
            <a:r>
              <a:rPr sz="2200" spc="60" dirty="0">
                <a:solidFill>
                  <a:srgbClr val="5E5E5E"/>
                </a:solidFill>
                <a:latin typeface="Cambria"/>
                <a:cs typeface="Cambria"/>
              </a:rPr>
              <a:t>I</a:t>
            </a:r>
            <a:r>
              <a:rPr sz="2200" spc="100" dirty="0">
                <a:solidFill>
                  <a:srgbClr val="5E5E5E"/>
                </a:solidFill>
                <a:latin typeface="Cambria"/>
                <a:cs typeface="Cambria"/>
              </a:rPr>
              <a:t>n</a:t>
            </a:r>
            <a:r>
              <a:rPr sz="2200" dirty="0">
                <a:solidFill>
                  <a:srgbClr val="5E5E5E"/>
                </a:solidFill>
                <a:latin typeface="Cambria"/>
                <a:cs typeface="Cambria"/>
              </a:rPr>
              <a:t>	</a:t>
            </a:r>
            <a:r>
              <a:rPr sz="2200" spc="120" dirty="0">
                <a:solidFill>
                  <a:srgbClr val="5E5E5E"/>
                </a:solidFill>
                <a:latin typeface="Cambria"/>
                <a:cs typeface="Cambria"/>
              </a:rPr>
              <a:t>transfer</a:t>
            </a:r>
            <a:r>
              <a:rPr sz="2200" dirty="0">
                <a:solidFill>
                  <a:srgbClr val="5E5E5E"/>
                </a:solidFill>
                <a:latin typeface="Cambria"/>
                <a:cs typeface="Cambria"/>
              </a:rPr>
              <a:t>	</a:t>
            </a:r>
            <a:r>
              <a:rPr sz="2200" spc="85" dirty="0">
                <a:solidFill>
                  <a:srgbClr val="5E5E5E"/>
                </a:solidFill>
                <a:latin typeface="Cambria"/>
                <a:cs typeface="Cambria"/>
              </a:rPr>
              <a:t>le</a:t>
            </a:r>
            <a:r>
              <a:rPr sz="2200" spc="105" dirty="0">
                <a:solidFill>
                  <a:srgbClr val="5E5E5E"/>
                </a:solidFill>
                <a:latin typeface="Cambria"/>
                <a:cs typeface="Cambria"/>
              </a:rPr>
              <a:t>arn</a:t>
            </a:r>
            <a:r>
              <a:rPr sz="2200" spc="65" dirty="0">
                <a:solidFill>
                  <a:srgbClr val="5E5E5E"/>
                </a:solidFill>
                <a:latin typeface="Cambria"/>
                <a:cs typeface="Cambria"/>
              </a:rPr>
              <a:t>i</a:t>
            </a:r>
            <a:r>
              <a:rPr sz="2200" spc="150" dirty="0">
                <a:solidFill>
                  <a:srgbClr val="5E5E5E"/>
                </a:solidFill>
                <a:latin typeface="Cambria"/>
                <a:cs typeface="Cambria"/>
              </a:rPr>
              <a:t>n</a:t>
            </a:r>
            <a:r>
              <a:rPr sz="2200" spc="145" dirty="0">
                <a:solidFill>
                  <a:srgbClr val="5E5E5E"/>
                </a:solidFill>
                <a:latin typeface="Cambria"/>
                <a:cs typeface="Cambria"/>
              </a:rPr>
              <a:t>g,</a:t>
            </a:r>
            <a:r>
              <a:rPr sz="2200" dirty="0">
                <a:solidFill>
                  <a:srgbClr val="5E5E5E"/>
                </a:solidFill>
                <a:latin typeface="Cambria"/>
                <a:cs typeface="Cambria"/>
              </a:rPr>
              <a:t>	</a:t>
            </a:r>
            <a:r>
              <a:rPr sz="2200" spc="125" dirty="0">
                <a:solidFill>
                  <a:srgbClr val="5E5E5E"/>
                </a:solidFill>
                <a:latin typeface="Cambria"/>
                <a:cs typeface="Cambria"/>
              </a:rPr>
              <a:t>the</a:t>
            </a:r>
            <a:r>
              <a:rPr sz="2200" dirty="0">
                <a:solidFill>
                  <a:srgbClr val="5E5E5E"/>
                </a:solidFill>
                <a:latin typeface="Cambria"/>
                <a:cs typeface="Cambria"/>
              </a:rPr>
              <a:t>	</a:t>
            </a:r>
            <a:r>
              <a:rPr sz="2200" spc="114" dirty="0">
                <a:solidFill>
                  <a:srgbClr val="5E5E5E"/>
                </a:solidFill>
                <a:latin typeface="Cambria"/>
                <a:cs typeface="Cambria"/>
              </a:rPr>
              <a:t>kno</a:t>
            </a:r>
            <a:r>
              <a:rPr sz="2200" spc="170" dirty="0">
                <a:solidFill>
                  <a:srgbClr val="5E5E5E"/>
                </a:solidFill>
                <a:latin typeface="Cambria"/>
                <a:cs typeface="Cambria"/>
              </a:rPr>
              <a:t>w</a:t>
            </a:r>
            <a:r>
              <a:rPr sz="2200" spc="95" dirty="0">
                <a:solidFill>
                  <a:srgbClr val="5E5E5E"/>
                </a:solidFill>
                <a:latin typeface="Cambria"/>
                <a:cs typeface="Cambria"/>
              </a:rPr>
              <a:t>l</a:t>
            </a:r>
            <a:r>
              <a:rPr sz="2200" spc="150" dirty="0">
                <a:solidFill>
                  <a:srgbClr val="5E5E5E"/>
                </a:solidFill>
                <a:latin typeface="Cambria"/>
                <a:cs typeface="Cambria"/>
              </a:rPr>
              <a:t>ed</a:t>
            </a:r>
            <a:r>
              <a:rPr sz="2200" spc="125" dirty="0">
                <a:solidFill>
                  <a:srgbClr val="5E5E5E"/>
                </a:solidFill>
                <a:latin typeface="Cambria"/>
                <a:cs typeface="Cambria"/>
              </a:rPr>
              <a:t>g</a:t>
            </a:r>
            <a:r>
              <a:rPr sz="2200" spc="90" dirty="0">
                <a:solidFill>
                  <a:srgbClr val="5E5E5E"/>
                </a:solidFill>
                <a:latin typeface="Cambria"/>
                <a:cs typeface="Cambria"/>
              </a:rPr>
              <a:t>e</a:t>
            </a:r>
            <a:r>
              <a:rPr sz="2200" dirty="0">
                <a:solidFill>
                  <a:srgbClr val="5E5E5E"/>
                </a:solidFill>
                <a:latin typeface="Cambria"/>
                <a:cs typeface="Cambria"/>
              </a:rPr>
              <a:t>	</a:t>
            </a:r>
            <a:r>
              <a:rPr sz="2200" spc="215" dirty="0">
                <a:solidFill>
                  <a:srgbClr val="5E5E5E"/>
                </a:solidFill>
                <a:latin typeface="Cambria"/>
                <a:cs typeface="Cambria"/>
              </a:rPr>
              <a:t>o</a:t>
            </a:r>
            <a:r>
              <a:rPr sz="2200" spc="135" dirty="0">
                <a:solidFill>
                  <a:srgbClr val="5E5E5E"/>
                </a:solidFill>
                <a:latin typeface="Cambria"/>
                <a:cs typeface="Cambria"/>
              </a:rPr>
              <a:t>f</a:t>
            </a:r>
            <a:r>
              <a:rPr sz="2200" dirty="0">
                <a:solidFill>
                  <a:srgbClr val="5E5E5E"/>
                </a:solidFill>
                <a:latin typeface="Cambria"/>
                <a:cs typeface="Cambria"/>
              </a:rPr>
              <a:t>	</a:t>
            </a:r>
            <a:r>
              <a:rPr sz="2200" spc="135" dirty="0">
                <a:solidFill>
                  <a:srgbClr val="5E5E5E"/>
                </a:solidFill>
                <a:latin typeface="Cambria"/>
                <a:cs typeface="Cambria"/>
              </a:rPr>
              <a:t>a</a:t>
            </a:r>
            <a:r>
              <a:rPr sz="2200" spc="145" dirty="0">
                <a:solidFill>
                  <a:srgbClr val="5E5E5E"/>
                </a:solidFill>
                <a:latin typeface="Cambria"/>
                <a:cs typeface="Cambria"/>
              </a:rPr>
              <a:t>n</a:t>
            </a:r>
            <a:r>
              <a:rPr sz="2200" dirty="0">
                <a:solidFill>
                  <a:srgbClr val="5E5E5E"/>
                </a:solidFill>
                <a:latin typeface="Cambria"/>
                <a:cs typeface="Cambria"/>
              </a:rPr>
              <a:t>	</a:t>
            </a:r>
            <a:r>
              <a:rPr sz="2200" spc="130" dirty="0">
                <a:solidFill>
                  <a:srgbClr val="5E5E5E"/>
                </a:solidFill>
                <a:latin typeface="Cambria"/>
                <a:cs typeface="Cambria"/>
              </a:rPr>
              <a:t>a</a:t>
            </a:r>
            <a:r>
              <a:rPr sz="2200" spc="60" dirty="0">
                <a:solidFill>
                  <a:srgbClr val="5E5E5E"/>
                </a:solidFill>
                <a:latin typeface="Cambria"/>
                <a:cs typeface="Cambria"/>
              </a:rPr>
              <a:t>l</a:t>
            </a:r>
            <a:r>
              <a:rPr sz="2200" spc="85" dirty="0">
                <a:solidFill>
                  <a:srgbClr val="5E5E5E"/>
                </a:solidFill>
                <a:latin typeface="Cambria"/>
                <a:cs typeface="Cambria"/>
              </a:rPr>
              <a:t>re</a:t>
            </a:r>
            <a:r>
              <a:rPr sz="2200" spc="100" dirty="0">
                <a:solidFill>
                  <a:srgbClr val="5E5E5E"/>
                </a:solidFill>
                <a:latin typeface="Cambria"/>
                <a:cs typeface="Cambria"/>
              </a:rPr>
              <a:t>a</a:t>
            </a:r>
            <a:r>
              <a:rPr sz="2200" spc="145" dirty="0">
                <a:solidFill>
                  <a:srgbClr val="5E5E5E"/>
                </a:solidFill>
                <a:latin typeface="Cambria"/>
                <a:cs typeface="Cambria"/>
              </a:rPr>
              <a:t>dy</a:t>
            </a:r>
            <a:r>
              <a:rPr sz="2200" dirty="0">
                <a:solidFill>
                  <a:srgbClr val="5E5E5E"/>
                </a:solidFill>
                <a:latin typeface="Cambria"/>
                <a:cs typeface="Cambria"/>
              </a:rPr>
              <a:t>	</a:t>
            </a:r>
            <a:r>
              <a:rPr sz="2200" spc="85" dirty="0">
                <a:solidFill>
                  <a:srgbClr val="5E5E5E"/>
                </a:solidFill>
                <a:latin typeface="Cambria"/>
                <a:cs typeface="Cambria"/>
              </a:rPr>
              <a:t>tr</a:t>
            </a:r>
            <a:r>
              <a:rPr sz="2200" spc="100" dirty="0">
                <a:solidFill>
                  <a:srgbClr val="5E5E5E"/>
                </a:solidFill>
                <a:latin typeface="Cambria"/>
                <a:cs typeface="Cambria"/>
              </a:rPr>
              <a:t>a</a:t>
            </a:r>
            <a:r>
              <a:rPr sz="2200" spc="65" dirty="0">
                <a:solidFill>
                  <a:srgbClr val="5E5E5E"/>
                </a:solidFill>
                <a:latin typeface="Cambria"/>
                <a:cs typeface="Cambria"/>
              </a:rPr>
              <a:t>i</a:t>
            </a:r>
            <a:r>
              <a:rPr sz="2200" spc="150" dirty="0">
                <a:solidFill>
                  <a:srgbClr val="5E5E5E"/>
                </a:solidFill>
                <a:latin typeface="Cambria"/>
                <a:cs typeface="Cambria"/>
              </a:rPr>
              <a:t>n</a:t>
            </a:r>
            <a:r>
              <a:rPr sz="2200" spc="100" dirty="0">
                <a:solidFill>
                  <a:srgbClr val="5E5E5E"/>
                </a:solidFill>
                <a:latin typeface="Cambria"/>
                <a:cs typeface="Cambria"/>
              </a:rPr>
              <a:t>e</a:t>
            </a:r>
            <a:r>
              <a:rPr sz="2200" spc="185" dirty="0">
                <a:solidFill>
                  <a:srgbClr val="5E5E5E"/>
                </a:solidFill>
                <a:latin typeface="Cambria"/>
                <a:cs typeface="Cambria"/>
              </a:rPr>
              <a:t>d</a:t>
            </a:r>
            <a:r>
              <a:rPr sz="2200" dirty="0">
                <a:solidFill>
                  <a:srgbClr val="5E5E5E"/>
                </a:solidFill>
                <a:latin typeface="Cambria"/>
                <a:cs typeface="Cambria"/>
              </a:rPr>
              <a:t>	</a:t>
            </a:r>
            <a:r>
              <a:rPr sz="2200" spc="250" dirty="0">
                <a:solidFill>
                  <a:srgbClr val="5E5E5E"/>
                </a:solidFill>
                <a:latin typeface="Cambria"/>
                <a:cs typeface="Cambria"/>
              </a:rPr>
              <a:t>m</a:t>
            </a:r>
            <a:r>
              <a:rPr sz="2200" spc="135" dirty="0">
                <a:solidFill>
                  <a:srgbClr val="5E5E5E"/>
                </a:solidFill>
                <a:latin typeface="Cambria"/>
                <a:cs typeface="Cambria"/>
              </a:rPr>
              <a:t>ac</a:t>
            </a:r>
            <a:r>
              <a:rPr sz="2200" spc="145" dirty="0">
                <a:solidFill>
                  <a:srgbClr val="5E5E5E"/>
                </a:solidFill>
                <a:latin typeface="Cambria"/>
                <a:cs typeface="Cambria"/>
              </a:rPr>
              <a:t>h</a:t>
            </a:r>
            <a:r>
              <a:rPr sz="2200" spc="65" dirty="0">
                <a:solidFill>
                  <a:srgbClr val="5E5E5E"/>
                </a:solidFill>
                <a:latin typeface="Cambria"/>
                <a:cs typeface="Cambria"/>
              </a:rPr>
              <a:t>i</a:t>
            </a:r>
            <a:r>
              <a:rPr sz="2200" spc="120" dirty="0">
                <a:solidFill>
                  <a:srgbClr val="5E5E5E"/>
                </a:solidFill>
                <a:latin typeface="Cambria"/>
                <a:cs typeface="Cambria"/>
              </a:rPr>
              <a:t>ne</a:t>
            </a:r>
            <a:endParaRPr sz="2200">
              <a:latin typeface="Cambria"/>
              <a:cs typeface="Cambria"/>
            </a:endParaRPr>
          </a:p>
          <a:p>
            <a:pPr marL="240665" algn="just">
              <a:lnSpc>
                <a:spcPct val="100000"/>
              </a:lnSpc>
              <a:spcBef>
                <a:spcPts val="1320"/>
              </a:spcBef>
            </a:pPr>
            <a:r>
              <a:rPr sz="2200" spc="105" dirty="0">
                <a:solidFill>
                  <a:srgbClr val="5E5E5E"/>
                </a:solidFill>
                <a:latin typeface="Cambria"/>
                <a:cs typeface="Cambria"/>
              </a:rPr>
              <a:t>learning</a:t>
            </a:r>
            <a:r>
              <a:rPr sz="2200" spc="21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200" spc="150" dirty="0">
                <a:solidFill>
                  <a:srgbClr val="5E5E5E"/>
                </a:solidFill>
                <a:latin typeface="Cambria"/>
                <a:cs typeface="Cambria"/>
              </a:rPr>
              <a:t>model</a:t>
            </a:r>
            <a:r>
              <a:rPr sz="2200" spc="21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5E5E5E"/>
                </a:solidFill>
                <a:latin typeface="Cambria"/>
                <a:cs typeface="Cambria"/>
              </a:rPr>
              <a:t>is</a:t>
            </a:r>
            <a:r>
              <a:rPr sz="2200" spc="18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5E5E5E"/>
                </a:solidFill>
                <a:latin typeface="Cambria"/>
                <a:cs typeface="Cambria"/>
              </a:rPr>
              <a:t>applied</a:t>
            </a:r>
            <a:r>
              <a:rPr sz="2200" spc="254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200" spc="135" dirty="0">
                <a:solidFill>
                  <a:srgbClr val="5E5E5E"/>
                </a:solidFill>
                <a:latin typeface="Cambria"/>
                <a:cs typeface="Cambria"/>
              </a:rPr>
              <a:t>to</a:t>
            </a:r>
            <a:r>
              <a:rPr sz="2200" spc="18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5E5E5E"/>
                </a:solidFill>
                <a:latin typeface="Cambria"/>
                <a:cs typeface="Cambria"/>
              </a:rPr>
              <a:t>a</a:t>
            </a:r>
            <a:r>
              <a:rPr sz="2200" spc="204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5E5E5E"/>
                </a:solidFill>
                <a:latin typeface="Cambria"/>
                <a:cs typeface="Cambria"/>
              </a:rPr>
              <a:t>different</a:t>
            </a:r>
            <a:r>
              <a:rPr sz="2200" spc="19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200" spc="140" dirty="0">
                <a:solidFill>
                  <a:srgbClr val="5E5E5E"/>
                </a:solidFill>
                <a:latin typeface="Cambria"/>
                <a:cs typeface="Cambria"/>
              </a:rPr>
              <a:t>but</a:t>
            </a:r>
            <a:r>
              <a:rPr sz="2200" spc="19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5E5E5E"/>
                </a:solidFill>
                <a:latin typeface="Cambria"/>
                <a:cs typeface="Cambria"/>
              </a:rPr>
              <a:t>related</a:t>
            </a:r>
            <a:r>
              <a:rPr sz="2200" spc="204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5E5E5E"/>
                </a:solidFill>
                <a:latin typeface="Cambria"/>
                <a:cs typeface="Cambria"/>
              </a:rPr>
              <a:t>problem.</a:t>
            </a:r>
            <a:endParaRPr sz="2200">
              <a:latin typeface="Cambria"/>
              <a:cs typeface="Cambria"/>
            </a:endParaRPr>
          </a:p>
          <a:p>
            <a:pPr marL="318135" marR="2061845" lvl="1" indent="-228600" algn="just">
              <a:lnSpc>
                <a:spcPct val="150100"/>
              </a:lnSpc>
              <a:spcBef>
                <a:spcPts val="1465"/>
              </a:spcBef>
              <a:buClr>
                <a:srgbClr val="E84B21"/>
              </a:buClr>
              <a:buSzPct val="75000"/>
              <a:buFont typeface="Wingdings"/>
              <a:buChar char=""/>
              <a:tabLst>
                <a:tab pos="318770" algn="l"/>
              </a:tabLst>
            </a:pPr>
            <a:r>
              <a:rPr sz="2200" spc="135" dirty="0">
                <a:solidFill>
                  <a:srgbClr val="505046"/>
                </a:solidFill>
                <a:latin typeface="Cambria"/>
                <a:cs typeface="Cambria"/>
              </a:rPr>
              <a:t>The </a:t>
            </a:r>
            <a:r>
              <a:rPr sz="2200" spc="110" dirty="0">
                <a:solidFill>
                  <a:srgbClr val="505046"/>
                </a:solidFill>
                <a:latin typeface="Cambria"/>
                <a:cs typeface="Cambria"/>
              </a:rPr>
              <a:t>general</a:t>
            </a:r>
            <a:r>
              <a:rPr sz="2200" spc="114" dirty="0">
                <a:solidFill>
                  <a:srgbClr val="505046"/>
                </a:solidFill>
                <a:latin typeface="Cambria"/>
                <a:cs typeface="Cambria"/>
              </a:rPr>
              <a:t> idea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505046"/>
                </a:solidFill>
                <a:latin typeface="Cambria"/>
                <a:cs typeface="Cambria"/>
              </a:rPr>
              <a:t>is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40" dirty="0">
                <a:solidFill>
                  <a:srgbClr val="505046"/>
                </a:solidFill>
                <a:latin typeface="Cambria"/>
                <a:cs typeface="Cambria"/>
              </a:rPr>
              <a:t>to </a:t>
            </a:r>
            <a:r>
              <a:rPr sz="2200" spc="135" dirty="0">
                <a:solidFill>
                  <a:srgbClr val="505046"/>
                </a:solidFill>
                <a:latin typeface="Cambria"/>
                <a:cs typeface="Cambria"/>
              </a:rPr>
              <a:t>use 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the</a:t>
            </a:r>
            <a:r>
              <a:rPr sz="2200" spc="125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knowledge</a:t>
            </a:r>
            <a:r>
              <a:rPr sz="2200" spc="125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75" dirty="0">
                <a:solidFill>
                  <a:srgbClr val="505046"/>
                </a:solidFill>
                <a:latin typeface="Cambria"/>
                <a:cs typeface="Cambria"/>
              </a:rPr>
              <a:t>of </a:t>
            </a:r>
            <a:r>
              <a:rPr sz="2200" spc="114" dirty="0">
                <a:solidFill>
                  <a:srgbClr val="505046"/>
                </a:solidFill>
                <a:latin typeface="Cambria"/>
                <a:cs typeface="Cambria"/>
              </a:rPr>
              <a:t>a  </a:t>
            </a:r>
            <a:r>
              <a:rPr sz="2200" spc="150" dirty="0">
                <a:solidFill>
                  <a:srgbClr val="505046"/>
                </a:solidFill>
                <a:latin typeface="Cambria"/>
                <a:cs typeface="Cambria"/>
              </a:rPr>
              <a:t>model </a:t>
            </a:r>
            <a:r>
              <a:rPr sz="2200" spc="155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(that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learned</a:t>
            </a:r>
            <a:r>
              <a:rPr sz="2000" spc="10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FF0066"/>
                </a:solidFill>
                <a:latin typeface="Cambria"/>
                <a:cs typeface="Cambria"/>
              </a:rPr>
              <a:t>from</a:t>
            </a:r>
            <a:r>
              <a:rPr sz="2000" spc="1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FF0066"/>
                </a:solidFill>
                <a:latin typeface="Cambria"/>
                <a:cs typeface="Cambria"/>
              </a:rPr>
              <a:t>a</a:t>
            </a:r>
            <a:r>
              <a:rPr sz="2000" spc="114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FF0066"/>
                </a:solidFill>
                <a:latin typeface="Cambria"/>
                <a:cs typeface="Cambria"/>
              </a:rPr>
              <a:t>task</a:t>
            </a:r>
            <a:r>
              <a:rPr sz="2000" spc="13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with</a:t>
            </a:r>
            <a:r>
              <a:rPr sz="2000" spc="9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FF0066"/>
                </a:solidFill>
                <a:latin typeface="Cambria"/>
                <a:cs typeface="Cambria"/>
              </a:rPr>
              <a:t>a</a:t>
            </a:r>
            <a:r>
              <a:rPr sz="2000" spc="114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FF0066"/>
                </a:solidFill>
                <a:latin typeface="Cambria"/>
                <a:cs typeface="Cambria"/>
              </a:rPr>
              <a:t>lot</a:t>
            </a:r>
            <a:r>
              <a:rPr sz="2000" spc="11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FF0066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available</a:t>
            </a:r>
            <a:r>
              <a:rPr sz="2000" spc="9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FF0066"/>
                </a:solidFill>
                <a:latin typeface="Cambria"/>
                <a:cs typeface="Cambria"/>
              </a:rPr>
              <a:t>labeled </a:t>
            </a:r>
            <a:r>
              <a:rPr sz="2000" spc="11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training</a:t>
            </a:r>
            <a:r>
              <a:rPr sz="2000" spc="10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data)</a:t>
            </a:r>
            <a:r>
              <a:rPr sz="2000" spc="8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505046"/>
                </a:solidFill>
                <a:latin typeface="Cambria"/>
                <a:cs typeface="Cambria"/>
              </a:rPr>
              <a:t>in</a:t>
            </a:r>
            <a:r>
              <a:rPr sz="2200" spc="114" dirty="0">
                <a:solidFill>
                  <a:srgbClr val="505046"/>
                </a:solidFill>
                <a:latin typeface="Cambria"/>
                <a:cs typeface="Cambria"/>
              </a:rPr>
              <a:t> a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505046"/>
                </a:solidFill>
                <a:latin typeface="Cambria"/>
                <a:cs typeface="Cambria"/>
              </a:rPr>
              <a:t>new</a:t>
            </a:r>
            <a:r>
              <a:rPr sz="2200" spc="100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40" dirty="0">
                <a:solidFill>
                  <a:srgbClr val="505046"/>
                </a:solidFill>
                <a:latin typeface="Cambria"/>
                <a:cs typeface="Cambria"/>
              </a:rPr>
              <a:t>task</a:t>
            </a:r>
            <a:r>
              <a:rPr sz="2200" spc="145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505046"/>
                </a:solidFill>
                <a:latin typeface="Cambria"/>
                <a:cs typeface="Cambria"/>
              </a:rPr>
              <a:t>that  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doesn't  </a:t>
            </a:r>
            <a:r>
              <a:rPr sz="2200" spc="110" dirty="0">
                <a:solidFill>
                  <a:srgbClr val="505046"/>
                </a:solidFill>
                <a:latin typeface="Cambria"/>
                <a:cs typeface="Cambria"/>
              </a:rPr>
              <a:t>have  </a:t>
            </a:r>
            <a:r>
              <a:rPr sz="2200" spc="180" dirty="0">
                <a:solidFill>
                  <a:srgbClr val="505046"/>
                </a:solidFill>
                <a:latin typeface="Cambria"/>
                <a:cs typeface="Cambria"/>
              </a:rPr>
              <a:t>much </a:t>
            </a:r>
            <a:r>
              <a:rPr sz="2200" spc="185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505046"/>
                </a:solidFill>
                <a:latin typeface="Cambria"/>
                <a:cs typeface="Cambria"/>
              </a:rPr>
              <a:t>data.</a:t>
            </a:r>
            <a:endParaRPr sz="2200">
              <a:latin typeface="Cambria"/>
              <a:cs typeface="Cambria"/>
            </a:endParaRPr>
          </a:p>
          <a:p>
            <a:pPr marL="318135" marR="2061845" lvl="1" indent="-228600" algn="just">
              <a:lnSpc>
                <a:spcPct val="150000"/>
              </a:lnSpc>
              <a:spcBef>
                <a:spcPts val="605"/>
              </a:spcBef>
              <a:buClr>
                <a:srgbClr val="E84B21"/>
              </a:buClr>
              <a:buSzPct val="75000"/>
              <a:buFont typeface="Wingdings"/>
              <a:buChar char=""/>
              <a:tabLst>
                <a:tab pos="318770" algn="l"/>
              </a:tabLst>
            </a:pPr>
            <a:r>
              <a:rPr sz="2200" spc="114" dirty="0">
                <a:solidFill>
                  <a:srgbClr val="505046"/>
                </a:solidFill>
                <a:latin typeface="Cambria"/>
                <a:cs typeface="Cambria"/>
              </a:rPr>
              <a:t>Instead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85" dirty="0">
                <a:solidFill>
                  <a:srgbClr val="505046"/>
                </a:solidFill>
                <a:latin typeface="Cambria"/>
                <a:cs typeface="Cambria"/>
              </a:rPr>
              <a:t>of </a:t>
            </a:r>
            <a:r>
              <a:rPr sz="2200" spc="114" dirty="0">
                <a:solidFill>
                  <a:srgbClr val="505046"/>
                </a:solidFill>
                <a:latin typeface="Cambria"/>
                <a:cs typeface="Cambria"/>
              </a:rPr>
              <a:t>starting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25" dirty="0">
                <a:solidFill>
                  <a:srgbClr val="505046"/>
                </a:solidFill>
                <a:latin typeface="Cambria"/>
                <a:cs typeface="Cambria"/>
              </a:rPr>
              <a:t>the </a:t>
            </a:r>
            <a:r>
              <a:rPr sz="2200" spc="110" dirty="0">
                <a:solidFill>
                  <a:srgbClr val="505046"/>
                </a:solidFill>
                <a:latin typeface="Cambria"/>
                <a:cs typeface="Cambria"/>
              </a:rPr>
              <a:t>learning  </a:t>
            </a:r>
            <a:r>
              <a:rPr sz="2200" spc="135" dirty="0">
                <a:solidFill>
                  <a:srgbClr val="505046"/>
                </a:solidFill>
                <a:latin typeface="Cambria"/>
                <a:cs typeface="Cambria"/>
              </a:rPr>
              <a:t>process </a:t>
            </a:r>
            <a:r>
              <a:rPr sz="2200" spc="165" dirty="0">
                <a:solidFill>
                  <a:srgbClr val="505046"/>
                </a:solidFill>
                <a:latin typeface="Cambria"/>
                <a:cs typeface="Cambria"/>
              </a:rPr>
              <a:t>from </a:t>
            </a:r>
            <a:r>
              <a:rPr sz="2200" spc="130" dirty="0">
                <a:solidFill>
                  <a:srgbClr val="505046"/>
                </a:solidFill>
                <a:latin typeface="Cambria"/>
                <a:cs typeface="Cambria"/>
              </a:rPr>
              <a:t>scratch, </a:t>
            </a:r>
            <a:r>
              <a:rPr sz="2200" spc="135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505046"/>
                </a:solidFill>
                <a:latin typeface="Cambria"/>
                <a:cs typeface="Cambria"/>
              </a:rPr>
              <a:t>we </a:t>
            </a:r>
            <a:r>
              <a:rPr sz="2200" spc="110" dirty="0">
                <a:solidFill>
                  <a:srgbClr val="505046"/>
                </a:solidFill>
                <a:latin typeface="Cambria"/>
                <a:cs typeface="Cambria"/>
              </a:rPr>
              <a:t>start </a:t>
            </a:r>
            <a:r>
              <a:rPr sz="2200" spc="100" dirty="0">
                <a:solidFill>
                  <a:srgbClr val="505046"/>
                </a:solidFill>
                <a:latin typeface="Cambria"/>
                <a:cs typeface="Cambria"/>
              </a:rPr>
              <a:t>with 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patterns </a:t>
            </a:r>
            <a:r>
              <a:rPr sz="2200" spc="110" dirty="0">
                <a:solidFill>
                  <a:srgbClr val="505046"/>
                </a:solidFill>
                <a:latin typeface="Cambria"/>
                <a:cs typeface="Cambria"/>
              </a:rPr>
              <a:t>learned </a:t>
            </a:r>
            <a:r>
              <a:rPr sz="2200" spc="165" dirty="0">
                <a:solidFill>
                  <a:srgbClr val="505046"/>
                </a:solidFill>
                <a:latin typeface="Cambria"/>
                <a:cs typeface="Cambria"/>
              </a:rPr>
              <a:t>from </a:t>
            </a:r>
            <a:r>
              <a:rPr sz="2200" spc="120" dirty="0">
                <a:solidFill>
                  <a:srgbClr val="505046"/>
                </a:solidFill>
                <a:latin typeface="Cambria"/>
                <a:cs typeface="Cambria"/>
              </a:rPr>
              <a:t>solving </a:t>
            </a:r>
            <a:r>
              <a:rPr sz="2200" spc="114" dirty="0">
                <a:solidFill>
                  <a:srgbClr val="505046"/>
                </a:solidFill>
                <a:latin typeface="Cambria"/>
                <a:cs typeface="Cambria"/>
              </a:rPr>
              <a:t>a </a:t>
            </a:r>
            <a:r>
              <a:rPr sz="2200" spc="105" dirty="0">
                <a:solidFill>
                  <a:srgbClr val="505046"/>
                </a:solidFill>
                <a:latin typeface="Cambria"/>
                <a:cs typeface="Cambria"/>
              </a:rPr>
              <a:t>related </a:t>
            </a:r>
            <a:r>
              <a:rPr sz="2200" spc="110" dirty="0">
                <a:solidFill>
                  <a:srgbClr val="505046"/>
                </a:solidFill>
                <a:latin typeface="Cambria"/>
                <a:cs typeface="Cambria"/>
              </a:rPr>
              <a:t> </a:t>
            </a:r>
            <a:r>
              <a:rPr sz="2200" spc="135" dirty="0">
                <a:solidFill>
                  <a:srgbClr val="505046"/>
                </a:solidFill>
                <a:latin typeface="Cambria"/>
                <a:cs typeface="Cambria"/>
              </a:rPr>
              <a:t>task.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85089" y="200355"/>
            <a:ext cx="331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95" dirty="0">
                <a:solidFill>
                  <a:srgbClr val="89B9D3"/>
                </a:solidFill>
                <a:latin typeface="Trebuchet MS"/>
                <a:cs typeface="Trebuchet MS"/>
              </a:rPr>
              <a:t>+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57916" y="281940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199"/>
                </a:lnTo>
                <a:lnTo>
                  <a:pt x="121920" y="1600199"/>
                </a:lnTo>
                <a:lnTo>
                  <a:pt x="121920" y="0"/>
                </a:lnTo>
                <a:close/>
              </a:path>
            </a:pathLst>
          </a:custGeom>
          <a:solidFill>
            <a:srgbClr val="F6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459" y="86614"/>
            <a:ext cx="7201408" cy="5318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509375" y="339597"/>
            <a:ext cx="21780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mbria"/>
                <a:cs typeface="Cambria"/>
              </a:rPr>
              <a:t>60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618478" y="1441958"/>
            <a:ext cx="4006850" cy="295910"/>
            <a:chOff x="6618478" y="1441958"/>
            <a:chExt cx="4006850" cy="29591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8478" y="1441958"/>
              <a:ext cx="847725" cy="2956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5906" y="1441958"/>
              <a:ext cx="676275" cy="2956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6926" y="1441958"/>
              <a:ext cx="295655" cy="2956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64754" y="1441958"/>
              <a:ext cx="1107909" cy="2956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28760" y="1441958"/>
              <a:ext cx="1177861" cy="2956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54996" y="1441958"/>
              <a:ext cx="370331" cy="295656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989380" y="1898853"/>
            <a:ext cx="2068830" cy="296545"/>
            <a:chOff x="989380" y="1898853"/>
            <a:chExt cx="2068830" cy="29654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9380" y="1898853"/>
              <a:ext cx="544576" cy="2959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77009" y="1898853"/>
              <a:ext cx="700798" cy="2959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38806" y="1898853"/>
              <a:ext cx="915669" cy="2959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23666" y="1898853"/>
              <a:ext cx="134112" cy="29596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04405" y="838200"/>
            <a:ext cx="9765665" cy="337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6350" indent="-228600" algn="just">
              <a:lnSpc>
                <a:spcPct val="150000"/>
              </a:lnSpc>
              <a:spcBef>
                <a:spcPts val="100"/>
              </a:spcBef>
              <a:buClr>
                <a:srgbClr val="89B9D3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70" dirty="0">
                <a:solidFill>
                  <a:srgbClr val="5E5E5E"/>
                </a:solidFill>
                <a:latin typeface="Cambria"/>
                <a:cs typeface="Cambria"/>
              </a:rPr>
              <a:t>In </a:t>
            </a:r>
            <a:r>
              <a:rPr sz="2000" spc="105" dirty="0">
                <a:solidFill>
                  <a:srgbClr val="5E5E5E"/>
                </a:solidFill>
                <a:latin typeface="Cambria"/>
                <a:cs typeface="Cambria"/>
              </a:rPr>
              <a:t>neural networks </a:t>
            </a:r>
            <a:r>
              <a:rPr sz="2000" spc="114" dirty="0">
                <a:solidFill>
                  <a:srgbClr val="5E5E5E"/>
                </a:solidFill>
                <a:latin typeface="Cambria"/>
                <a:cs typeface="Cambria"/>
              </a:rPr>
              <a:t>dealing </a:t>
            </a:r>
            <a:r>
              <a:rPr sz="2000" spc="90" dirty="0">
                <a:solidFill>
                  <a:srgbClr val="5E5E5E"/>
                </a:solidFill>
                <a:latin typeface="Cambria"/>
                <a:cs typeface="Cambria"/>
              </a:rPr>
              <a:t>with </a:t>
            </a:r>
            <a:r>
              <a:rPr sz="2000" spc="120" dirty="0">
                <a:solidFill>
                  <a:srgbClr val="5E5E5E"/>
                </a:solidFill>
                <a:latin typeface="Cambria"/>
                <a:cs typeface="Cambria"/>
              </a:rPr>
              <a:t>images, </a:t>
            </a:r>
            <a:r>
              <a:rPr sz="2000" spc="114" dirty="0">
                <a:solidFill>
                  <a:srgbClr val="5E5E5E"/>
                </a:solidFill>
                <a:latin typeface="Cambria"/>
                <a:cs typeface="Cambria"/>
              </a:rPr>
              <a:t>usually </a:t>
            </a:r>
            <a:r>
              <a:rPr sz="2000" spc="75" dirty="0">
                <a:solidFill>
                  <a:srgbClr val="5E5E5E"/>
                </a:solidFill>
                <a:latin typeface="Cambria"/>
                <a:cs typeface="Cambria"/>
              </a:rPr>
              <a:t>try </a:t>
            </a:r>
            <a:r>
              <a:rPr sz="2000" spc="120" dirty="0">
                <a:solidFill>
                  <a:srgbClr val="5E5E5E"/>
                </a:solidFill>
                <a:latin typeface="Cambria"/>
                <a:cs typeface="Cambria"/>
              </a:rPr>
              <a:t>to </a:t>
            </a:r>
            <a:r>
              <a:rPr sz="2000" spc="114" dirty="0">
                <a:solidFill>
                  <a:srgbClr val="FF0066"/>
                </a:solidFill>
                <a:latin typeface="Cambria"/>
                <a:cs typeface="Cambria"/>
              </a:rPr>
              <a:t>detect </a:t>
            </a:r>
            <a:r>
              <a:rPr sz="2000" spc="130" dirty="0">
                <a:solidFill>
                  <a:srgbClr val="FF0066"/>
                </a:solidFill>
                <a:latin typeface="Cambria"/>
                <a:cs typeface="Cambria"/>
              </a:rPr>
              <a:t>edges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in </a:t>
            </a:r>
            <a:r>
              <a:rPr sz="2000" spc="110" dirty="0">
                <a:solidFill>
                  <a:srgbClr val="FF0066"/>
                </a:solidFill>
                <a:latin typeface="Cambria"/>
                <a:cs typeface="Cambria"/>
              </a:rPr>
              <a:t>the </a:t>
            </a:r>
            <a:r>
              <a:rPr sz="2000" spc="114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earlier</a:t>
            </a:r>
            <a:r>
              <a:rPr sz="2000" spc="1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FF0066"/>
                </a:solidFill>
                <a:latin typeface="Cambria"/>
                <a:cs typeface="Cambria"/>
              </a:rPr>
              <a:t>layers</a:t>
            </a:r>
            <a:r>
              <a:rPr sz="2000" spc="95" dirty="0">
                <a:solidFill>
                  <a:srgbClr val="5E5E5E"/>
                </a:solidFill>
                <a:latin typeface="Cambria"/>
                <a:cs typeface="Cambria"/>
              </a:rPr>
              <a:t>,</a:t>
            </a:r>
            <a:r>
              <a:rPr sz="2000" spc="19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0066FF"/>
                </a:solidFill>
                <a:latin typeface="Cambria"/>
                <a:cs typeface="Cambria"/>
              </a:rPr>
              <a:t>shapes</a:t>
            </a:r>
            <a:r>
              <a:rPr sz="2000" spc="17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0066FF"/>
                </a:solidFill>
                <a:latin typeface="Cambria"/>
                <a:cs typeface="Cambria"/>
              </a:rPr>
              <a:t>in</a:t>
            </a:r>
            <a:r>
              <a:rPr sz="2000" spc="18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0066FF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0066FF"/>
                </a:solidFill>
                <a:latin typeface="Cambria"/>
                <a:cs typeface="Cambria"/>
              </a:rPr>
              <a:t>middle</a:t>
            </a:r>
            <a:r>
              <a:rPr sz="2000" spc="19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0066FF"/>
                </a:solidFill>
                <a:latin typeface="Cambria"/>
                <a:cs typeface="Cambria"/>
              </a:rPr>
              <a:t>layer</a:t>
            </a:r>
            <a:r>
              <a:rPr sz="2000" spc="17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5E5E5E"/>
                </a:solidFill>
                <a:latin typeface="Cambria"/>
                <a:cs typeface="Cambria"/>
              </a:rPr>
              <a:t>and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89B9D3"/>
              </a:buClr>
              <a:buFont typeface="Wingdings"/>
              <a:buChar char=""/>
            </a:pPr>
            <a:endParaRPr sz="2300" dirty="0">
              <a:latin typeface="Cambria"/>
              <a:cs typeface="Cambria"/>
            </a:endParaRPr>
          </a:p>
          <a:p>
            <a:pPr marL="240665" marR="5080" indent="-228600" algn="just">
              <a:lnSpc>
                <a:spcPct val="150000"/>
              </a:lnSpc>
              <a:spcBef>
                <a:spcPts val="1505"/>
              </a:spcBef>
              <a:buClr>
                <a:srgbClr val="89B9D3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70" dirty="0">
                <a:solidFill>
                  <a:srgbClr val="5E5E5E"/>
                </a:solidFill>
                <a:latin typeface="Cambria"/>
                <a:cs typeface="Cambria"/>
              </a:rPr>
              <a:t>In</a:t>
            </a:r>
            <a:r>
              <a:rPr sz="2000" spc="7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FF0066"/>
                </a:solidFill>
                <a:latin typeface="Cambria"/>
                <a:cs typeface="Cambria"/>
              </a:rPr>
              <a:t>transfer</a:t>
            </a:r>
            <a:r>
              <a:rPr sz="2000" spc="114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learning</a:t>
            </a:r>
            <a:r>
              <a:rPr sz="2000" spc="100" dirty="0">
                <a:solidFill>
                  <a:srgbClr val="5E5E5E"/>
                </a:solidFill>
                <a:latin typeface="Cambria"/>
                <a:cs typeface="Cambria"/>
              </a:rPr>
              <a:t>,</a:t>
            </a:r>
            <a:r>
              <a:rPr sz="2000" spc="10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5E5E5E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E5E5E"/>
                </a:solidFill>
                <a:latin typeface="Cambria"/>
                <a:cs typeface="Cambria"/>
              </a:rPr>
              <a:t>early</a:t>
            </a:r>
            <a:r>
              <a:rPr sz="2000" spc="8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5E5E5E"/>
                </a:solidFill>
                <a:latin typeface="Cambria"/>
                <a:cs typeface="Cambria"/>
              </a:rPr>
              <a:t>and</a:t>
            </a:r>
            <a:r>
              <a:rPr sz="2000" spc="15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5E5E5E"/>
                </a:solidFill>
                <a:latin typeface="Cambria"/>
                <a:cs typeface="Cambria"/>
              </a:rPr>
              <a:t>middle</a:t>
            </a:r>
            <a:r>
              <a:rPr sz="2000" spc="13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5E5E5E"/>
                </a:solidFill>
                <a:latin typeface="Cambria"/>
                <a:cs typeface="Cambria"/>
              </a:rPr>
              <a:t>layers</a:t>
            </a:r>
            <a:r>
              <a:rPr sz="2000" spc="10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E5E5E"/>
                </a:solidFill>
                <a:latin typeface="Cambria"/>
                <a:cs typeface="Cambria"/>
              </a:rPr>
              <a:t>are</a:t>
            </a:r>
            <a:r>
              <a:rPr sz="2000" spc="8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5E5E5E"/>
                </a:solidFill>
                <a:latin typeface="Cambria"/>
                <a:cs typeface="Cambria"/>
              </a:rPr>
              <a:t>used,  </a:t>
            </a:r>
            <a:r>
              <a:rPr sz="2000" spc="145" dirty="0">
                <a:solidFill>
                  <a:srgbClr val="5E5E5E"/>
                </a:solidFill>
                <a:latin typeface="Cambria"/>
                <a:cs typeface="Cambria"/>
              </a:rPr>
              <a:t>and  </a:t>
            </a:r>
            <a:r>
              <a:rPr sz="2000" spc="60" dirty="0">
                <a:solidFill>
                  <a:srgbClr val="5E5E5E"/>
                </a:solidFill>
                <a:latin typeface="Cambria"/>
                <a:cs typeface="Cambria"/>
              </a:rPr>
              <a:t>we  </a:t>
            </a:r>
            <a:r>
              <a:rPr sz="2000" spc="110" dirty="0">
                <a:solidFill>
                  <a:srgbClr val="5E5E5E"/>
                </a:solidFill>
                <a:latin typeface="Cambria"/>
                <a:cs typeface="Cambria"/>
              </a:rPr>
              <a:t>only </a:t>
            </a:r>
            <a:r>
              <a:rPr sz="2000" spc="114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0066FF"/>
                </a:solidFill>
                <a:latin typeface="Cambria"/>
                <a:cs typeface="Cambria"/>
              </a:rPr>
              <a:t>retrain </a:t>
            </a:r>
            <a:r>
              <a:rPr sz="2000" spc="114" dirty="0">
                <a:solidFill>
                  <a:srgbClr val="5E5E5E"/>
                </a:solidFill>
                <a:latin typeface="Cambria"/>
                <a:cs typeface="Cambria"/>
              </a:rPr>
              <a:t>the </a:t>
            </a:r>
            <a:r>
              <a:rPr sz="2000" spc="110" dirty="0">
                <a:solidFill>
                  <a:srgbClr val="0066FF"/>
                </a:solidFill>
                <a:latin typeface="Cambria"/>
                <a:cs typeface="Cambria"/>
              </a:rPr>
              <a:t>task-specific </a:t>
            </a:r>
            <a:r>
              <a:rPr sz="2000" spc="95" dirty="0">
                <a:solidFill>
                  <a:srgbClr val="0066FF"/>
                </a:solidFill>
                <a:latin typeface="Cambria"/>
                <a:cs typeface="Cambria"/>
              </a:rPr>
              <a:t>layers</a:t>
            </a:r>
            <a:r>
              <a:rPr sz="2000" spc="95" dirty="0">
                <a:solidFill>
                  <a:srgbClr val="5E5E5E"/>
                </a:solidFill>
                <a:latin typeface="Cambria"/>
                <a:cs typeface="Cambria"/>
              </a:rPr>
              <a:t>. </a:t>
            </a:r>
            <a:r>
              <a:rPr sz="2000" spc="50" dirty="0">
                <a:solidFill>
                  <a:srgbClr val="5E5E5E"/>
                </a:solidFill>
                <a:latin typeface="Cambria"/>
                <a:cs typeface="Cambria"/>
              </a:rPr>
              <a:t>It </a:t>
            </a:r>
            <a:r>
              <a:rPr sz="2000" spc="125" dirty="0">
                <a:solidFill>
                  <a:srgbClr val="5E5E5E"/>
                </a:solidFill>
                <a:latin typeface="Cambria"/>
                <a:cs typeface="Cambria"/>
              </a:rPr>
              <a:t>helps </a:t>
            </a:r>
            <a:r>
              <a:rPr sz="2000" spc="114" dirty="0">
                <a:solidFill>
                  <a:srgbClr val="5E5E5E"/>
                </a:solidFill>
                <a:latin typeface="Cambria"/>
                <a:cs typeface="Cambria"/>
              </a:rPr>
              <a:t>influence the </a:t>
            </a:r>
            <a:r>
              <a:rPr sz="2000" spc="100" dirty="0">
                <a:solidFill>
                  <a:srgbClr val="5E5E5E"/>
                </a:solidFill>
                <a:latin typeface="Cambria"/>
                <a:cs typeface="Cambria"/>
              </a:rPr>
              <a:t>labeled </a:t>
            </a:r>
            <a:r>
              <a:rPr sz="2000" spc="125" dirty="0">
                <a:solidFill>
                  <a:srgbClr val="5E5E5E"/>
                </a:solidFill>
                <a:latin typeface="Cambria"/>
                <a:cs typeface="Cambria"/>
              </a:rPr>
              <a:t>data </a:t>
            </a:r>
            <a:r>
              <a:rPr sz="2000" spc="170" dirty="0">
                <a:solidFill>
                  <a:srgbClr val="5E5E5E"/>
                </a:solidFill>
                <a:latin typeface="Cambria"/>
                <a:cs typeface="Cambria"/>
              </a:rPr>
              <a:t>of </a:t>
            </a:r>
            <a:r>
              <a:rPr sz="2000" spc="114" dirty="0">
                <a:solidFill>
                  <a:srgbClr val="5E5E5E"/>
                </a:solidFill>
                <a:latin typeface="Cambria"/>
                <a:cs typeface="Cambria"/>
              </a:rPr>
              <a:t>the </a:t>
            </a:r>
            <a:r>
              <a:rPr sz="2000" spc="130" dirty="0">
                <a:solidFill>
                  <a:srgbClr val="5E5E5E"/>
                </a:solidFill>
                <a:latin typeface="Cambria"/>
                <a:cs typeface="Cambria"/>
              </a:rPr>
              <a:t>task </a:t>
            </a:r>
            <a:r>
              <a:rPr sz="2000" spc="13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5E5E5E"/>
                </a:solidFill>
                <a:latin typeface="Cambria"/>
                <a:cs typeface="Cambria"/>
              </a:rPr>
              <a:t>it</a:t>
            </a:r>
            <a:r>
              <a:rPr sz="2000" spc="17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5E5E5E"/>
                </a:solidFill>
                <a:latin typeface="Cambria"/>
                <a:cs typeface="Cambria"/>
              </a:rPr>
              <a:t>was</a:t>
            </a:r>
            <a:r>
              <a:rPr sz="2000" spc="16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5E5E5E"/>
                </a:solidFill>
                <a:latin typeface="Cambria"/>
                <a:cs typeface="Cambria"/>
              </a:rPr>
              <a:t>initially</a:t>
            </a:r>
            <a:r>
              <a:rPr sz="2000" spc="204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5E5E5E"/>
                </a:solidFill>
                <a:latin typeface="Cambria"/>
                <a:cs typeface="Cambria"/>
              </a:rPr>
              <a:t>trained</a:t>
            </a:r>
            <a:r>
              <a:rPr sz="2000" spc="180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5E5E5E"/>
                </a:solidFill>
                <a:latin typeface="Cambria"/>
                <a:cs typeface="Cambria"/>
              </a:rPr>
              <a:t>on.</a:t>
            </a:r>
            <a:endParaRPr sz="2000" dirty="0">
              <a:latin typeface="Cambria"/>
              <a:cs typeface="Cambria"/>
            </a:endParaRPr>
          </a:p>
          <a:p>
            <a:pPr marL="697865" lvl="1" indent="-229235">
              <a:lnSpc>
                <a:spcPct val="100000"/>
              </a:lnSpc>
              <a:spcBef>
                <a:spcPts val="1800"/>
              </a:spcBef>
              <a:buClr>
                <a:srgbClr val="89B9D3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2000" spc="120" dirty="0">
                <a:solidFill>
                  <a:srgbClr val="5E5E5E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0066FF"/>
                </a:solidFill>
                <a:latin typeface="Cambria"/>
                <a:cs typeface="Cambria"/>
              </a:rPr>
              <a:t>task</a:t>
            </a:r>
            <a:r>
              <a:rPr sz="2000" spc="18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0066FF"/>
                </a:solidFill>
                <a:latin typeface="Cambria"/>
                <a:cs typeface="Cambria"/>
              </a:rPr>
              <a:t>1</a:t>
            </a:r>
            <a:r>
              <a:rPr sz="2000" spc="16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5E5E5E"/>
                </a:solidFill>
                <a:latin typeface="Cambria"/>
                <a:cs typeface="Cambria"/>
              </a:rPr>
              <a:t>and</a:t>
            </a:r>
            <a:r>
              <a:rPr sz="2000" spc="16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0066FF"/>
                </a:solidFill>
                <a:latin typeface="Cambria"/>
                <a:cs typeface="Cambria"/>
              </a:rPr>
              <a:t>task</a:t>
            </a:r>
            <a:r>
              <a:rPr sz="2000" spc="19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0066FF"/>
                </a:solidFill>
                <a:latin typeface="Cambria"/>
                <a:cs typeface="Cambria"/>
              </a:rPr>
              <a:t>2</a:t>
            </a:r>
            <a:r>
              <a:rPr sz="2000" spc="16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spc="155" dirty="0">
                <a:solidFill>
                  <a:srgbClr val="5E5E5E"/>
                </a:solidFill>
                <a:latin typeface="Cambria"/>
                <a:cs typeface="Cambria"/>
              </a:rPr>
              <a:t>must</a:t>
            </a:r>
            <a:r>
              <a:rPr sz="2000" spc="17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5E5E5E"/>
                </a:solidFill>
                <a:latin typeface="Cambria"/>
                <a:cs typeface="Cambria"/>
              </a:rPr>
              <a:t>have</a:t>
            </a:r>
            <a:r>
              <a:rPr sz="2000" spc="16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5E5E5E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FF0066"/>
                </a:solidFill>
                <a:latin typeface="Cambria"/>
                <a:cs typeface="Cambria"/>
              </a:rPr>
              <a:t>same</a:t>
            </a:r>
            <a:r>
              <a:rPr sz="2000" spc="19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FF0066"/>
                </a:solidFill>
                <a:latin typeface="Cambria"/>
                <a:cs typeface="Cambria"/>
              </a:rPr>
              <a:t>setting</a:t>
            </a:r>
            <a:r>
              <a:rPr sz="2000" spc="19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5E5E5E"/>
                </a:solidFill>
                <a:latin typeface="Cambria"/>
                <a:cs typeface="Cambria"/>
              </a:rPr>
              <a:t>for</a:t>
            </a:r>
            <a:r>
              <a:rPr sz="2000" spc="185" dirty="0">
                <a:solidFill>
                  <a:srgbClr val="5E5E5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5E5E5E"/>
                </a:solidFill>
                <a:latin typeface="Cambria"/>
                <a:cs typeface="Cambria"/>
              </a:rPr>
              <a:t>input.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BE9F-0C66-4D58-B617-CA06C061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04800"/>
            <a:ext cx="4818888" cy="9784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5D5579-D639-4057-B207-DF483B723059}"/>
              </a:ext>
            </a:extLst>
          </p:cNvPr>
          <p:cNvSpPr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45718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DNN that was trained to classify pictures into 100 different categories.</a:t>
            </a:r>
          </a:p>
          <a:p>
            <a:pPr marL="45718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want to train a DNN to classify specific types of vehicles.</a:t>
            </a:r>
          </a:p>
          <a:p>
            <a:pPr marL="45718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Freezing</a:t>
            </a:r>
            <a:r>
              <a:rPr lang="en-US" sz="2200" dirty="0"/>
              <a:t> the Lower Layers weights.</a:t>
            </a:r>
          </a:p>
          <a:p>
            <a:pPr marL="457189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Tweaking, Dropping, or Replacing the Upper Layers.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C43DD5-627C-469B-967A-7E8085F1C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9048" y="1497890"/>
            <a:ext cx="5458968" cy="386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87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4/20/2025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981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Fine-tuning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679" y="1031996"/>
            <a:ext cx="10894695" cy="4882106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a pre-trained model to better fit a new task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early layers (general features)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Retrain some or all later layers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only final layers (fast)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top layers (better accuracy)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entire model (needs more data)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 ImageNet model → fine-tune it on a small custom dataset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B13D-4932-415A-90B2-392358B0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38204"/>
            <a:ext cx="8543290" cy="492443"/>
          </a:xfrm>
        </p:spPr>
        <p:txBody>
          <a:bodyPr/>
          <a:lstStyle/>
          <a:p>
            <a:r>
              <a:rPr lang="en-US" sz="3200" b="1"/>
              <a:t>Understanding AlexNet</a:t>
            </a:r>
            <a:endParaRPr 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5A56AD-4B49-470E-92D2-F7EB63E5F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739" y="1143000"/>
            <a:ext cx="8396493" cy="474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42890F-E288-44AC-A1ED-932576045656}"/>
              </a:ext>
            </a:extLst>
          </p:cNvPr>
          <p:cNvSpPr txBox="1"/>
          <p:nvPr/>
        </p:nvSpPr>
        <p:spPr>
          <a:xfrm>
            <a:off x="998049" y="6040140"/>
            <a:ext cx="10505872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b="1">
                <a:solidFill>
                  <a:srgbClr val="333333"/>
                </a:solidFill>
                <a:latin typeface="Open Sans"/>
              </a:rPr>
              <a:t>Consists of 5 Convolutional Layers</a:t>
            </a:r>
            <a:r>
              <a:rPr lang="en-US" sz="1867">
                <a:solidFill>
                  <a:srgbClr val="333333"/>
                </a:solidFill>
                <a:latin typeface="Open Sans"/>
              </a:rPr>
              <a:t> and </a:t>
            </a:r>
            <a:r>
              <a:rPr lang="en-US" sz="1867" b="1">
                <a:solidFill>
                  <a:srgbClr val="333333"/>
                </a:solidFill>
                <a:latin typeface="Open Sans"/>
              </a:rPr>
              <a:t>3 Fully Connected Layers (classify 1000 classes)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3710219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3B7D0-C2AC-4AFD-A337-0333FF9D0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3194"/>
            <a:ext cx="7350611" cy="653161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F1BDAC3-2739-4891-947B-6603B2E8D92B}"/>
              </a:ext>
            </a:extLst>
          </p:cNvPr>
          <p:cNvSpPr txBox="1"/>
          <p:nvPr/>
        </p:nvSpPr>
        <p:spPr>
          <a:xfrm>
            <a:off x="8610600" y="5249488"/>
            <a:ext cx="350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https://keras.io/api/applications/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0726D22-AA54-4043-ABD0-6D7A4CAC6DAB}"/>
              </a:ext>
            </a:extLst>
          </p:cNvPr>
          <p:cNvSpPr/>
          <p:nvPr/>
        </p:nvSpPr>
        <p:spPr>
          <a:xfrm>
            <a:off x="8458200" y="5249488"/>
            <a:ext cx="152400" cy="13037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01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981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dirty="0"/>
              <a:t>Extremely</a:t>
            </a:r>
            <a:r>
              <a:rPr spc="-65" dirty="0"/>
              <a:t> </a:t>
            </a:r>
            <a:r>
              <a:rPr dirty="0"/>
              <a:t>short</a:t>
            </a:r>
            <a:r>
              <a:rPr spc="-30" dirty="0"/>
              <a:t> </a:t>
            </a:r>
            <a:r>
              <a:rPr dirty="0"/>
              <a:t>review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CNN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567" y="1474021"/>
            <a:ext cx="10138343" cy="41364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981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Calculate the number of parameters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225" y="1076352"/>
            <a:ext cx="9032249" cy="52437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981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Transfer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4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dirty="0"/>
              <a:t>Learning:</a:t>
            </a:r>
            <a:r>
              <a:rPr spc="-30" dirty="0"/>
              <a:t> </a:t>
            </a:r>
            <a:r>
              <a:rPr dirty="0"/>
              <a:t>Differential</a:t>
            </a:r>
            <a:r>
              <a:rPr spc="-70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Rates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5575" indent="-343535" algn="just">
              <a:lnSpc>
                <a:spcPct val="100000"/>
              </a:lnSpc>
              <a:spcBef>
                <a:spcPts val="105"/>
              </a:spcBef>
              <a:buClr>
                <a:srgbClr val="4471C4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A</a:t>
            </a:r>
            <a:r>
              <a:rPr spc="-165" dirty="0"/>
              <a:t> </a:t>
            </a:r>
            <a:r>
              <a:rPr dirty="0"/>
              <a:t>low</a:t>
            </a:r>
            <a:r>
              <a:rPr spc="-15" dirty="0"/>
              <a:t> </a:t>
            </a:r>
            <a:r>
              <a:rPr dirty="0"/>
              <a:t>learning</a:t>
            </a:r>
            <a:r>
              <a:rPr spc="-30" dirty="0"/>
              <a:t> </a:t>
            </a:r>
            <a:r>
              <a:rPr dirty="0"/>
              <a:t>rate</a:t>
            </a:r>
            <a:r>
              <a:rPr spc="-25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dirty="0"/>
              <a:t>take</a:t>
            </a:r>
            <a:r>
              <a:rPr spc="-1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lot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time</a:t>
            </a:r>
            <a:r>
              <a:rPr spc="-1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train</a:t>
            </a:r>
            <a:r>
              <a:rPr spc="-1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spc="-25" dirty="0"/>
              <a:t>the </a:t>
            </a:r>
            <a:r>
              <a:rPr dirty="0"/>
              <a:t>"later"</a:t>
            </a:r>
            <a:r>
              <a:rPr spc="-25" dirty="0"/>
              <a:t> </a:t>
            </a:r>
            <a:r>
              <a:rPr dirty="0"/>
              <a:t>layers.</a:t>
            </a:r>
            <a:r>
              <a:rPr spc="-35" dirty="0"/>
              <a:t> </a:t>
            </a:r>
            <a:r>
              <a:rPr dirty="0"/>
              <a:t>Since</a:t>
            </a:r>
            <a:r>
              <a:rPr spc="-45" dirty="0"/>
              <a:t> </a:t>
            </a:r>
            <a:r>
              <a:rPr dirty="0"/>
              <a:t>we</a:t>
            </a:r>
            <a:r>
              <a:rPr spc="-40" dirty="0"/>
              <a:t> </a:t>
            </a:r>
            <a:r>
              <a:rPr dirty="0"/>
              <a:t>trained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FC</a:t>
            </a:r>
            <a:r>
              <a:rPr spc="-25" dirty="0"/>
              <a:t> </a:t>
            </a:r>
            <a:r>
              <a:rPr dirty="0"/>
              <a:t>head</a:t>
            </a:r>
            <a:r>
              <a:rPr spc="-35" dirty="0"/>
              <a:t> </a:t>
            </a:r>
            <a:r>
              <a:rPr dirty="0"/>
              <a:t>earlier,</a:t>
            </a:r>
            <a:r>
              <a:rPr spc="-25" dirty="0"/>
              <a:t> we </a:t>
            </a:r>
            <a:r>
              <a:rPr dirty="0"/>
              <a:t>could</a:t>
            </a:r>
            <a:r>
              <a:rPr spc="-40" dirty="0"/>
              <a:t> </a:t>
            </a:r>
            <a:r>
              <a:rPr dirty="0"/>
              <a:t>probably</a:t>
            </a:r>
            <a:r>
              <a:rPr spc="-40" dirty="0"/>
              <a:t> </a:t>
            </a:r>
            <a:r>
              <a:rPr dirty="0"/>
              <a:t>retrain</a:t>
            </a:r>
            <a:r>
              <a:rPr spc="-5" dirty="0"/>
              <a:t> </a:t>
            </a:r>
            <a:r>
              <a:rPr dirty="0"/>
              <a:t>them</a:t>
            </a:r>
            <a:r>
              <a:rPr spc="-5" dirty="0"/>
              <a:t> </a:t>
            </a:r>
            <a:r>
              <a:rPr dirty="0"/>
              <a:t>at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higher</a:t>
            </a:r>
            <a:r>
              <a:rPr spc="-35" dirty="0"/>
              <a:t> </a:t>
            </a:r>
            <a:r>
              <a:rPr dirty="0"/>
              <a:t>learning</a:t>
            </a:r>
            <a:r>
              <a:rPr spc="-10" dirty="0"/>
              <a:t> rate.</a:t>
            </a:r>
          </a:p>
          <a:p>
            <a:pPr marL="355600" indent="-342900" algn="just">
              <a:lnSpc>
                <a:spcPct val="100000"/>
              </a:lnSpc>
              <a:spcBef>
                <a:spcPts val="1010"/>
              </a:spcBef>
              <a:buClr>
                <a:srgbClr val="4471C4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General</a:t>
            </a:r>
            <a:r>
              <a:rPr spc="-75" dirty="0"/>
              <a:t> </a:t>
            </a:r>
            <a:r>
              <a:rPr dirty="0"/>
              <a:t>Idea:</a:t>
            </a:r>
            <a:r>
              <a:rPr spc="-114" dirty="0"/>
              <a:t> </a:t>
            </a:r>
            <a:r>
              <a:rPr dirty="0"/>
              <a:t>Train</a:t>
            </a:r>
            <a:r>
              <a:rPr spc="-65" dirty="0"/>
              <a:t> </a:t>
            </a:r>
            <a:r>
              <a:rPr dirty="0"/>
              <a:t>different</a:t>
            </a:r>
            <a:r>
              <a:rPr spc="-70" dirty="0"/>
              <a:t> </a:t>
            </a:r>
            <a:r>
              <a:rPr dirty="0"/>
              <a:t>layers</a:t>
            </a:r>
            <a:r>
              <a:rPr spc="-60" dirty="0"/>
              <a:t> </a:t>
            </a:r>
            <a:r>
              <a:rPr dirty="0"/>
              <a:t>at</a:t>
            </a:r>
            <a:r>
              <a:rPr spc="-55" dirty="0"/>
              <a:t> </a:t>
            </a:r>
            <a:r>
              <a:rPr dirty="0"/>
              <a:t>different</a:t>
            </a:r>
            <a:r>
              <a:rPr spc="-65" dirty="0"/>
              <a:t> </a:t>
            </a:r>
            <a:r>
              <a:rPr spc="-10" dirty="0"/>
              <a:t>rates.</a:t>
            </a:r>
          </a:p>
          <a:p>
            <a:pPr marL="354330" marR="5080" indent="-342265">
              <a:lnSpc>
                <a:spcPct val="100000"/>
              </a:lnSpc>
              <a:spcBef>
                <a:spcPts val="1000"/>
              </a:spcBef>
              <a:buClr>
                <a:srgbClr val="4471C4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Each</a:t>
            </a:r>
            <a:r>
              <a:rPr spc="-30" dirty="0"/>
              <a:t> </a:t>
            </a:r>
            <a:r>
              <a:rPr dirty="0"/>
              <a:t>"earlier"</a:t>
            </a:r>
            <a:r>
              <a:rPr spc="-5" dirty="0"/>
              <a:t> </a:t>
            </a:r>
            <a:r>
              <a:rPr dirty="0"/>
              <a:t>layer</a:t>
            </a:r>
            <a:r>
              <a:rPr spc="-15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dirty="0"/>
              <a:t>layer</a:t>
            </a:r>
            <a:r>
              <a:rPr spc="-15" dirty="0"/>
              <a:t> </a:t>
            </a:r>
            <a:r>
              <a:rPr dirty="0"/>
              <a:t>group</a:t>
            </a:r>
            <a:r>
              <a:rPr spc="-35" dirty="0"/>
              <a:t> </a:t>
            </a:r>
            <a:r>
              <a:rPr dirty="0"/>
              <a:t>(the</a:t>
            </a:r>
            <a:r>
              <a:rPr spc="-10" dirty="0"/>
              <a:t> color-coded 	</a:t>
            </a:r>
            <a:r>
              <a:rPr dirty="0"/>
              <a:t>layers</a:t>
            </a:r>
            <a:r>
              <a:rPr spc="-2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image)</a:t>
            </a:r>
            <a:r>
              <a:rPr spc="-20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trained</a:t>
            </a:r>
            <a:r>
              <a:rPr spc="-15" dirty="0"/>
              <a:t> </a:t>
            </a:r>
            <a:r>
              <a:rPr dirty="0"/>
              <a:t>at</a:t>
            </a:r>
            <a:r>
              <a:rPr spc="-5" dirty="0"/>
              <a:t> </a:t>
            </a:r>
            <a:r>
              <a:rPr dirty="0"/>
              <a:t>3x-10x</a:t>
            </a:r>
            <a:r>
              <a:rPr spc="-15" dirty="0"/>
              <a:t> </a:t>
            </a:r>
            <a:r>
              <a:rPr spc="-10" dirty="0"/>
              <a:t>smaller 	</a:t>
            </a:r>
            <a:r>
              <a:rPr dirty="0"/>
              <a:t>learning</a:t>
            </a:r>
            <a:r>
              <a:rPr spc="-20" dirty="0"/>
              <a:t> </a:t>
            </a:r>
            <a:r>
              <a:rPr dirty="0"/>
              <a:t>rate</a:t>
            </a:r>
            <a:r>
              <a:rPr spc="-20" dirty="0"/>
              <a:t> </a:t>
            </a:r>
            <a:r>
              <a:rPr dirty="0"/>
              <a:t>than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next</a:t>
            </a:r>
            <a:r>
              <a:rPr spc="-25" dirty="0"/>
              <a:t> </a:t>
            </a:r>
            <a:r>
              <a:rPr dirty="0"/>
              <a:t>"later"</a:t>
            </a:r>
            <a:r>
              <a:rPr spc="-20" dirty="0"/>
              <a:t> </a:t>
            </a:r>
            <a:r>
              <a:rPr dirty="0"/>
              <a:t>one.</a:t>
            </a:r>
            <a:r>
              <a:rPr spc="-30" dirty="0"/>
              <a:t> </a:t>
            </a:r>
            <a:r>
              <a:rPr dirty="0"/>
              <a:t>Conv</a:t>
            </a:r>
            <a:r>
              <a:rPr spc="-35" dirty="0"/>
              <a:t> </a:t>
            </a:r>
            <a:r>
              <a:rPr dirty="0"/>
              <a:t>Layer</a:t>
            </a:r>
            <a:r>
              <a:rPr spc="-45" dirty="0"/>
              <a:t> </a:t>
            </a:r>
            <a:r>
              <a:rPr spc="-20" dirty="0"/>
              <a:t>Conv 	</a:t>
            </a:r>
            <a:r>
              <a:rPr dirty="0"/>
              <a:t>Layer</a:t>
            </a:r>
            <a:r>
              <a:rPr spc="-65" dirty="0"/>
              <a:t> </a:t>
            </a:r>
            <a:r>
              <a:rPr dirty="0"/>
              <a:t>Relatively</a:t>
            </a:r>
            <a:r>
              <a:rPr spc="-30" dirty="0"/>
              <a:t> </a:t>
            </a:r>
            <a:r>
              <a:rPr dirty="0"/>
              <a:t>larger</a:t>
            </a:r>
            <a:r>
              <a:rPr spc="-35" dirty="0"/>
              <a:t> </a:t>
            </a:r>
            <a:r>
              <a:rPr dirty="0"/>
              <a:t>learning</a:t>
            </a:r>
            <a:r>
              <a:rPr spc="-50" dirty="0"/>
              <a:t> </a:t>
            </a:r>
            <a:r>
              <a:rPr spc="-20" dirty="0"/>
              <a:t>rate</a:t>
            </a:r>
          </a:p>
          <a:p>
            <a:pPr marL="355600" marR="164465" indent="-343535">
              <a:lnSpc>
                <a:spcPct val="100000"/>
              </a:lnSpc>
              <a:spcBef>
                <a:spcPts val="994"/>
              </a:spcBef>
              <a:buFont typeface="Wingdings"/>
              <a:buChar char=""/>
              <a:tabLst>
                <a:tab pos="355600" algn="l"/>
                <a:tab pos="436880" algn="l"/>
              </a:tabLst>
            </a:pPr>
            <a:r>
              <a:rPr dirty="0">
                <a:solidFill>
                  <a:srgbClr val="4471C4"/>
                </a:solidFill>
              </a:rPr>
              <a:t>	</a:t>
            </a:r>
            <a:r>
              <a:rPr dirty="0"/>
              <a:t>One</a:t>
            </a:r>
            <a:r>
              <a:rPr spc="-25" dirty="0"/>
              <a:t> </a:t>
            </a:r>
            <a:r>
              <a:rPr dirty="0"/>
              <a:t>could</a:t>
            </a:r>
            <a:r>
              <a:rPr spc="-30" dirty="0"/>
              <a:t> </a:t>
            </a:r>
            <a:r>
              <a:rPr dirty="0"/>
              <a:t>even</a:t>
            </a:r>
            <a:r>
              <a:rPr spc="-10" dirty="0"/>
              <a:t> </a:t>
            </a:r>
            <a:r>
              <a:rPr dirty="0"/>
              <a:t>train</a:t>
            </a:r>
            <a:r>
              <a:rPr spc="-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entire network</a:t>
            </a:r>
            <a:r>
              <a:rPr spc="-30" dirty="0"/>
              <a:t> </a:t>
            </a:r>
            <a:r>
              <a:rPr dirty="0"/>
              <a:t>again</a:t>
            </a:r>
            <a:r>
              <a:rPr spc="-20" dirty="0"/>
              <a:t> </a:t>
            </a:r>
            <a:r>
              <a:rPr dirty="0"/>
              <a:t>this </a:t>
            </a:r>
            <a:r>
              <a:rPr spc="-25" dirty="0"/>
              <a:t>way </a:t>
            </a:r>
            <a:r>
              <a:rPr dirty="0"/>
              <a:t>until</a:t>
            </a:r>
            <a:r>
              <a:rPr spc="-25" dirty="0"/>
              <a:t> </a:t>
            </a:r>
            <a:r>
              <a:rPr dirty="0"/>
              <a:t>we</a:t>
            </a:r>
            <a:r>
              <a:rPr spc="-35" dirty="0"/>
              <a:t> </a:t>
            </a:r>
            <a:r>
              <a:rPr dirty="0"/>
              <a:t>overfit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then</a:t>
            </a:r>
            <a:r>
              <a:rPr spc="-25" dirty="0"/>
              <a:t> </a:t>
            </a:r>
            <a:r>
              <a:rPr dirty="0"/>
              <a:t>step</a:t>
            </a:r>
            <a:r>
              <a:rPr spc="-15" dirty="0"/>
              <a:t> </a:t>
            </a:r>
            <a:r>
              <a:rPr dirty="0"/>
              <a:t>back</a:t>
            </a:r>
            <a:r>
              <a:rPr spc="-25" dirty="0"/>
              <a:t> </a:t>
            </a:r>
            <a:r>
              <a:rPr dirty="0"/>
              <a:t>some</a:t>
            </a:r>
            <a:r>
              <a:rPr spc="-20" dirty="0"/>
              <a:t> </a:t>
            </a:r>
            <a:r>
              <a:rPr spc="-10" dirty="0"/>
              <a:t>epochs.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7457" y="1211524"/>
            <a:ext cx="3146552" cy="51448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A0B3-87B2-4F33-841E-E281DB36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18" y="58877"/>
            <a:ext cx="11574322" cy="492443"/>
          </a:xfrm>
        </p:spPr>
        <p:txBody>
          <a:bodyPr/>
          <a:lstStyle/>
          <a:p>
            <a:r>
              <a:rPr lang="en-US" dirty="0"/>
              <a:t>Practical example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1EF73-7809-4EE3-B589-216DB7E1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5799"/>
            <a:ext cx="10744200" cy="611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326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ADEE0A-752B-4F42-B01D-F78375A9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77" y="643466"/>
            <a:ext cx="1051144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90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75097" y="3347084"/>
            <a:ext cx="1703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Thank</a:t>
            </a:r>
            <a:r>
              <a:rPr sz="2800" b="0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You!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615</Words>
  <Application>Microsoft Office PowerPoint</Application>
  <PresentationFormat>Widescreen</PresentationFormat>
  <Paragraphs>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MT</vt:lpstr>
      <vt:lpstr>Calibri</vt:lpstr>
      <vt:lpstr>Cambria</vt:lpstr>
      <vt:lpstr>Open Sans</vt:lpstr>
      <vt:lpstr>Times New Roman</vt:lpstr>
      <vt:lpstr>Trebuchet MS</vt:lpstr>
      <vt:lpstr>Wingdings</vt:lpstr>
      <vt:lpstr>Office Theme</vt:lpstr>
      <vt:lpstr>Transfer Learning</vt:lpstr>
      <vt:lpstr>Outline</vt:lpstr>
      <vt:lpstr>Classify Cats, Dogs, Chinchillas etc</vt:lpstr>
      <vt:lpstr>Classify Cats, Dogs, Chinchillas etc</vt:lpstr>
      <vt:lpstr>Classify Rarest Animals</vt:lpstr>
      <vt:lpstr>Transfer Learning to The Rescue</vt:lpstr>
      <vt:lpstr>Basic idea of Transfer Learning</vt:lpstr>
      <vt:lpstr>Basic idea of Transfer Learning (cont)</vt:lpstr>
      <vt:lpstr>PowerPoint Presentation</vt:lpstr>
      <vt:lpstr>PowerPoint Presentation</vt:lpstr>
      <vt:lpstr>PowerPoint Presentation</vt:lpstr>
      <vt:lpstr>Example </vt:lpstr>
      <vt:lpstr>Fine-tuning</vt:lpstr>
      <vt:lpstr>Understanding AlexNet</vt:lpstr>
      <vt:lpstr>PowerPoint Presentation</vt:lpstr>
      <vt:lpstr>Extremely short review of CNN</vt:lpstr>
      <vt:lpstr>Calculate the number of parameters</vt:lpstr>
      <vt:lpstr>Transfer Learning for Deep Learning: Differential Learning Rates</vt:lpstr>
      <vt:lpstr>Practical example 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amr.nagy@fci.bu.edu.eg</dc:creator>
  <cp:lastModifiedBy>ahmed.abdelsatar@fci.bu.edu.eg</cp:lastModifiedBy>
  <cp:revision>18</cp:revision>
  <dcterms:created xsi:type="dcterms:W3CDTF">2026-04-30T07:28:08Z</dcterms:created>
  <dcterms:modified xsi:type="dcterms:W3CDTF">2026-05-05T19:57:57Z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2025-04-20T00:00:00Z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2026-04-30T00:00:00Z</vt:filetime>
  </property>
  <property fmtid="{D5CDD505-2E9C-101B-9397-08002B2CF9AE}" pid="6" name="Producer">
    <vt:lpwstr>Microsoft® PowerPoint® for Microsoft 365</vt:lpwstr>
  </property>
</Properties>
</file>