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7" r:id="rId3"/>
    <p:sldId id="412" r:id="rId4"/>
    <p:sldId id="413" r:id="rId5"/>
    <p:sldId id="414" r:id="rId6"/>
    <p:sldId id="342" r:id="rId7"/>
    <p:sldId id="285" r:id="rId8"/>
    <p:sldId id="336" r:id="rId9"/>
    <p:sldId id="343" r:id="rId10"/>
    <p:sldId id="286" r:id="rId11"/>
    <p:sldId id="340" r:id="rId12"/>
    <p:sldId id="337" r:id="rId13"/>
    <p:sldId id="338" r:id="rId14"/>
    <p:sldId id="339" r:id="rId15"/>
    <p:sldId id="341" r:id="rId16"/>
    <p:sldId id="335" r:id="rId17"/>
  </p:sldIdLst>
  <p:sldSz cx="12192000" cy="6858000"/>
  <p:notesSz cx="6858000" cy="9144000"/>
  <p:embeddedFontLst>
    <p:embeddedFont>
      <p:font typeface="Calibri" panose="020F0502020204030204" pitchFamily="34" charset="0"/>
      <p:regular r:id="rId19"/>
      <p:bold r:id="rId20"/>
      <p:italic r:id="rId21"/>
      <p:boldItalic r:id="rId22"/>
    </p:embeddedFont>
    <p:embeddedFont>
      <p:font typeface="Trebuchet MS" panose="020B0603020202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9" roundtripDataSignature="AMtx7mi4jn1Aiy78LlNnQcWGzAhN6Hkr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93"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89"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90"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cbf3e4b21d_0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cbf3e4b21d_0_1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2cbf3e4b21d_0_13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cbf3e4b21d_0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cbf3e4b21d_0_14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g2cbf3e4b21d_0_14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5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5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8" name="Google Shape;28;p58"/>
          <p:cNvPicPr preferRelativeResize="0"/>
          <p:nvPr/>
        </p:nvPicPr>
        <p:blipFill rotWithShape="1">
          <a:blip r:embed="rId2">
            <a:alphaModFix/>
          </a:blip>
          <a:srcRect/>
          <a:stretch/>
        </p:blipFill>
        <p:spPr>
          <a:xfrm>
            <a:off x="10711512" y="330213"/>
            <a:ext cx="1284576" cy="637759"/>
          </a:xfrm>
          <a:prstGeom prst="rect">
            <a:avLst/>
          </a:prstGeom>
          <a:noFill/>
          <a:ln>
            <a:noFill/>
          </a:ln>
        </p:spPr>
      </p:pic>
      <p:pic>
        <p:nvPicPr>
          <p:cNvPr id="29" name="Google Shape;29;p58"/>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30" name="Google Shape;30;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
        <p:cNvGrpSpPr/>
        <p:nvPr/>
      </p:nvGrpSpPr>
      <p:grpSpPr>
        <a:xfrm>
          <a:off x="0" y="0"/>
          <a:ext cx="0" cy="0"/>
          <a:chOff x="0" y="0"/>
          <a:chExt cx="0" cy="0"/>
        </a:xfrm>
      </p:grpSpPr>
      <p:sp>
        <p:nvSpPr>
          <p:cNvPr id="32" name="Google Shape;3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5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8"/>
        <p:cNvGrpSpPr/>
        <p:nvPr/>
      </p:nvGrpSpPr>
      <p:grpSpPr>
        <a:xfrm>
          <a:off x="0" y="0"/>
          <a:ext cx="0" cy="0"/>
          <a:chOff x="0" y="0"/>
          <a:chExt cx="0" cy="0"/>
        </a:xfrm>
      </p:grpSpPr>
      <p:pic>
        <p:nvPicPr>
          <p:cNvPr id="49" name="Google Shape;49;p62"/>
          <p:cNvPicPr preferRelativeResize="0"/>
          <p:nvPr/>
        </p:nvPicPr>
        <p:blipFill rotWithShape="1">
          <a:blip r:embed="rId2">
            <a:alphaModFix/>
          </a:blip>
          <a:srcRect/>
          <a:stretch/>
        </p:blipFill>
        <p:spPr>
          <a:xfrm>
            <a:off x="10711512" y="330213"/>
            <a:ext cx="1284576" cy="637759"/>
          </a:xfrm>
          <a:prstGeom prst="rect">
            <a:avLst/>
          </a:prstGeom>
          <a:noFill/>
          <a:ln>
            <a:noFill/>
          </a:ln>
        </p:spPr>
      </p:pic>
      <p:sp>
        <p:nvSpPr>
          <p:cNvPr id="50" name="Google Shape;50;p6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2" name="Google Shape;52;p6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3" name="Google Shape;53;p62"/>
          <p:cNvPicPr preferRelativeResize="0"/>
          <p:nvPr/>
        </p:nvPicPr>
        <p:blipFill rotWithShape="1">
          <a:blip r:embed="rId3">
            <a:alphaModFix/>
          </a:blip>
          <a:srcRect/>
          <a:stretch/>
        </p:blipFill>
        <p:spPr>
          <a:xfrm>
            <a:off x="93317" y="0"/>
            <a:ext cx="1489765" cy="1386637"/>
          </a:xfrm>
          <a:prstGeom prst="rect">
            <a:avLst/>
          </a:prstGeom>
          <a:noFill/>
          <a:ln>
            <a:noFill/>
          </a:ln>
        </p:spPr>
      </p:pic>
      <p:sp>
        <p:nvSpPr>
          <p:cNvPr id="54" name="Google Shape;54;p62"/>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5" name="Google Shape;55;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9" name="Google Shape;59;p6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1"/>
        <p:cNvGrpSpPr/>
        <p:nvPr/>
      </p:nvGrpSpPr>
      <p:grpSpPr>
        <a:xfrm>
          <a:off x="0" y="0"/>
          <a:ext cx="0" cy="0"/>
          <a:chOff x="0" y="0"/>
          <a:chExt cx="0" cy="0"/>
        </a:xfrm>
      </p:grpSpPr>
      <p:sp>
        <p:nvSpPr>
          <p:cNvPr id="62" name="Google Shape;62;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6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6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6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8"/>
        <p:cNvGrpSpPr/>
        <p:nvPr/>
      </p:nvGrpSpPr>
      <p:grpSpPr>
        <a:xfrm>
          <a:off x="0" y="0"/>
          <a:ext cx="0" cy="0"/>
          <a:chOff x="0" y="0"/>
          <a:chExt cx="0" cy="0"/>
        </a:xfrm>
      </p:grpSpPr>
      <p:sp>
        <p:nvSpPr>
          <p:cNvPr id="69" name="Google Shape;69;p6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6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1" name="Google Shape;71;p6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6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73" name="Google Shape;73;p6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6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
        <p:cNvGrpSpPr/>
        <p:nvPr/>
      </p:nvGrpSpPr>
      <p:grpSpPr>
        <a:xfrm>
          <a:off x="0" y="0"/>
          <a:ext cx="0" cy="0"/>
          <a:chOff x="0" y="0"/>
          <a:chExt cx="0" cy="0"/>
        </a:xfrm>
      </p:grpSpPr>
      <p:sp>
        <p:nvSpPr>
          <p:cNvPr id="78" name="Google Shape;78;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6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0" name="Google Shape;80;p6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6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6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7"/>
          <p:cNvSpPr>
            <a:spLocks noGrp="1"/>
          </p:cNvSpPr>
          <p:nvPr>
            <p:ph type="pic" idx="2"/>
          </p:nvPr>
        </p:nvSpPr>
        <p:spPr>
          <a:xfrm>
            <a:off x="5183188" y="987425"/>
            <a:ext cx="6172200" cy="4873625"/>
          </a:xfrm>
          <a:prstGeom prst="rect">
            <a:avLst/>
          </a:prstGeom>
          <a:noFill/>
          <a:ln>
            <a:noFill/>
          </a:ln>
        </p:spPr>
      </p:sp>
      <p:sp>
        <p:nvSpPr>
          <p:cNvPr id="87" name="Google Shape;87;p6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8" name="Google Shape;88;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6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6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6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6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6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6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03"/>
        <p:cNvGrpSpPr/>
        <p:nvPr/>
      </p:nvGrpSpPr>
      <p:grpSpPr>
        <a:xfrm>
          <a:off x="0" y="0"/>
          <a:ext cx="0" cy="0"/>
          <a:chOff x="0" y="0"/>
          <a:chExt cx="0" cy="0"/>
        </a:xfrm>
      </p:grpSpPr>
      <p:sp>
        <p:nvSpPr>
          <p:cNvPr id="104" name="Google Shape;104;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7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56"/>
          <p:cNvPicPr preferRelativeResize="0"/>
          <p:nvPr/>
        </p:nvPicPr>
        <p:blipFill rotWithShape="1">
          <a:blip r:embed="rId14">
            <a:alphaModFix/>
          </a:blip>
          <a:srcRect/>
          <a:stretch/>
        </p:blipFill>
        <p:spPr>
          <a:xfrm>
            <a:off x="0" y="0"/>
            <a:ext cx="12192000" cy="6858000"/>
          </a:xfrm>
          <a:prstGeom prst="rect">
            <a:avLst/>
          </a:prstGeom>
          <a:noFill/>
          <a:ln>
            <a:noFill/>
          </a:ln>
        </p:spPr>
      </p:pic>
      <p:pic>
        <p:nvPicPr>
          <p:cNvPr id="11" name="Google Shape;11;p56"/>
          <p:cNvPicPr preferRelativeResize="0"/>
          <p:nvPr/>
        </p:nvPicPr>
        <p:blipFill rotWithShape="1">
          <a:blip r:embed="rId15">
            <a:alphaModFix/>
          </a:blip>
          <a:srcRect/>
          <a:stretch/>
        </p:blipFill>
        <p:spPr>
          <a:xfrm>
            <a:off x="10711512" y="330213"/>
            <a:ext cx="1284576" cy="637759"/>
          </a:xfrm>
          <a:prstGeom prst="rect">
            <a:avLst/>
          </a:prstGeom>
          <a:noFill/>
          <a:ln>
            <a:noFill/>
          </a:ln>
        </p:spPr>
      </p:pic>
      <p:pic>
        <p:nvPicPr>
          <p:cNvPr id="12" name="Google Shape;12;p56"/>
          <p:cNvPicPr preferRelativeResize="0"/>
          <p:nvPr/>
        </p:nvPicPr>
        <p:blipFill rotWithShape="1">
          <a:blip r:embed="rId16">
            <a:alphaModFix/>
          </a:blip>
          <a:srcRect/>
          <a:stretch/>
        </p:blipFill>
        <p:spPr>
          <a:xfrm>
            <a:off x="93317" y="0"/>
            <a:ext cx="1489765" cy="1386637"/>
          </a:xfrm>
          <a:prstGeom prst="rect">
            <a:avLst/>
          </a:prstGeom>
          <a:noFill/>
          <a:ln>
            <a:noFill/>
          </a:ln>
        </p:spPr>
      </p:pic>
      <p:sp>
        <p:nvSpPr>
          <p:cNvPr id="13" name="Google Shape;13;p56"/>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14" name="Google Shape;14;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5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
          <p:cNvSpPr txBox="1">
            <a:spLocks noGrp="1"/>
          </p:cNvSpPr>
          <p:nvPr>
            <p:ph type="title"/>
          </p:nvPr>
        </p:nvSpPr>
        <p:spPr>
          <a:xfrm>
            <a:off x="1487559" y="2657506"/>
            <a:ext cx="9942441" cy="632651"/>
          </a:xfrm>
          <a:prstGeom prst="rect">
            <a:avLst/>
          </a:prstGeom>
          <a:noFill/>
          <a:ln>
            <a:noFill/>
          </a:ln>
        </p:spPr>
        <p:txBody>
          <a:bodyPr spcFirstLastPara="1" wrap="square" lIns="0" tIns="16925" rIns="0" bIns="0" anchor="ctr" anchorCtr="0">
            <a:spAutoFit/>
          </a:bodyPr>
          <a:lstStyle/>
          <a:p>
            <a:pPr marL="16933" lvl="0" indent="0" algn="l" rtl="0">
              <a:lnSpc>
                <a:spcPct val="100000"/>
              </a:lnSpc>
              <a:spcBef>
                <a:spcPts val="0"/>
              </a:spcBef>
              <a:spcAft>
                <a:spcPts val="0"/>
              </a:spcAft>
              <a:buClr>
                <a:schemeClr val="dk1"/>
              </a:buClr>
              <a:buSzPts val="4000"/>
              <a:buFont typeface="Trebuchet MS"/>
              <a:buNone/>
            </a:pPr>
            <a:r>
              <a:rPr lang="en-US" sz="4000" dirty="0">
                <a:latin typeface="Trebuchet MS"/>
                <a:ea typeface="Trebuchet MS"/>
                <a:cs typeface="Trebuchet MS"/>
                <a:sym typeface="Trebuchet MS"/>
              </a:rPr>
              <a:t> Hugging Face</a:t>
            </a:r>
            <a:endParaRPr sz="4000" dirty="0">
              <a:latin typeface="Trebuchet MS"/>
              <a:ea typeface="Trebuchet MS"/>
              <a:cs typeface="Trebuchet MS"/>
              <a:sym typeface="Trebuchet MS"/>
            </a:endParaRPr>
          </a:p>
        </p:txBody>
      </p:sp>
      <p:sp>
        <p:nvSpPr>
          <p:cNvPr id="113" name="Google Shape;113;p1"/>
          <p:cNvSpPr txBox="1"/>
          <p:nvPr/>
        </p:nvSpPr>
        <p:spPr>
          <a:xfrm>
            <a:off x="1487559" y="6322814"/>
            <a:ext cx="2576441" cy="369332"/>
          </a:xfrm>
          <a:prstGeom prst="rect">
            <a:avLst/>
          </a:prstGeom>
          <a:solidFill>
            <a:srgbClr val="2F5496"/>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0" i="0" u="none" strike="noStrike" cap="none">
                <a:solidFill>
                  <a:srgbClr val="FFF9E7"/>
                </a:solidFill>
                <a:latin typeface="Calibri"/>
                <a:ea typeface="Calibri"/>
                <a:cs typeface="Calibri"/>
                <a:sym typeface="Calibri"/>
              </a:rPr>
              <a:t>17/04/2024</a:t>
            </a:r>
            <a:endParaRPr dirty="0"/>
          </a:p>
        </p:txBody>
      </p:sp>
      <p:sp>
        <p:nvSpPr>
          <p:cNvPr id="2" name="Slide Number Placeholder 1">
            <a:extLst>
              <a:ext uri="{FF2B5EF4-FFF2-40B4-BE49-F238E27FC236}">
                <a16:creationId xmlns:a16="http://schemas.microsoft.com/office/drawing/2014/main" id="{46976D1A-D15A-CE29-E085-4838707B635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title"/>
          </p:nvPr>
        </p:nvSpPr>
        <p:spPr>
          <a:xfrm>
            <a:off x="838200" y="365125"/>
            <a:ext cx="10515600" cy="1325563"/>
          </a:xfrm>
        </p:spPr>
        <p:txBody>
          <a:bodyPr spcFirstLastPara="1" wrap="square" lIns="91425" tIns="45700" rIns="91425" bIns="45700" anchor="ctr" anchorCtr="0">
            <a:normAutofit/>
          </a:bodyPr>
          <a:lstStyle/>
          <a:p>
            <a:pPr marL="0" lvl="0" indent="0"/>
            <a:r>
              <a:rPr lang="en-US" b="0" i="0" u="none" strike="noStrike" cap="none">
                <a:latin typeface="Calibri"/>
                <a:ea typeface="Calibri"/>
                <a:cs typeface="Calibri"/>
                <a:sym typeface="Calibri"/>
              </a:rPr>
              <a:t>Course Overview</a:t>
            </a:r>
            <a:br>
              <a:rPr lang="en-US" b="0" i="0" u="none" strike="noStrike" cap="none">
                <a:latin typeface="Calibri"/>
                <a:ea typeface="Calibri"/>
                <a:cs typeface="Calibri"/>
                <a:sym typeface="Calibri"/>
              </a:rPr>
            </a:br>
            <a:endParaRPr lang="en-US" b="0" i="0" u="none" strike="noStrike" cap="none">
              <a:latin typeface="Calibri"/>
              <a:ea typeface="Calibri"/>
              <a:cs typeface="Calibri"/>
              <a:sym typeface="Calibri"/>
            </a:endParaRPr>
          </a:p>
        </p:txBody>
      </p:sp>
      <p:sp>
        <p:nvSpPr>
          <p:cNvPr id="120" name="Google Shape;120;p2"/>
          <p:cNvSpPr txBo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342900">
              <a:lnSpc>
                <a:spcPct val="90000"/>
              </a:lnSpc>
              <a:spcBef>
                <a:spcPts val="1000"/>
              </a:spcBef>
              <a:buClr>
                <a:schemeClr val="dk1"/>
              </a:buClr>
              <a:buSzPts val="1800"/>
              <a:buFont typeface="Arial"/>
              <a:buChar char="•"/>
            </a:pPr>
            <a:r>
              <a:rPr lang="en-US" sz="2000" b="0" i="0" u="none" strike="noStrike" cap="none">
                <a:solidFill>
                  <a:schemeClr val="dk1"/>
                </a:solidFill>
                <a:latin typeface="Calibri"/>
                <a:ea typeface="Calibri"/>
                <a:cs typeface="Calibri"/>
                <a:sym typeface="Calibri"/>
              </a:rPr>
              <a:t>This course covers two of the most popular open-source platforms for MLOps (Machine Learning Operations): ML flow and Hugging Face. </a:t>
            </a:r>
          </a:p>
          <a:p>
            <a:pPr marL="457200" lvl="0" indent="-342900">
              <a:lnSpc>
                <a:spcPct val="90000"/>
              </a:lnSpc>
              <a:spcBef>
                <a:spcPts val="1000"/>
              </a:spcBef>
              <a:buClr>
                <a:schemeClr val="dk1"/>
              </a:buClr>
              <a:buSzPts val="1800"/>
              <a:buFont typeface="Arial"/>
              <a:buChar char="•"/>
            </a:pPr>
            <a:endParaRPr lang="en-US" sz="2000" b="0" i="0" u="none" strike="noStrike" cap="none">
              <a:solidFill>
                <a:schemeClr val="dk1"/>
              </a:solidFill>
              <a:latin typeface="Calibri"/>
              <a:ea typeface="Calibri"/>
              <a:cs typeface="Calibri"/>
              <a:sym typeface="Calibri"/>
            </a:endParaRPr>
          </a:p>
          <a:p>
            <a:pPr marL="457200" lvl="0" indent="-342900">
              <a:lnSpc>
                <a:spcPct val="90000"/>
              </a:lnSpc>
              <a:spcBef>
                <a:spcPts val="1000"/>
              </a:spcBef>
              <a:buClr>
                <a:schemeClr val="dk1"/>
              </a:buClr>
              <a:buSzPts val="1800"/>
              <a:buFont typeface="Arial"/>
              <a:buChar char="•"/>
            </a:pPr>
            <a:r>
              <a:rPr lang="en-US" sz="2000" b="0" i="0" u="none" strike="noStrike" cap="none">
                <a:solidFill>
                  <a:schemeClr val="dk1"/>
                </a:solidFill>
                <a:latin typeface="Calibri"/>
                <a:ea typeface="Calibri"/>
                <a:cs typeface="Calibri"/>
                <a:sym typeface="Calibri"/>
              </a:rPr>
              <a:t>We’ll go through the foundations on what it takes to get started in these platforms with basic model and dataset operations. </a:t>
            </a:r>
          </a:p>
          <a:p>
            <a:pPr marL="457200" lvl="0" indent="-342900">
              <a:lnSpc>
                <a:spcPct val="90000"/>
              </a:lnSpc>
              <a:spcBef>
                <a:spcPts val="1000"/>
              </a:spcBef>
              <a:buClr>
                <a:schemeClr val="dk1"/>
              </a:buClr>
              <a:buSzPts val="1800"/>
              <a:buFont typeface="Arial"/>
              <a:buChar char="•"/>
            </a:pPr>
            <a:endParaRPr lang="en-US" sz="2000" b="0" i="0" u="none" strike="noStrike" cap="none">
              <a:solidFill>
                <a:schemeClr val="dk1"/>
              </a:solidFill>
              <a:latin typeface="Calibri"/>
              <a:ea typeface="Calibri"/>
              <a:cs typeface="Calibri"/>
              <a:sym typeface="Calibri"/>
            </a:endParaRPr>
          </a:p>
          <a:p>
            <a:pPr marL="457200" lvl="0" indent="-342900">
              <a:lnSpc>
                <a:spcPct val="90000"/>
              </a:lnSpc>
              <a:spcBef>
                <a:spcPts val="1000"/>
              </a:spcBef>
              <a:buClr>
                <a:schemeClr val="dk1"/>
              </a:buClr>
              <a:buSzPts val="1800"/>
              <a:buFont typeface="Arial"/>
              <a:buChar char="•"/>
            </a:pPr>
            <a:r>
              <a:rPr lang="en-US" sz="2000" b="0" i="0" u="none" strike="noStrike" cap="none">
                <a:solidFill>
                  <a:schemeClr val="dk1"/>
                </a:solidFill>
                <a:latin typeface="Calibri"/>
                <a:ea typeface="Calibri"/>
                <a:cs typeface="Calibri"/>
                <a:sym typeface="Calibri"/>
              </a:rPr>
              <a:t>You will start with ML flow using projects and models with its powerful tracking system and you will learn how to interact with these registered models from ML flow with full lifecycle examples. </a:t>
            </a:r>
          </a:p>
          <a:p>
            <a:pPr marL="457200" lvl="0" indent="-342900">
              <a:lnSpc>
                <a:spcPct val="90000"/>
              </a:lnSpc>
              <a:spcBef>
                <a:spcPts val="1000"/>
              </a:spcBef>
              <a:buClr>
                <a:schemeClr val="dk1"/>
              </a:buClr>
              <a:buSzPts val="1800"/>
              <a:buFont typeface="Arial"/>
              <a:buChar char="•"/>
            </a:pPr>
            <a:endParaRPr lang="en-US" sz="2000" b="0" i="0" u="none" strike="noStrike" cap="none">
              <a:solidFill>
                <a:schemeClr val="dk1"/>
              </a:solidFill>
              <a:latin typeface="Calibri"/>
              <a:ea typeface="Calibri"/>
              <a:cs typeface="Calibri"/>
              <a:sym typeface="Calibri"/>
            </a:endParaRPr>
          </a:p>
          <a:p>
            <a:pPr marL="457200" lvl="0" indent="-342900">
              <a:lnSpc>
                <a:spcPct val="90000"/>
              </a:lnSpc>
              <a:spcBef>
                <a:spcPts val="1000"/>
              </a:spcBef>
              <a:buClr>
                <a:schemeClr val="dk1"/>
              </a:buClr>
              <a:buSzPts val="1800"/>
              <a:buFont typeface="Arial"/>
              <a:buChar char="•"/>
            </a:pPr>
            <a:r>
              <a:rPr lang="en-US" sz="2000" b="0" i="0" u="none" strike="noStrike" cap="none">
                <a:solidFill>
                  <a:schemeClr val="dk1"/>
                </a:solidFill>
                <a:latin typeface="Calibri"/>
                <a:ea typeface="Calibri"/>
                <a:cs typeface="Calibri"/>
                <a:sym typeface="Calibri"/>
              </a:rPr>
              <a:t>Then, you will explore Hugging Face repositories so that you can store datasets, models, and create live interactive demos.</a:t>
            </a:r>
          </a:p>
        </p:txBody>
      </p:sp>
      <p:sp>
        <p:nvSpPr>
          <p:cNvPr id="119" name="Google Shape;119;p2"/>
          <p:cNvSpPr txBox="1">
            <a:spLocks noGrp="1"/>
          </p:cNvSpPr>
          <p:nvPr>
            <p:ph type="sldNum" idx="12"/>
          </p:nvPr>
        </p:nvSpPr>
        <p:spPr>
          <a:xfrm>
            <a:off x="8610600" y="6356350"/>
            <a:ext cx="2743200" cy="365125"/>
          </a:xfrm>
        </p:spPr>
        <p:txBody>
          <a:bodyPr spcFirstLastPara="1" wrap="square" lIns="91425" tIns="45700" rIns="91425" bIns="45700" anchor="ctr" anchorCtr="0">
            <a:normAutofit/>
          </a:bodyPr>
          <a:lstStyle/>
          <a:p>
            <a:pPr>
              <a:spcAft>
                <a:spcPts val="600"/>
              </a:spcAft>
            </a:pPr>
            <a:fld id="{00000000-1234-1234-1234-123412341234}" type="slidenum">
              <a:rPr lang="en-US"/>
              <a:pPr>
                <a:spcAft>
                  <a:spcPts val="600"/>
                </a:spcAft>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9D05-1A84-ABB2-A8EF-391E64665719}"/>
              </a:ext>
            </a:extLst>
          </p:cNvPr>
          <p:cNvSpPr>
            <a:spLocks noGrp="1"/>
          </p:cNvSpPr>
          <p:nvPr>
            <p:ph type="title"/>
          </p:nvPr>
        </p:nvSpPr>
        <p:spPr>
          <a:xfrm>
            <a:off x="838200" y="365125"/>
            <a:ext cx="10515600" cy="1325563"/>
          </a:xfrm>
        </p:spPr>
        <p:txBody>
          <a:bodyPr wrap="square" anchor="ctr">
            <a:normAutofit/>
          </a:bodyPr>
          <a:lstStyle/>
          <a:p>
            <a:r>
              <a:rPr lang="en-US" dirty="0"/>
              <a:t>	Natural language processing NLP</a:t>
            </a:r>
          </a:p>
        </p:txBody>
      </p:sp>
      <p:sp>
        <p:nvSpPr>
          <p:cNvPr id="4" name="Slide Number Placeholder 3">
            <a:extLst>
              <a:ext uri="{FF2B5EF4-FFF2-40B4-BE49-F238E27FC236}">
                <a16:creationId xmlns:a16="http://schemas.microsoft.com/office/drawing/2014/main" id="{CEB8E8A9-0F42-BC8B-48B8-24B45CE12CDD}"/>
              </a:ext>
            </a:extLst>
          </p:cNvPr>
          <p:cNvSpPr>
            <a:spLocks noGrp="1"/>
          </p:cNvSpPr>
          <p:nvPr>
            <p:ph type="sldNum" idx="12"/>
          </p:nvPr>
        </p:nvSpPr>
        <p:spPr>
          <a:xfrm>
            <a:off x="8610600" y="6356350"/>
            <a:ext cx="2743200" cy="365125"/>
          </a:xfrm>
        </p:spPr>
        <p:txBody>
          <a:bodyPr wrap="square" anchor="ctr">
            <a:normAutofit/>
          </a:bodyPr>
          <a:lstStyle/>
          <a:p>
            <a:pPr>
              <a:spcAft>
                <a:spcPts val="600"/>
              </a:spcAft>
            </a:pPr>
            <a:fld id="{5EE24C92-1265-4741-8F9F-404A15D9386E}" type="slidenum">
              <a:rPr lang="en-US" smtClean="0"/>
              <a:pPr>
                <a:spcAft>
                  <a:spcPts val="600"/>
                </a:spcAft>
              </a:pPr>
              <a:t>3</a:t>
            </a:fld>
            <a:endParaRPr lang="en-US"/>
          </a:p>
        </p:txBody>
      </p:sp>
      <p:sp>
        <p:nvSpPr>
          <p:cNvPr id="3" name="Content Placeholder 2">
            <a:extLst>
              <a:ext uri="{FF2B5EF4-FFF2-40B4-BE49-F238E27FC236}">
                <a16:creationId xmlns:a16="http://schemas.microsoft.com/office/drawing/2014/main" id="{7D0F5D1A-AA48-A8B2-B4FD-70EE68C22F51}"/>
              </a:ext>
            </a:extLst>
          </p:cNvPr>
          <p:cNvSpPr>
            <a:spLocks noGrp="1"/>
          </p:cNvSpPr>
          <p:nvPr>
            <p:ph idx="4294967295"/>
          </p:nvPr>
        </p:nvSpPr>
        <p:spPr>
          <a:xfrm>
            <a:off x="838200" y="1881188"/>
            <a:ext cx="10515600" cy="4352544"/>
          </a:xfrm>
        </p:spPr>
        <p:txBody>
          <a:bodyPr anchor="t">
            <a:normAutofit/>
          </a:bodyPr>
          <a:lstStyle/>
          <a:p>
            <a:pPr>
              <a:spcBef>
                <a:spcPts val="0"/>
              </a:spcBef>
              <a:spcAft>
                <a:spcPts val="600"/>
              </a:spcAft>
              <a:buClr>
                <a:srgbClr val="000000"/>
              </a:buClr>
            </a:pPr>
            <a:r>
              <a:rPr lang="en-US" b="0" i="0" u="none" strike="noStrike" cap="none"/>
              <a:t>Natural Language Understanding (NLU) and Natural Language Generation (NLG) are two fundamental aspects of Natural Language Processing (NLP), each focusing on different tasks related to human language. Here's a breakdown of each:</a:t>
            </a:r>
          </a:p>
          <a:p>
            <a:pPr>
              <a:spcBef>
                <a:spcPts val="0"/>
              </a:spcBef>
              <a:spcAft>
                <a:spcPts val="600"/>
              </a:spcAft>
              <a:buClr>
                <a:srgbClr val="000000"/>
              </a:buClr>
            </a:pPr>
            <a:endParaRPr lang="en-US" b="0" i="0" u="none" strike="noStrike" cap="none"/>
          </a:p>
        </p:txBody>
      </p:sp>
    </p:spTree>
    <p:extLst>
      <p:ext uri="{BB962C8B-B14F-4D97-AF65-F5344CB8AC3E}">
        <p14:creationId xmlns:p14="http://schemas.microsoft.com/office/powerpoint/2010/main" val="1273691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005A9-4FF3-AC74-0593-C96F04188130}"/>
              </a:ext>
            </a:extLst>
          </p:cNvPr>
          <p:cNvSpPr>
            <a:spLocks noGrp="1"/>
          </p:cNvSpPr>
          <p:nvPr>
            <p:ph type="title"/>
          </p:nvPr>
        </p:nvSpPr>
        <p:spPr/>
        <p:txBody>
          <a:bodyPr/>
          <a:lstStyle/>
          <a:p>
            <a:r>
              <a:rPr lang="en-US" b="1" dirty="0"/>
              <a:t>	Natural Language Understanding (NLU)</a:t>
            </a:r>
            <a:br>
              <a:rPr lang="en-US" b="1" dirty="0"/>
            </a:br>
            <a:endParaRPr lang="en-US" dirty="0"/>
          </a:p>
        </p:txBody>
      </p:sp>
      <p:sp>
        <p:nvSpPr>
          <p:cNvPr id="3" name="Content Placeholder 2">
            <a:extLst>
              <a:ext uri="{FF2B5EF4-FFF2-40B4-BE49-F238E27FC236}">
                <a16:creationId xmlns:a16="http://schemas.microsoft.com/office/drawing/2014/main" id="{1D46C714-9AAE-9A20-60B0-B03DC85BD190}"/>
              </a:ext>
            </a:extLst>
          </p:cNvPr>
          <p:cNvSpPr>
            <a:spLocks noGrp="1"/>
          </p:cNvSpPr>
          <p:nvPr>
            <p:ph idx="1"/>
          </p:nvPr>
        </p:nvSpPr>
        <p:spPr>
          <a:xfrm>
            <a:off x="204281" y="1322962"/>
            <a:ext cx="11987719" cy="5169913"/>
          </a:xfrm>
        </p:spPr>
        <p:txBody>
          <a:bodyPr>
            <a:normAutofit fontScale="85000" lnSpcReduction="20000"/>
          </a:bodyPr>
          <a:lstStyle/>
          <a:p>
            <a:r>
              <a:rPr lang="en-US" b="1" dirty="0"/>
              <a:t>Definition:</a:t>
            </a:r>
            <a:r>
              <a:rPr lang="en-US" dirty="0"/>
              <a:t> NLU involves comprehending and interpreting human language in a way that is meaningful and useful. It focuses on understanding the context, intent, and meaning behind the text.</a:t>
            </a:r>
          </a:p>
          <a:p>
            <a:r>
              <a:rPr lang="en-US" b="1" dirty="0"/>
              <a:t>Key Tasks:</a:t>
            </a:r>
            <a:endParaRPr lang="en-US" dirty="0"/>
          </a:p>
          <a:p>
            <a:pPr lvl="1">
              <a:buFont typeface="+mj-lt"/>
              <a:buAutoNum type="arabicPeriod"/>
            </a:pPr>
            <a:r>
              <a:rPr lang="en-US" b="1" dirty="0"/>
              <a:t>Named Entity Recognition (NER):</a:t>
            </a:r>
            <a:r>
              <a:rPr lang="en-US" dirty="0"/>
              <a:t> Identifying and classifying entities like people, organizations, and locations in text.</a:t>
            </a:r>
          </a:p>
          <a:p>
            <a:pPr lvl="1">
              <a:buFont typeface="+mj-lt"/>
              <a:buAutoNum type="arabicPeriod"/>
            </a:pPr>
            <a:r>
              <a:rPr lang="en-US" b="1" dirty="0"/>
              <a:t>Part-of-Speech (POS) Tagging:</a:t>
            </a:r>
            <a:r>
              <a:rPr lang="en-US" dirty="0"/>
              <a:t> Assigning parts of speech (nouns, verbs, adjectives, etc.) to each token in a sentence.</a:t>
            </a:r>
          </a:p>
          <a:p>
            <a:pPr lvl="1">
              <a:buFont typeface="+mj-lt"/>
              <a:buAutoNum type="arabicPeriod"/>
            </a:pPr>
            <a:r>
              <a:rPr lang="en-US" b="1" dirty="0"/>
              <a:t>Sentiment Analysis:</a:t>
            </a:r>
            <a:r>
              <a:rPr lang="en-US" dirty="0"/>
              <a:t> Determining the sentiment or emotional tone expressed in a piece of text (e.g., positive, negative, neutral).</a:t>
            </a:r>
          </a:p>
          <a:p>
            <a:pPr lvl="1">
              <a:buFont typeface="+mj-lt"/>
              <a:buAutoNum type="arabicPeriod"/>
            </a:pPr>
            <a:r>
              <a:rPr lang="en-US" b="1" dirty="0"/>
              <a:t>Intent Recognition:</a:t>
            </a:r>
            <a:r>
              <a:rPr lang="en-US" dirty="0"/>
              <a:t> Understanding the purpose or intention behind a user’s input, often used in chatbots and virtual assistants.</a:t>
            </a:r>
          </a:p>
          <a:p>
            <a:pPr lvl="1">
              <a:buFont typeface="+mj-lt"/>
              <a:buAutoNum type="arabicPeriod"/>
            </a:pPr>
            <a:r>
              <a:rPr lang="en-US" b="1" dirty="0"/>
              <a:t>Semantic Role Labeling:</a:t>
            </a:r>
            <a:r>
              <a:rPr lang="en-US" dirty="0"/>
              <a:t> Identifying the roles that different entities play in a sentence (e.g., who is doing what to whom).</a:t>
            </a:r>
          </a:p>
          <a:p>
            <a:r>
              <a:rPr lang="en-US" b="1" dirty="0"/>
              <a:t>Example Use Case:</a:t>
            </a:r>
            <a:endParaRPr lang="en-US" dirty="0"/>
          </a:p>
          <a:p>
            <a:pPr>
              <a:buFont typeface="Arial" panose="020B0604020202020204" pitchFamily="34" charset="0"/>
              <a:buChar char="•"/>
            </a:pPr>
            <a:r>
              <a:rPr lang="en-US" b="1" dirty="0"/>
              <a:t>Chatbots:</a:t>
            </a:r>
            <a:r>
              <a:rPr lang="en-US" dirty="0"/>
              <a:t> Understanding user queries to provide relevant responses.</a:t>
            </a:r>
          </a:p>
          <a:p>
            <a:pPr>
              <a:buFont typeface="Arial" panose="020B0604020202020204" pitchFamily="34" charset="0"/>
              <a:buChar char="•"/>
            </a:pPr>
            <a:r>
              <a:rPr lang="en-US" b="1" dirty="0"/>
              <a:t>Search Engines:</a:t>
            </a:r>
            <a:r>
              <a:rPr lang="en-US" dirty="0"/>
              <a:t> Interpreting search queries to deliver appropriate results.</a:t>
            </a:r>
          </a:p>
          <a:p>
            <a:pPr>
              <a:buFont typeface="+mj-lt"/>
              <a:buAutoNum type="arabicPeriod"/>
            </a:pPr>
            <a:endParaRPr lang="en-US" dirty="0"/>
          </a:p>
          <a:p>
            <a:endParaRPr lang="en-US" dirty="0"/>
          </a:p>
        </p:txBody>
      </p:sp>
      <p:sp>
        <p:nvSpPr>
          <p:cNvPr id="4" name="Slide Number Placeholder 3">
            <a:extLst>
              <a:ext uri="{FF2B5EF4-FFF2-40B4-BE49-F238E27FC236}">
                <a16:creationId xmlns:a16="http://schemas.microsoft.com/office/drawing/2014/main" id="{55D5AEAB-58E8-8CC9-980E-238814625235}"/>
              </a:ext>
            </a:extLst>
          </p:cNvPr>
          <p:cNvSpPr>
            <a:spLocks noGrp="1"/>
          </p:cNvSpPr>
          <p:nvPr>
            <p:ph type="sldNum" sz="quarter" idx="12"/>
          </p:nvPr>
        </p:nvSpPr>
        <p:spPr/>
        <p:txBody>
          <a:bodyPr/>
          <a:lstStyle/>
          <a:p>
            <a:fld id="{5EE24C92-1265-4741-8F9F-404A15D9386E}" type="slidenum">
              <a:rPr lang="en-US" smtClean="0"/>
              <a:t>4</a:t>
            </a:fld>
            <a:endParaRPr lang="en-US"/>
          </a:p>
        </p:txBody>
      </p:sp>
    </p:spTree>
    <p:extLst>
      <p:ext uri="{BB962C8B-B14F-4D97-AF65-F5344CB8AC3E}">
        <p14:creationId xmlns:p14="http://schemas.microsoft.com/office/powerpoint/2010/main" val="180914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5A43-A55F-D74B-2F0F-5039B9DA69E8}"/>
              </a:ext>
            </a:extLst>
          </p:cNvPr>
          <p:cNvSpPr>
            <a:spLocks noGrp="1"/>
          </p:cNvSpPr>
          <p:nvPr>
            <p:ph type="title"/>
          </p:nvPr>
        </p:nvSpPr>
        <p:spPr/>
        <p:txBody>
          <a:bodyPr/>
          <a:lstStyle/>
          <a:p>
            <a:r>
              <a:rPr lang="en-US" b="1" dirty="0"/>
              <a:t>	Natural Language Generation (NLG)</a:t>
            </a:r>
            <a:br>
              <a:rPr lang="en-US" b="1" dirty="0"/>
            </a:br>
            <a:endParaRPr lang="en-US" dirty="0"/>
          </a:p>
        </p:txBody>
      </p:sp>
      <p:sp>
        <p:nvSpPr>
          <p:cNvPr id="3" name="Content Placeholder 2">
            <a:extLst>
              <a:ext uri="{FF2B5EF4-FFF2-40B4-BE49-F238E27FC236}">
                <a16:creationId xmlns:a16="http://schemas.microsoft.com/office/drawing/2014/main" id="{40963912-8872-420B-5457-61EBA51FC5E6}"/>
              </a:ext>
            </a:extLst>
          </p:cNvPr>
          <p:cNvSpPr>
            <a:spLocks noGrp="1"/>
          </p:cNvSpPr>
          <p:nvPr>
            <p:ph idx="1"/>
          </p:nvPr>
        </p:nvSpPr>
        <p:spPr>
          <a:xfrm>
            <a:off x="311285" y="1507787"/>
            <a:ext cx="11880715" cy="4848563"/>
          </a:xfrm>
        </p:spPr>
        <p:txBody>
          <a:bodyPr>
            <a:normAutofit fontScale="77500" lnSpcReduction="20000"/>
          </a:bodyPr>
          <a:lstStyle/>
          <a:p>
            <a:pPr>
              <a:lnSpc>
                <a:spcPct val="120000"/>
              </a:lnSpc>
            </a:pPr>
            <a:r>
              <a:rPr lang="en-US" b="1" dirty="0"/>
              <a:t>Definition:</a:t>
            </a:r>
            <a:r>
              <a:rPr lang="en-US" dirty="0"/>
              <a:t> NLG involves creating coherent and contextually relevant text based on given inputs. It focuses on generating human-like text that conveys information or responds to queries.</a:t>
            </a:r>
          </a:p>
          <a:p>
            <a:pPr>
              <a:lnSpc>
                <a:spcPct val="120000"/>
              </a:lnSpc>
            </a:pPr>
            <a:r>
              <a:rPr lang="en-US" b="1" dirty="0"/>
              <a:t>Key Tasks:</a:t>
            </a:r>
            <a:endParaRPr lang="en-US" dirty="0"/>
          </a:p>
          <a:p>
            <a:pPr lvl="1">
              <a:lnSpc>
                <a:spcPct val="120000"/>
              </a:lnSpc>
              <a:buFont typeface="+mj-lt"/>
              <a:buAutoNum type="arabicPeriod"/>
            </a:pPr>
            <a:r>
              <a:rPr lang="en-US" b="1" dirty="0"/>
              <a:t>Text Generation:</a:t>
            </a:r>
            <a:r>
              <a:rPr lang="en-US" dirty="0"/>
              <a:t> Producing text based on input prompts, such as in chatbots or creative writing.</a:t>
            </a:r>
          </a:p>
          <a:p>
            <a:pPr lvl="1">
              <a:lnSpc>
                <a:spcPct val="120000"/>
              </a:lnSpc>
              <a:buFont typeface="+mj-lt"/>
              <a:buAutoNum type="arabicPeriod"/>
            </a:pPr>
            <a:r>
              <a:rPr lang="en-US" b="1" dirty="0"/>
              <a:t>Summarization:</a:t>
            </a:r>
            <a:r>
              <a:rPr lang="en-US" dirty="0"/>
              <a:t> Condensing long texts into shorter summaries while retaining key information.</a:t>
            </a:r>
          </a:p>
          <a:p>
            <a:pPr lvl="1">
              <a:lnSpc>
                <a:spcPct val="120000"/>
              </a:lnSpc>
              <a:buFont typeface="+mj-lt"/>
              <a:buAutoNum type="arabicPeriod"/>
            </a:pPr>
            <a:r>
              <a:rPr lang="en-US" b="1" dirty="0"/>
              <a:t>Translation:</a:t>
            </a:r>
            <a:r>
              <a:rPr lang="en-US" dirty="0"/>
              <a:t> Converting text from one language to another while preserving meaning.</a:t>
            </a:r>
          </a:p>
          <a:p>
            <a:pPr lvl="1">
              <a:lnSpc>
                <a:spcPct val="120000"/>
              </a:lnSpc>
              <a:buFont typeface="+mj-lt"/>
              <a:buAutoNum type="arabicPeriod"/>
            </a:pPr>
            <a:r>
              <a:rPr lang="en-US" b="1" dirty="0"/>
              <a:t>Paraphrasing:</a:t>
            </a:r>
            <a:r>
              <a:rPr lang="en-US" dirty="0"/>
              <a:t> Rewriting text in different words while maintaining the original meaning.</a:t>
            </a:r>
          </a:p>
          <a:p>
            <a:pPr>
              <a:lnSpc>
                <a:spcPct val="120000"/>
              </a:lnSpc>
            </a:pPr>
            <a:r>
              <a:rPr lang="en-US" b="1" dirty="0"/>
              <a:t>Example Use Case:</a:t>
            </a:r>
            <a:endParaRPr lang="en-US" dirty="0"/>
          </a:p>
          <a:p>
            <a:pPr>
              <a:lnSpc>
                <a:spcPct val="120000"/>
              </a:lnSpc>
              <a:buFont typeface="Arial" panose="020B0604020202020204" pitchFamily="34" charset="0"/>
              <a:buChar char="•"/>
            </a:pPr>
            <a:r>
              <a:rPr lang="en-US" b="1" dirty="0"/>
              <a:t>Content Creation:</a:t>
            </a:r>
            <a:r>
              <a:rPr lang="en-US" dirty="0"/>
              <a:t> Automatically generating articles, blog posts, or reports.</a:t>
            </a:r>
          </a:p>
          <a:p>
            <a:pPr>
              <a:lnSpc>
                <a:spcPct val="120000"/>
              </a:lnSpc>
              <a:buFont typeface="Arial" panose="020B0604020202020204" pitchFamily="34" charset="0"/>
              <a:buChar char="•"/>
            </a:pPr>
            <a:r>
              <a:rPr lang="en-US" b="1" dirty="0"/>
              <a:t>Customer Service:</a:t>
            </a:r>
            <a:r>
              <a:rPr lang="en-US" dirty="0"/>
              <a:t> Generating responses to customer inquiries based on pre-defined templates or models.</a:t>
            </a:r>
          </a:p>
          <a:p>
            <a:endParaRPr lang="en-US" dirty="0"/>
          </a:p>
        </p:txBody>
      </p:sp>
      <p:sp>
        <p:nvSpPr>
          <p:cNvPr id="4" name="Slide Number Placeholder 3">
            <a:extLst>
              <a:ext uri="{FF2B5EF4-FFF2-40B4-BE49-F238E27FC236}">
                <a16:creationId xmlns:a16="http://schemas.microsoft.com/office/drawing/2014/main" id="{32C9AD82-56E6-E577-0669-9CB8EC65F93F}"/>
              </a:ext>
            </a:extLst>
          </p:cNvPr>
          <p:cNvSpPr>
            <a:spLocks noGrp="1"/>
          </p:cNvSpPr>
          <p:nvPr>
            <p:ph type="sldNum" sz="quarter" idx="12"/>
          </p:nvPr>
        </p:nvSpPr>
        <p:spPr/>
        <p:txBody>
          <a:bodyPr/>
          <a:lstStyle/>
          <a:p>
            <a:fld id="{5EE24C92-1265-4741-8F9F-404A15D9386E}" type="slidenum">
              <a:rPr lang="en-US" smtClean="0"/>
              <a:t>5</a:t>
            </a:fld>
            <a:endParaRPr lang="en-US"/>
          </a:p>
        </p:txBody>
      </p:sp>
    </p:spTree>
    <p:extLst>
      <p:ext uri="{BB962C8B-B14F-4D97-AF65-F5344CB8AC3E}">
        <p14:creationId xmlns:p14="http://schemas.microsoft.com/office/powerpoint/2010/main" val="3882515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CE489-8E16-3420-EAD6-3FA501F1A3E9}"/>
              </a:ext>
            </a:extLst>
          </p:cNvPr>
          <p:cNvSpPr>
            <a:spLocks noGrp="1"/>
          </p:cNvSpPr>
          <p:nvPr>
            <p:ph type="title"/>
          </p:nvPr>
        </p:nvSpPr>
        <p:spPr/>
        <p:txBody>
          <a:bodyPr>
            <a:normAutofit fontScale="90000"/>
          </a:bodyPr>
          <a:lstStyle/>
          <a:p>
            <a:br>
              <a:rPr lang="en-US" b="1" i="0" dirty="0">
                <a:solidFill>
                  <a:srgbClr val="05192D"/>
                </a:solidFill>
                <a:effectLst/>
                <a:latin typeface="+mj-lt"/>
              </a:rPr>
            </a:br>
            <a:r>
              <a:rPr lang="en-US" b="1" dirty="0">
                <a:solidFill>
                  <a:srgbClr val="05192D"/>
                </a:solidFill>
                <a:latin typeface="+mj-lt"/>
              </a:rPr>
              <a:t>	</a:t>
            </a:r>
            <a:r>
              <a:rPr lang="en-US" b="1" i="0" dirty="0">
                <a:solidFill>
                  <a:srgbClr val="05192D"/>
                </a:solidFill>
                <a:effectLst/>
                <a:latin typeface="+mj-lt"/>
              </a:rPr>
              <a:t>intro to Hugging Face Transformers</a:t>
            </a:r>
            <a:br>
              <a:rPr lang="en-US" b="1" i="0" dirty="0">
                <a:solidFill>
                  <a:srgbClr val="05192D"/>
                </a:solidFill>
                <a:effectLst/>
                <a:latin typeface="+mj-lt"/>
              </a:rPr>
            </a:br>
            <a:endParaRPr lang="en-US" dirty="0">
              <a:latin typeface="+mj-lt"/>
            </a:endParaRPr>
          </a:p>
        </p:txBody>
      </p:sp>
      <p:sp>
        <p:nvSpPr>
          <p:cNvPr id="3" name="Text Placeholder 2">
            <a:extLst>
              <a:ext uri="{FF2B5EF4-FFF2-40B4-BE49-F238E27FC236}">
                <a16:creationId xmlns:a16="http://schemas.microsoft.com/office/drawing/2014/main" id="{8209218B-B30F-5BF0-1ACF-30F3C21C7492}"/>
              </a:ext>
            </a:extLst>
          </p:cNvPr>
          <p:cNvSpPr>
            <a:spLocks noGrp="1"/>
          </p:cNvSpPr>
          <p:nvPr>
            <p:ph type="body" idx="1"/>
          </p:nvPr>
        </p:nvSpPr>
        <p:spPr/>
        <p:txBody>
          <a:bodyPr>
            <a:normAutofit fontScale="85000" lnSpcReduction="10000"/>
          </a:bodyPr>
          <a:lstStyle/>
          <a:p>
            <a:pPr algn="l"/>
            <a:r>
              <a:rPr lang="en-US" sz="2600" b="0" i="0" dirty="0">
                <a:solidFill>
                  <a:srgbClr val="05192D"/>
                </a:solidFill>
                <a:effectLst/>
                <a:latin typeface="+mn-lt"/>
              </a:rPr>
              <a:t>Hugging Face is an AI community and Machine Learning platform created in 2016 by Julien </a:t>
            </a:r>
            <a:r>
              <a:rPr lang="en-US" sz="2600" b="0" i="0" dirty="0" err="1">
                <a:solidFill>
                  <a:srgbClr val="05192D"/>
                </a:solidFill>
                <a:effectLst/>
                <a:latin typeface="+mn-lt"/>
              </a:rPr>
              <a:t>Chaumond</a:t>
            </a:r>
            <a:r>
              <a:rPr lang="en-US" sz="2600" b="0" i="0" dirty="0">
                <a:solidFill>
                  <a:srgbClr val="05192D"/>
                </a:solidFill>
                <a:effectLst/>
                <a:latin typeface="+mn-lt"/>
              </a:rPr>
              <a:t>, Clément </a:t>
            </a:r>
            <a:r>
              <a:rPr lang="en-US" sz="2600" b="0" i="0" dirty="0" err="1">
                <a:solidFill>
                  <a:srgbClr val="05192D"/>
                </a:solidFill>
                <a:effectLst/>
                <a:latin typeface="+mn-lt"/>
              </a:rPr>
              <a:t>Delangue</a:t>
            </a:r>
            <a:r>
              <a:rPr lang="en-US" sz="2600" b="0" i="0" dirty="0">
                <a:solidFill>
                  <a:srgbClr val="05192D"/>
                </a:solidFill>
                <a:effectLst/>
                <a:latin typeface="+mn-lt"/>
              </a:rPr>
              <a:t>, and Thomas Wolf. It aims to democratize NLP by providing Data Scientists, AI practitioners, and Engineers immediate access to over </a:t>
            </a:r>
            <a:r>
              <a:rPr lang="en-US" sz="2600" dirty="0">
                <a:solidFill>
                  <a:srgbClr val="05192D"/>
                </a:solidFill>
                <a:latin typeface="+mn-lt"/>
              </a:rPr>
              <a:t>1 </a:t>
            </a:r>
            <a:r>
              <a:rPr lang="en-US" sz="2600" dirty="0" err="1">
                <a:solidFill>
                  <a:srgbClr val="05192D"/>
                </a:solidFill>
                <a:latin typeface="+mn-lt"/>
              </a:rPr>
              <a:t>millon</a:t>
            </a:r>
            <a:r>
              <a:rPr lang="en-US" sz="2600" b="0" i="0" dirty="0">
                <a:solidFill>
                  <a:srgbClr val="05192D"/>
                </a:solidFill>
                <a:effectLst/>
                <a:latin typeface="+mn-lt"/>
              </a:rPr>
              <a:t> pre-trained models based on the state-of-the-art transformer architecture. These models can be applied to:</a:t>
            </a:r>
          </a:p>
          <a:p>
            <a:pPr algn="l">
              <a:buFont typeface="Arial" panose="020B0604020202020204" pitchFamily="34" charset="0"/>
              <a:buChar char="•"/>
            </a:pPr>
            <a:r>
              <a:rPr lang="en-US" sz="2600" b="1" i="0" dirty="0">
                <a:solidFill>
                  <a:srgbClr val="05192D"/>
                </a:solidFill>
                <a:effectLst/>
                <a:latin typeface="+mn-lt"/>
              </a:rPr>
              <a:t>Text</a:t>
            </a:r>
            <a:r>
              <a:rPr lang="en-US" sz="2600" b="0" i="0" dirty="0">
                <a:solidFill>
                  <a:srgbClr val="05192D"/>
                </a:solidFill>
                <a:effectLst/>
                <a:latin typeface="+mn-lt"/>
              </a:rPr>
              <a:t> in over 100 languages for performing tasks such as classification, information extraction, question answering, generation, generation, and translation. </a:t>
            </a:r>
          </a:p>
          <a:p>
            <a:pPr algn="l">
              <a:buFont typeface="Arial" panose="020B0604020202020204" pitchFamily="34" charset="0"/>
              <a:buChar char="•"/>
            </a:pPr>
            <a:r>
              <a:rPr lang="en-US" sz="2600" b="1" i="0" dirty="0">
                <a:solidFill>
                  <a:srgbClr val="05192D"/>
                </a:solidFill>
                <a:effectLst/>
                <a:latin typeface="+mn-lt"/>
              </a:rPr>
              <a:t>Speech</a:t>
            </a:r>
            <a:r>
              <a:rPr lang="en-US" sz="2600" b="0" i="0" dirty="0">
                <a:solidFill>
                  <a:srgbClr val="05192D"/>
                </a:solidFill>
                <a:effectLst/>
                <a:latin typeface="+mn-lt"/>
              </a:rPr>
              <a:t>, for tasks such as object audio classification and speech recognition. </a:t>
            </a:r>
          </a:p>
          <a:p>
            <a:pPr algn="l">
              <a:buFont typeface="Arial" panose="020B0604020202020204" pitchFamily="34" charset="0"/>
              <a:buChar char="•"/>
            </a:pPr>
            <a:r>
              <a:rPr lang="en-US" sz="2600" b="1" i="0" dirty="0">
                <a:solidFill>
                  <a:srgbClr val="05192D"/>
                </a:solidFill>
                <a:effectLst/>
                <a:latin typeface="+mn-lt"/>
              </a:rPr>
              <a:t>Vision</a:t>
            </a:r>
            <a:r>
              <a:rPr lang="en-US" sz="2600" b="0" i="0" dirty="0">
                <a:solidFill>
                  <a:srgbClr val="05192D"/>
                </a:solidFill>
                <a:effectLst/>
                <a:latin typeface="+mn-lt"/>
              </a:rPr>
              <a:t> for object detection, image classification, segmentation.</a:t>
            </a:r>
          </a:p>
          <a:p>
            <a:pPr algn="l">
              <a:buFont typeface="Arial" panose="020B0604020202020204" pitchFamily="34" charset="0"/>
              <a:buChar char="•"/>
            </a:pPr>
            <a:r>
              <a:rPr lang="en-US" sz="2600" b="1" i="0" dirty="0">
                <a:solidFill>
                  <a:srgbClr val="05192D"/>
                </a:solidFill>
                <a:effectLst/>
                <a:latin typeface="+mn-lt"/>
              </a:rPr>
              <a:t>Tabular data</a:t>
            </a:r>
            <a:r>
              <a:rPr lang="en-US" sz="2600" b="0" i="0" dirty="0">
                <a:solidFill>
                  <a:srgbClr val="05192D"/>
                </a:solidFill>
                <a:effectLst/>
                <a:latin typeface="+mn-lt"/>
              </a:rPr>
              <a:t> for regression and classification problems. </a:t>
            </a:r>
          </a:p>
          <a:p>
            <a:pPr algn="l">
              <a:buFont typeface="Arial" panose="020B0604020202020204" pitchFamily="34" charset="0"/>
              <a:buChar char="•"/>
            </a:pPr>
            <a:r>
              <a:rPr lang="en-US" sz="2600" b="1" i="0" dirty="0">
                <a:solidFill>
                  <a:srgbClr val="05192D"/>
                </a:solidFill>
                <a:effectLst/>
                <a:latin typeface="+mn-lt"/>
              </a:rPr>
              <a:t>Reinforcement</a:t>
            </a:r>
            <a:r>
              <a:rPr lang="en-US" sz="2600" b="0" i="0" dirty="0">
                <a:solidFill>
                  <a:srgbClr val="05192D"/>
                </a:solidFill>
                <a:effectLst/>
                <a:latin typeface="+mn-lt"/>
              </a:rPr>
              <a:t> </a:t>
            </a:r>
            <a:r>
              <a:rPr lang="en-US" sz="2600" b="1" i="0" dirty="0">
                <a:solidFill>
                  <a:srgbClr val="05192D"/>
                </a:solidFill>
                <a:effectLst/>
                <a:latin typeface="+mn-lt"/>
              </a:rPr>
              <a:t>Learning</a:t>
            </a:r>
            <a:r>
              <a:rPr lang="en-US" sz="2600" b="0" i="0" dirty="0">
                <a:solidFill>
                  <a:srgbClr val="05192D"/>
                </a:solidFill>
                <a:effectLst/>
                <a:latin typeface="+mn-lt"/>
              </a:rPr>
              <a:t> transformers. </a:t>
            </a:r>
          </a:p>
          <a:p>
            <a:endParaRPr lang="en-US" dirty="0"/>
          </a:p>
        </p:txBody>
      </p:sp>
      <p:sp>
        <p:nvSpPr>
          <p:cNvPr id="4" name="Slide Number Placeholder 3">
            <a:extLst>
              <a:ext uri="{FF2B5EF4-FFF2-40B4-BE49-F238E27FC236}">
                <a16:creationId xmlns:a16="http://schemas.microsoft.com/office/drawing/2014/main" id="{41CA8228-BEDA-1B75-962B-44B83856CE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79659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2cbf3e4b21d_0_13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
        <p:nvSpPr>
          <p:cNvPr id="322" name="Google Shape;322;g2cbf3e4b21d_0_131"/>
          <p:cNvSpPr txBox="1"/>
          <p:nvPr/>
        </p:nvSpPr>
        <p:spPr>
          <a:xfrm>
            <a:off x="235693" y="1072148"/>
            <a:ext cx="11206263" cy="658638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t>What is Hugging Face?</a:t>
            </a:r>
            <a:endParaRPr lang="en-US" sz="1600" dirty="0"/>
          </a:p>
          <a:p>
            <a:pPr marL="0" lvl="0" indent="0" algn="l" rtl="0">
              <a:spcBef>
                <a:spcPts val="0"/>
              </a:spcBef>
              <a:spcAft>
                <a:spcPts val="0"/>
              </a:spcAft>
              <a:buNone/>
            </a:pPr>
            <a:endParaRPr lang="en-US" sz="1600" dirty="0"/>
          </a:p>
          <a:p>
            <a:r>
              <a:rPr lang="en-US" sz="1600" dirty="0"/>
              <a:t>Hugging Face is an open-source company and platform primarily known for its focus on natural language processing (NLP) , and Fosters collaboration and innovation in the ML community. It provides a hub for machine learning models, datasets, and libraries to make the implementation of NLP solutions accessible and efficient by Provides a central hub for sharing, exploring, and deploying models and datasets</a:t>
            </a:r>
          </a:p>
          <a:p>
            <a:pPr marL="0" lvl="0" indent="0" algn="l" rtl="0">
              <a:spcBef>
                <a:spcPts val="0"/>
              </a:spcBef>
              <a:spcAft>
                <a:spcPts val="0"/>
              </a:spcAft>
              <a:buNone/>
            </a:pPr>
            <a:endParaRPr lang="en-US" sz="1600" b="1" dirty="0"/>
          </a:p>
          <a:p>
            <a:pPr marL="0" lvl="0" indent="0" algn="l" rtl="0">
              <a:spcBef>
                <a:spcPts val="0"/>
              </a:spcBef>
              <a:spcAft>
                <a:spcPts val="0"/>
              </a:spcAft>
              <a:buNone/>
            </a:pPr>
            <a:r>
              <a:rPr lang="en-US" sz="1600" b="1" dirty="0"/>
              <a:t>Overview of the Hugging Face Hub</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dirty="0"/>
              <a:t>A treasure trove of machine learning resources Houses a vast collection of pre-trained models across various NLP and computer vision tasks Offers a plethora of high-quality datasets spanning diverse domains</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b="1" dirty="0"/>
              <a:t>Introduction to the Hugging Face Hub</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dirty="0"/>
              <a:t>Access the Hub at https://huggingface.co/</a:t>
            </a:r>
          </a:p>
          <a:p>
            <a:pPr marL="0" lvl="0" indent="0" algn="l" rtl="0">
              <a:spcBef>
                <a:spcPts val="0"/>
              </a:spcBef>
              <a:spcAft>
                <a:spcPts val="0"/>
              </a:spcAft>
              <a:buNone/>
            </a:pPr>
            <a:r>
              <a:rPr lang="en-US" sz="1600" dirty="0"/>
              <a:t>Explore different categories like Models, Datasets, and Spaces</a:t>
            </a:r>
          </a:p>
          <a:p>
            <a:pPr marL="0" lvl="0" indent="0" algn="l" rtl="0">
              <a:spcBef>
                <a:spcPts val="0"/>
              </a:spcBef>
              <a:spcAft>
                <a:spcPts val="0"/>
              </a:spcAft>
              <a:buNone/>
            </a:pPr>
            <a:r>
              <a:rPr lang="en-US" sz="1600" dirty="0"/>
              <a:t>Leverage the search bar to find specific resources</a:t>
            </a:r>
          </a:p>
          <a:p>
            <a:pPr marL="0" lvl="0" indent="0" algn="l" rtl="0">
              <a:spcBef>
                <a:spcPts val="0"/>
              </a:spcBef>
              <a:spcAft>
                <a:spcPts val="0"/>
              </a:spcAft>
              <a:buNone/>
            </a:pPr>
            <a:r>
              <a:rPr lang="en-US" sz="1600" b="1" dirty="0"/>
              <a:t>Using Hugging Face Repositories</a:t>
            </a:r>
          </a:p>
          <a:p>
            <a:pPr marL="0" lvl="0" indent="0" algn="l" rtl="0">
              <a:spcBef>
                <a:spcPts val="0"/>
              </a:spcBef>
              <a:spcAft>
                <a:spcPts val="0"/>
              </a:spcAft>
              <a:buNone/>
            </a:pPr>
            <a:endParaRPr lang="en-US" sz="1600" dirty="0"/>
          </a:p>
          <a:p>
            <a:pPr marL="0" lvl="0" indent="0" algn="l" rtl="0">
              <a:spcBef>
                <a:spcPts val="0"/>
              </a:spcBef>
              <a:spcAft>
                <a:spcPts val="0"/>
              </a:spcAft>
              <a:buNone/>
            </a:pPr>
            <a:r>
              <a:rPr lang="en-US" sz="1600" dirty="0"/>
              <a:t>Repositories store code for models and datasets Explore code structure and implementation details Gain insights into model training and fine-tuning</a:t>
            </a:r>
          </a:p>
          <a:p>
            <a:pPr marL="0" lvl="0" indent="0" algn="l" rtl="0">
              <a:spcBef>
                <a:spcPts val="0"/>
              </a:spcBef>
              <a:spcAft>
                <a:spcPts val="0"/>
              </a:spcAft>
              <a:buNone/>
            </a:pPr>
            <a:endParaRPr lang="en-US" sz="1600" dirty="0"/>
          </a:p>
          <a:p>
            <a:pPr marL="0" lvl="0" indent="0" algn="l" rtl="0">
              <a:spcBef>
                <a:spcPts val="0"/>
              </a:spcBef>
              <a:spcAft>
                <a:spcPts val="0"/>
              </a:spcAft>
              <a:buNone/>
            </a:pPr>
            <a:endParaRPr lang="en-US" sz="1600" dirty="0"/>
          </a:p>
          <a:p>
            <a:pPr marL="0" lvl="0" indent="0" algn="l" rtl="0">
              <a:lnSpc>
                <a:spcPct val="200000"/>
              </a:lnSpc>
              <a:spcBef>
                <a:spcPts val="0"/>
              </a:spcBef>
              <a:spcAft>
                <a:spcPts val="0"/>
              </a:spcAft>
              <a:buNone/>
            </a:pPr>
            <a:endParaRPr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EBE482-B791-3FA6-78FB-1E09F424FF92}"/>
              </a:ext>
            </a:extLst>
          </p:cNvPr>
          <p:cNvSpPr>
            <a:spLocks noGrp="1"/>
          </p:cNvSpPr>
          <p:nvPr>
            <p:ph type="title"/>
          </p:nvPr>
        </p:nvSpPr>
        <p:spPr/>
        <p:txBody>
          <a:bodyPr/>
          <a:lstStyle/>
          <a:p>
            <a:r>
              <a:rPr lang="en-US" b="1" dirty="0"/>
              <a:t>	1. Transformers</a:t>
            </a:r>
          </a:p>
        </p:txBody>
      </p:sp>
      <p:sp>
        <p:nvSpPr>
          <p:cNvPr id="4" name="Text Placeholder 3">
            <a:extLst>
              <a:ext uri="{FF2B5EF4-FFF2-40B4-BE49-F238E27FC236}">
                <a16:creationId xmlns:a16="http://schemas.microsoft.com/office/drawing/2014/main" id="{58AC3F8E-73A8-BB27-3D44-800B17835C59}"/>
              </a:ext>
            </a:extLst>
          </p:cNvPr>
          <p:cNvSpPr>
            <a:spLocks noGrp="1"/>
          </p:cNvSpPr>
          <p:nvPr>
            <p:ph type="body" idx="1"/>
          </p:nvPr>
        </p:nvSpPr>
        <p:spPr/>
        <p:txBody>
          <a:bodyPr>
            <a:normAutofit lnSpcReduction="10000"/>
          </a:bodyPr>
          <a:lstStyle/>
          <a:p>
            <a:pPr marL="114300" indent="0">
              <a:buNone/>
            </a:pPr>
            <a:r>
              <a:rPr lang="en-US" dirty="0"/>
              <a:t>Transformers library is Hugging Face's core offering, providing thousands of pre-trained models for NLP tasks like text classification, machine translation, text generation, question answering, etc. </a:t>
            </a:r>
          </a:p>
          <a:p>
            <a:pPr marL="114300" indent="0">
              <a:buNone/>
            </a:pPr>
            <a:endParaRPr lang="en-US" dirty="0"/>
          </a:p>
          <a:p>
            <a:pPr marL="114300" indent="0">
              <a:buNone/>
            </a:pPr>
            <a:r>
              <a:rPr lang="en-US" dirty="0"/>
              <a:t>These models include well-known architectures like BERT, GPT, T5, and </a:t>
            </a:r>
            <a:r>
              <a:rPr lang="en-US" dirty="0" err="1"/>
              <a:t>RoBERTa</a:t>
            </a:r>
            <a:r>
              <a:rPr lang="en-US" dirty="0"/>
              <a:t>.</a:t>
            </a:r>
          </a:p>
          <a:p>
            <a:pPr marL="114300" indent="0">
              <a:buNone/>
            </a:pPr>
            <a:endParaRPr lang="en-US" dirty="0"/>
          </a:p>
          <a:p>
            <a:pPr marL="0" lvl="0" indent="0" algn="l" rtl="0">
              <a:spcBef>
                <a:spcPts val="0"/>
              </a:spcBef>
              <a:spcAft>
                <a:spcPts val="0"/>
              </a:spcAft>
              <a:buNone/>
            </a:pPr>
            <a:r>
              <a:rPr lang="en-US" dirty="0"/>
              <a:t>Leverage pre-trained models to accelerate your projects</a:t>
            </a:r>
          </a:p>
          <a:p>
            <a:pPr marL="0" lvl="0" indent="0" algn="l" rtl="0">
              <a:spcBef>
                <a:spcPts val="0"/>
              </a:spcBef>
              <a:spcAft>
                <a:spcPts val="0"/>
              </a:spcAft>
              <a:buNone/>
            </a:pPr>
            <a:r>
              <a:rPr lang="en-US" dirty="0">
                <a:solidFill>
                  <a:srgbClr val="FF0000"/>
                </a:solidFill>
              </a:rPr>
              <a:t>Fine-tune models to adapt them to your specific data </a:t>
            </a:r>
            <a:r>
              <a:rPr lang="en-US" dirty="0"/>
              <a:t>and task</a:t>
            </a:r>
          </a:p>
          <a:p>
            <a:pPr marL="0" lvl="0" indent="0" algn="l" rtl="0">
              <a:spcBef>
                <a:spcPts val="0"/>
              </a:spcBef>
              <a:spcAft>
                <a:spcPts val="0"/>
              </a:spcAft>
              <a:buNone/>
            </a:pPr>
            <a:r>
              <a:rPr lang="en-US" dirty="0"/>
              <a:t>Build and deploy machine learning applications seamlessly</a:t>
            </a:r>
          </a:p>
          <a:p>
            <a:pPr marL="114300" indent="0">
              <a:buNone/>
            </a:pPr>
            <a:endParaRPr lang="en-US" dirty="0"/>
          </a:p>
        </p:txBody>
      </p:sp>
      <p:sp>
        <p:nvSpPr>
          <p:cNvPr id="2" name="Slide Number Placeholder 1">
            <a:extLst>
              <a:ext uri="{FF2B5EF4-FFF2-40B4-BE49-F238E27FC236}">
                <a16:creationId xmlns:a16="http://schemas.microsoft.com/office/drawing/2014/main" id="{D3EE2C9B-CE54-73DC-8F88-8710068EA4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88834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84E33-34AD-1DAC-6DD9-43BF10920C74}"/>
              </a:ext>
            </a:extLst>
          </p:cNvPr>
          <p:cNvSpPr>
            <a:spLocks noGrp="1"/>
          </p:cNvSpPr>
          <p:nvPr>
            <p:ph type="title"/>
          </p:nvPr>
        </p:nvSpPr>
        <p:spPr>
          <a:xfrm>
            <a:off x="838200" y="365126"/>
            <a:ext cx="10515600" cy="967564"/>
          </a:xfrm>
        </p:spPr>
        <p:txBody>
          <a:bodyPr/>
          <a:lstStyle/>
          <a:p>
            <a:r>
              <a:rPr lang="en-US" dirty="0"/>
              <a:t>	Pipeline function </a:t>
            </a:r>
          </a:p>
        </p:txBody>
      </p:sp>
      <p:sp>
        <p:nvSpPr>
          <p:cNvPr id="3" name="Text Placeholder 2">
            <a:extLst>
              <a:ext uri="{FF2B5EF4-FFF2-40B4-BE49-F238E27FC236}">
                <a16:creationId xmlns:a16="http://schemas.microsoft.com/office/drawing/2014/main" id="{51A2730E-9A42-B1B4-C94C-23E1F049CC2F}"/>
              </a:ext>
            </a:extLst>
          </p:cNvPr>
          <p:cNvSpPr>
            <a:spLocks noGrp="1"/>
          </p:cNvSpPr>
          <p:nvPr>
            <p:ph type="body" idx="1"/>
          </p:nvPr>
        </p:nvSpPr>
        <p:spPr>
          <a:xfrm>
            <a:off x="838200" y="1332690"/>
            <a:ext cx="10515600" cy="5160185"/>
          </a:xfrm>
        </p:spPr>
        <p:txBody>
          <a:bodyPr>
            <a:normAutofit lnSpcReduction="10000"/>
          </a:bodyPr>
          <a:lstStyle/>
          <a:p>
            <a:r>
              <a:rPr lang="en-US" dirty="0"/>
              <a:t>The pipeline function is a high-level API designed to simplify the use of pre-trained models for various NLP tasks. </a:t>
            </a:r>
          </a:p>
          <a:p>
            <a:r>
              <a:rPr lang="en-US" dirty="0"/>
              <a:t>Key features include:</a:t>
            </a:r>
          </a:p>
          <a:p>
            <a:r>
              <a:rPr lang="en-US" dirty="0"/>
              <a:t>Key Parameters:</a:t>
            </a:r>
          </a:p>
          <a:p>
            <a:pPr lvl="1"/>
            <a:r>
              <a:rPr lang="en-US" b="1" dirty="0"/>
              <a:t>task</a:t>
            </a:r>
            <a:r>
              <a:rPr lang="en-US" dirty="0"/>
              <a:t> (str):Specifies the task (e.g., 'sentiment-analysis', 'question-answering', 'text-generation’).</a:t>
            </a:r>
          </a:p>
          <a:p>
            <a:pPr lvl="1"/>
            <a:r>
              <a:rPr lang="en-US" b="1" dirty="0"/>
              <a:t>model</a:t>
            </a:r>
            <a:r>
              <a:rPr lang="en-US" dirty="0"/>
              <a:t> (str or </a:t>
            </a:r>
            <a:r>
              <a:rPr lang="en-US" dirty="0" err="1"/>
              <a:t>PreTrainedModel</a:t>
            </a:r>
            <a:r>
              <a:rPr lang="en-US" dirty="0"/>
              <a:t>):Defines the model to use, either by model name (as a string) or a custom pre-trained model.</a:t>
            </a:r>
          </a:p>
          <a:p>
            <a:pPr lvl="1"/>
            <a:r>
              <a:rPr lang="en-US" b="1" dirty="0"/>
              <a:t>tokenizer</a:t>
            </a:r>
            <a:r>
              <a:rPr lang="en-US" dirty="0"/>
              <a:t> (optional):Tokenizer to use, auto-selected if not provided.</a:t>
            </a:r>
          </a:p>
          <a:p>
            <a:pPr lvl="1"/>
            <a:r>
              <a:rPr lang="en-US" b="1" dirty="0"/>
              <a:t>framework</a:t>
            </a:r>
            <a:r>
              <a:rPr lang="en-US" dirty="0"/>
              <a:t> (optional):Chooses the backend ('pt' for </a:t>
            </a:r>
            <a:r>
              <a:rPr lang="en-US" dirty="0" err="1"/>
              <a:t>PyTorch</a:t>
            </a:r>
            <a:r>
              <a:rPr lang="en-US" dirty="0"/>
              <a:t> or '</a:t>
            </a:r>
            <a:r>
              <a:rPr lang="en-US" dirty="0" err="1"/>
              <a:t>tf</a:t>
            </a:r>
            <a:r>
              <a:rPr lang="en-US" dirty="0"/>
              <a:t>' for TensorFlow), auto-detected if not specified.</a:t>
            </a:r>
          </a:p>
          <a:p>
            <a:pPr lvl="1"/>
            <a:r>
              <a:rPr lang="en-US" b="1" dirty="0"/>
              <a:t>device</a:t>
            </a:r>
            <a:r>
              <a:rPr lang="en-US" dirty="0"/>
              <a:t> (int, default=-1):Defines the computation device (-1 for CPU, 0 for GPU).</a:t>
            </a:r>
          </a:p>
          <a:p>
            <a:pPr lvl="1"/>
            <a:r>
              <a:rPr lang="en-US" b="1" dirty="0" err="1"/>
              <a:t>use_fast</a:t>
            </a:r>
            <a:r>
              <a:rPr lang="en-US" b="1" dirty="0"/>
              <a:t> </a:t>
            </a:r>
            <a:r>
              <a:rPr lang="en-US" dirty="0"/>
              <a:t>(bool, default=True):</a:t>
            </a:r>
            <a:r>
              <a:rPr lang="en-US" dirty="0" err="1"/>
              <a:t>Opts</a:t>
            </a:r>
            <a:r>
              <a:rPr lang="en-US" dirty="0"/>
              <a:t> for fast tokenization if available.</a:t>
            </a:r>
          </a:p>
        </p:txBody>
      </p:sp>
      <p:sp>
        <p:nvSpPr>
          <p:cNvPr id="4" name="Slide Number Placeholder 3">
            <a:extLst>
              <a:ext uri="{FF2B5EF4-FFF2-40B4-BE49-F238E27FC236}">
                <a16:creationId xmlns:a16="http://schemas.microsoft.com/office/drawing/2014/main" id="{BC479C8F-9A23-4142-99EB-CC8E594EBF8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96850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2" name="Title 1">
            <a:extLst>
              <a:ext uri="{FF2B5EF4-FFF2-40B4-BE49-F238E27FC236}">
                <a16:creationId xmlns:a16="http://schemas.microsoft.com/office/drawing/2014/main" id="{772505EB-D992-FC7D-B8F9-79D142F663AF}"/>
              </a:ext>
            </a:extLst>
          </p:cNvPr>
          <p:cNvSpPr>
            <a:spLocks noGrp="1"/>
          </p:cNvSpPr>
          <p:nvPr>
            <p:ph type="title"/>
          </p:nvPr>
        </p:nvSpPr>
        <p:spPr>
          <a:xfrm>
            <a:off x="838200" y="365126"/>
            <a:ext cx="10515600" cy="1210756"/>
          </a:xfrm>
        </p:spPr>
        <p:txBody>
          <a:bodyPr>
            <a:normAutofit fontScale="90000"/>
          </a:bodyPr>
          <a:lstStyle/>
          <a:p>
            <a:r>
              <a:rPr lang="en-US" b="1" dirty="0"/>
              <a:t>	2. Model Hub</a:t>
            </a:r>
            <a:br>
              <a:rPr lang="en-US" b="1" dirty="0"/>
            </a:br>
            <a:endParaRPr lang="en-US" dirty="0"/>
          </a:p>
        </p:txBody>
      </p:sp>
      <p:sp>
        <p:nvSpPr>
          <p:cNvPr id="3" name="Text Placeholder 2">
            <a:extLst>
              <a:ext uri="{FF2B5EF4-FFF2-40B4-BE49-F238E27FC236}">
                <a16:creationId xmlns:a16="http://schemas.microsoft.com/office/drawing/2014/main" id="{4B7CD972-AF8D-476A-7741-8D74E76445CA}"/>
              </a:ext>
            </a:extLst>
          </p:cNvPr>
          <p:cNvSpPr>
            <a:spLocks noGrp="1"/>
          </p:cNvSpPr>
          <p:nvPr>
            <p:ph type="body" idx="1"/>
          </p:nvPr>
        </p:nvSpPr>
        <p:spPr/>
        <p:txBody>
          <a:bodyPr/>
          <a:lstStyle/>
          <a:p>
            <a:r>
              <a:rPr lang="en-US" dirty="0"/>
              <a:t>Hugging Face hosts a </a:t>
            </a:r>
            <a:r>
              <a:rPr lang="en-US" b="1" dirty="0"/>
              <a:t>Model Hub</a:t>
            </a:r>
            <a:r>
              <a:rPr lang="en-US" dirty="0"/>
              <a:t>, a platform where users can share and download pre-trained models. You can filter models based on </a:t>
            </a:r>
            <a:r>
              <a:rPr lang="en-US" b="1" dirty="0"/>
              <a:t>tasks, languages, or libraries</a:t>
            </a:r>
            <a:r>
              <a:rPr lang="en-US" dirty="0"/>
              <a:t>. This allows users to easily find models for different languages or domains.</a:t>
            </a:r>
          </a:p>
          <a:p>
            <a:r>
              <a:rPr lang="en-US" dirty="0"/>
              <a:t>Search for model by </a:t>
            </a:r>
            <a:r>
              <a:rPr lang="en-US" b="1" dirty="0"/>
              <a:t>name, task, or author </a:t>
            </a:r>
            <a:r>
              <a:rPr lang="en-US" dirty="0"/>
              <a:t>Explore model details like description, metrics, and code </a:t>
            </a:r>
          </a:p>
          <a:p>
            <a:r>
              <a:rPr lang="en-US" dirty="0"/>
              <a:t>Download models for local use or experimentation in Spaces</a:t>
            </a:r>
          </a:p>
          <a:p>
            <a:endParaRPr lang="en-US" dirty="0"/>
          </a:p>
        </p:txBody>
      </p:sp>
      <p:sp>
        <p:nvSpPr>
          <p:cNvPr id="328" name="Google Shape;328;g2cbf3e4b21d_0_142"/>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31F20-5616-18BE-1F7A-5B85B0E096EF}"/>
              </a:ext>
            </a:extLst>
          </p:cNvPr>
          <p:cNvSpPr>
            <a:spLocks noGrp="1"/>
          </p:cNvSpPr>
          <p:nvPr>
            <p:ph type="title"/>
          </p:nvPr>
        </p:nvSpPr>
        <p:spPr/>
        <p:txBody>
          <a:bodyPr/>
          <a:lstStyle/>
          <a:p>
            <a:r>
              <a:rPr lang="en-US" b="1" dirty="0"/>
              <a:t>	3. Datasets Library</a:t>
            </a:r>
          </a:p>
        </p:txBody>
      </p:sp>
      <p:sp>
        <p:nvSpPr>
          <p:cNvPr id="3" name="Text Placeholder 2">
            <a:extLst>
              <a:ext uri="{FF2B5EF4-FFF2-40B4-BE49-F238E27FC236}">
                <a16:creationId xmlns:a16="http://schemas.microsoft.com/office/drawing/2014/main" id="{E177624C-3D5F-D1B5-A7FF-00A6AF80C9C4}"/>
              </a:ext>
            </a:extLst>
          </p:cNvPr>
          <p:cNvSpPr>
            <a:spLocks noGrp="1"/>
          </p:cNvSpPr>
          <p:nvPr>
            <p:ph type="body" idx="1"/>
          </p:nvPr>
        </p:nvSpPr>
        <p:spPr/>
        <p:txBody>
          <a:bodyPr/>
          <a:lstStyle/>
          <a:p>
            <a:r>
              <a:rPr lang="en-US"/>
              <a:t>Hugging </a:t>
            </a:r>
            <a:r>
              <a:rPr lang="en-US" dirty="0"/>
              <a:t>Face also has a datasets library, which provides access to thousands of datasets for NLP tasks. It supports data loading, pre-processing, and transforming.</a:t>
            </a:r>
          </a:p>
        </p:txBody>
      </p:sp>
      <p:sp>
        <p:nvSpPr>
          <p:cNvPr id="4" name="Slide Number Placeholder 3">
            <a:extLst>
              <a:ext uri="{FF2B5EF4-FFF2-40B4-BE49-F238E27FC236}">
                <a16:creationId xmlns:a16="http://schemas.microsoft.com/office/drawing/2014/main" id="{F613538B-8A9F-AE95-6CFD-DCAA62C5D6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847414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7CE7-98C1-5B24-4099-5809B8CBAFB7}"/>
              </a:ext>
            </a:extLst>
          </p:cNvPr>
          <p:cNvSpPr>
            <a:spLocks noGrp="1"/>
          </p:cNvSpPr>
          <p:nvPr>
            <p:ph type="title"/>
          </p:nvPr>
        </p:nvSpPr>
        <p:spPr/>
        <p:txBody>
          <a:bodyPr/>
          <a:lstStyle/>
          <a:p>
            <a:r>
              <a:rPr lang="en-US" b="1" dirty="0"/>
              <a:t>	4. Tokenizers Library</a:t>
            </a:r>
          </a:p>
        </p:txBody>
      </p:sp>
      <p:sp>
        <p:nvSpPr>
          <p:cNvPr id="3" name="Text Placeholder 2">
            <a:extLst>
              <a:ext uri="{FF2B5EF4-FFF2-40B4-BE49-F238E27FC236}">
                <a16:creationId xmlns:a16="http://schemas.microsoft.com/office/drawing/2014/main" id="{6B344BF2-FD4D-6281-9388-642729995D6D}"/>
              </a:ext>
            </a:extLst>
          </p:cNvPr>
          <p:cNvSpPr>
            <a:spLocks noGrp="1"/>
          </p:cNvSpPr>
          <p:nvPr>
            <p:ph type="body" idx="1"/>
          </p:nvPr>
        </p:nvSpPr>
        <p:spPr/>
        <p:txBody>
          <a:bodyPr/>
          <a:lstStyle/>
          <a:p>
            <a:r>
              <a:rPr lang="en-US" dirty="0"/>
              <a:t>Tokenization is essential in NLP, converting raw text into numerical inputs for models. Hugging Face's tokenizers library provides efficient, fast tokenizers.</a:t>
            </a:r>
          </a:p>
          <a:p>
            <a:endParaRPr lang="en-US" dirty="0"/>
          </a:p>
          <a:p>
            <a:r>
              <a:rPr lang="en-US" dirty="0"/>
              <a:t>ID </a:t>
            </a:r>
          </a:p>
        </p:txBody>
      </p:sp>
      <p:sp>
        <p:nvSpPr>
          <p:cNvPr id="4" name="Slide Number Placeholder 3">
            <a:extLst>
              <a:ext uri="{FF2B5EF4-FFF2-40B4-BE49-F238E27FC236}">
                <a16:creationId xmlns:a16="http://schemas.microsoft.com/office/drawing/2014/main" id="{44F69468-E5BF-14F0-3A9B-ABC8F45D16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3210252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3AF73-1E6C-1974-65FA-D018F06BF760}"/>
              </a:ext>
            </a:extLst>
          </p:cNvPr>
          <p:cNvSpPr>
            <a:spLocks noGrp="1"/>
          </p:cNvSpPr>
          <p:nvPr>
            <p:ph type="title"/>
          </p:nvPr>
        </p:nvSpPr>
        <p:spPr/>
        <p:txBody>
          <a:bodyPr/>
          <a:lstStyle/>
          <a:p>
            <a:r>
              <a:rPr lang="en-US" dirty="0"/>
              <a:t>	</a:t>
            </a:r>
            <a:r>
              <a:rPr lang="en-US" b="1" dirty="0"/>
              <a:t>5. Trainer API</a:t>
            </a:r>
          </a:p>
        </p:txBody>
      </p:sp>
      <p:sp>
        <p:nvSpPr>
          <p:cNvPr id="3" name="Text Placeholder 2">
            <a:extLst>
              <a:ext uri="{FF2B5EF4-FFF2-40B4-BE49-F238E27FC236}">
                <a16:creationId xmlns:a16="http://schemas.microsoft.com/office/drawing/2014/main" id="{EB7CB1AF-279F-9635-561D-0BBFE971EB16}"/>
              </a:ext>
            </a:extLst>
          </p:cNvPr>
          <p:cNvSpPr>
            <a:spLocks noGrp="1"/>
          </p:cNvSpPr>
          <p:nvPr>
            <p:ph type="body" idx="1"/>
          </p:nvPr>
        </p:nvSpPr>
        <p:spPr/>
        <p:txBody>
          <a:bodyPr/>
          <a:lstStyle/>
          <a:p>
            <a:r>
              <a:rPr lang="en-US" dirty="0"/>
              <a:t>Hugging Face provides the Trainer class to simplify training models. It takes care of the training loop, evaluation, and saving the model.</a:t>
            </a:r>
          </a:p>
        </p:txBody>
      </p:sp>
      <p:sp>
        <p:nvSpPr>
          <p:cNvPr id="4" name="Slide Number Placeholder 3">
            <a:extLst>
              <a:ext uri="{FF2B5EF4-FFF2-40B4-BE49-F238E27FC236}">
                <a16:creationId xmlns:a16="http://schemas.microsoft.com/office/drawing/2014/main" id="{99020C7F-FB4F-817F-617A-1B11F663CAE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396631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F65F4-8628-662C-300E-A5D11860F7FD}"/>
              </a:ext>
            </a:extLst>
          </p:cNvPr>
          <p:cNvSpPr>
            <a:spLocks noGrp="1"/>
          </p:cNvSpPr>
          <p:nvPr>
            <p:ph type="title"/>
          </p:nvPr>
        </p:nvSpPr>
        <p:spPr/>
        <p:txBody>
          <a:bodyPr/>
          <a:lstStyle/>
          <a:p>
            <a:r>
              <a:rPr lang="en-US" b="1" dirty="0"/>
              <a:t>	6. Spaces</a:t>
            </a:r>
          </a:p>
        </p:txBody>
      </p:sp>
      <p:sp>
        <p:nvSpPr>
          <p:cNvPr id="3" name="Text Placeholder 2">
            <a:extLst>
              <a:ext uri="{FF2B5EF4-FFF2-40B4-BE49-F238E27FC236}">
                <a16:creationId xmlns:a16="http://schemas.microsoft.com/office/drawing/2014/main" id="{4271158B-0680-8601-57D6-48A5D00ED5C4}"/>
              </a:ext>
            </a:extLst>
          </p:cNvPr>
          <p:cNvSpPr>
            <a:spLocks noGrp="1"/>
          </p:cNvSpPr>
          <p:nvPr>
            <p:ph type="body" idx="1"/>
          </p:nvPr>
        </p:nvSpPr>
        <p:spPr>
          <a:xfrm>
            <a:off x="838200" y="1825625"/>
            <a:ext cx="10368064" cy="4351338"/>
          </a:xfrm>
        </p:spPr>
        <p:txBody>
          <a:bodyPr>
            <a:normAutofit lnSpcReduction="10000"/>
          </a:bodyPr>
          <a:lstStyle/>
          <a:p>
            <a:r>
              <a:rPr lang="en-US" dirty="0"/>
              <a:t>(Hugging Face Inference and Sharing)Hugging Face also provides Spaces, an environment to host machine learning demos and applications using the </a:t>
            </a:r>
            <a:r>
              <a:rPr lang="en-US" dirty="0" err="1"/>
              <a:t>Gradio</a:t>
            </a:r>
            <a:r>
              <a:rPr lang="en-US" dirty="0"/>
              <a:t> or </a:t>
            </a:r>
            <a:r>
              <a:rPr lang="en-US" dirty="0" err="1"/>
              <a:t>Streamlit</a:t>
            </a:r>
            <a:r>
              <a:rPr lang="en-US" dirty="0"/>
              <a:t> framework. </a:t>
            </a:r>
          </a:p>
          <a:p>
            <a:endParaRPr lang="en-US" dirty="0"/>
          </a:p>
          <a:p>
            <a:r>
              <a:rPr lang="en-US" dirty="0"/>
              <a:t>This is ideal for building and sharing interactive applications like chatbots or text generation demos.</a:t>
            </a:r>
          </a:p>
          <a:p>
            <a:r>
              <a:rPr lang="en-US" dirty="0"/>
              <a:t>Interactive playgrounds for exploring models and datasets</a:t>
            </a:r>
          </a:p>
          <a:p>
            <a:pPr marL="0" lvl="0" indent="0" algn="l" rtl="0">
              <a:spcBef>
                <a:spcPts val="0"/>
              </a:spcBef>
              <a:spcAft>
                <a:spcPts val="0"/>
              </a:spcAft>
              <a:buNone/>
            </a:pPr>
            <a:r>
              <a:rPr lang="en-US" dirty="0"/>
              <a:t>     Experiment with models directly on the Hub without coding</a:t>
            </a:r>
          </a:p>
          <a:p>
            <a:pPr marL="0" lvl="0" indent="0" algn="l" rtl="0">
              <a:spcBef>
                <a:spcPts val="0"/>
              </a:spcBef>
              <a:spcAft>
                <a:spcPts val="0"/>
              </a:spcAft>
              <a:buNone/>
            </a:pPr>
            <a:r>
              <a:rPr lang="en-US" dirty="0"/>
              <a:t>     Share your Spaces with collaborators for easy access and      demonstration</a:t>
            </a:r>
          </a:p>
          <a:p>
            <a:endParaRPr lang="en-US" dirty="0"/>
          </a:p>
        </p:txBody>
      </p:sp>
      <p:sp>
        <p:nvSpPr>
          <p:cNvPr id="4" name="Slide Number Placeholder 3">
            <a:extLst>
              <a:ext uri="{FF2B5EF4-FFF2-40B4-BE49-F238E27FC236}">
                <a16:creationId xmlns:a16="http://schemas.microsoft.com/office/drawing/2014/main" id="{94D739D2-F49A-7915-415E-20C060A8A8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2019709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7B68-C453-B3EF-A5CC-3CB25765770E}"/>
              </a:ext>
            </a:extLst>
          </p:cNvPr>
          <p:cNvSpPr>
            <a:spLocks noGrp="1"/>
          </p:cNvSpPr>
          <p:nvPr>
            <p:ph type="title"/>
          </p:nvPr>
        </p:nvSpPr>
        <p:spPr>
          <a:xfrm>
            <a:off x="838200" y="365125"/>
            <a:ext cx="10515600" cy="1599862"/>
          </a:xfrm>
        </p:spPr>
        <p:txBody>
          <a:bodyPr>
            <a:noAutofit/>
          </a:bodyPr>
          <a:lstStyle/>
          <a:p>
            <a:r>
              <a:rPr lang="en-US" sz="2800" b="1" dirty="0"/>
              <a:t>	7. Community and Documentation </a:t>
            </a:r>
            <a:br>
              <a:rPr lang="en-US" sz="2800" b="1" dirty="0"/>
            </a:br>
            <a:r>
              <a:rPr lang="en-US" sz="2800" b="1" dirty="0"/>
              <a:t>	8. Hugging Face Transformers in Production</a:t>
            </a:r>
            <a:br>
              <a:rPr lang="en-US" sz="2800" b="1" dirty="0"/>
            </a:br>
            <a:br>
              <a:rPr lang="en-US" sz="2800" b="1" dirty="0"/>
            </a:br>
            <a:endParaRPr lang="en-US" sz="2800" dirty="0"/>
          </a:p>
        </p:txBody>
      </p:sp>
      <p:sp>
        <p:nvSpPr>
          <p:cNvPr id="3" name="Text Placeholder 2">
            <a:extLst>
              <a:ext uri="{FF2B5EF4-FFF2-40B4-BE49-F238E27FC236}">
                <a16:creationId xmlns:a16="http://schemas.microsoft.com/office/drawing/2014/main" id="{7E9987F7-678F-06CA-4C51-28BB77F1B6FD}"/>
              </a:ext>
            </a:extLst>
          </p:cNvPr>
          <p:cNvSpPr>
            <a:spLocks noGrp="1"/>
          </p:cNvSpPr>
          <p:nvPr>
            <p:ph type="body" idx="1"/>
          </p:nvPr>
        </p:nvSpPr>
        <p:spPr/>
        <p:txBody>
          <a:bodyPr>
            <a:normAutofit/>
          </a:bodyPr>
          <a:lstStyle/>
          <a:p>
            <a:r>
              <a:rPr lang="en-US" dirty="0"/>
              <a:t>Hugging Face also fosters an active community where users contribute models, tutorials, and insights. The </a:t>
            </a:r>
            <a:r>
              <a:rPr lang="en-US" b="1" dirty="0"/>
              <a:t>documentation</a:t>
            </a:r>
            <a:r>
              <a:rPr lang="en-US" dirty="0"/>
              <a:t> is extensive, with guides on how to fine-tune models, use datasets, or create pipelines.</a:t>
            </a:r>
          </a:p>
          <a:p>
            <a:r>
              <a:rPr lang="en-US" dirty="0"/>
              <a:t>Hugging Face also provides solutions for deploying models in production through </a:t>
            </a:r>
            <a:r>
              <a:rPr lang="en-US" b="1" dirty="0"/>
              <a:t>Inference API</a:t>
            </a:r>
            <a:r>
              <a:rPr lang="en-US" dirty="0"/>
              <a:t> and </a:t>
            </a:r>
            <a:r>
              <a:rPr lang="en-US" b="1" dirty="0"/>
              <a:t>Hugging Face Hub</a:t>
            </a:r>
            <a:r>
              <a:rPr lang="en-US" dirty="0"/>
              <a:t>. These services allow developers to serve models directly via API calls without needing to manage infrastructure.</a:t>
            </a:r>
          </a:p>
          <a:p>
            <a:endParaRPr lang="en-US" dirty="0"/>
          </a:p>
        </p:txBody>
      </p:sp>
      <p:sp>
        <p:nvSpPr>
          <p:cNvPr id="4" name="Slide Number Placeholder 3">
            <a:extLst>
              <a:ext uri="{FF2B5EF4-FFF2-40B4-BE49-F238E27FC236}">
                <a16:creationId xmlns:a16="http://schemas.microsoft.com/office/drawing/2014/main" id="{14554243-AD6E-7F3B-026F-A4BEB28942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2074253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632" name="Google Shape;632;p55"/>
          <p:cNvSpPr txBox="1"/>
          <p:nvPr/>
        </p:nvSpPr>
        <p:spPr>
          <a:xfrm>
            <a:off x="4034368" y="2432493"/>
            <a:ext cx="3941233" cy="1371315"/>
          </a:xfrm>
          <a:prstGeom prst="rect">
            <a:avLst/>
          </a:prstGeom>
          <a:noFill/>
          <a:ln>
            <a:noFill/>
          </a:ln>
        </p:spPr>
        <p:txBody>
          <a:bodyPr spcFirstLastPara="1" wrap="square" lIns="0" tIns="16925" rIns="0" bIns="0" anchor="ctr" anchorCtr="0">
            <a:spAutoFit/>
          </a:bodyPr>
          <a:lstStyle/>
          <a:p>
            <a:pPr marL="16933" marR="0" lvl="0" indent="0" algn="l" rtl="0">
              <a:lnSpc>
                <a:spcPct val="100000"/>
              </a:lnSpc>
              <a:spcBef>
                <a:spcPts val="0"/>
              </a:spcBef>
              <a:spcAft>
                <a:spcPts val="0"/>
              </a:spcAft>
              <a:buClr>
                <a:srgbClr val="21C3AB"/>
              </a:buClr>
              <a:buSzPts val="8800"/>
              <a:buFont typeface="Calibri"/>
              <a:buNone/>
            </a:pPr>
            <a:r>
              <a:rPr lang="en-US" sz="8800" b="0" i="0" u="none" strike="noStrike" cap="none">
                <a:solidFill>
                  <a:srgbClr val="21C3AB"/>
                </a:solidFill>
                <a:latin typeface="Calibri"/>
                <a:ea typeface="Calibri"/>
                <a:cs typeface="Calibri"/>
                <a:sym typeface="Calibri"/>
              </a:rPr>
              <a:t>Thanks</a:t>
            </a:r>
            <a:endParaRPr sz="8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1988</TotalTime>
  <Words>1352</Words>
  <Application>Microsoft Office PowerPoint</Application>
  <PresentationFormat>Widescreen</PresentationFormat>
  <Paragraphs>116</Paragraphs>
  <Slides>16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Trebuchet MS</vt:lpstr>
      <vt:lpstr>Calibri</vt:lpstr>
      <vt:lpstr>Arial</vt:lpstr>
      <vt:lpstr>Office Theme</vt:lpstr>
      <vt:lpstr> Hugging Face</vt:lpstr>
      <vt:lpstr>Course Overview </vt:lpstr>
      <vt:lpstr> Natural language processing NLP</vt:lpstr>
      <vt:lpstr> Natural Language Understanding (NLU) </vt:lpstr>
      <vt:lpstr> Natural Language Generation (NLG) </vt:lpstr>
      <vt:lpstr>  intro to Hugging Face Transformers </vt:lpstr>
      <vt:lpstr>PowerPoint Presentation</vt:lpstr>
      <vt:lpstr> 1. Transformers</vt:lpstr>
      <vt:lpstr> Pipeline function </vt:lpstr>
      <vt:lpstr> 2. Model Hub </vt:lpstr>
      <vt:lpstr> 3. Datasets Library</vt:lpstr>
      <vt:lpstr> 4. Tokenizers Library</vt:lpstr>
      <vt:lpstr> 5. Trainer API</vt:lpstr>
      <vt:lpstr> 6. Spaces</vt:lpstr>
      <vt:lpstr> 7. Community and Documentation   8. Hugging Face Transformers in Production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Ops Tools: ML ﬂow and  Hugging Face</dc:title>
  <dc:creator>SAMA</dc:creator>
  <cp:lastModifiedBy>ahmed.abdelsatar@fci.bu.edu.eg</cp:lastModifiedBy>
  <cp:revision>56</cp:revision>
  <dcterms:created xsi:type="dcterms:W3CDTF">2024-03-14T10:03:54Z</dcterms:created>
  <dcterms:modified xsi:type="dcterms:W3CDTF">2024-09-26T12:51:00Z</dcterms:modified>
</cp:coreProperties>
</file>