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cx="12192000" cy="6858000"/>
  <p:notesSz cx="6858000" cy="9144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Plus Jakarta Sans" panose="020B0604020202020204" charset="0"/>
      <p:regular r:id="rId19"/>
      <p:bold r:id="rId20"/>
      <p:italic r:id="rId21"/>
      <p:boldItalic r:id="rId22"/>
    </p:embeddedFont>
    <p:embeddedFont>
      <p:font typeface="Plus Jakarta Sans Medium" panose="020B0604020202020204" charset="0"/>
      <p:regular r:id="rId23"/>
      <p:bold r:id="rId24"/>
      <p:italic r:id="rId25"/>
      <p:boldItalic r:id="rId26"/>
    </p:embeddedFont>
    <p:embeddedFont>
      <p:font typeface="Plus Jakarta Sans SemiBold" panose="020B0604020202020204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511BD37-5BE3-419B-A784-DE8F9B665978}">
  <a:tblStyle styleId="{8511BD37-5BE3-419B-A784-DE8F9B66597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58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678107" y="2282279"/>
            <a:ext cx="8835635" cy="700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Image Processing Techniques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600325" y="3326159"/>
            <a:ext cx="69913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Point Processing, Intensity Transformations &amp; Histogram Processing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3833812" y="4011959"/>
            <a:ext cx="4524375" cy="627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>
                <a:solidFill>
                  <a:srgbClr val="94A3B8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Based on the textbook by </a:t>
            </a:r>
          </a:p>
          <a:p>
            <a:pPr marL="0" marR="0" lvl="0" indent="0" algn="ctr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>
                <a:solidFill>
                  <a:srgbClr val="94A3B8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Dr. Ahmed Yousry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3833736" y="4861247"/>
            <a:ext cx="4524375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solidFill>
                  <a:srgbClr val="64748B"/>
                </a:solidFill>
                <a:latin typeface="Plus Jakarta Sans Medium"/>
                <a:cs typeface="Plus Jakarta Sans Medium"/>
                <a:sym typeface="Plus Jakarta Sans Medium"/>
              </a:rPr>
              <a:t>Digilians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222648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2122586"/>
            <a:ext cx="5133975" cy="3346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122586"/>
            <a:ext cx="5133975" cy="3346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66800" y="3737669"/>
            <a:ext cx="4543425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1066800" y="2417861"/>
            <a:ext cx="4770596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818C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What is Point Processing?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066800" y="2817911"/>
            <a:ext cx="4543425" cy="77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Point processing modifies the intensity of each individual pixel in an input image based purely on its current value, independent of surrounding pixel neighborhoods.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066800" y="4394894"/>
            <a:ext cx="4543425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Where r  is the input pixel intensity, s is the output pixel intensity, and T is the mapping function.</a:t>
            </a:r>
            <a:endParaRPr dirty="0"/>
          </a:p>
        </p:txBody>
      </p:sp>
      <p:sp>
        <p:nvSpPr>
          <p:cNvPr id="100" name="Google Shape;100;p14"/>
          <p:cNvSpPr txBox="1"/>
          <p:nvPr/>
        </p:nvSpPr>
        <p:spPr>
          <a:xfrm>
            <a:off x="6581775" y="2417861"/>
            <a:ext cx="4770596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818C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Three Core Categories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581775" y="2817911"/>
            <a:ext cx="4543425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Transformation functions generally fall into three basic mathematical profiles:</a:t>
            </a:r>
            <a:endParaRPr/>
          </a:p>
        </p:txBody>
      </p:sp>
      <p:pic>
        <p:nvPicPr>
          <p:cNvPr id="102" name="Google Shape;102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935634" y="3899594"/>
            <a:ext cx="80575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6848475" y="3478708"/>
            <a:ext cx="4276725" cy="313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Linear:</a:t>
            </a:r>
            <a:r>
              <a:rPr lang="en-US" sz="1275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Image Negatives (S = L - 1 - r).</a:t>
            </a:r>
            <a:endParaRPr dirty="0"/>
          </a:p>
        </p:txBody>
      </p:sp>
      <p:sp>
        <p:nvSpPr>
          <p:cNvPr id="107" name="Google Shape;107;p14"/>
          <p:cNvSpPr txBox="1"/>
          <p:nvPr/>
        </p:nvSpPr>
        <p:spPr>
          <a:xfrm>
            <a:off x="6848475" y="3871019"/>
            <a:ext cx="4276725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Logarithmic:</a:t>
            </a:r>
            <a:r>
              <a:rPr lang="en-US" sz="1275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Compression of dynamic range to reveal hidden shadow details.</a:t>
            </a:r>
            <a:endParaRPr dirty="0"/>
          </a:p>
        </p:txBody>
      </p:sp>
      <p:sp>
        <p:nvSpPr>
          <p:cNvPr id="108" name="Google Shape;108;p14"/>
          <p:cNvSpPr txBox="1"/>
          <p:nvPr/>
        </p:nvSpPr>
        <p:spPr>
          <a:xfrm>
            <a:off x="6848475" y="4522291"/>
            <a:ext cx="4276725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Power-Law:</a:t>
            </a:r>
            <a:r>
              <a:rPr lang="en-US" sz="127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Gamma Correction curves for displaying images accurately on screens.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6581775" y="3478708"/>
            <a:ext cx="1619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6B6D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6581775" y="3871019"/>
            <a:ext cx="1619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6B6D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6581775" y="4522291"/>
            <a:ext cx="1619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6B6D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914400" y="581025"/>
            <a:ext cx="11031378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Point-Wise Intensity Transformations</a:t>
            </a:r>
            <a:endParaRPr/>
          </a:p>
        </p:txBody>
      </p:sp>
      <p:sp>
        <p:nvSpPr>
          <p:cNvPr id="113" name="Google Shape;113;p14"/>
          <p:cNvSpPr/>
          <p:nvPr/>
        </p:nvSpPr>
        <p:spPr>
          <a:xfrm>
            <a:off x="771525" y="581025"/>
            <a:ext cx="47625" cy="447675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543300"/>
            <a:ext cx="5514975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723900" y="581025"/>
            <a:ext cx="5640705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Negative Transformation</a:t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581025" y="581025"/>
            <a:ext cx="47625" cy="447675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581025" y="2223492"/>
            <a:ext cx="5790723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818C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Inverting Intensity Levels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581025" y="2623542"/>
            <a:ext cx="5514975" cy="941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75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 image negative reverses the intensities of a digital image within the operational range [0, L-1].</a:t>
            </a:r>
          </a:p>
          <a:p>
            <a:pPr marL="285750" marR="0" lvl="0" indent="-28575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75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Dark features become light, and light details become dark.</a:t>
            </a:r>
            <a:endParaRPr dirty="0"/>
          </a:p>
        </p:txBody>
      </p:sp>
      <p:sp>
        <p:nvSpPr>
          <p:cNvPr id="125" name="Google Shape;125;p15"/>
          <p:cNvSpPr txBox="1"/>
          <p:nvPr/>
        </p:nvSpPr>
        <p:spPr>
          <a:xfrm>
            <a:off x="581025" y="4191000"/>
            <a:ext cx="5790723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818C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Primary Application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581025" y="4591050"/>
            <a:ext cx="5514975" cy="77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Extensively used in medical visualization (such as Mammography or chest X-rays) to emphasize gray-level anomalies or subtle structural boundary changes.</a:t>
            </a:r>
            <a:endParaRPr/>
          </a:p>
        </p:txBody>
      </p:sp>
      <p:pic>
        <p:nvPicPr>
          <p:cNvPr id="127" name="Google Shape;127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844105" y="3705225"/>
            <a:ext cx="988814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Point Operations in Image Processing: A Beginner's Guide | Dynamsoft Blog">
            <a:extLst>
              <a:ext uri="{FF2B5EF4-FFF2-40B4-BE49-F238E27FC236}">
                <a16:creationId xmlns:a16="http://schemas.microsoft.com/office/drawing/2014/main" id="{1429BE2A-43A7-4255-9F7A-DB35016DD5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919" y="3543300"/>
            <a:ext cx="4483463" cy="1976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he negative transformation implementation on eye image | Download  Scientific Diagram">
            <a:extLst>
              <a:ext uri="{FF2B5EF4-FFF2-40B4-BE49-F238E27FC236}">
                <a16:creationId xmlns:a16="http://schemas.microsoft.com/office/drawing/2014/main" id="{98CA51BF-A26A-45DA-B6B4-A4DA152CBF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920" y="1028700"/>
            <a:ext cx="4483463" cy="1976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7272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3738562"/>
            <a:ext cx="5133975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771525" y="2418754"/>
            <a:ext cx="5390673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818C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Compressing Dynamic Range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771525" y="2818804"/>
            <a:ext cx="5133975" cy="77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Log transformations are crucial when the range of intensity values in the raw input is extremely wide, such as Fourier transform spectra.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771525" y="4395787"/>
            <a:ext cx="5133975" cy="941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By mapping a narrow range of </a:t>
            </a:r>
            <a:r>
              <a:rPr lang="en-US" sz="1275" b="0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low-intensity values into a wider output range</a:t>
            </a:r>
            <a:r>
              <a:rPr lang="en-US" sz="1275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it significantly highlights fine details lost in the dark regions of an image.</a:t>
            </a:r>
            <a:endParaRPr dirty="0"/>
          </a:p>
        </p:txBody>
      </p:sp>
      <p:sp>
        <p:nvSpPr>
          <p:cNvPr id="137" name="Google Shape;137;p16"/>
          <p:cNvSpPr txBox="1"/>
          <p:nvPr/>
        </p:nvSpPr>
        <p:spPr>
          <a:xfrm>
            <a:off x="6286500" y="2923430"/>
            <a:ext cx="5390673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12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6B6D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Implementation Model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6286500" y="3323480"/>
            <a:ext cx="5133975" cy="627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 Python, the scaling factor is typically calculated dynamically to ensure the output utilizes the full gray-level scale [0, 255]:</a:t>
            </a:r>
            <a:endParaRPr dirty="0"/>
          </a:p>
        </p:txBody>
      </p:sp>
      <p:pic>
        <p:nvPicPr>
          <p:cNvPr id="139" name="Google Shape;139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72133" y="4244211"/>
            <a:ext cx="5390673" cy="1244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594074" y="3900487"/>
            <a:ext cx="1488727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86500" y="2961530"/>
            <a:ext cx="28128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48675" y="3418730"/>
            <a:ext cx="84683" cy="9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 txBox="1"/>
          <p:nvPr/>
        </p:nvSpPr>
        <p:spPr>
          <a:xfrm>
            <a:off x="914400" y="581025"/>
            <a:ext cx="11031378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Logarithmic Transformations</a:t>
            </a:r>
            <a:endParaRPr/>
          </a:p>
        </p:txBody>
      </p:sp>
      <p:sp>
        <p:nvSpPr>
          <p:cNvPr id="144" name="Google Shape;144;p16"/>
          <p:cNvSpPr/>
          <p:nvPr/>
        </p:nvSpPr>
        <p:spPr>
          <a:xfrm>
            <a:off x="771525" y="581025"/>
            <a:ext cx="47625" cy="447675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3556694"/>
            <a:ext cx="5514975" cy="477887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/>
        </p:nvSpPr>
        <p:spPr>
          <a:xfrm>
            <a:off x="723900" y="581025"/>
            <a:ext cx="5640705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Gamma Correction</a:t>
            </a:r>
            <a:endParaRPr/>
          </a:p>
        </p:txBody>
      </p:sp>
      <p:sp>
        <p:nvSpPr>
          <p:cNvPr id="152" name="Google Shape;152;p17"/>
          <p:cNvSpPr/>
          <p:nvPr/>
        </p:nvSpPr>
        <p:spPr>
          <a:xfrm>
            <a:off x="581025" y="581025"/>
            <a:ext cx="47625" cy="447675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 txBox="1"/>
          <p:nvPr/>
        </p:nvSpPr>
        <p:spPr>
          <a:xfrm>
            <a:off x="581025" y="2495847"/>
            <a:ext cx="5790723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818C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Power-Law Relationship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581025" y="2895897"/>
            <a:ext cx="5514975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Gamma transformations mathematically scale contrast using exponent values, adjusting dark and light zones in a non-linear fashion.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581025" y="4177456"/>
            <a:ext cx="5790723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818C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Impact of Exponent </a:t>
            </a:r>
            <a:r>
              <a:rPr lang="en-US" sz="1800" b="1" dirty="0">
                <a:solidFill>
                  <a:srgbClr val="818C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800" b="1" i="0" u="none" strike="noStrike" cap="none" dirty="0">
                <a:solidFill>
                  <a:srgbClr val="818C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gamma</a:t>
            </a:r>
            <a:endParaRPr dirty="0"/>
          </a:p>
        </p:txBody>
      </p:sp>
      <p:sp>
        <p:nvSpPr>
          <p:cNvPr id="157" name="Google Shape;157;p17"/>
          <p:cNvSpPr txBox="1"/>
          <p:nvPr/>
        </p:nvSpPr>
        <p:spPr>
          <a:xfrm>
            <a:off x="581025" y="5059934"/>
            <a:ext cx="5514975" cy="1255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If , the map expands dark details. </a:t>
            </a:r>
          </a:p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dirty="0">
              <a:solidFill>
                <a:srgbClr val="94A3B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0" i="0" u="none" strike="noStrike" cap="none" dirty="0">
              <a:solidFill>
                <a:srgbClr val="94A3B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If , it expands bright details instead. This is vital for displays.</a:t>
            </a:r>
            <a:endParaRPr dirty="0"/>
          </a:p>
        </p:txBody>
      </p:sp>
      <p:pic>
        <p:nvPicPr>
          <p:cNvPr id="158" name="Google Shape;15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90254" y="3718619"/>
            <a:ext cx="696366" cy="154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095" y="4634656"/>
            <a:ext cx="392608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5768577"/>
            <a:ext cx="392608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819F8F8-74BB-4486-8CD1-7D34E8899C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24242" y="3181350"/>
            <a:ext cx="5078810" cy="36059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F226F6B-D527-4270-AE06-0B2FD79B586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21215" y="114300"/>
            <a:ext cx="3851660" cy="29569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3685430"/>
            <a:ext cx="5133975" cy="620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985962"/>
            <a:ext cx="51339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/>
          <p:nvPr/>
        </p:nvSpPr>
        <p:spPr>
          <a:xfrm>
            <a:off x="771525" y="2624583"/>
            <a:ext cx="5390673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818C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Piecewise Linear Enhancements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771525" y="3024633"/>
            <a:ext cx="5133975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Contrast stretching is a normalization technique that spreads low-contrast images to span the full dynamic range of a display device.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771525" y="4448919"/>
            <a:ext cx="5133975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Useful for microscopic images or poorly illuminated outdoor environments where lighting is uniform but weak.</a:t>
            </a:r>
            <a:endParaRPr/>
          </a:p>
        </p:txBody>
      </p:sp>
      <p:pic>
        <p:nvPicPr>
          <p:cNvPr id="171" name="Google Shape;171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90612" y="3847355"/>
            <a:ext cx="4495800" cy="296763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8"/>
          <p:cNvSpPr txBox="1"/>
          <p:nvPr/>
        </p:nvSpPr>
        <p:spPr>
          <a:xfrm>
            <a:off x="914400" y="581025"/>
            <a:ext cx="11031378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Contrast Stretching</a:t>
            </a:r>
            <a:endParaRPr/>
          </a:p>
        </p:txBody>
      </p:sp>
      <p:sp>
        <p:nvSpPr>
          <p:cNvPr id="174" name="Google Shape;174;p18"/>
          <p:cNvSpPr/>
          <p:nvPr/>
        </p:nvSpPr>
        <p:spPr>
          <a:xfrm>
            <a:off x="771525" y="581025"/>
            <a:ext cx="47625" cy="447675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6" name="Picture 2" descr="Adjust Image Contrast in Image Viewer App - MATLAB &amp; Simulink">
            <a:extLst>
              <a:ext uri="{FF2B5EF4-FFF2-40B4-BE49-F238E27FC236}">
                <a16:creationId xmlns:a16="http://schemas.microsoft.com/office/drawing/2014/main" id="{11C2F9F5-EA23-494A-AF56-2683DA8863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0" y="2790676"/>
            <a:ext cx="5728138" cy="1789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1935956"/>
            <a:ext cx="5133975" cy="37195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935956"/>
            <a:ext cx="5133975" cy="37195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66800" y="3598664"/>
            <a:ext cx="454342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9"/>
          <p:cNvSpPr txBox="1"/>
          <p:nvPr/>
        </p:nvSpPr>
        <p:spPr>
          <a:xfrm>
            <a:off x="1066800" y="2231231"/>
            <a:ext cx="4770596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818C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Binary Transformation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1066800" y="2631281"/>
            <a:ext cx="4543425" cy="77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Thresholding converts a grayscale image into a binary output (containing only 0 and 1, or 0 and 255) by dividing pixel levels around a chosen threshold .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6581775" y="2231231"/>
            <a:ext cx="4770596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818C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Practical Applications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6581775" y="2631281"/>
            <a:ext cx="4543425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Binarization isolates objects of interest from their background, forming the absolute foundation for:</a:t>
            </a:r>
            <a:endParaRPr/>
          </a:p>
        </p:txBody>
      </p:sp>
      <p:pic>
        <p:nvPicPr>
          <p:cNvPr id="187" name="Google Shape;187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990975" y="3206353"/>
            <a:ext cx="116383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638301" y="4452937"/>
            <a:ext cx="2114550" cy="433388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9"/>
          <p:cNvSpPr txBox="1"/>
          <p:nvPr/>
        </p:nvSpPr>
        <p:spPr>
          <a:xfrm>
            <a:off x="6915150" y="3292078"/>
            <a:ext cx="4210050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Optical Character Recognition (OCR):</a:t>
            </a:r>
            <a:r>
              <a:rPr lang="en-US" sz="127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Separating text characters from scanned document sheets.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6915150" y="3981450"/>
            <a:ext cx="4210050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Segmentation:</a:t>
            </a:r>
            <a:r>
              <a:rPr lang="en-US" sz="127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Isolaing organs/artifacts in medical diagnostic imaging.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6915150" y="4670821"/>
            <a:ext cx="4210050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Morphological Preprocessing:</a:t>
            </a:r>
            <a:r>
              <a:rPr lang="en-US" sz="127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Preparing clean binary silhouettes for structural analysis.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6581775" y="3292078"/>
            <a:ext cx="1619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6B6D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6581775" y="3981450"/>
            <a:ext cx="1619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6B6D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6581775" y="4670821"/>
            <a:ext cx="1619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6B6D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/>
          </a:p>
        </p:txBody>
      </p:sp>
      <p:pic>
        <p:nvPicPr>
          <p:cNvPr id="195" name="Google Shape;195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81775" y="332541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81775" y="40147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81775" y="4704159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9"/>
          <p:cNvSpPr txBox="1"/>
          <p:nvPr/>
        </p:nvSpPr>
        <p:spPr>
          <a:xfrm>
            <a:off x="914400" y="581025"/>
            <a:ext cx="11031378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Image Binarization</a:t>
            </a:r>
            <a:endParaRPr/>
          </a:p>
        </p:txBody>
      </p:sp>
      <p:sp>
        <p:nvSpPr>
          <p:cNvPr id="199" name="Google Shape;199;p19"/>
          <p:cNvSpPr/>
          <p:nvPr/>
        </p:nvSpPr>
        <p:spPr>
          <a:xfrm>
            <a:off x="771525" y="581025"/>
            <a:ext cx="47625" cy="447675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2549128"/>
            <a:ext cx="3397299" cy="24931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97424" y="2549128"/>
            <a:ext cx="3397299" cy="24931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23324" y="2549128"/>
            <a:ext cx="3397299" cy="2493168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0"/>
          <p:cNvSpPr txBox="1"/>
          <p:nvPr/>
        </p:nvSpPr>
        <p:spPr>
          <a:xfrm>
            <a:off x="1009650" y="3368278"/>
            <a:ext cx="3067102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818C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What is a Histogram?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1009650" y="3768328"/>
            <a:ext cx="2921049" cy="1035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discrete function representing the distribution of pixel values across an image. Mathematically counts instances of each gray value.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4635549" y="3368278"/>
            <a:ext cx="3067102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818C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Probability Theory</a:t>
            </a: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4635549" y="3768328"/>
            <a:ext cx="2921049" cy="1035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Normalizing a histogram divides counts by total pixels, estimating the probability of occurrence for each gray-level range.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8261449" y="3368278"/>
            <a:ext cx="3067102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818C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Utility in Vision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8261449" y="3768328"/>
            <a:ext cx="2921049" cy="1035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Allows models to quickly analyze global illumination, diagnose contrast errors, and balance dynamic ranges algorithmically.</a:t>
            </a:r>
            <a:endParaRPr/>
          </a:p>
        </p:txBody>
      </p:sp>
      <p:pic>
        <p:nvPicPr>
          <p:cNvPr id="214" name="Google Shape;214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09650" y="2844403"/>
            <a:ext cx="3048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35549" y="2844403"/>
            <a:ext cx="25717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261449" y="2844403"/>
            <a:ext cx="3905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0"/>
          <p:cNvSpPr txBox="1"/>
          <p:nvPr/>
        </p:nvSpPr>
        <p:spPr>
          <a:xfrm>
            <a:off x="914400" y="581025"/>
            <a:ext cx="11031378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Histogram Processing Concepts</a:t>
            </a:r>
            <a:endParaRPr/>
          </a:p>
        </p:txBody>
      </p:sp>
      <p:sp>
        <p:nvSpPr>
          <p:cNvPr id="218" name="Google Shape;218;p20"/>
          <p:cNvSpPr/>
          <p:nvPr/>
        </p:nvSpPr>
        <p:spPr>
          <a:xfrm>
            <a:off x="771525" y="581025"/>
            <a:ext cx="47625" cy="447675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4462016"/>
            <a:ext cx="5133975" cy="524172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1"/>
          <p:cNvSpPr txBox="1"/>
          <p:nvPr/>
        </p:nvSpPr>
        <p:spPr>
          <a:xfrm>
            <a:off x="771525" y="2462361"/>
            <a:ext cx="5390673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818C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Equalization Objective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771525" y="2862411"/>
            <a:ext cx="5133975" cy="77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Histogram Equalization transforms the original gray-levels so that the resulting output image possesses a uniform probability distribution.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771525" y="3753594"/>
            <a:ext cx="5133975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This effectively "spreads out" high-frequency intensity clusters, producing a flat histogram and maximizing global contrast.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6286500" y="2346424"/>
            <a:ext cx="5390673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818C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Algorithmic Step-by-Step</a:t>
            </a:r>
            <a:endParaRPr/>
          </a:p>
        </p:txBody>
      </p:sp>
      <p:pic>
        <p:nvPicPr>
          <p:cNvPr id="229" name="Google Shape;229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439590" y="4623941"/>
            <a:ext cx="1797694" cy="200322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1"/>
          <p:cNvSpPr txBox="1"/>
          <p:nvPr/>
        </p:nvSpPr>
        <p:spPr>
          <a:xfrm>
            <a:off x="6619875" y="2746474"/>
            <a:ext cx="4800600" cy="25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Compute Histogram:</a:t>
            </a:r>
            <a:r>
              <a:rPr lang="en-US" sz="127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Sum frequencies of each intensity level.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6619875" y="3176885"/>
            <a:ext cx="4800600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Calculate CDF:</a:t>
            </a:r>
            <a:r>
              <a:rPr lang="en-US" sz="127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Obtain the Cumulative Distribution Function by summing running totals.</a:t>
            </a:r>
            <a:endParaRPr/>
          </a:p>
        </p:txBody>
      </p:sp>
      <p:sp>
        <p:nvSpPr>
          <p:cNvPr id="232" name="Google Shape;232;p21"/>
          <p:cNvSpPr txBox="1"/>
          <p:nvPr/>
        </p:nvSpPr>
        <p:spPr>
          <a:xfrm>
            <a:off x="6619875" y="3866257"/>
            <a:ext cx="4800600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Normalize &amp; Round:</a:t>
            </a:r>
            <a:r>
              <a:rPr lang="en-US" sz="127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Scale and round the cumulative value to the nearest integer level.</a:t>
            </a:r>
            <a:endParaRPr/>
          </a:p>
        </p:txBody>
      </p:sp>
      <p:sp>
        <p:nvSpPr>
          <p:cNvPr id="233" name="Google Shape;233;p21"/>
          <p:cNvSpPr txBox="1"/>
          <p:nvPr/>
        </p:nvSpPr>
        <p:spPr>
          <a:xfrm>
            <a:off x="6619875" y="4555628"/>
            <a:ext cx="4800600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Map Intensities:</a:t>
            </a:r>
            <a:r>
              <a:rPr lang="en-US" sz="127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Use the generated table as a lookup array to update all pixel coordinates.</a:t>
            </a:r>
            <a:endParaRPr/>
          </a:p>
        </p:txBody>
      </p:sp>
      <p:sp>
        <p:nvSpPr>
          <p:cNvPr id="234" name="Google Shape;234;p21"/>
          <p:cNvSpPr txBox="1"/>
          <p:nvPr/>
        </p:nvSpPr>
        <p:spPr>
          <a:xfrm>
            <a:off x="6286500" y="2746474"/>
            <a:ext cx="1619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6B6D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/>
          </a:p>
        </p:txBody>
      </p:sp>
      <p:sp>
        <p:nvSpPr>
          <p:cNvPr id="235" name="Google Shape;235;p21"/>
          <p:cNvSpPr txBox="1"/>
          <p:nvPr/>
        </p:nvSpPr>
        <p:spPr>
          <a:xfrm>
            <a:off x="6286500" y="3176885"/>
            <a:ext cx="1619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6B6D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/>
          </a:p>
        </p:txBody>
      </p:sp>
      <p:sp>
        <p:nvSpPr>
          <p:cNvPr id="236" name="Google Shape;236;p21"/>
          <p:cNvSpPr txBox="1"/>
          <p:nvPr/>
        </p:nvSpPr>
        <p:spPr>
          <a:xfrm>
            <a:off x="6286500" y="3866257"/>
            <a:ext cx="1619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6B6D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6286500" y="4555628"/>
            <a:ext cx="1619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6B6D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/>
          </a:p>
        </p:txBody>
      </p:sp>
      <p:pic>
        <p:nvPicPr>
          <p:cNvPr id="238" name="Google Shape;238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2779811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321022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3899594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4588966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1"/>
          <p:cNvSpPr txBox="1"/>
          <p:nvPr/>
        </p:nvSpPr>
        <p:spPr>
          <a:xfrm>
            <a:off x="914400" y="581025"/>
            <a:ext cx="11031378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Histogram Equalization</a:t>
            </a:r>
            <a:endParaRPr/>
          </a:p>
        </p:txBody>
      </p:sp>
      <p:sp>
        <p:nvSpPr>
          <p:cNvPr id="243" name="Google Shape;243;p21"/>
          <p:cNvSpPr/>
          <p:nvPr/>
        </p:nvSpPr>
        <p:spPr>
          <a:xfrm>
            <a:off x="771525" y="581025"/>
            <a:ext cx="47625" cy="447675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2"/>
          <p:cNvSpPr txBox="1"/>
          <p:nvPr/>
        </p:nvSpPr>
        <p:spPr>
          <a:xfrm>
            <a:off x="771525" y="5381178"/>
            <a:ext cx="10648950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1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Step-by-step mapping of a 5-level grayscale image with total pixels n=32 to a target output dynamic range of L=8,  levels (0-7).</a:t>
            </a:r>
            <a:endParaRPr dirty="0">
              <a:solidFill>
                <a:schemeClr val="bg1"/>
              </a:solidFill>
            </a:endParaRPr>
          </a:p>
        </p:txBody>
      </p:sp>
      <p:graphicFrame>
        <p:nvGraphicFramePr>
          <p:cNvPr id="250" name="Google Shape;250;p22"/>
          <p:cNvGraphicFramePr/>
          <p:nvPr>
            <p:extLst>
              <p:ext uri="{D42A27DB-BD31-4B8C-83A1-F6EECF244321}">
                <p14:modId xmlns:p14="http://schemas.microsoft.com/office/powerpoint/2010/main" val="2055757344"/>
              </p:ext>
            </p:extLst>
          </p:nvPr>
        </p:nvGraphicFramePr>
        <p:xfrm>
          <a:off x="771525" y="1996826"/>
          <a:ext cx="10648950" cy="32415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99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2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7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02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u="none" strike="noStrike" cap="none" dirty="0">
                          <a:solidFill>
                            <a:schemeClr val="bg1"/>
                          </a:solidFill>
                          <a:sym typeface="Plus Jakarta Sans SemiBold"/>
                        </a:rPr>
                        <a:t>Old Intensity (</a:t>
                      </a:r>
                      <a:r>
                        <a:rPr lang="en-US" sz="1275" b="1" u="none" strike="noStrike" cap="none" dirty="0" err="1">
                          <a:solidFill>
                            <a:schemeClr val="bg1"/>
                          </a:solidFill>
                          <a:sym typeface="Plus Jakarta Sans SemiBold"/>
                        </a:rPr>
                        <a:t>r_k</a:t>
                      </a:r>
                      <a:r>
                        <a:rPr lang="en-US" sz="1275" b="1" u="none" strike="noStrike" cap="none" dirty="0">
                          <a:solidFill>
                            <a:schemeClr val="bg1"/>
                          </a:solidFill>
                          <a:sym typeface="Plus Jakarta Sans SemiBold"/>
                        </a:rPr>
                        <a:t>)</a:t>
                      </a:r>
                      <a:endParaRPr b="1"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u="none" strike="noStrike" cap="none" dirty="0">
                          <a:solidFill>
                            <a:schemeClr val="bg1"/>
                          </a:solidFill>
                          <a:sym typeface="Plus Jakarta Sans SemiBold"/>
                        </a:rPr>
                        <a:t>Pixel Freq (</a:t>
                      </a:r>
                      <a:r>
                        <a:rPr lang="en-US" sz="1275" b="1" u="none" strike="noStrike" cap="none" dirty="0" err="1">
                          <a:solidFill>
                            <a:schemeClr val="bg1"/>
                          </a:solidFill>
                          <a:sym typeface="Plus Jakarta Sans SemiBold"/>
                        </a:rPr>
                        <a:t>n_k</a:t>
                      </a:r>
                      <a:r>
                        <a:rPr lang="en-US" sz="1275" b="1" u="none" strike="noStrike" cap="none" dirty="0">
                          <a:solidFill>
                            <a:schemeClr val="bg1"/>
                          </a:solidFill>
                          <a:sym typeface="Plus Jakarta Sans SemiBold"/>
                        </a:rPr>
                        <a:t>)</a:t>
                      </a:r>
                      <a:endParaRPr b="1"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u="none" strike="noStrike" cap="none" dirty="0">
                          <a:solidFill>
                            <a:schemeClr val="bg1"/>
                          </a:solidFill>
                          <a:sym typeface="Plus Jakarta Sans SemiBold"/>
                        </a:rPr>
                        <a:t>Cumulative Sum (T(</a:t>
                      </a:r>
                      <a:r>
                        <a:rPr lang="en-US" sz="1275" b="1" u="none" strike="noStrike" cap="none" dirty="0" err="1">
                          <a:solidFill>
                            <a:schemeClr val="bg1"/>
                          </a:solidFill>
                          <a:sym typeface="Plus Jakarta Sans SemiBold"/>
                        </a:rPr>
                        <a:t>r_k</a:t>
                      </a:r>
                      <a:r>
                        <a:rPr lang="en-US" sz="1275" b="1" u="none" strike="noStrike" cap="none" dirty="0">
                          <a:solidFill>
                            <a:schemeClr val="bg1"/>
                          </a:solidFill>
                          <a:sym typeface="Plus Jakarta Sans SemiBold"/>
                        </a:rPr>
                        <a:t>))</a:t>
                      </a:r>
                      <a:endParaRPr b="1"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u="none" strike="noStrike" cap="none" dirty="0">
                          <a:solidFill>
                            <a:schemeClr val="bg1"/>
                          </a:solidFill>
                          <a:sym typeface="Plus Jakarta Sans SemiBold"/>
                        </a:rPr>
                        <a:t>Normalized Output (G(</a:t>
                      </a:r>
                      <a:r>
                        <a:rPr lang="en-US" sz="1275" b="1" u="none" strike="noStrike" cap="none" dirty="0" err="1">
                          <a:solidFill>
                            <a:schemeClr val="bg1"/>
                          </a:solidFill>
                          <a:sym typeface="Plus Jakarta Sans SemiBold"/>
                        </a:rPr>
                        <a:t>r_k</a:t>
                      </a:r>
                      <a:r>
                        <a:rPr lang="en-US" sz="1275" b="1" u="none" strike="noStrike" cap="none" dirty="0">
                          <a:solidFill>
                            <a:schemeClr val="bg1"/>
                          </a:solidFill>
                          <a:sym typeface="Plus Jakarta Sans SemiBold"/>
                        </a:rPr>
                        <a:t>))</a:t>
                      </a:r>
                      <a:endParaRPr b="1"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u="none" strike="noStrike" cap="none" dirty="0">
                          <a:solidFill>
                            <a:schemeClr val="bg1"/>
                          </a:solidFill>
                          <a:sym typeface="Plus Jakarta Sans SemiBold"/>
                        </a:rPr>
                        <a:t>Rounded New Intensity</a:t>
                      </a:r>
                      <a:endParaRPr b="1"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2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u="none" strike="noStrike" cap="none">
                          <a:solidFill>
                            <a:schemeClr val="tx1"/>
                          </a:solidFill>
                          <a:sym typeface="Plus Jakarta Sans"/>
                        </a:rPr>
                        <a:t>0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u="none" strike="noStrike" cap="none" dirty="0">
                          <a:solidFill>
                            <a:schemeClr val="tx1"/>
                          </a:solidFill>
                          <a:sym typeface="Plus Jakarta Sans"/>
                        </a:rPr>
                        <a:t>4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u="none" strike="noStrike" cap="none">
                          <a:solidFill>
                            <a:schemeClr val="tx1"/>
                          </a:solidFill>
                          <a:sym typeface="Plus Jakarta Sans"/>
                        </a:rPr>
                        <a:t>4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u="none" strike="noStrike" cap="none" dirty="0">
                          <a:solidFill>
                            <a:schemeClr val="tx1"/>
                          </a:solidFill>
                          <a:sym typeface="Plus Jakarta Sans"/>
                        </a:rPr>
                        <a:t>7/32 * 4 = 0.875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u="none" strike="noStrike" cap="none">
                          <a:solidFill>
                            <a:schemeClr val="tx1"/>
                          </a:solidFill>
                          <a:sym typeface="Plus Jakarta Sans"/>
                        </a:rPr>
                        <a:t>1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2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u="none" strike="noStrike" cap="none">
                          <a:solidFill>
                            <a:schemeClr val="tx1"/>
                          </a:solidFill>
                          <a:sym typeface="Plus Jakarta Sans"/>
                        </a:rPr>
                        <a:t>1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u="none" strike="noStrike" cap="none">
                          <a:solidFill>
                            <a:schemeClr val="tx1"/>
                          </a:solidFill>
                          <a:sym typeface="Plus Jakarta Sans"/>
                        </a:rPr>
                        <a:t>8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u="none" strike="noStrike" cap="none">
                          <a:solidFill>
                            <a:schemeClr val="tx1"/>
                          </a:solidFill>
                          <a:sym typeface="Plus Jakarta Sans"/>
                        </a:rPr>
                        <a:t>12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u="none" strike="noStrike" cap="none" dirty="0">
                          <a:solidFill>
                            <a:schemeClr val="tx1"/>
                          </a:solidFill>
                          <a:sym typeface="Plus Jakarta Sans"/>
                        </a:rPr>
                        <a:t>7/32 * 12 = 2.625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u="none" strike="noStrike" cap="none">
                          <a:solidFill>
                            <a:schemeClr val="tx1"/>
                          </a:solidFill>
                          <a:sym typeface="Plus Jakarta Sans"/>
                        </a:rPr>
                        <a:t>3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2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u="none" strike="noStrike" cap="none">
                          <a:solidFill>
                            <a:schemeClr val="tx1"/>
                          </a:solidFill>
                          <a:sym typeface="Plus Jakarta Sans"/>
                        </a:rPr>
                        <a:t>2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u="none" strike="noStrike" cap="none">
                          <a:solidFill>
                            <a:schemeClr val="tx1"/>
                          </a:solidFill>
                          <a:sym typeface="Plus Jakarta Sans"/>
                        </a:rPr>
                        <a:t>8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u="none" strike="noStrike" cap="none">
                          <a:solidFill>
                            <a:schemeClr val="tx1"/>
                          </a:solidFill>
                          <a:sym typeface="Plus Jakarta Sans"/>
                        </a:rPr>
                        <a:t>20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u="none" strike="noStrike" cap="none" dirty="0">
                          <a:solidFill>
                            <a:schemeClr val="tx1"/>
                          </a:solidFill>
                          <a:sym typeface="Plus Jakarta Sans"/>
                        </a:rPr>
                        <a:t>7/32 * 20 = 4.375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u="none" strike="noStrike" cap="none">
                          <a:solidFill>
                            <a:schemeClr val="tx1"/>
                          </a:solidFill>
                          <a:sym typeface="Plus Jakarta Sans"/>
                        </a:rPr>
                        <a:t>4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2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u="none" strike="noStrike" cap="none">
                          <a:solidFill>
                            <a:schemeClr val="tx1"/>
                          </a:solidFill>
                          <a:sym typeface="Plus Jakarta Sans"/>
                        </a:rPr>
                        <a:t>3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u="none" strike="noStrike" cap="none">
                          <a:solidFill>
                            <a:schemeClr val="tx1"/>
                          </a:solidFill>
                          <a:sym typeface="Plus Jakarta Sans"/>
                        </a:rPr>
                        <a:t>4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u="none" strike="noStrike" cap="none">
                          <a:solidFill>
                            <a:schemeClr val="tx1"/>
                          </a:solidFill>
                          <a:sym typeface="Plus Jakarta Sans"/>
                        </a:rPr>
                        <a:t>24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u="none" strike="noStrike" cap="none" dirty="0">
                          <a:solidFill>
                            <a:schemeClr val="tx1"/>
                          </a:solidFill>
                          <a:sym typeface="Plus Jakarta Sans"/>
                        </a:rPr>
                        <a:t>7/32 * 24 = 5.250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u="none" strike="noStrike" cap="none">
                          <a:solidFill>
                            <a:schemeClr val="tx1"/>
                          </a:solidFill>
                          <a:sym typeface="Plus Jakarta Sans"/>
                        </a:rPr>
                        <a:t>5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02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u="none" strike="noStrike" cap="none">
                          <a:solidFill>
                            <a:schemeClr val="tx1"/>
                          </a:solidFill>
                          <a:sym typeface="Plus Jakarta Sans"/>
                        </a:rPr>
                        <a:t>4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u="none" strike="noStrike" cap="none">
                          <a:solidFill>
                            <a:schemeClr val="tx1"/>
                          </a:solidFill>
                          <a:sym typeface="Plus Jakarta Sans"/>
                        </a:rPr>
                        <a:t>8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u="none" strike="noStrike" cap="none">
                          <a:solidFill>
                            <a:schemeClr val="tx1"/>
                          </a:solidFill>
                          <a:sym typeface="Plus Jakarta Sans"/>
                        </a:rPr>
                        <a:t>32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u="none" strike="noStrike" cap="none" dirty="0">
                          <a:solidFill>
                            <a:schemeClr val="tx1"/>
                          </a:solidFill>
                          <a:sym typeface="Plus Jakarta Sans"/>
                        </a:rPr>
                        <a:t>7/32 * 32 = 7.000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u="none" strike="noStrike" cap="none" dirty="0">
                          <a:solidFill>
                            <a:schemeClr val="tx1"/>
                          </a:solidFill>
                          <a:sym typeface="Plus Jakarta Sans"/>
                        </a:rPr>
                        <a:t>7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1" name="Google Shape;251;p22"/>
          <p:cNvSpPr/>
          <p:nvPr/>
        </p:nvSpPr>
        <p:spPr>
          <a:xfrm>
            <a:off x="771525" y="2738586"/>
            <a:ext cx="189993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2"/>
          <p:cNvSpPr/>
          <p:nvPr/>
        </p:nvSpPr>
        <p:spPr>
          <a:xfrm>
            <a:off x="2671464" y="2738586"/>
            <a:ext cx="167386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2"/>
          <p:cNvSpPr/>
          <p:nvPr/>
        </p:nvSpPr>
        <p:spPr>
          <a:xfrm>
            <a:off x="4345334" y="2738586"/>
            <a:ext cx="2362348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2"/>
          <p:cNvSpPr/>
          <p:nvPr/>
        </p:nvSpPr>
        <p:spPr>
          <a:xfrm>
            <a:off x="6707683" y="2738586"/>
            <a:ext cx="262488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2"/>
          <p:cNvSpPr/>
          <p:nvPr/>
        </p:nvSpPr>
        <p:spPr>
          <a:xfrm>
            <a:off x="9332565" y="2738586"/>
            <a:ext cx="208790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2"/>
          <p:cNvSpPr/>
          <p:nvPr/>
        </p:nvSpPr>
        <p:spPr>
          <a:xfrm>
            <a:off x="771525" y="3235672"/>
            <a:ext cx="189993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2"/>
          <p:cNvSpPr/>
          <p:nvPr/>
        </p:nvSpPr>
        <p:spPr>
          <a:xfrm>
            <a:off x="2671464" y="3235672"/>
            <a:ext cx="167386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2"/>
          <p:cNvSpPr/>
          <p:nvPr/>
        </p:nvSpPr>
        <p:spPr>
          <a:xfrm>
            <a:off x="4345334" y="3235672"/>
            <a:ext cx="2362348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2"/>
          <p:cNvSpPr/>
          <p:nvPr/>
        </p:nvSpPr>
        <p:spPr>
          <a:xfrm>
            <a:off x="6707683" y="3235672"/>
            <a:ext cx="262488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2"/>
          <p:cNvSpPr/>
          <p:nvPr/>
        </p:nvSpPr>
        <p:spPr>
          <a:xfrm>
            <a:off x="9332565" y="3235672"/>
            <a:ext cx="208790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2"/>
          <p:cNvSpPr/>
          <p:nvPr/>
        </p:nvSpPr>
        <p:spPr>
          <a:xfrm>
            <a:off x="771525" y="3732758"/>
            <a:ext cx="189993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2"/>
          <p:cNvSpPr/>
          <p:nvPr/>
        </p:nvSpPr>
        <p:spPr>
          <a:xfrm>
            <a:off x="2671464" y="3732758"/>
            <a:ext cx="167386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2"/>
          <p:cNvSpPr/>
          <p:nvPr/>
        </p:nvSpPr>
        <p:spPr>
          <a:xfrm>
            <a:off x="4345334" y="3732758"/>
            <a:ext cx="2362348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2"/>
          <p:cNvSpPr/>
          <p:nvPr/>
        </p:nvSpPr>
        <p:spPr>
          <a:xfrm>
            <a:off x="6707683" y="3732758"/>
            <a:ext cx="262488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2"/>
          <p:cNvSpPr/>
          <p:nvPr/>
        </p:nvSpPr>
        <p:spPr>
          <a:xfrm>
            <a:off x="9332565" y="3732758"/>
            <a:ext cx="208790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2"/>
          <p:cNvSpPr/>
          <p:nvPr/>
        </p:nvSpPr>
        <p:spPr>
          <a:xfrm>
            <a:off x="771525" y="4229844"/>
            <a:ext cx="189993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2"/>
          <p:cNvSpPr/>
          <p:nvPr/>
        </p:nvSpPr>
        <p:spPr>
          <a:xfrm>
            <a:off x="2671464" y="4229844"/>
            <a:ext cx="167386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2"/>
          <p:cNvSpPr/>
          <p:nvPr/>
        </p:nvSpPr>
        <p:spPr>
          <a:xfrm>
            <a:off x="4345334" y="4229844"/>
            <a:ext cx="2362348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2"/>
          <p:cNvSpPr/>
          <p:nvPr/>
        </p:nvSpPr>
        <p:spPr>
          <a:xfrm>
            <a:off x="6707683" y="4229844"/>
            <a:ext cx="262488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2"/>
          <p:cNvSpPr/>
          <p:nvPr/>
        </p:nvSpPr>
        <p:spPr>
          <a:xfrm>
            <a:off x="9332565" y="4229844"/>
            <a:ext cx="208790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2"/>
          <p:cNvSpPr/>
          <p:nvPr/>
        </p:nvSpPr>
        <p:spPr>
          <a:xfrm>
            <a:off x="771525" y="4726930"/>
            <a:ext cx="189993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2"/>
          <p:cNvSpPr/>
          <p:nvPr/>
        </p:nvSpPr>
        <p:spPr>
          <a:xfrm>
            <a:off x="2671464" y="4726930"/>
            <a:ext cx="167386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2"/>
          <p:cNvSpPr/>
          <p:nvPr/>
        </p:nvSpPr>
        <p:spPr>
          <a:xfrm>
            <a:off x="4345334" y="4726930"/>
            <a:ext cx="2362348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2"/>
          <p:cNvSpPr/>
          <p:nvPr/>
        </p:nvSpPr>
        <p:spPr>
          <a:xfrm>
            <a:off x="6707683" y="4726930"/>
            <a:ext cx="262488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2"/>
          <p:cNvSpPr/>
          <p:nvPr/>
        </p:nvSpPr>
        <p:spPr>
          <a:xfrm>
            <a:off x="9332565" y="4726930"/>
            <a:ext cx="208790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2"/>
          <p:cNvSpPr/>
          <p:nvPr/>
        </p:nvSpPr>
        <p:spPr>
          <a:xfrm>
            <a:off x="771525" y="5224016"/>
            <a:ext cx="189993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2"/>
          <p:cNvSpPr/>
          <p:nvPr/>
        </p:nvSpPr>
        <p:spPr>
          <a:xfrm>
            <a:off x="2671464" y="5224016"/>
            <a:ext cx="167386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2"/>
          <p:cNvSpPr/>
          <p:nvPr/>
        </p:nvSpPr>
        <p:spPr>
          <a:xfrm>
            <a:off x="4345334" y="5224016"/>
            <a:ext cx="2362348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2"/>
          <p:cNvSpPr/>
          <p:nvPr/>
        </p:nvSpPr>
        <p:spPr>
          <a:xfrm>
            <a:off x="6707683" y="5224016"/>
            <a:ext cx="262488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2"/>
          <p:cNvSpPr/>
          <p:nvPr/>
        </p:nvSpPr>
        <p:spPr>
          <a:xfrm>
            <a:off x="9332565" y="5224016"/>
            <a:ext cx="208790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2"/>
          <p:cNvSpPr txBox="1"/>
          <p:nvPr/>
        </p:nvSpPr>
        <p:spPr>
          <a:xfrm>
            <a:off x="914400" y="581025"/>
            <a:ext cx="11031378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Mathematical Equalization Example</a:t>
            </a:r>
            <a:endParaRPr/>
          </a:p>
        </p:txBody>
      </p:sp>
      <p:sp>
        <p:nvSpPr>
          <p:cNvPr id="282" name="Google Shape;282;p22"/>
          <p:cNvSpPr/>
          <p:nvPr/>
        </p:nvSpPr>
        <p:spPr>
          <a:xfrm>
            <a:off x="771525" y="581025"/>
            <a:ext cx="47625" cy="447675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" name="Google Shape;229;p21" descr="image.png">
            <a:extLst>
              <a:ext uri="{FF2B5EF4-FFF2-40B4-BE49-F238E27FC236}">
                <a16:creationId xmlns:a16="http://schemas.microsoft.com/office/drawing/2014/main" id="{F46ADAAB-0CE6-4411-93F8-32D8D1345B8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64115" y="1460154"/>
            <a:ext cx="1797694" cy="2003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985962"/>
            <a:ext cx="51339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3"/>
          <p:cNvSpPr txBox="1"/>
          <p:nvPr/>
        </p:nvSpPr>
        <p:spPr>
          <a:xfrm>
            <a:off x="771525" y="2174081"/>
            <a:ext cx="5390673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818C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Target Histogram Alignment</a:t>
            </a:r>
            <a:endParaRPr/>
          </a:p>
        </p:txBody>
      </p:sp>
      <p:sp>
        <p:nvSpPr>
          <p:cNvPr id="290" name="Google Shape;290;p23"/>
          <p:cNvSpPr txBox="1"/>
          <p:nvPr/>
        </p:nvSpPr>
        <p:spPr>
          <a:xfrm>
            <a:off x="771525" y="2574131"/>
            <a:ext cx="5133975" cy="941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Unlike equalization, which forces a uniform output, </a:t>
            </a:r>
            <a:r>
              <a:rPr lang="en-US" sz="1275" b="1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Histogram Matching</a:t>
            </a:r>
            <a:r>
              <a:rPr lang="en-US" sz="1275" b="1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75" b="1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75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maps an image's pixel values to mimic a specific target reference distribution.</a:t>
            </a:r>
            <a:endParaRPr dirty="0"/>
          </a:p>
        </p:txBody>
      </p:sp>
      <p:sp>
        <p:nvSpPr>
          <p:cNvPr id="291" name="Google Shape;291;p23"/>
          <p:cNvSpPr txBox="1"/>
          <p:nvPr/>
        </p:nvSpPr>
        <p:spPr>
          <a:xfrm>
            <a:off x="771525" y="3465314"/>
            <a:ext cx="5133975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This is highly effective for preparing multi-source satellite images or aligning camera exposures under changing lighting conditions.</a:t>
            </a:r>
            <a:endParaRPr/>
          </a:p>
        </p:txBody>
      </p:sp>
      <p:sp>
        <p:nvSpPr>
          <p:cNvPr id="292" name="Google Shape;292;p23"/>
          <p:cNvSpPr txBox="1"/>
          <p:nvPr/>
        </p:nvSpPr>
        <p:spPr>
          <a:xfrm>
            <a:off x="1104900" y="4126110"/>
            <a:ext cx="4800600" cy="25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Compute equalization profiles for both source and target.</a:t>
            </a:r>
            <a:endParaRPr/>
          </a:p>
        </p:txBody>
      </p:sp>
      <p:sp>
        <p:nvSpPr>
          <p:cNvPr id="293" name="Google Shape;293;p23"/>
          <p:cNvSpPr txBox="1"/>
          <p:nvPr/>
        </p:nvSpPr>
        <p:spPr>
          <a:xfrm>
            <a:off x="1104900" y="4556521"/>
            <a:ext cx="4800600" cy="25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Inverse-map the source states to corresponding target states.</a:t>
            </a:r>
            <a:endParaRPr/>
          </a:p>
        </p:txBody>
      </p:sp>
      <p:sp>
        <p:nvSpPr>
          <p:cNvPr id="294" name="Google Shape;294;p23"/>
          <p:cNvSpPr txBox="1"/>
          <p:nvPr/>
        </p:nvSpPr>
        <p:spPr>
          <a:xfrm>
            <a:off x="1104900" y="4986932"/>
            <a:ext cx="4800600" cy="25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Apply generated lookup table to transform original image.</a:t>
            </a:r>
            <a:endParaRPr/>
          </a:p>
        </p:txBody>
      </p:sp>
      <p:sp>
        <p:nvSpPr>
          <p:cNvPr id="296" name="Google Shape;296;p23"/>
          <p:cNvSpPr txBox="1"/>
          <p:nvPr/>
        </p:nvSpPr>
        <p:spPr>
          <a:xfrm>
            <a:off x="771525" y="4126110"/>
            <a:ext cx="1619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6B6D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/>
          </a:p>
        </p:txBody>
      </p:sp>
      <p:sp>
        <p:nvSpPr>
          <p:cNvPr id="297" name="Google Shape;297;p23"/>
          <p:cNvSpPr txBox="1"/>
          <p:nvPr/>
        </p:nvSpPr>
        <p:spPr>
          <a:xfrm>
            <a:off x="771525" y="4556521"/>
            <a:ext cx="1619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6B6D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/>
          </a:p>
        </p:txBody>
      </p:sp>
      <p:sp>
        <p:nvSpPr>
          <p:cNvPr id="298" name="Google Shape;298;p23"/>
          <p:cNvSpPr txBox="1"/>
          <p:nvPr/>
        </p:nvSpPr>
        <p:spPr>
          <a:xfrm>
            <a:off x="771525" y="4986932"/>
            <a:ext cx="1619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6B6D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/>
          </a:p>
        </p:txBody>
      </p:sp>
      <p:pic>
        <p:nvPicPr>
          <p:cNvPr id="299" name="Google Shape;299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4159448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4589859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5020270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3"/>
          <p:cNvSpPr txBox="1"/>
          <p:nvPr/>
        </p:nvSpPr>
        <p:spPr>
          <a:xfrm>
            <a:off x="914400" y="581025"/>
            <a:ext cx="11031378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Histogram Matching</a:t>
            </a:r>
            <a:endParaRPr/>
          </a:p>
        </p:txBody>
      </p:sp>
      <p:sp>
        <p:nvSpPr>
          <p:cNvPr id="303" name="Google Shape;303;p23"/>
          <p:cNvSpPr/>
          <p:nvPr/>
        </p:nvSpPr>
        <p:spPr>
          <a:xfrm>
            <a:off x="771525" y="581025"/>
            <a:ext cx="47625" cy="447675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615F36C-2EF1-4BD0-9A85-2EA514C044C4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6048375" y="2888694"/>
            <a:ext cx="5943600" cy="170116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5"/>
          <p:cNvSpPr/>
          <p:nvPr/>
        </p:nvSpPr>
        <p:spPr>
          <a:xfrm>
            <a:off x="771525" y="2230933"/>
            <a:ext cx="1064895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5"/>
          <p:cNvSpPr/>
          <p:nvPr/>
        </p:nvSpPr>
        <p:spPr>
          <a:xfrm>
            <a:off x="771525" y="3015704"/>
            <a:ext cx="1064895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5"/>
          <p:cNvSpPr/>
          <p:nvPr/>
        </p:nvSpPr>
        <p:spPr>
          <a:xfrm>
            <a:off x="771525" y="3800475"/>
            <a:ext cx="1064895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5"/>
          <p:cNvSpPr txBox="1"/>
          <p:nvPr/>
        </p:nvSpPr>
        <p:spPr>
          <a:xfrm>
            <a:off x="771525" y="2231886"/>
            <a:ext cx="1619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6B6D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/>
          </a:p>
        </p:txBody>
      </p:sp>
      <p:sp>
        <p:nvSpPr>
          <p:cNvPr id="332" name="Google Shape;332;p25"/>
          <p:cNvSpPr/>
          <p:nvPr/>
        </p:nvSpPr>
        <p:spPr>
          <a:xfrm>
            <a:off x="771525" y="3006179"/>
            <a:ext cx="10648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5"/>
          <p:cNvSpPr/>
          <p:nvPr/>
        </p:nvSpPr>
        <p:spPr>
          <a:xfrm>
            <a:off x="771525" y="3006179"/>
            <a:ext cx="10648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5"/>
          <p:cNvSpPr txBox="1"/>
          <p:nvPr/>
        </p:nvSpPr>
        <p:spPr>
          <a:xfrm>
            <a:off x="771525" y="3016656"/>
            <a:ext cx="1619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6B6D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/>
          </a:p>
        </p:txBody>
      </p:sp>
      <p:sp>
        <p:nvSpPr>
          <p:cNvPr id="335" name="Google Shape;335;p25"/>
          <p:cNvSpPr/>
          <p:nvPr/>
        </p:nvSpPr>
        <p:spPr>
          <a:xfrm>
            <a:off x="771525" y="3790950"/>
            <a:ext cx="10648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5"/>
          <p:cNvSpPr/>
          <p:nvPr/>
        </p:nvSpPr>
        <p:spPr>
          <a:xfrm>
            <a:off x="771525" y="3790950"/>
            <a:ext cx="10648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5"/>
          <p:cNvSpPr txBox="1"/>
          <p:nvPr/>
        </p:nvSpPr>
        <p:spPr>
          <a:xfrm>
            <a:off x="771525" y="3801427"/>
            <a:ext cx="1619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6B6D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/>
          </a:p>
        </p:txBody>
      </p:sp>
      <p:sp>
        <p:nvSpPr>
          <p:cNvPr id="338" name="Google Shape;338;p25"/>
          <p:cNvSpPr/>
          <p:nvPr/>
        </p:nvSpPr>
        <p:spPr>
          <a:xfrm>
            <a:off x="771525" y="4575720"/>
            <a:ext cx="10648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5"/>
          <p:cNvSpPr/>
          <p:nvPr/>
        </p:nvSpPr>
        <p:spPr>
          <a:xfrm>
            <a:off x="771525" y="4575720"/>
            <a:ext cx="10648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5"/>
          <p:cNvSpPr txBox="1"/>
          <p:nvPr/>
        </p:nvSpPr>
        <p:spPr>
          <a:xfrm>
            <a:off x="771525" y="4586198"/>
            <a:ext cx="1619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6B6D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/>
          </a:p>
        </p:txBody>
      </p:sp>
      <p:pic>
        <p:nvPicPr>
          <p:cNvPr id="341" name="Google Shape;341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238035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25"/>
          <p:cNvSpPr txBox="1"/>
          <p:nvPr/>
        </p:nvSpPr>
        <p:spPr>
          <a:xfrm>
            <a:off x="1866900" y="2373808"/>
            <a:ext cx="955357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https://www.frontiersin.org/files/Articles/1672569/xml-images/frsip-05-1672569-g011.webp</a:t>
            </a:r>
            <a:endParaRPr/>
          </a:p>
        </p:txBody>
      </p:sp>
      <p:sp>
        <p:nvSpPr>
          <p:cNvPr id="343" name="Google Shape;343;p25"/>
          <p:cNvSpPr txBox="1"/>
          <p:nvPr/>
        </p:nvSpPr>
        <p:spPr>
          <a:xfrm>
            <a:off x="1866900" y="2619523"/>
            <a:ext cx="95535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www.frontiersin.org</a:t>
            </a:r>
            <a:endParaRPr/>
          </a:p>
        </p:txBody>
      </p:sp>
      <p:pic>
        <p:nvPicPr>
          <p:cNvPr id="344" name="Google Shape;344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316512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25"/>
          <p:cNvSpPr txBox="1"/>
          <p:nvPr/>
        </p:nvSpPr>
        <p:spPr>
          <a:xfrm>
            <a:off x="1866900" y="3158579"/>
            <a:ext cx="955357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https://media.geeksforgeeks.org/wp-content/uploads/20240710150104/Basic-Intensity-Transformation-Function-Gamma-Correction-1.webp</a:t>
            </a:r>
            <a:endParaRPr/>
          </a:p>
        </p:txBody>
      </p:sp>
      <p:sp>
        <p:nvSpPr>
          <p:cNvPr id="346" name="Google Shape;346;p25"/>
          <p:cNvSpPr txBox="1"/>
          <p:nvPr/>
        </p:nvSpPr>
        <p:spPr>
          <a:xfrm>
            <a:off x="1866900" y="3404294"/>
            <a:ext cx="95535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www.geeksforgeeks.org</a:t>
            </a:r>
            <a:endParaRPr/>
          </a:p>
        </p:txBody>
      </p:sp>
      <p:pic>
        <p:nvPicPr>
          <p:cNvPr id="347" name="Google Shape;347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1525" y="394989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25"/>
          <p:cNvSpPr txBox="1"/>
          <p:nvPr/>
        </p:nvSpPr>
        <p:spPr>
          <a:xfrm>
            <a:off x="1866900" y="3943350"/>
            <a:ext cx="955357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https://www.mdpi.com/plants/plants-13-02140/article_deploy/html/images/plants-13-02140-g001-550.jpg</a:t>
            </a:r>
            <a:endParaRPr/>
          </a:p>
        </p:txBody>
      </p:sp>
      <p:sp>
        <p:nvSpPr>
          <p:cNvPr id="349" name="Google Shape;349;p25"/>
          <p:cNvSpPr txBox="1"/>
          <p:nvPr/>
        </p:nvSpPr>
        <p:spPr>
          <a:xfrm>
            <a:off x="1866900" y="4189065"/>
            <a:ext cx="95535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www.mdpi.com</a:t>
            </a:r>
            <a:endParaRPr/>
          </a:p>
        </p:txBody>
      </p:sp>
      <p:pic>
        <p:nvPicPr>
          <p:cNvPr id="350" name="Google Shape;350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1525" y="473466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25"/>
          <p:cNvSpPr txBox="1"/>
          <p:nvPr/>
        </p:nvSpPr>
        <p:spPr>
          <a:xfrm>
            <a:off x="1866900" y="4728120"/>
            <a:ext cx="955357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https://dfzljdn9uc3pi.cloudfront.net/2024/cs-2121/1/fig-7-2x.jpg</a:t>
            </a:r>
            <a:endParaRPr/>
          </a:p>
        </p:txBody>
      </p:sp>
      <p:sp>
        <p:nvSpPr>
          <p:cNvPr id="352" name="Google Shape;352;p25"/>
          <p:cNvSpPr txBox="1"/>
          <p:nvPr/>
        </p:nvSpPr>
        <p:spPr>
          <a:xfrm>
            <a:off x="1866900" y="4973835"/>
            <a:ext cx="95535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peerj.com</a:t>
            </a:r>
            <a:endParaRPr/>
          </a:p>
        </p:txBody>
      </p:sp>
      <p:sp>
        <p:nvSpPr>
          <p:cNvPr id="353" name="Google Shape;353;p25"/>
          <p:cNvSpPr txBox="1"/>
          <p:nvPr/>
        </p:nvSpPr>
        <p:spPr>
          <a:xfrm>
            <a:off x="914400" y="581025"/>
            <a:ext cx="11031378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Image Sources</a:t>
            </a:r>
            <a:endParaRPr/>
          </a:p>
        </p:txBody>
      </p:sp>
      <p:sp>
        <p:nvSpPr>
          <p:cNvPr id="354" name="Google Shape;354;p25"/>
          <p:cNvSpPr/>
          <p:nvPr/>
        </p:nvSpPr>
        <p:spPr>
          <a:xfrm>
            <a:off x="771525" y="581025"/>
            <a:ext cx="47625" cy="447675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925</Words>
  <Application>Microsoft Office PowerPoint</Application>
  <PresentationFormat>Widescreen</PresentationFormat>
  <Paragraphs>127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Plus Jakarta Sans SemiBold</vt:lpstr>
      <vt:lpstr>Arial</vt:lpstr>
      <vt:lpstr>Plus Jakarta Sans Medium</vt:lpstr>
      <vt:lpstr>Plus Jakarta Sans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ahmed.abdelsatar@fci.bu.edu.eg</cp:lastModifiedBy>
  <cp:revision>7</cp:revision>
  <dcterms:modified xsi:type="dcterms:W3CDTF">2026-06-02T09:19:56Z</dcterms:modified>
</cp:coreProperties>
</file>