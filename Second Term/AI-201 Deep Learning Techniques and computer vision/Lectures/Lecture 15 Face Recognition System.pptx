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82" r:id="rId3"/>
    <p:sldId id="283" r:id="rId4"/>
    <p:sldId id="278" r:id="rId5"/>
    <p:sldId id="263" r:id="rId6"/>
    <p:sldId id="265" r:id="rId7"/>
    <p:sldId id="266" r:id="rId8"/>
    <p:sldId id="281" r:id="rId9"/>
    <p:sldId id="269" r:id="rId10"/>
    <p:sldId id="270" r:id="rId11"/>
  </p:sldIdLst>
  <p:sldSz cx="12192000" cy="6858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Inter" panose="020B0502030000000004" pitchFamily="34" charset="0"/>
      <p:regular r:id="rId17"/>
      <p:bold r:id="rId18"/>
      <p:italic r:id="rId19"/>
      <p:boldItalic r:id="rId20"/>
    </p:embeddedFont>
    <p:embeddedFont>
      <p:font typeface="Inter SemiBold" panose="020B0604020202020204" charset="0"/>
      <p:regular r:id="rId21"/>
      <p:bold r:id="rId22"/>
      <p:italic r:id="rId23"/>
      <p:boldItalic r:id="rId24"/>
    </p:embeddedFont>
    <p:embeddedFont>
      <p:font typeface="Poppins" panose="00000500000000000000" pitchFamily="2" charset="0"/>
      <p:regular r:id="rId25"/>
      <p:bold r:id="rId26"/>
      <p:italic r:id="rId27"/>
      <p:boldItalic r:id="rId28"/>
    </p:embeddedFont>
    <p:embeddedFont>
      <p:font typeface="Poppins SemiBold" panose="00000700000000000000" pitchFamily="2" charset="0"/>
      <p:regular r:id="rId29"/>
      <p:bold r:id="rId30"/>
      <p:italic r:id="rId31"/>
      <p:boldItalic r:id="rId32"/>
    </p:embeddedFont>
    <p:embeddedFont>
      <p:font typeface="Times" panose="02020603050405020304" pitchFamily="18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7B83DB-A3F0-41D0-93E9-9600EA3104F8}">
  <a:tblStyle styleId="{907B83DB-A3F0-41D0-93E9-9600EA3104F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9" Type="http://schemas.openxmlformats.org/officeDocument/2006/relationships/theme" Target="theme/theme1.xml"/><Relationship Id="rId21" Type="http://schemas.openxmlformats.org/officeDocument/2006/relationships/font" Target="fonts/font9.fntdata"/><Relationship Id="rId34" Type="http://schemas.openxmlformats.org/officeDocument/2006/relationships/font" Target="fonts/font22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font" Target="fonts/font21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font" Target="fonts/font24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font" Target="fonts/font2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05301" y="2087016"/>
            <a:ext cx="11181397" cy="1226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3F4F6"/>
                </a:solidFill>
                <a:latin typeface="Poppins"/>
                <a:ea typeface="Poppins"/>
                <a:cs typeface="Poppins"/>
                <a:sym typeface="Poppins"/>
              </a:rPr>
              <a:t>Real-Time Face Recognition </a:t>
            </a:r>
            <a:r>
              <a:rPr lang="en-US" sz="4200" b="1" i="0" u="none" strike="noStrike" cap="none">
                <a:solidFill>
                  <a:srgbClr val="4ADE80"/>
                </a:solidFill>
                <a:latin typeface="Poppins"/>
                <a:ea typeface="Poppins"/>
                <a:cs typeface="Poppins"/>
                <a:sym typeface="Poppins"/>
              </a:rPr>
              <a:t>&amp; Detection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818483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An End-to-End Deep Learning Framework Integrating MTCNN, VGG-Face, and YOLOv8 Models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71525" y="4570958"/>
            <a:ext cx="106489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DE80"/>
                </a:solidFill>
                <a:latin typeface="Times"/>
                <a:ea typeface="Times"/>
                <a:cs typeface="Times"/>
                <a:sym typeface="Times"/>
              </a:rPr>
              <a:t>DR. AHMED YOUSRY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 flowchart&#10;&#10;AI-generated content may be incorrect.">
            <a:extLst>
              <a:ext uri="{FF2B5EF4-FFF2-40B4-BE49-F238E27FC236}">
                <a16:creationId xmlns:a16="http://schemas.microsoft.com/office/drawing/2014/main" id="{E5207E89-999A-40F8-A099-02CED2B25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5534"/>
            <a:ext cx="12192000" cy="62632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2F7BD6-2EF0-4B89-857B-FD7C7F388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185" y="48305"/>
            <a:ext cx="6797629" cy="38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427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FF952C-098F-494F-A5C1-A14A392147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858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4E29EF-04BB-4105-854E-15B90EEF8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03506" y="-116733"/>
            <a:ext cx="8229600" cy="872889"/>
          </a:xfrm>
        </p:spPr>
        <p:txBody>
          <a:bodyPr/>
          <a:lstStyle/>
          <a:p>
            <a:r>
              <a:rPr lang="en-US" dirty="0"/>
              <a:t>MTCNN Architecture </a:t>
            </a:r>
          </a:p>
        </p:txBody>
      </p:sp>
      <p:pic>
        <p:nvPicPr>
          <p:cNvPr id="1026" name="Picture 2" descr="MTCNN Pipeline">
            <a:extLst>
              <a:ext uri="{FF2B5EF4-FFF2-40B4-BE49-F238E27FC236}">
                <a16:creationId xmlns:a16="http://schemas.microsoft.com/office/drawing/2014/main" id="{A5CB5B1E-BD09-4DB7-9D88-CD73E377A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80" y="4776788"/>
            <a:ext cx="11811000" cy="187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E8608763-FA15-4929-9ED4-C62E2263FD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61620" y="947343"/>
            <a:ext cx="11811000" cy="3959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Stage 1 (P-Net - Proposal Network):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 fully convolutional network that generates candidate windows and bounding box calibration. It uses an image pyramid for multi-scale detection.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Stage 2 (R-Net - Refinement Network):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 CNN that takes the proposals from P-Net, rejects non-faces, and refines the bounding boxes using Non-Maximum Suppression (NMS).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Stage 3 (O-Net - Output Network):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 more complex CNN that further refines the bounding boxes and outputs the locations of five facial landmarks (eyes, nose, mouth corners).</a:t>
            </a:r>
          </a:p>
        </p:txBody>
      </p:sp>
    </p:spTree>
    <p:extLst>
      <p:ext uri="{BB962C8B-B14F-4D97-AF65-F5344CB8AC3E}">
        <p14:creationId xmlns:p14="http://schemas.microsoft.com/office/powerpoint/2010/main" val="1116522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682478"/>
            <a:ext cx="5086350" cy="2321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682478"/>
            <a:ext cx="5086350" cy="232171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1114425" y="3025378"/>
            <a:ext cx="462057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MTCNN (Multi-Stage Cascade)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1114425" y="3511153"/>
            <a:ext cx="4400550" cy="10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Accuracy-Focused:</a:t>
            </a:r>
            <a:r>
              <a:rPr lang="en-US" sz="1275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Leverages a three-tier network to detect facial keypoints and landmarks simultaneously. Offers excellent alignment precision but suffers from higher computational latency during fast movement.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6677025" y="3025378"/>
            <a:ext cx="462057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YOLOv8 (Single-Stage Regression)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6677025" y="3511153"/>
            <a:ext cx="4400550" cy="10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Speed-Focused:</a:t>
            </a:r>
            <a:r>
              <a:rPr lang="en-US" sz="1275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Detects face bounding boxes in a single pass of the network. Built for ultra-high framerates, rendering it ideal for CPU-bound or hardware-constrained edge servers.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962025" y="581025"/>
            <a:ext cx="1098137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Comparison of Detection Methods</a:t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771525" y="581025"/>
            <a:ext cx="47625" cy="5429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3075" y="2271712"/>
            <a:ext cx="3143250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 txBox="1"/>
          <p:nvPr/>
        </p:nvSpPr>
        <p:spPr>
          <a:xfrm>
            <a:off x="6334125" y="1943695"/>
            <a:ext cx="534066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2622-Dimensional Feature Vectors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6334125" y="2429470"/>
            <a:ext cx="508635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To establish identity verification, cropped facial images are processed through the pre-trained VGG-Face model.</a:t>
            </a:r>
            <a:endParaRPr/>
          </a:p>
        </p:txBody>
      </p:sp>
      <p:pic>
        <p:nvPicPr>
          <p:cNvPr id="196" name="Google Shape;19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71650" y="2300287"/>
            <a:ext cx="308610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2"/>
          <p:cNvSpPr txBox="1"/>
          <p:nvPr/>
        </p:nvSpPr>
        <p:spPr>
          <a:xfrm>
            <a:off x="6619875" y="3061692"/>
            <a:ext cx="4800600" cy="62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The model architecture processes normalized 224 </a:t>
            </a:r>
            <a:r>
              <a:rPr lang="en-US" sz="1275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*</a:t>
            </a:r>
            <a:r>
              <a:rPr lang="en-US" sz="1275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224</a:t>
            </a:r>
            <a:r>
              <a:rPr lang="en-US" sz="1275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images.</a:t>
            </a:r>
            <a:endParaRPr dirty="0"/>
          </a:p>
        </p:txBody>
      </p:sp>
      <p:sp>
        <p:nvSpPr>
          <p:cNvPr id="198" name="Google Shape;198;p22"/>
          <p:cNvSpPr txBox="1"/>
          <p:nvPr/>
        </p:nvSpPr>
        <p:spPr>
          <a:xfrm>
            <a:off x="6619875" y="3732014"/>
            <a:ext cx="48006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Extracted outputs map visual features into a dense vector space.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6619875" y="4402335"/>
            <a:ext cx="48006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Feature representations capture subtle invariants (e.g., eye spacing, jawlines).</a:t>
            </a:r>
            <a:endParaRPr dirty="0"/>
          </a:p>
        </p:txBody>
      </p:sp>
      <p:sp>
        <p:nvSpPr>
          <p:cNvPr id="200" name="Google Shape;200;p22"/>
          <p:cNvSpPr txBox="1"/>
          <p:nvPr/>
        </p:nvSpPr>
        <p:spPr>
          <a:xfrm>
            <a:off x="6619875" y="5072657"/>
            <a:ext cx="48006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Class classification layers are removed to keep features highly generalizable.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962025" y="581025"/>
            <a:ext cx="1098137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Deep VGG-Face Embeddings</a:t>
            </a:r>
            <a:endParaRPr/>
          </a:p>
        </p:txBody>
      </p:sp>
      <p:sp>
        <p:nvSpPr>
          <p:cNvPr id="202" name="Google Shape;202;p22"/>
          <p:cNvSpPr/>
          <p:nvPr/>
        </p:nvSpPr>
        <p:spPr>
          <a:xfrm>
            <a:off x="771525" y="581025"/>
            <a:ext cx="47625" cy="5429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080742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751064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421385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5091707"/>
            <a:ext cx="161925" cy="16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 txBox="1"/>
          <p:nvPr/>
        </p:nvSpPr>
        <p:spPr>
          <a:xfrm>
            <a:off x="1762125" y="2479476"/>
            <a:ext cx="909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Deep Convolutional Stack:</a:t>
            </a:r>
            <a:r>
              <a:rPr lang="en-US" sz="135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Utilizes 16 convolution layers, 5 pooling layers, and 3 fully-connected layers to construct a deep hierarchy of abstract facial features.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1762125" y="3199507"/>
            <a:ext cx="909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Truncation Point:</a:t>
            </a:r>
            <a:r>
              <a:rPr lang="en-US" sz="135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Truncated right before the final softmax classification layer to yield pure, unclassified embedding features.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1762125" y="3919537"/>
            <a:ext cx="909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Feature Resolution:</a:t>
            </a:r>
            <a:r>
              <a:rPr lang="en-US" sz="135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Translates complex spatial pixel relationships into a single 2622-dimensional floating-point vector.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1762125" y="4639567"/>
            <a:ext cx="909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Transfer Learning:</a:t>
            </a:r>
            <a:r>
              <a:rPr lang="en-US" sz="1350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Leverages weights pre-trained on millions of faces, eliminating the need for vast datasets to train local models.</a:t>
            </a:r>
            <a:endParaRPr/>
          </a:p>
        </p:txBody>
      </p:sp>
      <p:pic>
        <p:nvPicPr>
          <p:cNvPr id="216" name="Google Shape;21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81125" y="2512814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81125" y="323284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81125" y="3952875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81125" y="4672905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962025" y="581025"/>
            <a:ext cx="1098137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VGG-Face Architecture</a:t>
            </a:r>
            <a:endParaRPr dirty="0"/>
          </a:p>
        </p:txBody>
      </p:sp>
      <p:sp>
        <p:nvSpPr>
          <p:cNvPr id="221" name="Google Shape;221;p23"/>
          <p:cNvSpPr/>
          <p:nvPr/>
        </p:nvSpPr>
        <p:spPr>
          <a:xfrm>
            <a:off x="771525" y="581025"/>
            <a:ext cx="47625" cy="5429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1E204177-6B4F-44B1-81FC-6A961EB79E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14"/>
          <a:stretch>
            <a:fillRect/>
          </a:stretch>
        </p:blipFill>
        <p:spPr>
          <a:xfrm>
            <a:off x="838200" y="704765"/>
            <a:ext cx="10628376" cy="544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813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3824287"/>
            <a:ext cx="1064895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6"/>
          <p:cNvSpPr txBox="1"/>
          <p:nvPr/>
        </p:nvSpPr>
        <p:spPr>
          <a:xfrm>
            <a:off x="710297" y="4129087"/>
            <a:ext cx="257157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Frame Read</a:t>
            </a:r>
            <a:endParaRPr/>
          </a:p>
        </p:txBody>
      </p:sp>
      <p:sp>
        <p:nvSpPr>
          <p:cNvPr id="256" name="Google Shape;256;p26"/>
          <p:cNvSpPr txBox="1"/>
          <p:nvPr/>
        </p:nvSpPr>
        <p:spPr>
          <a:xfrm>
            <a:off x="771525" y="4557712"/>
            <a:ext cx="2449115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Live video frames are read, duplicated for safe editing, and normalized.</a:t>
            </a:r>
            <a:endParaRPr/>
          </a:p>
        </p:txBody>
      </p:sp>
      <p:sp>
        <p:nvSpPr>
          <p:cNvPr id="257" name="Google Shape;257;p26"/>
          <p:cNvSpPr txBox="1"/>
          <p:nvPr/>
        </p:nvSpPr>
        <p:spPr>
          <a:xfrm>
            <a:off x="3443525" y="2237779"/>
            <a:ext cx="257157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Detect &amp; Track</a:t>
            </a:r>
            <a:endParaRPr/>
          </a:p>
        </p:txBody>
      </p:sp>
      <p:sp>
        <p:nvSpPr>
          <p:cNvPr id="258" name="Google Shape;258;p26"/>
          <p:cNvSpPr txBox="1"/>
          <p:nvPr/>
        </p:nvSpPr>
        <p:spPr>
          <a:xfrm>
            <a:off x="3504753" y="2666404"/>
            <a:ext cx="2449115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Faces are located using MTCNN or YOLOv8 and tracked across frames.</a:t>
            </a:r>
            <a:endParaRPr/>
          </a:p>
        </p:txBody>
      </p:sp>
      <p:sp>
        <p:nvSpPr>
          <p:cNvPr id="259" name="Google Shape;259;p26"/>
          <p:cNvSpPr txBox="1"/>
          <p:nvPr/>
        </p:nvSpPr>
        <p:spPr>
          <a:xfrm>
            <a:off x="6176754" y="4129087"/>
            <a:ext cx="257157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Vector Creation</a:t>
            </a:r>
            <a:endParaRPr/>
          </a:p>
        </p:txBody>
      </p:sp>
      <p:sp>
        <p:nvSpPr>
          <p:cNvPr id="260" name="Google Shape;260;p26"/>
          <p:cNvSpPr txBox="1"/>
          <p:nvPr/>
        </p:nvSpPr>
        <p:spPr>
          <a:xfrm>
            <a:off x="6237982" y="4557712"/>
            <a:ext cx="2449115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Detected face ROIs are cropped and encoded into VGG-Face embeddings.</a:t>
            </a:r>
            <a:endParaRPr/>
          </a:p>
        </p:txBody>
      </p:sp>
      <p:sp>
        <p:nvSpPr>
          <p:cNvPr id="261" name="Google Shape;261;p26"/>
          <p:cNvSpPr txBox="1"/>
          <p:nvPr/>
        </p:nvSpPr>
        <p:spPr>
          <a:xfrm>
            <a:off x="8909982" y="2496740"/>
            <a:ext cx="257157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Classification</a:t>
            </a:r>
            <a:endParaRPr/>
          </a:p>
        </p:txBody>
      </p:sp>
      <p:sp>
        <p:nvSpPr>
          <p:cNvPr id="262" name="Google Shape;262;p26"/>
          <p:cNvSpPr txBox="1"/>
          <p:nvPr/>
        </p:nvSpPr>
        <p:spPr>
          <a:xfrm>
            <a:off x="8971210" y="2925365"/>
            <a:ext cx="244911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Cosine similarity matches the embedding to database entries.</a:t>
            </a:r>
            <a:endParaRPr/>
          </a:p>
        </p:txBody>
      </p:sp>
      <p:sp>
        <p:nvSpPr>
          <p:cNvPr id="263" name="Google Shape;263;p26"/>
          <p:cNvSpPr/>
          <p:nvPr/>
        </p:nvSpPr>
        <p:spPr>
          <a:xfrm>
            <a:off x="1900832" y="37480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 cap="flat" cmpd="sng">
            <a:solidFill>
              <a:srgbClr val="4ADE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6"/>
          <p:cNvSpPr/>
          <p:nvPr/>
        </p:nvSpPr>
        <p:spPr>
          <a:xfrm>
            <a:off x="4634061" y="37480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 cap="flat" cmpd="sng">
            <a:solidFill>
              <a:srgbClr val="4ADE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6"/>
          <p:cNvSpPr/>
          <p:nvPr/>
        </p:nvSpPr>
        <p:spPr>
          <a:xfrm>
            <a:off x="7367289" y="37480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 cap="flat" cmpd="sng">
            <a:solidFill>
              <a:srgbClr val="4ADE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10100518" y="37480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 cap="flat" cmpd="sng">
            <a:solidFill>
              <a:srgbClr val="4ADE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6"/>
          <p:cNvSpPr txBox="1"/>
          <p:nvPr/>
        </p:nvSpPr>
        <p:spPr>
          <a:xfrm>
            <a:off x="962025" y="581025"/>
            <a:ext cx="1098137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Real-Time Processing Pipeline</a:t>
            </a:r>
            <a:endParaRPr/>
          </a:p>
        </p:txBody>
      </p:sp>
      <p:sp>
        <p:nvSpPr>
          <p:cNvPr id="268" name="Google Shape;268;p26"/>
          <p:cNvSpPr/>
          <p:nvPr/>
        </p:nvSpPr>
        <p:spPr>
          <a:xfrm>
            <a:off x="771525" y="581025"/>
            <a:ext cx="47625" cy="5429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 txBox="1"/>
          <p:nvPr/>
        </p:nvSpPr>
        <p:spPr>
          <a:xfrm>
            <a:off x="771525" y="3124200"/>
            <a:ext cx="508635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1" i="0" u="none" strike="noStrike" cap="none">
                <a:solidFill>
                  <a:srgbClr val="4ADE80"/>
                </a:solidFill>
                <a:latin typeface="Poppins"/>
                <a:ea typeface="Poppins"/>
                <a:cs typeface="Poppins"/>
                <a:sym typeface="Poppins"/>
              </a:rPr>
              <a:t>0.30</a:t>
            </a:r>
            <a:endParaRPr/>
          </a:p>
        </p:txBody>
      </p:sp>
      <p:sp>
        <p:nvSpPr>
          <p:cNvPr id="275" name="Google Shape;275;p27"/>
          <p:cNvSpPr txBox="1"/>
          <p:nvPr/>
        </p:nvSpPr>
        <p:spPr>
          <a:xfrm>
            <a:off x="771525" y="4314825"/>
            <a:ext cx="50863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3F4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Cosine Distance Cutoff Limit</a:t>
            </a:r>
            <a:endParaRPr/>
          </a:p>
        </p:txBody>
      </p:sp>
      <p:sp>
        <p:nvSpPr>
          <p:cNvPr id="276" name="Google Shape;276;p27"/>
          <p:cNvSpPr txBox="1"/>
          <p:nvPr/>
        </p:nvSpPr>
        <p:spPr>
          <a:xfrm>
            <a:off x="6334125" y="2667297"/>
            <a:ext cx="534066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Inference Decisions</a:t>
            </a:r>
            <a:endParaRPr/>
          </a:p>
        </p:txBody>
      </p:sp>
      <p:sp>
        <p:nvSpPr>
          <p:cNvPr id="277" name="Google Shape;277;p27"/>
          <p:cNvSpPr txBox="1"/>
          <p:nvPr/>
        </p:nvSpPr>
        <p:spPr>
          <a:xfrm>
            <a:off x="6334125" y="3153072"/>
            <a:ext cx="508635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Cosine distance computes the angular difference between live embedding vectors and saved reference templates.</a:t>
            </a:r>
            <a:endParaRPr/>
          </a:p>
        </p:txBody>
      </p:sp>
      <p:sp>
        <p:nvSpPr>
          <p:cNvPr id="278" name="Google Shape;278;p27"/>
          <p:cNvSpPr txBox="1"/>
          <p:nvPr/>
        </p:nvSpPr>
        <p:spPr>
          <a:xfrm>
            <a:off x="6619875" y="3785294"/>
            <a:ext cx="480060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Values strictly below 0.30 signify a verified match.</a:t>
            </a:r>
            <a:endParaRPr/>
          </a:p>
        </p:txBody>
      </p:sp>
      <p:sp>
        <p:nvSpPr>
          <p:cNvPr id="279" name="Google Shape;279;p27"/>
          <p:cNvSpPr txBox="1"/>
          <p:nvPr/>
        </p:nvSpPr>
        <p:spPr>
          <a:xfrm>
            <a:off x="6619875" y="4196655"/>
            <a:ext cx="480060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Values exceeding 0.30 are designated as "Unknown".</a:t>
            </a:r>
            <a:endParaRPr/>
          </a:p>
        </p:txBody>
      </p:sp>
      <p:sp>
        <p:nvSpPr>
          <p:cNvPr id="280" name="Google Shape;280;p27"/>
          <p:cNvSpPr txBox="1"/>
          <p:nvPr/>
        </p:nvSpPr>
        <p:spPr>
          <a:xfrm>
            <a:off x="6619875" y="4608016"/>
            <a:ext cx="480060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Minimizes false-positives while adjusting for lighting and pose.</a:t>
            </a:r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962025" y="581025"/>
            <a:ext cx="1098137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Similarity Distance Metrics</a:t>
            </a:r>
            <a:endParaRPr/>
          </a:p>
        </p:txBody>
      </p:sp>
      <p:sp>
        <p:nvSpPr>
          <p:cNvPr id="282" name="Google Shape;282;p27"/>
          <p:cNvSpPr/>
          <p:nvPr/>
        </p:nvSpPr>
        <p:spPr>
          <a:xfrm>
            <a:off x="771525" y="581025"/>
            <a:ext cx="47625" cy="5429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804344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215705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627066"/>
            <a:ext cx="161925" cy="16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911</TotalTime>
  <Words>461</Words>
  <Application>Microsoft Office PowerPoint</Application>
  <PresentationFormat>Widescreen</PresentationFormat>
  <Paragraphs>41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Inter</vt:lpstr>
      <vt:lpstr>Poppins SemiBold</vt:lpstr>
      <vt:lpstr>Poppins</vt:lpstr>
      <vt:lpstr>Calibri</vt:lpstr>
      <vt:lpstr>Inter SemiBold</vt:lpstr>
      <vt:lpstr>Times</vt:lpstr>
      <vt:lpstr>Arial</vt:lpstr>
      <vt:lpstr>Office Theme</vt:lpstr>
      <vt:lpstr>PowerPoint Presentation</vt:lpstr>
      <vt:lpstr>PowerPoint Presentation</vt:lpstr>
      <vt:lpstr>PowerPoint Presentation</vt:lpstr>
      <vt:lpstr>MTCNN Architecture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Ahmed Yousry</cp:lastModifiedBy>
  <cp:revision>16</cp:revision>
  <dcterms:modified xsi:type="dcterms:W3CDTF">2026-07-10T12:03:07Z</dcterms:modified>
</cp:coreProperties>
</file>