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7" r:id="rId2"/>
    <p:sldId id="257" r:id="rId3"/>
    <p:sldId id="258" r:id="rId4"/>
    <p:sldId id="267" r:id="rId5"/>
    <p:sldId id="268" r:id="rId6"/>
    <p:sldId id="266" r:id="rId7"/>
    <p:sldId id="269" r:id="rId8"/>
    <p:sldId id="270" r:id="rId9"/>
    <p:sldId id="259" r:id="rId10"/>
    <p:sldId id="271" r:id="rId11"/>
    <p:sldId id="272" r:id="rId12"/>
    <p:sldId id="273" r:id="rId13"/>
    <p:sldId id="264" r:id="rId14"/>
    <p:sldId id="276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172C7-3EF4-ED20-2443-C536E513B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C12730-2B23-4369-FABB-F5818A7B9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0B8A2-AB5E-E0B4-12D6-8FD16A49C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E14E-B3F8-4014-96A3-8A32ADFE3B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FBF3D-977F-A06A-3ACD-6854E4D5C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406B5-D233-BFED-4BF9-3CBD7317D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08AB-98C7-464A-A92F-52130D4D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33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CC7BD-DA67-4B80-ECCE-1786583C8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81DD0-EB21-CD5A-E06A-58E95E320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52395-8277-367B-7E73-DC89122B6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E14E-B3F8-4014-96A3-8A32ADFE3B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2FAFB-6DA0-B9BC-3621-E674F8615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2F8AE-8A16-BC1C-802E-C5302A1E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08AB-98C7-464A-A92F-52130D4D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09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7EB0C-95CD-0204-2290-98D4F3BA9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B7379-D3EA-742B-E547-2967665E7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3B6D9-C333-130F-3D3F-7D14EF63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E14E-B3F8-4014-96A3-8A32ADFE3B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D4047-585B-D224-EE3D-62686CCE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C87DE-2E38-F773-6C60-3E9DBFA8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08AB-98C7-464A-A92F-52130D4D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75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6A898-D511-4D39-CEDF-AD2AB7479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AE067-795B-57D1-0193-0048696B0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19891-F9F4-F7BE-34BF-0A180E751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1BA7F-17B4-46EA-6CB2-263F1032D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E14E-B3F8-4014-96A3-8A32ADFE3B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C5186-81A8-1EFD-F086-0472A120F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15C00-52E7-12DF-F177-381A46E1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08AB-98C7-464A-A92F-52130D4D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69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84B6-5177-8EDB-45E4-5301D747A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312DC-98F1-5976-AAA8-7368B9623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B7551-8F62-32E5-AC66-C36968671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C979F6-2E0F-CA38-0748-54A7E50E6F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22C768-676C-C2A9-FCF6-2549E86C31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6FBE7D-86FC-AC3A-C80C-0DCE68518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E14E-B3F8-4014-96A3-8A32ADFE3B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3186CB-0415-A9A5-04A1-7CB9873D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2661F6-2CA6-6C0C-B7FD-7C75827A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08AB-98C7-464A-A92F-52130D4D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64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21D27-8FF9-6D9C-2243-00B0EBE74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0ED39-B844-6C93-AE64-C4FF1DA56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E14E-B3F8-4014-96A3-8A32ADFE3B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70DF9-3535-AD21-9A48-93887E046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73F1A1-5533-AECC-B2C5-026572709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08AB-98C7-464A-A92F-52130D4D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24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8D2EC5-B4E4-57FE-6348-51A58A43D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E14E-B3F8-4014-96A3-8A32ADFE3B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072296-B4C2-88DE-7B55-0DA6989D2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E1885-5284-9F7C-F1A2-1E87E747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08AB-98C7-464A-A92F-52130D4D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45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9BC92-F1A8-E575-BC42-E6133AFEF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C3316-60F7-203D-E520-EB4E54060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3F29E-937C-35BB-102F-4917B0953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EC592-0718-D779-87DC-9719B3824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E14E-B3F8-4014-96A3-8A32ADFE3B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AA033-5305-5510-0837-37AD87CAD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019BD-C179-9769-A982-E7CD9616A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08AB-98C7-464A-A92F-52130D4D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45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125B7-A1A9-CB17-B1BA-FD28297A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D64F6B-0BE2-3CB3-F3AA-2943D305D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0A26E-4032-6172-946E-560979BA7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AC0CE-AB55-EB9E-2243-4AD75CB53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E14E-B3F8-4014-96A3-8A32ADFE3B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A6567-CEC6-1869-9E4B-4E205A91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23AB1-84C8-9805-0BA4-4614BF31C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08AB-98C7-464A-A92F-52130D4D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12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DA95B-7069-46F4-EE16-AF84114C3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99407-0AB8-0BFF-68AC-42AEAFC5E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5E49C-3C20-41B0-E2C5-45DB84E9E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E14E-B3F8-4014-96A3-8A32ADFE3B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375AC-C9CF-F4A8-E457-4950BB318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31782-6D4B-824E-85AD-1E174DB50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08AB-98C7-464A-A92F-52130D4D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00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58E3E3-551F-B9AB-BB8D-2204880C2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2CA0E-93EF-F533-1E52-5C5F03640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3BC96-F969-FA6F-5517-CA968BE34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E14E-B3F8-4014-96A3-8A32ADFE3B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A727C-4A5C-E395-A23B-BC684DB3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3FCE4-A5CD-CAEE-181D-99A962FE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08AB-98C7-464A-A92F-52130D4D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5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A16F41-9493-D3EA-EE8A-037CEAAA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16B90-8348-1187-8B0B-B96744904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BAD64-9B5F-B276-242F-2719685C2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9E14E-B3F8-4014-96A3-8A32ADFE3BD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4763D-43E9-9B5A-8377-B00D15C6A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D96E3-30C5-499F-FA16-1E4581DB5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208AB-98C7-464A-A92F-52130D4D1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53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ight Triangle 8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841B8-39D1-60C9-71F3-BFD49476A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89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br>
              <a:rPr lang="en-US" sz="89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900" b="1">
                <a:latin typeface="Times New Roman" panose="02020603050405020304" pitchFamily="18" charset="0"/>
                <a:cs typeface="Times New Roman" panose="02020603050405020304" pitchFamily="18" charset="0"/>
              </a:rPr>
              <a:t>(CV)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633AC-863C-395F-7D50-076B7E422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 estimation</a:t>
            </a:r>
          </a:p>
          <a:p>
            <a:pPr algn="l"/>
            <a:r>
              <a:rPr lang="en-US" b="1" dirty="0"/>
              <a:t>YOLOv8:12 and </a:t>
            </a:r>
            <a:r>
              <a:rPr lang="en-US" b="1" dirty="0" err="1"/>
              <a:t>MediaPipe</a:t>
            </a:r>
            <a:endParaRPr lang="en-US" b="1" dirty="0"/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820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ight Triangle 1032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50924-3975-DF02-C4C5-EF6980AAF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/>
          </a:bodyPr>
          <a:lstStyle/>
          <a:p>
            <a:r>
              <a:rPr lang="en-US" sz="6000"/>
              <a:t>What is pose estimation</a:t>
            </a:r>
          </a:p>
        </p:txBody>
      </p:sp>
      <p:pic>
        <p:nvPicPr>
          <p:cNvPr id="1026" name="Picture 2" descr="A Comprehensive Guide on Human Pose Estimation - Analytics Vidhya">
            <a:extLst>
              <a:ext uri="{FF2B5EF4-FFF2-40B4-BE49-F238E27FC236}">
                <a16:creationId xmlns:a16="http://schemas.microsoft.com/office/drawing/2014/main" id="{E3FAF83D-312F-039F-DE4D-7444C823E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3357" y="3503347"/>
            <a:ext cx="3533985" cy="175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2AA03-38BA-A420-9CB2-A07F98F5D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2998278"/>
            <a:ext cx="4238257" cy="2728198"/>
          </a:xfrm>
        </p:spPr>
        <p:txBody>
          <a:bodyPr anchor="t">
            <a:normAutofit/>
          </a:bodyPr>
          <a:lstStyle/>
          <a:p>
            <a:r>
              <a:rPr lang="en-US" sz="2000"/>
              <a:t>Predicting the </a:t>
            </a:r>
            <a:r>
              <a:rPr lang="en-US" sz="2000" b="1"/>
              <a:t>location of the key body joints </a:t>
            </a:r>
            <a:r>
              <a:rPr lang="en-US" sz="2000"/>
              <a:t>of a human</a:t>
            </a:r>
          </a:p>
          <a:p>
            <a:r>
              <a:rPr lang="en-US" sz="2000"/>
              <a:t>Also called </a:t>
            </a:r>
            <a:r>
              <a:rPr lang="en-US" sz="2000" b="1"/>
              <a:t>pose detection </a:t>
            </a:r>
            <a:r>
              <a:rPr lang="en-US" sz="2000"/>
              <a:t>or </a:t>
            </a:r>
            <a:r>
              <a:rPr lang="en-US" sz="2000" b="1"/>
              <a:t>keypoint detection</a:t>
            </a:r>
          </a:p>
        </p:txBody>
      </p:sp>
    </p:spTree>
    <p:extLst>
      <p:ext uri="{BB962C8B-B14F-4D97-AF65-F5344CB8AC3E}">
        <p14:creationId xmlns:p14="http://schemas.microsoft.com/office/powerpoint/2010/main" val="4022303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6D22FA1E-E02A-4FC5-BBA6-577D6DA0C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61" name="Freeform: Shape 2060">
            <a:extLst>
              <a:ext uri="{FF2B5EF4-FFF2-40B4-BE49-F238E27FC236}">
                <a16:creationId xmlns:a16="http://schemas.microsoft.com/office/drawing/2014/main" id="{05D27520-F270-4F3D-A46E-76A337B6E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315529 w 12192000"/>
              <a:gd name="connsiteY0" fmla="*/ 4323896 h 6858000"/>
              <a:gd name="connsiteX1" fmla="*/ 6295588 w 12192000"/>
              <a:gd name="connsiteY1" fmla="*/ 4367579 h 6858000"/>
              <a:gd name="connsiteX2" fmla="*/ 6219229 w 12192000"/>
              <a:gd name="connsiteY2" fmla="*/ 4436818 h 6858000"/>
              <a:gd name="connsiteX3" fmla="*/ 6065687 w 12192000"/>
              <a:gd name="connsiteY3" fmla="*/ 4637204 h 6858000"/>
              <a:gd name="connsiteX4" fmla="*/ 5727387 w 12192000"/>
              <a:gd name="connsiteY4" fmla="*/ 5460076 h 6858000"/>
              <a:gd name="connsiteX5" fmla="*/ 5620972 w 12192000"/>
              <a:gd name="connsiteY5" fmla="*/ 5725836 h 6858000"/>
              <a:gd name="connsiteX6" fmla="*/ 5707795 w 12192000"/>
              <a:gd name="connsiteY6" fmla="*/ 5790089 h 6858000"/>
              <a:gd name="connsiteX7" fmla="*/ 5554627 w 12192000"/>
              <a:gd name="connsiteY7" fmla="*/ 6078873 h 6858000"/>
              <a:gd name="connsiteX8" fmla="*/ 5373489 w 12192000"/>
              <a:gd name="connsiteY8" fmla="*/ 6402408 h 6858000"/>
              <a:gd name="connsiteX9" fmla="*/ 5099999 w 12192000"/>
              <a:gd name="connsiteY9" fmla="*/ 6827527 h 6858000"/>
              <a:gd name="connsiteX10" fmla="*/ 5078133 w 12192000"/>
              <a:gd name="connsiteY10" fmla="*/ 6857998 h 6858000"/>
              <a:gd name="connsiteX11" fmla="*/ 9179960 w 12192000"/>
              <a:gd name="connsiteY11" fmla="*/ 6857998 h 6858000"/>
              <a:gd name="connsiteX12" fmla="*/ 9179960 w 12192000"/>
              <a:gd name="connsiteY12" fmla="*/ 4323896 h 6858000"/>
              <a:gd name="connsiteX13" fmla="*/ 0 w 12192000"/>
              <a:gd name="connsiteY13" fmla="*/ 0 h 6858000"/>
              <a:gd name="connsiteX14" fmla="*/ 5872711 w 12192000"/>
              <a:gd name="connsiteY14" fmla="*/ 0 h 6858000"/>
              <a:gd name="connsiteX15" fmla="*/ 5885421 w 12192000"/>
              <a:gd name="connsiteY15" fmla="*/ 20207 h 6858000"/>
              <a:gd name="connsiteX16" fmla="*/ 5925300 w 12192000"/>
              <a:gd name="connsiteY16" fmla="*/ 48911 h 6858000"/>
              <a:gd name="connsiteX17" fmla="*/ 5940039 w 12192000"/>
              <a:gd name="connsiteY17" fmla="*/ 101212 h 6858000"/>
              <a:gd name="connsiteX18" fmla="*/ 5969942 w 12192000"/>
              <a:gd name="connsiteY18" fmla="*/ 311282 h 6858000"/>
              <a:gd name="connsiteX19" fmla="*/ 5961238 w 12192000"/>
              <a:gd name="connsiteY19" fmla="*/ 357643 h 6858000"/>
              <a:gd name="connsiteX20" fmla="*/ 5917195 w 12192000"/>
              <a:gd name="connsiteY20" fmla="*/ 420369 h 6858000"/>
              <a:gd name="connsiteX21" fmla="*/ 5882753 w 12192000"/>
              <a:gd name="connsiteY21" fmla="*/ 556832 h 6858000"/>
              <a:gd name="connsiteX22" fmla="*/ 5814490 w 12192000"/>
              <a:gd name="connsiteY22" fmla="*/ 757416 h 6858000"/>
              <a:gd name="connsiteX23" fmla="*/ 5780064 w 12192000"/>
              <a:gd name="connsiteY23" fmla="*/ 817804 h 6858000"/>
              <a:gd name="connsiteX24" fmla="*/ 5808232 w 12192000"/>
              <a:gd name="connsiteY24" fmla="*/ 850533 h 6858000"/>
              <a:gd name="connsiteX25" fmla="*/ 5906473 w 12192000"/>
              <a:gd name="connsiteY25" fmla="*/ 1076571 h 6858000"/>
              <a:gd name="connsiteX26" fmla="*/ 5778623 w 12192000"/>
              <a:gd name="connsiteY26" fmla="*/ 1369280 h 6858000"/>
              <a:gd name="connsiteX27" fmla="*/ 5710841 w 12192000"/>
              <a:gd name="connsiteY27" fmla="*/ 1462628 h 6858000"/>
              <a:gd name="connsiteX28" fmla="*/ 5846774 w 12192000"/>
              <a:gd name="connsiteY28" fmla="*/ 1455933 h 6858000"/>
              <a:gd name="connsiteX29" fmla="*/ 5897329 w 12192000"/>
              <a:gd name="connsiteY29" fmla="*/ 1553073 h 6858000"/>
              <a:gd name="connsiteX30" fmla="*/ 5919735 w 12192000"/>
              <a:gd name="connsiteY30" fmla="*/ 1602736 h 6858000"/>
              <a:gd name="connsiteX31" fmla="*/ 6057874 w 12192000"/>
              <a:gd name="connsiteY31" fmla="*/ 1910648 h 6858000"/>
              <a:gd name="connsiteX32" fmla="*/ 6039719 w 12192000"/>
              <a:gd name="connsiteY32" fmla="*/ 2010547 h 6858000"/>
              <a:gd name="connsiteX33" fmla="*/ 5841713 w 12192000"/>
              <a:gd name="connsiteY33" fmla="*/ 2520599 h 6858000"/>
              <a:gd name="connsiteX34" fmla="*/ 6071734 w 12192000"/>
              <a:gd name="connsiteY34" fmla="*/ 2593468 h 6858000"/>
              <a:gd name="connsiteX35" fmla="*/ 6092050 w 12192000"/>
              <a:gd name="connsiteY35" fmla="*/ 2806646 h 6858000"/>
              <a:gd name="connsiteX36" fmla="*/ 6215122 w 12192000"/>
              <a:gd name="connsiteY36" fmla="*/ 3021197 h 6858000"/>
              <a:gd name="connsiteX37" fmla="*/ 6338100 w 12192000"/>
              <a:gd name="connsiteY37" fmla="*/ 3178087 h 6858000"/>
              <a:gd name="connsiteX38" fmla="*/ 6343927 w 12192000"/>
              <a:gd name="connsiteY38" fmla="*/ 3194685 h 6858000"/>
              <a:gd name="connsiteX39" fmla="*/ 6343850 w 12192000"/>
              <a:gd name="connsiteY39" fmla="*/ 3201174 h 6858000"/>
              <a:gd name="connsiteX40" fmla="*/ 6366375 w 12192000"/>
              <a:gd name="connsiteY40" fmla="*/ 3271251 h 6858000"/>
              <a:gd name="connsiteX41" fmla="*/ 6369430 w 12192000"/>
              <a:gd name="connsiteY41" fmla="*/ 3276240 h 6858000"/>
              <a:gd name="connsiteX42" fmla="*/ 6392405 w 12192000"/>
              <a:gd name="connsiteY42" fmla="*/ 3360437 h 6858000"/>
              <a:gd name="connsiteX43" fmla="*/ 6397993 w 12192000"/>
              <a:gd name="connsiteY43" fmla="*/ 3390203 h 6858000"/>
              <a:gd name="connsiteX44" fmla="*/ 6394652 w 12192000"/>
              <a:gd name="connsiteY44" fmla="*/ 3402205 h 6858000"/>
              <a:gd name="connsiteX45" fmla="*/ 6366662 w 12192000"/>
              <a:gd name="connsiteY45" fmla="*/ 3442044 h 6858000"/>
              <a:gd name="connsiteX46" fmla="*/ 6320915 w 12192000"/>
              <a:gd name="connsiteY46" fmla="*/ 3701547 h 6858000"/>
              <a:gd name="connsiteX47" fmla="*/ 6364618 w 12192000"/>
              <a:gd name="connsiteY47" fmla="*/ 3743844 h 6858000"/>
              <a:gd name="connsiteX48" fmla="*/ 6370409 w 12192000"/>
              <a:gd name="connsiteY48" fmla="*/ 3754454 h 6858000"/>
              <a:gd name="connsiteX49" fmla="*/ 6373773 w 12192000"/>
              <a:gd name="connsiteY49" fmla="*/ 3768237 h 6858000"/>
              <a:gd name="connsiteX50" fmla="*/ 6375298 w 12192000"/>
              <a:gd name="connsiteY50" fmla="*/ 3796540 h 6858000"/>
              <a:gd name="connsiteX51" fmla="*/ 6253487 w 12192000"/>
              <a:gd name="connsiteY51" fmla="*/ 3856948 h 6858000"/>
              <a:gd name="connsiteX52" fmla="*/ 6385416 w 12192000"/>
              <a:gd name="connsiteY52" fmla="*/ 4014409 h 6858000"/>
              <a:gd name="connsiteX53" fmla="*/ 6374795 w 12192000"/>
              <a:gd name="connsiteY53" fmla="*/ 4038554 h 6858000"/>
              <a:gd name="connsiteX54" fmla="*/ 6351015 w 12192000"/>
              <a:gd name="connsiteY54" fmla="*/ 4150489 h 6858000"/>
              <a:gd name="connsiteX55" fmla="*/ 6340821 w 12192000"/>
              <a:gd name="connsiteY55" fmla="*/ 4212706 h 6858000"/>
              <a:gd name="connsiteX56" fmla="*/ 12191999 w 12192000"/>
              <a:gd name="connsiteY56" fmla="*/ 4212706 h 6858000"/>
              <a:gd name="connsiteX57" fmla="*/ 12191999 w 12192000"/>
              <a:gd name="connsiteY57" fmla="*/ 0 h 6858000"/>
              <a:gd name="connsiteX58" fmla="*/ 12192000 w 12192000"/>
              <a:gd name="connsiteY58" fmla="*/ 0 h 6858000"/>
              <a:gd name="connsiteX59" fmla="*/ 12192000 w 12192000"/>
              <a:gd name="connsiteY59" fmla="*/ 6858000 h 6858000"/>
              <a:gd name="connsiteX60" fmla="*/ 12191999 w 12192000"/>
              <a:gd name="connsiteY60" fmla="*/ 6858000 h 6858000"/>
              <a:gd name="connsiteX61" fmla="*/ 12191999 w 12192000"/>
              <a:gd name="connsiteY61" fmla="*/ 4323902 h 6858000"/>
              <a:gd name="connsiteX62" fmla="*/ 9307672 w 12192000"/>
              <a:gd name="connsiteY62" fmla="*/ 4323902 h 6858000"/>
              <a:gd name="connsiteX63" fmla="*/ 9307672 w 12192000"/>
              <a:gd name="connsiteY63" fmla="*/ 6858000 h 6858000"/>
              <a:gd name="connsiteX64" fmla="*/ 0 w 12192000"/>
              <a:gd name="connsiteY6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192000" h="6858000">
                <a:moveTo>
                  <a:pt x="6315529" y="4323896"/>
                </a:moveTo>
                <a:lnTo>
                  <a:pt x="6295588" y="4367579"/>
                </a:lnTo>
                <a:cubicBezTo>
                  <a:pt x="6278024" y="4397022"/>
                  <a:pt x="6253813" y="4421099"/>
                  <a:pt x="6219229" y="4436818"/>
                </a:cubicBezTo>
                <a:cubicBezTo>
                  <a:pt x="6148079" y="4469666"/>
                  <a:pt x="6116436" y="4572066"/>
                  <a:pt x="6065687" y="4637204"/>
                </a:cubicBezTo>
                <a:cubicBezTo>
                  <a:pt x="5888713" y="4862696"/>
                  <a:pt x="5773979" y="5125824"/>
                  <a:pt x="5727387" y="5460076"/>
                </a:cubicBezTo>
                <a:cubicBezTo>
                  <a:pt x="5714326" y="5552523"/>
                  <a:pt x="5656974" y="5638673"/>
                  <a:pt x="5620972" y="5725836"/>
                </a:cubicBezTo>
                <a:cubicBezTo>
                  <a:pt x="5641553" y="5779043"/>
                  <a:pt x="5738619" y="5631221"/>
                  <a:pt x="5707795" y="5790089"/>
                </a:cubicBezTo>
                <a:cubicBezTo>
                  <a:pt x="5684453" y="5909876"/>
                  <a:pt x="5617437" y="5996827"/>
                  <a:pt x="5554627" y="6078873"/>
                </a:cubicBezTo>
                <a:cubicBezTo>
                  <a:pt x="5482491" y="6172498"/>
                  <a:pt x="5402203" y="6253366"/>
                  <a:pt x="5373489" y="6402408"/>
                </a:cubicBezTo>
                <a:cubicBezTo>
                  <a:pt x="5371924" y="6410357"/>
                  <a:pt x="5276557" y="6577417"/>
                  <a:pt x="5099999" y="6827527"/>
                </a:cubicBezTo>
                <a:lnTo>
                  <a:pt x="5078133" y="6857998"/>
                </a:lnTo>
                <a:lnTo>
                  <a:pt x="9179960" y="6857998"/>
                </a:lnTo>
                <a:lnTo>
                  <a:pt x="9179960" y="4323896"/>
                </a:lnTo>
                <a:close/>
                <a:moveTo>
                  <a:pt x="0" y="0"/>
                </a:moveTo>
                <a:lnTo>
                  <a:pt x="5872711" y="0"/>
                </a:lnTo>
                <a:lnTo>
                  <a:pt x="5885421" y="20207"/>
                </a:lnTo>
                <a:cubicBezTo>
                  <a:pt x="5896481" y="32882"/>
                  <a:pt x="5909484" y="42864"/>
                  <a:pt x="5925300" y="48911"/>
                </a:cubicBezTo>
                <a:cubicBezTo>
                  <a:pt x="5940498" y="54526"/>
                  <a:pt x="5945509" y="75042"/>
                  <a:pt x="5940039" y="101212"/>
                </a:cubicBezTo>
                <a:cubicBezTo>
                  <a:pt x="5921950" y="187894"/>
                  <a:pt x="5936667" y="254951"/>
                  <a:pt x="5969942" y="311282"/>
                </a:cubicBezTo>
                <a:cubicBezTo>
                  <a:pt x="5981709" y="330926"/>
                  <a:pt x="5977292" y="344422"/>
                  <a:pt x="5961238" y="357643"/>
                </a:cubicBezTo>
                <a:cubicBezTo>
                  <a:pt x="5942802" y="372223"/>
                  <a:pt x="5928461" y="393565"/>
                  <a:pt x="5917195" y="420369"/>
                </a:cubicBezTo>
                <a:cubicBezTo>
                  <a:pt x="5898701" y="463685"/>
                  <a:pt x="5889992" y="510050"/>
                  <a:pt x="5882753" y="556832"/>
                </a:cubicBezTo>
                <a:cubicBezTo>
                  <a:pt x="5871511" y="630206"/>
                  <a:pt x="5858246" y="700969"/>
                  <a:pt x="5814490" y="757416"/>
                </a:cubicBezTo>
                <a:cubicBezTo>
                  <a:pt x="5801465" y="774559"/>
                  <a:pt x="5791019" y="796511"/>
                  <a:pt x="5780064" y="817804"/>
                </a:cubicBezTo>
                <a:cubicBezTo>
                  <a:pt x="5783558" y="836359"/>
                  <a:pt x="5792196" y="849005"/>
                  <a:pt x="5808232" y="850533"/>
                </a:cubicBezTo>
                <a:cubicBezTo>
                  <a:pt x="5910296" y="860624"/>
                  <a:pt x="5905771" y="962632"/>
                  <a:pt x="5906473" y="1076571"/>
                </a:cubicBezTo>
                <a:cubicBezTo>
                  <a:pt x="5907545" y="1217584"/>
                  <a:pt x="5849973" y="1296799"/>
                  <a:pt x="5778623" y="1369280"/>
                </a:cubicBezTo>
                <a:cubicBezTo>
                  <a:pt x="5754207" y="1393852"/>
                  <a:pt x="5718605" y="1401742"/>
                  <a:pt x="5710841" y="1462628"/>
                </a:cubicBezTo>
                <a:cubicBezTo>
                  <a:pt x="5753463" y="1508141"/>
                  <a:pt x="5802053" y="1451295"/>
                  <a:pt x="5846774" y="1455933"/>
                </a:cubicBezTo>
                <a:cubicBezTo>
                  <a:pt x="5883727" y="1460129"/>
                  <a:pt x="5943609" y="1438568"/>
                  <a:pt x="5897329" y="1553073"/>
                </a:cubicBezTo>
                <a:cubicBezTo>
                  <a:pt x="5883856" y="1586627"/>
                  <a:pt x="5901366" y="1604100"/>
                  <a:pt x="5919735" y="1602736"/>
                </a:cubicBezTo>
                <a:cubicBezTo>
                  <a:pt x="6068526" y="1589022"/>
                  <a:pt x="6006837" y="1813624"/>
                  <a:pt x="6057874" y="1910648"/>
                </a:cubicBezTo>
                <a:cubicBezTo>
                  <a:pt x="6072264" y="1936644"/>
                  <a:pt x="6059978" y="1992417"/>
                  <a:pt x="6039719" y="2010547"/>
                </a:cubicBezTo>
                <a:cubicBezTo>
                  <a:pt x="5911143" y="2127229"/>
                  <a:pt x="5899692" y="2331836"/>
                  <a:pt x="5841713" y="2520599"/>
                </a:cubicBezTo>
                <a:cubicBezTo>
                  <a:pt x="5912636" y="2572423"/>
                  <a:pt x="5995799" y="2566926"/>
                  <a:pt x="6071734" y="2593468"/>
                </a:cubicBezTo>
                <a:cubicBezTo>
                  <a:pt x="6150607" y="2620843"/>
                  <a:pt x="6151703" y="2655507"/>
                  <a:pt x="6092050" y="2806646"/>
                </a:cubicBezTo>
                <a:cubicBezTo>
                  <a:pt x="6259331" y="2795420"/>
                  <a:pt x="6259331" y="2795420"/>
                  <a:pt x="6215122" y="3021197"/>
                </a:cubicBezTo>
                <a:cubicBezTo>
                  <a:pt x="6259035" y="3016573"/>
                  <a:pt x="6302431" y="3085300"/>
                  <a:pt x="6338100" y="3178087"/>
                </a:cubicBezTo>
                <a:lnTo>
                  <a:pt x="6343927" y="3194685"/>
                </a:lnTo>
                <a:lnTo>
                  <a:pt x="6343850" y="3201174"/>
                </a:lnTo>
                <a:cubicBezTo>
                  <a:pt x="6346866" y="3232770"/>
                  <a:pt x="6355995" y="3253323"/>
                  <a:pt x="6366375" y="3271251"/>
                </a:cubicBezTo>
                <a:lnTo>
                  <a:pt x="6369430" y="3276240"/>
                </a:lnTo>
                <a:lnTo>
                  <a:pt x="6392405" y="3360437"/>
                </a:lnTo>
                <a:lnTo>
                  <a:pt x="6397993" y="3390203"/>
                </a:lnTo>
                <a:lnTo>
                  <a:pt x="6394652" y="3402205"/>
                </a:lnTo>
                <a:cubicBezTo>
                  <a:pt x="6388505" y="3414621"/>
                  <a:pt x="6379344" y="3427747"/>
                  <a:pt x="6366662" y="3442044"/>
                </a:cubicBezTo>
                <a:cubicBezTo>
                  <a:pt x="6239481" y="3584662"/>
                  <a:pt x="6224938" y="3605480"/>
                  <a:pt x="6320915" y="3701547"/>
                </a:cubicBezTo>
                <a:lnTo>
                  <a:pt x="6364618" y="3743844"/>
                </a:lnTo>
                <a:lnTo>
                  <a:pt x="6370409" y="3754454"/>
                </a:lnTo>
                <a:lnTo>
                  <a:pt x="6373773" y="3768237"/>
                </a:lnTo>
                <a:cubicBezTo>
                  <a:pt x="6374277" y="3777528"/>
                  <a:pt x="6374207" y="3788146"/>
                  <a:pt x="6375298" y="3796540"/>
                </a:cubicBezTo>
                <a:cubicBezTo>
                  <a:pt x="6339717" y="3831045"/>
                  <a:pt x="6294642" y="3774365"/>
                  <a:pt x="6253487" y="3856948"/>
                </a:cubicBezTo>
                <a:lnTo>
                  <a:pt x="6385416" y="4014409"/>
                </a:lnTo>
                <a:lnTo>
                  <a:pt x="6374795" y="4038554"/>
                </a:lnTo>
                <a:cubicBezTo>
                  <a:pt x="6363579" y="4073249"/>
                  <a:pt x="6356895" y="4111559"/>
                  <a:pt x="6351015" y="4150489"/>
                </a:cubicBezTo>
                <a:lnTo>
                  <a:pt x="6340821" y="4212706"/>
                </a:lnTo>
                <a:lnTo>
                  <a:pt x="12191999" y="4212706"/>
                </a:lnTo>
                <a:lnTo>
                  <a:pt x="1219199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lnTo>
                  <a:pt x="12191999" y="4323902"/>
                </a:lnTo>
                <a:lnTo>
                  <a:pt x="9307672" y="4323902"/>
                </a:lnTo>
                <a:lnTo>
                  <a:pt x="930767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defTabSz="45720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24791F-9044-8A73-EAA8-D7A75EAB7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47949" cy="2137273"/>
          </a:xfrm>
        </p:spPr>
        <p:txBody>
          <a:bodyPr anchor="b">
            <a:normAutofit/>
          </a:bodyPr>
          <a:lstStyle/>
          <a:p>
            <a:r>
              <a:rPr lang="en-US" dirty="0"/>
              <a:t>Why pose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E764A-CFB1-1694-1BEA-8F0347B0C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1785"/>
            <a:ext cx="4347948" cy="3495178"/>
          </a:xfrm>
        </p:spPr>
        <p:txBody>
          <a:bodyPr>
            <a:normAutofit/>
          </a:bodyPr>
          <a:lstStyle/>
          <a:p>
            <a:r>
              <a:rPr lang="en-US" sz="2000"/>
              <a:t>Many applications:</a:t>
            </a:r>
          </a:p>
          <a:p>
            <a:pPr lvl="1"/>
            <a:r>
              <a:rPr lang="en-US" sz="2000"/>
              <a:t>Human activity prediction</a:t>
            </a:r>
          </a:p>
          <a:p>
            <a:pPr lvl="1"/>
            <a:r>
              <a:rPr lang="en-US" sz="2000"/>
              <a:t>Sports analysis</a:t>
            </a:r>
          </a:p>
          <a:p>
            <a:pPr lvl="1"/>
            <a:r>
              <a:rPr lang="en-US" sz="2000"/>
              <a:t>Detecting accidents (Fall detection)</a:t>
            </a:r>
          </a:p>
          <a:p>
            <a:pPr lvl="1"/>
            <a:r>
              <a:rPr lang="en-US" sz="2000"/>
              <a:t>AI fitness app</a:t>
            </a:r>
          </a:p>
          <a:p>
            <a:pPr lvl="1"/>
            <a:r>
              <a:rPr lang="en-US" sz="2000"/>
              <a:t>AR and VR (personal avatars)</a:t>
            </a:r>
          </a:p>
          <a:p>
            <a:pPr lvl="1"/>
            <a:r>
              <a:rPr lang="en-US" sz="2000"/>
              <a:t>Motion capture (teaching robots, gaming, etc.)</a:t>
            </a:r>
          </a:p>
          <a:p>
            <a:pPr lvl="1"/>
            <a:r>
              <a:rPr lang="en-US" sz="2000"/>
              <a:t>Surveillance (crime detection)</a:t>
            </a:r>
          </a:p>
        </p:txBody>
      </p:sp>
      <p:pic>
        <p:nvPicPr>
          <p:cNvPr id="2050" name="Picture 2" descr="Real-time Human Pose Estimation using MediaPipe | Sigmoidal">
            <a:extLst>
              <a:ext uri="{FF2B5EF4-FFF2-40B4-BE49-F238E27FC236}">
                <a16:creationId xmlns:a16="http://schemas.microsoft.com/office/drawing/2014/main" id="{B1DB51D6-2E08-DA4C-145F-7ECFBD1C3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77309" y="815487"/>
            <a:ext cx="4797354" cy="269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uman Pose Estimation: A Game Changer in Healthcare &amp; Medical  Rehabilitation -">
            <a:extLst>
              <a:ext uri="{FF2B5EF4-FFF2-40B4-BE49-F238E27FC236}">
                <a16:creationId xmlns:a16="http://schemas.microsoft.com/office/drawing/2014/main" id="{CE3F7097-BFCF-03E7-5091-D11133539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97433" y="4783358"/>
            <a:ext cx="2513506" cy="1388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xample Use Cases of Pose Estimation in Gaming - QuickPose.ai">
            <a:extLst>
              <a:ext uri="{FF2B5EF4-FFF2-40B4-BE49-F238E27FC236}">
                <a16:creationId xmlns:a16="http://schemas.microsoft.com/office/drawing/2014/main" id="{7990418D-375F-1D8F-96E1-6CDB91D43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56412" y="4871058"/>
            <a:ext cx="2183079" cy="122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2596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4791F-9044-8A73-EAA8-D7A75EAB7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Pose estimation results as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E764A-CFB1-1694-1BEA-8F0347B0C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70704" cy="2060575"/>
          </a:xfrm>
        </p:spPr>
        <p:txBody>
          <a:bodyPr>
            <a:normAutofit fontScale="92500"/>
          </a:bodyPr>
          <a:lstStyle/>
          <a:p>
            <a:r>
              <a:rPr lang="en-US" dirty="0"/>
              <a:t>We can use the pose estimation coordinates as </a:t>
            </a:r>
            <a:r>
              <a:rPr lang="en-US" b="1" dirty="0">
                <a:solidFill>
                  <a:srgbClr val="0070C0"/>
                </a:solidFill>
              </a:rPr>
              <a:t>features</a:t>
            </a:r>
            <a:r>
              <a:rPr lang="en-US" dirty="0"/>
              <a:t> to predict an action</a:t>
            </a:r>
          </a:p>
          <a:p>
            <a:r>
              <a:rPr lang="en-US" dirty="0"/>
              <a:t>For simple tasks, we can compare the coordinates </a:t>
            </a:r>
            <a:r>
              <a:rPr lang="en-US" b="1" dirty="0">
                <a:solidFill>
                  <a:srgbClr val="0070C0"/>
                </a:solidFill>
              </a:rPr>
              <a:t>using simple rules</a:t>
            </a:r>
          </a:p>
          <a:p>
            <a:r>
              <a:rPr lang="en-US" dirty="0"/>
              <a:t>For example, in fall detection</a:t>
            </a:r>
          </a:p>
          <a:p>
            <a:pPr lvl="1"/>
            <a:r>
              <a:rPr lang="en-US" dirty="0"/>
              <a:t>We can compare the </a:t>
            </a:r>
            <a:r>
              <a:rPr lang="en-US" b="1" dirty="0">
                <a:solidFill>
                  <a:srgbClr val="0070C0"/>
                </a:solidFill>
              </a:rPr>
              <a:t>vertical distance </a:t>
            </a:r>
            <a:r>
              <a:rPr lang="en-US" dirty="0"/>
              <a:t>(head-foot) with some threshold</a:t>
            </a:r>
          </a:p>
        </p:txBody>
      </p:sp>
      <p:pic>
        <p:nvPicPr>
          <p:cNvPr id="3074" name="Picture 2" descr="A Comprehensive Study of Pose Estimation in Human Fall Detection |  SpringerLink">
            <a:extLst>
              <a:ext uri="{FF2B5EF4-FFF2-40B4-BE49-F238E27FC236}">
                <a16:creationId xmlns:a16="http://schemas.microsoft.com/office/drawing/2014/main" id="{E58D744B-8F0A-7C19-F310-1A3B9AF493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98"/>
          <a:stretch/>
        </p:blipFill>
        <p:spPr bwMode="auto">
          <a:xfrm>
            <a:off x="3300826" y="4095544"/>
            <a:ext cx="5306461" cy="1917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055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4791F-9044-8A73-EAA8-D7A75EAB7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Pose estimation results as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E764A-CFB1-1694-1BEA-8F0347B0C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46" y="1825625"/>
            <a:ext cx="10769054" cy="2060575"/>
          </a:xfrm>
        </p:spPr>
        <p:txBody>
          <a:bodyPr>
            <a:normAutofit/>
          </a:bodyPr>
          <a:lstStyle/>
          <a:p>
            <a:r>
              <a:rPr lang="en-US" dirty="0"/>
              <a:t>For complex tasks, we can create a </a:t>
            </a:r>
            <a:r>
              <a:rPr lang="en-US" b="1" dirty="0">
                <a:solidFill>
                  <a:srgbClr val="0070C0"/>
                </a:solidFill>
              </a:rPr>
              <a:t>dataset</a:t>
            </a:r>
            <a:r>
              <a:rPr lang="en-US" dirty="0"/>
              <a:t> of coordinates</a:t>
            </a:r>
          </a:p>
          <a:p>
            <a:r>
              <a:rPr lang="en-US" dirty="0"/>
              <a:t>Then we train a </a:t>
            </a:r>
            <a:r>
              <a:rPr lang="en-US" b="1" dirty="0">
                <a:solidFill>
                  <a:srgbClr val="0070C0"/>
                </a:solidFill>
              </a:rPr>
              <a:t>machine learning model</a:t>
            </a:r>
            <a:r>
              <a:rPr lang="en-US" dirty="0"/>
              <a:t> using that dataset</a:t>
            </a:r>
          </a:p>
          <a:p>
            <a:pPr lvl="1"/>
            <a:r>
              <a:rPr lang="en-US" dirty="0"/>
              <a:t>Simple models (frame-by-frame): Logistic regression, Decision tree, SVM, …</a:t>
            </a:r>
          </a:p>
          <a:p>
            <a:pPr lvl="1"/>
            <a:r>
              <a:rPr lang="en-US" dirty="0"/>
              <a:t>Or Sequence models: LSTM, 1D Conv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791CE6B-2F16-195C-004E-DF127B5A2F68}"/>
              </a:ext>
            </a:extLst>
          </p:cNvPr>
          <p:cNvGrpSpPr/>
          <p:nvPr/>
        </p:nvGrpSpPr>
        <p:grpSpPr>
          <a:xfrm>
            <a:off x="922680" y="4144618"/>
            <a:ext cx="10346640" cy="1806763"/>
            <a:chOff x="619536" y="3886200"/>
            <a:chExt cx="10346640" cy="180676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58ACB0F-7F5C-4757-EEEF-49CD22CDBB22}"/>
                </a:ext>
              </a:extLst>
            </p:cNvPr>
            <p:cNvSpPr txBox="1"/>
            <p:nvPr/>
          </p:nvSpPr>
          <p:spPr>
            <a:xfrm>
              <a:off x="619536" y="5323631"/>
              <a:ext cx="17956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0070C0"/>
                  </a:solidFill>
                </a:rPr>
                <a:t>Imags</a:t>
              </a:r>
              <a:r>
                <a:rPr lang="en-US" b="1" dirty="0">
                  <a:solidFill>
                    <a:srgbClr val="0070C0"/>
                  </a:solidFill>
                </a:rPr>
                <a:t>/Video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50B35DA-6B56-4872-F92A-4491F2ACB94F}"/>
                </a:ext>
              </a:extLst>
            </p:cNvPr>
            <p:cNvGrpSpPr/>
            <p:nvPr/>
          </p:nvGrpSpPr>
          <p:grpSpPr>
            <a:xfrm>
              <a:off x="838200" y="3886200"/>
              <a:ext cx="10127976" cy="1806763"/>
              <a:chOff x="838200" y="3886200"/>
              <a:chExt cx="10127976" cy="1806763"/>
            </a:xfrm>
          </p:grpSpPr>
          <p:pic>
            <p:nvPicPr>
              <p:cNvPr id="4" name="Picture 2" descr="A Comprehensive Guide on Human Pose Estimation - Analytics Vidhya">
                <a:extLst>
                  <a:ext uri="{FF2B5EF4-FFF2-40B4-BE49-F238E27FC236}">
                    <a16:creationId xmlns:a16="http://schemas.microsoft.com/office/drawing/2014/main" id="{7871E836-A043-2011-E8E5-E45FEECF93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11959" y="3886200"/>
                <a:ext cx="2597633" cy="12929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" name="Graphic 5" descr="Presentation with media">
                <a:extLst>
                  <a:ext uri="{FF2B5EF4-FFF2-40B4-BE49-F238E27FC236}">
                    <a16:creationId xmlns:a16="http://schemas.microsoft.com/office/drawing/2014/main" id="{1BB87E8F-DD9A-0B56-A144-E1B5CAC23D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38200" y="3886200"/>
                <a:ext cx="1358347" cy="1358347"/>
              </a:xfrm>
              <a:prstGeom prst="rect">
                <a:avLst/>
              </a:prstGeom>
            </p:spPr>
          </p:pic>
          <p:sp>
            <p:nvSpPr>
              <p:cNvPr id="7" name="Arrow: Right 6">
                <a:extLst>
                  <a:ext uri="{FF2B5EF4-FFF2-40B4-BE49-F238E27FC236}">
                    <a16:creationId xmlns:a16="http://schemas.microsoft.com/office/drawing/2014/main" id="{E0149650-93CF-28C6-C7CF-8439D238F1E4}"/>
                  </a:ext>
                </a:extLst>
              </p:cNvPr>
              <p:cNvSpPr/>
              <p:nvPr/>
            </p:nvSpPr>
            <p:spPr>
              <a:xfrm>
                <a:off x="2295940" y="4279221"/>
                <a:ext cx="427382" cy="506895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Arrow: Right 7">
                <a:extLst>
                  <a:ext uri="{FF2B5EF4-FFF2-40B4-BE49-F238E27FC236}">
                    <a16:creationId xmlns:a16="http://schemas.microsoft.com/office/drawing/2014/main" id="{999D2F1E-D93F-5810-A60C-D476F852B7AF}"/>
                  </a:ext>
                </a:extLst>
              </p:cNvPr>
              <p:cNvSpPr/>
              <p:nvPr/>
            </p:nvSpPr>
            <p:spPr>
              <a:xfrm>
                <a:off x="5747924" y="4279221"/>
                <a:ext cx="427382" cy="506895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" name="Graphic 9" descr="Database">
                <a:extLst>
                  <a:ext uri="{FF2B5EF4-FFF2-40B4-BE49-F238E27FC236}">
                    <a16:creationId xmlns:a16="http://schemas.microsoft.com/office/drawing/2014/main" id="{B2A39F4B-961E-92CF-F8C3-DADD3E9A50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225004" y="4075468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2" name="Graphic 11" descr="Robot">
                <a:extLst>
                  <a:ext uri="{FF2B5EF4-FFF2-40B4-BE49-F238E27FC236}">
                    <a16:creationId xmlns:a16="http://schemas.microsoft.com/office/drawing/2014/main" id="{17BBC45B-1AB3-62F5-6571-38209DF29D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666182" y="407546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3" name="Arrow: Right 12">
                <a:extLst>
                  <a:ext uri="{FF2B5EF4-FFF2-40B4-BE49-F238E27FC236}">
                    <a16:creationId xmlns:a16="http://schemas.microsoft.com/office/drawing/2014/main" id="{957A5586-E3CC-4FDF-8DFE-43192E7340D6}"/>
                  </a:ext>
                </a:extLst>
              </p:cNvPr>
              <p:cNvSpPr/>
              <p:nvPr/>
            </p:nvSpPr>
            <p:spPr>
              <a:xfrm>
                <a:off x="7189102" y="4279220"/>
                <a:ext cx="427382" cy="506895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Arrow: Right 13">
                <a:extLst>
                  <a:ext uri="{FF2B5EF4-FFF2-40B4-BE49-F238E27FC236}">
                    <a16:creationId xmlns:a16="http://schemas.microsoft.com/office/drawing/2014/main" id="{A923BF91-22D5-2548-B314-131C62293C8E}"/>
                  </a:ext>
                </a:extLst>
              </p:cNvPr>
              <p:cNvSpPr/>
              <p:nvPr/>
            </p:nvSpPr>
            <p:spPr>
              <a:xfrm>
                <a:off x="8630280" y="4279220"/>
                <a:ext cx="427382" cy="506895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017C9BB-52F1-5344-6A0B-C6F328916B51}"/>
                  </a:ext>
                </a:extLst>
              </p:cNvPr>
              <p:cNvSpPr txBox="1"/>
              <p:nvPr/>
            </p:nvSpPr>
            <p:spPr>
              <a:xfrm>
                <a:off x="9286463" y="3902292"/>
                <a:ext cx="167971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Running</a:t>
                </a:r>
              </a:p>
              <a:p>
                <a:r>
                  <a:rPr lang="en-US" dirty="0"/>
                  <a:t>Standing</a:t>
                </a:r>
              </a:p>
              <a:p>
                <a:r>
                  <a:rPr lang="en-US" dirty="0"/>
                  <a:t>Walking</a:t>
                </a:r>
              </a:p>
              <a:p>
                <a:r>
                  <a:rPr lang="en-US" dirty="0"/>
                  <a:t>Etc.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CFA7489-C2E6-F2E6-9E34-3F109EEFB954}"/>
                  </a:ext>
                </a:extLst>
              </p:cNvPr>
              <p:cNvSpPr txBox="1"/>
              <p:nvPr/>
            </p:nvSpPr>
            <p:spPr>
              <a:xfrm>
                <a:off x="2820656" y="5323631"/>
                <a:ext cx="26508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Pose coordinates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E0FDC34-604B-1E81-58A9-B3A9F9D6DF34}"/>
                  </a:ext>
                </a:extLst>
              </p:cNvPr>
              <p:cNvSpPr txBox="1"/>
              <p:nvPr/>
            </p:nvSpPr>
            <p:spPr>
              <a:xfrm>
                <a:off x="6075510" y="5323631"/>
                <a:ext cx="1213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Dataset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2C4B6B-D868-DD0B-DCC3-9806703977C5}"/>
                  </a:ext>
                </a:extLst>
              </p:cNvPr>
              <p:cNvSpPr txBox="1"/>
              <p:nvPr/>
            </p:nvSpPr>
            <p:spPr>
              <a:xfrm>
                <a:off x="7283526" y="5323631"/>
                <a:ext cx="16797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ML Model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69517B4-A4F5-AA7F-6B6C-C4173EDB573D}"/>
                  </a:ext>
                </a:extLst>
              </p:cNvPr>
              <p:cNvSpPr txBox="1"/>
              <p:nvPr/>
            </p:nvSpPr>
            <p:spPr>
              <a:xfrm>
                <a:off x="8989951" y="5323631"/>
                <a:ext cx="16797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Prediction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5920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A210BA-AE22-811D-F405-E27B33078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dirty="0"/>
              <a:t>YOLOv8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2B8E1-E177-7BEC-9831-F80319FA6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US" sz="2000"/>
              <a:t>Use </a:t>
            </a:r>
            <a:r>
              <a:rPr lang="en-US" sz="2000" b="1"/>
              <a:t>"-pose"</a:t>
            </a:r>
            <a:r>
              <a:rPr lang="en-US" sz="2000"/>
              <a:t> suffix in model's name</a:t>
            </a:r>
          </a:p>
          <a:p>
            <a:pPr lvl="1"/>
            <a:r>
              <a:rPr lang="en-US" sz="2000"/>
              <a:t>Example: yolov8n-pose.pt</a:t>
            </a:r>
          </a:p>
          <a:p>
            <a:r>
              <a:rPr lang="en-US" sz="2000"/>
              <a:t>The result will have an attribute for </a:t>
            </a:r>
            <a:r>
              <a:rPr lang="en-US" sz="2000" b="1"/>
              <a:t>keypoints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675054-7070-EDD1-E67B-59C6665C9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801" y="643234"/>
            <a:ext cx="3737917" cy="559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582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210BA-AE22-811D-F405-E27B33078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YOLOv8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2B8E1-E177-7BEC-9831-F80319FA6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60974" cy="1513923"/>
          </a:xfrm>
        </p:spPr>
        <p:txBody>
          <a:bodyPr/>
          <a:lstStyle/>
          <a:p>
            <a:r>
              <a:rPr lang="en-US" dirty="0"/>
              <a:t>It detects 17 </a:t>
            </a:r>
            <a:r>
              <a:rPr lang="en-US" dirty="0" err="1"/>
              <a:t>keypoints</a:t>
            </a:r>
            <a:endParaRPr lang="en-US" dirty="0"/>
          </a:p>
          <a:p>
            <a:r>
              <a:rPr lang="en-US" dirty="0"/>
              <a:t>Can detect multiple humans in the same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220848-C7EF-4CE5-5A31-05A1F5F51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9174" y="782846"/>
            <a:ext cx="3806687" cy="571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194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210BA-AE22-811D-F405-E27B33078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YOLOv8:12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15E644-DABD-86E6-5139-FBC65D7EB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450399"/>
              </p:ext>
            </p:extLst>
          </p:nvPr>
        </p:nvGraphicFramePr>
        <p:xfrm>
          <a:off x="838200" y="2016719"/>
          <a:ext cx="5511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722">
                  <a:extLst>
                    <a:ext uri="{9D8B030D-6E8A-4147-A177-3AD203B41FA5}">
                      <a16:colId xmlns:a16="http://schemas.microsoft.com/office/drawing/2014/main" val="3901758908"/>
                    </a:ext>
                  </a:extLst>
                </a:gridCol>
                <a:gridCol w="2323148">
                  <a:extLst>
                    <a:ext uri="{9D8B030D-6E8A-4147-A177-3AD203B41FA5}">
                      <a16:colId xmlns:a16="http://schemas.microsoft.com/office/drawing/2014/main" val="4138907735"/>
                    </a:ext>
                  </a:extLst>
                </a:gridCol>
                <a:gridCol w="636104">
                  <a:extLst>
                    <a:ext uri="{9D8B030D-6E8A-4147-A177-3AD203B41FA5}">
                      <a16:colId xmlns:a16="http://schemas.microsoft.com/office/drawing/2014/main" val="1538283295"/>
                    </a:ext>
                  </a:extLst>
                </a:gridCol>
                <a:gridCol w="1897826">
                  <a:extLst>
                    <a:ext uri="{9D8B030D-6E8A-4147-A177-3AD203B41FA5}">
                      <a16:colId xmlns:a16="http://schemas.microsoft.com/office/drawing/2014/main" val="413865813"/>
                    </a:ext>
                  </a:extLst>
                </a:gridCol>
              </a:tblGrid>
              <a:tr h="3427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idx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idx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092008"/>
                  </a:ext>
                </a:extLst>
              </a:tr>
              <a:tr h="3427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Left wrist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636838"/>
                  </a:ext>
                </a:extLst>
              </a:tr>
              <a:tr h="3427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Left eye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Right wrist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115686"/>
                  </a:ext>
                </a:extLst>
              </a:tr>
              <a:tr h="3427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Right eye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Left 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1431350"/>
                  </a:ext>
                </a:extLst>
              </a:tr>
              <a:tr h="3427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Left 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Right 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861230"/>
                  </a:ext>
                </a:extLst>
              </a:tr>
              <a:tr h="3427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Right 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Left knee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10102"/>
                  </a:ext>
                </a:extLst>
              </a:tr>
              <a:tr h="3427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Left shoulder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Right knee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81579"/>
                  </a:ext>
                </a:extLst>
              </a:tr>
              <a:tr h="3427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Right shoulder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Left ankle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8896868"/>
                  </a:ext>
                </a:extLst>
              </a:tr>
              <a:tr h="3427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Left elbow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Right ankle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401790"/>
                  </a:ext>
                </a:extLst>
              </a:tr>
              <a:tr h="3427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Right elbow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958286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B2ED7223-F44D-C34F-8E25-BD0AED7F744C}"/>
              </a:ext>
            </a:extLst>
          </p:cNvPr>
          <p:cNvSpPr/>
          <p:nvPr/>
        </p:nvSpPr>
        <p:spPr>
          <a:xfrm>
            <a:off x="9486899" y="1744373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6E94A0-CB70-177A-C5AE-EFA431616A14}"/>
              </a:ext>
            </a:extLst>
          </p:cNvPr>
          <p:cNvSpPr/>
          <p:nvPr/>
        </p:nvSpPr>
        <p:spPr>
          <a:xfrm>
            <a:off x="9084365" y="1321904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7F28A9D-20C3-35E6-0FA0-5859EC802050}"/>
              </a:ext>
            </a:extLst>
          </p:cNvPr>
          <p:cNvSpPr/>
          <p:nvPr/>
        </p:nvSpPr>
        <p:spPr>
          <a:xfrm>
            <a:off x="9864588" y="1307052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0D591C-39FB-0470-AD01-ED13AB947F60}"/>
              </a:ext>
            </a:extLst>
          </p:cNvPr>
          <p:cNvSpPr/>
          <p:nvPr/>
        </p:nvSpPr>
        <p:spPr>
          <a:xfrm>
            <a:off x="10356571" y="1690687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628CFCE-58CB-CE56-D650-D0D62F5BF235}"/>
              </a:ext>
            </a:extLst>
          </p:cNvPr>
          <p:cNvSpPr/>
          <p:nvPr/>
        </p:nvSpPr>
        <p:spPr>
          <a:xfrm>
            <a:off x="8634619" y="1690688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E939F1-3195-4331-02E4-550EE0F7B93A}"/>
              </a:ext>
            </a:extLst>
          </p:cNvPr>
          <p:cNvSpPr/>
          <p:nvPr/>
        </p:nvSpPr>
        <p:spPr>
          <a:xfrm>
            <a:off x="8835888" y="636103"/>
            <a:ext cx="1739344" cy="2126975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B1724B-FAE7-C70D-AD2F-AEA4A7BD8DCF}"/>
              </a:ext>
            </a:extLst>
          </p:cNvPr>
          <p:cNvSpPr/>
          <p:nvPr/>
        </p:nvSpPr>
        <p:spPr>
          <a:xfrm>
            <a:off x="10356570" y="2999339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72624AB-F935-54BB-ED5D-7199B963890F}"/>
              </a:ext>
            </a:extLst>
          </p:cNvPr>
          <p:cNvSpPr/>
          <p:nvPr/>
        </p:nvSpPr>
        <p:spPr>
          <a:xfrm>
            <a:off x="8835888" y="2986088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288A0B-01C8-2F37-6D92-2C1941795B4B}"/>
              </a:ext>
            </a:extLst>
          </p:cNvPr>
          <p:cNvSpPr/>
          <p:nvPr/>
        </p:nvSpPr>
        <p:spPr>
          <a:xfrm>
            <a:off x="11164956" y="3730504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120EA1-6343-BA1D-02C5-951311F050EF}"/>
              </a:ext>
            </a:extLst>
          </p:cNvPr>
          <p:cNvSpPr/>
          <p:nvPr/>
        </p:nvSpPr>
        <p:spPr>
          <a:xfrm>
            <a:off x="8154228" y="3870671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8B992ED-1DF4-D715-9DBE-80DBCA2EC3D6}"/>
              </a:ext>
            </a:extLst>
          </p:cNvPr>
          <p:cNvSpPr/>
          <p:nvPr/>
        </p:nvSpPr>
        <p:spPr>
          <a:xfrm>
            <a:off x="11188837" y="4710800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8CC07ED-BBA8-9EA3-7893-0779E1C48273}"/>
              </a:ext>
            </a:extLst>
          </p:cNvPr>
          <p:cNvSpPr/>
          <p:nvPr/>
        </p:nvSpPr>
        <p:spPr>
          <a:xfrm>
            <a:off x="8168034" y="4745313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10</a:t>
            </a:r>
            <a:endParaRPr lang="en-US" sz="14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F7723B-0793-A5DA-DB70-24C49CACA05D}"/>
              </a:ext>
            </a:extLst>
          </p:cNvPr>
          <p:cNvSpPr/>
          <p:nvPr/>
        </p:nvSpPr>
        <p:spPr>
          <a:xfrm>
            <a:off x="10177116" y="4307992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11</a:t>
            </a:r>
            <a:endParaRPr lang="en-US" sz="1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D6BBD72-D4E2-447A-4F14-28B14EB01DE2}"/>
              </a:ext>
            </a:extLst>
          </p:cNvPr>
          <p:cNvSpPr/>
          <p:nvPr/>
        </p:nvSpPr>
        <p:spPr>
          <a:xfrm>
            <a:off x="9172575" y="4307992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12</a:t>
            </a:r>
            <a:endParaRPr lang="en-US" sz="14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0409625-A136-E062-3766-839BC7498400}"/>
              </a:ext>
            </a:extLst>
          </p:cNvPr>
          <p:cNvSpPr/>
          <p:nvPr/>
        </p:nvSpPr>
        <p:spPr>
          <a:xfrm>
            <a:off x="10356570" y="5251860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13</a:t>
            </a:r>
            <a:endParaRPr lang="en-US" sz="14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2A65CC7-1E32-3AAF-F1C0-BB3AC94DFBDF}"/>
              </a:ext>
            </a:extLst>
          </p:cNvPr>
          <p:cNvSpPr/>
          <p:nvPr/>
        </p:nvSpPr>
        <p:spPr>
          <a:xfrm>
            <a:off x="9018173" y="5225628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14</a:t>
            </a:r>
            <a:endParaRPr lang="en-US" sz="14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439F1FA-A0C7-7F5E-AE2A-EDE536DCD1D2}"/>
              </a:ext>
            </a:extLst>
          </p:cNvPr>
          <p:cNvSpPr/>
          <p:nvPr/>
        </p:nvSpPr>
        <p:spPr>
          <a:xfrm>
            <a:off x="10395776" y="6123192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15</a:t>
            </a:r>
            <a:endParaRPr lang="en-US" sz="14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F1FE557-A681-CDE4-6ADE-7BCB91EDB6FA}"/>
              </a:ext>
            </a:extLst>
          </p:cNvPr>
          <p:cNvSpPr/>
          <p:nvPr/>
        </p:nvSpPr>
        <p:spPr>
          <a:xfrm>
            <a:off x="9084365" y="6071566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16</a:t>
            </a:r>
            <a:endParaRPr lang="en-US" sz="14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7EE13D7-2B06-275E-2119-921E60FC8F76}"/>
              </a:ext>
            </a:extLst>
          </p:cNvPr>
          <p:cNvCxnSpPr>
            <a:stCxn id="13" idx="6"/>
            <a:endCxn id="12" idx="2"/>
          </p:cNvCxnSpPr>
          <p:nvPr/>
        </p:nvCxnSpPr>
        <p:spPr>
          <a:xfrm>
            <a:off x="9273209" y="3204749"/>
            <a:ext cx="1083361" cy="132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3570A4D-93E7-D6C3-D2B5-1619679272DF}"/>
              </a:ext>
            </a:extLst>
          </p:cNvPr>
          <p:cNvCxnSpPr>
            <a:cxnSpLocks/>
            <a:stCxn id="13" idx="3"/>
            <a:endCxn id="15" idx="0"/>
          </p:cNvCxnSpPr>
          <p:nvPr/>
        </p:nvCxnSpPr>
        <p:spPr>
          <a:xfrm flipH="1">
            <a:off x="8372889" y="3359365"/>
            <a:ext cx="527043" cy="511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3AB0367-E314-260B-4240-8718F9D5D36A}"/>
              </a:ext>
            </a:extLst>
          </p:cNvPr>
          <p:cNvCxnSpPr>
            <a:cxnSpLocks/>
            <a:stCxn id="15" idx="4"/>
            <a:endCxn id="17" idx="0"/>
          </p:cNvCxnSpPr>
          <p:nvPr/>
        </p:nvCxnSpPr>
        <p:spPr>
          <a:xfrm>
            <a:off x="8372889" y="4307992"/>
            <a:ext cx="13806" cy="4373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2C8307-A4F3-785C-51D8-99BD37FE89D4}"/>
              </a:ext>
            </a:extLst>
          </p:cNvPr>
          <p:cNvCxnSpPr>
            <a:cxnSpLocks/>
            <a:stCxn id="14" idx="1"/>
            <a:endCxn id="12" idx="5"/>
          </p:cNvCxnSpPr>
          <p:nvPr/>
        </p:nvCxnSpPr>
        <p:spPr>
          <a:xfrm flipH="1" flipV="1">
            <a:off x="10729847" y="3372616"/>
            <a:ext cx="499153" cy="421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ADDD95B-2051-BA5D-E7EF-032D0DB91DBD}"/>
              </a:ext>
            </a:extLst>
          </p:cNvPr>
          <p:cNvCxnSpPr>
            <a:cxnSpLocks/>
            <a:stCxn id="14" idx="4"/>
            <a:endCxn id="16" idx="0"/>
          </p:cNvCxnSpPr>
          <p:nvPr/>
        </p:nvCxnSpPr>
        <p:spPr>
          <a:xfrm>
            <a:off x="11383617" y="4167825"/>
            <a:ext cx="23881" cy="542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6F175CF-5825-4F0C-6BD9-B78388C6FDA7}"/>
              </a:ext>
            </a:extLst>
          </p:cNvPr>
          <p:cNvCxnSpPr>
            <a:cxnSpLocks/>
            <a:stCxn id="13" idx="4"/>
            <a:endCxn id="19" idx="1"/>
          </p:cNvCxnSpPr>
          <p:nvPr/>
        </p:nvCxnSpPr>
        <p:spPr>
          <a:xfrm>
            <a:off x="9054549" y="3423409"/>
            <a:ext cx="182070" cy="9486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38080A-8685-FE82-337F-369508A49F45}"/>
              </a:ext>
            </a:extLst>
          </p:cNvPr>
          <p:cNvCxnSpPr>
            <a:cxnSpLocks/>
            <a:stCxn id="18" idx="0"/>
            <a:endCxn id="12" idx="4"/>
          </p:cNvCxnSpPr>
          <p:nvPr/>
        </p:nvCxnSpPr>
        <p:spPr>
          <a:xfrm flipV="1">
            <a:off x="10395777" y="3436660"/>
            <a:ext cx="179454" cy="871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8B6862-46B2-E2ED-B803-F50DCBC2E166}"/>
              </a:ext>
            </a:extLst>
          </p:cNvPr>
          <p:cNvCxnSpPr>
            <a:cxnSpLocks/>
            <a:stCxn id="19" idx="6"/>
            <a:endCxn id="18" idx="2"/>
          </p:cNvCxnSpPr>
          <p:nvPr/>
        </p:nvCxnSpPr>
        <p:spPr>
          <a:xfrm>
            <a:off x="9609896" y="4526653"/>
            <a:ext cx="5672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739D9C7-DB46-9C49-E6A5-98A605B70E69}"/>
              </a:ext>
            </a:extLst>
          </p:cNvPr>
          <p:cNvCxnSpPr>
            <a:cxnSpLocks/>
            <a:stCxn id="19" idx="4"/>
            <a:endCxn id="21" idx="0"/>
          </p:cNvCxnSpPr>
          <p:nvPr/>
        </p:nvCxnSpPr>
        <p:spPr>
          <a:xfrm flipH="1">
            <a:off x="9236834" y="4745313"/>
            <a:ext cx="154402" cy="480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3C4C71B-F71D-32B1-A942-14CBFEAADDFE}"/>
              </a:ext>
            </a:extLst>
          </p:cNvPr>
          <p:cNvCxnSpPr>
            <a:cxnSpLocks/>
            <a:stCxn id="21" idx="4"/>
            <a:endCxn id="23" idx="0"/>
          </p:cNvCxnSpPr>
          <p:nvPr/>
        </p:nvCxnSpPr>
        <p:spPr>
          <a:xfrm>
            <a:off x="9236834" y="5662949"/>
            <a:ext cx="66192" cy="4086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73D2AFD-321D-31C1-152E-DD0C7BB366E3}"/>
              </a:ext>
            </a:extLst>
          </p:cNvPr>
          <p:cNvCxnSpPr>
            <a:cxnSpLocks/>
            <a:stCxn id="18" idx="4"/>
            <a:endCxn id="20" idx="0"/>
          </p:cNvCxnSpPr>
          <p:nvPr/>
        </p:nvCxnSpPr>
        <p:spPr>
          <a:xfrm>
            <a:off x="10395777" y="4745313"/>
            <a:ext cx="179454" cy="5065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3B295E6-A2E5-88F6-559B-0C8D017FAD76}"/>
              </a:ext>
            </a:extLst>
          </p:cNvPr>
          <p:cNvCxnSpPr>
            <a:cxnSpLocks/>
            <a:stCxn id="20" idx="4"/>
            <a:endCxn id="22" idx="0"/>
          </p:cNvCxnSpPr>
          <p:nvPr/>
        </p:nvCxnSpPr>
        <p:spPr>
          <a:xfrm>
            <a:off x="10575231" y="5689181"/>
            <a:ext cx="39206" cy="4340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6A76636-34DD-9D35-287E-161B0218C4EE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0575231" y="2128008"/>
            <a:ext cx="0" cy="871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9" name="Straight Connector 4098">
            <a:extLst>
              <a:ext uri="{FF2B5EF4-FFF2-40B4-BE49-F238E27FC236}">
                <a16:creationId xmlns:a16="http://schemas.microsoft.com/office/drawing/2014/main" id="{D63A9E14-7669-01B0-BAD5-01E5E34A925E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>
            <a:off x="8853280" y="2128009"/>
            <a:ext cx="201269" cy="8580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2" name="Straight Connector 4101">
            <a:extLst>
              <a:ext uri="{FF2B5EF4-FFF2-40B4-BE49-F238E27FC236}">
                <a16:creationId xmlns:a16="http://schemas.microsoft.com/office/drawing/2014/main" id="{8C8C833B-86FC-1B79-0B4D-9286BADB28E7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9007896" y="1695181"/>
            <a:ext cx="140513" cy="595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5" name="Straight Connector 4104">
            <a:extLst>
              <a:ext uri="{FF2B5EF4-FFF2-40B4-BE49-F238E27FC236}">
                <a16:creationId xmlns:a16="http://schemas.microsoft.com/office/drawing/2014/main" id="{CDE560C8-52E1-AEE7-4AE0-998765FBA253}"/>
              </a:ext>
            </a:extLst>
          </p:cNvPr>
          <p:cNvCxnSpPr>
            <a:cxnSpLocks/>
            <a:stCxn id="7" idx="5"/>
            <a:endCxn id="6" idx="1"/>
          </p:cNvCxnSpPr>
          <p:nvPr/>
        </p:nvCxnSpPr>
        <p:spPr>
          <a:xfrm>
            <a:off x="9457642" y="1695181"/>
            <a:ext cx="93301" cy="113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8" name="Straight Connector 4107">
            <a:extLst>
              <a:ext uri="{FF2B5EF4-FFF2-40B4-BE49-F238E27FC236}">
                <a16:creationId xmlns:a16="http://schemas.microsoft.com/office/drawing/2014/main" id="{9FEBFF15-39D0-6880-E800-4543E3F988FB}"/>
              </a:ext>
            </a:extLst>
          </p:cNvPr>
          <p:cNvCxnSpPr>
            <a:cxnSpLocks/>
            <a:stCxn id="8" idx="3"/>
            <a:endCxn id="6" idx="7"/>
          </p:cNvCxnSpPr>
          <p:nvPr/>
        </p:nvCxnSpPr>
        <p:spPr>
          <a:xfrm flipH="1">
            <a:off x="9860176" y="1680329"/>
            <a:ext cx="68456" cy="128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1" name="Straight Connector 4110">
            <a:extLst>
              <a:ext uri="{FF2B5EF4-FFF2-40B4-BE49-F238E27FC236}">
                <a16:creationId xmlns:a16="http://schemas.microsoft.com/office/drawing/2014/main" id="{15EB4909-7E3F-23B2-0D49-22DFC2E413E7}"/>
              </a:ext>
            </a:extLst>
          </p:cNvPr>
          <p:cNvCxnSpPr>
            <a:cxnSpLocks/>
            <a:stCxn id="8" idx="5"/>
            <a:endCxn id="9" idx="1"/>
          </p:cNvCxnSpPr>
          <p:nvPr/>
        </p:nvCxnSpPr>
        <p:spPr>
          <a:xfrm>
            <a:off x="10237865" y="1680329"/>
            <a:ext cx="182750" cy="74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4" name="Straight Connector 4113">
            <a:extLst>
              <a:ext uri="{FF2B5EF4-FFF2-40B4-BE49-F238E27FC236}">
                <a16:creationId xmlns:a16="http://schemas.microsoft.com/office/drawing/2014/main" id="{29E13E32-5CEE-AAB7-CAF8-6952EAD38120}"/>
              </a:ext>
            </a:extLst>
          </p:cNvPr>
          <p:cNvCxnSpPr>
            <a:cxnSpLocks/>
            <a:stCxn id="8" idx="2"/>
            <a:endCxn id="7" idx="6"/>
          </p:cNvCxnSpPr>
          <p:nvPr/>
        </p:nvCxnSpPr>
        <p:spPr>
          <a:xfrm flipH="1">
            <a:off x="9521686" y="1525713"/>
            <a:ext cx="342902" cy="14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218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BBAF0-93D2-33D3-8C7F-49D647896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 raised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0AEF4-2105-3DC4-41B7-DD1E50D72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43530" cy="4351338"/>
          </a:xfrm>
        </p:spPr>
        <p:txBody>
          <a:bodyPr/>
          <a:lstStyle/>
          <a:p>
            <a:r>
              <a:rPr lang="en-US" dirty="0"/>
              <a:t>If the </a:t>
            </a:r>
            <a:r>
              <a:rPr lang="en-US" b="1" dirty="0">
                <a:solidFill>
                  <a:srgbClr val="0070C0"/>
                </a:solidFill>
              </a:rPr>
              <a:t>wrist</a:t>
            </a:r>
            <a:r>
              <a:rPr lang="en-US" dirty="0"/>
              <a:t> is </a:t>
            </a:r>
            <a:r>
              <a:rPr lang="en-US" b="1" dirty="0">
                <a:solidFill>
                  <a:srgbClr val="0070C0"/>
                </a:solidFill>
              </a:rPr>
              <a:t>higher</a:t>
            </a:r>
            <a:r>
              <a:rPr lang="en-US" dirty="0"/>
              <a:t> than the </a:t>
            </a:r>
            <a:r>
              <a:rPr lang="en-US" b="1" dirty="0">
                <a:solidFill>
                  <a:srgbClr val="0070C0"/>
                </a:solidFill>
              </a:rPr>
              <a:t>shoulder</a:t>
            </a:r>
          </a:p>
          <a:p>
            <a:pPr lvl="1"/>
            <a:r>
              <a:rPr lang="en-US" dirty="0"/>
              <a:t>For </a:t>
            </a:r>
            <a:r>
              <a:rPr lang="en-US" b="1" dirty="0">
                <a:solidFill>
                  <a:srgbClr val="00B050"/>
                </a:solidFill>
              </a:rPr>
              <a:t>left hand</a:t>
            </a:r>
            <a:r>
              <a:rPr lang="en-US" dirty="0"/>
              <a:t>, compare </a:t>
            </a:r>
            <a:r>
              <a:rPr lang="en-US" dirty="0" err="1"/>
              <a:t>keypoints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9 and 5</a:t>
            </a:r>
          </a:p>
          <a:p>
            <a:pPr lvl="1"/>
            <a:r>
              <a:rPr lang="en-US" dirty="0"/>
              <a:t>For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right hand</a:t>
            </a:r>
            <a:r>
              <a:rPr lang="en-US" dirty="0"/>
              <a:t>, compare </a:t>
            </a:r>
            <a:r>
              <a:rPr lang="en-US" dirty="0" err="1"/>
              <a:t>keypoints</a:t>
            </a:r>
            <a:r>
              <a:rPr lang="en-US" dirty="0"/>
              <a:t>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10 and 6</a:t>
            </a:r>
          </a:p>
          <a:p>
            <a:pPr lvl="1"/>
            <a:r>
              <a:rPr lang="en-US" dirty="0"/>
              <a:t>We compare the </a:t>
            </a:r>
            <a:r>
              <a:rPr lang="en-US" b="1" dirty="0">
                <a:solidFill>
                  <a:srgbClr val="0070C0"/>
                </a:solidFill>
              </a:rPr>
              <a:t>y-coordinates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9496E5C-49C4-75BA-BA73-B384C6D224D7}"/>
              </a:ext>
            </a:extLst>
          </p:cNvPr>
          <p:cNvSpPr/>
          <p:nvPr/>
        </p:nvSpPr>
        <p:spPr>
          <a:xfrm>
            <a:off x="9486899" y="1744373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58ED8B7-3FBA-638B-7FCD-37D87ECBA8C3}"/>
              </a:ext>
            </a:extLst>
          </p:cNvPr>
          <p:cNvSpPr/>
          <p:nvPr/>
        </p:nvSpPr>
        <p:spPr>
          <a:xfrm>
            <a:off x="9084365" y="1321904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EB638B-21CD-792A-F106-630C5601B5B8}"/>
              </a:ext>
            </a:extLst>
          </p:cNvPr>
          <p:cNvSpPr/>
          <p:nvPr/>
        </p:nvSpPr>
        <p:spPr>
          <a:xfrm>
            <a:off x="9864588" y="1307052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3589C7-CCDE-076A-4C44-CF9CA13A86AA}"/>
              </a:ext>
            </a:extLst>
          </p:cNvPr>
          <p:cNvSpPr/>
          <p:nvPr/>
        </p:nvSpPr>
        <p:spPr>
          <a:xfrm>
            <a:off x="10356571" y="1690687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0ABA97C-D570-1969-FCBE-96A84E451654}"/>
              </a:ext>
            </a:extLst>
          </p:cNvPr>
          <p:cNvSpPr/>
          <p:nvPr/>
        </p:nvSpPr>
        <p:spPr>
          <a:xfrm>
            <a:off x="8634619" y="1690688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75F084-B08C-C844-161B-C5814C60ADAF}"/>
              </a:ext>
            </a:extLst>
          </p:cNvPr>
          <p:cNvSpPr/>
          <p:nvPr/>
        </p:nvSpPr>
        <p:spPr>
          <a:xfrm>
            <a:off x="8835888" y="636103"/>
            <a:ext cx="1739344" cy="2126975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34D474-0EE1-B668-0103-113803D62E91}"/>
              </a:ext>
            </a:extLst>
          </p:cNvPr>
          <p:cNvSpPr/>
          <p:nvPr/>
        </p:nvSpPr>
        <p:spPr>
          <a:xfrm>
            <a:off x="10356570" y="2999339"/>
            <a:ext cx="437321" cy="43732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C7395A-4BFE-A71A-9225-A5FBDB34187F}"/>
              </a:ext>
            </a:extLst>
          </p:cNvPr>
          <p:cNvSpPr/>
          <p:nvPr/>
        </p:nvSpPr>
        <p:spPr>
          <a:xfrm>
            <a:off x="8835888" y="2986088"/>
            <a:ext cx="437321" cy="43732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E86537-B8DE-B526-6F4F-2CA158695BB1}"/>
              </a:ext>
            </a:extLst>
          </p:cNvPr>
          <p:cNvSpPr/>
          <p:nvPr/>
        </p:nvSpPr>
        <p:spPr>
          <a:xfrm>
            <a:off x="11275946" y="3555162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11A042-9D7E-ACC3-EF14-76FF627203F0}"/>
              </a:ext>
            </a:extLst>
          </p:cNvPr>
          <p:cNvSpPr/>
          <p:nvPr/>
        </p:nvSpPr>
        <p:spPr>
          <a:xfrm>
            <a:off x="8005627" y="3340678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0D77E98-7011-197D-7E73-12726DE1046E}"/>
              </a:ext>
            </a:extLst>
          </p:cNvPr>
          <p:cNvSpPr/>
          <p:nvPr/>
        </p:nvSpPr>
        <p:spPr>
          <a:xfrm>
            <a:off x="11293338" y="2371479"/>
            <a:ext cx="437321" cy="43732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1B833C2-793D-EB92-A44F-9480BAC31145}"/>
              </a:ext>
            </a:extLst>
          </p:cNvPr>
          <p:cNvSpPr/>
          <p:nvPr/>
        </p:nvSpPr>
        <p:spPr>
          <a:xfrm>
            <a:off x="7680461" y="2345012"/>
            <a:ext cx="437321" cy="43732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10</a:t>
            </a:r>
            <a:endParaRPr lang="en-US" sz="14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2254732-BA02-EC02-545A-A060B5474A18}"/>
              </a:ext>
            </a:extLst>
          </p:cNvPr>
          <p:cNvSpPr/>
          <p:nvPr/>
        </p:nvSpPr>
        <p:spPr>
          <a:xfrm>
            <a:off x="10177116" y="4307992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11</a:t>
            </a:r>
            <a:endParaRPr lang="en-US" sz="1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3619E2E-80BB-6674-12F3-8BD3D0663333}"/>
              </a:ext>
            </a:extLst>
          </p:cNvPr>
          <p:cNvSpPr/>
          <p:nvPr/>
        </p:nvSpPr>
        <p:spPr>
          <a:xfrm>
            <a:off x="9172575" y="4307992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12</a:t>
            </a:r>
            <a:endParaRPr lang="en-US" sz="14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D2EEBCD-6E87-4CD4-0A2B-D086F00F417B}"/>
              </a:ext>
            </a:extLst>
          </p:cNvPr>
          <p:cNvSpPr/>
          <p:nvPr/>
        </p:nvSpPr>
        <p:spPr>
          <a:xfrm>
            <a:off x="10356570" y="5251860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13</a:t>
            </a:r>
            <a:endParaRPr lang="en-US" sz="1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201E918-4223-BD10-B598-5ECC25379B36}"/>
              </a:ext>
            </a:extLst>
          </p:cNvPr>
          <p:cNvSpPr/>
          <p:nvPr/>
        </p:nvSpPr>
        <p:spPr>
          <a:xfrm>
            <a:off x="9018173" y="5225628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14</a:t>
            </a:r>
            <a:endParaRPr lang="en-US" sz="14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2E6B488-0EA1-95D4-4602-F00A2FD0C9DA}"/>
              </a:ext>
            </a:extLst>
          </p:cNvPr>
          <p:cNvSpPr/>
          <p:nvPr/>
        </p:nvSpPr>
        <p:spPr>
          <a:xfrm>
            <a:off x="10395776" y="6123192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15</a:t>
            </a:r>
            <a:endParaRPr lang="en-US" sz="14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A424C1E-0EF5-8F47-2654-844099D976C1}"/>
              </a:ext>
            </a:extLst>
          </p:cNvPr>
          <p:cNvSpPr/>
          <p:nvPr/>
        </p:nvSpPr>
        <p:spPr>
          <a:xfrm>
            <a:off x="9084365" y="6071566"/>
            <a:ext cx="437321" cy="4373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16</a:t>
            </a:r>
            <a:endParaRPr lang="en-US" sz="14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552F39A-FF3A-AD96-3DCE-CF97EC4A6E5D}"/>
              </a:ext>
            </a:extLst>
          </p:cNvPr>
          <p:cNvCxnSpPr>
            <a:stCxn id="11" idx="6"/>
            <a:endCxn id="10" idx="2"/>
          </p:cNvCxnSpPr>
          <p:nvPr/>
        </p:nvCxnSpPr>
        <p:spPr>
          <a:xfrm>
            <a:off x="9273209" y="3204749"/>
            <a:ext cx="1083361" cy="132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6DB86A2-52F2-8B85-CCB1-6DCAB40A0966}"/>
              </a:ext>
            </a:extLst>
          </p:cNvPr>
          <p:cNvCxnSpPr>
            <a:cxnSpLocks/>
            <a:stCxn id="11" idx="2"/>
            <a:endCxn id="13" idx="6"/>
          </p:cNvCxnSpPr>
          <p:nvPr/>
        </p:nvCxnSpPr>
        <p:spPr>
          <a:xfrm flipH="1">
            <a:off x="8442948" y="3204749"/>
            <a:ext cx="392940" cy="3545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973B7C9-3DF5-2126-3CD1-41DFD9E3777C}"/>
              </a:ext>
            </a:extLst>
          </p:cNvPr>
          <p:cNvCxnSpPr>
            <a:cxnSpLocks/>
            <a:stCxn id="13" idx="1"/>
            <a:endCxn id="15" idx="4"/>
          </p:cNvCxnSpPr>
          <p:nvPr/>
        </p:nvCxnSpPr>
        <p:spPr>
          <a:xfrm flipH="1" flipV="1">
            <a:off x="7899122" y="2782333"/>
            <a:ext cx="170549" cy="622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0A56F9-910C-0CE5-288D-A9A32DC8A442}"/>
              </a:ext>
            </a:extLst>
          </p:cNvPr>
          <p:cNvCxnSpPr>
            <a:cxnSpLocks/>
            <a:stCxn id="12" idx="2"/>
            <a:endCxn id="10" idx="5"/>
          </p:cNvCxnSpPr>
          <p:nvPr/>
        </p:nvCxnSpPr>
        <p:spPr>
          <a:xfrm flipH="1" flipV="1">
            <a:off x="10729847" y="3372616"/>
            <a:ext cx="546099" cy="401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7537B7-F194-5132-AF80-F456538673B8}"/>
              </a:ext>
            </a:extLst>
          </p:cNvPr>
          <p:cNvCxnSpPr>
            <a:cxnSpLocks/>
            <a:stCxn id="12" idx="0"/>
            <a:endCxn id="14" idx="4"/>
          </p:cNvCxnSpPr>
          <p:nvPr/>
        </p:nvCxnSpPr>
        <p:spPr>
          <a:xfrm flipV="1">
            <a:off x="11494607" y="2808800"/>
            <a:ext cx="17392" cy="7463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F989299-68EB-C698-D26D-DDC7D0780FD1}"/>
              </a:ext>
            </a:extLst>
          </p:cNvPr>
          <p:cNvCxnSpPr>
            <a:cxnSpLocks/>
            <a:stCxn id="11" idx="4"/>
            <a:endCxn id="17" idx="1"/>
          </p:cNvCxnSpPr>
          <p:nvPr/>
        </p:nvCxnSpPr>
        <p:spPr>
          <a:xfrm>
            <a:off x="9054549" y="3423409"/>
            <a:ext cx="182070" cy="9486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C0918AA-0D4D-093C-9663-B7527ABE968A}"/>
              </a:ext>
            </a:extLst>
          </p:cNvPr>
          <p:cNvCxnSpPr>
            <a:cxnSpLocks/>
            <a:stCxn id="16" idx="0"/>
            <a:endCxn id="10" idx="4"/>
          </p:cNvCxnSpPr>
          <p:nvPr/>
        </p:nvCxnSpPr>
        <p:spPr>
          <a:xfrm flipV="1">
            <a:off x="10395777" y="3436660"/>
            <a:ext cx="179454" cy="871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9B1F851-B833-AD50-6D30-2826BD1C669B}"/>
              </a:ext>
            </a:extLst>
          </p:cNvPr>
          <p:cNvCxnSpPr>
            <a:cxnSpLocks/>
            <a:stCxn id="17" idx="6"/>
            <a:endCxn id="16" idx="2"/>
          </p:cNvCxnSpPr>
          <p:nvPr/>
        </p:nvCxnSpPr>
        <p:spPr>
          <a:xfrm>
            <a:off x="9609896" y="4526653"/>
            <a:ext cx="5672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A3D169-96F8-8FED-DA84-5287896DF775}"/>
              </a:ext>
            </a:extLst>
          </p:cNvPr>
          <p:cNvCxnSpPr>
            <a:cxnSpLocks/>
            <a:stCxn id="17" idx="4"/>
            <a:endCxn id="19" idx="0"/>
          </p:cNvCxnSpPr>
          <p:nvPr/>
        </p:nvCxnSpPr>
        <p:spPr>
          <a:xfrm flipH="1">
            <a:off x="9236834" y="4745313"/>
            <a:ext cx="154402" cy="480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7285C92-BB7B-57AD-5CA8-4E0C27060C5A}"/>
              </a:ext>
            </a:extLst>
          </p:cNvPr>
          <p:cNvCxnSpPr>
            <a:cxnSpLocks/>
            <a:stCxn id="19" idx="4"/>
            <a:endCxn id="21" idx="0"/>
          </p:cNvCxnSpPr>
          <p:nvPr/>
        </p:nvCxnSpPr>
        <p:spPr>
          <a:xfrm>
            <a:off x="9236834" y="5662949"/>
            <a:ext cx="66192" cy="4086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A6A465B-3D85-EC5C-51CE-79A1472C9DD7}"/>
              </a:ext>
            </a:extLst>
          </p:cNvPr>
          <p:cNvCxnSpPr>
            <a:cxnSpLocks/>
            <a:stCxn id="16" idx="4"/>
            <a:endCxn id="18" idx="0"/>
          </p:cNvCxnSpPr>
          <p:nvPr/>
        </p:nvCxnSpPr>
        <p:spPr>
          <a:xfrm>
            <a:off x="10395777" y="4745313"/>
            <a:ext cx="179454" cy="5065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44D2E53-BD3D-25A3-E3CD-21AA11868066}"/>
              </a:ext>
            </a:extLst>
          </p:cNvPr>
          <p:cNvCxnSpPr>
            <a:cxnSpLocks/>
            <a:stCxn id="18" idx="4"/>
            <a:endCxn id="20" idx="0"/>
          </p:cNvCxnSpPr>
          <p:nvPr/>
        </p:nvCxnSpPr>
        <p:spPr>
          <a:xfrm>
            <a:off x="10575231" y="5689181"/>
            <a:ext cx="39206" cy="4340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B3B6BC7-E850-0ED4-4EA8-AC394211E850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0575231" y="2128008"/>
            <a:ext cx="0" cy="871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0EDB344-2F97-BB03-A9AA-F8642628E218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>
            <a:off x="8853280" y="2128009"/>
            <a:ext cx="201269" cy="8580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03489A4-43AF-2B4F-EFE2-EC2BCB0603D6}"/>
              </a:ext>
            </a:extLst>
          </p:cNvPr>
          <p:cNvCxnSpPr>
            <a:cxnSpLocks/>
            <a:stCxn id="8" idx="7"/>
            <a:endCxn id="5" idx="3"/>
          </p:cNvCxnSpPr>
          <p:nvPr/>
        </p:nvCxnSpPr>
        <p:spPr>
          <a:xfrm flipV="1">
            <a:off x="9007896" y="1695181"/>
            <a:ext cx="140513" cy="595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F155B79-F022-A1B0-223D-6396FBF0F234}"/>
              </a:ext>
            </a:extLst>
          </p:cNvPr>
          <p:cNvCxnSpPr>
            <a:cxnSpLocks/>
            <a:stCxn id="5" idx="5"/>
            <a:endCxn id="4" idx="1"/>
          </p:cNvCxnSpPr>
          <p:nvPr/>
        </p:nvCxnSpPr>
        <p:spPr>
          <a:xfrm>
            <a:off x="9457642" y="1695181"/>
            <a:ext cx="93301" cy="113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F051758-6C48-49D4-4FE3-C234100D1003}"/>
              </a:ext>
            </a:extLst>
          </p:cNvPr>
          <p:cNvCxnSpPr>
            <a:cxnSpLocks/>
            <a:stCxn id="6" idx="3"/>
            <a:endCxn id="4" idx="7"/>
          </p:cNvCxnSpPr>
          <p:nvPr/>
        </p:nvCxnSpPr>
        <p:spPr>
          <a:xfrm flipH="1">
            <a:off x="9860176" y="1680329"/>
            <a:ext cx="68456" cy="128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D4EB9F0-6E13-0B1F-C7EF-4A8ED3B47AAF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10237865" y="1680329"/>
            <a:ext cx="182750" cy="74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8867D33-A92E-2294-4846-208A02CAB09A}"/>
              </a:ext>
            </a:extLst>
          </p:cNvPr>
          <p:cNvCxnSpPr>
            <a:cxnSpLocks/>
            <a:stCxn id="6" idx="2"/>
            <a:endCxn id="5" idx="6"/>
          </p:cNvCxnSpPr>
          <p:nvPr/>
        </p:nvCxnSpPr>
        <p:spPr>
          <a:xfrm flipH="1">
            <a:off x="9521686" y="1525713"/>
            <a:ext cx="342902" cy="14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321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52F76-760D-40F4-0730-BCE7018DF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open source, cross-platform, customizable ML solution for live and streaming media</a:t>
            </a:r>
          </a:p>
          <a:p>
            <a:r>
              <a:rPr lang="en-US" dirty="0"/>
              <a:t>Created by Google, and it powers the ML in many Google products</a:t>
            </a:r>
          </a:p>
          <a:p>
            <a:r>
              <a:rPr lang="en-US" dirty="0"/>
              <a:t>Provides solutions for</a:t>
            </a:r>
          </a:p>
          <a:p>
            <a:pPr lvl="1"/>
            <a:r>
              <a:rPr lang="en-US" dirty="0"/>
              <a:t>Computer vision</a:t>
            </a:r>
          </a:p>
          <a:p>
            <a:pPr lvl="1"/>
            <a:r>
              <a:rPr lang="en-US" dirty="0"/>
              <a:t>Natural language processing</a:t>
            </a:r>
          </a:p>
          <a:p>
            <a:pPr lvl="1"/>
            <a:r>
              <a:rPr lang="en-US" dirty="0"/>
              <a:t>Audio</a:t>
            </a:r>
          </a:p>
          <a:p>
            <a:pPr lvl="1"/>
            <a:r>
              <a:rPr lang="en-US" dirty="0"/>
              <a:t>Others</a:t>
            </a:r>
          </a:p>
        </p:txBody>
      </p:sp>
      <p:pic>
        <p:nvPicPr>
          <p:cNvPr id="4" name="Picture 2" descr="MediaPipe with Python for Dummies | by Sujoy Kumar Goswami | Medium">
            <a:extLst>
              <a:ext uri="{FF2B5EF4-FFF2-40B4-BE49-F238E27FC236}">
                <a16:creationId xmlns:a16="http://schemas.microsoft.com/office/drawing/2014/main" id="{5306B095-38C9-C63E-73B6-8F7296643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86" y="365125"/>
            <a:ext cx="4684643" cy="127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F7ADCE-7FE2-198D-B1D3-947385555A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4049" r="2827"/>
          <a:stretch/>
        </p:blipFill>
        <p:spPr>
          <a:xfrm>
            <a:off x="9372185" y="3332283"/>
            <a:ext cx="1600201" cy="1656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5B0798-7875-CA19-D656-B6AB735B02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038" r="31060"/>
          <a:stretch/>
        </p:blipFill>
        <p:spPr>
          <a:xfrm>
            <a:off x="9610725" y="4785068"/>
            <a:ext cx="1451113" cy="16560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6B529A-3691-EB9E-70F6-682430D00B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929" r="61250"/>
          <a:stretch/>
        </p:blipFill>
        <p:spPr>
          <a:xfrm>
            <a:off x="7476501" y="4747067"/>
            <a:ext cx="1441174" cy="16560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3EED74-D433-92BD-76C0-E2B21C8373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8179"/>
          <a:stretch/>
        </p:blipFill>
        <p:spPr>
          <a:xfrm>
            <a:off x="7549597" y="3332283"/>
            <a:ext cx="1441174" cy="165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239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52F76-760D-40F4-0730-BCE7018DF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On-device ML</a:t>
            </a:r>
          </a:p>
          <a:p>
            <a:pPr lvl="1"/>
            <a:r>
              <a:rPr lang="en-US" dirty="0"/>
              <a:t>Run your model on the user's device</a:t>
            </a:r>
          </a:p>
          <a:p>
            <a:pPr lvl="1"/>
            <a:r>
              <a:rPr lang="en-US" dirty="0"/>
              <a:t>No need for a server</a:t>
            </a:r>
          </a:p>
          <a:p>
            <a:r>
              <a:rPr lang="en-US" dirty="0"/>
              <a:t>Supported platforms</a:t>
            </a:r>
          </a:p>
          <a:p>
            <a:pPr lvl="1"/>
            <a:r>
              <a:rPr lang="en-US" dirty="0"/>
              <a:t>Android/iOS</a:t>
            </a:r>
          </a:p>
          <a:p>
            <a:pPr lvl="1"/>
            <a:r>
              <a:rPr lang="en-US" dirty="0"/>
              <a:t>Web </a:t>
            </a:r>
          </a:p>
          <a:p>
            <a:pPr lvl="1"/>
            <a:r>
              <a:rPr lang="en-US" dirty="0"/>
              <a:t>Python</a:t>
            </a:r>
          </a:p>
          <a:p>
            <a:pPr lvl="2"/>
            <a:r>
              <a:rPr lang="en-US" dirty="0"/>
              <a:t>Desktop</a:t>
            </a:r>
          </a:p>
          <a:p>
            <a:pPr lvl="2"/>
            <a:r>
              <a:rPr lang="en-US" dirty="0"/>
              <a:t>Raspberry Pi</a:t>
            </a:r>
          </a:p>
        </p:txBody>
      </p:sp>
      <p:pic>
        <p:nvPicPr>
          <p:cNvPr id="4" name="Picture 2" descr="MediaPipe with Python for Dummies | by Sujoy Kumar Goswami | Medium">
            <a:extLst>
              <a:ext uri="{FF2B5EF4-FFF2-40B4-BE49-F238E27FC236}">
                <a16:creationId xmlns:a16="http://schemas.microsoft.com/office/drawing/2014/main" id="{5306B095-38C9-C63E-73B6-8F7296643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86" y="365125"/>
            <a:ext cx="4684643" cy="127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Implementing the Android Logo with HTML and CSS - DEV Community">
            <a:extLst>
              <a:ext uri="{FF2B5EF4-FFF2-40B4-BE49-F238E27FC236}">
                <a16:creationId xmlns:a16="http://schemas.microsoft.com/office/drawing/2014/main" id="{E3BB6ED1-33AD-5E63-74FB-4BBFEFB05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1462" y1="49654" x2="31462" y2="49654"/>
                        <a14:foregroundMark x1="46381" y1="27336" x2="46381" y2="27336"/>
                        <a14:foregroundMark x1="72674" y1="44810" x2="72674" y2="44810"/>
                        <a14:foregroundMark x1="59084" y1="84083" x2="59084" y2="84083"/>
                        <a14:foregroundMark x1="47710" y1="81834" x2="47710" y2="81834"/>
                        <a14:foregroundMark x1="41950" y1="18166" x2="41950" y2="18166"/>
                        <a14:foregroundMark x1="41654" y1="16263" x2="41654" y2="162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590" y="681037"/>
            <a:ext cx="3131081" cy="267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Apple, company, ios, logo icon - Free download on Iconfinder">
            <a:extLst>
              <a:ext uri="{FF2B5EF4-FFF2-40B4-BE49-F238E27FC236}">
                <a16:creationId xmlns:a16="http://schemas.microsoft.com/office/drawing/2014/main" id="{5FE35BA9-8F04-1BC8-C686-C17BC95AA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3344" y="1865277"/>
            <a:ext cx="1911627" cy="1911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javascript logo png, javascript icon transparent png 27127463 PNG">
            <a:extLst>
              <a:ext uri="{FF2B5EF4-FFF2-40B4-BE49-F238E27FC236}">
                <a16:creationId xmlns:a16="http://schemas.microsoft.com/office/drawing/2014/main" id="{103E1447-2A10-C6F3-A617-9D5974766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975" y="2495549"/>
            <a:ext cx="2183296" cy="218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>
            <a:extLst>
              <a:ext uri="{FF2B5EF4-FFF2-40B4-BE49-F238E27FC236}">
                <a16:creationId xmlns:a16="http://schemas.microsoft.com/office/drawing/2014/main" id="{1202EC9F-1FCB-36D2-33F3-AC130FCE1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5054" y="2805111"/>
            <a:ext cx="2792896" cy="2792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Raspberry Pi Logo PNG Transparent &amp; SVG Vector - Freebie Supply">
            <a:extLst>
              <a:ext uri="{FF2B5EF4-FFF2-40B4-BE49-F238E27FC236}">
                <a16:creationId xmlns:a16="http://schemas.microsoft.com/office/drawing/2014/main" id="{630E8CDB-F6DE-99B1-01F6-E216B29C6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636" y="3965858"/>
            <a:ext cx="2548836" cy="1911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32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52F76-760D-40F4-0730-BCE7018DF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8443" y="3266799"/>
            <a:ext cx="5181600" cy="2090393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Object detection</a:t>
            </a:r>
          </a:p>
          <a:p>
            <a:pPr lvl="1"/>
            <a:r>
              <a:rPr lang="en-US" dirty="0"/>
              <a:t>Image classification</a:t>
            </a:r>
          </a:p>
          <a:p>
            <a:pPr lvl="1"/>
            <a:r>
              <a:rPr lang="en-US" dirty="0"/>
              <a:t>Hand landmark</a:t>
            </a:r>
          </a:p>
          <a:p>
            <a:pPr lvl="1"/>
            <a:r>
              <a:rPr lang="en-US" dirty="0"/>
              <a:t>Hand gesture recognition</a:t>
            </a:r>
          </a:p>
          <a:p>
            <a:pPr lvl="1"/>
            <a:r>
              <a:rPr lang="en-US" dirty="0"/>
              <a:t>Image segmentation</a:t>
            </a:r>
          </a:p>
          <a:p>
            <a:pPr lvl="1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36217A-12A0-AD80-EF3A-5CEDDD369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1895" y="3266799"/>
            <a:ext cx="5181600" cy="2090393"/>
          </a:xfrm>
        </p:spPr>
        <p:txBody>
          <a:bodyPr/>
          <a:lstStyle/>
          <a:p>
            <a:pPr lvl="1"/>
            <a:r>
              <a:rPr lang="en-US" dirty="0"/>
              <a:t>Interactive segmentation</a:t>
            </a:r>
          </a:p>
          <a:p>
            <a:pPr lvl="1"/>
            <a:r>
              <a:rPr lang="en-US" dirty="0"/>
              <a:t>Face detection</a:t>
            </a:r>
          </a:p>
          <a:p>
            <a:pPr lvl="1"/>
            <a:r>
              <a:rPr lang="en-US" dirty="0"/>
              <a:t>Face landmark detection</a:t>
            </a:r>
          </a:p>
          <a:p>
            <a:pPr lvl="1"/>
            <a:r>
              <a:rPr lang="en-US" dirty="0"/>
              <a:t>Pose landmark detection</a:t>
            </a:r>
          </a:p>
          <a:p>
            <a:pPr lvl="1"/>
            <a:r>
              <a:rPr lang="en-US" dirty="0"/>
              <a:t>Image embedding</a:t>
            </a:r>
          </a:p>
          <a:p>
            <a:endParaRPr lang="en-US" dirty="0"/>
          </a:p>
        </p:txBody>
      </p:sp>
      <p:pic>
        <p:nvPicPr>
          <p:cNvPr id="4" name="Picture 2" descr="MediaPipe with Python for Dummies | by Sujoy Kumar Goswami | Medium">
            <a:extLst>
              <a:ext uri="{FF2B5EF4-FFF2-40B4-BE49-F238E27FC236}">
                <a16:creationId xmlns:a16="http://schemas.microsoft.com/office/drawing/2014/main" id="{5306B095-38C9-C63E-73B6-8F7296643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86" y="365125"/>
            <a:ext cx="4684643" cy="127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4A0034-9786-E91A-18DD-9A818756360F}"/>
              </a:ext>
            </a:extLst>
          </p:cNvPr>
          <p:cNvSpPr txBox="1"/>
          <p:nvPr/>
        </p:nvSpPr>
        <p:spPr>
          <a:xfrm>
            <a:off x="3478696" y="2262836"/>
            <a:ext cx="6097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Available vision solutions:</a:t>
            </a:r>
          </a:p>
        </p:txBody>
      </p:sp>
    </p:spTree>
    <p:extLst>
      <p:ext uri="{BB962C8B-B14F-4D97-AF65-F5344CB8AC3E}">
        <p14:creationId xmlns:p14="http://schemas.microsoft.com/office/powerpoint/2010/main" val="3618942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FC5AD-A68A-65BD-DC1D-67AECFA03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40887" cy="4351338"/>
          </a:xfrm>
        </p:spPr>
        <p:txBody>
          <a:bodyPr/>
          <a:lstStyle/>
          <a:p>
            <a:r>
              <a:rPr lang="en-US" dirty="0" err="1"/>
              <a:t>MediaPipe's</a:t>
            </a:r>
            <a:r>
              <a:rPr lang="en-US" dirty="0"/>
              <a:t> pose model tracks 33 body landmark locations</a:t>
            </a:r>
          </a:p>
          <a:p>
            <a:pPr lvl="1"/>
            <a:r>
              <a:rPr lang="en-US" dirty="0"/>
              <a:t>Note: The </a:t>
            </a:r>
            <a:r>
              <a:rPr lang="en-US" b="1" dirty="0">
                <a:solidFill>
                  <a:srgbClr val="C00000"/>
                </a:solidFill>
              </a:rPr>
              <a:t>legacy</a:t>
            </a:r>
            <a:r>
              <a:rPr lang="en-US" dirty="0"/>
              <a:t> model can detect </a:t>
            </a:r>
            <a:r>
              <a:rPr lang="en-US" b="1" dirty="0">
                <a:solidFill>
                  <a:srgbClr val="C00000"/>
                </a:solidFill>
              </a:rPr>
              <a:t>only one person </a:t>
            </a:r>
            <a:r>
              <a:rPr lang="en-US" dirty="0"/>
              <a:t>per image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123C620-53B8-BC58-C5C3-944E9BF60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651" y="3090405"/>
            <a:ext cx="2873984" cy="3402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MediaPipe with Python for Dummies | by Sujoy Kumar Goswami | Medium">
            <a:extLst>
              <a:ext uri="{FF2B5EF4-FFF2-40B4-BE49-F238E27FC236}">
                <a16:creationId xmlns:a16="http://schemas.microsoft.com/office/drawing/2014/main" id="{CAA583A6-0509-C8EB-B5A9-BA817D9B7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86" y="365125"/>
            <a:ext cx="4684643" cy="127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811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496A8-421E-4CF7-ACEE-0B3EE3D7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>
            <a:extLst>
              <a:ext uri="{FF2B5EF4-FFF2-40B4-BE49-F238E27FC236}">
                <a16:creationId xmlns:a16="http://schemas.microsoft.com/office/drawing/2014/main" id="{422F0429-70A6-293D-6F46-25C074E61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9" y="2333721"/>
            <a:ext cx="4752314" cy="2663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545437-6BFD-4981-B824-E4C2E3B8CF28}"/>
              </a:ext>
            </a:extLst>
          </p:cNvPr>
          <p:cNvSpPr txBox="1"/>
          <p:nvPr/>
        </p:nvSpPr>
        <p:spPr>
          <a:xfrm>
            <a:off x="233074" y="5402519"/>
            <a:ext cx="3588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Hand landmark</a:t>
            </a:r>
          </a:p>
        </p:txBody>
      </p:sp>
      <p:pic>
        <p:nvPicPr>
          <p:cNvPr id="8" name="Picture 2" descr="MediaPipe with Python for Dummies | by Sujoy Kumar Goswami | Medium">
            <a:extLst>
              <a:ext uri="{FF2B5EF4-FFF2-40B4-BE49-F238E27FC236}">
                <a16:creationId xmlns:a16="http://schemas.microsoft.com/office/drawing/2014/main" id="{37064814-6614-4C49-6F50-A9316D65E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86" y="365125"/>
            <a:ext cx="4684643" cy="127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and landmarks detection guide | MediaPipe | Google for Developers">
            <a:extLst>
              <a:ext uri="{FF2B5EF4-FFF2-40B4-BE49-F238E27FC236}">
                <a16:creationId xmlns:a16="http://schemas.microsoft.com/office/drawing/2014/main" id="{2C3428C8-1088-B317-0880-C5E3DBF26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303" y="1636671"/>
            <a:ext cx="7345697" cy="4227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133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18F923FF-DD0C-4FD3-A1B4-68DFA511C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FA0E1A-7B58-63C7-E261-E30C4DC8201F}"/>
              </a:ext>
            </a:extLst>
          </p:cNvPr>
          <p:cNvSpPr txBox="1"/>
          <p:nvPr/>
        </p:nvSpPr>
        <p:spPr>
          <a:xfrm>
            <a:off x="359172" y="1144769"/>
            <a:ext cx="3724217" cy="28964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Face landmark detection</a:t>
            </a:r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114A821F-8663-46BA-8CC0-D4C44F639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8824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GitHub - FatimaElsaadny/Head_pose-Estimation">
            <a:extLst>
              <a:ext uri="{FF2B5EF4-FFF2-40B4-BE49-F238E27FC236}">
                <a16:creationId xmlns:a16="http://schemas.microsoft.com/office/drawing/2014/main" id="{D085FCFD-8C13-2748-A292-3E38452E9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10910" y="712354"/>
            <a:ext cx="4057665" cy="592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0D7721A3-BC49-0F09-5ED6-725A775CBD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1896" y="812949"/>
            <a:ext cx="3675888" cy="205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3" name="Rectangle 8202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171" y="4177748"/>
            <a:ext cx="3706859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2" descr="MediaPipe with Python for Dummies | by Sujoy Kumar Goswami | Medium">
            <a:extLst>
              <a:ext uri="{FF2B5EF4-FFF2-40B4-BE49-F238E27FC236}">
                <a16:creationId xmlns:a16="http://schemas.microsoft.com/office/drawing/2014/main" id="{3F6F9CA2-2FE0-583E-76C6-7574C3321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511" y="1178708"/>
            <a:ext cx="3675888" cy="1001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177EA4-9072-40F6-BB0C-3645C1A60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6086" y="4041201"/>
            <a:ext cx="3675888" cy="178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715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455</Words>
  <Application>Microsoft Office PowerPoint</Application>
  <PresentationFormat>Widescreen</PresentationFormat>
  <Paragraphs>150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Computer Vision (CV)</vt:lpstr>
      <vt:lpstr>What is pose estimation</vt:lpstr>
      <vt:lpstr>Why pose estimation</vt:lpstr>
      <vt:lpstr>Pose estimation results as features</vt:lpstr>
      <vt:lpstr>Pose estimation results as features</vt:lpstr>
      <vt:lpstr>YOLOv8</vt:lpstr>
      <vt:lpstr>YOLOv8</vt:lpstr>
      <vt:lpstr>YOLOv8:12</vt:lpstr>
      <vt:lpstr>Hand raised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Pose estimation</dc:title>
  <dc:creator>Abdulwahab Almestekawy</dc:creator>
  <cp:lastModifiedBy>Ahmed Yousry</cp:lastModifiedBy>
  <cp:revision>18</cp:revision>
  <dcterms:created xsi:type="dcterms:W3CDTF">2024-05-08T11:10:08Z</dcterms:created>
  <dcterms:modified xsi:type="dcterms:W3CDTF">2026-03-12T16:56:09Z</dcterms:modified>
</cp:coreProperties>
</file>