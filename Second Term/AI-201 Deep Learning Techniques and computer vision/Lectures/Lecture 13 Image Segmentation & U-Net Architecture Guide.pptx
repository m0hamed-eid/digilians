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98" r:id="rId9"/>
    <p:sldId id="263" r:id="rId10"/>
    <p:sldId id="264" r:id="rId11"/>
    <p:sldId id="265" r:id="rId12"/>
    <p:sldId id="266" r:id="rId13"/>
    <p:sldId id="269" r:id="rId14"/>
    <p:sldId id="267" r:id="rId15"/>
    <p:sldId id="268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Inter" panose="020B0502030000000004" pitchFamily="34" charset="0"/>
      <p:regular r:id="rId22"/>
      <p:bold r:id="rId23"/>
      <p:italic r:id="rId24"/>
      <p:boldItalic r:id="rId25"/>
    </p:embeddedFont>
    <p:embeddedFont>
      <p:font typeface="Inter Light" panose="020B0604020202020204" charset="0"/>
      <p:regular r:id="rId26"/>
      <p:bold r:id="rId27"/>
      <p:italic r:id="rId28"/>
      <p:boldItalic r:id="rId29"/>
    </p:embeddedFont>
    <p:embeddedFont>
      <p:font typeface="Inter SemiBold" panose="020B0604020202020204" charset="0"/>
      <p:regular r:id="rId30"/>
      <p:bold r:id="rId31"/>
      <p:italic r:id="rId32"/>
      <p:boldItalic r:id="rId33"/>
    </p:embeddedFont>
    <p:embeddedFont>
      <p:font typeface="Merriweather" panose="000005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D00193D-8132-405F-9ACE-F8DF5F0A28FB}">
  <a:tblStyle styleId="{CD00193D-8132-405F-9ACE-F8DF5F0A28F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10T18:02:47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0 24575,'4'5'0,"2"5"0,-5 1 0,-7-1 0,-11-3 0,-11-2 0,-5-2 0,-6-1 0,-4-2 0,0 0 0,7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9654C-E0E0-4709-B41A-97D0A8A2CF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82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1" Type="http://schemas.openxmlformats.org/officeDocument/2006/relationships/image" Target="../media/image22.jpeg"/><Relationship Id="rId60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524500" y="2318444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060495" y="2708969"/>
            <a:ext cx="807100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Segmentation &amp; U-Net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224337" y="3518594"/>
            <a:ext cx="3743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COMPUTER VISION METHODOLOGIES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629150" y="4204394"/>
            <a:ext cx="29337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Presented by </a:t>
            </a:r>
            <a:endParaRPr lang="ar-EG" sz="1650" b="0" i="1" u="none" strike="noStrike" cap="none" dirty="0">
              <a:solidFill>
                <a:srgbClr val="E2E8F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>
                <a:solidFill>
                  <a:srgbClr val="E2E8F0"/>
                </a:solidFill>
                <a:latin typeface="Merriweather"/>
                <a:ea typeface="Merriweather"/>
                <a:cs typeface="Merriweather"/>
                <a:sym typeface="Merriweather"/>
              </a:rPr>
              <a:t>Dr. Ahmed Yousry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686425" y="2188964"/>
            <a:ext cx="8191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PART 01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540430" y="2558504"/>
            <a:ext cx="911113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Fundamentals of Image Segmentation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524500" y="3320504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000375" y="3663404"/>
            <a:ext cx="6191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 introduction to standard pixel-level classification paradigms, comparing semantic versus instance approaches and historical mathematical solutions.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36390"/>
            <a:ext cx="51911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666750" y="1918841"/>
            <a:ext cx="5191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Core Concept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52500" y="2414141"/>
            <a:ext cx="490537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Pixel-Level Mapping: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Image segmentation is the crucial process of partitioning a digital image into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multiple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distinct regions comprising groups of pixels or "super-pixels".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3400573"/>
            <a:ext cx="490537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Categorization: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It effectively assigns meaningful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semantic labels to each pixel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helping machines identify contextual boundaries.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4387006"/>
            <a:ext cx="490537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Target Isolation: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Rather than predicting global features (like standard classification), segmentation focuses on exactly "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where" specific targets 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exist down to structural contours.</a:t>
            </a:r>
            <a:endParaRPr dirty="0"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1941165"/>
            <a:ext cx="498157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666750" y="2433191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6750" y="3419623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66750" y="4406056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66750" y="523875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Image Segmentation?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218580"/>
            <a:ext cx="5286375" cy="2855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218580"/>
            <a:ext cx="5286375" cy="285511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047750" y="3134766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Definition: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Classifies all pixels within the image into predefined, semantically interpretable categories of real-world objects.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047750" y="4008983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Aspect: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It does not distinguish between individual objects of the same class. If three cars are parked side-by-side, all pixels representing them are designated identically as "car".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619875" y="3134766"/>
            <a:ext cx="4572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Definition: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Identifies, outlines, and catalogs every discrete occurrence of every target category mapped within an image.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619875" y="3765202"/>
            <a:ext cx="45720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Key Aspect: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It explicitly separates individual boundaries of identical classes. Instead of a unified group class, it creates distinct bounding structures (e.g., separating "Car 1", "Car 2", and "Car 3").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447800" y="2551955"/>
            <a:ext cx="2820352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Semantic Segmentation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991350" y="2551955"/>
            <a:ext cx="2740342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Instance Segmentation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2652861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9875" y="265286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666750" y="523875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Semantic vs. Instance Segmentation</a:t>
            </a:r>
            <a:endParaRPr/>
          </a:p>
        </p:txBody>
      </p:sp>
      <p:pic>
        <p:nvPicPr>
          <p:cNvPr id="1026" name="Picture 2" descr="Semantic vs. Instance Segmentation in Microscopy | AI Essentials">
            <a:extLst>
              <a:ext uri="{FF2B5EF4-FFF2-40B4-BE49-F238E27FC236}">
                <a16:creationId xmlns:a16="http://schemas.microsoft.com/office/drawing/2014/main" id="{1F9E5080-17CB-4311-8F83-2CEFA3720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2" y="5216574"/>
            <a:ext cx="3681413" cy="1472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325141"/>
            <a:ext cx="3460700" cy="264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65575" y="2325141"/>
            <a:ext cx="3460700" cy="264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325141"/>
            <a:ext cx="3460849" cy="264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620416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962025" y="3334791"/>
            <a:ext cx="301365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Thresholding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3696741"/>
            <a:ext cx="28701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Separates pixels based on static intensity values to isolate objects from backgrounds, transforming grayscale frames into sharp binary maps.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0850" y="2620416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4660850" y="3334791"/>
            <a:ext cx="301365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K-Means Clustering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60850" y="3696741"/>
            <a:ext cx="28701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 unsupervised iterative clustering algorithm partitioning data organically into distinct groups based on numeric feature and color similarities.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9675" y="2620416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359675" y="3334791"/>
            <a:ext cx="30138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Edge Detection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359675" y="3696741"/>
            <a:ext cx="2870299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Tracks sudden localized variations or mathematical discontinuities in brightness to isolate regional contours and object outlines.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90612" y="274900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03725" y="2749004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02550" y="2749004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66750" y="523875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Segmentation Techniques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F707F1-E13F-49B6-B455-268EADFB14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8977" y="5196239"/>
            <a:ext cx="7559695" cy="15317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672137" y="2188964"/>
            <a:ext cx="847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PART 02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2695575" y="2558504"/>
            <a:ext cx="6800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The U-Net Deep Architecture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524500" y="3320504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3000375" y="3663404"/>
            <a:ext cx="6191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 detailed architectural walkthrough of U-Net, exploring the contracting and expanding paths alongside skip connection functionalities.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2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88765"/>
            <a:ext cx="5191125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666750" y="1957833"/>
            <a:ext cx="5191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Symmetric Contracting &amp; Expanding Design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52500" y="2374999"/>
            <a:ext cx="49053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Contracting Path (Encoder):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Sequential 3x3 convolutions and 2x2 max-pooling reduce spatial matrices to abstract rich feature context.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952500" y="3361432"/>
            <a:ext cx="49053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Expanding Path (Decoder):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Successive up-sampling layers precisely reconstruct spatial dimensions to provide localization accuracy.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952500" y="4347864"/>
            <a:ext cx="49053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Skip Connections: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High-resolution spatial feature maps are direct-copied and concatenated to preserve sharp structural contours.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66750" y="2394049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66750" y="3380482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66750" y="4366914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66750" y="523875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U-Net Architecture Overview</a:t>
            </a:r>
            <a:endParaRPr/>
          </a:p>
        </p:txBody>
      </p:sp>
      <p:pic>
        <p:nvPicPr>
          <p:cNvPr id="13" name="Picture 8" descr="U-Net architecture">
            <a:extLst>
              <a:ext uri="{FF2B5EF4-FFF2-40B4-BE49-F238E27FC236}">
                <a16:creationId xmlns:a16="http://schemas.microsoft.com/office/drawing/2014/main" id="{BF57C6CE-F645-4C8B-9BB3-F0E169DA6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5" t="16454"/>
          <a:stretch/>
        </p:blipFill>
        <p:spPr bwMode="auto">
          <a:xfrm>
            <a:off x="5750561" y="1466850"/>
            <a:ext cx="6441440" cy="4588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0D392-614A-43D7-BA76-AB1FFE045AF8}" type="slidenum">
              <a:rPr lang="en-US" smtClean="0"/>
              <a:t>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355D65B-47F8-18A1-6791-4317393C9308}"/>
                  </a:ext>
                </a:extLst>
              </p14:cNvPr>
              <p14:cNvContentPartPr/>
              <p14:nvPr/>
            </p14:nvContentPartPr>
            <p14:xfrm>
              <a:off x="3308328" y="4571784"/>
              <a:ext cx="88560" cy="194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355D65B-47F8-18A1-6791-4317393C930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299328" y="4562784"/>
                <a:ext cx="106200" cy="37080"/>
              </a:xfrm>
              <a:prstGeom prst="rect">
                <a:avLst/>
              </a:prstGeom>
            </p:spPr>
          </p:pic>
        </mc:Fallback>
      </mc:AlternateContent>
      <p:pic>
        <p:nvPicPr>
          <p:cNvPr id="1032" name="Picture 8" descr="U-Net architecture">
            <a:extLst>
              <a:ext uri="{FF2B5EF4-FFF2-40B4-BE49-F238E27FC236}">
                <a16:creationId xmlns:a16="http://schemas.microsoft.com/office/drawing/2014/main" id="{87C41C33-33D1-47E0-95B8-215E492149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5" t="16454"/>
          <a:stretch/>
        </p:blipFill>
        <p:spPr bwMode="auto">
          <a:xfrm>
            <a:off x="175098" y="486383"/>
            <a:ext cx="11511064" cy="572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38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096690"/>
            <a:ext cx="5286375" cy="309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096690"/>
            <a:ext cx="5286375" cy="309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1047750" y="3012876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Mechanism: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static, non-learnable layer that doubles spatial dimensions by duplicating rows and columns of the incoming feature matrix.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047750" y="3887092"/>
            <a:ext cx="45720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Advantage: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Uses standard geometric interpolation (nearest-neighbor or bilinear). It is computationally efficient and introduces no parameters, ensuring incredibly fast runtime execution.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619875" y="3012876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Mechanism: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Also referred to as deconvolution. A learnable up-scaling operation where kernels apply parameterized weights to reconstruct missing pixel data.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619875" y="3887092"/>
            <a:ext cx="4572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Advantage: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network actively learns the optimal spatial reconstruction filters during the training process, leading to more intricate and precise edge boundary outputs.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390650" y="2430065"/>
            <a:ext cx="1780222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UpSampling2D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962775" y="2430065"/>
            <a:ext cx="2150268" cy="29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Conv2DTranspose</a:t>
            </a:r>
            <a:endParaRPr/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253097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9875" y="2530971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666750" y="523875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Decoder Upsampling Mechanics</a:t>
            </a:r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3567F2-18FC-4C51-839F-9084E70BA09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7179"/>
          <a:stretch/>
        </p:blipFill>
        <p:spPr>
          <a:xfrm>
            <a:off x="3293262" y="5195589"/>
            <a:ext cx="5612613" cy="15865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667375" y="2188964"/>
            <a:ext cx="857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PART 03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900475" y="2558504"/>
            <a:ext cx="8391048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Metrics &amp; Mathematical Evaluation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524500" y="3320504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3000375" y="3663404"/>
            <a:ext cx="6191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Detailed coverage of Intersection over Union (IoU), Jaccard parameters, Dice similarities, and mathematical modeling techniques.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836068"/>
            <a:ext cx="5191125" cy="60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79265"/>
            <a:ext cx="51911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666750" y="2207418"/>
            <a:ext cx="51911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standard evaluation metric used in structural segmentation, evaluating predicted masks against ground-truth labels.</a:t>
            </a:r>
            <a:endParaRPr/>
          </a:p>
        </p:txBody>
      </p:sp>
      <p:pic>
        <p:nvPicPr>
          <p:cNvPr id="207" name="Google Shape;20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00746" y="3036093"/>
            <a:ext cx="1722983" cy="203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952500" y="3629917"/>
            <a:ext cx="49053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Overlap Quotient: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Quantifies the region of shared target overlap divided by the total visual union.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952500" y="4357389"/>
            <a:ext cx="490537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0F2B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Standard: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Scores range from 0.0 (no overlap) to 1.0 (flawless matching).</a:t>
            </a:r>
            <a:endParaRPr/>
          </a:p>
        </p:txBody>
      </p:sp>
      <p:pic>
        <p:nvPicPr>
          <p:cNvPr id="210" name="Google Shape;21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900" y="2084040"/>
            <a:ext cx="4981575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66750" y="3648967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66750" y="4376439"/>
            <a:ext cx="666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66750" y="523875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Intersection Over Union (IoU)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671786"/>
            <a:ext cx="10858500" cy="394855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/>
          <p:nvPr/>
        </p:nvSpPr>
        <p:spPr>
          <a:xfrm>
            <a:off x="676275" y="2369939"/>
            <a:ext cx="27098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3386137" y="2369939"/>
            <a:ext cx="37937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7179915" y="2369939"/>
            <a:ext cx="433580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676275" y="3529905"/>
            <a:ext cx="27098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3386137" y="3529905"/>
            <a:ext cx="37937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7179915" y="3529905"/>
            <a:ext cx="433580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76275" y="4689871"/>
            <a:ext cx="270986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3386137" y="4689871"/>
            <a:ext cx="379377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7179915" y="4689871"/>
            <a:ext cx="433580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666750" y="523875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Similarity Metric Formulations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C857DE-C991-4587-9702-A1250E8CB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525" y="1671786"/>
            <a:ext cx="11258550" cy="4022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0967FB-5056-4AEF-AFA2-1A3544924D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0885" y="212568"/>
            <a:ext cx="5197290" cy="8839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CA19E8-B7E1-4C65-B5CE-BF22B56AB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403490"/>
              </p:ext>
            </p:extLst>
          </p:nvPr>
        </p:nvGraphicFramePr>
        <p:xfrm>
          <a:off x="1139613" y="936531"/>
          <a:ext cx="10046124" cy="3904798"/>
        </p:xfrm>
        <a:graphic>
          <a:graphicData uri="http://schemas.openxmlformats.org/drawingml/2006/table">
            <a:tbl>
              <a:tblPr/>
              <a:tblGrid>
                <a:gridCol w="2598867">
                  <a:extLst>
                    <a:ext uri="{9D8B030D-6E8A-4147-A177-3AD203B41FA5}">
                      <a16:colId xmlns:a16="http://schemas.microsoft.com/office/drawing/2014/main" val="1626221638"/>
                    </a:ext>
                  </a:extLst>
                </a:gridCol>
                <a:gridCol w="1821093">
                  <a:extLst>
                    <a:ext uri="{9D8B030D-6E8A-4147-A177-3AD203B41FA5}">
                      <a16:colId xmlns:a16="http://schemas.microsoft.com/office/drawing/2014/main" val="2878751170"/>
                    </a:ext>
                  </a:extLst>
                </a:gridCol>
                <a:gridCol w="2232239">
                  <a:extLst>
                    <a:ext uri="{9D8B030D-6E8A-4147-A177-3AD203B41FA5}">
                      <a16:colId xmlns:a16="http://schemas.microsoft.com/office/drawing/2014/main" val="2133555028"/>
                    </a:ext>
                  </a:extLst>
                </a:gridCol>
                <a:gridCol w="3393925">
                  <a:extLst>
                    <a:ext uri="{9D8B030D-6E8A-4147-A177-3AD203B41FA5}">
                      <a16:colId xmlns:a16="http://schemas.microsoft.com/office/drawing/2014/main" val="1245877840"/>
                    </a:ext>
                  </a:extLst>
                </a:gridCol>
              </a:tblGrid>
              <a:tr h="1017121">
                <a:tc>
                  <a:txBody>
                    <a:bodyPr/>
                    <a:lstStyle/>
                    <a:p>
                      <a:pPr rtl="0"/>
                      <a:r>
                        <a:rPr lang="en-US" sz="2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US" sz="2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Stricter?</a:t>
                      </a:r>
                      <a:endParaRPr lang="en-US" sz="2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Standard Acceptable Target</a:t>
                      </a:r>
                      <a:endParaRPr lang="en-US" sz="2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Excellent/Production Target</a:t>
                      </a:r>
                      <a:endParaRPr lang="en-US" sz="2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9828596"/>
                  </a:ext>
                </a:extLst>
              </a:tr>
              <a:tr h="732833">
                <a:tc>
                  <a:txBody>
                    <a:bodyPr/>
                    <a:lstStyle/>
                    <a:p>
                      <a:pPr rtl="0"/>
                      <a:r>
                        <a:rPr lang="en-US" sz="2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Dice Coefficient</a:t>
                      </a:r>
                      <a:endParaRPr lang="en-US" sz="2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</a:t>
                      </a: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&gt;= 0.80</a:t>
                      </a: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&gt;= 0.85</a:t>
                      </a: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734871"/>
                  </a:ext>
                </a:extLst>
              </a:tr>
              <a:tr h="1017121">
                <a:tc>
                  <a:txBody>
                    <a:bodyPr/>
                    <a:lstStyle/>
                    <a:p>
                      <a:pPr rtl="0"/>
                      <a:r>
                        <a:rPr lang="en-US" sz="2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Cosine Similarity</a:t>
                      </a:r>
                      <a:r>
                        <a:rPr lang="en-US" sz="2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2300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(Ochiai)</a:t>
                      </a:r>
                      <a:endParaRPr lang="en-US" sz="2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</a:t>
                      </a: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&gt;= 0.80</a:t>
                      </a: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&gt;= 0.85</a:t>
                      </a: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795710"/>
                  </a:ext>
                </a:extLst>
              </a:tr>
              <a:tr h="732833">
                <a:tc>
                  <a:txBody>
                    <a:bodyPr/>
                    <a:lstStyle/>
                    <a:p>
                      <a:pPr rtl="0"/>
                      <a:r>
                        <a:rPr lang="en-US" sz="2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Jaccard Index (IoU)</a:t>
                      </a:r>
                      <a:endParaRPr lang="en-US" sz="2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Yes</a:t>
                      </a:r>
                      <a:endParaRPr lang="en-US" sz="2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&gt;= 0.70</a:t>
                      </a: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2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&gt;= 0.75</a:t>
                      </a:r>
                    </a:p>
                  </a:txBody>
                  <a:tcPr marL="150841" marR="150841" marT="100561" marB="100561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262490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E41F69C-6F31-4C14-AD7B-4C986EF13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833" y="5037924"/>
            <a:ext cx="6715024" cy="147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73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46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/>
          <p:nvPr/>
        </p:nvSpPr>
        <p:spPr>
          <a:xfrm>
            <a:off x="5524500" y="2041773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2725578" y="2432298"/>
            <a:ext cx="6740842" cy="690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 &amp; Discussion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4167187" y="3408610"/>
            <a:ext cx="3857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Image Segmentation &amp; U-Net Architecture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4676775" y="4142035"/>
            <a:ext cx="2838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Thank you for your attention.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4948236" y="5041925"/>
            <a:ext cx="2295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Presented by Dr. Ahmed Yousry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2062162" y="2473672"/>
            <a:ext cx="80676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2062162" y="3258442"/>
            <a:ext cx="8067675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2062162" y="3248917"/>
            <a:ext cx="80676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2062162" y="3248917"/>
            <a:ext cx="80676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2062162" y="4033688"/>
            <a:ext cx="80676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2062162" y="4033688"/>
            <a:ext cx="80676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2162" y="26230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3157537" y="2616547"/>
            <a:ext cx="69723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https://keymakr.com/blog/content/images/2024/01/km12.jpg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3157537" y="2862262"/>
            <a:ext cx="69723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keymakr.com</a:t>
            </a:r>
            <a:endParaRPr/>
          </a:p>
        </p:txBody>
      </p:sp>
      <p:pic>
        <p:nvPicPr>
          <p:cNvPr id="258" name="Google Shape;25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62162" y="34078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3157537" y="3401317"/>
            <a:ext cx="69723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https://lmb.informatik.uni-freiburg.de/people/ronneber/u-net/u-net-architecture.png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3157537" y="3647033"/>
            <a:ext cx="69723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lmb.informatik.uni-freiburg.de</a:t>
            </a:r>
            <a:endParaRPr/>
          </a:p>
        </p:txBody>
      </p:sp>
      <p:pic>
        <p:nvPicPr>
          <p:cNvPr id="261" name="Google Shape;26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2162" y="41926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3157537" y="4186088"/>
            <a:ext cx="69723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https://b2633864.smushcdn.com/2633864/wp-content/uploads/2016/09/iou_examples.png?lossy=2&amp;strip=1&amp;webp=1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3157537" y="4431803"/>
            <a:ext cx="69723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pyimagesearch.com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666750" y="523875"/>
            <a:ext cx="11401425" cy="434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2B46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736</Words>
  <Application>Microsoft Office PowerPoint</Application>
  <PresentationFormat>Widescreen</PresentationFormat>
  <Paragraphs>86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Inter SemiBold</vt:lpstr>
      <vt:lpstr>Inter Light</vt:lpstr>
      <vt:lpstr>Google Sans Text</vt:lpstr>
      <vt:lpstr>Merriweather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ahmed.abdelsatar@fci.bu.edu.eg</cp:lastModifiedBy>
  <cp:revision>8</cp:revision>
  <dcterms:modified xsi:type="dcterms:W3CDTF">2026-06-27T10:02:18Z</dcterms:modified>
</cp:coreProperties>
</file>