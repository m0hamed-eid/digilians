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1"/>
  </p:notesMasterIdLst>
  <p:sldIdLst>
    <p:sldId id="397" r:id="rId2"/>
    <p:sldId id="372" r:id="rId3"/>
    <p:sldId id="373" r:id="rId4"/>
    <p:sldId id="399" r:id="rId5"/>
    <p:sldId id="400" r:id="rId6"/>
    <p:sldId id="401" r:id="rId7"/>
    <p:sldId id="406" r:id="rId8"/>
    <p:sldId id="402" r:id="rId9"/>
    <p:sldId id="407" r:id="rId10"/>
    <p:sldId id="404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405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AEA"/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55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facebookresearch/detectron2/blob/master/MODEL_ZOO.m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(CV)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[RCNN Family]</a:t>
            </a:r>
          </a:p>
          <a:p>
            <a:endParaRPr lang="en-US" b="1"/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554"/>
            <a:ext cx="11353800" cy="821649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R-CNN for object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1052" y="1155897"/>
            <a:ext cx="11506199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Scan the input image for possible objects using an algorithm called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Selective Search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rialMT"/>
              </a:rPr>
              <a:t>enerating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~2000 region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proposals.</a:t>
            </a:r>
          </a:p>
          <a:p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Run a convolutional neural net (CNN) on top of each of </a:t>
            </a:r>
            <a:r>
              <a:rPr lang="en-US" sz="2800" b="1" dirty="0">
                <a:solidFill>
                  <a:srgbClr val="000000"/>
                </a:solidFill>
                <a:latin typeface="ArialMT"/>
              </a:rPr>
              <a:t>these region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proposals.</a:t>
            </a:r>
          </a:p>
          <a:p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• Take the output of each CNN and feed it into </a:t>
            </a:r>
          </a:p>
          <a:p>
            <a:pPr marL="800100" lvl="1" indent="-342900">
              <a:buAutoNum type="alphaLcParenR"/>
            </a:pP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SVM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to classify the region</a:t>
            </a:r>
          </a:p>
          <a:p>
            <a:pPr marL="800100" lvl="1" indent="-342900">
              <a:buFontTx/>
              <a:buAutoNum type="alphaLcParenR"/>
            </a:pPr>
            <a:r>
              <a:rPr lang="en-US" sz="2400" b="1" dirty="0">
                <a:solidFill>
                  <a:srgbClr val="FF0000"/>
                </a:solidFill>
                <a:latin typeface="Arial-BoldMT"/>
              </a:rPr>
              <a:t>Linear regressor </a:t>
            </a:r>
            <a:r>
              <a:rPr lang="en-US" sz="2400" dirty="0">
                <a:solidFill>
                  <a:srgbClr val="000000"/>
                </a:solidFill>
                <a:latin typeface="ArialMT"/>
              </a:rPr>
              <a:t>to tighten the bounding box of the object if such an object exists.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750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72453-1675-A6E4-45B3-CD1F5EF4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8" y="1844974"/>
            <a:ext cx="10028582" cy="43570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AC1F003-6016-6643-FE83-4894705A131D}"/>
              </a:ext>
            </a:extLst>
          </p:cNvPr>
          <p:cNvSpPr txBox="1">
            <a:spLocks/>
          </p:cNvSpPr>
          <p:nvPr/>
        </p:nvSpPr>
        <p:spPr>
          <a:xfrm>
            <a:off x="0" y="232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R-CNN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5961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3E1C8-D2DB-3BB7-CD5A-FD83DA62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CA79B-91F1-C848-5DF1-5B994786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cap="none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 R-CNN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07664-60D9-3512-41DD-4C009D329C76}"/>
              </a:ext>
            </a:extLst>
          </p:cNvPr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The purpose of the </a:t>
            </a:r>
            <a:r>
              <a:rPr lang="en-US" sz="2200" b="1" dirty="0"/>
              <a:t>Fast Region-based Convolutional Network </a:t>
            </a:r>
            <a:r>
              <a:rPr lang="en-US" sz="2200" dirty="0"/>
              <a:t>(Fast R-CNN) is to reduce the time consumption related to the high number of models necessary to analyze all region proposals.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Performing feature extraction over the image before proposing regions, thus only running </a:t>
            </a:r>
            <a:r>
              <a:rPr lang="en-US" sz="2200" b="1" dirty="0"/>
              <a:t>one CNN </a:t>
            </a:r>
            <a:r>
              <a:rPr lang="en-US" sz="2200" dirty="0"/>
              <a:t>over the entire image instead of 2000 CNN’s over 2000 overlapping regions.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• Replacing the SVM with a </a:t>
            </a:r>
            <a:r>
              <a:rPr lang="en-US" sz="2200" dirty="0" err="1"/>
              <a:t>softmax</a:t>
            </a:r>
            <a:r>
              <a:rPr lang="en-US" sz="2200" dirty="0"/>
              <a:t> layer, thus extending the neural network for predictions instead of creating a new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EFD5B-2E96-0479-6CD9-7E14C2B5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5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191D6-0415-4AC4-0061-A1EBB85E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FED6B6-0F7C-0E81-09D1-055D1B7CED1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 R-CNN Architecture</a:t>
            </a:r>
          </a:p>
        </p:txBody>
      </p:sp>
      <p:pic>
        <p:nvPicPr>
          <p:cNvPr id="5" name="Picture 2" descr="2) Fast R-CNN - 한땀한땀 딥러닝 컴퓨터 비전 백과사전">
            <a:extLst>
              <a:ext uri="{FF2B5EF4-FFF2-40B4-BE49-F238E27FC236}">
                <a16:creationId xmlns:a16="http://schemas.microsoft.com/office/drawing/2014/main" id="{D4B4F654-9726-F4C3-0EFD-B465D903F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34" y="2535188"/>
            <a:ext cx="5828261" cy="359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ast R-CNN | ML - GeeksforGeeks">
            <a:extLst>
              <a:ext uri="{FF2B5EF4-FFF2-40B4-BE49-F238E27FC236}">
                <a16:creationId xmlns:a16="http://schemas.microsoft.com/office/drawing/2014/main" id="{17A09B65-EC5D-4E6C-B9E2-D99F54CC6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5" y="3147155"/>
            <a:ext cx="5828261" cy="237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876B-F23B-EE1B-B365-A3CAA55F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680D392-614A-43D7-BA76-AB1FFE045AF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AC96-6B69-4D1A-5507-BEF42020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620D-AF36-B04A-6260-06A57699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237"/>
            <a:ext cx="10515600" cy="1325563"/>
          </a:xfrm>
        </p:spPr>
        <p:txBody>
          <a:bodyPr/>
          <a:lstStyle/>
          <a:p>
            <a:r>
              <a:rPr lang="en-US" b="1" cap="none" dirty="0">
                <a:solidFill>
                  <a:srgbClr val="FF0000"/>
                </a:solidFill>
              </a:rPr>
              <a:t>Faster R-CNN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31237-DC08-2AC7-9F1D-9D430A36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8007B-0764-64A3-8E36-20B19E390D07}"/>
              </a:ext>
            </a:extLst>
          </p:cNvPr>
          <p:cNvSpPr/>
          <p:nvPr/>
        </p:nvSpPr>
        <p:spPr>
          <a:xfrm>
            <a:off x="150779" y="1348800"/>
            <a:ext cx="1204122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• Step 1: Feature Extraction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input image is passed through a pre-trained CNN backbone (the original Faster R-CNN used </a:t>
            </a:r>
            <a:r>
              <a:rPr lang="en-US" sz="2000" b="1" dirty="0"/>
              <a:t>VGG</a:t>
            </a:r>
            <a:r>
              <a:rPr lang="en-US" sz="2000" dirty="0"/>
              <a:t>).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network extracts a </a:t>
            </a:r>
            <a:r>
              <a:rPr lang="en-US" sz="2000" b="1" dirty="0"/>
              <a:t>convolutional feature map</a:t>
            </a:r>
            <a:r>
              <a:rPr lang="en-US" sz="2000" dirty="0"/>
              <a:t>, which is then used for subsequent processing.</a:t>
            </a:r>
          </a:p>
          <a:p>
            <a:r>
              <a:rPr lang="en-US" sz="2000" b="1" dirty="0"/>
              <a:t>• Step 2: Region Proposal Network (RPN)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RPN takes the feature map and proposes a set of </a:t>
            </a:r>
            <a:r>
              <a:rPr lang="en-US" sz="2000" b="1" dirty="0"/>
              <a:t>candidate regions</a:t>
            </a:r>
            <a:r>
              <a:rPr lang="en-US" sz="2000" dirty="0"/>
              <a:t> (bounding boxes) that may contain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It does this by generating multiple region proposals using </a:t>
            </a:r>
            <a:r>
              <a:rPr lang="en-US" sz="2000" b="1" dirty="0"/>
              <a:t>k anchor boxes</a:t>
            </a:r>
            <a:r>
              <a:rPr lang="en-US" sz="2000" dirty="0"/>
              <a:t> of predefined scales and aspect ratios.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 anchor boxes</a:t>
            </a:r>
            <a:r>
              <a:rPr lang="en-US" sz="2000" dirty="0"/>
              <a:t> = the number of predefined bounding box shapes (scales + ratios) that the network uses at each feature map location to generate region proposals.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Each anchor = one rectangle shape.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You choose different scales (small, medium, large)And different aspect ratios (e.g., 1:1, 2:1, 1:2)</a:t>
            </a:r>
            <a:br>
              <a:rPr lang="en-US" sz="2000" dirty="0"/>
            </a:br>
            <a:r>
              <a:rPr lang="en-US" sz="2000" dirty="0"/>
              <a:t>This module significantly speeds up both training and inference compared to earlier methods.</a:t>
            </a:r>
          </a:p>
          <a:p>
            <a:r>
              <a:rPr lang="en-US" sz="2000" b="1" dirty="0"/>
              <a:t>• Step 3: R-CNN Module</a:t>
            </a:r>
          </a:p>
          <a:p>
            <a:r>
              <a:rPr lang="en-US" sz="2000" dirty="0"/>
              <a:t>For each proposed region, the R-CNN head performs two tasks: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Classification</a:t>
            </a:r>
            <a:r>
              <a:rPr lang="en-US" sz="2000" dirty="0"/>
              <a:t> – Determine what object (if any) is inside the region, including the “background” category.</a:t>
            </a:r>
          </a:p>
          <a:p>
            <a:pPr lvl="1">
              <a:buFont typeface="+mj-lt"/>
              <a:buAutoNum type="arabicPeriod"/>
            </a:pPr>
            <a:r>
              <a:rPr lang="en-US" sz="2000" b="1" dirty="0"/>
              <a:t>Bounding Box Regression</a:t>
            </a:r>
            <a:r>
              <a:rPr lang="en-US" sz="2000" dirty="0"/>
              <a:t> – Refine the bounding box coordinates to better align with the detected object.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8E644A23-E7EC-4719-851A-AD915F10C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8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1A521-62EC-4736-A1B8-279B654A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illustration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nchor Boxes at a certain position in the feature map. | Download  Scientific Diagram">
            <a:extLst>
              <a:ext uri="{FF2B5EF4-FFF2-40B4-BE49-F238E27FC236}">
                <a16:creationId xmlns:a16="http://schemas.microsoft.com/office/drawing/2014/main" id="{D6D09A71-753F-4542-AA7A-9E08DDB9B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0197" y="1132503"/>
            <a:ext cx="7214616" cy="53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Faster R-CNN | ML - GeeksforGeeks">
            <a:extLst>
              <a:ext uri="{FF2B5EF4-FFF2-40B4-BE49-F238E27FC236}">
                <a16:creationId xmlns:a16="http://schemas.microsoft.com/office/drawing/2014/main" id="{E19E3FE4-9192-40FE-AC75-E3286F4829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9501" y="36462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040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258C-12E2-137D-3787-58267594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E038A-633D-6628-E3C6-3DE79A44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 descr="Faster R-CNN: Down the rabbit hole of modern object detection | Tryolabs">
            <a:extLst>
              <a:ext uri="{FF2B5EF4-FFF2-40B4-BE49-F238E27FC236}">
                <a16:creationId xmlns:a16="http://schemas.microsoft.com/office/drawing/2014/main" id="{27CA3BCF-FA17-E650-6551-7395D65E9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6" y="1120676"/>
            <a:ext cx="10028582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B6B00D3-9851-99F1-66F3-744BEE13412C}"/>
              </a:ext>
            </a:extLst>
          </p:cNvPr>
          <p:cNvSpPr txBox="1">
            <a:spLocks/>
          </p:cNvSpPr>
          <p:nvPr/>
        </p:nvSpPr>
        <p:spPr>
          <a:xfrm>
            <a:off x="0" y="232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Faster R-CNN Architecture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EEA34-1D85-4C78-A239-86BB246DA277}"/>
              </a:ext>
            </a:extLst>
          </p:cNvPr>
          <p:cNvSpPr txBox="1"/>
          <p:nvPr/>
        </p:nvSpPr>
        <p:spPr>
          <a:xfrm>
            <a:off x="614363" y="4067076"/>
            <a:ext cx="107394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starts with an input image that is passed through a </a:t>
            </a:r>
            <a:r>
              <a:rPr lang="en-US" b="1" dirty="0"/>
              <a:t>convolutional backbone</a:t>
            </a:r>
            <a:r>
              <a:rPr lang="en-US" dirty="0"/>
              <a:t> to extract deep feature maps.</a:t>
            </a:r>
            <a:br>
              <a:rPr lang="en-US" dirty="0"/>
            </a:br>
            <a:r>
              <a:rPr lang="en-US" dirty="0"/>
              <a:t>These feature maps are sent to an </a:t>
            </a:r>
            <a:r>
              <a:rPr lang="en-US" b="1" dirty="0"/>
              <a:t>RPN (Region Proposal Network)</a:t>
            </a:r>
            <a:r>
              <a:rPr lang="en-US" dirty="0"/>
              <a:t>, which generates candidate object regions (shown as red boxes).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Then, the </a:t>
            </a:r>
            <a:r>
              <a:rPr lang="en-US" b="1" dirty="0" err="1"/>
              <a:t>RoI</a:t>
            </a:r>
            <a:r>
              <a:rPr lang="en-US" b="1" dirty="0"/>
              <a:t> Pooling (</a:t>
            </a:r>
            <a:r>
              <a:rPr lang="en-US" b="1" dirty="0" err="1"/>
              <a:t>RoIP</a:t>
            </a:r>
            <a:r>
              <a:rPr lang="en-US" b="1" dirty="0"/>
              <a:t>)</a:t>
            </a:r>
            <a:r>
              <a:rPr lang="en-US" dirty="0"/>
              <a:t> layer extracts </a:t>
            </a:r>
            <a:r>
              <a:rPr lang="en-US" b="1" dirty="0"/>
              <a:t>fixed-size feature </a:t>
            </a:r>
            <a:r>
              <a:rPr lang="en-US" dirty="0"/>
              <a:t>vectors from each proposed region.</a:t>
            </a:r>
            <a:br>
              <a:rPr lang="en-US" dirty="0"/>
            </a:br>
            <a:r>
              <a:rPr lang="en-US" dirty="0"/>
              <a:t>Finally, these region features are passed to the </a:t>
            </a:r>
            <a:r>
              <a:rPr lang="en-US" b="1" dirty="0"/>
              <a:t>R-CNN classifier</a:t>
            </a:r>
            <a:r>
              <a:rPr lang="en-US" dirty="0"/>
              <a:t>, which identifies the object in each region and refines the bounding box.</a:t>
            </a:r>
          </a:p>
        </p:txBody>
      </p:sp>
    </p:spTree>
    <p:extLst>
      <p:ext uri="{BB962C8B-B14F-4D97-AF65-F5344CB8AC3E}">
        <p14:creationId xmlns:p14="http://schemas.microsoft.com/office/powerpoint/2010/main" val="404094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2BEC29-D5F3-4E1C-A5D1-A0D2CEC43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74" y="767292"/>
            <a:ext cx="627742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2957F-4476-458C-9CC5-8171B9A225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99"/>
          <a:stretch/>
        </p:blipFill>
        <p:spPr>
          <a:xfrm>
            <a:off x="6022329" y="717840"/>
            <a:ext cx="6169671" cy="54966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063FA-AB74-4CA0-85CD-93F61A283690}"/>
              </a:ext>
            </a:extLst>
          </p:cNvPr>
          <p:cNvSpPr txBox="1"/>
          <p:nvPr/>
        </p:nvSpPr>
        <p:spPr>
          <a:xfrm>
            <a:off x="1353324" y="274045"/>
            <a:ext cx="8712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Steps of Mask RCNN</a:t>
            </a:r>
          </a:p>
        </p:txBody>
      </p:sp>
    </p:spTree>
    <p:extLst>
      <p:ext uri="{BB962C8B-B14F-4D97-AF65-F5344CB8AC3E}">
        <p14:creationId xmlns:p14="http://schemas.microsoft.com/office/powerpoint/2010/main" val="83280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0B8A-03C7-6BFA-1818-EC043851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73F8-1F3F-58EA-E14A-D73D9481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FE6AE-FC4F-6CC0-EDDC-D0A00E27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59" y="1800721"/>
            <a:ext cx="10396882" cy="39145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9388D2-C255-268D-79AB-9BC25F2496EE}"/>
              </a:ext>
            </a:extLst>
          </p:cNvPr>
          <p:cNvSpPr txBox="1">
            <a:spLocks/>
          </p:cNvSpPr>
          <p:nvPr/>
        </p:nvSpPr>
        <p:spPr>
          <a:xfrm>
            <a:off x="0" y="232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Mask R-CNN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7126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Detectron2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7004" y="1837765"/>
            <a:ext cx="1196502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was built by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Facebook AI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Research (FAIR) to support rapid implementation and evaluation of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novel computer vision research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is now implemented in </a:t>
            </a:r>
            <a:r>
              <a:rPr lang="en-US" sz="2600" b="1" dirty="0" err="1">
                <a:solidFill>
                  <a:srgbClr val="FF0000"/>
                </a:solidFill>
                <a:latin typeface="Arial-BoldMT"/>
              </a:rPr>
              <a:t>PyTorch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is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flexible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and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extensible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, and able to provide fast training on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single or multiple GPU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servers.</a:t>
            </a:r>
          </a:p>
          <a:p>
            <a:endParaRPr lang="en-US" sz="2600" dirty="0">
              <a:solidFill>
                <a:srgbClr val="000000"/>
              </a:solidFill>
              <a:latin typeface="ArialMT"/>
            </a:endParaRPr>
          </a:p>
          <a:p>
            <a:r>
              <a:rPr lang="en-US" sz="2600" dirty="0">
                <a:solidFill>
                  <a:srgbClr val="000000"/>
                </a:solidFill>
                <a:latin typeface="ArialMT"/>
              </a:rPr>
              <a:t>• Detectron2 </a:t>
            </a:r>
            <a:r>
              <a:rPr lang="en-US" sz="2600" b="1" dirty="0">
                <a:solidFill>
                  <a:srgbClr val="FF0000"/>
                </a:solidFill>
                <a:latin typeface="Arial-BoldMT"/>
              </a:rPr>
              <a:t>can be used as a library </a:t>
            </a:r>
            <a:r>
              <a:rPr lang="en-US" sz="2600" dirty="0">
                <a:solidFill>
                  <a:srgbClr val="000000"/>
                </a:solidFill>
                <a:latin typeface="ArialMT"/>
              </a:rPr>
              <a:t>to support different projects on top of it.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52449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65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Detectron2  Model Zoo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5939664" cy="38977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19726"/>
            <a:ext cx="6147848" cy="34930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1" y="5841825"/>
            <a:ext cx="10947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-BoldMT"/>
              </a:rPr>
              <a:t>Detectron2 Model Zoo : </a:t>
            </a:r>
            <a:r>
              <a:rPr lang="en-US" i="1" dirty="0">
                <a:solidFill>
                  <a:srgbClr val="1F2DA9"/>
                </a:solidFill>
                <a:latin typeface="Arial-ItalicMT"/>
                <a:hlinkClick r:id="rId4"/>
              </a:rPr>
              <a:t>https://github.com/facebookresearch/detectron2/blob/master/MODEL_ZOO.md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90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Detectron2 -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591"/>
            <a:ext cx="11768484" cy="506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0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Detectron2 On A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3846" y="1584308"/>
            <a:ext cx="7675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10000"/>
                </a:solidFill>
                <a:latin typeface="Arial-BoldMT"/>
              </a:rPr>
              <a:t>Convert your data-set to COCO-format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685800" y="2422540"/>
            <a:ext cx="114056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The COCO dataset is formatted in </a:t>
            </a:r>
            <a:r>
              <a:rPr lang="en-US" sz="2800" b="1" dirty="0">
                <a:solidFill>
                  <a:srgbClr val="FF0000"/>
                </a:solidFill>
                <a:latin typeface="Arial-BoldMT"/>
              </a:rPr>
              <a:t>JSON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and has five annotation types: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object detection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 err="1">
                <a:solidFill>
                  <a:srgbClr val="1F2DA9"/>
                </a:solidFill>
                <a:latin typeface="ArialMT"/>
              </a:rPr>
              <a:t>keypoint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 detection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stuff segmentation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panoptic segmentation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, and </a:t>
            </a:r>
            <a:r>
              <a:rPr lang="en-US" sz="2800" dirty="0">
                <a:solidFill>
                  <a:srgbClr val="1F2DA9"/>
                </a:solidFill>
                <a:latin typeface="ArialMT"/>
              </a:rPr>
              <a:t>image captioning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. It is a collection of 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“info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licenses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images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annotations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”,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categories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 (in most cases), and “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segment info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” (in one case).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3749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" y="0"/>
            <a:ext cx="12100945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07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Detectron2 On A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46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3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Detectron2 On A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6187" y="1532557"/>
            <a:ext cx="120558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MT"/>
              </a:rPr>
              <a:t>• Detectron2 keeps track of a list of available datasets in a registry, so we must register our custom data with Detectron2 so it can be invoked for training.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136187" y="2636496"/>
            <a:ext cx="1205581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B8413"/>
                </a:solidFill>
                <a:latin typeface="ArialMT"/>
              </a:rPr>
              <a:t># Register Custom Detectron2 Data</a:t>
            </a:r>
          </a:p>
          <a:p>
            <a:r>
              <a:rPr lang="en-US" sz="2000" dirty="0">
                <a:solidFill>
                  <a:srgbClr val="000000"/>
                </a:solidFill>
                <a:latin typeface="ArialMT"/>
              </a:rPr>
              <a:t>from detectron2.data.datasets import </a:t>
            </a:r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my_dataset_train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/train/_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/train"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my_dataset_val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/valid/_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/valid"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my_dataset_test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/test/_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/test"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8065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CE5E-C35C-5A9F-71EC-5F683325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7316-C983-9AC6-6DCB-542BE9B7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Detectron2 On A Custom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F08F6-1A35-3F9B-6303-B45A5CEB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3D8A4F-166A-548F-26E1-C3B994AD6E8C}"/>
              </a:ext>
            </a:extLst>
          </p:cNvPr>
          <p:cNvSpPr/>
          <p:nvPr/>
        </p:nvSpPr>
        <p:spPr>
          <a:xfrm>
            <a:off x="136187" y="1532557"/>
            <a:ext cx="120558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MT"/>
              </a:rPr>
              <a:t>• Detectron2 keeps track of a list of available datasets in a registry, so we must register our custom data with Detectron2 so it can be invoked for training.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94033-6756-ED1A-CBA2-87AF49C45C09}"/>
              </a:ext>
            </a:extLst>
          </p:cNvPr>
          <p:cNvSpPr/>
          <p:nvPr/>
        </p:nvSpPr>
        <p:spPr>
          <a:xfrm>
            <a:off x="136187" y="2636496"/>
            <a:ext cx="1205581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B8413"/>
                </a:solidFill>
                <a:latin typeface="ArialMT"/>
              </a:rPr>
              <a:t># Register Custom Detectron2 Data</a:t>
            </a:r>
          </a:p>
          <a:p>
            <a:r>
              <a:rPr lang="en-US" sz="2000" dirty="0">
                <a:solidFill>
                  <a:srgbClr val="000000"/>
                </a:solidFill>
                <a:latin typeface="ArialMT"/>
              </a:rPr>
              <a:t>from detectron2.data.datasets import </a:t>
            </a:r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my_dataset_train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/train/_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/train"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my_dataset_val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/valid/_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/valid"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ArialMT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MT"/>
              </a:rPr>
              <a:t>register_coco_instances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my_dataset_test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 {}, 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/test/_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annotations.coco.json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,</a:t>
            </a:r>
          </a:p>
          <a:p>
            <a:r>
              <a:rPr lang="en-US" sz="2000" dirty="0">
                <a:solidFill>
                  <a:srgbClr val="FF0000"/>
                </a:solidFill>
                <a:latin typeface="ArialMT"/>
              </a:rPr>
              <a:t>"/content/</a:t>
            </a:r>
            <a:r>
              <a:rPr lang="en-US" sz="2000" dirty="0" err="1">
                <a:solidFill>
                  <a:srgbClr val="FF0000"/>
                </a:solidFill>
                <a:latin typeface="ArialMT"/>
              </a:rPr>
              <a:t>my_dataset</a:t>
            </a:r>
            <a:r>
              <a:rPr lang="en-US" sz="2000" dirty="0">
                <a:solidFill>
                  <a:srgbClr val="FF0000"/>
                </a:solidFill>
                <a:latin typeface="ArialMT"/>
              </a:rPr>
              <a:t>/test"</a:t>
            </a:r>
            <a:r>
              <a:rPr lang="en-US" sz="2000" dirty="0">
                <a:solidFill>
                  <a:srgbClr val="000000"/>
                </a:solidFill>
                <a:latin typeface="ArialMT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82243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48236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1030</Words>
  <Application>Microsoft Office PowerPoint</Application>
  <PresentationFormat>Widescreen</PresentationFormat>
  <Paragraphs>93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Arial-BoldMT</vt:lpstr>
      <vt:lpstr>Arial-ItalicMT</vt:lpstr>
      <vt:lpstr>ArialMT</vt:lpstr>
      <vt:lpstr>Calibri</vt:lpstr>
      <vt:lpstr>Calibri Light</vt:lpstr>
      <vt:lpstr>Times New Roman</vt:lpstr>
      <vt:lpstr>Office Theme</vt:lpstr>
      <vt:lpstr>Computer Vision (CV)</vt:lpstr>
      <vt:lpstr>R-CNN for object detection</vt:lpstr>
      <vt:lpstr>PowerPoint Presentation</vt:lpstr>
      <vt:lpstr>Fast R-CNN</vt:lpstr>
      <vt:lpstr>PowerPoint Presentation</vt:lpstr>
      <vt:lpstr>Faster R-CNN</vt:lpstr>
      <vt:lpstr>illustration</vt:lpstr>
      <vt:lpstr>PowerPoint Presentation</vt:lpstr>
      <vt:lpstr>PowerPoint Presentation</vt:lpstr>
      <vt:lpstr>PowerPoint Presentation</vt:lpstr>
      <vt:lpstr>Detectron2</vt:lpstr>
      <vt:lpstr>Detectron2  Model Zoo</vt:lpstr>
      <vt:lpstr>Detectron2 - Inference</vt:lpstr>
      <vt:lpstr>Train Detectron2 On A Custom Dataset</vt:lpstr>
      <vt:lpstr>PowerPoint Presentation</vt:lpstr>
      <vt:lpstr>Train Detectron2 On A Custom Dataset</vt:lpstr>
      <vt:lpstr>Train Detectron2 On A Custom Dataset</vt:lpstr>
      <vt:lpstr>Train Detectron2 On A Custom Dataset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 Yousry</cp:lastModifiedBy>
  <cp:revision>75</cp:revision>
  <dcterms:created xsi:type="dcterms:W3CDTF">2024-02-18T11:35:13Z</dcterms:created>
  <dcterms:modified xsi:type="dcterms:W3CDTF">2026-03-05T11:32:08Z</dcterms:modified>
</cp:coreProperties>
</file>