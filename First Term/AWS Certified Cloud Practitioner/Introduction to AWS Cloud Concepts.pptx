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7" r:id="rId2"/>
    <p:sldId id="256" r:id="rId3"/>
    <p:sldId id="259" r:id="rId4"/>
    <p:sldId id="260" r:id="rId5"/>
    <p:sldId id="278" r:id="rId6"/>
    <p:sldId id="279" r:id="rId7"/>
    <p:sldId id="261" r:id="rId8"/>
    <p:sldId id="262" r:id="rId9"/>
    <p:sldId id="263" r:id="rId10"/>
    <p:sldId id="264" r:id="rId11"/>
    <p:sldId id="266" r:id="rId12"/>
    <p:sldId id="265" r:id="rId13"/>
    <p:sldId id="267" r:id="rId14"/>
    <p:sldId id="268" r:id="rId15"/>
    <p:sldId id="270" r:id="rId16"/>
    <p:sldId id="269" r:id="rId17"/>
    <p:sldId id="280" r:id="rId18"/>
    <p:sldId id="281" r:id="rId19"/>
    <p:sldId id="282" r:id="rId20"/>
    <p:sldId id="284" r:id="rId21"/>
    <p:sldId id="283" r:id="rId22"/>
    <p:sldId id="271" r:id="rId23"/>
    <p:sldId id="276" r:id="rId24"/>
    <p:sldId id="285" r:id="rId25"/>
    <p:sldId id="286" r:id="rId26"/>
    <p:sldId id="287" r:id="rId27"/>
    <p:sldId id="288" r:id="rId28"/>
    <p:sldId id="289" r:id="rId29"/>
    <p:sldId id="290" r:id="rId30"/>
    <p:sldId id="292" r:id="rId31"/>
    <p:sldId id="291" r:id="rId32"/>
    <p:sldId id="293" r:id="rId33"/>
    <p:sldId id="294" r:id="rId34"/>
    <p:sldId id="295" r:id="rId35"/>
    <p:sldId id="296" r:id="rId36"/>
    <p:sldId id="297" r:id="rId37"/>
    <p:sldId id="298" r:id="rId38"/>
    <p:sldId id="300" r:id="rId39"/>
    <p:sldId id="299" r:id="rId40"/>
    <p:sldId id="301" r:id="rId41"/>
    <p:sldId id="277"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44" autoAdjust="0"/>
    <p:restoredTop sz="94660"/>
  </p:normalViewPr>
  <p:slideViewPr>
    <p:cSldViewPr snapToGrid="0">
      <p:cViewPr varScale="1">
        <p:scale>
          <a:sx n="78" d="100"/>
          <a:sy n="78" d="100"/>
        </p:scale>
        <p:origin x="45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3738888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355289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4151146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EE5D66-6460-41E1-89C4-891D21483518}" type="datetimeFigureOut">
              <a:rPr lang="en-GB" smtClean="0"/>
              <a:t>31/10/2025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3676799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EE5D66-6460-41E1-89C4-891D21483518}" type="datetimeFigureOut">
              <a:rPr lang="en-GB" smtClean="0"/>
              <a:t>31/10/2025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3330882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EE5D66-6460-41E1-89C4-891D21483518}" type="datetimeFigureOut">
              <a:rPr lang="en-GB" smtClean="0"/>
              <a:t>31/10/2025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2683753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EE5D66-6460-41E1-89C4-891D21483518}" type="datetimeFigureOut">
              <a:rPr lang="en-GB" smtClean="0"/>
              <a:t>31/10/2025</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2806374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EE5D66-6460-41E1-89C4-891D21483518}" type="datetimeFigureOut">
              <a:rPr lang="en-GB" smtClean="0"/>
              <a:t>31/10/2025</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2756993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EE5D66-6460-41E1-89C4-891D21483518}" type="datetimeFigureOut">
              <a:rPr lang="en-GB" smtClean="0"/>
              <a:t>31/10/2025</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25378410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EE5D66-6460-41E1-89C4-891D21483518}" type="datetimeFigureOut">
              <a:rPr lang="en-GB" smtClean="0"/>
              <a:t>31/10/2025</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1477254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41163441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25365950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1117892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8EE5D66-6460-41E1-89C4-891D21483518}" type="datetimeFigureOut">
              <a:rPr lang="en-GB" smtClean="0"/>
              <a:t>31/10/2025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22642643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8EE5D66-6460-41E1-89C4-891D21483518}" type="datetimeFigureOut">
              <a:rPr lang="en-GB" smtClean="0"/>
              <a:t>31/10/2025</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650490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338888958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B8EE5D66-6460-41E1-89C4-891D21483518}" type="datetimeFigureOut">
              <a:rPr lang="en-GB" smtClean="0"/>
              <a:t>31/10/2025</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C324F2D-84E0-4889-BDF4-50F8D9EAB8F5}" type="slidenum">
              <a:rPr lang="en-GB" smtClean="0"/>
              <a:t>‹#›</a:t>
            </a:fld>
            <a:endParaRPr lang="en-GB"/>
          </a:p>
        </p:txBody>
      </p:sp>
    </p:spTree>
    <p:extLst>
      <p:ext uri="{BB962C8B-B14F-4D97-AF65-F5344CB8AC3E}">
        <p14:creationId xmlns:p14="http://schemas.microsoft.com/office/powerpoint/2010/main" val="31393320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8EE5D66-6460-41E1-89C4-891D21483518}" type="datetimeFigureOut">
              <a:rPr lang="en-GB" smtClean="0"/>
              <a:t>31/10/2025</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C324F2D-84E0-4889-BDF4-50F8D9EAB8F5}" type="slidenum">
              <a:rPr lang="en-GB" smtClean="0"/>
              <a:t>‹#›</a:t>
            </a:fld>
            <a:endParaRPr lang="en-GB"/>
          </a:p>
        </p:txBody>
      </p:sp>
    </p:spTree>
    <p:extLst>
      <p:ext uri="{BB962C8B-B14F-4D97-AF65-F5344CB8AC3E}">
        <p14:creationId xmlns:p14="http://schemas.microsoft.com/office/powerpoint/2010/main" val="280167365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 id="2147483744" r:id="rId12"/>
    <p:sldLayoutId id="2147483745" r:id="rId13"/>
    <p:sldLayoutId id="2147483746" r:id="rId14"/>
    <p:sldLayoutId id="2147483747" r:id="rId15"/>
    <p:sldLayoutId id="2147483748" r:id="rId16"/>
    <p:sldLayoutId id="2147483749"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315D3B-5D3E-420C-8CA7-24605330AEBE}"/>
              </a:ext>
            </a:extLst>
          </p:cNvPr>
          <p:cNvSpPr>
            <a:spLocks noGrp="1"/>
          </p:cNvSpPr>
          <p:nvPr>
            <p:ph type="title"/>
          </p:nvPr>
        </p:nvSpPr>
        <p:spPr>
          <a:xfrm>
            <a:off x="1154954" y="973667"/>
            <a:ext cx="8761413" cy="1386473"/>
          </a:xfrm>
        </p:spPr>
        <p:txBody>
          <a:bodyPr>
            <a:normAutofit/>
          </a:bodyPr>
          <a:lstStyle/>
          <a:p>
            <a:pPr algn="ctr"/>
            <a:r>
              <a:rPr lang="en-GB" b="0" i="0" dirty="0">
                <a:solidFill>
                  <a:schemeClr val="bg1"/>
                </a:solidFill>
                <a:effectLst/>
                <a:latin typeface="Segoe UI" panose="020B0502040204020203" pitchFamily="34" charset="0"/>
              </a:rPr>
              <a:t>AWS Cloud Intro</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F0D3F3D3-F353-4B3B-849B-D1AF30827CE7}"/>
              </a:ext>
            </a:extLst>
          </p:cNvPr>
          <p:cNvSpPr txBox="1"/>
          <p:nvPr/>
        </p:nvSpPr>
        <p:spPr>
          <a:xfrm>
            <a:off x="741405" y="2782669"/>
            <a:ext cx="4077729" cy="800219"/>
          </a:xfrm>
          <a:prstGeom prst="rect">
            <a:avLst/>
          </a:prstGeom>
          <a:noFill/>
        </p:spPr>
        <p:txBody>
          <a:bodyPr wrap="square" rtlCol="0">
            <a:spAutoFit/>
          </a:bodyPr>
          <a:lstStyle/>
          <a:p>
            <a:r>
              <a:rPr lang="en-GB" sz="2800" i="0" dirty="0">
                <a:solidFill>
                  <a:srgbClr val="000000"/>
                </a:solidFill>
                <a:effectLst/>
                <a:latin typeface="Segoe UI" panose="020B0502040204020203" pitchFamily="34" charset="0"/>
              </a:rPr>
              <a:t>What is AWS Cloud?</a:t>
            </a:r>
          </a:p>
          <a:p>
            <a:endParaRPr lang="en-GB" dirty="0"/>
          </a:p>
        </p:txBody>
      </p:sp>
      <p:sp>
        <p:nvSpPr>
          <p:cNvPr id="4" name="TextBox 3">
            <a:extLst>
              <a:ext uri="{FF2B5EF4-FFF2-40B4-BE49-F238E27FC236}">
                <a16:creationId xmlns:a16="http://schemas.microsoft.com/office/drawing/2014/main" id="{B53FE89A-C7BB-4FC7-A642-353155B8AD22}"/>
              </a:ext>
            </a:extLst>
          </p:cNvPr>
          <p:cNvSpPr txBox="1"/>
          <p:nvPr/>
        </p:nvSpPr>
        <p:spPr>
          <a:xfrm>
            <a:off x="741405" y="3582888"/>
            <a:ext cx="8056606" cy="1600438"/>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AWS (Amazon Web Services) is a cloud computing platform.</a:t>
            </a:r>
          </a:p>
          <a:p>
            <a:pPr algn="l"/>
            <a:r>
              <a:rPr lang="en-GB" sz="2000" b="0" i="0" dirty="0">
                <a:solidFill>
                  <a:srgbClr val="000000"/>
                </a:solidFill>
                <a:effectLst/>
                <a:latin typeface="Segoe UI" panose="020B0502040204020203" pitchFamily="34" charset="0"/>
              </a:rPr>
              <a:t>The first product (S3) was released in 2006.</a:t>
            </a:r>
          </a:p>
          <a:p>
            <a:pPr algn="l"/>
            <a:r>
              <a:rPr lang="en-GB" sz="2000" b="0" i="0" dirty="0">
                <a:solidFill>
                  <a:srgbClr val="000000"/>
                </a:solidFill>
                <a:effectLst/>
                <a:latin typeface="Segoe UI" panose="020B0502040204020203" pitchFamily="34" charset="0"/>
              </a:rPr>
              <a:t>AWS has grown a lot since then in both size and product range.</a:t>
            </a:r>
          </a:p>
          <a:p>
            <a:pPr algn="l"/>
            <a:r>
              <a:rPr lang="en-GB" sz="2000" b="0" i="0" dirty="0">
                <a:solidFill>
                  <a:srgbClr val="000000"/>
                </a:solidFill>
                <a:effectLst/>
                <a:latin typeface="Segoe UI" panose="020B0502040204020203" pitchFamily="34" charset="0"/>
              </a:rPr>
              <a:t>It is, to date, the largest cloud provider in the world.</a:t>
            </a:r>
          </a:p>
          <a:p>
            <a:endParaRPr lang="en-GB" dirty="0"/>
          </a:p>
        </p:txBody>
      </p:sp>
    </p:spTree>
    <p:extLst>
      <p:ext uri="{BB962C8B-B14F-4D97-AF65-F5344CB8AC3E}">
        <p14:creationId xmlns:p14="http://schemas.microsoft.com/office/powerpoint/2010/main" val="1584773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A0847D-84D7-45E1-8469-BB6B36570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240" y="1816444"/>
            <a:ext cx="9838368" cy="4250724"/>
          </a:xfrm>
          <a:prstGeom prst="rect">
            <a:avLst/>
          </a:prstGeom>
        </p:spPr>
      </p:pic>
      <p:sp>
        <p:nvSpPr>
          <p:cNvPr id="4" name="TextBox 3">
            <a:extLst>
              <a:ext uri="{FF2B5EF4-FFF2-40B4-BE49-F238E27FC236}">
                <a16:creationId xmlns:a16="http://schemas.microsoft.com/office/drawing/2014/main" id="{D749AC18-A516-41CE-BE41-CA17A8AF8CBC}"/>
              </a:ext>
            </a:extLst>
          </p:cNvPr>
          <p:cNvSpPr txBox="1"/>
          <p:nvPr/>
        </p:nvSpPr>
        <p:spPr>
          <a:xfrm>
            <a:off x="2026507" y="580768"/>
            <a:ext cx="7105135" cy="800219"/>
          </a:xfrm>
          <a:prstGeom prst="rect">
            <a:avLst/>
          </a:prstGeom>
          <a:noFill/>
        </p:spPr>
        <p:txBody>
          <a:bodyPr wrap="square" rtlCol="0">
            <a:spAutoFit/>
          </a:bodyPr>
          <a:lstStyle/>
          <a:p>
            <a:pPr algn="ctr"/>
            <a:r>
              <a:rPr lang="en-GB" sz="2800" b="0" i="0" dirty="0">
                <a:solidFill>
                  <a:srgbClr val="000000"/>
                </a:solidFill>
                <a:effectLst/>
                <a:latin typeface="Segoe UI" panose="020B0502040204020203" pitchFamily="34" charset="0"/>
              </a:rPr>
              <a:t>AWS Certified Cloud Practitioner</a:t>
            </a:r>
          </a:p>
          <a:p>
            <a:pPr algn="ctr"/>
            <a:endParaRPr lang="en-GB" dirty="0"/>
          </a:p>
        </p:txBody>
      </p:sp>
    </p:spTree>
    <p:extLst>
      <p:ext uri="{BB962C8B-B14F-4D97-AF65-F5344CB8AC3E}">
        <p14:creationId xmlns:p14="http://schemas.microsoft.com/office/powerpoint/2010/main" val="3320901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32C4A-0040-4278-91B6-B7386A24FC19}"/>
              </a:ext>
            </a:extLst>
          </p:cNvPr>
          <p:cNvSpPr txBox="1">
            <a:spLocks/>
          </p:cNvSpPr>
          <p:nvPr/>
        </p:nvSpPr>
        <p:spPr>
          <a:xfrm>
            <a:off x="425905" y="281690"/>
            <a:ext cx="8761413" cy="706964"/>
          </a:xfrm>
          <a:prstGeom prst="rect">
            <a:avLst/>
          </a:prstGeom>
        </p:spPr>
        <p:txBody>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solidFill>
                  <a:schemeClr val="tx1"/>
                </a:solidFill>
                <a:latin typeface="Segoe UI" panose="020B0502040204020203" pitchFamily="34" charset="0"/>
              </a:rPr>
              <a:t>Free AWS Account</a:t>
            </a:r>
            <a:br>
              <a:rPr lang="en-GB" dirty="0">
                <a:solidFill>
                  <a:srgbClr val="000000"/>
                </a:solidFill>
                <a:latin typeface="Segoe UI" panose="020B0502040204020203" pitchFamily="34" charset="0"/>
              </a:rPr>
            </a:br>
            <a:endParaRPr lang="en-GB" dirty="0"/>
          </a:p>
        </p:txBody>
      </p:sp>
      <p:pic>
        <p:nvPicPr>
          <p:cNvPr id="3" name="Picture 2">
            <a:extLst>
              <a:ext uri="{FF2B5EF4-FFF2-40B4-BE49-F238E27FC236}">
                <a16:creationId xmlns:a16="http://schemas.microsoft.com/office/drawing/2014/main" id="{14AF978A-68E3-4AD7-9BCA-1F0F2232D345}"/>
              </a:ext>
            </a:extLst>
          </p:cNvPr>
          <p:cNvPicPr>
            <a:picLocks noChangeAspect="1"/>
          </p:cNvPicPr>
          <p:nvPr/>
        </p:nvPicPr>
        <p:blipFill>
          <a:blip r:embed="rId2"/>
          <a:stretch>
            <a:fillRect/>
          </a:stretch>
        </p:blipFill>
        <p:spPr>
          <a:xfrm>
            <a:off x="425905" y="1205009"/>
            <a:ext cx="5688061" cy="493819"/>
          </a:xfrm>
          <a:prstGeom prst="rect">
            <a:avLst/>
          </a:prstGeom>
        </p:spPr>
      </p:pic>
      <p:pic>
        <p:nvPicPr>
          <p:cNvPr id="4" name="Picture 3">
            <a:extLst>
              <a:ext uri="{FF2B5EF4-FFF2-40B4-BE49-F238E27FC236}">
                <a16:creationId xmlns:a16="http://schemas.microsoft.com/office/drawing/2014/main" id="{C291A596-F31A-49EC-96E4-E89E2B0B5453}"/>
              </a:ext>
            </a:extLst>
          </p:cNvPr>
          <p:cNvPicPr>
            <a:picLocks noChangeAspect="1"/>
          </p:cNvPicPr>
          <p:nvPr/>
        </p:nvPicPr>
        <p:blipFill>
          <a:blip r:embed="rId3"/>
          <a:stretch>
            <a:fillRect/>
          </a:stretch>
        </p:blipFill>
        <p:spPr>
          <a:xfrm>
            <a:off x="2051221" y="2002598"/>
            <a:ext cx="8204887" cy="4261473"/>
          </a:xfrm>
          <a:prstGeom prst="rect">
            <a:avLst/>
          </a:prstGeom>
        </p:spPr>
      </p:pic>
    </p:spTree>
    <p:extLst>
      <p:ext uri="{BB962C8B-B14F-4D97-AF65-F5344CB8AC3E}">
        <p14:creationId xmlns:p14="http://schemas.microsoft.com/office/powerpoint/2010/main" val="4144203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53830-A29E-4764-9385-B87D2F7B94EC}"/>
              </a:ext>
            </a:extLst>
          </p:cNvPr>
          <p:cNvSpPr>
            <a:spLocks noGrp="1"/>
          </p:cNvSpPr>
          <p:nvPr>
            <p:ph type="title"/>
          </p:nvPr>
        </p:nvSpPr>
        <p:spPr>
          <a:xfrm>
            <a:off x="1216737" y="1208447"/>
            <a:ext cx="8761413" cy="706964"/>
          </a:xfrm>
        </p:spPr>
        <p:txBody>
          <a:bodyPr/>
          <a:lstStyle/>
          <a:p>
            <a:pPr algn="ctr"/>
            <a:r>
              <a:rPr lang="en-GB" b="0" i="0" dirty="0">
                <a:solidFill>
                  <a:schemeClr val="bg1"/>
                </a:solidFill>
                <a:effectLst/>
                <a:latin typeface="Segoe UI" panose="020B0502040204020203" pitchFamily="34" charset="0"/>
              </a:rPr>
              <a:t>AWS Cloud Computing</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68EEB208-FF4E-4697-AE2A-1ED6C757273B}"/>
              </a:ext>
            </a:extLst>
          </p:cNvPr>
          <p:cNvSpPr txBox="1"/>
          <p:nvPr/>
        </p:nvSpPr>
        <p:spPr>
          <a:xfrm>
            <a:off x="753761" y="2508422"/>
            <a:ext cx="4621427" cy="738664"/>
          </a:xfrm>
          <a:prstGeom prst="rect">
            <a:avLst/>
          </a:prstGeom>
          <a:noFill/>
        </p:spPr>
        <p:txBody>
          <a:bodyPr wrap="square" rtlCol="0">
            <a:spAutoFit/>
          </a:bodyPr>
          <a:lstStyle/>
          <a:p>
            <a:r>
              <a:rPr lang="en-GB" sz="2400" i="0" dirty="0">
                <a:solidFill>
                  <a:srgbClr val="000000"/>
                </a:solidFill>
                <a:effectLst/>
                <a:latin typeface="Segoe UI" panose="020B0502040204020203" pitchFamily="34" charset="0"/>
              </a:rPr>
              <a:t>The Client-Server Model</a:t>
            </a:r>
          </a:p>
          <a:p>
            <a:endParaRPr lang="en-GB" b="1" dirty="0"/>
          </a:p>
        </p:txBody>
      </p:sp>
      <p:sp>
        <p:nvSpPr>
          <p:cNvPr id="4" name="TextBox 3">
            <a:extLst>
              <a:ext uri="{FF2B5EF4-FFF2-40B4-BE49-F238E27FC236}">
                <a16:creationId xmlns:a16="http://schemas.microsoft.com/office/drawing/2014/main" id="{8DD2D72A-27B5-46B3-BE3A-545DCE9D45E9}"/>
              </a:ext>
            </a:extLst>
          </p:cNvPr>
          <p:cNvSpPr txBox="1"/>
          <p:nvPr/>
        </p:nvSpPr>
        <p:spPr>
          <a:xfrm>
            <a:off x="926757" y="3027405"/>
            <a:ext cx="8241957" cy="1292662"/>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The Client-Server model is about a client that interacts and makes requests to a computer server.</a:t>
            </a:r>
          </a:p>
          <a:p>
            <a:pPr algn="l"/>
            <a:r>
              <a:rPr lang="en-GB" sz="2000" b="0" i="0" dirty="0">
                <a:solidFill>
                  <a:srgbClr val="000000"/>
                </a:solidFill>
                <a:effectLst/>
                <a:latin typeface="Segoe UI" panose="020B0502040204020203" pitchFamily="34" charset="0"/>
              </a:rPr>
              <a:t>A client is the way that the person interact with the server.</a:t>
            </a:r>
          </a:p>
          <a:p>
            <a:endParaRPr lang="en-GB" dirty="0"/>
          </a:p>
        </p:txBody>
      </p:sp>
      <p:pic>
        <p:nvPicPr>
          <p:cNvPr id="6" name="Picture 5">
            <a:extLst>
              <a:ext uri="{FF2B5EF4-FFF2-40B4-BE49-F238E27FC236}">
                <a16:creationId xmlns:a16="http://schemas.microsoft.com/office/drawing/2014/main" id="{4572F7E1-A026-46E1-90B2-23EB7CED67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4474" y="4061056"/>
            <a:ext cx="5696465" cy="2191463"/>
          </a:xfrm>
          <a:prstGeom prst="rect">
            <a:avLst/>
          </a:prstGeom>
        </p:spPr>
      </p:pic>
    </p:spTree>
    <p:extLst>
      <p:ext uri="{BB962C8B-B14F-4D97-AF65-F5344CB8AC3E}">
        <p14:creationId xmlns:p14="http://schemas.microsoft.com/office/powerpoint/2010/main" val="1021015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A8CDED6-FAFD-4BC7-B100-18A3C1D417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756" y="1209988"/>
            <a:ext cx="10126488" cy="4734586"/>
          </a:xfrm>
          <a:prstGeom prst="rect">
            <a:avLst/>
          </a:prstGeom>
        </p:spPr>
      </p:pic>
    </p:spTree>
    <p:extLst>
      <p:ext uri="{BB962C8B-B14F-4D97-AF65-F5344CB8AC3E}">
        <p14:creationId xmlns:p14="http://schemas.microsoft.com/office/powerpoint/2010/main" val="251678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ADBB2-0B22-41C2-99DA-9182B4031200}"/>
              </a:ext>
            </a:extLst>
          </p:cNvPr>
          <p:cNvSpPr>
            <a:spLocks noGrp="1"/>
          </p:cNvSpPr>
          <p:nvPr>
            <p:ph type="title"/>
          </p:nvPr>
        </p:nvSpPr>
        <p:spPr>
          <a:xfrm>
            <a:off x="1414446" y="1183733"/>
            <a:ext cx="8761413" cy="706964"/>
          </a:xfrm>
        </p:spPr>
        <p:txBody>
          <a:bodyPr/>
          <a:lstStyle/>
          <a:p>
            <a:pPr algn="ctr"/>
            <a:r>
              <a:rPr lang="en-GB" b="1" i="0" dirty="0">
                <a:solidFill>
                  <a:schemeClr val="bg1"/>
                </a:solidFill>
                <a:effectLst/>
                <a:latin typeface="Ember Display2"/>
              </a:rPr>
              <a:t>Coffee shop connections</a:t>
            </a:r>
            <a:br>
              <a:rPr lang="en-GB" b="1" i="0" dirty="0">
                <a:solidFill>
                  <a:srgbClr val="000000"/>
                </a:solidFill>
                <a:effectLst/>
                <a:latin typeface="Ember Display2"/>
              </a:rPr>
            </a:br>
            <a:endParaRPr lang="en-GB" dirty="0"/>
          </a:p>
        </p:txBody>
      </p:sp>
      <p:sp>
        <p:nvSpPr>
          <p:cNvPr id="3" name="TextBox 2">
            <a:extLst>
              <a:ext uri="{FF2B5EF4-FFF2-40B4-BE49-F238E27FC236}">
                <a16:creationId xmlns:a16="http://schemas.microsoft.com/office/drawing/2014/main" id="{27A854E1-6378-4E24-8687-D9637C0A97CA}"/>
              </a:ext>
            </a:extLst>
          </p:cNvPr>
          <p:cNvSpPr txBox="1"/>
          <p:nvPr/>
        </p:nvSpPr>
        <p:spPr>
          <a:xfrm>
            <a:off x="766119" y="2656703"/>
            <a:ext cx="10503243" cy="2831544"/>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we used the example of a customer ordering a cup of coffee to help explain how a client-server model works.</a:t>
            </a:r>
          </a:p>
          <a:p>
            <a:pPr algn="l" fontAlgn="auto"/>
            <a:r>
              <a:rPr lang="en-GB" sz="2000" b="0" i="0" dirty="0">
                <a:solidFill>
                  <a:srgbClr val="000000"/>
                </a:solidFill>
                <a:effectLst/>
                <a:latin typeface="Segoe UI" panose="020B0502040204020203" pitchFamily="34" charset="0"/>
                <a:cs typeface="Segoe UI" panose="020B0502040204020203" pitchFamily="34" charset="0"/>
              </a:rPr>
              <a:t>As this training progresses, you will continue to see comparisons between elements of a coffee shop and cloud computing functions. For example, you will explore how different AWS compute instances are kind of like the different types of coffee machines in a coffee shop. Each machine is workload-specific to better serve its customers.</a:t>
            </a:r>
          </a:p>
          <a:p>
            <a:pPr algn="l" fontAlgn="auto"/>
            <a:r>
              <a:rPr lang="en-GB" sz="2000" b="0" i="0" dirty="0">
                <a:solidFill>
                  <a:srgbClr val="000000"/>
                </a:solidFill>
                <a:effectLst/>
                <a:latin typeface="Segoe UI" panose="020B0502040204020203" pitchFamily="34" charset="0"/>
                <a:cs typeface="Segoe UI" panose="020B0502040204020203" pitchFamily="34" charset="0"/>
              </a:rPr>
              <a:t>The purpose of the coffee shop analogy is to reduce complexity of cloud concepts and take your cloud knowledge from theoretical concept to practical experience.</a:t>
            </a:r>
          </a:p>
          <a:p>
            <a:endParaRPr lang="en-GB" dirty="0"/>
          </a:p>
        </p:txBody>
      </p:sp>
    </p:spTree>
    <p:extLst>
      <p:ext uri="{BB962C8B-B14F-4D97-AF65-F5344CB8AC3E}">
        <p14:creationId xmlns:p14="http://schemas.microsoft.com/office/powerpoint/2010/main" val="7395686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137A491-D22B-4E6E-95D0-35505F532E5E}"/>
              </a:ext>
            </a:extLst>
          </p:cNvPr>
          <p:cNvSpPr txBox="1"/>
          <p:nvPr/>
        </p:nvSpPr>
        <p:spPr>
          <a:xfrm>
            <a:off x="420130" y="444843"/>
            <a:ext cx="7438767" cy="800219"/>
          </a:xfrm>
          <a:prstGeom prst="rect">
            <a:avLst/>
          </a:prstGeom>
          <a:noFill/>
        </p:spPr>
        <p:txBody>
          <a:bodyPr wrap="square" rtlCol="0">
            <a:spAutoFit/>
          </a:bodyPr>
          <a:lstStyle/>
          <a:p>
            <a:r>
              <a:rPr lang="en-GB" sz="2800" b="0" i="0" dirty="0">
                <a:solidFill>
                  <a:srgbClr val="000000"/>
                </a:solidFill>
                <a:effectLst/>
                <a:latin typeface="Segoe UI" panose="020B0502040204020203" pitchFamily="34" charset="0"/>
              </a:rPr>
              <a:t>What is Cloud Computing?</a:t>
            </a:r>
          </a:p>
          <a:p>
            <a:endParaRPr lang="en-GB" dirty="0"/>
          </a:p>
        </p:txBody>
      </p:sp>
      <p:sp>
        <p:nvSpPr>
          <p:cNvPr id="3" name="TextBox 2">
            <a:extLst>
              <a:ext uri="{FF2B5EF4-FFF2-40B4-BE49-F238E27FC236}">
                <a16:creationId xmlns:a16="http://schemas.microsoft.com/office/drawing/2014/main" id="{B828F153-949C-4D3A-A754-6D812A04E810}"/>
              </a:ext>
            </a:extLst>
          </p:cNvPr>
          <p:cNvSpPr txBox="1"/>
          <p:nvPr/>
        </p:nvSpPr>
        <p:spPr>
          <a:xfrm>
            <a:off x="605480" y="1542248"/>
            <a:ext cx="8563233" cy="1292662"/>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Cloud computing is a computing service made available over the internet.</a:t>
            </a:r>
          </a:p>
          <a:p>
            <a:pPr algn="l"/>
            <a:r>
              <a:rPr lang="en-GB" sz="2000" b="0" i="0" dirty="0">
                <a:solidFill>
                  <a:srgbClr val="000000"/>
                </a:solidFill>
                <a:effectLst/>
                <a:latin typeface="Segoe UI" panose="020B0502040204020203" pitchFamily="34" charset="0"/>
              </a:rPr>
              <a:t>Cloud computing is a pay-as-you-go model for delivering IT resources.</a:t>
            </a:r>
          </a:p>
          <a:p>
            <a:pPr algn="l"/>
            <a:r>
              <a:rPr lang="en-GB" sz="2000" b="0" i="0" dirty="0">
                <a:solidFill>
                  <a:srgbClr val="000000"/>
                </a:solidFill>
                <a:effectLst/>
                <a:latin typeface="Segoe UI" panose="020B0502040204020203" pitchFamily="34" charset="0"/>
              </a:rPr>
              <a:t>You pay only for what you use.</a:t>
            </a:r>
          </a:p>
          <a:p>
            <a:endParaRPr lang="en-GB" dirty="0"/>
          </a:p>
        </p:txBody>
      </p:sp>
      <p:sp>
        <p:nvSpPr>
          <p:cNvPr id="4" name="TextBox 3">
            <a:extLst>
              <a:ext uri="{FF2B5EF4-FFF2-40B4-BE49-F238E27FC236}">
                <a16:creationId xmlns:a16="http://schemas.microsoft.com/office/drawing/2014/main" id="{DAE75CFC-AF83-4147-8D14-91151E11F469}"/>
              </a:ext>
            </a:extLst>
          </p:cNvPr>
          <p:cNvSpPr txBox="1"/>
          <p:nvPr/>
        </p:nvSpPr>
        <p:spPr>
          <a:xfrm>
            <a:off x="605480" y="3113903"/>
            <a:ext cx="4744996" cy="800219"/>
          </a:xfrm>
          <a:prstGeom prst="rect">
            <a:avLst/>
          </a:prstGeom>
          <a:noFill/>
        </p:spPr>
        <p:txBody>
          <a:bodyPr wrap="square" rtlCol="0">
            <a:spAutoFit/>
          </a:bodyPr>
          <a:lstStyle/>
          <a:p>
            <a:r>
              <a:rPr lang="en-GB" sz="2800" b="0" i="0" dirty="0">
                <a:solidFill>
                  <a:srgbClr val="000000"/>
                </a:solidFill>
                <a:effectLst/>
                <a:latin typeface="Segoe UI" panose="020B0502040204020203" pitchFamily="34" charset="0"/>
              </a:rPr>
              <a:t>Deployment Models</a:t>
            </a:r>
          </a:p>
          <a:p>
            <a:endParaRPr lang="en-GB" dirty="0"/>
          </a:p>
        </p:txBody>
      </p:sp>
      <p:sp>
        <p:nvSpPr>
          <p:cNvPr id="5" name="TextBox 4">
            <a:extLst>
              <a:ext uri="{FF2B5EF4-FFF2-40B4-BE49-F238E27FC236}">
                <a16:creationId xmlns:a16="http://schemas.microsoft.com/office/drawing/2014/main" id="{3D0299DE-3B3B-44BA-B034-F94F8EFA671B}"/>
              </a:ext>
            </a:extLst>
          </p:cNvPr>
          <p:cNvSpPr txBox="1"/>
          <p:nvPr/>
        </p:nvSpPr>
        <p:spPr>
          <a:xfrm>
            <a:off x="605480" y="3827834"/>
            <a:ext cx="10626812" cy="2831544"/>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There are three different kinds of deployment models:</a:t>
            </a:r>
          </a:p>
          <a:p>
            <a:pPr algn="l"/>
            <a:endParaRPr lang="en-GB" sz="2000" b="0" i="0" dirty="0">
              <a:solidFill>
                <a:srgbClr val="000000"/>
              </a:solidFill>
              <a:effectLst/>
              <a:latin typeface="Segoe UI" panose="020B0502040204020203" pitchFamily="34" charset="0"/>
            </a:endParaRPr>
          </a:p>
          <a:p>
            <a:pPr algn="l">
              <a:buFont typeface="Arial" panose="020B0604020202020204" pitchFamily="34" charset="0"/>
              <a:buChar char="•"/>
            </a:pPr>
            <a:r>
              <a:rPr lang="en-GB" sz="2000" b="0" i="0" dirty="0">
                <a:solidFill>
                  <a:srgbClr val="000000"/>
                </a:solidFill>
                <a:effectLst/>
                <a:latin typeface="Segoe UI" panose="020B0502040204020203" pitchFamily="34" charset="0"/>
              </a:rPr>
              <a:t>Cloud-based</a:t>
            </a:r>
          </a:p>
          <a:p>
            <a:pPr algn="l">
              <a:buFont typeface="Arial" panose="020B0604020202020204" pitchFamily="34" charset="0"/>
              <a:buChar char="•"/>
            </a:pPr>
            <a:r>
              <a:rPr lang="en-GB" sz="2000" b="0" i="0" dirty="0">
                <a:solidFill>
                  <a:srgbClr val="000000"/>
                </a:solidFill>
                <a:effectLst/>
                <a:latin typeface="Segoe UI" panose="020B0502040204020203" pitchFamily="34" charset="0"/>
              </a:rPr>
              <a:t>On-premises</a:t>
            </a:r>
          </a:p>
          <a:p>
            <a:pPr algn="l">
              <a:buFont typeface="Arial" panose="020B0604020202020204" pitchFamily="34" charset="0"/>
              <a:buChar char="•"/>
            </a:pPr>
            <a:r>
              <a:rPr lang="en-GB" sz="2000" b="0" i="0" dirty="0">
                <a:solidFill>
                  <a:srgbClr val="000000"/>
                </a:solidFill>
                <a:effectLst/>
                <a:latin typeface="Segoe UI" panose="020B0502040204020203" pitchFamily="34" charset="0"/>
              </a:rPr>
              <a:t>Hybrid</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The models are different ways of accessing compute services - over the internet, locally, or in a combination.</a:t>
            </a:r>
          </a:p>
          <a:p>
            <a:endParaRPr lang="en-GB" dirty="0"/>
          </a:p>
        </p:txBody>
      </p:sp>
    </p:spTree>
    <p:extLst>
      <p:ext uri="{BB962C8B-B14F-4D97-AF65-F5344CB8AC3E}">
        <p14:creationId xmlns:p14="http://schemas.microsoft.com/office/powerpoint/2010/main" val="34403385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F7FAE8-03F9-4D24-8D81-6D724B87C224}"/>
              </a:ext>
            </a:extLst>
          </p:cNvPr>
          <p:cNvSpPr>
            <a:spLocks noGrp="1"/>
          </p:cNvSpPr>
          <p:nvPr>
            <p:ph type="title"/>
          </p:nvPr>
        </p:nvSpPr>
        <p:spPr>
          <a:xfrm>
            <a:off x="1192024" y="1183733"/>
            <a:ext cx="8761413" cy="706964"/>
          </a:xfrm>
        </p:spPr>
        <p:txBody>
          <a:bodyPr/>
          <a:lstStyle/>
          <a:p>
            <a:pPr algn="ctr"/>
            <a:r>
              <a:rPr lang="en-GB" b="0" i="0" dirty="0">
                <a:solidFill>
                  <a:schemeClr val="bg1"/>
                </a:solidFill>
                <a:effectLst/>
                <a:latin typeface="Segoe UI" panose="020B0502040204020203" pitchFamily="34" charset="0"/>
              </a:rPr>
              <a:t>Cloud-Based Deployment</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B7C31D49-B7EA-4AAB-BD90-C7CC7D1BBD39}"/>
              </a:ext>
            </a:extLst>
          </p:cNvPr>
          <p:cNvSpPr txBox="1"/>
          <p:nvPr/>
        </p:nvSpPr>
        <p:spPr>
          <a:xfrm>
            <a:off x="1192024" y="2990335"/>
            <a:ext cx="9807952" cy="3416320"/>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Everything runs in the cloud.</a:t>
            </a:r>
          </a:p>
          <a:p>
            <a:pPr algn="l"/>
            <a:r>
              <a:rPr lang="en-GB" sz="2000" b="0" i="0" dirty="0">
                <a:solidFill>
                  <a:srgbClr val="000000"/>
                </a:solidFill>
                <a:effectLst/>
                <a:latin typeface="Segoe UI" panose="020B0502040204020203" pitchFamily="34" charset="0"/>
              </a:rPr>
              <a:t>This model allows you to build new applications or move existing ones to the cloud.</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There are different levels of services ranging from low to high.</a:t>
            </a:r>
          </a:p>
          <a:p>
            <a:pPr algn="l"/>
            <a:r>
              <a:rPr lang="en-GB" sz="2000" b="0" i="0" dirty="0">
                <a:solidFill>
                  <a:srgbClr val="000000"/>
                </a:solidFill>
                <a:effectLst/>
                <a:latin typeface="Segoe UI" panose="020B0502040204020203" pitchFamily="34" charset="0"/>
              </a:rPr>
              <a:t>The level of service has different requirements on your management, architecting, and infrastructure.</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For example, a company might create an application consisting of virtual servers, databases, and networking components entirely based in the cloud</a:t>
            </a:r>
            <a:r>
              <a:rPr lang="en-GB" b="0" i="0" dirty="0">
                <a:solidFill>
                  <a:srgbClr val="000000"/>
                </a:solidFill>
                <a:effectLst/>
                <a:latin typeface="Segoe UI" panose="020B0502040204020203" pitchFamily="34" charset="0"/>
              </a:rPr>
              <a:t>.</a:t>
            </a:r>
          </a:p>
          <a:p>
            <a:br>
              <a:rPr lang="en-GB" dirty="0"/>
            </a:br>
            <a:endParaRPr lang="en-GB" dirty="0"/>
          </a:p>
        </p:txBody>
      </p:sp>
    </p:spTree>
    <p:extLst>
      <p:ext uri="{BB962C8B-B14F-4D97-AF65-F5344CB8AC3E}">
        <p14:creationId xmlns:p14="http://schemas.microsoft.com/office/powerpoint/2010/main" val="55343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F4178-9630-4F8B-B331-E9B28EA7443A}"/>
              </a:ext>
            </a:extLst>
          </p:cNvPr>
          <p:cNvSpPr>
            <a:spLocks noGrp="1"/>
          </p:cNvSpPr>
          <p:nvPr>
            <p:ph type="title"/>
          </p:nvPr>
        </p:nvSpPr>
        <p:spPr>
          <a:xfrm>
            <a:off x="1315592" y="1220803"/>
            <a:ext cx="8761413" cy="706964"/>
          </a:xfrm>
        </p:spPr>
        <p:txBody>
          <a:bodyPr/>
          <a:lstStyle/>
          <a:p>
            <a:pPr algn="ctr"/>
            <a:r>
              <a:rPr lang="en-GB" b="0" i="0" dirty="0">
                <a:solidFill>
                  <a:schemeClr val="bg1"/>
                </a:solidFill>
                <a:effectLst/>
                <a:latin typeface="Segoe UI" panose="020B0502040204020203" pitchFamily="34" charset="0"/>
              </a:rPr>
              <a:t>On-Premises Deployment</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5E2F46FB-9360-49EA-A703-E8E8D1CA0255}"/>
              </a:ext>
            </a:extLst>
          </p:cNvPr>
          <p:cNvSpPr txBox="1"/>
          <p:nvPr/>
        </p:nvSpPr>
        <p:spPr>
          <a:xfrm>
            <a:off x="1050324" y="2928551"/>
            <a:ext cx="9724768" cy="2831544"/>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Deploy resources by using virtualization and resource management tools.</a:t>
            </a:r>
          </a:p>
          <a:p>
            <a:pPr algn="l"/>
            <a:r>
              <a:rPr lang="en-GB" sz="2000" b="0" i="0" dirty="0">
                <a:solidFill>
                  <a:srgbClr val="000000"/>
                </a:solidFill>
                <a:effectLst/>
                <a:latin typeface="Segoe UI" panose="020B0502040204020203" pitchFamily="34" charset="0"/>
              </a:rPr>
              <a:t>On-Premises Deployment is also known as private cloud deployment.</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For example, you might have applications that run on technology that is fully kept in your on-premises data </a:t>
            </a:r>
            <a:r>
              <a:rPr lang="en-GB" sz="2000" b="0" i="0" dirty="0" err="1">
                <a:solidFill>
                  <a:srgbClr val="000000"/>
                </a:solidFill>
                <a:effectLst/>
                <a:latin typeface="Segoe UI" panose="020B0502040204020203" pitchFamily="34" charset="0"/>
              </a:rPr>
              <a:t>center</a:t>
            </a:r>
            <a:r>
              <a:rPr lang="en-GB" sz="2000" b="0" i="0" dirty="0">
                <a:solidFill>
                  <a:srgbClr val="000000"/>
                </a:solidFill>
                <a:effectLst/>
                <a:latin typeface="Segoe UI" panose="020B0502040204020203" pitchFamily="34" charset="0"/>
              </a:rPr>
              <a:t>.</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Though this model is much like legacy IT infrastructure, its application management and virtualization technologies make it more effective.</a:t>
            </a:r>
          </a:p>
          <a:p>
            <a:endParaRPr lang="en-GB" dirty="0"/>
          </a:p>
        </p:txBody>
      </p:sp>
    </p:spTree>
    <p:extLst>
      <p:ext uri="{BB962C8B-B14F-4D97-AF65-F5344CB8AC3E}">
        <p14:creationId xmlns:p14="http://schemas.microsoft.com/office/powerpoint/2010/main" val="557683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34DFC-7771-42C4-9B02-490D504FDD82}"/>
              </a:ext>
            </a:extLst>
          </p:cNvPr>
          <p:cNvSpPr>
            <a:spLocks noGrp="1"/>
          </p:cNvSpPr>
          <p:nvPr>
            <p:ph type="title"/>
          </p:nvPr>
        </p:nvSpPr>
        <p:spPr>
          <a:xfrm>
            <a:off x="1340305" y="1220804"/>
            <a:ext cx="8761413" cy="706964"/>
          </a:xfrm>
        </p:spPr>
        <p:txBody>
          <a:bodyPr/>
          <a:lstStyle/>
          <a:p>
            <a:pPr algn="ctr"/>
            <a:r>
              <a:rPr lang="en-GB" b="0" i="0" dirty="0">
                <a:solidFill>
                  <a:schemeClr val="bg1"/>
                </a:solidFill>
                <a:effectLst/>
                <a:latin typeface="Segoe UI" panose="020B0502040204020203" pitchFamily="34" charset="0"/>
              </a:rPr>
              <a:t>Hybrid Deployment</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F37CF1B5-394B-4C42-8E8B-0C61011CB635}"/>
              </a:ext>
            </a:extLst>
          </p:cNvPr>
          <p:cNvSpPr txBox="1"/>
          <p:nvPr/>
        </p:nvSpPr>
        <p:spPr>
          <a:xfrm>
            <a:off x="1717589" y="2965622"/>
            <a:ext cx="8662087" cy="2523768"/>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In a hybrid deployment, you connect cloud resources to an on-premises infrastructure.</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This approach is relevant in many situations.</a:t>
            </a:r>
          </a:p>
          <a:p>
            <a:pPr algn="l"/>
            <a:endParaRPr lang="en-GB" sz="2000" b="0" i="0" dirty="0">
              <a:solidFill>
                <a:srgbClr val="000000"/>
              </a:solidFill>
              <a:effectLst/>
              <a:latin typeface="Segoe UI" panose="020B0502040204020203" pitchFamily="34" charset="0"/>
            </a:endParaRPr>
          </a:p>
          <a:p>
            <a:pPr algn="l"/>
            <a:r>
              <a:rPr lang="en-GB" sz="2000" b="0" i="0" dirty="0">
                <a:solidFill>
                  <a:srgbClr val="000000"/>
                </a:solidFill>
                <a:effectLst/>
                <a:latin typeface="Segoe UI" panose="020B0502040204020203" pitchFamily="34" charset="0"/>
              </a:rPr>
              <a:t>For example, you are working with sensitive data or are under specific government regulations.</a:t>
            </a:r>
          </a:p>
          <a:p>
            <a:endParaRPr lang="en-GB" dirty="0"/>
          </a:p>
        </p:txBody>
      </p:sp>
    </p:spTree>
    <p:extLst>
      <p:ext uri="{BB962C8B-B14F-4D97-AF65-F5344CB8AC3E}">
        <p14:creationId xmlns:p14="http://schemas.microsoft.com/office/powerpoint/2010/main" val="33526906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ABB2D-9DEC-4DFC-97D0-11D966AC848E}"/>
              </a:ext>
            </a:extLst>
          </p:cNvPr>
          <p:cNvSpPr>
            <a:spLocks noGrp="1"/>
          </p:cNvSpPr>
          <p:nvPr>
            <p:ph type="title"/>
          </p:nvPr>
        </p:nvSpPr>
        <p:spPr>
          <a:xfrm>
            <a:off x="1315592" y="1171376"/>
            <a:ext cx="8761413" cy="706964"/>
          </a:xfrm>
        </p:spPr>
        <p:txBody>
          <a:bodyPr/>
          <a:lstStyle/>
          <a:p>
            <a:pPr algn="ctr"/>
            <a:r>
              <a:rPr lang="en-GB" b="0" i="0" dirty="0">
                <a:solidFill>
                  <a:schemeClr val="bg1"/>
                </a:solidFill>
                <a:effectLst/>
                <a:latin typeface="Segoe UI" panose="020B0502040204020203" pitchFamily="34" charset="0"/>
              </a:rPr>
              <a:t>Why Choose Cloud Computing?</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653355A9-B397-4742-9017-F85653330DB8}"/>
              </a:ext>
            </a:extLst>
          </p:cNvPr>
          <p:cNvSpPr txBox="1"/>
          <p:nvPr/>
        </p:nvSpPr>
        <p:spPr>
          <a:xfrm>
            <a:off x="1496162" y="2767913"/>
            <a:ext cx="9199675" cy="3139321"/>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There are many reasons for going with the cloud.</a:t>
            </a:r>
          </a:p>
          <a:p>
            <a:pPr algn="l"/>
            <a:r>
              <a:rPr lang="en-GB" sz="2000" b="0" i="0" dirty="0">
                <a:solidFill>
                  <a:srgbClr val="000000"/>
                </a:solidFill>
                <a:effectLst/>
                <a:latin typeface="Segoe UI" panose="020B0502040204020203" pitchFamily="34" charset="0"/>
              </a:rPr>
              <a:t>Cloud computing enables benefits such as:</a:t>
            </a:r>
          </a:p>
          <a:p>
            <a:pPr algn="l"/>
            <a:endParaRPr lang="en-GB" sz="2000" b="0" i="0" dirty="0">
              <a:solidFill>
                <a:srgbClr val="000000"/>
              </a:solidFill>
              <a:effectLst/>
              <a:latin typeface="Segoe UI" panose="020B0502040204020203" pitchFamily="34" charset="0"/>
            </a:endParaRPr>
          </a:p>
          <a:p>
            <a:pPr>
              <a:buFont typeface="Arial" panose="020B0604020202020204" pitchFamily="34" charset="0"/>
              <a:buChar char="•"/>
            </a:pPr>
            <a:r>
              <a:rPr lang="en-GB" sz="2000" dirty="0">
                <a:effectLst/>
                <a:latin typeface="Segoe UI" panose="020B0502040204020203" pitchFamily="34" charset="0"/>
                <a:cs typeface="Segoe UI" panose="020B0502040204020203" pitchFamily="34" charset="0"/>
              </a:rPr>
              <a:t>Trade fixed expense for variable expense</a:t>
            </a:r>
          </a:p>
          <a:p>
            <a:pPr>
              <a:buFont typeface="Arial" panose="020B0604020202020204" pitchFamily="34" charset="0"/>
              <a:buChar char="•"/>
            </a:pPr>
            <a:r>
              <a:rPr lang="en-GB" sz="2000" dirty="0">
                <a:effectLst/>
                <a:latin typeface="Segoe UI" panose="020B0502040204020203" pitchFamily="34" charset="0"/>
                <a:cs typeface="Segoe UI" panose="020B0502040204020203" pitchFamily="34" charset="0"/>
              </a:rPr>
              <a:t>Benefit from massive economies of scale</a:t>
            </a:r>
          </a:p>
          <a:p>
            <a:pPr>
              <a:buFont typeface="Arial" panose="020B0604020202020204" pitchFamily="34" charset="0"/>
              <a:buChar char="•"/>
            </a:pPr>
            <a:r>
              <a:rPr lang="en-GB" sz="2000" dirty="0">
                <a:effectLst/>
                <a:latin typeface="Segoe UI" panose="020B0502040204020203" pitchFamily="34" charset="0"/>
                <a:cs typeface="Segoe UI" panose="020B0502040204020203" pitchFamily="34" charset="0"/>
              </a:rPr>
              <a:t>Stop guessing capacity</a:t>
            </a:r>
          </a:p>
          <a:p>
            <a:pPr>
              <a:buFont typeface="Arial" panose="020B0604020202020204" pitchFamily="34" charset="0"/>
              <a:buChar char="•"/>
            </a:pPr>
            <a:r>
              <a:rPr lang="en-GB" sz="2000" dirty="0">
                <a:effectLst/>
                <a:latin typeface="Segoe UI" panose="020B0502040204020203" pitchFamily="34" charset="0"/>
                <a:cs typeface="Segoe UI" panose="020B0502040204020203" pitchFamily="34" charset="0"/>
              </a:rPr>
              <a:t>Increase speed and agility</a:t>
            </a:r>
          </a:p>
          <a:p>
            <a:pPr>
              <a:buFont typeface="Arial" panose="020B0604020202020204" pitchFamily="34" charset="0"/>
              <a:buChar char="•"/>
            </a:pPr>
            <a:r>
              <a:rPr lang="en-GB" sz="2000" dirty="0">
                <a:effectLst/>
                <a:latin typeface="Segoe UI" panose="020B0502040204020203" pitchFamily="34" charset="0"/>
                <a:cs typeface="Segoe UI" panose="020B0502040204020203" pitchFamily="34" charset="0"/>
              </a:rPr>
              <a:t>Stop spending money to run and maintain data </a:t>
            </a:r>
            <a:r>
              <a:rPr lang="en-GB" sz="2000" dirty="0" err="1">
                <a:effectLst/>
                <a:latin typeface="Segoe UI" panose="020B0502040204020203" pitchFamily="34" charset="0"/>
                <a:cs typeface="Segoe UI" panose="020B0502040204020203" pitchFamily="34" charset="0"/>
              </a:rPr>
              <a:t>centers</a:t>
            </a:r>
            <a:endParaRPr lang="en-GB" sz="2000" dirty="0">
              <a:effectLst/>
              <a:latin typeface="Segoe UI" panose="020B0502040204020203" pitchFamily="34" charset="0"/>
              <a:cs typeface="Segoe UI" panose="020B0502040204020203" pitchFamily="34" charset="0"/>
            </a:endParaRPr>
          </a:p>
          <a:p>
            <a:pPr>
              <a:buFont typeface="Arial" panose="020B0604020202020204" pitchFamily="34" charset="0"/>
              <a:buChar char="•"/>
            </a:pPr>
            <a:r>
              <a:rPr lang="en-GB" sz="2000" dirty="0">
                <a:effectLst/>
                <a:latin typeface="Segoe UI" panose="020B0502040204020203" pitchFamily="34" charset="0"/>
                <a:cs typeface="Segoe UI" panose="020B0502040204020203" pitchFamily="34" charset="0"/>
              </a:rPr>
              <a:t>Go global in minutes</a:t>
            </a:r>
          </a:p>
          <a:p>
            <a:endParaRPr lang="en-GB" dirty="0"/>
          </a:p>
        </p:txBody>
      </p:sp>
    </p:spTree>
    <p:extLst>
      <p:ext uri="{BB962C8B-B14F-4D97-AF65-F5344CB8AC3E}">
        <p14:creationId xmlns:p14="http://schemas.microsoft.com/office/powerpoint/2010/main" val="25605260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F6529-F8CA-4BFD-8AA0-9544AF06B8D5}"/>
              </a:ext>
            </a:extLst>
          </p:cNvPr>
          <p:cNvSpPr>
            <a:spLocks noGrp="1"/>
          </p:cNvSpPr>
          <p:nvPr>
            <p:ph type="title"/>
          </p:nvPr>
        </p:nvSpPr>
        <p:spPr>
          <a:xfrm>
            <a:off x="1365018" y="1529722"/>
            <a:ext cx="8761413" cy="706964"/>
          </a:xfrm>
        </p:spPr>
        <p:txBody>
          <a:bodyPr/>
          <a:lstStyle/>
          <a:p>
            <a:pPr algn="ctr"/>
            <a:r>
              <a:rPr lang="en-GB" sz="3600" dirty="0">
                <a:effectLst/>
                <a:latin typeface="Segoe UI" panose="020B0502040204020203" pitchFamily="34" charset="0"/>
                <a:cs typeface="Segoe UI" panose="020B0502040204020203" pitchFamily="34" charset="0"/>
              </a:rPr>
              <a:t>Trade fixed expense for variable expense</a:t>
            </a:r>
            <a:br>
              <a:rPr lang="en-GB" sz="3600" dirty="0">
                <a:effectLst/>
                <a:latin typeface="Segoe UI" panose="020B0502040204020203" pitchFamily="34" charset="0"/>
                <a:cs typeface="Segoe UI" panose="020B0502040204020203" pitchFamily="34" charset="0"/>
              </a:rPr>
            </a:b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FA3C4A53-C406-46A5-A294-35E002999EB0}"/>
              </a:ext>
            </a:extLst>
          </p:cNvPr>
          <p:cNvSpPr txBox="1"/>
          <p:nvPr/>
        </p:nvSpPr>
        <p:spPr>
          <a:xfrm>
            <a:off x="1365018" y="2581184"/>
            <a:ext cx="9947189" cy="1323439"/>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By using the AWS Cloud, businesses can transition from fixed investments to variable costs. With variable costs, customer expenses are better aligned with actual usage, thus creating more financial flexibility.</a:t>
            </a:r>
            <a:br>
              <a:rPr lang="en-GB" sz="2000" dirty="0"/>
            </a:br>
            <a:endParaRPr lang="en-GB" sz="2000" dirty="0"/>
          </a:p>
        </p:txBody>
      </p:sp>
      <p:pic>
        <p:nvPicPr>
          <p:cNvPr id="5" name="Picture 4">
            <a:extLst>
              <a:ext uri="{FF2B5EF4-FFF2-40B4-BE49-F238E27FC236}">
                <a16:creationId xmlns:a16="http://schemas.microsoft.com/office/drawing/2014/main" id="{B42A3D82-E116-4945-9286-E57EEFB4C5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18863" y="3904623"/>
            <a:ext cx="7154273" cy="2229161"/>
          </a:xfrm>
          <a:prstGeom prst="rect">
            <a:avLst/>
          </a:prstGeom>
        </p:spPr>
      </p:pic>
    </p:spTree>
    <p:extLst>
      <p:ext uri="{BB962C8B-B14F-4D97-AF65-F5344CB8AC3E}">
        <p14:creationId xmlns:p14="http://schemas.microsoft.com/office/powerpoint/2010/main" val="79370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9851E-13A7-4F16-830F-553F05B3E2A7}"/>
              </a:ext>
            </a:extLst>
          </p:cNvPr>
          <p:cNvSpPr>
            <a:spLocks noGrp="1"/>
          </p:cNvSpPr>
          <p:nvPr>
            <p:ph type="title"/>
          </p:nvPr>
        </p:nvSpPr>
        <p:spPr>
          <a:xfrm>
            <a:off x="1154954" y="1282587"/>
            <a:ext cx="8761413" cy="706964"/>
          </a:xfrm>
        </p:spPr>
        <p:txBody>
          <a:bodyPr/>
          <a:lstStyle/>
          <a:p>
            <a:pPr algn="ctr"/>
            <a:r>
              <a:rPr lang="en-GB" sz="3600" dirty="0">
                <a:effectLst/>
                <a:latin typeface="Segoe UI" panose="020B0502040204020203" pitchFamily="34" charset="0"/>
                <a:cs typeface="Segoe UI" panose="020B0502040204020203" pitchFamily="34" charset="0"/>
              </a:rPr>
              <a:t>Benefit from massive economies of scale</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3D9E8756-D95E-4B90-AE86-E086401F25A0}"/>
              </a:ext>
            </a:extLst>
          </p:cNvPr>
          <p:cNvSpPr txBox="1"/>
          <p:nvPr/>
        </p:nvSpPr>
        <p:spPr>
          <a:xfrm>
            <a:off x="1154954" y="2533135"/>
            <a:ext cx="10596322" cy="1323439"/>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Like buying a product in bulk can result in lower prices per unit, the vast global infrastructure of AWS can result in lower costs for customers. This means that AWS can be used by many organizations, from small </a:t>
            </a:r>
            <a:r>
              <a:rPr lang="en-GB" sz="2000" b="0" i="0" dirty="0" err="1">
                <a:solidFill>
                  <a:srgbClr val="000000"/>
                </a:solidFill>
                <a:effectLst/>
                <a:latin typeface="Segoe UI" panose="020B0502040204020203" pitchFamily="34" charset="0"/>
              </a:rPr>
              <a:t>startups</a:t>
            </a:r>
            <a:r>
              <a:rPr lang="en-GB" sz="2000" b="0" i="0" dirty="0">
                <a:solidFill>
                  <a:srgbClr val="000000"/>
                </a:solidFill>
                <a:effectLst/>
                <a:latin typeface="Segoe UI" panose="020B0502040204020203" pitchFamily="34" charset="0"/>
              </a:rPr>
              <a:t> to major corporations. Businesses big and small can access advanced technologies that were previously only accessible to large enterprises.</a:t>
            </a:r>
            <a:endParaRPr lang="en-GB" dirty="0"/>
          </a:p>
        </p:txBody>
      </p:sp>
      <p:pic>
        <p:nvPicPr>
          <p:cNvPr id="5" name="Picture 4">
            <a:extLst>
              <a:ext uri="{FF2B5EF4-FFF2-40B4-BE49-F238E27FC236}">
                <a16:creationId xmlns:a16="http://schemas.microsoft.com/office/drawing/2014/main" id="{3CBDBDF8-4C01-48FA-9BDB-ABDE8957C218}"/>
              </a:ext>
            </a:extLst>
          </p:cNvPr>
          <p:cNvPicPr>
            <a:picLocks noChangeAspect="1"/>
          </p:cNvPicPr>
          <p:nvPr/>
        </p:nvPicPr>
        <p:blipFill>
          <a:blip r:embed="rId2"/>
          <a:stretch>
            <a:fillRect/>
          </a:stretch>
        </p:blipFill>
        <p:spPr>
          <a:xfrm>
            <a:off x="3619500" y="3856574"/>
            <a:ext cx="4953000" cy="2895600"/>
          </a:xfrm>
          <a:prstGeom prst="rect">
            <a:avLst/>
          </a:prstGeom>
        </p:spPr>
      </p:pic>
    </p:spTree>
    <p:extLst>
      <p:ext uri="{BB962C8B-B14F-4D97-AF65-F5344CB8AC3E}">
        <p14:creationId xmlns:p14="http://schemas.microsoft.com/office/powerpoint/2010/main" val="3247976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DBEFA-34A3-4FC1-A4C2-DD79655599EC}"/>
              </a:ext>
            </a:extLst>
          </p:cNvPr>
          <p:cNvSpPr>
            <a:spLocks noGrp="1"/>
          </p:cNvSpPr>
          <p:nvPr>
            <p:ph type="title"/>
          </p:nvPr>
        </p:nvSpPr>
        <p:spPr>
          <a:xfrm>
            <a:off x="1315591" y="1529721"/>
            <a:ext cx="8761413" cy="706964"/>
          </a:xfrm>
        </p:spPr>
        <p:txBody>
          <a:bodyPr/>
          <a:lstStyle/>
          <a:p>
            <a:pPr algn="ctr"/>
            <a:r>
              <a:rPr lang="en-GB" sz="3600" dirty="0">
                <a:effectLst/>
                <a:latin typeface="Segoe UI" panose="020B0502040204020203" pitchFamily="34" charset="0"/>
                <a:cs typeface="Segoe UI" panose="020B0502040204020203" pitchFamily="34" charset="0"/>
              </a:rPr>
              <a:t>Stop guessing capacity</a:t>
            </a:r>
            <a:br>
              <a:rPr lang="en-GB" sz="3600" dirty="0">
                <a:effectLst/>
                <a:latin typeface="Segoe UI" panose="020B0502040204020203" pitchFamily="34" charset="0"/>
                <a:cs typeface="Segoe UI" panose="020B0502040204020203" pitchFamily="34" charset="0"/>
              </a:rPr>
            </a:b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57FC3952-F134-48BD-926D-D85C8C6DB442}"/>
              </a:ext>
            </a:extLst>
          </p:cNvPr>
          <p:cNvSpPr txBox="1"/>
          <p:nvPr/>
        </p:nvSpPr>
        <p:spPr>
          <a:xfrm>
            <a:off x="1204381" y="2572834"/>
            <a:ext cx="10515599" cy="1015663"/>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Customers can dynamically scale AWS Cloud resources up or down based on real-time demand. This means businesses can achieve optimal performance without provisioning more or less infrastructure than they need.</a:t>
            </a:r>
            <a:endParaRPr lang="en-GB" dirty="0"/>
          </a:p>
        </p:txBody>
      </p:sp>
      <p:pic>
        <p:nvPicPr>
          <p:cNvPr id="5" name="Picture 4">
            <a:extLst>
              <a:ext uri="{FF2B5EF4-FFF2-40B4-BE49-F238E27FC236}">
                <a16:creationId xmlns:a16="http://schemas.microsoft.com/office/drawing/2014/main" id="{CDBE566F-33AE-4F7A-87FB-F16E23977727}"/>
              </a:ext>
            </a:extLst>
          </p:cNvPr>
          <p:cNvPicPr>
            <a:picLocks noChangeAspect="1"/>
          </p:cNvPicPr>
          <p:nvPr/>
        </p:nvPicPr>
        <p:blipFill>
          <a:blip r:embed="rId2"/>
          <a:stretch>
            <a:fillRect/>
          </a:stretch>
        </p:blipFill>
        <p:spPr>
          <a:xfrm>
            <a:off x="3138487" y="3588497"/>
            <a:ext cx="5915025" cy="3019425"/>
          </a:xfrm>
          <a:prstGeom prst="rect">
            <a:avLst/>
          </a:prstGeom>
        </p:spPr>
      </p:pic>
    </p:spTree>
    <p:extLst>
      <p:ext uri="{BB962C8B-B14F-4D97-AF65-F5344CB8AC3E}">
        <p14:creationId xmlns:p14="http://schemas.microsoft.com/office/powerpoint/2010/main" val="4157937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9BE4F-6DFC-4278-953B-63129DECED27}"/>
              </a:ext>
            </a:extLst>
          </p:cNvPr>
          <p:cNvSpPr>
            <a:spLocks noGrp="1"/>
          </p:cNvSpPr>
          <p:nvPr>
            <p:ph type="title"/>
          </p:nvPr>
        </p:nvSpPr>
        <p:spPr>
          <a:xfrm>
            <a:off x="1192024" y="1554435"/>
            <a:ext cx="8761413" cy="706964"/>
          </a:xfrm>
        </p:spPr>
        <p:txBody>
          <a:bodyPr/>
          <a:lstStyle/>
          <a:p>
            <a:pPr algn="ctr"/>
            <a:r>
              <a:rPr lang="en-GB" sz="3600" dirty="0">
                <a:effectLst/>
                <a:latin typeface="Segoe UI" panose="020B0502040204020203" pitchFamily="34" charset="0"/>
                <a:cs typeface="Segoe UI" panose="020B0502040204020203" pitchFamily="34" charset="0"/>
              </a:rPr>
              <a:t>Increase speed and agility</a:t>
            </a:r>
            <a:br>
              <a:rPr lang="en-GB" sz="3600" dirty="0">
                <a:effectLst/>
                <a:latin typeface="Segoe UI" panose="020B0502040204020203" pitchFamily="34" charset="0"/>
                <a:cs typeface="Segoe UI" panose="020B0502040204020203" pitchFamily="34" charset="0"/>
              </a:rPr>
            </a:b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F5D47485-8A5A-4779-844D-7695B21B0612}"/>
              </a:ext>
            </a:extLst>
          </p:cNvPr>
          <p:cNvSpPr txBox="1"/>
          <p:nvPr/>
        </p:nvSpPr>
        <p:spPr>
          <a:xfrm>
            <a:off x="1434448" y="2545493"/>
            <a:ext cx="9323104" cy="1015663"/>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With the cloud, businesses can rapidly deploy applications and services, accelerating time to market and facilitating quicker responses to changing business needs and market conditions</a:t>
            </a:r>
            <a:endParaRPr lang="en-GB" dirty="0"/>
          </a:p>
        </p:txBody>
      </p:sp>
      <p:pic>
        <p:nvPicPr>
          <p:cNvPr id="5" name="Picture 4">
            <a:extLst>
              <a:ext uri="{FF2B5EF4-FFF2-40B4-BE49-F238E27FC236}">
                <a16:creationId xmlns:a16="http://schemas.microsoft.com/office/drawing/2014/main" id="{15FF39A3-ADC9-4BBB-95A3-C565B70F4C80}"/>
              </a:ext>
            </a:extLst>
          </p:cNvPr>
          <p:cNvPicPr>
            <a:picLocks noChangeAspect="1"/>
          </p:cNvPicPr>
          <p:nvPr/>
        </p:nvPicPr>
        <p:blipFill>
          <a:blip r:embed="rId2"/>
          <a:stretch>
            <a:fillRect/>
          </a:stretch>
        </p:blipFill>
        <p:spPr>
          <a:xfrm>
            <a:off x="4110037" y="3561156"/>
            <a:ext cx="3971925" cy="3028950"/>
          </a:xfrm>
          <a:prstGeom prst="rect">
            <a:avLst/>
          </a:prstGeom>
        </p:spPr>
      </p:pic>
    </p:spTree>
    <p:extLst>
      <p:ext uri="{BB962C8B-B14F-4D97-AF65-F5344CB8AC3E}">
        <p14:creationId xmlns:p14="http://schemas.microsoft.com/office/powerpoint/2010/main" val="21009493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5590-4DBC-43A4-B5BF-D5CEF473E8E4}"/>
              </a:ext>
            </a:extLst>
          </p:cNvPr>
          <p:cNvSpPr>
            <a:spLocks noGrp="1"/>
          </p:cNvSpPr>
          <p:nvPr>
            <p:ph type="title"/>
          </p:nvPr>
        </p:nvSpPr>
        <p:spPr>
          <a:xfrm>
            <a:off x="1352662" y="1591507"/>
            <a:ext cx="8761413" cy="706964"/>
          </a:xfrm>
        </p:spPr>
        <p:txBody>
          <a:bodyPr/>
          <a:lstStyle/>
          <a:p>
            <a:pPr algn="ctr"/>
            <a:r>
              <a:rPr lang="en-GB" sz="3600" dirty="0">
                <a:effectLst/>
                <a:latin typeface="Segoe UI" panose="020B0502040204020203" pitchFamily="34" charset="0"/>
                <a:cs typeface="Segoe UI" panose="020B0502040204020203" pitchFamily="34" charset="0"/>
              </a:rPr>
              <a:t>Stop spending money to run and maintain data </a:t>
            </a:r>
            <a:r>
              <a:rPr lang="en-GB" sz="3600" dirty="0" err="1">
                <a:effectLst/>
                <a:latin typeface="Segoe UI" panose="020B0502040204020203" pitchFamily="34" charset="0"/>
                <a:cs typeface="Segoe UI" panose="020B0502040204020203" pitchFamily="34" charset="0"/>
              </a:rPr>
              <a:t>centers</a:t>
            </a:r>
            <a:br>
              <a:rPr lang="en-GB" sz="3600" dirty="0">
                <a:effectLst/>
                <a:latin typeface="Segoe UI" panose="020B0502040204020203" pitchFamily="34" charset="0"/>
                <a:cs typeface="Segoe UI" panose="020B0502040204020203" pitchFamily="34" charset="0"/>
              </a:rPr>
            </a:b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97C3B346-776B-474E-9AFF-823CC12A21B3}"/>
              </a:ext>
            </a:extLst>
          </p:cNvPr>
          <p:cNvSpPr txBox="1"/>
          <p:nvPr/>
        </p:nvSpPr>
        <p:spPr>
          <a:xfrm>
            <a:off x="1241452" y="2582562"/>
            <a:ext cx="10052624" cy="1323439"/>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The AWS Cloud eliminates the need for businesses to invest in physical data </a:t>
            </a:r>
            <a:r>
              <a:rPr lang="en-GB" sz="2000" b="0" i="0" dirty="0" err="1">
                <a:solidFill>
                  <a:srgbClr val="000000"/>
                </a:solidFill>
                <a:effectLst/>
                <a:latin typeface="Segoe UI" panose="020B0502040204020203" pitchFamily="34" charset="0"/>
              </a:rPr>
              <a:t>centers</a:t>
            </a:r>
            <a:r>
              <a:rPr lang="en-GB" sz="2000" b="0" i="0" dirty="0">
                <a:solidFill>
                  <a:srgbClr val="000000"/>
                </a:solidFill>
                <a:effectLst/>
                <a:latin typeface="Segoe UI" panose="020B0502040204020203" pitchFamily="34" charset="0"/>
              </a:rPr>
              <a:t>. This means customers aren't required to spend time and money on utilities and ongoing maintenance. With AWS taking care of the physical infrastructure of the cloud, customer resources can be reallocated to more strategic initiatives.</a:t>
            </a:r>
            <a:endParaRPr lang="en-GB" dirty="0"/>
          </a:p>
        </p:txBody>
      </p:sp>
      <p:pic>
        <p:nvPicPr>
          <p:cNvPr id="5" name="Picture 4">
            <a:extLst>
              <a:ext uri="{FF2B5EF4-FFF2-40B4-BE49-F238E27FC236}">
                <a16:creationId xmlns:a16="http://schemas.microsoft.com/office/drawing/2014/main" id="{A48F7BD4-42F3-4798-B430-605FF958F94F}"/>
              </a:ext>
            </a:extLst>
          </p:cNvPr>
          <p:cNvPicPr>
            <a:picLocks noChangeAspect="1"/>
          </p:cNvPicPr>
          <p:nvPr/>
        </p:nvPicPr>
        <p:blipFill>
          <a:blip r:embed="rId2"/>
          <a:stretch>
            <a:fillRect/>
          </a:stretch>
        </p:blipFill>
        <p:spPr>
          <a:xfrm>
            <a:off x="2541630" y="4129574"/>
            <a:ext cx="6762750" cy="1952625"/>
          </a:xfrm>
          <a:prstGeom prst="rect">
            <a:avLst/>
          </a:prstGeom>
        </p:spPr>
      </p:pic>
    </p:spTree>
    <p:extLst>
      <p:ext uri="{BB962C8B-B14F-4D97-AF65-F5344CB8AC3E}">
        <p14:creationId xmlns:p14="http://schemas.microsoft.com/office/powerpoint/2010/main" val="10841568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65590-4DBC-43A4-B5BF-D5CEF473E8E4}"/>
              </a:ext>
            </a:extLst>
          </p:cNvPr>
          <p:cNvSpPr>
            <a:spLocks noGrp="1"/>
          </p:cNvSpPr>
          <p:nvPr>
            <p:ph type="title"/>
          </p:nvPr>
        </p:nvSpPr>
        <p:spPr>
          <a:xfrm>
            <a:off x="1575084" y="1035453"/>
            <a:ext cx="8761413" cy="706964"/>
          </a:xfrm>
        </p:spPr>
        <p:txBody>
          <a:bodyPr/>
          <a:lstStyle/>
          <a:p>
            <a:pPr algn="ctr"/>
            <a:r>
              <a:rPr lang="en-GB" sz="3600" dirty="0">
                <a:effectLst/>
                <a:latin typeface="Segoe UI" panose="020B0502040204020203" pitchFamily="34" charset="0"/>
                <a:cs typeface="Segoe UI" panose="020B0502040204020203" pitchFamily="34" charset="0"/>
              </a:rPr>
              <a:t>Go global in minutes</a:t>
            </a:r>
          </a:p>
        </p:txBody>
      </p:sp>
      <p:sp>
        <p:nvSpPr>
          <p:cNvPr id="3" name="TextBox 2">
            <a:extLst>
              <a:ext uri="{FF2B5EF4-FFF2-40B4-BE49-F238E27FC236}">
                <a16:creationId xmlns:a16="http://schemas.microsoft.com/office/drawing/2014/main" id="{97C3B346-776B-474E-9AFF-823CC12A21B3}"/>
              </a:ext>
            </a:extLst>
          </p:cNvPr>
          <p:cNvSpPr txBox="1"/>
          <p:nvPr/>
        </p:nvSpPr>
        <p:spPr>
          <a:xfrm>
            <a:off x="1229095" y="2767280"/>
            <a:ext cx="10052624" cy="1323439"/>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rPr>
              <a:t>Businesses don't need to set up their own infrastructure to expand internationally. AWS provides a robust global infrastructure that customers can use to deploy applications and services across multiple areas in minutes.</a:t>
            </a:r>
          </a:p>
          <a:p>
            <a:pPr algn="l"/>
            <a:endParaRPr lang="en-GB" sz="2000" b="0" i="0" dirty="0">
              <a:solidFill>
                <a:srgbClr val="000000"/>
              </a:solidFill>
              <a:effectLst/>
              <a:latin typeface="Segoe UI" panose="020B0502040204020203" pitchFamily="34" charset="0"/>
            </a:endParaRPr>
          </a:p>
        </p:txBody>
      </p:sp>
      <p:pic>
        <p:nvPicPr>
          <p:cNvPr id="5" name="Picture 4">
            <a:extLst>
              <a:ext uri="{FF2B5EF4-FFF2-40B4-BE49-F238E27FC236}">
                <a16:creationId xmlns:a16="http://schemas.microsoft.com/office/drawing/2014/main" id="{0E60C80A-97A7-48E5-A805-20E1383BB8F2}"/>
              </a:ext>
            </a:extLst>
          </p:cNvPr>
          <p:cNvPicPr>
            <a:picLocks noChangeAspect="1"/>
          </p:cNvPicPr>
          <p:nvPr/>
        </p:nvPicPr>
        <p:blipFill>
          <a:blip r:embed="rId2"/>
          <a:stretch>
            <a:fillRect/>
          </a:stretch>
        </p:blipFill>
        <p:spPr>
          <a:xfrm>
            <a:off x="2676525" y="3893923"/>
            <a:ext cx="6838950" cy="2628900"/>
          </a:xfrm>
          <a:prstGeom prst="rect">
            <a:avLst/>
          </a:prstGeom>
        </p:spPr>
      </p:pic>
    </p:spTree>
    <p:extLst>
      <p:ext uri="{BB962C8B-B14F-4D97-AF65-F5344CB8AC3E}">
        <p14:creationId xmlns:p14="http://schemas.microsoft.com/office/powerpoint/2010/main" val="4640920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71A31-3FED-45BB-9472-F4D18583BFA9}"/>
              </a:ext>
            </a:extLst>
          </p:cNvPr>
          <p:cNvSpPr>
            <a:spLocks noGrp="1"/>
          </p:cNvSpPr>
          <p:nvPr>
            <p:ph type="title"/>
          </p:nvPr>
        </p:nvSpPr>
        <p:spPr>
          <a:xfrm>
            <a:off x="1715293" y="961311"/>
            <a:ext cx="8761413" cy="706964"/>
          </a:xfrm>
        </p:spPr>
        <p:txBody>
          <a:bodyPr/>
          <a:lstStyle/>
          <a:p>
            <a:r>
              <a:rPr lang="en-GB" dirty="0"/>
              <a:t>AWS Regions and Availability Zones</a:t>
            </a:r>
          </a:p>
        </p:txBody>
      </p:sp>
      <p:pic>
        <p:nvPicPr>
          <p:cNvPr id="4" name="Picture 3">
            <a:extLst>
              <a:ext uri="{FF2B5EF4-FFF2-40B4-BE49-F238E27FC236}">
                <a16:creationId xmlns:a16="http://schemas.microsoft.com/office/drawing/2014/main" id="{FDBFDF50-19DD-425C-A9DF-710FE8AD23BF}"/>
              </a:ext>
            </a:extLst>
          </p:cNvPr>
          <p:cNvPicPr>
            <a:picLocks noChangeAspect="1"/>
          </p:cNvPicPr>
          <p:nvPr/>
        </p:nvPicPr>
        <p:blipFill>
          <a:blip r:embed="rId2"/>
          <a:stretch>
            <a:fillRect/>
          </a:stretch>
        </p:blipFill>
        <p:spPr>
          <a:xfrm>
            <a:off x="3062185" y="3336417"/>
            <a:ext cx="6302407" cy="3303032"/>
          </a:xfrm>
          <a:prstGeom prst="rect">
            <a:avLst/>
          </a:prstGeom>
        </p:spPr>
      </p:pic>
      <p:sp>
        <p:nvSpPr>
          <p:cNvPr id="5" name="TextBox 4">
            <a:extLst>
              <a:ext uri="{FF2B5EF4-FFF2-40B4-BE49-F238E27FC236}">
                <a16:creationId xmlns:a16="http://schemas.microsoft.com/office/drawing/2014/main" id="{6EF5C685-C558-46AE-A164-40F81610C662}"/>
              </a:ext>
            </a:extLst>
          </p:cNvPr>
          <p:cNvSpPr txBox="1"/>
          <p:nvPr/>
        </p:nvSpPr>
        <p:spPr>
          <a:xfrm>
            <a:off x="234778" y="2320754"/>
            <a:ext cx="11957222" cy="1015663"/>
          </a:xfrm>
          <a:prstGeom prst="rect">
            <a:avLst/>
          </a:prstGeom>
          <a:noFill/>
        </p:spPr>
        <p:txBody>
          <a:bodyPr wrap="square" rtlCol="0">
            <a:spAutoFit/>
          </a:bodyPr>
          <a:lstStyle/>
          <a:p>
            <a:r>
              <a:rPr lang="en-GB" sz="2000" dirty="0">
                <a:latin typeface="Segoe UI" panose="020B0502040204020203" pitchFamily="34" charset="0"/>
                <a:cs typeface="Segoe UI" panose="020B0502040204020203" pitchFamily="34" charset="0"/>
              </a:rPr>
              <a:t>AWS Global Infrastructure consists of physical locations around the world that contain groups of data </a:t>
            </a:r>
            <a:r>
              <a:rPr lang="en-GB" sz="2000" dirty="0" err="1">
                <a:latin typeface="Segoe UI" panose="020B0502040204020203" pitchFamily="34" charset="0"/>
                <a:cs typeface="Segoe UI" panose="020B0502040204020203" pitchFamily="34" charset="0"/>
              </a:rPr>
              <a:t>centers</a:t>
            </a:r>
            <a:r>
              <a:rPr lang="en-GB" sz="2000" dirty="0">
                <a:latin typeface="Segoe UI" panose="020B0502040204020203" pitchFamily="34" charset="0"/>
                <a:cs typeface="Segoe UI" panose="020B0502040204020203" pitchFamily="34" charset="0"/>
              </a:rPr>
              <a:t>. To learn more about the design of AWS Regions and Availability Zones, choose each of the following two numbered markers.</a:t>
            </a:r>
          </a:p>
        </p:txBody>
      </p:sp>
    </p:spTree>
    <p:extLst>
      <p:ext uri="{BB962C8B-B14F-4D97-AF65-F5344CB8AC3E}">
        <p14:creationId xmlns:p14="http://schemas.microsoft.com/office/powerpoint/2010/main" val="4019223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579E1-C3F0-4A31-BB7F-4A54E821D985}"/>
              </a:ext>
            </a:extLst>
          </p:cNvPr>
          <p:cNvSpPr>
            <a:spLocks noGrp="1"/>
          </p:cNvSpPr>
          <p:nvPr>
            <p:ph type="title"/>
          </p:nvPr>
        </p:nvSpPr>
        <p:spPr>
          <a:xfrm>
            <a:off x="1488586" y="986024"/>
            <a:ext cx="8761413" cy="706964"/>
          </a:xfrm>
        </p:spPr>
        <p:txBody>
          <a:bodyPr/>
          <a:lstStyle/>
          <a:p>
            <a:pPr algn="ctr"/>
            <a:r>
              <a:rPr lang="en-GB" dirty="0"/>
              <a:t>Achieving high availability with AWS Global Infrastructure</a:t>
            </a:r>
          </a:p>
        </p:txBody>
      </p:sp>
      <p:sp>
        <p:nvSpPr>
          <p:cNvPr id="3" name="TextBox 2">
            <a:extLst>
              <a:ext uri="{FF2B5EF4-FFF2-40B4-BE49-F238E27FC236}">
                <a16:creationId xmlns:a16="http://schemas.microsoft.com/office/drawing/2014/main" id="{FB21E75A-8E62-4E1C-8BEF-301B7154D3FB}"/>
              </a:ext>
            </a:extLst>
          </p:cNvPr>
          <p:cNvSpPr txBox="1"/>
          <p:nvPr/>
        </p:nvSpPr>
        <p:spPr>
          <a:xfrm>
            <a:off x="840259" y="2532857"/>
            <a:ext cx="7364627" cy="3477875"/>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AWS infrastructure is designed with high availability and fault tolerance in mind. Availability Zones (AZs) are configured as isolated resources, and they are each equipped with independent power, networking, and connectivity.</a:t>
            </a:r>
          </a:p>
          <a:p>
            <a:pPr algn="l" fontAlgn="auto"/>
            <a:endParaRPr lang="en-GB" sz="2000" b="0" i="0" dirty="0">
              <a:solidFill>
                <a:srgbClr val="000000"/>
              </a:solidFill>
              <a:effectLst/>
              <a:latin typeface="Segoe UI" panose="020B0502040204020203" pitchFamily="34" charset="0"/>
              <a:cs typeface="Segoe UI" panose="020B0502040204020203" pitchFamily="34" charset="0"/>
            </a:endParaRPr>
          </a:p>
          <a:p>
            <a:pPr algn="l" fontAlgn="auto"/>
            <a:r>
              <a:rPr lang="en-GB" sz="2000" b="0" i="0" dirty="0">
                <a:solidFill>
                  <a:srgbClr val="000000"/>
                </a:solidFill>
                <a:effectLst/>
                <a:latin typeface="Segoe UI" panose="020B0502040204020203" pitchFamily="34" charset="0"/>
                <a:cs typeface="Segoe UI" panose="020B0502040204020203" pitchFamily="34" charset="0"/>
              </a:rPr>
              <a:t>It's recommended to distribute your resources across multiple AZs. That way, if one AZ encounters an outage, your business applications will continue to operate without interruption. With this approach of redundancy and resource isolation, AWS customers can achieve the benefits of high availability and fault tolerance</a:t>
            </a:r>
            <a:r>
              <a:rPr lang="en-GB" b="0" i="0" dirty="0">
                <a:solidFill>
                  <a:srgbClr val="000000"/>
                </a:solidFill>
                <a:effectLst/>
                <a:latin typeface="Segoe UI" panose="020B0502040204020203" pitchFamily="34" charset="0"/>
                <a:cs typeface="Segoe UI" panose="020B0502040204020203" pitchFamily="34" charset="0"/>
              </a:rPr>
              <a:t>.</a:t>
            </a:r>
            <a:endParaRPr lang="en-GB"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20E7029D-9F01-44B5-BFCA-E4D39EF308E5}"/>
              </a:ext>
            </a:extLst>
          </p:cNvPr>
          <p:cNvPicPr>
            <a:picLocks noChangeAspect="1"/>
          </p:cNvPicPr>
          <p:nvPr/>
        </p:nvPicPr>
        <p:blipFill>
          <a:blip r:embed="rId2"/>
          <a:stretch>
            <a:fillRect/>
          </a:stretch>
        </p:blipFill>
        <p:spPr>
          <a:xfrm>
            <a:off x="8316097" y="2526679"/>
            <a:ext cx="3695700" cy="2971800"/>
          </a:xfrm>
          <a:prstGeom prst="rect">
            <a:avLst/>
          </a:prstGeom>
        </p:spPr>
      </p:pic>
    </p:spTree>
    <p:extLst>
      <p:ext uri="{BB962C8B-B14F-4D97-AF65-F5344CB8AC3E}">
        <p14:creationId xmlns:p14="http://schemas.microsoft.com/office/powerpoint/2010/main" val="24173109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4939-C5DA-48DE-9BB1-2525D5E2FF11}"/>
              </a:ext>
            </a:extLst>
          </p:cNvPr>
          <p:cNvSpPr>
            <a:spLocks noGrp="1"/>
          </p:cNvSpPr>
          <p:nvPr>
            <p:ph type="title"/>
          </p:nvPr>
        </p:nvSpPr>
        <p:spPr/>
        <p:txBody>
          <a:bodyPr/>
          <a:lstStyle/>
          <a:p>
            <a:pPr algn="ctr"/>
            <a:r>
              <a:rPr lang="en-GB" dirty="0"/>
              <a:t>Components of the AWS Shared Responsibility Model</a:t>
            </a:r>
          </a:p>
        </p:txBody>
      </p:sp>
      <p:sp>
        <p:nvSpPr>
          <p:cNvPr id="5" name="TextBox 4">
            <a:extLst>
              <a:ext uri="{FF2B5EF4-FFF2-40B4-BE49-F238E27FC236}">
                <a16:creationId xmlns:a16="http://schemas.microsoft.com/office/drawing/2014/main" id="{9B9E200C-C474-4B3C-900D-DEE3B4D483A1}"/>
              </a:ext>
            </a:extLst>
          </p:cNvPr>
          <p:cNvSpPr txBox="1"/>
          <p:nvPr/>
        </p:nvSpPr>
        <p:spPr>
          <a:xfrm>
            <a:off x="1735722" y="3429000"/>
            <a:ext cx="10089695" cy="707886"/>
          </a:xfrm>
          <a:prstGeom prst="rect">
            <a:avLst/>
          </a:prstGeom>
          <a:noFill/>
        </p:spPr>
        <p:txBody>
          <a:bodyPr wrap="square" rtlCol="0">
            <a:spAutoFit/>
          </a:bodyPr>
          <a:lstStyle/>
          <a:p>
            <a:r>
              <a:rPr lang="en-GB" sz="2000" dirty="0">
                <a:latin typeface="Segoe UI" panose="020B0502040204020203" pitchFamily="34" charset="0"/>
                <a:cs typeface="Segoe UI" panose="020B0502040204020203" pitchFamily="34" charset="0"/>
              </a:rPr>
              <a:t>The AWS Shared Responsibility Model is a concept designed to help AWS and customers work together to create a secure, functional cloud environment.</a:t>
            </a:r>
          </a:p>
        </p:txBody>
      </p:sp>
    </p:spTree>
    <p:extLst>
      <p:ext uri="{BB962C8B-B14F-4D97-AF65-F5344CB8AC3E}">
        <p14:creationId xmlns:p14="http://schemas.microsoft.com/office/powerpoint/2010/main" val="2878396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74939-C5DA-48DE-9BB1-2525D5E2FF11}"/>
              </a:ext>
            </a:extLst>
          </p:cNvPr>
          <p:cNvSpPr>
            <a:spLocks noGrp="1"/>
          </p:cNvSpPr>
          <p:nvPr>
            <p:ph type="title"/>
          </p:nvPr>
        </p:nvSpPr>
        <p:spPr/>
        <p:txBody>
          <a:bodyPr/>
          <a:lstStyle/>
          <a:p>
            <a:pPr algn="ctr"/>
            <a:r>
              <a:rPr lang="en-GB" dirty="0"/>
              <a:t>Components of the AWS Shared Responsibility Model</a:t>
            </a:r>
          </a:p>
        </p:txBody>
      </p:sp>
      <p:pic>
        <p:nvPicPr>
          <p:cNvPr id="4" name="Picture 3">
            <a:extLst>
              <a:ext uri="{FF2B5EF4-FFF2-40B4-BE49-F238E27FC236}">
                <a16:creationId xmlns:a16="http://schemas.microsoft.com/office/drawing/2014/main" id="{ACE9CDCA-0E2E-434D-944C-A39058A2BBA5}"/>
              </a:ext>
            </a:extLst>
          </p:cNvPr>
          <p:cNvPicPr>
            <a:picLocks noChangeAspect="1"/>
          </p:cNvPicPr>
          <p:nvPr/>
        </p:nvPicPr>
        <p:blipFill>
          <a:blip r:embed="rId2"/>
          <a:stretch>
            <a:fillRect/>
          </a:stretch>
        </p:blipFill>
        <p:spPr>
          <a:xfrm>
            <a:off x="1484988" y="2409568"/>
            <a:ext cx="8939562" cy="4287794"/>
          </a:xfrm>
          <a:prstGeom prst="rect">
            <a:avLst/>
          </a:prstGeom>
        </p:spPr>
      </p:pic>
    </p:spTree>
    <p:extLst>
      <p:ext uri="{BB962C8B-B14F-4D97-AF65-F5344CB8AC3E}">
        <p14:creationId xmlns:p14="http://schemas.microsoft.com/office/powerpoint/2010/main" val="31618987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72830-1D9A-4AA2-A453-62A697E18C60}"/>
              </a:ext>
            </a:extLst>
          </p:cNvPr>
          <p:cNvSpPr>
            <a:spLocks noGrp="1"/>
          </p:cNvSpPr>
          <p:nvPr>
            <p:ph type="title"/>
          </p:nvPr>
        </p:nvSpPr>
        <p:spPr>
          <a:xfrm>
            <a:off x="1352662" y="1208446"/>
            <a:ext cx="8761413" cy="706964"/>
          </a:xfrm>
        </p:spPr>
        <p:txBody>
          <a:bodyPr/>
          <a:lstStyle/>
          <a:p>
            <a:pPr algn="ctr"/>
            <a:r>
              <a:rPr lang="en-GB" b="0" i="0" dirty="0">
                <a:solidFill>
                  <a:schemeClr val="bg1"/>
                </a:solidFill>
                <a:effectLst/>
                <a:latin typeface="Segoe UI" panose="020B0502040204020203" pitchFamily="34" charset="0"/>
              </a:rPr>
              <a:t>Introduction to Amazon EC2</a:t>
            </a:r>
            <a:br>
              <a:rPr lang="en-GB" b="0" i="0" dirty="0">
                <a:solidFill>
                  <a:srgbClr val="000000"/>
                </a:solidFill>
                <a:effectLst/>
                <a:latin typeface="Segoe UI" panose="020B0502040204020203" pitchFamily="34" charset="0"/>
              </a:rPr>
            </a:br>
            <a:endParaRPr lang="en-GB" dirty="0"/>
          </a:p>
        </p:txBody>
      </p:sp>
      <p:sp>
        <p:nvSpPr>
          <p:cNvPr id="5" name="TextBox 4">
            <a:extLst>
              <a:ext uri="{FF2B5EF4-FFF2-40B4-BE49-F238E27FC236}">
                <a16:creationId xmlns:a16="http://schemas.microsoft.com/office/drawing/2014/main" id="{D6E1F73C-98BC-4C2E-B16B-8B31930811EC}"/>
              </a:ext>
            </a:extLst>
          </p:cNvPr>
          <p:cNvSpPr txBox="1"/>
          <p:nvPr/>
        </p:nvSpPr>
        <p:spPr>
          <a:xfrm>
            <a:off x="889686" y="2928551"/>
            <a:ext cx="10194325" cy="2523768"/>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Amazon EC2 is more flexible, cost-effective, and faster than managing on-premises servers. It offers on-demand compute capacity that can be quickly launched, scaled, and terminated, with costs based only on active usage.</a:t>
            </a:r>
          </a:p>
          <a:p>
            <a:pPr algn="l" fontAlgn="auto"/>
            <a:r>
              <a:rPr lang="en-GB" sz="2000" b="0" i="0" dirty="0">
                <a:solidFill>
                  <a:srgbClr val="000000"/>
                </a:solidFill>
                <a:effectLst/>
                <a:latin typeface="Segoe UI" panose="020B0502040204020203" pitchFamily="34" charset="0"/>
                <a:cs typeface="Segoe UI" panose="020B0502040204020203" pitchFamily="34" charset="0"/>
              </a:rPr>
              <a:t>The flexibility of Amazon EC2 allows for faster development and deployment of applications. You can launch as many or as few virtual servers as needed and configure security, networking, and storage. You can also scale resources up or down based on usage, such as handling high traffic or compute-heavy tasks.</a:t>
            </a:r>
          </a:p>
          <a:p>
            <a:endParaRPr lang="en-GB" dirty="0"/>
          </a:p>
        </p:txBody>
      </p:sp>
    </p:spTree>
    <p:extLst>
      <p:ext uri="{BB962C8B-B14F-4D97-AF65-F5344CB8AC3E}">
        <p14:creationId xmlns:p14="http://schemas.microsoft.com/office/powerpoint/2010/main" val="1352917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DB6E-161E-480C-AC14-86A3B2AF7BC6}"/>
              </a:ext>
            </a:extLst>
          </p:cNvPr>
          <p:cNvSpPr>
            <a:spLocks noGrp="1"/>
          </p:cNvSpPr>
          <p:nvPr>
            <p:ph type="title"/>
          </p:nvPr>
        </p:nvSpPr>
        <p:spPr>
          <a:xfrm>
            <a:off x="1352662" y="1257873"/>
            <a:ext cx="8761413" cy="706964"/>
          </a:xfrm>
        </p:spPr>
        <p:txBody>
          <a:bodyPr/>
          <a:lstStyle/>
          <a:p>
            <a:pPr algn="ctr"/>
            <a:r>
              <a:rPr lang="en-GB" b="0" i="0" dirty="0">
                <a:solidFill>
                  <a:schemeClr val="bg1"/>
                </a:solidFill>
                <a:effectLst/>
                <a:latin typeface="Segoe UI" panose="020B0502040204020203" pitchFamily="34" charset="0"/>
              </a:rPr>
              <a:t>Comparing on-premises and cloud resources</a:t>
            </a:r>
            <a:br>
              <a:rPr lang="en-GB" b="0" i="0" dirty="0">
                <a:solidFill>
                  <a:srgbClr val="000000"/>
                </a:solidFill>
                <a:effectLst/>
                <a:latin typeface="Segoe UI" panose="020B0502040204020203" pitchFamily="34" charset="0"/>
              </a:rPr>
            </a:br>
            <a:endParaRPr lang="en-GB" dirty="0"/>
          </a:p>
        </p:txBody>
      </p:sp>
      <p:sp>
        <p:nvSpPr>
          <p:cNvPr id="3" name="TextBox 2">
            <a:extLst>
              <a:ext uri="{FF2B5EF4-FFF2-40B4-BE49-F238E27FC236}">
                <a16:creationId xmlns:a16="http://schemas.microsoft.com/office/drawing/2014/main" id="{EF49CB02-5EB9-42C2-A61C-D8CE49AC82B6}"/>
              </a:ext>
            </a:extLst>
          </p:cNvPr>
          <p:cNvSpPr txBox="1"/>
          <p:nvPr/>
        </p:nvSpPr>
        <p:spPr>
          <a:xfrm>
            <a:off x="981959" y="3429000"/>
            <a:ext cx="7253417" cy="1908215"/>
          </a:xfrm>
          <a:prstGeom prst="rect">
            <a:avLst/>
          </a:prstGeom>
          <a:noFill/>
        </p:spPr>
        <p:txBody>
          <a:bodyPr wrap="square" rtlCol="0">
            <a:spAutoFit/>
          </a:bodyPr>
          <a:lstStyle/>
          <a:p>
            <a:pPr algn="l"/>
            <a:r>
              <a:rPr lang="en-GB" sz="2000" b="0" i="0" dirty="0">
                <a:solidFill>
                  <a:srgbClr val="000000"/>
                </a:solidFill>
                <a:effectLst/>
                <a:latin typeface="Segoe UI" panose="020B0502040204020203" pitchFamily="34" charset="0"/>
                <a:cs typeface="Segoe UI" panose="020B0502040204020203" pitchFamily="34" charset="0"/>
              </a:rPr>
              <a:t>When designing infrastructure for your business, selecting the right resources can significantly affect your efficiency, flexibility, and overall costs. Review the key differences between on-premises and cloud resource management.</a:t>
            </a:r>
          </a:p>
          <a:p>
            <a:pPr algn="l"/>
            <a:endParaRPr lang="en-GB" sz="2000" b="0" i="0" dirty="0">
              <a:solidFill>
                <a:srgbClr val="000000"/>
              </a:solidFill>
              <a:effectLst/>
              <a:latin typeface="Segoe UI" panose="020B0502040204020203" pitchFamily="34" charset="0"/>
            </a:endParaRPr>
          </a:p>
          <a:p>
            <a:endParaRPr lang="en-GB" dirty="0"/>
          </a:p>
        </p:txBody>
      </p:sp>
      <p:pic>
        <p:nvPicPr>
          <p:cNvPr id="5" name="Picture 4">
            <a:extLst>
              <a:ext uri="{FF2B5EF4-FFF2-40B4-BE49-F238E27FC236}">
                <a16:creationId xmlns:a16="http://schemas.microsoft.com/office/drawing/2014/main" id="{16D4130D-7CC0-486C-AE78-91CD6D9A5CF9}"/>
              </a:ext>
            </a:extLst>
          </p:cNvPr>
          <p:cNvPicPr>
            <a:picLocks noChangeAspect="1"/>
          </p:cNvPicPr>
          <p:nvPr/>
        </p:nvPicPr>
        <p:blipFill>
          <a:blip r:embed="rId2"/>
          <a:stretch>
            <a:fillRect/>
          </a:stretch>
        </p:blipFill>
        <p:spPr>
          <a:xfrm>
            <a:off x="8867136" y="3101546"/>
            <a:ext cx="2493877" cy="2084625"/>
          </a:xfrm>
          <a:prstGeom prst="rect">
            <a:avLst/>
          </a:prstGeom>
        </p:spPr>
      </p:pic>
    </p:spTree>
    <p:extLst>
      <p:ext uri="{BB962C8B-B14F-4D97-AF65-F5344CB8AC3E}">
        <p14:creationId xmlns:p14="http://schemas.microsoft.com/office/powerpoint/2010/main" val="245943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421A0-BCC3-49A2-B124-8DA06F1FB05D}"/>
              </a:ext>
            </a:extLst>
          </p:cNvPr>
          <p:cNvSpPr>
            <a:spLocks noGrp="1"/>
          </p:cNvSpPr>
          <p:nvPr>
            <p:ph type="title"/>
          </p:nvPr>
        </p:nvSpPr>
        <p:spPr>
          <a:xfrm>
            <a:off x="1426803" y="986025"/>
            <a:ext cx="8761413" cy="706964"/>
          </a:xfrm>
        </p:spPr>
        <p:txBody>
          <a:bodyPr/>
          <a:lstStyle/>
          <a:p>
            <a:r>
              <a:rPr lang="en-GB" dirty="0"/>
              <a:t>Challenges of on-premises resources</a:t>
            </a:r>
          </a:p>
        </p:txBody>
      </p:sp>
      <p:sp>
        <p:nvSpPr>
          <p:cNvPr id="3" name="TextBox 2">
            <a:extLst>
              <a:ext uri="{FF2B5EF4-FFF2-40B4-BE49-F238E27FC236}">
                <a16:creationId xmlns:a16="http://schemas.microsoft.com/office/drawing/2014/main" id="{12D6CBF5-2FAE-48BA-B200-F457637E2D45}"/>
              </a:ext>
            </a:extLst>
          </p:cNvPr>
          <p:cNvSpPr txBox="1"/>
          <p:nvPr/>
        </p:nvSpPr>
        <p:spPr>
          <a:xfrm>
            <a:off x="1426803" y="2452754"/>
            <a:ext cx="9724768" cy="1631216"/>
          </a:xfrm>
          <a:prstGeom prst="rect">
            <a:avLst/>
          </a:prstGeom>
          <a:noFill/>
        </p:spPr>
        <p:txBody>
          <a:bodyPr wrap="square" rtlCol="0">
            <a:spAutoFit/>
          </a:bodyPr>
          <a:lstStyle/>
          <a:p>
            <a:r>
              <a:rPr lang="en-GB" sz="2000" dirty="0">
                <a:latin typeface="Segoe UI" panose="020B0502040204020203" pitchFamily="34" charset="0"/>
                <a:cs typeface="Segoe UI" panose="020B0502040204020203" pitchFamily="34" charset="0"/>
              </a:rPr>
              <a:t>Imagine that you're responsible for designing your company's infrastructure to support new websites. With traditional on-premises resources, you must purchase hardware upfront, wait for delivery, and handle installation and configuration. This process is time-consuming, costly, and inflexible because you're locked into a specific capacity that might not align with changing demands.</a:t>
            </a:r>
          </a:p>
        </p:txBody>
      </p:sp>
      <p:pic>
        <p:nvPicPr>
          <p:cNvPr id="5" name="Picture 4">
            <a:extLst>
              <a:ext uri="{FF2B5EF4-FFF2-40B4-BE49-F238E27FC236}">
                <a16:creationId xmlns:a16="http://schemas.microsoft.com/office/drawing/2014/main" id="{C7B18A9E-EB32-4307-AEC2-C117D4921D84}"/>
              </a:ext>
            </a:extLst>
          </p:cNvPr>
          <p:cNvPicPr>
            <a:picLocks noChangeAspect="1"/>
          </p:cNvPicPr>
          <p:nvPr/>
        </p:nvPicPr>
        <p:blipFill>
          <a:blip r:embed="rId2"/>
          <a:stretch>
            <a:fillRect/>
          </a:stretch>
        </p:blipFill>
        <p:spPr>
          <a:xfrm>
            <a:off x="2138291" y="4083970"/>
            <a:ext cx="7338435" cy="2678584"/>
          </a:xfrm>
          <a:prstGeom prst="rect">
            <a:avLst/>
          </a:prstGeom>
        </p:spPr>
      </p:pic>
    </p:spTree>
    <p:extLst>
      <p:ext uri="{BB962C8B-B14F-4D97-AF65-F5344CB8AC3E}">
        <p14:creationId xmlns:p14="http://schemas.microsoft.com/office/powerpoint/2010/main" val="12829319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0493D-B0EC-4CBA-AA18-4BAEF0E07160}"/>
              </a:ext>
            </a:extLst>
          </p:cNvPr>
          <p:cNvSpPr>
            <a:spLocks noGrp="1"/>
          </p:cNvSpPr>
          <p:nvPr>
            <p:ph type="title"/>
          </p:nvPr>
        </p:nvSpPr>
        <p:spPr>
          <a:xfrm>
            <a:off x="1266164" y="973668"/>
            <a:ext cx="8761413" cy="706964"/>
          </a:xfrm>
        </p:spPr>
        <p:txBody>
          <a:bodyPr/>
          <a:lstStyle/>
          <a:p>
            <a:pPr algn="ctr"/>
            <a:r>
              <a:rPr lang="en-GB" dirty="0"/>
              <a:t>Benefits of using Cloud Resources</a:t>
            </a:r>
          </a:p>
        </p:txBody>
      </p:sp>
      <p:sp>
        <p:nvSpPr>
          <p:cNvPr id="3" name="TextBox 2">
            <a:extLst>
              <a:ext uri="{FF2B5EF4-FFF2-40B4-BE49-F238E27FC236}">
                <a16:creationId xmlns:a16="http://schemas.microsoft.com/office/drawing/2014/main" id="{2BAB13C3-CFF0-4878-9CA2-B56B3EE3699B}"/>
              </a:ext>
            </a:extLst>
          </p:cNvPr>
          <p:cNvSpPr txBox="1"/>
          <p:nvPr/>
        </p:nvSpPr>
        <p:spPr>
          <a:xfrm>
            <a:off x="729048" y="2446637"/>
            <a:ext cx="10911017" cy="707886"/>
          </a:xfrm>
          <a:prstGeom prst="rect">
            <a:avLst/>
          </a:prstGeom>
          <a:noFill/>
        </p:spPr>
        <p:txBody>
          <a:bodyPr wrap="square" rtlCol="0">
            <a:spAutoFit/>
          </a:bodyPr>
          <a:lstStyle/>
          <a:p>
            <a:r>
              <a:rPr lang="en-GB" sz="2000" b="0" i="0" dirty="0">
                <a:solidFill>
                  <a:srgbClr val="000000"/>
                </a:solidFill>
                <a:effectLst/>
                <a:latin typeface="Segoe UI" panose="020B0502040204020203" pitchFamily="34" charset="0"/>
                <a:cs typeface="Segoe UI" panose="020B0502040204020203" pitchFamily="34" charset="0"/>
              </a:rPr>
              <a:t>In contrast, with Amazon EC2, you can quickly launch, scale, and stop instances based on your needs without the delays and upfront costs associated with traditional on-premises resources.</a:t>
            </a:r>
            <a:endParaRPr lang="en-GB"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C24356BD-25CC-4F2D-A566-D1C85B3C90E1}"/>
              </a:ext>
            </a:extLst>
          </p:cNvPr>
          <p:cNvPicPr>
            <a:picLocks noChangeAspect="1"/>
          </p:cNvPicPr>
          <p:nvPr/>
        </p:nvPicPr>
        <p:blipFill>
          <a:blip r:embed="rId2"/>
          <a:stretch>
            <a:fillRect/>
          </a:stretch>
        </p:blipFill>
        <p:spPr>
          <a:xfrm>
            <a:off x="2180799" y="3429000"/>
            <a:ext cx="6932141" cy="3305175"/>
          </a:xfrm>
          <a:prstGeom prst="rect">
            <a:avLst/>
          </a:prstGeom>
        </p:spPr>
      </p:pic>
    </p:spTree>
    <p:extLst>
      <p:ext uri="{BB962C8B-B14F-4D97-AF65-F5344CB8AC3E}">
        <p14:creationId xmlns:p14="http://schemas.microsoft.com/office/powerpoint/2010/main" val="41997734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5F4F0-2820-4949-B915-F4738DD7E106}"/>
              </a:ext>
            </a:extLst>
          </p:cNvPr>
          <p:cNvSpPr>
            <a:spLocks noGrp="1"/>
          </p:cNvSpPr>
          <p:nvPr>
            <p:ph type="title"/>
          </p:nvPr>
        </p:nvSpPr>
        <p:spPr>
          <a:xfrm>
            <a:off x="1167310" y="986025"/>
            <a:ext cx="8761413" cy="706964"/>
          </a:xfrm>
        </p:spPr>
        <p:txBody>
          <a:bodyPr/>
          <a:lstStyle/>
          <a:p>
            <a:pPr algn="ctr"/>
            <a:r>
              <a:rPr lang="en-GB" dirty="0"/>
              <a:t>How Amazon EC2 works</a:t>
            </a:r>
          </a:p>
        </p:txBody>
      </p:sp>
      <p:sp>
        <p:nvSpPr>
          <p:cNvPr id="3" name="TextBox 2">
            <a:extLst>
              <a:ext uri="{FF2B5EF4-FFF2-40B4-BE49-F238E27FC236}">
                <a16:creationId xmlns:a16="http://schemas.microsoft.com/office/drawing/2014/main" id="{482350F5-8605-4EF8-A766-A2F2E68EF079}"/>
              </a:ext>
            </a:extLst>
          </p:cNvPr>
          <p:cNvSpPr txBox="1"/>
          <p:nvPr/>
        </p:nvSpPr>
        <p:spPr>
          <a:xfrm>
            <a:off x="759537" y="2520778"/>
            <a:ext cx="11024690" cy="1015663"/>
          </a:xfrm>
          <a:prstGeom prst="rect">
            <a:avLst/>
          </a:prstGeom>
          <a:noFill/>
        </p:spPr>
        <p:txBody>
          <a:bodyPr wrap="square" rtlCol="0">
            <a:spAutoFit/>
          </a:bodyPr>
          <a:lstStyle/>
          <a:p>
            <a:r>
              <a:rPr lang="en-GB" b="0" i="0" dirty="0">
                <a:solidFill>
                  <a:srgbClr val="000000"/>
                </a:solidFill>
                <a:effectLst/>
                <a:latin typeface="Ember Display2"/>
              </a:rPr>
              <a:t>Yo</a:t>
            </a:r>
            <a:r>
              <a:rPr lang="en-GB" sz="2000" b="0" i="0" dirty="0">
                <a:solidFill>
                  <a:srgbClr val="000000"/>
                </a:solidFill>
                <a:effectLst/>
                <a:latin typeface="Segoe UI" panose="020B0502040204020203" pitchFamily="34" charset="0"/>
                <a:cs typeface="Segoe UI" panose="020B0502040204020203" pitchFamily="34" charset="0"/>
              </a:rPr>
              <a:t>u’ve learned that AWS manages complex infrastructure, offering on-demand compute capacity that’s available whenever you need it. You can request EC2 instances and have them ready to use within minutes. But how do you actually get started?</a:t>
            </a:r>
            <a:endParaRPr lang="en-GB"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2CB01602-7956-43BC-955F-6B8EA25FD7AC}"/>
              </a:ext>
            </a:extLst>
          </p:cNvPr>
          <p:cNvPicPr>
            <a:picLocks noChangeAspect="1"/>
          </p:cNvPicPr>
          <p:nvPr/>
        </p:nvPicPr>
        <p:blipFill>
          <a:blip r:embed="rId2"/>
          <a:stretch>
            <a:fillRect/>
          </a:stretch>
        </p:blipFill>
        <p:spPr>
          <a:xfrm>
            <a:off x="4435818" y="3683986"/>
            <a:ext cx="3574212" cy="2716814"/>
          </a:xfrm>
          <a:prstGeom prst="rect">
            <a:avLst/>
          </a:prstGeom>
        </p:spPr>
      </p:pic>
    </p:spTree>
    <p:extLst>
      <p:ext uri="{BB962C8B-B14F-4D97-AF65-F5344CB8AC3E}">
        <p14:creationId xmlns:p14="http://schemas.microsoft.com/office/powerpoint/2010/main" val="31132784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27CB6-5E9F-4962-A320-CF8EED1ABDE7}"/>
              </a:ext>
            </a:extLst>
          </p:cNvPr>
          <p:cNvSpPr>
            <a:spLocks noGrp="1"/>
          </p:cNvSpPr>
          <p:nvPr>
            <p:ph type="title"/>
          </p:nvPr>
        </p:nvSpPr>
        <p:spPr/>
        <p:txBody>
          <a:bodyPr/>
          <a:lstStyle/>
          <a:p>
            <a:pPr algn="ctr"/>
            <a:r>
              <a:rPr lang="en-GB" dirty="0"/>
              <a:t>Step1:Launch an instance</a:t>
            </a:r>
          </a:p>
        </p:txBody>
      </p:sp>
      <p:sp>
        <p:nvSpPr>
          <p:cNvPr id="3" name="TextBox 2">
            <a:extLst>
              <a:ext uri="{FF2B5EF4-FFF2-40B4-BE49-F238E27FC236}">
                <a16:creationId xmlns:a16="http://schemas.microsoft.com/office/drawing/2014/main" id="{D430AA30-6EC5-46B9-ACBC-B9D63F812831}"/>
              </a:ext>
            </a:extLst>
          </p:cNvPr>
          <p:cNvSpPr txBox="1"/>
          <p:nvPr/>
        </p:nvSpPr>
        <p:spPr>
          <a:xfrm>
            <a:off x="840259" y="3126259"/>
            <a:ext cx="7166920" cy="1938992"/>
          </a:xfrm>
          <a:prstGeom prst="rect">
            <a:avLst/>
          </a:prstGeom>
          <a:noFill/>
        </p:spPr>
        <p:txBody>
          <a:bodyPr wrap="square" rtlCol="0">
            <a:spAutoFit/>
          </a:bodyPr>
          <a:lstStyle/>
          <a:p>
            <a:r>
              <a:rPr lang="en-GB" sz="2000" b="0" i="0" dirty="0">
                <a:solidFill>
                  <a:srgbClr val="000000"/>
                </a:solidFill>
                <a:effectLst/>
                <a:latin typeface="Segoe UI" panose="020B0502040204020203" pitchFamily="34" charset="0"/>
                <a:cs typeface="Segoe UI" panose="020B0502040204020203" pitchFamily="34" charset="0"/>
              </a:rPr>
              <a:t>When launching an EC2 instance, you start by selecting an Amazon Machine Image (AMI), which defines the operating system and might include additional software. You also choose an instance type, which determines the underlying hardware resources, such as CPU, memory, and network performance.</a:t>
            </a:r>
            <a:endParaRPr lang="en-GB" sz="20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5E31D230-EB6E-4071-82B2-5666B56747D5}"/>
              </a:ext>
            </a:extLst>
          </p:cNvPr>
          <p:cNvPicPr>
            <a:picLocks noChangeAspect="1"/>
          </p:cNvPicPr>
          <p:nvPr/>
        </p:nvPicPr>
        <p:blipFill>
          <a:blip r:embed="rId2"/>
          <a:stretch>
            <a:fillRect/>
          </a:stretch>
        </p:blipFill>
        <p:spPr>
          <a:xfrm>
            <a:off x="8674443" y="2827104"/>
            <a:ext cx="2916195" cy="3257049"/>
          </a:xfrm>
          <a:prstGeom prst="rect">
            <a:avLst/>
          </a:prstGeom>
        </p:spPr>
      </p:pic>
    </p:spTree>
    <p:extLst>
      <p:ext uri="{BB962C8B-B14F-4D97-AF65-F5344CB8AC3E}">
        <p14:creationId xmlns:p14="http://schemas.microsoft.com/office/powerpoint/2010/main" val="41774410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62E65-B4B3-4B34-A5F6-290421DC228F}"/>
              </a:ext>
            </a:extLst>
          </p:cNvPr>
          <p:cNvSpPr>
            <a:spLocks noGrp="1"/>
          </p:cNvSpPr>
          <p:nvPr>
            <p:ph type="title"/>
          </p:nvPr>
        </p:nvSpPr>
        <p:spPr/>
        <p:txBody>
          <a:bodyPr/>
          <a:lstStyle/>
          <a:p>
            <a:pPr algn="ctr"/>
            <a:r>
              <a:rPr lang="en-GB" dirty="0"/>
              <a:t>Step2: Connect to the instance</a:t>
            </a:r>
          </a:p>
        </p:txBody>
      </p:sp>
      <p:pic>
        <p:nvPicPr>
          <p:cNvPr id="4" name="Picture 3">
            <a:extLst>
              <a:ext uri="{FF2B5EF4-FFF2-40B4-BE49-F238E27FC236}">
                <a16:creationId xmlns:a16="http://schemas.microsoft.com/office/drawing/2014/main" id="{42FCD494-ED82-4BF2-91DC-178DD83BAE0A}"/>
              </a:ext>
            </a:extLst>
          </p:cNvPr>
          <p:cNvPicPr>
            <a:picLocks noChangeAspect="1"/>
          </p:cNvPicPr>
          <p:nvPr/>
        </p:nvPicPr>
        <p:blipFill>
          <a:blip r:embed="rId2"/>
          <a:stretch>
            <a:fillRect/>
          </a:stretch>
        </p:blipFill>
        <p:spPr>
          <a:xfrm>
            <a:off x="3529527" y="4130503"/>
            <a:ext cx="4638675" cy="2505075"/>
          </a:xfrm>
          <a:prstGeom prst="rect">
            <a:avLst/>
          </a:prstGeom>
        </p:spPr>
      </p:pic>
      <p:sp>
        <p:nvSpPr>
          <p:cNvPr id="5" name="TextBox 4">
            <a:extLst>
              <a:ext uri="{FF2B5EF4-FFF2-40B4-BE49-F238E27FC236}">
                <a16:creationId xmlns:a16="http://schemas.microsoft.com/office/drawing/2014/main" id="{5EB2F5B4-A689-46E8-85A0-0EB7B8A8014C}"/>
              </a:ext>
            </a:extLst>
          </p:cNvPr>
          <p:cNvSpPr txBox="1"/>
          <p:nvPr/>
        </p:nvSpPr>
        <p:spPr>
          <a:xfrm>
            <a:off x="926757" y="2310714"/>
            <a:ext cx="11009870" cy="1908215"/>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You can connect to an EC2 instance in various ways. Applications can interact with services running on the instance over the network.</a:t>
            </a:r>
          </a:p>
          <a:p>
            <a:pPr algn="l" fontAlgn="auto"/>
            <a:r>
              <a:rPr lang="en-GB" sz="2000" b="0" i="0" dirty="0">
                <a:solidFill>
                  <a:srgbClr val="000000"/>
                </a:solidFill>
                <a:effectLst/>
                <a:latin typeface="Segoe UI" panose="020B0502040204020203" pitchFamily="34" charset="0"/>
                <a:cs typeface="Segoe UI" panose="020B0502040204020203" pitchFamily="34" charset="0"/>
              </a:rPr>
              <a:t>Users or administrators can connect using SSH for Linux instances or Remote Desktop Protocol (RDP) for Windows instances. Alternatively, AWS services like AWS Systems Manager offer a secure and simplified method for accessing instances.</a:t>
            </a:r>
          </a:p>
          <a:p>
            <a:endParaRPr lang="en-GB" dirty="0"/>
          </a:p>
        </p:txBody>
      </p:sp>
    </p:spTree>
    <p:extLst>
      <p:ext uri="{BB962C8B-B14F-4D97-AF65-F5344CB8AC3E}">
        <p14:creationId xmlns:p14="http://schemas.microsoft.com/office/powerpoint/2010/main" val="13718483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DD124-CEE9-4D0C-8F6B-00F76B717182}"/>
              </a:ext>
            </a:extLst>
          </p:cNvPr>
          <p:cNvSpPr>
            <a:spLocks noGrp="1"/>
          </p:cNvSpPr>
          <p:nvPr>
            <p:ph type="title"/>
          </p:nvPr>
        </p:nvSpPr>
        <p:spPr>
          <a:xfrm>
            <a:off x="1315592" y="1010738"/>
            <a:ext cx="8761413" cy="706964"/>
          </a:xfrm>
        </p:spPr>
        <p:txBody>
          <a:bodyPr/>
          <a:lstStyle/>
          <a:p>
            <a:pPr algn="ctr"/>
            <a:r>
              <a:rPr lang="en-GB" dirty="0"/>
              <a:t>Step3:Use the instance</a:t>
            </a:r>
          </a:p>
        </p:txBody>
      </p:sp>
      <p:sp>
        <p:nvSpPr>
          <p:cNvPr id="3" name="TextBox 2">
            <a:extLst>
              <a:ext uri="{FF2B5EF4-FFF2-40B4-BE49-F238E27FC236}">
                <a16:creationId xmlns:a16="http://schemas.microsoft.com/office/drawing/2014/main" id="{CF6606FF-F18C-4DD2-ABAD-7A0ABDF8A486}"/>
              </a:ext>
            </a:extLst>
          </p:cNvPr>
          <p:cNvSpPr txBox="1"/>
          <p:nvPr/>
        </p:nvSpPr>
        <p:spPr>
          <a:xfrm>
            <a:off x="988541" y="2557849"/>
            <a:ext cx="10490886" cy="707886"/>
          </a:xfrm>
          <a:prstGeom prst="rect">
            <a:avLst/>
          </a:prstGeom>
          <a:noFill/>
        </p:spPr>
        <p:txBody>
          <a:bodyPr wrap="square" rtlCol="0">
            <a:spAutoFit/>
          </a:bodyPr>
          <a:lstStyle/>
          <a:p>
            <a:r>
              <a:rPr lang="en-GB" sz="2000" b="0" i="0" dirty="0">
                <a:solidFill>
                  <a:srgbClr val="000000"/>
                </a:solidFill>
                <a:effectLst/>
                <a:latin typeface="Segoe UI" panose="020B0502040204020203" pitchFamily="34" charset="0"/>
                <a:cs typeface="Segoe UI" panose="020B0502040204020203" pitchFamily="34" charset="0"/>
              </a:rPr>
              <a:t>After you are connected to the instance, you can begin using it to run commands, install software, add storage, organize files, and perform other tasks</a:t>
            </a:r>
            <a:r>
              <a:rPr lang="en-GB" b="0" i="0" dirty="0">
                <a:solidFill>
                  <a:srgbClr val="000000"/>
                </a:solidFill>
                <a:effectLst/>
                <a:latin typeface="Ember Display2"/>
              </a:rPr>
              <a:t>.</a:t>
            </a:r>
            <a:endParaRPr lang="en-GB" dirty="0"/>
          </a:p>
        </p:txBody>
      </p:sp>
      <p:pic>
        <p:nvPicPr>
          <p:cNvPr id="5" name="Picture 4">
            <a:extLst>
              <a:ext uri="{FF2B5EF4-FFF2-40B4-BE49-F238E27FC236}">
                <a16:creationId xmlns:a16="http://schemas.microsoft.com/office/drawing/2014/main" id="{95CAE546-B6D9-4FAD-9196-1F129D478945}"/>
              </a:ext>
            </a:extLst>
          </p:cNvPr>
          <p:cNvPicPr>
            <a:picLocks noChangeAspect="1"/>
          </p:cNvPicPr>
          <p:nvPr/>
        </p:nvPicPr>
        <p:blipFill>
          <a:blip r:embed="rId2"/>
          <a:stretch>
            <a:fillRect/>
          </a:stretch>
        </p:blipFill>
        <p:spPr>
          <a:xfrm>
            <a:off x="2224216" y="3522991"/>
            <a:ext cx="7481254" cy="2729785"/>
          </a:xfrm>
          <a:prstGeom prst="rect">
            <a:avLst/>
          </a:prstGeom>
        </p:spPr>
      </p:pic>
    </p:spTree>
    <p:extLst>
      <p:ext uri="{BB962C8B-B14F-4D97-AF65-F5344CB8AC3E}">
        <p14:creationId xmlns:p14="http://schemas.microsoft.com/office/powerpoint/2010/main" val="267820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74F7C-D251-42AD-A841-9A866F37AF9F}"/>
              </a:ext>
            </a:extLst>
          </p:cNvPr>
          <p:cNvSpPr>
            <a:spLocks noGrp="1"/>
          </p:cNvSpPr>
          <p:nvPr>
            <p:ph type="title"/>
          </p:nvPr>
        </p:nvSpPr>
        <p:spPr>
          <a:xfrm>
            <a:off x="1229095" y="1023095"/>
            <a:ext cx="8761413" cy="706964"/>
          </a:xfrm>
        </p:spPr>
        <p:txBody>
          <a:bodyPr/>
          <a:lstStyle/>
          <a:p>
            <a:pPr algn="ctr"/>
            <a:r>
              <a:rPr lang="en-GB" dirty="0"/>
              <a:t>Amazon EC2 Instance Types</a:t>
            </a:r>
          </a:p>
        </p:txBody>
      </p:sp>
      <p:sp>
        <p:nvSpPr>
          <p:cNvPr id="3" name="TextBox 2">
            <a:extLst>
              <a:ext uri="{FF2B5EF4-FFF2-40B4-BE49-F238E27FC236}">
                <a16:creationId xmlns:a16="http://schemas.microsoft.com/office/drawing/2014/main" id="{65E8A7A2-3B03-4BE3-AACE-934DC5C62166}"/>
              </a:ext>
            </a:extLst>
          </p:cNvPr>
          <p:cNvSpPr txBox="1"/>
          <p:nvPr/>
        </p:nvSpPr>
        <p:spPr>
          <a:xfrm>
            <a:off x="926757" y="3027405"/>
            <a:ext cx="10490886" cy="2246769"/>
          </a:xfrm>
          <a:prstGeom prst="rect">
            <a:avLst/>
          </a:prstGeom>
          <a:noFill/>
        </p:spPr>
        <p:txBody>
          <a:bodyPr wrap="square" rtlCol="0">
            <a:spAutoFit/>
          </a:bodyPr>
          <a:lstStyle/>
          <a:p>
            <a:r>
              <a:rPr lang="en-GB" sz="2000" dirty="0">
                <a:latin typeface="Segoe UI" panose="020B0502040204020203" pitchFamily="34" charset="0"/>
                <a:cs typeface="Segoe UI" panose="020B0502040204020203" pitchFamily="34" charset="0"/>
              </a:rPr>
              <a:t>Amazon EC2 offers a broad range of instance types, each tailored to meet specific use case requirements. These instances come with varying combinations of CPU, memory, storage, and networking capabilities, so you can choose the right mix of resources to optimize performance for your applications.</a:t>
            </a:r>
          </a:p>
          <a:p>
            <a:endParaRPr lang="en-GB" sz="2000" dirty="0">
              <a:latin typeface="Segoe UI" panose="020B0502040204020203" pitchFamily="34" charset="0"/>
              <a:cs typeface="Segoe UI" panose="020B0502040204020203" pitchFamily="34" charset="0"/>
            </a:endParaRPr>
          </a:p>
          <a:p>
            <a:r>
              <a:rPr lang="en-GB" sz="2000" b="0" i="0" dirty="0">
                <a:solidFill>
                  <a:srgbClr val="000000"/>
                </a:solidFill>
                <a:effectLst/>
                <a:latin typeface="Segoe UI" panose="020B0502040204020203" pitchFamily="34" charset="0"/>
                <a:cs typeface="Segoe UI" panose="020B0502040204020203" pitchFamily="34" charset="0"/>
              </a:rPr>
              <a:t>Whether you're running a simple web service or complex data processing tasks, Amazon EC2 provides the flexibility to select the ideal instance type for your needs.</a:t>
            </a:r>
            <a:endParaRPr lang="en-GB" sz="20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279713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C2DD27-CD06-4108-A0E4-FDC1987D7826}"/>
              </a:ext>
            </a:extLst>
          </p:cNvPr>
          <p:cNvSpPr>
            <a:spLocks noGrp="1"/>
          </p:cNvSpPr>
          <p:nvPr>
            <p:ph type="title"/>
          </p:nvPr>
        </p:nvSpPr>
        <p:spPr/>
        <p:txBody>
          <a:bodyPr/>
          <a:lstStyle/>
          <a:p>
            <a:pPr algn="ctr"/>
            <a:r>
              <a:rPr lang="en-GB" dirty="0"/>
              <a:t>Amazon EC2 Instance Types</a:t>
            </a:r>
          </a:p>
        </p:txBody>
      </p:sp>
      <p:sp>
        <p:nvSpPr>
          <p:cNvPr id="4" name="TextBox 3">
            <a:extLst>
              <a:ext uri="{FF2B5EF4-FFF2-40B4-BE49-F238E27FC236}">
                <a16:creationId xmlns:a16="http://schemas.microsoft.com/office/drawing/2014/main" id="{273B2BE0-E8DF-4FE4-BCA1-66C763064EB6}"/>
              </a:ext>
            </a:extLst>
          </p:cNvPr>
          <p:cNvSpPr txBox="1"/>
          <p:nvPr/>
        </p:nvSpPr>
        <p:spPr>
          <a:xfrm>
            <a:off x="1025611" y="2916194"/>
            <a:ext cx="6802326" cy="1908215"/>
          </a:xfrm>
          <a:prstGeom prst="rect">
            <a:avLst/>
          </a:prstGeom>
          <a:noFill/>
        </p:spPr>
        <p:txBody>
          <a:bodyPr wrap="square" rtlCol="0">
            <a:spAutoFit/>
          </a:bodyPr>
          <a:lstStyle/>
          <a:p>
            <a:pPr algn="l" fontAlgn="auto"/>
            <a:r>
              <a:rPr lang="en-GB" sz="2000" b="1" i="0" dirty="0">
                <a:solidFill>
                  <a:srgbClr val="000000"/>
                </a:solidFill>
                <a:effectLst/>
                <a:latin typeface="Segoe UI" panose="020B0502040204020203" pitchFamily="34" charset="0"/>
                <a:cs typeface="Segoe UI" panose="020B0502040204020203" pitchFamily="34" charset="0"/>
              </a:rPr>
              <a:t>1.General purpose: </a:t>
            </a:r>
          </a:p>
          <a:p>
            <a:pPr algn="l" fontAlgn="auto"/>
            <a:r>
              <a:rPr lang="en-GB" sz="2000" b="0" i="0" dirty="0">
                <a:solidFill>
                  <a:srgbClr val="000000"/>
                </a:solidFill>
                <a:effectLst/>
                <a:latin typeface="Segoe UI" panose="020B0502040204020203" pitchFamily="34" charset="0"/>
                <a:cs typeface="Segoe UI" panose="020B0502040204020203" pitchFamily="34" charset="0"/>
              </a:rPr>
              <a:t>General-purpose instances provide a balanced mix of compute, memory, and networking resources. They are ideal for diverse workloads, like web services, code repositories, and when workload performance is uncertain.</a:t>
            </a:r>
          </a:p>
          <a:p>
            <a:endParaRPr lang="en-GB" dirty="0"/>
          </a:p>
        </p:txBody>
      </p:sp>
      <p:pic>
        <p:nvPicPr>
          <p:cNvPr id="6" name="Picture 5">
            <a:extLst>
              <a:ext uri="{FF2B5EF4-FFF2-40B4-BE49-F238E27FC236}">
                <a16:creationId xmlns:a16="http://schemas.microsoft.com/office/drawing/2014/main" id="{DCCCF84D-5D4D-4247-9E0B-1B70E7F99789}"/>
              </a:ext>
            </a:extLst>
          </p:cNvPr>
          <p:cNvPicPr>
            <a:picLocks noChangeAspect="1"/>
          </p:cNvPicPr>
          <p:nvPr/>
        </p:nvPicPr>
        <p:blipFill>
          <a:blip r:embed="rId2"/>
          <a:stretch>
            <a:fillRect/>
          </a:stretch>
        </p:blipFill>
        <p:spPr>
          <a:xfrm>
            <a:off x="8767594" y="2916194"/>
            <a:ext cx="2000984" cy="2820434"/>
          </a:xfrm>
          <a:prstGeom prst="rect">
            <a:avLst/>
          </a:prstGeom>
        </p:spPr>
      </p:pic>
    </p:spTree>
    <p:extLst>
      <p:ext uri="{BB962C8B-B14F-4D97-AF65-F5344CB8AC3E}">
        <p14:creationId xmlns:p14="http://schemas.microsoft.com/office/powerpoint/2010/main" val="135491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EAE72-995D-46CB-ADB6-5C793D787A8D}"/>
              </a:ext>
            </a:extLst>
          </p:cNvPr>
          <p:cNvSpPr>
            <a:spLocks noGrp="1"/>
          </p:cNvSpPr>
          <p:nvPr>
            <p:ph type="title"/>
          </p:nvPr>
        </p:nvSpPr>
        <p:spPr/>
        <p:txBody>
          <a:bodyPr/>
          <a:lstStyle/>
          <a:p>
            <a:pPr algn="ctr"/>
            <a:r>
              <a:rPr lang="en-GB" dirty="0"/>
              <a:t>Amazon EC2 Instance Types</a:t>
            </a:r>
          </a:p>
        </p:txBody>
      </p:sp>
      <p:sp>
        <p:nvSpPr>
          <p:cNvPr id="3" name="TextBox 2">
            <a:extLst>
              <a:ext uri="{FF2B5EF4-FFF2-40B4-BE49-F238E27FC236}">
                <a16:creationId xmlns:a16="http://schemas.microsoft.com/office/drawing/2014/main" id="{542153CA-E48A-4D00-931B-484CE4D767EF}"/>
              </a:ext>
            </a:extLst>
          </p:cNvPr>
          <p:cNvSpPr txBox="1"/>
          <p:nvPr/>
        </p:nvSpPr>
        <p:spPr>
          <a:xfrm>
            <a:off x="1463873" y="2920956"/>
            <a:ext cx="5295273" cy="1908215"/>
          </a:xfrm>
          <a:prstGeom prst="rect">
            <a:avLst/>
          </a:prstGeom>
          <a:noFill/>
        </p:spPr>
        <p:txBody>
          <a:bodyPr wrap="square" rtlCol="0">
            <a:spAutoFit/>
          </a:bodyPr>
          <a:lstStyle/>
          <a:p>
            <a:pPr algn="l" fontAlgn="auto"/>
            <a:r>
              <a:rPr lang="en-GB" sz="2000" b="1" i="0" dirty="0">
                <a:solidFill>
                  <a:srgbClr val="000000"/>
                </a:solidFill>
                <a:effectLst/>
                <a:latin typeface="Segoe UI" panose="020B0502040204020203" pitchFamily="34" charset="0"/>
                <a:cs typeface="Segoe UI" panose="020B0502040204020203" pitchFamily="34" charset="0"/>
              </a:rPr>
              <a:t>2.Compute optimized</a:t>
            </a:r>
          </a:p>
          <a:p>
            <a:pPr algn="l" fontAlgn="auto"/>
            <a:r>
              <a:rPr lang="en-GB" sz="2000" b="0" i="0" dirty="0">
                <a:solidFill>
                  <a:srgbClr val="000000"/>
                </a:solidFill>
                <a:effectLst/>
                <a:latin typeface="Segoe UI" panose="020B0502040204020203" pitchFamily="34" charset="0"/>
                <a:cs typeface="Segoe UI" panose="020B0502040204020203" pitchFamily="34" charset="0"/>
              </a:rPr>
              <a:t>Compute optimized instances are ideal for compute-intensive tasks, such as gaming servers, high performance computing (HPC), machine learning, and scientific </a:t>
            </a:r>
            <a:r>
              <a:rPr lang="en-GB" sz="2000" b="0" i="0" dirty="0" err="1">
                <a:solidFill>
                  <a:srgbClr val="000000"/>
                </a:solidFill>
                <a:effectLst/>
                <a:latin typeface="Segoe UI" panose="020B0502040204020203" pitchFamily="34" charset="0"/>
                <a:cs typeface="Segoe UI" panose="020B0502040204020203" pitchFamily="34" charset="0"/>
              </a:rPr>
              <a:t>modeling</a:t>
            </a:r>
            <a:r>
              <a:rPr lang="en-GB" sz="2000" b="0" i="0" dirty="0">
                <a:solidFill>
                  <a:srgbClr val="000000"/>
                </a:solidFill>
                <a:effectLst/>
                <a:latin typeface="Segoe UI" panose="020B0502040204020203" pitchFamily="34" charset="0"/>
                <a:cs typeface="Segoe UI" panose="020B0502040204020203" pitchFamily="34" charset="0"/>
              </a:rPr>
              <a:t>.</a:t>
            </a:r>
          </a:p>
          <a:p>
            <a:endParaRPr lang="en-GB" dirty="0"/>
          </a:p>
        </p:txBody>
      </p:sp>
      <p:pic>
        <p:nvPicPr>
          <p:cNvPr id="5" name="Picture 4">
            <a:extLst>
              <a:ext uri="{FF2B5EF4-FFF2-40B4-BE49-F238E27FC236}">
                <a16:creationId xmlns:a16="http://schemas.microsoft.com/office/drawing/2014/main" id="{2D880530-2E31-479A-ADFF-7E36B03EDD9D}"/>
              </a:ext>
            </a:extLst>
          </p:cNvPr>
          <p:cNvPicPr>
            <a:picLocks noChangeAspect="1"/>
          </p:cNvPicPr>
          <p:nvPr/>
        </p:nvPicPr>
        <p:blipFill>
          <a:blip r:embed="rId2"/>
          <a:stretch>
            <a:fillRect/>
          </a:stretch>
        </p:blipFill>
        <p:spPr>
          <a:xfrm>
            <a:off x="7858768" y="2772675"/>
            <a:ext cx="2397340" cy="2431345"/>
          </a:xfrm>
          <a:prstGeom prst="rect">
            <a:avLst/>
          </a:prstGeom>
        </p:spPr>
      </p:pic>
    </p:spTree>
    <p:extLst>
      <p:ext uri="{BB962C8B-B14F-4D97-AF65-F5344CB8AC3E}">
        <p14:creationId xmlns:p14="http://schemas.microsoft.com/office/powerpoint/2010/main" val="15673522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8874-86CD-45D1-8295-A36D5E243F0E}"/>
              </a:ext>
            </a:extLst>
          </p:cNvPr>
          <p:cNvSpPr>
            <a:spLocks noGrp="1"/>
          </p:cNvSpPr>
          <p:nvPr>
            <p:ph type="title"/>
          </p:nvPr>
        </p:nvSpPr>
        <p:spPr/>
        <p:txBody>
          <a:bodyPr/>
          <a:lstStyle/>
          <a:p>
            <a:pPr algn="ctr"/>
            <a:r>
              <a:rPr lang="en-GB" dirty="0"/>
              <a:t>Amazon EC2 Instance Types</a:t>
            </a:r>
          </a:p>
        </p:txBody>
      </p:sp>
      <p:sp>
        <p:nvSpPr>
          <p:cNvPr id="3" name="TextBox 2">
            <a:extLst>
              <a:ext uri="{FF2B5EF4-FFF2-40B4-BE49-F238E27FC236}">
                <a16:creationId xmlns:a16="http://schemas.microsoft.com/office/drawing/2014/main" id="{8CE94326-6312-4E09-9FA1-FB331C5694E2}"/>
              </a:ext>
            </a:extLst>
          </p:cNvPr>
          <p:cNvSpPr txBox="1"/>
          <p:nvPr/>
        </p:nvSpPr>
        <p:spPr>
          <a:xfrm>
            <a:off x="1458098" y="2997051"/>
            <a:ext cx="6907427" cy="1908215"/>
          </a:xfrm>
          <a:prstGeom prst="rect">
            <a:avLst/>
          </a:prstGeom>
          <a:noFill/>
        </p:spPr>
        <p:txBody>
          <a:bodyPr wrap="square" rtlCol="0">
            <a:spAutoFit/>
          </a:bodyPr>
          <a:lstStyle/>
          <a:p>
            <a:pPr algn="l" fontAlgn="auto"/>
            <a:r>
              <a:rPr lang="en-GB" sz="2000" b="1" i="0" dirty="0">
                <a:solidFill>
                  <a:srgbClr val="000000"/>
                </a:solidFill>
                <a:effectLst/>
                <a:latin typeface="Segoe UI" panose="020B0502040204020203" pitchFamily="34" charset="0"/>
                <a:cs typeface="Segoe UI" panose="020B0502040204020203" pitchFamily="34" charset="0"/>
              </a:rPr>
              <a:t>Memory optimized</a:t>
            </a:r>
          </a:p>
          <a:p>
            <a:pPr algn="l" fontAlgn="auto"/>
            <a:r>
              <a:rPr lang="en-GB" sz="2000" b="0" i="0" dirty="0">
                <a:solidFill>
                  <a:srgbClr val="000000"/>
                </a:solidFill>
                <a:effectLst/>
                <a:latin typeface="Segoe UI" panose="020B0502040204020203" pitchFamily="34" charset="0"/>
                <a:cs typeface="Segoe UI" panose="020B0502040204020203" pitchFamily="34" charset="0"/>
              </a:rPr>
              <a:t>Memory optimized instances are used for memory-intensive tasks like processing large datasets, data analytics, and databases. They provide fast performance for memory-heavy workloads.</a:t>
            </a:r>
          </a:p>
          <a:p>
            <a:endParaRPr lang="en-GB" dirty="0"/>
          </a:p>
        </p:txBody>
      </p:sp>
      <p:pic>
        <p:nvPicPr>
          <p:cNvPr id="5" name="Picture 4">
            <a:extLst>
              <a:ext uri="{FF2B5EF4-FFF2-40B4-BE49-F238E27FC236}">
                <a16:creationId xmlns:a16="http://schemas.microsoft.com/office/drawing/2014/main" id="{81D2DC23-F37C-4328-82A7-C873D210FF62}"/>
              </a:ext>
            </a:extLst>
          </p:cNvPr>
          <p:cNvPicPr>
            <a:picLocks noChangeAspect="1"/>
          </p:cNvPicPr>
          <p:nvPr/>
        </p:nvPicPr>
        <p:blipFill>
          <a:blip r:embed="rId2"/>
          <a:stretch>
            <a:fillRect/>
          </a:stretch>
        </p:blipFill>
        <p:spPr>
          <a:xfrm>
            <a:off x="8824654" y="2997051"/>
            <a:ext cx="1909248" cy="2153632"/>
          </a:xfrm>
          <a:prstGeom prst="rect">
            <a:avLst/>
          </a:prstGeom>
        </p:spPr>
      </p:pic>
    </p:spTree>
    <p:extLst>
      <p:ext uri="{BB962C8B-B14F-4D97-AF65-F5344CB8AC3E}">
        <p14:creationId xmlns:p14="http://schemas.microsoft.com/office/powerpoint/2010/main" val="11342639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F7545-65BA-4ABC-8CD6-0A2191A60DCC}"/>
              </a:ext>
            </a:extLst>
          </p:cNvPr>
          <p:cNvSpPr>
            <a:spLocks noGrp="1"/>
          </p:cNvSpPr>
          <p:nvPr>
            <p:ph type="title"/>
          </p:nvPr>
        </p:nvSpPr>
        <p:spPr/>
        <p:txBody>
          <a:bodyPr/>
          <a:lstStyle/>
          <a:p>
            <a:pPr algn="ctr"/>
            <a:r>
              <a:rPr lang="en-GB" dirty="0"/>
              <a:t>Amazon EC2 Instance Types</a:t>
            </a:r>
          </a:p>
        </p:txBody>
      </p:sp>
      <p:sp>
        <p:nvSpPr>
          <p:cNvPr id="3" name="TextBox 2">
            <a:extLst>
              <a:ext uri="{FF2B5EF4-FFF2-40B4-BE49-F238E27FC236}">
                <a16:creationId xmlns:a16="http://schemas.microsoft.com/office/drawing/2014/main" id="{35F6774D-7ED3-42E8-B7A1-06BB0DB45C13}"/>
              </a:ext>
            </a:extLst>
          </p:cNvPr>
          <p:cNvSpPr txBox="1"/>
          <p:nvPr/>
        </p:nvSpPr>
        <p:spPr>
          <a:xfrm>
            <a:off x="1445740" y="2959178"/>
            <a:ext cx="6166021" cy="2215991"/>
          </a:xfrm>
          <a:prstGeom prst="rect">
            <a:avLst/>
          </a:prstGeom>
          <a:noFill/>
        </p:spPr>
        <p:txBody>
          <a:bodyPr wrap="square" rtlCol="0">
            <a:spAutoFit/>
          </a:bodyPr>
          <a:lstStyle/>
          <a:p>
            <a:pPr algn="l" fontAlgn="auto"/>
            <a:r>
              <a:rPr lang="en-GB" sz="2000" b="1" i="0" dirty="0">
                <a:solidFill>
                  <a:srgbClr val="000000"/>
                </a:solidFill>
                <a:effectLst/>
                <a:latin typeface="Segoe UI" panose="020B0502040204020203" pitchFamily="34" charset="0"/>
                <a:cs typeface="Segoe UI" panose="020B0502040204020203" pitchFamily="34" charset="0"/>
              </a:rPr>
              <a:t>Accelerated computing</a:t>
            </a:r>
          </a:p>
          <a:p>
            <a:pPr algn="l" fontAlgn="auto"/>
            <a:r>
              <a:rPr lang="en-GB" sz="2000" b="0" i="0" dirty="0">
                <a:solidFill>
                  <a:srgbClr val="000000"/>
                </a:solidFill>
                <a:effectLst/>
                <a:latin typeface="Segoe UI" panose="020B0502040204020203" pitchFamily="34" charset="0"/>
                <a:cs typeface="Segoe UI" panose="020B0502040204020203" pitchFamily="34" charset="0"/>
              </a:rPr>
              <a:t>Accelerated computing instances use hardware accelerators, like graphics processing units (GPUs), to efficiently handle tasks, such as floating-point calculations, graphics processing, and machine learning.</a:t>
            </a:r>
          </a:p>
          <a:p>
            <a:endParaRPr lang="en-GB" dirty="0"/>
          </a:p>
        </p:txBody>
      </p:sp>
      <p:pic>
        <p:nvPicPr>
          <p:cNvPr id="5" name="Picture 4">
            <a:extLst>
              <a:ext uri="{FF2B5EF4-FFF2-40B4-BE49-F238E27FC236}">
                <a16:creationId xmlns:a16="http://schemas.microsoft.com/office/drawing/2014/main" id="{18E0864E-5221-4788-8BC5-4269A02ACDE2}"/>
              </a:ext>
            </a:extLst>
          </p:cNvPr>
          <p:cNvPicPr>
            <a:picLocks noChangeAspect="1"/>
          </p:cNvPicPr>
          <p:nvPr/>
        </p:nvPicPr>
        <p:blipFill>
          <a:blip r:embed="rId2"/>
          <a:stretch>
            <a:fillRect/>
          </a:stretch>
        </p:blipFill>
        <p:spPr>
          <a:xfrm>
            <a:off x="8509043" y="3086220"/>
            <a:ext cx="1938665" cy="2088949"/>
          </a:xfrm>
          <a:prstGeom prst="rect">
            <a:avLst/>
          </a:prstGeom>
        </p:spPr>
      </p:pic>
    </p:spTree>
    <p:extLst>
      <p:ext uri="{BB962C8B-B14F-4D97-AF65-F5344CB8AC3E}">
        <p14:creationId xmlns:p14="http://schemas.microsoft.com/office/powerpoint/2010/main" val="4239240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0E241-6EB2-40C9-8ED9-AEE5F951A87E}"/>
              </a:ext>
            </a:extLst>
          </p:cNvPr>
          <p:cNvSpPr>
            <a:spLocks noGrp="1"/>
          </p:cNvSpPr>
          <p:nvPr>
            <p:ph type="title"/>
          </p:nvPr>
        </p:nvSpPr>
        <p:spPr/>
        <p:txBody>
          <a:bodyPr/>
          <a:lstStyle/>
          <a:p>
            <a:pPr algn="ctr"/>
            <a:r>
              <a:rPr lang="en-GB" dirty="0"/>
              <a:t>Amazon EC2 Instance Types</a:t>
            </a:r>
          </a:p>
        </p:txBody>
      </p:sp>
      <p:sp>
        <p:nvSpPr>
          <p:cNvPr id="3" name="TextBox 2">
            <a:extLst>
              <a:ext uri="{FF2B5EF4-FFF2-40B4-BE49-F238E27FC236}">
                <a16:creationId xmlns:a16="http://schemas.microsoft.com/office/drawing/2014/main" id="{E361ACC3-8106-401A-B6CC-01EEBC907040}"/>
              </a:ext>
            </a:extLst>
          </p:cNvPr>
          <p:cNvSpPr txBox="1"/>
          <p:nvPr/>
        </p:nvSpPr>
        <p:spPr>
          <a:xfrm>
            <a:off x="1488586" y="3129841"/>
            <a:ext cx="5418841" cy="2215991"/>
          </a:xfrm>
          <a:prstGeom prst="rect">
            <a:avLst/>
          </a:prstGeom>
          <a:noFill/>
        </p:spPr>
        <p:txBody>
          <a:bodyPr wrap="square" rtlCol="0">
            <a:spAutoFit/>
          </a:bodyPr>
          <a:lstStyle/>
          <a:p>
            <a:pPr algn="l" fontAlgn="auto"/>
            <a:r>
              <a:rPr lang="en-GB" sz="2000" b="1" i="0" dirty="0">
                <a:solidFill>
                  <a:srgbClr val="000000"/>
                </a:solidFill>
                <a:effectLst/>
                <a:latin typeface="Segoe UI" panose="020B0502040204020203" pitchFamily="34" charset="0"/>
                <a:cs typeface="Segoe UI" panose="020B0502040204020203" pitchFamily="34" charset="0"/>
              </a:rPr>
              <a:t>Storage optimized</a:t>
            </a:r>
          </a:p>
          <a:p>
            <a:pPr algn="l" fontAlgn="auto"/>
            <a:r>
              <a:rPr lang="en-GB" sz="2000" b="0" i="0" dirty="0">
                <a:solidFill>
                  <a:srgbClr val="000000"/>
                </a:solidFill>
                <a:effectLst/>
                <a:latin typeface="Segoe UI" panose="020B0502040204020203" pitchFamily="34" charset="0"/>
                <a:cs typeface="Segoe UI" panose="020B0502040204020203" pitchFamily="34" charset="0"/>
              </a:rPr>
              <a:t>Storage optimized instances are designed for workloads that require high performance for locally stored data, such as large databases, data warehousing, and I/O-intensive applications.</a:t>
            </a:r>
          </a:p>
          <a:p>
            <a:endParaRPr lang="en-GB" dirty="0"/>
          </a:p>
        </p:txBody>
      </p:sp>
      <p:pic>
        <p:nvPicPr>
          <p:cNvPr id="5" name="Picture 4">
            <a:extLst>
              <a:ext uri="{FF2B5EF4-FFF2-40B4-BE49-F238E27FC236}">
                <a16:creationId xmlns:a16="http://schemas.microsoft.com/office/drawing/2014/main" id="{BBD5EAEC-986B-42E1-B718-AE11E3207197}"/>
              </a:ext>
            </a:extLst>
          </p:cNvPr>
          <p:cNvPicPr>
            <a:picLocks noChangeAspect="1"/>
          </p:cNvPicPr>
          <p:nvPr/>
        </p:nvPicPr>
        <p:blipFill>
          <a:blip r:embed="rId2"/>
          <a:stretch>
            <a:fillRect/>
          </a:stretch>
        </p:blipFill>
        <p:spPr>
          <a:xfrm>
            <a:off x="8065177" y="2859631"/>
            <a:ext cx="2094539" cy="2486201"/>
          </a:xfrm>
          <a:prstGeom prst="rect">
            <a:avLst/>
          </a:prstGeom>
        </p:spPr>
      </p:pic>
    </p:spTree>
    <p:extLst>
      <p:ext uri="{BB962C8B-B14F-4D97-AF65-F5344CB8AC3E}">
        <p14:creationId xmlns:p14="http://schemas.microsoft.com/office/powerpoint/2010/main" val="37179192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E81BAB-D46B-4B9C-9CCC-B137CC156486}"/>
              </a:ext>
            </a:extLst>
          </p:cNvPr>
          <p:cNvSpPr>
            <a:spLocks noGrp="1"/>
          </p:cNvSpPr>
          <p:nvPr>
            <p:ph type="title"/>
          </p:nvPr>
        </p:nvSpPr>
        <p:spPr>
          <a:xfrm>
            <a:off x="1377376" y="961311"/>
            <a:ext cx="8761413" cy="706964"/>
          </a:xfrm>
        </p:spPr>
        <p:txBody>
          <a:bodyPr/>
          <a:lstStyle/>
          <a:p>
            <a:pPr algn="ctr"/>
            <a:r>
              <a:rPr lang="en-GB" dirty="0"/>
              <a:t>How to Provision AWS Resources</a:t>
            </a:r>
          </a:p>
        </p:txBody>
      </p:sp>
      <p:sp>
        <p:nvSpPr>
          <p:cNvPr id="3" name="TextBox 2">
            <a:extLst>
              <a:ext uri="{FF2B5EF4-FFF2-40B4-BE49-F238E27FC236}">
                <a16:creationId xmlns:a16="http://schemas.microsoft.com/office/drawing/2014/main" id="{0BCE78F0-673E-46F5-BBC0-9084EB0647D7}"/>
              </a:ext>
            </a:extLst>
          </p:cNvPr>
          <p:cNvSpPr txBox="1"/>
          <p:nvPr/>
        </p:nvSpPr>
        <p:spPr>
          <a:xfrm>
            <a:off x="1377376" y="3200400"/>
            <a:ext cx="9774195" cy="1323439"/>
          </a:xfrm>
          <a:prstGeom prst="rect">
            <a:avLst/>
          </a:prstGeom>
          <a:noFill/>
        </p:spPr>
        <p:txBody>
          <a:bodyPr wrap="square" rtlCol="0">
            <a:spAutoFit/>
          </a:bodyPr>
          <a:lstStyle/>
          <a:p>
            <a:r>
              <a:rPr lang="en-GB" sz="2000" dirty="0">
                <a:latin typeface="Segoe UI" panose="020B0502040204020203" pitchFamily="34" charset="0"/>
                <a:cs typeface="Segoe UI" panose="020B0502040204020203" pitchFamily="34" charset="0"/>
              </a:rPr>
              <a:t>In AWS, tasks such as launching an EC2 instance, stopping an instance, or modifying instance settings are done through API requests. APIs provide predefined methods to interact with, manage, and configure AWS resources efficiently. In this lesson, you will learn about the three main ways to call AWS APIs.</a:t>
            </a:r>
          </a:p>
        </p:txBody>
      </p:sp>
    </p:spTree>
    <p:extLst>
      <p:ext uri="{BB962C8B-B14F-4D97-AF65-F5344CB8AC3E}">
        <p14:creationId xmlns:p14="http://schemas.microsoft.com/office/powerpoint/2010/main" val="22274977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7371D-8DD0-4B7D-8BC1-F0B7501353B5}"/>
              </a:ext>
            </a:extLst>
          </p:cNvPr>
          <p:cNvSpPr>
            <a:spLocks noGrp="1"/>
          </p:cNvSpPr>
          <p:nvPr>
            <p:ph type="title"/>
          </p:nvPr>
        </p:nvSpPr>
        <p:spPr>
          <a:xfrm>
            <a:off x="1154954" y="1035451"/>
            <a:ext cx="8761413" cy="706964"/>
          </a:xfrm>
        </p:spPr>
        <p:txBody>
          <a:bodyPr/>
          <a:lstStyle/>
          <a:p>
            <a:pPr algn="ctr"/>
            <a:r>
              <a:rPr lang="en-GB" dirty="0"/>
              <a:t>Interacting with AWS services</a:t>
            </a:r>
          </a:p>
        </p:txBody>
      </p:sp>
      <p:sp>
        <p:nvSpPr>
          <p:cNvPr id="3" name="TextBox 2">
            <a:extLst>
              <a:ext uri="{FF2B5EF4-FFF2-40B4-BE49-F238E27FC236}">
                <a16:creationId xmlns:a16="http://schemas.microsoft.com/office/drawing/2014/main" id="{15D41DE6-9BB7-4CE9-BFA0-A34C18CEC22C}"/>
              </a:ext>
            </a:extLst>
          </p:cNvPr>
          <p:cNvSpPr txBox="1"/>
          <p:nvPr/>
        </p:nvSpPr>
        <p:spPr>
          <a:xfrm>
            <a:off x="1182130" y="2483708"/>
            <a:ext cx="9854916" cy="1015663"/>
          </a:xfrm>
          <a:prstGeom prst="rect">
            <a:avLst/>
          </a:prstGeom>
          <a:noFill/>
        </p:spPr>
        <p:txBody>
          <a:bodyPr wrap="square" rtlCol="0">
            <a:spAutoFit/>
          </a:bodyPr>
          <a:lstStyle/>
          <a:p>
            <a:r>
              <a:rPr lang="en-GB" sz="2000" b="0" i="0" dirty="0">
                <a:solidFill>
                  <a:srgbClr val="000000"/>
                </a:solidFill>
                <a:effectLst/>
                <a:latin typeface="Segoe UI" panose="020B0502040204020203" pitchFamily="34" charset="0"/>
                <a:cs typeface="Segoe UI" panose="020B0502040204020203" pitchFamily="34" charset="0"/>
              </a:rPr>
              <a:t>All interactions with services are powered by APIs. You can access these APIs through three primary methods: the AWS Management Console, the AWS CLI, or the AWS SDK. Let's review these methods</a:t>
            </a:r>
            <a:r>
              <a:rPr lang="en-GB" b="0" i="0" dirty="0">
                <a:solidFill>
                  <a:srgbClr val="000000"/>
                </a:solidFill>
                <a:effectLst/>
                <a:latin typeface="Ember Display2"/>
              </a:rPr>
              <a:t>.</a:t>
            </a:r>
            <a:endParaRPr lang="en-GB" dirty="0"/>
          </a:p>
        </p:txBody>
      </p:sp>
      <p:pic>
        <p:nvPicPr>
          <p:cNvPr id="5" name="Picture 4">
            <a:extLst>
              <a:ext uri="{FF2B5EF4-FFF2-40B4-BE49-F238E27FC236}">
                <a16:creationId xmlns:a16="http://schemas.microsoft.com/office/drawing/2014/main" id="{7DEB5842-B596-43E1-BF34-B7BD846BD712}"/>
              </a:ext>
            </a:extLst>
          </p:cNvPr>
          <p:cNvPicPr>
            <a:picLocks noChangeAspect="1"/>
          </p:cNvPicPr>
          <p:nvPr/>
        </p:nvPicPr>
        <p:blipFill>
          <a:blip r:embed="rId2"/>
          <a:stretch>
            <a:fillRect/>
          </a:stretch>
        </p:blipFill>
        <p:spPr>
          <a:xfrm>
            <a:off x="2271773" y="3928778"/>
            <a:ext cx="7644594" cy="2079410"/>
          </a:xfrm>
          <a:prstGeom prst="rect">
            <a:avLst/>
          </a:prstGeom>
        </p:spPr>
      </p:pic>
    </p:spTree>
    <p:extLst>
      <p:ext uri="{BB962C8B-B14F-4D97-AF65-F5344CB8AC3E}">
        <p14:creationId xmlns:p14="http://schemas.microsoft.com/office/powerpoint/2010/main" val="6280604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661B0-50CB-49C2-8ECF-C819149D6286}"/>
              </a:ext>
            </a:extLst>
          </p:cNvPr>
          <p:cNvSpPr>
            <a:spLocks noGrp="1"/>
          </p:cNvSpPr>
          <p:nvPr>
            <p:ph type="title"/>
          </p:nvPr>
        </p:nvSpPr>
        <p:spPr>
          <a:xfrm>
            <a:off x="1253808" y="973668"/>
            <a:ext cx="8761413" cy="706964"/>
          </a:xfrm>
        </p:spPr>
        <p:txBody>
          <a:bodyPr/>
          <a:lstStyle/>
          <a:p>
            <a:pPr algn="ctr"/>
            <a:r>
              <a:rPr lang="en-GB" dirty="0">
                <a:latin typeface="Century Gothic (Headings)"/>
                <a:cs typeface="Segoe UI" panose="020B0502040204020203" pitchFamily="34" charset="0"/>
              </a:rPr>
              <a:t>AWS Management Console </a:t>
            </a:r>
          </a:p>
        </p:txBody>
      </p:sp>
      <p:sp>
        <p:nvSpPr>
          <p:cNvPr id="3" name="TextBox 2">
            <a:extLst>
              <a:ext uri="{FF2B5EF4-FFF2-40B4-BE49-F238E27FC236}">
                <a16:creationId xmlns:a16="http://schemas.microsoft.com/office/drawing/2014/main" id="{867798C2-E52F-494B-8F94-5E7FB9331AA9}"/>
              </a:ext>
            </a:extLst>
          </p:cNvPr>
          <p:cNvSpPr txBox="1"/>
          <p:nvPr/>
        </p:nvSpPr>
        <p:spPr>
          <a:xfrm>
            <a:off x="1418967" y="2879123"/>
            <a:ext cx="9354065" cy="2523768"/>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The AWS Management Console is a web interface for managing AWS services, offering quick access to services, search functionality, and simplified workflows. With the mobile app, you monitor resources, view alarms, and check billing, supporting multiple logged-in identities at once.</a:t>
            </a:r>
          </a:p>
          <a:p>
            <a:pPr algn="l" fontAlgn="auto"/>
            <a:endParaRPr lang="en-GB" sz="2000" b="0" i="0" dirty="0">
              <a:solidFill>
                <a:srgbClr val="000000"/>
              </a:solidFill>
              <a:effectLst/>
              <a:latin typeface="Segoe UI" panose="020B0502040204020203" pitchFamily="34" charset="0"/>
              <a:cs typeface="Segoe UI" panose="020B0502040204020203" pitchFamily="34" charset="0"/>
            </a:endParaRPr>
          </a:p>
          <a:p>
            <a:pPr algn="l" fontAlgn="auto"/>
            <a:r>
              <a:rPr lang="en-GB" sz="2000" b="1" i="0" dirty="0">
                <a:solidFill>
                  <a:srgbClr val="004761"/>
                </a:solidFill>
                <a:effectLst/>
                <a:latin typeface="Segoe UI" panose="020B0502040204020203" pitchFamily="34" charset="0"/>
                <a:cs typeface="Segoe UI" panose="020B0502040204020203" pitchFamily="34" charset="0"/>
              </a:rPr>
              <a:t>Good for</a:t>
            </a:r>
            <a:r>
              <a:rPr lang="en-GB" sz="2000" b="0" i="0" dirty="0">
                <a:solidFill>
                  <a:srgbClr val="000000"/>
                </a:solidFill>
                <a:effectLst/>
                <a:latin typeface="Segoe UI" panose="020B0502040204020203" pitchFamily="34" charset="0"/>
                <a:cs typeface="Segoe UI" panose="020B0502040204020203" pitchFamily="34" charset="0"/>
              </a:rPr>
              <a:t>: Users who prefer a visual, easy-to-use interface for managing and configuring AWS services</a:t>
            </a:r>
          </a:p>
          <a:p>
            <a:endParaRPr lang="en-GB" dirty="0"/>
          </a:p>
        </p:txBody>
      </p:sp>
    </p:spTree>
    <p:extLst>
      <p:ext uri="{BB962C8B-B14F-4D97-AF65-F5344CB8AC3E}">
        <p14:creationId xmlns:p14="http://schemas.microsoft.com/office/powerpoint/2010/main" val="24523199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BED51B-FEEB-4B90-A4C4-07D9C59C2F5A}"/>
              </a:ext>
            </a:extLst>
          </p:cNvPr>
          <p:cNvSpPr>
            <a:spLocks noGrp="1"/>
          </p:cNvSpPr>
          <p:nvPr>
            <p:ph type="title"/>
          </p:nvPr>
        </p:nvSpPr>
        <p:spPr/>
        <p:txBody>
          <a:bodyPr/>
          <a:lstStyle/>
          <a:p>
            <a:pPr algn="ctr"/>
            <a:r>
              <a:rPr lang="en-US" dirty="0"/>
              <a:t>AWS CLI</a:t>
            </a:r>
            <a:endParaRPr lang="en-GB" dirty="0"/>
          </a:p>
        </p:txBody>
      </p:sp>
      <p:sp>
        <p:nvSpPr>
          <p:cNvPr id="3" name="TextBox 2">
            <a:extLst>
              <a:ext uri="{FF2B5EF4-FFF2-40B4-BE49-F238E27FC236}">
                <a16:creationId xmlns:a16="http://schemas.microsoft.com/office/drawing/2014/main" id="{3A78BFB2-AD82-44F0-B30D-079A6FA7E524}"/>
              </a:ext>
            </a:extLst>
          </p:cNvPr>
          <p:cNvSpPr txBox="1"/>
          <p:nvPr/>
        </p:nvSpPr>
        <p:spPr>
          <a:xfrm>
            <a:off x="1488586" y="3150975"/>
            <a:ext cx="9434787" cy="2215991"/>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With the AWS CLI, you manage multiple AWS services directly from the command line across Windows, macOS, and Linux. You can automate tasks through scripts, such as launching EC2 instances.</a:t>
            </a:r>
          </a:p>
          <a:p>
            <a:pPr algn="l" fontAlgn="auto"/>
            <a:endParaRPr lang="en-GB" sz="2000" b="0" i="0" dirty="0">
              <a:solidFill>
                <a:srgbClr val="000000"/>
              </a:solidFill>
              <a:effectLst/>
              <a:latin typeface="Segoe UI" panose="020B0502040204020203" pitchFamily="34" charset="0"/>
              <a:cs typeface="Segoe UI" panose="020B0502040204020203" pitchFamily="34" charset="0"/>
            </a:endParaRPr>
          </a:p>
          <a:p>
            <a:pPr algn="l" fontAlgn="auto"/>
            <a:r>
              <a:rPr lang="en-GB" sz="2000" b="1" i="0" dirty="0">
                <a:solidFill>
                  <a:srgbClr val="004761"/>
                </a:solidFill>
                <a:effectLst/>
                <a:latin typeface="Segoe UI" panose="020B0502040204020203" pitchFamily="34" charset="0"/>
                <a:cs typeface="Segoe UI" panose="020B0502040204020203" pitchFamily="34" charset="0"/>
              </a:rPr>
              <a:t>Good for</a:t>
            </a:r>
            <a:r>
              <a:rPr lang="en-GB" sz="2000" b="0" i="0" dirty="0">
                <a:solidFill>
                  <a:srgbClr val="000000"/>
                </a:solidFill>
                <a:effectLst/>
                <a:latin typeface="Segoe UI" panose="020B0502040204020203" pitchFamily="34" charset="0"/>
                <a:cs typeface="Segoe UI" panose="020B0502040204020203" pitchFamily="34" charset="0"/>
              </a:rPr>
              <a:t>: Advanced users and developers who need to automate tasks, script actions, and manage AWS resources efficiently from the command line</a:t>
            </a:r>
          </a:p>
          <a:p>
            <a:endParaRPr lang="en-GB" dirty="0"/>
          </a:p>
        </p:txBody>
      </p:sp>
    </p:spTree>
    <p:extLst>
      <p:ext uri="{BB962C8B-B14F-4D97-AF65-F5344CB8AC3E}">
        <p14:creationId xmlns:p14="http://schemas.microsoft.com/office/powerpoint/2010/main" val="37517445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7E804-20C7-4841-ACCE-0E61A5E1AEB2}"/>
              </a:ext>
            </a:extLst>
          </p:cNvPr>
          <p:cNvSpPr>
            <a:spLocks noGrp="1"/>
          </p:cNvSpPr>
          <p:nvPr>
            <p:ph type="title"/>
          </p:nvPr>
        </p:nvSpPr>
        <p:spPr/>
        <p:txBody>
          <a:bodyPr/>
          <a:lstStyle/>
          <a:p>
            <a:pPr algn="ctr"/>
            <a:r>
              <a:rPr lang="en-US" dirty="0"/>
              <a:t>AWS SDK</a:t>
            </a:r>
            <a:endParaRPr lang="en-GB" dirty="0"/>
          </a:p>
        </p:txBody>
      </p:sp>
      <p:sp>
        <p:nvSpPr>
          <p:cNvPr id="3" name="TextBox 2">
            <a:extLst>
              <a:ext uri="{FF2B5EF4-FFF2-40B4-BE49-F238E27FC236}">
                <a16:creationId xmlns:a16="http://schemas.microsoft.com/office/drawing/2014/main" id="{A1BCF927-D9AD-4243-B47A-526D320336C2}"/>
              </a:ext>
            </a:extLst>
          </p:cNvPr>
          <p:cNvSpPr txBox="1"/>
          <p:nvPr/>
        </p:nvSpPr>
        <p:spPr>
          <a:xfrm>
            <a:off x="1511643" y="3089189"/>
            <a:ext cx="9168714" cy="2215991"/>
          </a:xfrm>
          <a:prstGeom prst="rect">
            <a:avLst/>
          </a:prstGeom>
          <a:noFill/>
        </p:spPr>
        <p:txBody>
          <a:bodyPr wrap="square" rtlCol="0">
            <a:spAutoFit/>
          </a:bodyPr>
          <a:lstStyle/>
          <a:p>
            <a:pPr algn="l" fontAlgn="auto"/>
            <a:r>
              <a:rPr lang="en-GB" sz="2000" b="0" i="0" dirty="0">
                <a:solidFill>
                  <a:srgbClr val="000000"/>
                </a:solidFill>
                <a:effectLst/>
                <a:latin typeface="Segoe UI" panose="020B0502040204020203" pitchFamily="34" charset="0"/>
                <a:cs typeface="Segoe UI" panose="020B0502040204020203" pitchFamily="34" charset="0"/>
              </a:rPr>
              <a:t>The AWS SDK simplifies integrating AWS services into your applications by providing APIs for various programming languages. AWS offers documentation and sample code for languages like C++, Java, and .NET to help you get started.</a:t>
            </a:r>
          </a:p>
          <a:p>
            <a:pPr algn="l" fontAlgn="auto"/>
            <a:endParaRPr lang="en-GB" sz="2000" b="0" i="0" dirty="0">
              <a:solidFill>
                <a:srgbClr val="000000"/>
              </a:solidFill>
              <a:effectLst/>
              <a:latin typeface="Segoe UI" panose="020B0502040204020203" pitchFamily="34" charset="0"/>
              <a:cs typeface="Segoe UI" panose="020B0502040204020203" pitchFamily="34" charset="0"/>
            </a:endParaRPr>
          </a:p>
          <a:p>
            <a:pPr algn="l" fontAlgn="auto"/>
            <a:r>
              <a:rPr lang="en-GB" sz="2000" b="1" i="0" dirty="0">
                <a:solidFill>
                  <a:srgbClr val="004761"/>
                </a:solidFill>
                <a:effectLst/>
                <a:latin typeface="Segoe UI" panose="020B0502040204020203" pitchFamily="34" charset="0"/>
                <a:cs typeface="Segoe UI" panose="020B0502040204020203" pitchFamily="34" charset="0"/>
              </a:rPr>
              <a:t>Good for</a:t>
            </a:r>
            <a:r>
              <a:rPr lang="en-GB" sz="2000" b="0" i="0" dirty="0">
                <a:solidFill>
                  <a:srgbClr val="000000"/>
                </a:solidFill>
                <a:effectLst/>
                <a:latin typeface="Segoe UI" panose="020B0502040204020203" pitchFamily="34" charset="0"/>
                <a:cs typeface="Segoe UI" panose="020B0502040204020203" pitchFamily="34" charset="0"/>
              </a:rPr>
              <a:t>: Developers looking to integrate AWS services into their applications using language-specific APIs</a:t>
            </a:r>
          </a:p>
          <a:p>
            <a:endParaRPr lang="en-GB" dirty="0"/>
          </a:p>
        </p:txBody>
      </p:sp>
    </p:spTree>
    <p:extLst>
      <p:ext uri="{BB962C8B-B14F-4D97-AF65-F5344CB8AC3E}">
        <p14:creationId xmlns:p14="http://schemas.microsoft.com/office/powerpoint/2010/main" val="34392034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4DF8BA-887D-4B53-8E52-112BA77C91A5}"/>
              </a:ext>
            </a:extLst>
          </p:cNvPr>
          <p:cNvSpPr txBox="1"/>
          <p:nvPr/>
        </p:nvSpPr>
        <p:spPr>
          <a:xfrm>
            <a:off x="3398108" y="2504975"/>
            <a:ext cx="6178379" cy="1200329"/>
          </a:xfrm>
          <a:prstGeom prst="rect">
            <a:avLst/>
          </a:prstGeom>
          <a:noFill/>
        </p:spPr>
        <p:txBody>
          <a:bodyPr wrap="square" rtlCol="0">
            <a:spAutoFit/>
          </a:bodyPr>
          <a:lstStyle/>
          <a:p>
            <a:r>
              <a:rPr lang="en-US" sz="7200" dirty="0">
                <a:solidFill>
                  <a:schemeClr val="accent6">
                    <a:lumMod val="50000"/>
                  </a:schemeClr>
                </a:solidFill>
              </a:rPr>
              <a:t>Thank You</a:t>
            </a:r>
            <a:endParaRPr lang="en-GB" sz="7200" dirty="0">
              <a:solidFill>
                <a:schemeClr val="accent6">
                  <a:lumMod val="50000"/>
                </a:schemeClr>
              </a:solidFill>
            </a:endParaRPr>
          </a:p>
        </p:txBody>
      </p:sp>
    </p:spTree>
    <p:extLst>
      <p:ext uri="{BB962C8B-B14F-4D97-AF65-F5344CB8AC3E}">
        <p14:creationId xmlns:p14="http://schemas.microsoft.com/office/powerpoint/2010/main" val="134445482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3310</TotalTime>
  <Words>2005</Words>
  <Application>Microsoft Office PowerPoint</Application>
  <PresentationFormat>Widescreen</PresentationFormat>
  <Paragraphs>135</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Century Gothic</vt:lpstr>
      <vt:lpstr>Century Gothic (Headings)</vt:lpstr>
      <vt:lpstr>Ember Display2</vt:lpstr>
      <vt:lpstr>Segoe UI</vt:lpstr>
      <vt:lpstr>Wingdings 3</vt:lpstr>
      <vt:lpstr>Ion Boardroom</vt:lpstr>
      <vt:lpstr>AWS Cloud Intro </vt:lpstr>
      <vt:lpstr>PowerPoint Presentation</vt:lpstr>
      <vt:lpstr>PowerPoint Presentation</vt:lpstr>
      <vt:lpstr>AWS Cloud Computing </vt:lpstr>
      <vt:lpstr>PowerPoint Presentation</vt:lpstr>
      <vt:lpstr>Coffee shop connections </vt:lpstr>
      <vt:lpstr>PowerPoint Presentation</vt:lpstr>
      <vt:lpstr>Cloud-Based Deployment </vt:lpstr>
      <vt:lpstr>On-Premises Deployment </vt:lpstr>
      <vt:lpstr>Hybrid Deployment </vt:lpstr>
      <vt:lpstr>Why Choose Cloud Computing? </vt:lpstr>
      <vt:lpstr>Trade fixed expense for variable expense  </vt:lpstr>
      <vt:lpstr>Benefit from massive economies of scale </vt:lpstr>
      <vt:lpstr>Stop guessing capacity  </vt:lpstr>
      <vt:lpstr>Increase speed and agility  </vt:lpstr>
      <vt:lpstr>Stop spending money to run and maintain data centers  </vt:lpstr>
      <vt:lpstr>Go global in minutes</vt:lpstr>
      <vt:lpstr>AWS Regions and Availability Zones</vt:lpstr>
      <vt:lpstr>Achieving high availability with AWS Global Infrastructure</vt:lpstr>
      <vt:lpstr>Components of the AWS Shared Responsibility Model</vt:lpstr>
      <vt:lpstr>Components of the AWS Shared Responsibility Model</vt:lpstr>
      <vt:lpstr>Introduction to Amazon EC2 </vt:lpstr>
      <vt:lpstr>Comparing on-premises and cloud resources </vt:lpstr>
      <vt:lpstr>Challenges of on-premises resources</vt:lpstr>
      <vt:lpstr>Benefits of using Cloud Resources</vt:lpstr>
      <vt:lpstr>How Amazon EC2 works</vt:lpstr>
      <vt:lpstr>Step1:Launch an instance</vt:lpstr>
      <vt:lpstr>Step2: Connect to the instance</vt:lpstr>
      <vt:lpstr>Step3:Use the instance</vt:lpstr>
      <vt:lpstr>Amazon EC2 Instance Types</vt:lpstr>
      <vt:lpstr>Amazon EC2 Instance Types</vt:lpstr>
      <vt:lpstr>Amazon EC2 Instance Types</vt:lpstr>
      <vt:lpstr>Amazon EC2 Instance Types</vt:lpstr>
      <vt:lpstr>Amazon EC2 Instance Types</vt:lpstr>
      <vt:lpstr>Amazon EC2 Instance Types</vt:lpstr>
      <vt:lpstr>How to Provision AWS Resources</vt:lpstr>
      <vt:lpstr>Interacting with AWS services</vt:lpstr>
      <vt:lpstr>AWS Management Console </vt:lpstr>
      <vt:lpstr>AWS CLI</vt:lpstr>
      <vt:lpstr>AWS SDK</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Norhan elnady</dc:creator>
  <cp:lastModifiedBy>Norhan elnady</cp:lastModifiedBy>
  <cp:revision>58</cp:revision>
  <dcterms:created xsi:type="dcterms:W3CDTF">2025-10-25T09:03:44Z</dcterms:created>
  <dcterms:modified xsi:type="dcterms:W3CDTF">2025-10-31T15:19:39Z</dcterms:modified>
</cp:coreProperties>
</file>