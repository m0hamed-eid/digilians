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4" r:id="rId8"/>
    <p:sldId id="265" r:id="rId9"/>
    <p:sldId id="266" r:id="rId10"/>
    <p:sldId id="267"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6" r:id="rId28"/>
    <p:sldId id="287" r:id="rId29"/>
    <p:sldId id="288" r:id="rId30"/>
    <p:sldId id="289" r:id="rId31"/>
    <p:sldId id="290" r:id="rId32"/>
    <p:sldId id="291" r:id="rId33"/>
    <p:sldId id="26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8" d="100"/>
          <a:sy n="78" d="100"/>
        </p:scale>
        <p:origin x="4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47C505B4-DEA1-4C76-9C68-EACB68FCD8DF}" type="datetimeFigureOut">
              <a:rPr lang="en-GB" smtClean="0"/>
              <a:t>03/01/2026</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1029346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C505B4-DEA1-4C76-9C68-EACB68FCD8DF}"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3607882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C505B4-DEA1-4C76-9C68-EACB68FCD8DF}"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365992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C505B4-DEA1-4C76-9C68-EACB68FCD8DF}"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3416992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C505B4-DEA1-4C76-9C68-EACB68FCD8DF}" type="datetimeFigureOut">
              <a:rPr lang="en-GB" smtClean="0"/>
              <a:t>03/01/2026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1515264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C505B4-DEA1-4C76-9C68-EACB68FCD8DF}" type="datetimeFigureOut">
              <a:rPr lang="en-GB" smtClean="0"/>
              <a:t>03/01/2026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4222531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C505B4-DEA1-4C76-9C68-EACB68FCD8DF}" type="datetimeFigureOut">
              <a:rPr lang="en-GB" smtClean="0"/>
              <a:t>03/01/2026</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4052258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C505B4-DEA1-4C76-9C68-EACB68FCD8DF}"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586819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C505B4-DEA1-4C76-9C68-EACB68FCD8DF}"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2324898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C505B4-DEA1-4C76-9C68-EACB68FCD8DF}"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1627363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7C505B4-DEA1-4C76-9C68-EACB68FCD8DF}"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29983791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7C505B4-DEA1-4C76-9C68-EACB68FCD8DF}"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2985390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C505B4-DEA1-4C76-9C68-EACB68FCD8DF}"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566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7C505B4-DEA1-4C76-9C68-EACB68FCD8DF}" type="datetimeFigureOut">
              <a:rPr lang="en-GB" smtClean="0"/>
              <a:t>03/01/2026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17467514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7C505B4-DEA1-4C76-9C68-EACB68FCD8DF}" type="datetimeFigureOut">
              <a:rPr lang="en-GB" smtClean="0"/>
              <a:t>03/01/2026</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1574963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7C505B4-DEA1-4C76-9C68-EACB68FCD8DF}"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3352084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7C505B4-DEA1-4C76-9C68-EACB68FCD8DF}"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1E8188F-5A34-45A6-83F2-E1D3000E767D}" type="slidenum">
              <a:rPr lang="en-GB" smtClean="0"/>
              <a:t>‹#›</a:t>
            </a:fld>
            <a:endParaRPr lang="en-GB"/>
          </a:p>
        </p:txBody>
      </p:sp>
    </p:spTree>
    <p:extLst>
      <p:ext uri="{BB962C8B-B14F-4D97-AF65-F5344CB8AC3E}">
        <p14:creationId xmlns:p14="http://schemas.microsoft.com/office/powerpoint/2010/main" val="1555306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7C505B4-DEA1-4C76-9C68-EACB68FCD8DF}" type="datetimeFigureOut">
              <a:rPr lang="en-GB" smtClean="0"/>
              <a:t>03/01/2026</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1E8188F-5A34-45A6-83F2-E1D3000E767D}" type="slidenum">
              <a:rPr lang="en-GB" smtClean="0"/>
              <a:t>‹#›</a:t>
            </a:fld>
            <a:endParaRPr lang="en-GB"/>
          </a:p>
        </p:txBody>
      </p:sp>
    </p:spTree>
    <p:extLst>
      <p:ext uri="{BB962C8B-B14F-4D97-AF65-F5344CB8AC3E}">
        <p14:creationId xmlns:p14="http://schemas.microsoft.com/office/powerpoint/2010/main" val="3317319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3E616-58A3-4300-A518-BD2A4EC1EE49}"/>
              </a:ext>
            </a:extLst>
          </p:cNvPr>
          <p:cNvSpPr>
            <a:spLocks noGrp="1"/>
          </p:cNvSpPr>
          <p:nvPr>
            <p:ph type="title"/>
          </p:nvPr>
        </p:nvSpPr>
        <p:spPr/>
        <p:txBody>
          <a:bodyPr/>
          <a:lstStyle/>
          <a:p>
            <a:pPr algn="ctr"/>
            <a:r>
              <a:rPr lang="en-GB" dirty="0"/>
              <a:t>AWS pricing options</a:t>
            </a:r>
          </a:p>
        </p:txBody>
      </p:sp>
      <p:pic>
        <p:nvPicPr>
          <p:cNvPr id="5" name="Picture 4">
            <a:extLst>
              <a:ext uri="{FF2B5EF4-FFF2-40B4-BE49-F238E27FC236}">
                <a16:creationId xmlns:a16="http://schemas.microsoft.com/office/drawing/2014/main" id="{B9EB39CE-8191-4436-9A40-6640EAF62933}"/>
              </a:ext>
            </a:extLst>
          </p:cNvPr>
          <p:cNvPicPr>
            <a:picLocks noChangeAspect="1"/>
          </p:cNvPicPr>
          <p:nvPr/>
        </p:nvPicPr>
        <p:blipFill>
          <a:blip r:embed="rId2"/>
          <a:stretch>
            <a:fillRect/>
          </a:stretch>
        </p:blipFill>
        <p:spPr>
          <a:xfrm>
            <a:off x="1624345" y="2396831"/>
            <a:ext cx="1612223" cy="1757238"/>
          </a:xfrm>
          <a:prstGeom prst="rect">
            <a:avLst/>
          </a:prstGeom>
        </p:spPr>
      </p:pic>
      <p:pic>
        <p:nvPicPr>
          <p:cNvPr id="13" name="Picture 12">
            <a:extLst>
              <a:ext uri="{FF2B5EF4-FFF2-40B4-BE49-F238E27FC236}">
                <a16:creationId xmlns:a16="http://schemas.microsoft.com/office/drawing/2014/main" id="{4FEE2487-27F4-46A3-8451-137DC0376E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2192" y="2396831"/>
            <a:ext cx="1454085" cy="1852228"/>
          </a:xfrm>
          <a:prstGeom prst="rect">
            <a:avLst/>
          </a:prstGeom>
        </p:spPr>
      </p:pic>
      <p:pic>
        <p:nvPicPr>
          <p:cNvPr id="15" name="Picture 14">
            <a:extLst>
              <a:ext uri="{FF2B5EF4-FFF2-40B4-BE49-F238E27FC236}">
                <a16:creationId xmlns:a16="http://schemas.microsoft.com/office/drawing/2014/main" id="{D4ED9E1E-5178-47DA-8C86-3C4480E07E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40243" y="2396830"/>
            <a:ext cx="1475113" cy="1757239"/>
          </a:xfrm>
          <a:prstGeom prst="rect">
            <a:avLst/>
          </a:prstGeom>
        </p:spPr>
      </p:pic>
      <p:pic>
        <p:nvPicPr>
          <p:cNvPr id="17" name="Picture 16">
            <a:extLst>
              <a:ext uri="{FF2B5EF4-FFF2-40B4-BE49-F238E27FC236}">
                <a16:creationId xmlns:a16="http://schemas.microsoft.com/office/drawing/2014/main" id="{C63E3FF6-8DF8-40A2-B00A-3FF266F723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8934" y="4578470"/>
            <a:ext cx="1622825" cy="1852230"/>
          </a:xfrm>
          <a:prstGeom prst="rect">
            <a:avLst/>
          </a:prstGeom>
        </p:spPr>
      </p:pic>
      <p:pic>
        <p:nvPicPr>
          <p:cNvPr id="19" name="Picture 18">
            <a:extLst>
              <a:ext uri="{FF2B5EF4-FFF2-40B4-BE49-F238E27FC236}">
                <a16:creationId xmlns:a16="http://schemas.microsoft.com/office/drawing/2014/main" id="{766CF181-EC9F-42FD-8E08-4BEDA2FCC6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88112" y="4578470"/>
            <a:ext cx="1596162" cy="1852230"/>
          </a:xfrm>
          <a:prstGeom prst="rect">
            <a:avLst/>
          </a:prstGeom>
        </p:spPr>
      </p:pic>
      <p:pic>
        <p:nvPicPr>
          <p:cNvPr id="21" name="Picture 20">
            <a:extLst>
              <a:ext uri="{FF2B5EF4-FFF2-40B4-BE49-F238E27FC236}">
                <a16:creationId xmlns:a16="http://schemas.microsoft.com/office/drawing/2014/main" id="{E05F8E14-82F4-4C16-8FAB-580EB03D6E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40243" y="4578470"/>
            <a:ext cx="1436090" cy="1852230"/>
          </a:xfrm>
          <a:prstGeom prst="rect">
            <a:avLst/>
          </a:prstGeom>
        </p:spPr>
      </p:pic>
    </p:spTree>
    <p:extLst>
      <p:ext uri="{BB962C8B-B14F-4D97-AF65-F5344CB8AC3E}">
        <p14:creationId xmlns:p14="http://schemas.microsoft.com/office/powerpoint/2010/main" val="3365767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A36BA2-D0E1-4E4A-8A0D-F93952577B2B}"/>
              </a:ext>
            </a:extLst>
          </p:cNvPr>
          <p:cNvSpPr txBox="1"/>
          <p:nvPr/>
        </p:nvSpPr>
        <p:spPr>
          <a:xfrm>
            <a:off x="395416" y="358346"/>
            <a:ext cx="8452022" cy="6370975"/>
          </a:xfrm>
          <a:prstGeom prst="rect">
            <a:avLst/>
          </a:prstGeom>
          <a:noFill/>
        </p:spPr>
        <p:txBody>
          <a:bodyPr wrap="square" rtlCol="0">
            <a:spAutoFit/>
          </a:bodyPr>
          <a:lstStyle/>
          <a:p>
            <a:r>
              <a:rPr lang="en-GB" sz="2400" b="1" i="0" dirty="0">
                <a:effectLst/>
                <a:latin typeface="inherit"/>
              </a:rPr>
              <a:t>On-Demand Instances:</a:t>
            </a:r>
            <a:br>
              <a:rPr lang="en-GB" sz="2400" b="0" i="0" dirty="0">
                <a:effectLst/>
                <a:latin typeface="Ember Display2"/>
              </a:rPr>
            </a:br>
            <a:r>
              <a:rPr lang="en-GB" sz="2400" b="0" i="0" dirty="0">
                <a:solidFill>
                  <a:srgbClr val="000000"/>
                </a:solidFill>
                <a:effectLst/>
                <a:latin typeface="Ember Display2"/>
              </a:rPr>
              <a:t>Pay only for the compute capacity you consume with no upfront payments or long-term commitments required.</a:t>
            </a:r>
          </a:p>
          <a:p>
            <a:endParaRPr lang="en-GB" sz="2400" dirty="0">
              <a:latin typeface="Ember Display2"/>
            </a:endParaRPr>
          </a:p>
          <a:p>
            <a:r>
              <a:rPr lang="en-GB" sz="2400" b="1" i="0" dirty="0">
                <a:effectLst/>
                <a:latin typeface="inherit"/>
              </a:rPr>
              <a:t>Reserved Instances:</a:t>
            </a:r>
            <a:br>
              <a:rPr lang="en-GB" sz="2400" b="1" i="0" dirty="0">
                <a:solidFill>
                  <a:srgbClr val="005276"/>
                </a:solidFill>
                <a:effectLst/>
                <a:latin typeface="inherit"/>
              </a:rPr>
            </a:br>
            <a:r>
              <a:rPr lang="en-GB" sz="2400" b="0" i="0" dirty="0">
                <a:solidFill>
                  <a:srgbClr val="000000"/>
                </a:solidFill>
                <a:effectLst/>
                <a:latin typeface="inherit"/>
              </a:rPr>
              <a:t>Get a savings of up to 75 percent by committing to a 1-year or 3-year term for predictable workloads using </a:t>
            </a:r>
            <a:r>
              <a:rPr lang="en-GB" sz="2400" b="0" i="0" dirty="0">
                <a:solidFill>
                  <a:srgbClr val="000000"/>
                </a:solidFill>
                <a:effectLst/>
                <a:latin typeface="Ember Display2"/>
              </a:rPr>
              <a:t>specific instance families and AWS Regions.</a:t>
            </a:r>
          </a:p>
          <a:p>
            <a:endParaRPr lang="en-GB" sz="2400" dirty="0">
              <a:solidFill>
                <a:srgbClr val="000000"/>
              </a:solidFill>
              <a:latin typeface="Ember Display2"/>
            </a:endParaRPr>
          </a:p>
          <a:p>
            <a:r>
              <a:rPr lang="en-GB" sz="2400" b="1" i="0" dirty="0">
                <a:effectLst/>
                <a:latin typeface="inherit"/>
              </a:rPr>
              <a:t>Spot Instances:</a:t>
            </a:r>
            <a:br>
              <a:rPr lang="en-GB" sz="2400" b="1" i="0" dirty="0">
                <a:solidFill>
                  <a:srgbClr val="005276"/>
                </a:solidFill>
                <a:effectLst/>
                <a:latin typeface="inherit"/>
              </a:rPr>
            </a:br>
            <a:r>
              <a:rPr lang="en-GB" sz="2400" b="0" i="0" dirty="0">
                <a:solidFill>
                  <a:srgbClr val="000000"/>
                </a:solidFill>
                <a:effectLst/>
                <a:latin typeface="inherit"/>
              </a:rPr>
              <a:t>Bid on spare compute capacity at up to 90 percent off the On-Demand price, with the flexibility to be interrupted when AWS reclaims the instance.</a:t>
            </a:r>
          </a:p>
          <a:p>
            <a:endParaRPr lang="en-GB" sz="2400" dirty="0">
              <a:solidFill>
                <a:srgbClr val="000000"/>
              </a:solidFill>
              <a:latin typeface="inherit"/>
            </a:endParaRPr>
          </a:p>
          <a:p>
            <a:r>
              <a:rPr lang="en-GB" sz="2400" b="1" i="0" dirty="0">
                <a:effectLst/>
                <a:latin typeface="inherit"/>
              </a:rPr>
              <a:t>Savings Plans:</a:t>
            </a:r>
            <a:br>
              <a:rPr lang="en-GB" sz="2400" b="1" i="0" dirty="0">
                <a:solidFill>
                  <a:srgbClr val="005276"/>
                </a:solidFill>
                <a:effectLst/>
                <a:latin typeface="inherit"/>
              </a:rPr>
            </a:br>
            <a:r>
              <a:rPr lang="en-GB" sz="2400" b="0" i="0" dirty="0">
                <a:solidFill>
                  <a:srgbClr val="000000"/>
                </a:solidFill>
                <a:effectLst/>
                <a:latin typeface="inherit"/>
              </a:rPr>
              <a:t>Save up to 72 percent across </a:t>
            </a:r>
            <a:r>
              <a:rPr lang="en-GB" sz="2400" b="0" i="0" dirty="0">
                <a:solidFill>
                  <a:srgbClr val="000000"/>
                </a:solidFill>
                <a:effectLst/>
                <a:latin typeface="Ember Display2"/>
              </a:rPr>
              <a:t>a variety of instance types and services</a:t>
            </a:r>
            <a:r>
              <a:rPr lang="en-GB" sz="2400" b="0" i="0" dirty="0">
                <a:solidFill>
                  <a:srgbClr val="000000"/>
                </a:solidFill>
                <a:effectLst/>
                <a:latin typeface="inherit"/>
              </a:rPr>
              <a:t> by committing to a consistent usage level for 1 or 3 years.</a:t>
            </a:r>
            <a:endParaRPr lang="en-GB" sz="2400" dirty="0"/>
          </a:p>
        </p:txBody>
      </p:sp>
    </p:spTree>
    <p:extLst>
      <p:ext uri="{BB962C8B-B14F-4D97-AF65-F5344CB8AC3E}">
        <p14:creationId xmlns:p14="http://schemas.microsoft.com/office/powerpoint/2010/main" val="2457941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A36BA2-D0E1-4E4A-8A0D-F93952577B2B}"/>
              </a:ext>
            </a:extLst>
          </p:cNvPr>
          <p:cNvSpPr txBox="1"/>
          <p:nvPr/>
        </p:nvSpPr>
        <p:spPr>
          <a:xfrm>
            <a:off x="395416" y="358346"/>
            <a:ext cx="8452022" cy="3046988"/>
          </a:xfrm>
          <a:prstGeom prst="rect">
            <a:avLst/>
          </a:prstGeom>
          <a:noFill/>
        </p:spPr>
        <p:txBody>
          <a:bodyPr wrap="square" rtlCol="0">
            <a:spAutoFit/>
          </a:bodyPr>
          <a:lstStyle/>
          <a:p>
            <a:r>
              <a:rPr lang="en-GB" sz="2400" b="1" i="0" dirty="0">
                <a:effectLst/>
                <a:latin typeface="inherit"/>
              </a:rPr>
              <a:t>Dedicated Hosts:</a:t>
            </a:r>
            <a:br>
              <a:rPr lang="en-GB" sz="2400" b="1" i="0" dirty="0">
                <a:solidFill>
                  <a:srgbClr val="005276"/>
                </a:solidFill>
                <a:effectLst/>
                <a:latin typeface="inherit"/>
              </a:rPr>
            </a:br>
            <a:r>
              <a:rPr lang="en-GB" sz="2400" b="0" i="0" dirty="0">
                <a:solidFill>
                  <a:srgbClr val="000000"/>
                </a:solidFill>
                <a:effectLst/>
                <a:latin typeface="inherit"/>
              </a:rPr>
              <a:t>Reserve an entire physical server for your exclusive use. This option offers full control and is ideal for workloads with strict security or licensing needs.</a:t>
            </a:r>
          </a:p>
          <a:p>
            <a:endParaRPr lang="en-GB" sz="2400" dirty="0">
              <a:solidFill>
                <a:srgbClr val="000000"/>
              </a:solidFill>
              <a:latin typeface="inherit"/>
            </a:endParaRPr>
          </a:p>
          <a:p>
            <a:r>
              <a:rPr lang="en-GB" sz="2400" b="1" i="0" dirty="0">
                <a:effectLst/>
                <a:latin typeface="inherit"/>
              </a:rPr>
              <a:t>Dedicated Instances:</a:t>
            </a:r>
            <a:br>
              <a:rPr lang="en-GB" sz="2400" b="1" i="0" dirty="0">
                <a:solidFill>
                  <a:srgbClr val="005276"/>
                </a:solidFill>
                <a:effectLst/>
                <a:latin typeface="inherit"/>
              </a:rPr>
            </a:br>
            <a:r>
              <a:rPr lang="en-GB" sz="2400" b="0" i="0" dirty="0">
                <a:solidFill>
                  <a:srgbClr val="000000"/>
                </a:solidFill>
                <a:effectLst/>
                <a:latin typeface="inherit"/>
              </a:rPr>
              <a:t>Pay for instances running on hardware dedicated solely to your account. This option provides isolation from other AWS customers.</a:t>
            </a:r>
            <a:endParaRPr lang="en-GB" sz="2400" b="0" i="0" dirty="0">
              <a:solidFill>
                <a:srgbClr val="000000"/>
              </a:solidFill>
              <a:effectLst/>
              <a:latin typeface="Ember Display2"/>
            </a:endParaRPr>
          </a:p>
        </p:txBody>
      </p:sp>
    </p:spTree>
    <p:extLst>
      <p:ext uri="{BB962C8B-B14F-4D97-AF65-F5344CB8AC3E}">
        <p14:creationId xmlns:p14="http://schemas.microsoft.com/office/powerpoint/2010/main" val="541350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98E1-CBC8-48A0-8BF4-D1C5401281B5}"/>
              </a:ext>
            </a:extLst>
          </p:cNvPr>
          <p:cNvSpPr>
            <a:spLocks noGrp="1"/>
          </p:cNvSpPr>
          <p:nvPr>
            <p:ph type="title"/>
          </p:nvPr>
        </p:nvSpPr>
        <p:spPr>
          <a:xfrm>
            <a:off x="1303235" y="1196089"/>
            <a:ext cx="8761413" cy="706964"/>
          </a:xfrm>
        </p:spPr>
        <p:txBody>
          <a:bodyPr/>
          <a:lstStyle/>
          <a:p>
            <a:pPr algn="ctr"/>
            <a:r>
              <a:rPr lang="en-GB" dirty="0"/>
              <a:t>Dedicated Instances</a:t>
            </a:r>
            <a:br>
              <a:rPr lang="en-GB" dirty="0"/>
            </a:br>
            <a:endParaRPr lang="en-GB" dirty="0"/>
          </a:p>
        </p:txBody>
      </p:sp>
      <p:sp>
        <p:nvSpPr>
          <p:cNvPr id="3" name="TextBox 2">
            <a:extLst>
              <a:ext uri="{FF2B5EF4-FFF2-40B4-BE49-F238E27FC236}">
                <a16:creationId xmlns:a16="http://schemas.microsoft.com/office/drawing/2014/main" id="{DFF42CB1-BDB7-438A-B9F0-F767D43EB40A}"/>
              </a:ext>
            </a:extLst>
          </p:cNvPr>
          <p:cNvSpPr txBox="1"/>
          <p:nvPr/>
        </p:nvSpPr>
        <p:spPr>
          <a:xfrm>
            <a:off x="481914" y="2656702"/>
            <a:ext cx="8192529" cy="3693319"/>
          </a:xfrm>
          <a:prstGeom prst="rect">
            <a:avLst/>
          </a:prstGeom>
          <a:noFill/>
        </p:spPr>
        <p:txBody>
          <a:bodyPr wrap="square" rtlCol="0">
            <a:spAutoFit/>
          </a:bodyPr>
          <a:lstStyle/>
          <a:p>
            <a:pPr algn="l" fontAlgn="auto" latinLnBrk="0"/>
            <a:r>
              <a:rPr lang="en-GB" b="0" i="0" dirty="0">
                <a:solidFill>
                  <a:srgbClr val="000000"/>
                </a:solidFill>
                <a:effectLst/>
                <a:latin typeface="inherit"/>
              </a:rPr>
              <a:t>Dedicated Hosts provide exclusive use of physical servers, offering full control over instance placement and resource allocation. This makes them ideal for security- or compliance-driven workloads. But what if you don’t need that level of control?</a:t>
            </a:r>
          </a:p>
          <a:p>
            <a:pPr algn="l" fontAlgn="auto"/>
            <a:r>
              <a:rPr lang="en-GB" b="0" i="0" dirty="0">
                <a:solidFill>
                  <a:srgbClr val="000000"/>
                </a:solidFill>
                <a:effectLst/>
                <a:latin typeface="inherit"/>
              </a:rPr>
              <a:t>You could use Dedicated Instances, which offer physical isolation from other AWS accounts while still benefiting from the flexibility and cost savings of shared infrastructure.</a:t>
            </a:r>
          </a:p>
          <a:p>
            <a:pPr algn="l" fontAlgn="auto"/>
            <a:r>
              <a:rPr lang="en-GB" b="0" i="0" dirty="0">
                <a:solidFill>
                  <a:srgbClr val="000000"/>
                </a:solidFill>
                <a:effectLst/>
                <a:latin typeface="inherit"/>
              </a:rPr>
              <a:t>The key difference is that Dedicated Instances provide isolation without you choosing which physical server they run on. Dedicated Hosts give you an entire physical server for exclusive use, providing complete control over instance placement and resource allocation.</a:t>
            </a:r>
          </a:p>
          <a:p>
            <a:pPr algn="l" fontAlgn="auto"/>
            <a:r>
              <a:rPr lang="en-GB" b="0" i="0" dirty="0">
                <a:solidFill>
                  <a:srgbClr val="000000"/>
                </a:solidFill>
                <a:effectLst/>
                <a:latin typeface="inherit"/>
              </a:rPr>
              <a:t>Ultimately, the right choice depends on your specific workload requirements and the level of control you need over your infrastructure.</a:t>
            </a:r>
          </a:p>
          <a:p>
            <a:endParaRPr lang="en-GB" dirty="0"/>
          </a:p>
        </p:txBody>
      </p:sp>
      <p:pic>
        <p:nvPicPr>
          <p:cNvPr id="5" name="Picture 4">
            <a:extLst>
              <a:ext uri="{FF2B5EF4-FFF2-40B4-BE49-F238E27FC236}">
                <a16:creationId xmlns:a16="http://schemas.microsoft.com/office/drawing/2014/main" id="{CC4016F1-D122-484F-89F6-31C6BEC05F92}"/>
              </a:ext>
            </a:extLst>
          </p:cNvPr>
          <p:cNvPicPr>
            <a:picLocks noChangeAspect="1"/>
          </p:cNvPicPr>
          <p:nvPr/>
        </p:nvPicPr>
        <p:blipFill>
          <a:blip r:embed="rId2"/>
          <a:stretch>
            <a:fillRect/>
          </a:stretch>
        </p:blipFill>
        <p:spPr>
          <a:xfrm>
            <a:off x="8674443" y="2965621"/>
            <a:ext cx="3305325" cy="2518849"/>
          </a:xfrm>
          <a:prstGeom prst="rect">
            <a:avLst/>
          </a:prstGeom>
        </p:spPr>
      </p:pic>
    </p:spTree>
    <p:extLst>
      <p:ext uri="{BB962C8B-B14F-4D97-AF65-F5344CB8AC3E}">
        <p14:creationId xmlns:p14="http://schemas.microsoft.com/office/powerpoint/2010/main" val="1983351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98E1-CBC8-48A0-8BF4-D1C5401281B5}"/>
              </a:ext>
            </a:extLst>
          </p:cNvPr>
          <p:cNvSpPr>
            <a:spLocks noGrp="1"/>
          </p:cNvSpPr>
          <p:nvPr>
            <p:ph type="title"/>
          </p:nvPr>
        </p:nvSpPr>
        <p:spPr>
          <a:xfrm>
            <a:off x="1303235" y="1196089"/>
            <a:ext cx="8761413" cy="706964"/>
          </a:xfrm>
        </p:spPr>
        <p:txBody>
          <a:bodyPr/>
          <a:lstStyle/>
          <a:p>
            <a:pPr algn="ctr"/>
            <a:r>
              <a:rPr lang="en-GB" dirty="0"/>
              <a:t>More about cost optimization</a:t>
            </a:r>
            <a:br>
              <a:rPr lang="en-GB" dirty="0"/>
            </a:br>
            <a:endParaRPr lang="en-GB" dirty="0"/>
          </a:p>
        </p:txBody>
      </p:sp>
      <p:sp>
        <p:nvSpPr>
          <p:cNvPr id="3" name="TextBox 2">
            <a:extLst>
              <a:ext uri="{FF2B5EF4-FFF2-40B4-BE49-F238E27FC236}">
                <a16:creationId xmlns:a16="http://schemas.microsoft.com/office/drawing/2014/main" id="{DFF42CB1-BDB7-438A-B9F0-F767D43EB40A}"/>
              </a:ext>
            </a:extLst>
          </p:cNvPr>
          <p:cNvSpPr txBox="1"/>
          <p:nvPr/>
        </p:nvSpPr>
        <p:spPr>
          <a:xfrm>
            <a:off x="481914" y="2656702"/>
            <a:ext cx="11405286" cy="3416320"/>
          </a:xfrm>
          <a:prstGeom prst="rect">
            <a:avLst/>
          </a:prstGeom>
          <a:noFill/>
        </p:spPr>
        <p:txBody>
          <a:bodyPr wrap="square" rtlCol="0">
            <a:spAutoFit/>
          </a:bodyPr>
          <a:lstStyle/>
          <a:p>
            <a:pPr algn="l" fontAlgn="auto" latinLnBrk="0"/>
            <a:r>
              <a:rPr lang="en-GB" b="0" i="0" dirty="0">
                <a:solidFill>
                  <a:srgbClr val="000000"/>
                </a:solidFill>
                <a:effectLst/>
                <a:latin typeface="+mj-lt"/>
              </a:rPr>
              <a:t>To optimize costs and resource allocation, AWS offers a range of pricing options including Savings Plans, Amazon EC2 Capacity Reservations, and Reserved Instances (RIs). Each of these is tailored to meet different workload and capacity needs.</a:t>
            </a:r>
          </a:p>
          <a:p>
            <a:pPr algn="l" fontAlgn="auto" latinLnBrk="0"/>
            <a:endParaRPr lang="en-GB" dirty="0">
              <a:solidFill>
                <a:srgbClr val="000000"/>
              </a:solidFill>
              <a:latin typeface="Ember Display2"/>
            </a:endParaRPr>
          </a:p>
          <a:p>
            <a:pPr algn="l" fontAlgn="auto" latinLnBrk="0"/>
            <a:r>
              <a:rPr lang="en-GB" b="1" dirty="0"/>
              <a:t>1-Savings Plans :</a:t>
            </a:r>
          </a:p>
          <a:p>
            <a:pPr algn="l" fontAlgn="auto" latinLnBrk="0"/>
            <a:r>
              <a:rPr lang="en-GB" dirty="0"/>
              <a:t>Good for: Predictable workloads</a:t>
            </a:r>
          </a:p>
          <a:p>
            <a:pPr algn="l" fontAlgn="auto" latinLnBrk="0"/>
            <a:endParaRPr lang="en-GB" dirty="0"/>
          </a:p>
          <a:p>
            <a:pPr algn="l" fontAlgn="auto" latinLnBrk="0"/>
            <a:r>
              <a:rPr lang="en-GB" dirty="0"/>
              <a:t>Savings Plans offer discounts compared to On-Demand rates in exchange for a commitment to use a specified amount of compute power (measured per hour) over a one-year or three-year period. They provide flexible pricing for Amazon EC2, AWS </a:t>
            </a:r>
            <a:r>
              <a:rPr lang="en-GB" dirty="0" err="1"/>
              <a:t>Fargate</a:t>
            </a:r>
            <a:r>
              <a:rPr lang="en-GB" dirty="0"/>
              <a:t>, AWS Lambda, and Amazon </a:t>
            </a:r>
            <a:r>
              <a:rPr lang="en-GB" dirty="0" err="1"/>
              <a:t>SageMaker</a:t>
            </a:r>
            <a:r>
              <a:rPr lang="en-GB" dirty="0"/>
              <a:t> AI usage, regardless of instance type or AWS Region. Payment options include All upfront, Partial upfront, or No upfront.</a:t>
            </a:r>
          </a:p>
        </p:txBody>
      </p:sp>
    </p:spTree>
    <p:extLst>
      <p:ext uri="{BB962C8B-B14F-4D97-AF65-F5344CB8AC3E}">
        <p14:creationId xmlns:p14="http://schemas.microsoft.com/office/powerpoint/2010/main" val="4000504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98E1-CBC8-48A0-8BF4-D1C5401281B5}"/>
              </a:ext>
            </a:extLst>
          </p:cNvPr>
          <p:cNvSpPr>
            <a:spLocks noGrp="1"/>
          </p:cNvSpPr>
          <p:nvPr>
            <p:ph type="title"/>
          </p:nvPr>
        </p:nvSpPr>
        <p:spPr>
          <a:xfrm>
            <a:off x="1303235" y="1196089"/>
            <a:ext cx="8761413" cy="706964"/>
          </a:xfrm>
        </p:spPr>
        <p:txBody>
          <a:bodyPr/>
          <a:lstStyle/>
          <a:p>
            <a:pPr algn="ctr"/>
            <a:r>
              <a:rPr lang="en-GB" dirty="0"/>
              <a:t>More about cost optimization</a:t>
            </a:r>
            <a:br>
              <a:rPr lang="en-GB" dirty="0"/>
            </a:br>
            <a:endParaRPr lang="en-GB" dirty="0"/>
          </a:p>
        </p:txBody>
      </p:sp>
      <p:sp>
        <p:nvSpPr>
          <p:cNvPr id="3" name="TextBox 2">
            <a:extLst>
              <a:ext uri="{FF2B5EF4-FFF2-40B4-BE49-F238E27FC236}">
                <a16:creationId xmlns:a16="http://schemas.microsoft.com/office/drawing/2014/main" id="{DFF42CB1-BDB7-438A-B9F0-F767D43EB40A}"/>
              </a:ext>
            </a:extLst>
          </p:cNvPr>
          <p:cNvSpPr txBox="1"/>
          <p:nvPr/>
        </p:nvSpPr>
        <p:spPr>
          <a:xfrm>
            <a:off x="494271" y="2384853"/>
            <a:ext cx="11405286" cy="3970318"/>
          </a:xfrm>
          <a:prstGeom prst="rect">
            <a:avLst/>
          </a:prstGeom>
          <a:noFill/>
        </p:spPr>
        <p:txBody>
          <a:bodyPr wrap="square" rtlCol="0">
            <a:spAutoFit/>
          </a:bodyPr>
          <a:lstStyle/>
          <a:p>
            <a:pPr algn="l" fontAlgn="auto" latinLnBrk="0"/>
            <a:r>
              <a:rPr lang="en-GB" b="1" i="0" dirty="0">
                <a:solidFill>
                  <a:srgbClr val="000000"/>
                </a:solidFill>
                <a:effectLst/>
                <a:latin typeface="+mj-lt"/>
              </a:rPr>
              <a:t>2-Capacity Reservations:</a:t>
            </a:r>
          </a:p>
          <a:p>
            <a:pPr algn="l" fontAlgn="auto" latinLnBrk="0"/>
            <a:r>
              <a:rPr lang="en-GB" b="0" i="0" dirty="0">
                <a:solidFill>
                  <a:srgbClr val="000000"/>
                </a:solidFill>
                <a:effectLst/>
                <a:latin typeface="+mj-lt"/>
              </a:rPr>
              <a:t>Good for: Critical workloads with strict capacity requirements</a:t>
            </a:r>
          </a:p>
          <a:p>
            <a:pPr algn="l" fontAlgn="auto" latinLnBrk="0"/>
            <a:r>
              <a:rPr lang="en-GB" b="0" i="0" dirty="0">
                <a:solidFill>
                  <a:srgbClr val="000000"/>
                </a:solidFill>
                <a:effectLst/>
                <a:latin typeface="+mj-lt"/>
              </a:rPr>
              <a:t>With Amazon EC2 Capacity Reservations, you reserve compute capacity in a specific Availability Zone for critical workloads. Reservations are charged at the On-Demand rate, whether used or not. You only pay for the instances you run. This is ideal for strict capacity requirements for current or future business-critical workloads.</a:t>
            </a:r>
          </a:p>
          <a:p>
            <a:pPr algn="l" fontAlgn="auto" latinLnBrk="0"/>
            <a:endParaRPr lang="en-GB" b="0" i="0" dirty="0">
              <a:solidFill>
                <a:srgbClr val="000000"/>
              </a:solidFill>
              <a:effectLst/>
              <a:latin typeface="+mj-lt"/>
            </a:endParaRPr>
          </a:p>
          <a:p>
            <a:pPr algn="l" fontAlgn="auto" latinLnBrk="0"/>
            <a:r>
              <a:rPr lang="en-GB" b="1" dirty="0"/>
              <a:t>3-Reserved Instance flexibility:</a:t>
            </a:r>
          </a:p>
          <a:p>
            <a:pPr algn="l" fontAlgn="auto" latinLnBrk="0"/>
            <a:r>
              <a:rPr lang="en-GB" dirty="0"/>
              <a:t>Good for: Steady-state workloads with predictable usage</a:t>
            </a:r>
          </a:p>
          <a:p>
            <a:pPr algn="l" fontAlgn="auto" latinLnBrk="0"/>
            <a:r>
              <a:rPr lang="en-GB" dirty="0"/>
              <a:t>RIs offer up to 75 percent savings over On-Demand pricing by applying discounts across instance sizes and multiple Availability Zones within a Region. When you purchase a Reserved Instance (RI), AWS automatically applies the discount to other instance sizes within the same family based on the instance size footprint. It also applies the discount across multiple Availability Zones for enhanced resource distribution and fault tolerance</a:t>
            </a:r>
          </a:p>
        </p:txBody>
      </p:sp>
    </p:spTree>
    <p:extLst>
      <p:ext uri="{BB962C8B-B14F-4D97-AF65-F5344CB8AC3E}">
        <p14:creationId xmlns:p14="http://schemas.microsoft.com/office/powerpoint/2010/main" val="100842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98E1-CBC8-48A0-8BF4-D1C5401281B5}"/>
              </a:ext>
            </a:extLst>
          </p:cNvPr>
          <p:cNvSpPr>
            <a:spLocks noGrp="1"/>
          </p:cNvSpPr>
          <p:nvPr>
            <p:ph type="title"/>
          </p:nvPr>
        </p:nvSpPr>
        <p:spPr>
          <a:xfrm>
            <a:off x="1303235" y="1294943"/>
            <a:ext cx="8761413" cy="706964"/>
          </a:xfrm>
        </p:spPr>
        <p:txBody>
          <a:bodyPr/>
          <a:lstStyle/>
          <a:p>
            <a:pPr algn="ctr"/>
            <a:r>
              <a:rPr lang="en-GB" dirty="0"/>
              <a:t>Directing Traffic with Elastic Load Balancing</a:t>
            </a:r>
            <a:br>
              <a:rPr lang="en-GB" dirty="0"/>
            </a:br>
            <a:endParaRPr lang="en-GB" dirty="0"/>
          </a:p>
        </p:txBody>
      </p:sp>
      <p:sp>
        <p:nvSpPr>
          <p:cNvPr id="3" name="TextBox 2">
            <a:extLst>
              <a:ext uri="{FF2B5EF4-FFF2-40B4-BE49-F238E27FC236}">
                <a16:creationId xmlns:a16="http://schemas.microsoft.com/office/drawing/2014/main" id="{DFF42CB1-BDB7-438A-B9F0-F767D43EB40A}"/>
              </a:ext>
            </a:extLst>
          </p:cNvPr>
          <p:cNvSpPr txBox="1"/>
          <p:nvPr/>
        </p:nvSpPr>
        <p:spPr>
          <a:xfrm>
            <a:off x="481914" y="3064475"/>
            <a:ext cx="11405286" cy="2308324"/>
          </a:xfrm>
          <a:prstGeom prst="rect">
            <a:avLst/>
          </a:prstGeom>
          <a:noFill/>
        </p:spPr>
        <p:txBody>
          <a:bodyPr wrap="square" rtlCol="0">
            <a:spAutoFit/>
          </a:bodyPr>
          <a:lstStyle/>
          <a:p>
            <a:pPr algn="l" fontAlgn="auto" latinLnBrk="0"/>
            <a:r>
              <a:rPr lang="en-GB" b="1" i="0" dirty="0">
                <a:solidFill>
                  <a:srgbClr val="161D26"/>
                </a:solidFill>
                <a:effectLst/>
                <a:latin typeface="inherit"/>
              </a:rPr>
              <a:t>Elastic Load Balancing</a:t>
            </a:r>
            <a:endParaRPr lang="en-GB" b="1" i="0" dirty="0">
              <a:solidFill>
                <a:srgbClr val="000000"/>
              </a:solidFill>
              <a:effectLst/>
              <a:latin typeface="inherit"/>
            </a:endParaRPr>
          </a:p>
          <a:p>
            <a:pPr algn="l" fontAlgn="auto" latinLnBrk="0"/>
            <a:r>
              <a:rPr lang="en-GB" b="0" i="0" dirty="0">
                <a:solidFill>
                  <a:srgbClr val="000000"/>
                </a:solidFill>
                <a:effectLst/>
                <a:latin typeface="inherit"/>
              </a:rPr>
              <a:t>Elastic Load Balancing (ELB) automatically distributes incoming application traffic across multiple resources, such as EC2 instances, to optimize performance and reliability. A load balancer serves as the single point of contact for all incoming web traffic to an Auto Scaling group. As the number of EC2 instances fluctuates in response to traffic demands, incoming requests are first directed to the load balancer. From there, the traffic is distributed evenly across the available instances.</a:t>
            </a:r>
          </a:p>
          <a:p>
            <a:pPr algn="l" fontAlgn="auto" latinLnBrk="0"/>
            <a:r>
              <a:rPr lang="en-GB" b="0" i="0" dirty="0">
                <a:solidFill>
                  <a:srgbClr val="000000"/>
                </a:solidFill>
                <a:effectLst/>
                <a:latin typeface="inherit"/>
              </a:rPr>
              <a:t>Although ELB and Amazon EC2 Auto Scaling are distinct services, they work in tandem to enhance application performance and ensure high availability. Together, they enable applications running on Amazon EC2 to scale effectively while maintaining consistent performance.</a:t>
            </a:r>
          </a:p>
        </p:txBody>
      </p:sp>
    </p:spTree>
    <p:extLst>
      <p:ext uri="{BB962C8B-B14F-4D97-AF65-F5344CB8AC3E}">
        <p14:creationId xmlns:p14="http://schemas.microsoft.com/office/powerpoint/2010/main" val="3035939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98E1-CBC8-48A0-8BF4-D1C5401281B5}"/>
              </a:ext>
            </a:extLst>
          </p:cNvPr>
          <p:cNvSpPr>
            <a:spLocks noGrp="1"/>
          </p:cNvSpPr>
          <p:nvPr>
            <p:ph type="title"/>
          </p:nvPr>
        </p:nvSpPr>
        <p:spPr>
          <a:xfrm>
            <a:off x="1303235" y="1294943"/>
            <a:ext cx="8761413" cy="706964"/>
          </a:xfrm>
        </p:spPr>
        <p:txBody>
          <a:bodyPr/>
          <a:lstStyle/>
          <a:p>
            <a:pPr algn="ctr"/>
            <a:r>
              <a:rPr lang="en-GB" dirty="0"/>
              <a:t>Directing Traffic with Elastic Load Balancing</a:t>
            </a:r>
            <a:br>
              <a:rPr lang="en-GB" dirty="0"/>
            </a:br>
            <a:endParaRPr lang="en-GB" dirty="0"/>
          </a:p>
        </p:txBody>
      </p:sp>
      <p:sp>
        <p:nvSpPr>
          <p:cNvPr id="3" name="TextBox 2">
            <a:extLst>
              <a:ext uri="{FF2B5EF4-FFF2-40B4-BE49-F238E27FC236}">
                <a16:creationId xmlns:a16="http://schemas.microsoft.com/office/drawing/2014/main" id="{DFF42CB1-BDB7-438A-B9F0-F767D43EB40A}"/>
              </a:ext>
            </a:extLst>
          </p:cNvPr>
          <p:cNvSpPr txBox="1"/>
          <p:nvPr/>
        </p:nvSpPr>
        <p:spPr>
          <a:xfrm>
            <a:off x="630195" y="2508421"/>
            <a:ext cx="11405286" cy="369332"/>
          </a:xfrm>
          <a:prstGeom prst="rect">
            <a:avLst/>
          </a:prstGeom>
          <a:noFill/>
        </p:spPr>
        <p:txBody>
          <a:bodyPr wrap="square" rtlCol="0">
            <a:spAutoFit/>
          </a:bodyPr>
          <a:lstStyle/>
          <a:p>
            <a:pPr algn="l" fontAlgn="auto" latinLnBrk="0"/>
            <a:r>
              <a:rPr lang="en-GB" b="1" i="0" dirty="0">
                <a:solidFill>
                  <a:srgbClr val="161D26"/>
                </a:solidFill>
                <a:effectLst/>
                <a:latin typeface="inherit"/>
              </a:rPr>
              <a:t>Key takeaways: ELB benefits</a:t>
            </a:r>
            <a:endParaRPr lang="en-GB" b="0" i="0" dirty="0">
              <a:solidFill>
                <a:srgbClr val="000000"/>
              </a:solidFill>
              <a:effectLst/>
              <a:latin typeface="inherit"/>
            </a:endParaRPr>
          </a:p>
        </p:txBody>
      </p:sp>
      <p:pic>
        <p:nvPicPr>
          <p:cNvPr id="5" name="Picture 4">
            <a:extLst>
              <a:ext uri="{FF2B5EF4-FFF2-40B4-BE49-F238E27FC236}">
                <a16:creationId xmlns:a16="http://schemas.microsoft.com/office/drawing/2014/main" id="{D443A065-579A-4055-8816-C063D3389E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743" y="3464586"/>
            <a:ext cx="1924319" cy="2067213"/>
          </a:xfrm>
          <a:prstGeom prst="rect">
            <a:avLst/>
          </a:prstGeom>
        </p:spPr>
      </p:pic>
      <p:pic>
        <p:nvPicPr>
          <p:cNvPr id="7" name="Picture 6">
            <a:extLst>
              <a:ext uri="{FF2B5EF4-FFF2-40B4-BE49-F238E27FC236}">
                <a16:creationId xmlns:a16="http://schemas.microsoft.com/office/drawing/2014/main" id="{4978DB85-65C0-45D7-ADD7-ADB846EEF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2238" y="3464586"/>
            <a:ext cx="2014501" cy="2033871"/>
          </a:xfrm>
          <a:prstGeom prst="rect">
            <a:avLst/>
          </a:prstGeom>
        </p:spPr>
      </p:pic>
      <p:pic>
        <p:nvPicPr>
          <p:cNvPr id="9" name="Picture 8">
            <a:extLst>
              <a:ext uri="{FF2B5EF4-FFF2-40B4-BE49-F238E27FC236}">
                <a16:creationId xmlns:a16="http://schemas.microsoft.com/office/drawing/2014/main" id="{BC27D76B-CEAE-4964-89ED-30C8FC7830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4915" y="3464586"/>
            <a:ext cx="1829055" cy="1981477"/>
          </a:xfrm>
          <a:prstGeom prst="rect">
            <a:avLst/>
          </a:prstGeom>
        </p:spPr>
      </p:pic>
    </p:spTree>
    <p:extLst>
      <p:ext uri="{BB962C8B-B14F-4D97-AF65-F5344CB8AC3E}">
        <p14:creationId xmlns:p14="http://schemas.microsoft.com/office/powerpoint/2010/main" val="2574040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98E1-CBC8-48A0-8BF4-D1C5401281B5}"/>
              </a:ext>
            </a:extLst>
          </p:cNvPr>
          <p:cNvSpPr>
            <a:spLocks noGrp="1"/>
          </p:cNvSpPr>
          <p:nvPr>
            <p:ph type="title"/>
          </p:nvPr>
        </p:nvSpPr>
        <p:spPr>
          <a:xfrm>
            <a:off x="1303235" y="1294943"/>
            <a:ext cx="8761413" cy="706964"/>
          </a:xfrm>
        </p:spPr>
        <p:txBody>
          <a:bodyPr/>
          <a:lstStyle/>
          <a:p>
            <a:pPr algn="ctr"/>
            <a:r>
              <a:rPr lang="en-GB" dirty="0"/>
              <a:t>Directing Traffic with Elastic Load Balancing</a:t>
            </a:r>
            <a:br>
              <a:rPr lang="en-GB" dirty="0"/>
            </a:br>
            <a:endParaRPr lang="en-GB" dirty="0"/>
          </a:p>
        </p:txBody>
      </p:sp>
      <p:sp>
        <p:nvSpPr>
          <p:cNvPr id="4" name="TextBox 3">
            <a:extLst>
              <a:ext uri="{FF2B5EF4-FFF2-40B4-BE49-F238E27FC236}">
                <a16:creationId xmlns:a16="http://schemas.microsoft.com/office/drawing/2014/main" id="{230C2CF2-4FF6-4207-9096-B4DE9C9ABEC6}"/>
              </a:ext>
            </a:extLst>
          </p:cNvPr>
          <p:cNvSpPr txBox="1"/>
          <p:nvPr/>
        </p:nvSpPr>
        <p:spPr>
          <a:xfrm>
            <a:off x="902043" y="2752805"/>
            <a:ext cx="9761838" cy="3139321"/>
          </a:xfrm>
          <a:prstGeom prst="rect">
            <a:avLst/>
          </a:prstGeom>
          <a:noFill/>
        </p:spPr>
        <p:txBody>
          <a:bodyPr wrap="square" rtlCol="0">
            <a:spAutoFit/>
          </a:bodyPr>
          <a:lstStyle/>
          <a:p>
            <a:r>
              <a:rPr lang="en-GB" b="1" dirty="0"/>
              <a:t>Efficient traffic distribution:</a:t>
            </a:r>
          </a:p>
          <a:p>
            <a:r>
              <a:rPr lang="en-GB" dirty="0"/>
              <a:t>ELB evenly distributes traffic across EC2 instances, preventing overload on any single instance and optimizing resource utilization.</a:t>
            </a:r>
          </a:p>
          <a:p>
            <a:endParaRPr lang="en-GB" b="1" dirty="0"/>
          </a:p>
          <a:p>
            <a:r>
              <a:rPr lang="en-GB" b="1" dirty="0"/>
              <a:t>Automatic scaling:</a:t>
            </a:r>
          </a:p>
          <a:p>
            <a:r>
              <a:rPr lang="en-GB" dirty="0"/>
              <a:t>ELB scales with traffic and automatically adjusts to changes in demand for a seamless operation as backend instances are added or removed.</a:t>
            </a:r>
          </a:p>
          <a:p>
            <a:endParaRPr lang="en-GB" dirty="0"/>
          </a:p>
          <a:p>
            <a:r>
              <a:rPr lang="en-GB" b="1" dirty="0"/>
              <a:t>Simplified management:</a:t>
            </a:r>
          </a:p>
          <a:p>
            <a:r>
              <a:rPr lang="en-GB" dirty="0"/>
              <a:t>ELB decouples front-end and backend tiers and reduces manual synchronization. It also handles maintenance, updates, and failover to ease operational overhead.</a:t>
            </a:r>
          </a:p>
        </p:txBody>
      </p:sp>
    </p:spTree>
    <p:extLst>
      <p:ext uri="{BB962C8B-B14F-4D97-AF65-F5344CB8AC3E}">
        <p14:creationId xmlns:p14="http://schemas.microsoft.com/office/powerpoint/2010/main" val="208576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98E1-CBC8-48A0-8BF4-D1C5401281B5}"/>
              </a:ext>
            </a:extLst>
          </p:cNvPr>
          <p:cNvSpPr>
            <a:spLocks noGrp="1"/>
          </p:cNvSpPr>
          <p:nvPr>
            <p:ph type="title"/>
          </p:nvPr>
        </p:nvSpPr>
        <p:spPr>
          <a:xfrm>
            <a:off x="1303235" y="1294943"/>
            <a:ext cx="8761413" cy="706964"/>
          </a:xfrm>
        </p:spPr>
        <p:txBody>
          <a:bodyPr/>
          <a:lstStyle/>
          <a:p>
            <a:pPr algn="ctr"/>
            <a:r>
              <a:rPr lang="en-GB" dirty="0"/>
              <a:t>Routing methods</a:t>
            </a:r>
            <a:br>
              <a:rPr lang="en-GB" dirty="0"/>
            </a:br>
            <a:endParaRPr lang="en-GB" dirty="0"/>
          </a:p>
        </p:txBody>
      </p:sp>
      <p:sp>
        <p:nvSpPr>
          <p:cNvPr id="3" name="TextBox 2">
            <a:extLst>
              <a:ext uri="{FF2B5EF4-FFF2-40B4-BE49-F238E27FC236}">
                <a16:creationId xmlns:a16="http://schemas.microsoft.com/office/drawing/2014/main" id="{6FB596FC-1FA0-416F-A7DD-F0114D3023FA}"/>
              </a:ext>
            </a:extLst>
          </p:cNvPr>
          <p:cNvSpPr txBox="1"/>
          <p:nvPr/>
        </p:nvSpPr>
        <p:spPr>
          <a:xfrm>
            <a:off x="605481" y="2347784"/>
            <a:ext cx="10478530" cy="923330"/>
          </a:xfrm>
          <a:prstGeom prst="rect">
            <a:avLst/>
          </a:prstGeom>
          <a:noFill/>
        </p:spPr>
        <p:txBody>
          <a:bodyPr wrap="square" rtlCol="0">
            <a:spAutoFit/>
          </a:bodyPr>
          <a:lstStyle/>
          <a:p>
            <a:r>
              <a:rPr lang="en-GB" b="0" i="0" dirty="0">
                <a:solidFill>
                  <a:srgbClr val="000000"/>
                </a:solidFill>
                <a:effectLst/>
                <a:latin typeface="Ember Display2"/>
              </a:rPr>
              <a:t>To optimize traffic distribution, ELB uses several routing methods: Round Robin, Least Connections, IP Hash, and Least Response Time. These routing strategies work together for efficient traffic management and optimal application performance.</a:t>
            </a:r>
            <a:endParaRPr lang="en-GB" dirty="0"/>
          </a:p>
        </p:txBody>
      </p:sp>
      <p:pic>
        <p:nvPicPr>
          <p:cNvPr id="10" name="Picture 9">
            <a:extLst>
              <a:ext uri="{FF2B5EF4-FFF2-40B4-BE49-F238E27FC236}">
                <a16:creationId xmlns:a16="http://schemas.microsoft.com/office/drawing/2014/main" id="{870E5CAF-86F3-46C2-B87E-73BC12772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189" y="3586887"/>
            <a:ext cx="2170682" cy="2191256"/>
          </a:xfrm>
          <a:prstGeom prst="rect">
            <a:avLst/>
          </a:prstGeom>
        </p:spPr>
      </p:pic>
      <p:pic>
        <p:nvPicPr>
          <p:cNvPr id="12" name="Picture 11">
            <a:extLst>
              <a:ext uri="{FF2B5EF4-FFF2-40B4-BE49-F238E27FC236}">
                <a16:creationId xmlns:a16="http://schemas.microsoft.com/office/drawing/2014/main" id="{76C3B40F-75E5-463E-885E-EA7B2E0DA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9105" y="3586887"/>
            <a:ext cx="2290358" cy="2191256"/>
          </a:xfrm>
          <a:prstGeom prst="rect">
            <a:avLst/>
          </a:prstGeom>
        </p:spPr>
      </p:pic>
      <p:pic>
        <p:nvPicPr>
          <p:cNvPr id="14" name="Picture 13">
            <a:extLst>
              <a:ext uri="{FF2B5EF4-FFF2-40B4-BE49-F238E27FC236}">
                <a16:creationId xmlns:a16="http://schemas.microsoft.com/office/drawing/2014/main" id="{5694C766-EEDC-427F-BFA6-06F424C4B4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1441" y="3586888"/>
            <a:ext cx="2160680" cy="2191256"/>
          </a:xfrm>
          <a:prstGeom prst="rect">
            <a:avLst/>
          </a:prstGeom>
        </p:spPr>
      </p:pic>
      <p:pic>
        <p:nvPicPr>
          <p:cNvPr id="16" name="Picture 15">
            <a:extLst>
              <a:ext uri="{FF2B5EF4-FFF2-40B4-BE49-F238E27FC236}">
                <a16:creationId xmlns:a16="http://schemas.microsoft.com/office/drawing/2014/main" id="{8998F6A5-8ED7-4709-8DA7-78D3CD14F1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67617" y="3586888"/>
            <a:ext cx="2217321" cy="2196598"/>
          </a:xfrm>
          <a:prstGeom prst="rect">
            <a:avLst/>
          </a:prstGeom>
        </p:spPr>
      </p:pic>
      <p:sp>
        <p:nvSpPr>
          <p:cNvPr id="17" name="TextBox 16">
            <a:extLst>
              <a:ext uri="{FF2B5EF4-FFF2-40B4-BE49-F238E27FC236}">
                <a16:creationId xmlns:a16="http://schemas.microsoft.com/office/drawing/2014/main" id="{B363508E-56E7-437E-A832-20509A2B1A48}"/>
              </a:ext>
            </a:extLst>
          </p:cNvPr>
          <p:cNvSpPr txBox="1"/>
          <p:nvPr/>
        </p:nvSpPr>
        <p:spPr>
          <a:xfrm>
            <a:off x="1186248" y="5980670"/>
            <a:ext cx="2407635" cy="646331"/>
          </a:xfrm>
          <a:prstGeom prst="rect">
            <a:avLst/>
          </a:prstGeom>
          <a:noFill/>
        </p:spPr>
        <p:txBody>
          <a:bodyPr wrap="square" rtlCol="0">
            <a:spAutoFit/>
          </a:bodyPr>
          <a:lstStyle/>
          <a:p>
            <a:r>
              <a:rPr lang="en-GB" b="1" i="0" dirty="0">
                <a:effectLst/>
                <a:latin typeface="inherit"/>
              </a:rPr>
              <a:t>Round Robin</a:t>
            </a:r>
            <a:br>
              <a:rPr lang="en-GB" dirty="0"/>
            </a:br>
            <a:endParaRPr lang="en-GB" dirty="0"/>
          </a:p>
        </p:txBody>
      </p:sp>
      <p:sp>
        <p:nvSpPr>
          <p:cNvPr id="18" name="TextBox 17">
            <a:extLst>
              <a:ext uri="{FF2B5EF4-FFF2-40B4-BE49-F238E27FC236}">
                <a16:creationId xmlns:a16="http://schemas.microsoft.com/office/drawing/2014/main" id="{C77D50D5-85B8-4149-94EF-38B3213506A8}"/>
              </a:ext>
            </a:extLst>
          </p:cNvPr>
          <p:cNvSpPr txBox="1"/>
          <p:nvPr/>
        </p:nvSpPr>
        <p:spPr>
          <a:xfrm>
            <a:off x="3575953" y="5980670"/>
            <a:ext cx="2125362" cy="369332"/>
          </a:xfrm>
          <a:prstGeom prst="rect">
            <a:avLst/>
          </a:prstGeom>
          <a:noFill/>
        </p:spPr>
        <p:txBody>
          <a:bodyPr wrap="square" rtlCol="0">
            <a:spAutoFit/>
          </a:bodyPr>
          <a:lstStyle/>
          <a:p>
            <a:r>
              <a:rPr lang="en-GB" b="1" i="0" dirty="0">
                <a:effectLst/>
                <a:latin typeface="Ember Display2"/>
              </a:rPr>
              <a:t>Least Connections</a:t>
            </a:r>
            <a:endParaRPr lang="en-GB" dirty="0"/>
          </a:p>
        </p:txBody>
      </p:sp>
      <p:sp>
        <p:nvSpPr>
          <p:cNvPr id="19" name="TextBox 18">
            <a:extLst>
              <a:ext uri="{FF2B5EF4-FFF2-40B4-BE49-F238E27FC236}">
                <a16:creationId xmlns:a16="http://schemas.microsoft.com/office/drawing/2014/main" id="{803512B1-3C10-40DD-A1FD-AE7F60D6482C}"/>
              </a:ext>
            </a:extLst>
          </p:cNvPr>
          <p:cNvSpPr txBox="1"/>
          <p:nvPr/>
        </p:nvSpPr>
        <p:spPr>
          <a:xfrm>
            <a:off x="7055709" y="5980670"/>
            <a:ext cx="1594022" cy="369332"/>
          </a:xfrm>
          <a:prstGeom prst="rect">
            <a:avLst/>
          </a:prstGeom>
          <a:noFill/>
        </p:spPr>
        <p:txBody>
          <a:bodyPr wrap="square" rtlCol="0">
            <a:spAutoFit/>
          </a:bodyPr>
          <a:lstStyle/>
          <a:p>
            <a:r>
              <a:rPr lang="en-GB" b="1" i="0" dirty="0">
                <a:effectLst/>
                <a:latin typeface="Ember Display2"/>
              </a:rPr>
              <a:t>IP Hash</a:t>
            </a:r>
            <a:endParaRPr lang="en-GB" dirty="0"/>
          </a:p>
        </p:txBody>
      </p:sp>
      <p:sp>
        <p:nvSpPr>
          <p:cNvPr id="20" name="TextBox 19">
            <a:extLst>
              <a:ext uri="{FF2B5EF4-FFF2-40B4-BE49-F238E27FC236}">
                <a16:creationId xmlns:a16="http://schemas.microsoft.com/office/drawing/2014/main" id="{4B347136-9A3C-43BC-B60B-8AF7FE9596AC}"/>
              </a:ext>
            </a:extLst>
          </p:cNvPr>
          <p:cNvSpPr txBox="1"/>
          <p:nvPr/>
        </p:nvSpPr>
        <p:spPr>
          <a:xfrm>
            <a:off x="9154114" y="5980670"/>
            <a:ext cx="2912076" cy="369332"/>
          </a:xfrm>
          <a:prstGeom prst="rect">
            <a:avLst/>
          </a:prstGeom>
          <a:noFill/>
        </p:spPr>
        <p:txBody>
          <a:bodyPr wrap="square" rtlCol="0">
            <a:spAutoFit/>
          </a:bodyPr>
          <a:lstStyle/>
          <a:p>
            <a:r>
              <a:rPr lang="en-GB" b="1" i="0" dirty="0">
                <a:effectLst/>
                <a:latin typeface="Ember Display2"/>
              </a:rPr>
              <a:t>Least Response Time</a:t>
            </a:r>
            <a:endParaRPr lang="en-GB" dirty="0"/>
          </a:p>
        </p:txBody>
      </p:sp>
    </p:spTree>
    <p:extLst>
      <p:ext uri="{BB962C8B-B14F-4D97-AF65-F5344CB8AC3E}">
        <p14:creationId xmlns:p14="http://schemas.microsoft.com/office/powerpoint/2010/main" val="3585057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96B0BC-6F97-4D7B-BCE4-747062785B27}"/>
              </a:ext>
            </a:extLst>
          </p:cNvPr>
          <p:cNvSpPr txBox="1"/>
          <p:nvPr/>
        </p:nvSpPr>
        <p:spPr>
          <a:xfrm>
            <a:off x="877329" y="2684667"/>
            <a:ext cx="9601200" cy="3416320"/>
          </a:xfrm>
          <a:prstGeom prst="rect">
            <a:avLst/>
          </a:prstGeom>
          <a:noFill/>
        </p:spPr>
        <p:txBody>
          <a:bodyPr wrap="square" rtlCol="0">
            <a:spAutoFit/>
          </a:bodyPr>
          <a:lstStyle/>
          <a:p>
            <a:r>
              <a:rPr lang="en-GB" b="1" dirty="0"/>
              <a:t>Round Robin:</a:t>
            </a:r>
          </a:p>
          <a:p>
            <a:r>
              <a:rPr lang="en-GB" dirty="0"/>
              <a:t>Distributes traffic evenly across all available servers in a cyclic manner.</a:t>
            </a:r>
          </a:p>
          <a:p>
            <a:endParaRPr lang="en-GB" dirty="0"/>
          </a:p>
          <a:p>
            <a:r>
              <a:rPr lang="en-GB" b="1" dirty="0"/>
              <a:t>Least Connections:</a:t>
            </a:r>
          </a:p>
          <a:p>
            <a:r>
              <a:rPr lang="en-GB" dirty="0"/>
              <a:t>Routes traffic to the server with the fewest active connections, maintaining a balanced load.</a:t>
            </a:r>
          </a:p>
          <a:p>
            <a:endParaRPr lang="en-GB" dirty="0"/>
          </a:p>
          <a:p>
            <a:r>
              <a:rPr lang="en-GB" b="1" dirty="0"/>
              <a:t>IP Hash:</a:t>
            </a:r>
          </a:p>
          <a:p>
            <a:r>
              <a:rPr lang="en-GB" dirty="0"/>
              <a:t>Uses the client’s IP address to consistently route traffic to the same server.</a:t>
            </a:r>
          </a:p>
          <a:p>
            <a:endParaRPr lang="en-GB" dirty="0"/>
          </a:p>
          <a:p>
            <a:r>
              <a:rPr lang="en-GB" b="1" dirty="0"/>
              <a:t>Least Response Time:</a:t>
            </a:r>
          </a:p>
          <a:p>
            <a:r>
              <a:rPr lang="en-GB" dirty="0"/>
              <a:t>Directs traffic to the server with the fastest response time, minimizing latency.</a:t>
            </a:r>
          </a:p>
        </p:txBody>
      </p:sp>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Routing methods</a:t>
            </a:r>
            <a:br>
              <a:rPr lang="en-GB" dirty="0"/>
            </a:br>
            <a:endParaRPr lang="en-GB" dirty="0"/>
          </a:p>
        </p:txBody>
      </p:sp>
    </p:spTree>
    <p:extLst>
      <p:ext uri="{BB962C8B-B14F-4D97-AF65-F5344CB8AC3E}">
        <p14:creationId xmlns:p14="http://schemas.microsoft.com/office/powerpoint/2010/main" val="3590081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96B0BC-6F97-4D7B-BCE4-747062785B27}"/>
              </a:ext>
            </a:extLst>
          </p:cNvPr>
          <p:cNvSpPr txBox="1"/>
          <p:nvPr/>
        </p:nvSpPr>
        <p:spPr>
          <a:xfrm>
            <a:off x="1295400" y="2368354"/>
            <a:ext cx="9601200" cy="923330"/>
          </a:xfrm>
          <a:prstGeom prst="rect">
            <a:avLst/>
          </a:prstGeom>
          <a:noFill/>
        </p:spPr>
        <p:txBody>
          <a:bodyPr wrap="square" rtlCol="0">
            <a:spAutoFit/>
          </a:bodyPr>
          <a:lstStyle/>
          <a:p>
            <a:r>
              <a:rPr lang="en-GB" b="0" i="0" dirty="0">
                <a:solidFill>
                  <a:srgbClr val="000000"/>
                </a:solidFill>
                <a:effectLst/>
                <a:latin typeface="Ember Display2"/>
              </a:rPr>
              <a:t>Let's look at an example to better understand how Elastic Load Balancing works in cloud computing. In the healthcare industry, particularly in hospitals and medical facilities that provide online appointment booking systems or patient portals, website traffic can vary greatly throughout the day.</a:t>
            </a:r>
            <a:endParaRPr lang="en-GB" dirty="0"/>
          </a:p>
        </p:txBody>
      </p:sp>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Example: Elastic Load Balancing</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295400" y="3429000"/>
            <a:ext cx="9700054" cy="1477328"/>
          </a:xfrm>
          <a:prstGeom prst="rect">
            <a:avLst/>
          </a:prstGeom>
          <a:noFill/>
        </p:spPr>
        <p:txBody>
          <a:bodyPr wrap="square" rtlCol="0">
            <a:spAutoFit/>
          </a:bodyPr>
          <a:lstStyle/>
          <a:p>
            <a:pPr algn="l" fontAlgn="auto"/>
            <a:r>
              <a:rPr lang="en-GB" b="1" i="0" dirty="0">
                <a:solidFill>
                  <a:srgbClr val="000000"/>
                </a:solidFill>
                <a:effectLst/>
                <a:latin typeface="inherit"/>
              </a:rPr>
              <a:t>Initial </a:t>
            </a:r>
            <a:r>
              <a:rPr lang="en-GB" b="1" i="0" dirty="0" err="1">
                <a:solidFill>
                  <a:srgbClr val="000000"/>
                </a:solidFill>
                <a:effectLst/>
                <a:latin typeface="inherit"/>
              </a:rPr>
              <a:t>SetUp</a:t>
            </a:r>
            <a:r>
              <a:rPr lang="en-GB" b="1" i="0" dirty="0">
                <a:solidFill>
                  <a:srgbClr val="000000"/>
                </a:solidFill>
                <a:effectLst/>
                <a:latin typeface="inherit"/>
              </a:rPr>
              <a:t>: Low-demand period</a:t>
            </a:r>
            <a:r>
              <a:rPr lang="en-GB" b="0" i="0" dirty="0">
                <a:solidFill>
                  <a:srgbClr val="000000"/>
                </a:solidFill>
                <a:effectLst/>
                <a:latin typeface="inherit"/>
              </a:rPr>
              <a:t>: At the beginning of the day, only a few patients are accessing the system to book appointments or view medical records. The existing web servers are sufficient to handle the low traffic. This matches the demand, with no need for additional resources at this point.</a:t>
            </a:r>
          </a:p>
          <a:p>
            <a:br>
              <a:rPr lang="en-GB" b="0" i="0" dirty="0">
                <a:solidFill>
                  <a:srgbClr val="000000"/>
                </a:solidFill>
                <a:effectLst/>
                <a:latin typeface="Lato" panose="020F0502020204030203" pitchFamily="34" charset="0"/>
              </a:rPr>
            </a:br>
            <a:endParaRPr lang="en-GB" dirty="0"/>
          </a:p>
        </p:txBody>
      </p:sp>
      <p:pic>
        <p:nvPicPr>
          <p:cNvPr id="8" name="Picture 7">
            <a:extLst>
              <a:ext uri="{FF2B5EF4-FFF2-40B4-BE49-F238E27FC236}">
                <a16:creationId xmlns:a16="http://schemas.microsoft.com/office/drawing/2014/main" id="{FE9DC30D-A139-42C6-9740-D7922AC197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5927" y="4423719"/>
            <a:ext cx="5137678" cy="2434281"/>
          </a:xfrm>
          <a:prstGeom prst="rect">
            <a:avLst/>
          </a:prstGeom>
        </p:spPr>
      </p:pic>
    </p:spTree>
    <p:extLst>
      <p:ext uri="{BB962C8B-B14F-4D97-AF65-F5344CB8AC3E}">
        <p14:creationId xmlns:p14="http://schemas.microsoft.com/office/powerpoint/2010/main" val="3747692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Example: Elastic Load Balancing</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371599" y="2551837"/>
            <a:ext cx="9700054" cy="1754326"/>
          </a:xfrm>
          <a:prstGeom prst="rect">
            <a:avLst/>
          </a:prstGeom>
          <a:noFill/>
        </p:spPr>
        <p:txBody>
          <a:bodyPr wrap="square" rtlCol="0">
            <a:spAutoFit/>
          </a:bodyPr>
          <a:lstStyle/>
          <a:p>
            <a:pPr algn="l" fontAlgn="auto"/>
            <a:r>
              <a:rPr lang="en-GB" b="1" i="0" dirty="0">
                <a:solidFill>
                  <a:srgbClr val="000000"/>
                </a:solidFill>
                <a:effectLst/>
                <a:latin typeface="inherit"/>
              </a:rPr>
              <a:t>Scaling Up :Initial </a:t>
            </a:r>
            <a:r>
              <a:rPr lang="en-GB" b="1" i="0" dirty="0" err="1">
                <a:solidFill>
                  <a:srgbClr val="000000"/>
                </a:solidFill>
                <a:effectLst/>
                <a:latin typeface="inherit"/>
              </a:rPr>
              <a:t>SetUp</a:t>
            </a:r>
            <a:r>
              <a:rPr lang="en-GB" b="1" i="0" dirty="0">
                <a:solidFill>
                  <a:srgbClr val="000000"/>
                </a:solidFill>
                <a:effectLst/>
                <a:latin typeface="inherit"/>
              </a:rPr>
              <a:t>: </a:t>
            </a:r>
            <a:r>
              <a:rPr lang="en-GB" b="1" i="0" dirty="0">
                <a:solidFill>
                  <a:srgbClr val="000000"/>
                </a:solidFill>
                <a:effectLst/>
                <a:latin typeface="Ember Display2"/>
              </a:rPr>
              <a:t>High-demand period</a:t>
            </a:r>
            <a:r>
              <a:rPr lang="en-GB" b="0" i="0" dirty="0">
                <a:solidFill>
                  <a:srgbClr val="000000"/>
                </a:solidFill>
                <a:effectLst/>
                <a:latin typeface="Ember Display2"/>
              </a:rPr>
              <a:t>: As the day progresses, especially during peak hours, such as early mornings or just before the weekend, more patients access the portal to book appointments, view test results, or contact medical professionals. To handle this surge in demand, the healthcare system automatically scales up the number of servers to help ensure that the system remains responsive and available for all users.</a:t>
            </a:r>
            <a:br>
              <a:rPr lang="en-GB" b="0" i="0" dirty="0">
                <a:solidFill>
                  <a:srgbClr val="000000"/>
                </a:solidFill>
                <a:effectLst/>
                <a:latin typeface="Lato" panose="020F0502020204030203" pitchFamily="34" charset="0"/>
              </a:rPr>
            </a:br>
            <a:endParaRPr lang="en-GB" dirty="0"/>
          </a:p>
        </p:txBody>
      </p:sp>
      <p:pic>
        <p:nvPicPr>
          <p:cNvPr id="6" name="Picture 5">
            <a:extLst>
              <a:ext uri="{FF2B5EF4-FFF2-40B4-BE49-F238E27FC236}">
                <a16:creationId xmlns:a16="http://schemas.microsoft.com/office/drawing/2014/main" id="{CFB9843D-2FF9-4CB8-99DF-7C8F7331DE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5773" y="4144249"/>
            <a:ext cx="5280454" cy="2501929"/>
          </a:xfrm>
          <a:prstGeom prst="rect">
            <a:avLst/>
          </a:prstGeom>
        </p:spPr>
      </p:pic>
    </p:spTree>
    <p:extLst>
      <p:ext uri="{BB962C8B-B14F-4D97-AF65-F5344CB8AC3E}">
        <p14:creationId xmlns:p14="http://schemas.microsoft.com/office/powerpoint/2010/main" val="755798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Example: Elastic Load Balancing</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371599" y="2551837"/>
            <a:ext cx="9700054" cy="1477328"/>
          </a:xfrm>
          <a:prstGeom prst="rect">
            <a:avLst/>
          </a:prstGeom>
          <a:noFill/>
        </p:spPr>
        <p:txBody>
          <a:bodyPr wrap="square" rtlCol="0">
            <a:spAutoFit/>
          </a:bodyPr>
          <a:lstStyle/>
          <a:p>
            <a:pPr algn="l" fontAlgn="auto"/>
            <a:r>
              <a:rPr lang="en-GB" b="0" i="0" dirty="0">
                <a:solidFill>
                  <a:srgbClr val="000000"/>
                </a:solidFill>
                <a:effectLst/>
                <a:latin typeface="Ember Display2"/>
              </a:rPr>
              <a:t>Load Balancing:  load balancer directs the incoming traffic to different web servers based on their current load. For instance, if one server starts receiving too many requests, the load balancer will route new requests to a less busy server. This makes sure that no single server becomes overwhelmed. The traffic is evenly distributed across available EC2 instances.</a:t>
            </a:r>
            <a:br>
              <a:rPr lang="en-GB" b="0" i="0" dirty="0">
                <a:solidFill>
                  <a:srgbClr val="000000"/>
                </a:solidFill>
                <a:effectLst/>
                <a:latin typeface="Lato" panose="020F0502020204030203" pitchFamily="34" charset="0"/>
              </a:rPr>
            </a:br>
            <a:endParaRPr lang="en-GB" dirty="0"/>
          </a:p>
        </p:txBody>
      </p:sp>
      <p:pic>
        <p:nvPicPr>
          <p:cNvPr id="5" name="Picture 4">
            <a:extLst>
              <a:ext uri="{FF2B5EF4-FFF2-40B4-BE49-F238E27FC236}">
                <a16:creationId xmlns:a16="http://schemas.microsoft.com/office/drawing/2014/main" id="{13B7ADEB-7D7A-4DEC-9DC6-26FDD9228C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8042" y="4029165"/>
            <a:ext cx="5317437" cy="2519453"/>
          </a:xfrm>
          <a:prstGeom prst="rect">
            <a:avLst/>
          </a:prstGeom>
        </p:spPr>
      </p:pic>
    </p:spTree>
    <p:extLst>
      <p:ext uri="{BB962C8B-B14F-4D97-AF65-F5344CB8AC3E}">
        <p14:creationId xmlns:p14="http://schemas.microsoft.com/office/powerpoint/2010/main" val="4143282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Unmanaged and managed services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458096" y="2403556"/>
            <a:ext cx="9700054" cy="1754326"/>
          </a:xfrm>
          <a:prstGeom prst="rect">
            <a:avLst/>
          </a:prstGeom>
          <a:noFill/>
        </p:spPr>
        <p:txBody>
          <a:bodyPr wrap="square" rtlCol="0">
            <a:spAutoFit/>
          </a:bodyPr>
          <a:lstStyle/>
          <a:p>
            <a:pPr algn="l" fontAlgn="auto"/>
            <a:r>
              <a:rPr lang="en-GB" b="0" i="0" dirty="0">
                <a:solidFill>
                  <a:srgbClr val="000000"/>
                </a:solidFill>
                <a:effectLst/>
                <a:latin typeface="Ember Display2"/>
              </a:rPr>
              <a:t>With unmanaged compute services like Amazon EC2, AWS takes care of the underlying physical infrastructure, but you're responsible for setting up, securing, and maintaining the operating system, network configurations, and applications on your instances. Managed services, on the other hand, reduce the amount of infrastructure you need to manage. While AWS handles much of the operational overhead, you might still need to perform some provisioning or configuration depending on the service.</a:t>
            </a:r>
            <a:endParaRPr lang="en-GB" dirty="0"/>
          </a:p>
        </p:txBody>
      </p:sp>
      <p:pic>
        <p:nvPicPr>
          <p:cNvPr id="6" name="Picture 5">
            <a:extLst>
              <a:ext uri="{FF2B5EF4-FFF2-40B4-BE49-F238E27FC236}">
                <a16:creationId xmlns:a16="http://schemas.microsoft.com/office/drawing/2014/main" id="{0DA7A9F3-0C96-40A1-95C5-29167FFA6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6454" y="3909012"/>
            <a:ext cx="4147620" cy="2825419"/>
          </a:xfrm>
          <a:prstGeom prst="rect">
            <a:avLst/>
          </a:prstGeom>
        </p:spPr>
      </p:pic>
    </p:spTree>
    <p:extLst>
      <p:ext uri="{BB962C8B-B14F-4D97-AF65-F5344CB8AC3E}">
        <p14:creationId xmlns:p14="http://schemas.microsoft.com/office/powerpoint/2010/main" val="954080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Fully-managed services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458096" y="2403556"/>
            <a:ext cx="9700054" cy="1477328"/>
          </a:xfrm>
          <a:prstGeom prst="rect">
            <a:avLst/>
          </a:prstGeom>
          <a:noFill/>
        </p:spPr>
        <p:txBody>
          <a:bodyPr wrap="square" rtlCol="0">
            <a:spAutoFit/>
          </a:bodyPr>
          <a:lstStyle/>
          <a:p>
            <a:pPr algn="l" fontAlgn="auto"/>
            <a:r>
              <a:rPr lang="en-GB" b="0" i="0" dirty="0">
                <a:solidFill>
                  <a:srgbClr val="000000"/>
                </a:solidFill>
                <a:effectLst/>
                <a:latin typeface="Ember Display2"/>
              </a:rPr>
              <a:t>Fully-managed services—like serverless ones—take abstraction even further, eliminating the need to provision or manage any servers at all. The underlying infrastructure is fully managed by AWS, so you can focus entirely on writing and deploying code. Later in this module, you will explore Lambda. Lambda is a serverless compute service where AWS handles the infrastructure, scaling, and availability, while you remain responsible for securing and managing your application code.</a:t>
            </a:r>
            <a:endParaRPr lang="en-GB" dirty="0"/>
          </a:p>
        </p:txBody>
      </p:sp>
      <p:pic>
        <p:nvPicPr>
          <p:cNvPr id="5" name="Picture 4">
            <a:extLst>
              <a:ext uri="{FF2B5EF4-FFF2-40B4-BE49-F238E27FC236}">
                <a16:creationId xmlns:a16="http://schemas.microsoft.com/office/drawing/2014/main" id="{F85512CC-E45E-4549-80E7-14F831A14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055" y="3880884"/>
            <a:ext cx="5696464" cy="2841451"/>
          </a:xfrm>
          <a:prstGeom prst="rect">
            <a:avLst/>
          </a:prstGeom>
        </p:spPr>
      </p:pic>
    </p:spTree>
    <p:extLst>
      <p:ext uri="{BB962C8B-B14F-4D97-AF65-F5344CB8AC3E}">
        <p14:creationId xmlns:p14="http://schemas.microsoft.com/office/powerpoint/2010/main" val="3101484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AWS Lambda</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458096" y="2403556"/>
            <a:ext cx="9700054" cy="1477328"/>
          </a:xfrm>
          <a:prstGeom prst="rect">
            <a:avLst/>
          </a:prstGeom>
          <a:noFill/>
        </p:spPr>
        <p:txBody>
          <a:bodyPr wrap="square" rtlCol="0">
            <a:spAutoFit/>
          </a:bodyPr>
          <a:lstStyle/>
          <a:p>
            <a:pPr algn="l" fontAlgn="auto"/>
            <a:r>
              <a:rPr lang="en-GB" b="0" i="0" dirty="0">
                <a:solidFill>
                  <a:srgbClr val="000000"/>
                </a:solidFill>
                <a:effectLst/>
                <a:latin typeface="Ember Display2"/>
              </a:rPr>
              <a:t>Lambda is a serverless compute service that runs code in response to events without the need to provision or manage servers. It automatically manages the underlying infrastructure, scaling resources based on the volume of requests. You are charged only for the compute time consumed, down to the millisecond. Lambda handles execution, scaling, and resource allocation. You can optimize performance by configuring the appropriate memory size for your function.</a:t>
            </a:r>
            <a:endParaRPr lang="en-GB" dirty="0"/>
          </a:p>
        </p:txBody>
      </p:sp>
      <p:pic>
        <p:nvPicPr>
          <p:cNvPr id="6" name="Picture 5">
            <a:extLst>
              <a:ext uri="{FF2B5EF4-FFF2-40B4-BE49-F238E27FC236}">
                <a16:creationId xmlns:a16="http://schemas.microsoft.com/office/drawing/2014/main" id="{16E1727C-7191-4D43-B8F8-34C9F048D6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9372" y="3889079"/>
            <a:ext cx="8342737" cy="2766458"/>
          </a:xfrm>
          <a:prstGeom prst="rect">
            <a:avLst/>
          </a:prstGeom>
        </p:spPr>
      </p:pic>
    </p:spTree>
    <p:extLst>
      <p:ext uri="{BB962C8B-B14F-4D97-AF65-F5344CB8AC3E}">
        <p14:creationId xmlns:p14="http://schemas.microsoft.com/office/powerpoint/2010/main" val="1142848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AWS Lambda</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037966" y="2333685"/>
            <a:ext cx="9700054" cy="4524315"/>
          </a:xfrm>
          <a:prstGeom prst="rect">
            <a:avLst/>
          </a:prstGeom>
          <a:noFill/>
        </p:spPr>
        <p:txBody>
          <a:bodyPr wrap="square" rtlCol="0">
            <a:spAutoFit/>
          </a:bodyPr>
          <a:lstStyle/>
          <a:p>
            <a:pPr algn="l" fontAlgn="auto"/>
            <a:r>
              <a:rPr lang="en-GB" b="1" i="0" dirty="0">
                <a:solidFill>
                  <a:srgbClr val="000000"/>
                </a:solidFill>
                <a:effectLst/>
                <a:latin typeface="Ember Display2"/>
              </a:rPr>
              <a:t>Upload code to Lambda</a:t>
            </a:r>
          </a:p>
          <a:p>
            <a:pPr algn="l" fontAlgn="auto"/>
            <a:r>
              <a:rPr lang="en-GB" b="0" i="0" dirty="0">
                <a:solidFill>
                  <a:srgbClr val="000000"/>
                </a:solidFill>
                <a:effectLst/>
                <a:latin typeface="inherit"/>
              </a:rPr>
              <a:t>First, upload the code to Lambda, which uploads as a </a:t>
            </a:r>
            <a:r>
              <a:rPr lang="en-GB" b="0" i="1" dirty="0">
                <a:solidFill>
                  <a:srgbClr val="000000"/>
                </a:solidFill>
                <a:effectLst/>
                <a:latin typeface="inherit"/>
              </a:rPr>
              <a:t>Lambda function</a:t>
            </a:r>
            <a:r>
              <a:rPr lang="en-GB" b="0" i="0" dirty="0">
                <a:solidFill>
                  <a:srgbClr val="000000"/>
                </a:solidFill>
                <a:effectLst/>
                <a:latin typeface="inherit"/>
              </a:rPr>
              <a:t>.</a:t>
            </a:r>
          </a:p>
          <a:p>
            <a:pPr algn="l" fontAlgn="auto"/>
            <a:endParaRPr lang="en-GB" dirty="0"/>
          </a:p>
          <a:p>
            <a:pPr algn="l" fontAlgn="auto"/>
            <a:r>
              <a:rPr lang="en-GB" b="1" i="0" dirty="0">
                <a:solidFill>
                  <a:srgbClr val="000000"/>
                </a:solidFill>
                <a:effectLst/>
                <a:latin typeface="Ember Display2"/>
              </a:rPr>
              <a:t>Set code to trigger from an event source</a:t>
            </a:r>
          </a:p>
          <a:p>
            <a:pPr algn="l" fontAlgn="auto"/>
            <a:r>
              <a:rPr lang="en-GB" b="0" i="0" dirty="0">
                <a:solidFill>
                  <a:srgbClr val="000000"/>
                </a:solidFill>
                <a:effectLst/>
                <a:latin typeface="inherit"/>
              </a:rPr>
              <a:t>Next, configure your code to be triggered by events, like AWS services, mobile apps, or HTTP requests.</a:t>
            </a:r>
          </a:p>
          <a:p>
            <a:pPr algn="l" fontAlgn="auto"/>
            <a:endParaRPr lang="en-GB" dirty="0"/>
          </a:p>
          <a:p>
            <a:pPr algn="l" fontAlgn="auto"/>
            <a:r>
              <a:rPr lang="en-GB" b="1" i="0" dirty="0">
                <a:solidFill>
                  <a:srgbClr val="000000"/>
                </a:solidFill>
                <a:effectLst/>
                <a:latin typeface="Ember Display2"/>
              </a:rPr>
              <a:t>Run code when triggered</a:t>
            </a:r>
          </a:p>
          <a:p>
            <a:pPr algn="l" fontAlgn="auto"/>
            <a:r>
              <a:rPr lang="en-GB" b="0" i="0" dirty="0">
                <a:solidFill>
                  <a:srgbClr val="000000"/>
                </a:solidFill>
                <a:effectLst/>
                <a:latin typeface="inherit"/>
              </a:rPr>
              <a:t>Your code runs only when an event occurs, like a file upload or user action. Lambda automatically handles all the server management, scaling, and infrastructure. The Lambda runtime executes your function code using the event data passed to it. This way, your code runs reliably, securely, and efficiently—without you managing the servers or environment it runs in.</a:t>
            </a:r>
          </a:p>
          <a:p>
            <a:pPr algn="l" fontAlgn="auto"/>
            <a:endParaRPr lang="en-GB" b="1" i="0" dirty="0">
              <a:solidFill>
                <a:srgbClr val="000000"/>
              </a:solidFill>
              <a:effectLst/>
              <a:latin typeface="Ember Display2"/>
            </a:endParaRPr>
          </a:p>
          <a:p>
            <a:pPr algn="l" fontAlgn="auto"/>
            <a:r>
              <a:rPr lang="en-GB" b="1" i="0" dirty="0">
                <a:solidFill>
                  <a:srgbClr val="000000"/>
                </a:solidFill>
                <a:effectLst/>
                <a:latin typeface="Ember Display2"/>
              </a:rPr>
              <a:t>Pay only for the compute time used</a:t>
            </a:r>
          </a:p>
          <a:p>
            <a:pPr algn="l" fontAlgn="auto"/>
            <a:r>
              <a:rPr lang="en-GB" b="0" i="0" dirty="0">
                <a:solidFill>
                  <a:srgbClr val="000000"/>
                </a:solidFill>
                <a:effectLst/>
                <a:latin typeface="inherit"/>
              </a:rPr>
              <a:t>You are charged only for the compute time consumed, down to the millisecond. The price depends on the amount of memory that you allocate to your function.</a:t>
            </a:r>
          </a:p>
          <a:p>
            <a:pPr algn="l" fontAlgn="auto"/>
            <a:endParaRPr lang="en-GB" dirty="0"/>
          </a:p>
        </p:txBody>
      </p:sp>
    </p:spTree>
    <p:extLst>
      <p:ext uri="{BB962C8B-B14F-4D97-AF65-F5344CB8AC3E}">
        <p14:creationId xmlns:p14="http://schemas.microsoft.com/office/powerpoint/2010/main" val="162594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Lambda use cases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062680" y="2939166"/>
            <a:ext cx="9700054" cy="2585323"/>
          </a:xfrm>
          <a:prstGeom prst="rect">
            <a:avLst/>
          </a:prstGeom>
          <a:noFill/>
        </p:spPr>
        <p:txBody>
          <a:bodyPr wrap="square" rtlCol="0">
            <a:spAutoFit/>
          </a:bodyPr>
          <a:lstStyle/>
          <a:p>
            <a:pPr algn="l" fontAlgn="auto"/>
            <a:r>
              <a:rPr lang="en-GB" i="0" dirty="0">
                <a:solidFill>
                  <a:srgbClr val="000000"/>
                </a:solidFill>
                <a:effectLst/>
                <a:latin typeface="Ember Display2"/>
              </a:rPr>
              <a:t>Real-time image processing for a social media application</a:t>
            </a:r>
          </a:p>
          <a:p>
            <a:pPr algn="l" fontAlgn="auto"/>
            <a:r>
              <a:rPr lang="en-GB" i="0" dirty="0">
                <a:solidFill>
                  <a:srgbClr val="000000"/>
                </a:solidFill>
                <a:effectLst/>
                <a:latin typeface="Ember Display2"/>
              </a:rPr>
              <a:t>A social media company uses Lambda to process images uploaded by users. When a photo is uploaded, Lambda is triggered to resize the image, apply filters, and save it in an optimized format to storage. This event-driven, serverless approach makes sure that the application can handle high volumes of uploads without needing to manage infrastructure.</a:t>
            </a:r>
          </a:p>
          <a:p>
            <a:pPr algn="l" fontAlgn="auto"/>
            <a:endParaRPr lang="en-GB" i="0" dirty="0">
              <a:solidFill>
                <a:srgbClr val="000000"/>
              </a:solidFill>
              <a:effectLst/>
              <a:latin typeface="Ember Display2"/>
            </a:endParaRPr>
          </a:p>
          <a:p>
            <a:pPr algn="l" fontAlgn="auto"/>
            <a:endParaRPr lang="en-GB" i="0" dirty="0">
              <a:solidFill>
                <a:srgbClr val="000000"/>
              </a:solidFill>
              <a:effectLst/>
              <a:latin typeface="Ember Display2"/>
            </a:endParaRPr>
          </a:p>
          <a:p>
            <a:pPr algn="l" fontAlgn="auto"/>
            <a:r>
              <a:rPr lang="en-GB" i="0" dirty="0">
                <a:solidFill>
                  <a:srgbClr val="000000"/>
                </a:solidFill>
                <a:effectLst/>
                <a:latin typeface="Ember Display2"/>
              </a:rPr>
              <a:t>Why Lambda: It automatically scales based on uploads and charges only for the time spent processing each image.</a:t>
            </a:r>
            <a:endParaRPr lang="en-GB" dirty="0"/>
          </a:p>
        </p:txBody>
      </p:sp>
    </p:spTree>
    <p:extLst>
      <p:ext uri="{BB962C8B-B14F-4D97-AF65-F5344CB8AC3E}">
        <p14:creationId xmlns:p14="http://schemas.microsoft.com/office/powerpoint/2010/main" val="3367011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Lambda use cases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062680" y="2939166"/>
            <a:ext cx="9700054" cy="2585323"/>
          </a:xfrm>
          <a:prstGeom prst="rect">
            <a:avLst/>
          </a:prstGeom>
          <a:noFill/>
        </p:spPr>
        <p:txBody>
          <a:bodyPr wrap="square" rtlCol="0">
            <a:spAutoFit/>
          </a:bodyPr>
          <a:lstStyle/>
          <a:p>
            <a:pPr algn="l" fontAlgn="auto"/>
            <a:r>
              <a:rPr lang="en-GB" i="0" dirty="0">
                <a:solidFill>
                  <a:srgbClr val="000000"/>
                </a:solidFill>
                <a:effectLst/>
                <a:latin typeface="Ember Display2"/>
              </a:rPr>
              <a:t>Personalized content delivery for a news aggregator</a:t>
            </a:r>
          </a:p>
          <a:p>
            <a:pPr algn="l" fontAlgn="auto"/>
            <a:r>
              <a:rPr lang="en-GB" i="0" dirty="0">
                <a:solidFill>
                  <a:srgbClr val="000000"/>
                </a:solidFill>
                <a:effectLst/>
                <a:latin typeface="Ember Display2"/>
              </a:rPr>
              <a:t>A news aggregator uses Lambda to fetch and process news articles from multiple sources, then it tailors recommendations based on user preferences. When a user opens the application or performs a search, Lambda functions are triggered to retrieve data, run personalization logic, and return relevant content.</a:t>
            </a:r>
          </a:p>
          <a:p>
            <a:pPr algn="l" fontAlgn="auto"/>
            <a:endParaRPr lang="en-GB" i="0" dirty="0">
              <a:solidFill>
                <a:srgbClr val="000000"/>
              </a:solidFill>
              <a:effectLst/>
              <a:latin typeface="Ember Display2"/>
            </a:endParaRPr>
          </a:p>
          <a:p>
            <a:pPr algn="l" fontAlgn="auto"/>
            <a:endParaRPr lang="en-GB" i="0" dirty="0">
              <a:solidFill>
                <a:srgbClr val="000000"/>
              </a:solidFill>
              <a:effectLst/>
              <a:latin typeface="Ember Display2"/>
            </a:endParaRPr>
          </a:p>
          <a:p>
            <a:pPr algn="l" fontAlgn="auto"/>
            <a:r>
              <a:rPr lang="en-GB" i="0" dirty="0">
                <a:solidFill>
                  <a:srgbClr val="000000"/>
                </a:solidFill>
                <a:effectLst/>
                <a:latin typeface="Ember Display2"/>
              </a:rPr>
              <a:t>Why Lambda: It automatically scales with user traffic and reduces costs by running code only when users interact.</a:t>
            </a:r>
            <a:endParaRPr lang="en-GB" dirty="0"/>
          </a:p>
        </p:txBody>
      </p:sp>
    </p:spTree>
    <p:extLst>
      <p:ext uri="{BB962C8B-B14F-4D97-AF65-F5344CB8AC3E}">
        <p14:creationId xmlns:p14="http://schemas.microsoft.com/office/powerpoint/2010/main" val="2292407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Lambda use cases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062680" y="3124517"/>
            <a:ext cx="9700054" cy="2031325"/>
          </a:xfrm>
          <a:prstGeom prst="rect">
            <a:avLst/>
          </a:prstGeom>
          <a:noFill/>
        </p:spPr>
        <p:txBody>
          <a:bodyPr wrap="square" rtlCol="0">
            <a:spAutoFit/>
          </a:bodyPr>
          <a:lstStyle/>
          <a:p>
            <a:pPr algn="l" fontAlgn="auto"/>
            <a:r>
              <a:rPr lang="en-GB" i="0" dirty="0">
                <a:solidFill>
                  <a:srgbClr val="000000"/>
                </a:solidFill>
                <a:effectLst/>
                <a:latin typeface="Ember Display2"/>
              </a:rPr>
              <a:t>Real-time event handling for an online game</a:t>
            </a:r>
          </a:p>
          <a:p>
            <a:pPr algn="l" fontAlgn="auto"/>
            <a:r>
              <a:rPr lang="en-GB" i="0" dirty="0">
                <a:solidFill>
                  <a:srgbClr val="000000"/>
                </a:solidFill>
                <a:effectLst/>
                <a:latin typeface="Ember Display2"/>
              </a:rPr>
              <a:t>A gaming company uses Lambda to handle in-game events like player actions, game state changes, and real-time leader board updates. Each event (like scoring a point or unlocking an achievement) triggers a Lambda function that updates player data and game status.</a:t>
            </a:r>
          </a:p>
          <a:p>
            <a:pPr algn="l" fontAlgn="auto"/>
            <a:endParaRPr lang="en-GB" i="0" dirty="0">
              <a:solidFill>
                <a:srgbClr val="000000"/>
              </a:solidFill>
              <a:effectLst/>
              <a:latin typeface="Ember Display2"/>
            </a:endParaRPr>
          </a:p>
          <a:p>
            <a:pPr algn="l" fontAlgn="auto"/>
            <a:r>
              <a:rPr lang="en-GB" i="0" dirty="0">
                <a:solidFill>
                  <a:srgbClr val="000000"/>
                </a:solidFill>
                <a:effectLst/>
                <a:latin typeface="Ember Display2"/>
              </a:rPr>
              <a:t>Why Lambda: It handles thousands of events, in real-time, with no need to manage servers. Costs scale with usage, which is ideal for peak gaming times.</a:t>
            </a:r>
            <a:endParaRPr lang="en-GB" dirty="0"/>
          </a:p>
        </p:txBody>
      </p:sp>
    </p:spTree>
    <p:extLst>
      <p:ext uri="{BB962C8B-B14F-4D97-AF65-F5344CB8AC3E}">
        <p14:creationId xmlns:p14="http://schemas.microsoft.com/office/powerpoint/2010/main" val="2160769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Solving deployment challenges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037966" y="2413337"/>
            <a:ext cx="9700054" cy="2031325"/>
          </a:xfrm>
          <a:prstGeom prst="rect">
            <a:avLst/>
          </a:prstGeom>
          <a:noFill/>
        </p:spPr>
        <p:txBody>
          <a:bodyPr wrap="square" rtlCol="0">
            <a:spAutoFit/>
          </a:bodyPr>
          <a:lstStyle/>
          <a:p>
            <a:pPr algn="l" fontAlgn="auto"/>
            <a:r>
              <a:rPr lang="en-GB" b="1" i="0" dirty="0">
                <a:solidFill>
                  <a:srgbClr val="000000"/>
                </a:solidFill>
                <a:effectLst/>
                <a:latin typeface="Ember Display2"/>
              </a:rPr>
              <a:t>Containers and VMs</a:t>
            </a:r>
          </a:p>
          <a:p>
            <a:pPr algn="l" fontAlgn="auto"/>
            <a:r>
              <a:rPr lang="en-GB" i="0" dirty="0">
                <a:solidFill>
                  <a:srgbClr val="000000"/>
                </a:solidFill>
                <a:effectLst/>
                <a:latin typeface="Ember Display2"/>
              </a:rPr>
              <a:t>A container packages your application with everything it needs to run, so it works the same on any computer. This helps to move, update, and manage. Containers are faster and lighter than virtual machines (VMs) because they share the host computer’s operating system. VMs use a hypervisor to run full, separate operating systems, which makes them less resource-efficient and have longer </a:t>
            </a:r>
            <a:r>
              <a:rPr lang="en-GB" i="0" dirty="0" err="1">
                <a:solidFill>
                  <a:srgbClr val="000000"/>
                </a:solidFill>
                <a:effectLst/>
                <a:latin typeface="Ember Display2"/>
              </a:rPr>
              <a:t>startup</a:t>
            </a:r>
            <a:r>
              <a:rPr lang="en-GB" i="0" dirty="0">
                <a:solidFill>
                  <a:srgbClr val="000000"/>
                </a:solidFill>
                <a:effectLst/>
                <a:latin typeface="Ember Display2"/>
              </a:rPr>
              <a:t> times.</a:t>
            </a:r>
          </a:p>
          <a:p>
            <a:pPr algn="l" fontAlgn="auto"/>
            <a:endParaRPr lang="en-GB" i="0" dirty="0">
              <a:solidFill>
                <a:srgbClr val="000000"/>
              </a:solidFill>
              <a:effectLst/>
              <a:latin typeface="Ember Display2"/>
            </a:endParaRPr>
          </a:p>
        </p:txBody>
      </p:sp>
      <p:pic>
        <p:nvPicPr>
          <p:cNvPr id="5" name="Picture 4">
            <a:extLst>
              <a:ext uri="{FF2B5EF4-FFF2-40B4-BE49-F238E27FC236}">
                <a16:creationId xmlns:a16="http://schemas.microsoft.com/office/drawing/2014/main" id="{7FEFC04D-3BA0-4AAD-8306-FF35DF9A1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5095" y="4300152"/>
            <a:ext cx="6373610" cy="2306640"/>
          </a:xfrm>
          <a:prstGeom prst="rect">
            <a:avLst/>
          </a:prstGeom>
        </p:spPr>
      </p:pic>
    </p:spTree>
    <p:extLst>
      <p:ext uri="{BB962C8B-B14F-4D97-AF65-F5344CB8AC3E}">
        <p14:creationId xmlns:p14="http://schemas.microsoft.com/office/powerpoint/2010/main" val="974348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Solving deployment challenges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037966" y="2413337"/>
            <a:ext cx="9700054" cy="1200329"/>
          </a:xfrm>
          <a:prstGeom prst="rect">
            <a:avLst/>
          </a:prstGeom>
          <a:noFill/>
        </p:spPr>
        <p:txBody>
          <a:bodyPr wrap="square" rtlCol="0">
            <a:spAutoFit/>
          </a:bodyPr>
          <a:lstStyle/>
          <a:p>
            <a:pPr algn="l" fontAlgn="auto"/>
            <a:r>
              <a:rPr lang="en-GB" b="1" i="0" dirty="0">
                <a:solidFill>
                  <a:srgbClr val="000000"/>
                </a:solidFill>
                <a:effectLst/>
                <a:latin typeface="Ember Display2"/>
              </a:rPr>
              <a:t>Deployment consistency with containers</a:t>
            </a:r>
          </a:p>
          <a:p>
            <a:pPr algn="l" fontAlgn="auto"/>
            <a:r>
              <a:rPr lang="en-GB" i="0" dirty="0">
                <a:solidFill>
                  <a:srgbClr val="000000"/>
                </a:solidFill>
                <a:effectLst/>
                <a:latin typeface="Ember Display2"/>
              </a:rPr>
              <a:t>When a developer’s environment differs from staging or production, deployments can fail and become difficult to debug. Containers solve this by keeping the application’s environment consistent everywhere, making deployments smoother and assisting troubleshooting.</a:t>
            </a:r>
          </a:p>
        </p:txBody>
      </p:sp>
      <p:pic>
        <p:nvPicPr>
          <p:cNvPr id="6" name="Picture 5">
            <a:extLst>
              <a:ext uri="{FF2B5EF4-FFF2-40B4-BE49-F238E27FC236}">
                <a16:creationId xmlns:a16="http://schemas.microsoft.com/office/drawing/2014/main" id="{2DFAC941-9AF1-43FC-8A78-ACE2E7EA10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8663" y="4510217"/>
            <a:ext cx="6516334" cy="1528236"/>
          </a:xfrm>
          <a:prstGeom prst="rect">
            <a:avLst/>
          </a:prstGeom>
        </p:spPr>
      </p:pic>
    </p:spTree>
    <p:extLst>
      <p:ext uri="{BB962C8B-B14F-4D97-AF65-F5344CB8AC3E}">
        <p14:creationId xmlns:p14="http://schemas.microsoft.com/office/powerpoint/2010/main" val="2533029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Solving deployment challenges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037966" y="2413337"/>
            <a:ext cx="9700054" cy="1754326"/>
          </a:xfrm>
          <a:prstGeom prst="rect">
            <a:avLst/>
          </a:prstGeom>
          <a:noFill/>
        </p:spPr>
        <p:txBody>
          <a:bodyPr wrap="square" rtlCol="0">
            <a:spAutoFit/>
          </a:bodyPr>
          <a:lstStyle/>
          <a:p>
            <a:pPr algn="l" fontAlgn="auto"/>
            <a:r>
              <a:rPr lang="en-GB" b="1" i="0" dirty="0">
                <a:solidFill>
                  <a:srgbClr val="000000"/>
                </a:solidFill>
                <a:effectLst/>
                <a:latin typeface="Ember Display2"/>
              </a:rPr>
              <a:t>Scaling containers with orchestration</a:t>
            </a:r>
          </a:p>
          <a:p>
            <a:pPr algn="l" fontAlgn="auto"/>
            <a:r>
              <a:rPr lang="en-GB" i="0" dirty="0">
                <a:solidFill>
                  <a:srgbClr val="000000"/>
                </a:solidFill>
                <a:effectLst/>
                <a:latin typeface="Ember Display2"/>
              </a:rPr>
              <a:t>As containerized applications scale, managing them becomes more complex. A setup that began with a few containers on a single host can quickly grow into hundreds or thousands of containers across multiple hosts. At that scale, manually handling container lifecycle, monitoring, and general operations becomes unsustainable. This is where orchestration tools come in. They automate deployment, scaling, and management to keep everything running smoothly.</a:t>
            </a:r>
          </a:p>
        </p:txBody>
      </p:sp>
      <p:pic>
        <p:nvPicPr>
          <p:cNvPr id="5" name="Picture 4">
            <a:extLst>
              <a:ext uri="{FF2B5EF4-FFF2-40B4-BE49-F238E27FC236}">
                <a16:creationId xmlns:a16="http://schemas.microsoft.com/office/drawing/2014/main" id="{B62C5091-255A-4C6D-8F06-CFF9492CB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5833" y="4167663"/>
            <a:ext cx="6153170" cy="2388016"/>
          </a:xfrm>
          <a:prstGeom prst="rect">
            <a:avLst/>
          </a:prstGeom>
        </p:spPr>
      </p:pic>
    </p:spTree>
    <p:extLst>
      <p:ext uri="{BB962C8B-B14F-4D97-AF65-F5344CB8AC3E}">
        <p14:creationId xmlns:p14="http://schemas.microsoft.com/office/powerpoint/2010/main" val="236814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AWS container services</a:t>
            </a:r>
            <a:br>
              <a:rPr lang="en-GB" dirty="0"/>
            </a:br>
            <a:endParaRPr lang="en-GB" dirty="0"/>
          </a:p>
        </p:txBody>
      </p:sp>
      <p:sp>
        <p:nvSpPr>
          <p:cNvPr id="2" name="TextBox 1">
            <a:extLst>
              <a:ext uri="{FF2B5EF4-FFF2-40B4-BE49-F238E27FC236}">
                <a16:creationId xmlns:a16="http://schemas.microsoft.com/office/drawing/2014/main" id="{50D0104C-60CF-4215-842F-8EF69B00369D}"/>
              </a:ext>
            </a:extLst>
          </p:cNvPr>
          <p:cNvSpPr txBox="1"/>
          <p:nvPr/>
        </p:nvSpPr>
        <p:spPr>
          <a:xfrm>
            <a:off x="1037966" y="2413337"/>
            <a:ext cx="9700054" cy="3970318"/>
          </a:xfrm>
          <a:prstGeom prst="rect">
            <a:avLst/>
          </a:prstGeom>
          <a:noFill/>
        </p:spPr>
        <p:txBody>
          <a:bodyPr wrap="square" rtlCol="0">
            <a:spAutoFit/>
          </a:bodyPr>
          <a:lstStyle/>
          <a:p>
            <a:pPr algn="l" fontAlgn="auto"/>
            <a:r>
              <a:rPr lang="en-GB" b="1" i="0" dirty="0">
                <a:solidFill>
                  <a:srgbClr val="000000"/>
                </a:solidFill>
                <a:effectLst/>
                <a:latin typeface="Ember Display2"/>
              </a:rPr>
              <a:t>Amazon ECS</a:t>
            </a:r>
          </a:p>
          <a:p>
            <a:pPr algn="l" fontAlgn="auto"/>
            <a:endParaRPr lang="en-GB" b="1" i="0" dirty="0">
              <a:solidFill>
                <a:srgbClr val="000000"/>
              </a:solidFill>
              <a:effectLst/>
              <a:latin typeface="Ember Display2"/>
            </a:endParaRPr>
          </a:p>
          <a:p>
            <a:pPr algn="l" fontAlgn="auto"/>
            <a:r>
              <a:rPr lang="en-GB" i="0" dirty="0">
                <a:solidFill>
                  <a:srgbClr val="000000"/>
                </a:solidFill>
                <a:effectLst/>
                <a:latin typeface="Ember Display2"/>
              </a:rPr>
              <a:t>Amazon Elastic Container Service (Amazon ECS) is a scalable container orchestration service for running and managing containers on AWS, like Docker containers. Docker is a software platform for building, testing, and deploying applications quickly.</a:t>
            </a:r>
          </a:p>
          <a:p>
            <a:pPr algn="l" fontAlgn="auto"/>
            <a:r>
              <a:rPr lang="en-GB" i="0" dirty="0">
                <a:solidFill>
                  <a:srgbClr val="000000"/>
                </a:solidFill>
                <a:effectLst/>
                <a:latin typeface="Ember Display2"/>
              </a:rPr>
              <a:t>Amazon ECS launch types</a:t>
            </a:r>
          </a:p>
          <a:p>
            <a:pPr algn="l" fontAlgn="auto"/>
            <a:endParaRPr lang="en-GB" i="0" dirty="0">
              <a:solidFill>
                <a:srgbClr val="000000"/>
              </a:solidFill>
              <a:effectLst/>
              <a:latin typeface="Ember Display2"/>
            </a:endParaRPr>
          </a:p>
          <a:p>
            <a:pPr algn="l" fontAlgn="auto"/>
            <a:r>
              <a:rPr lang="en-GB" i="0" dirty="0">
                <a:solidFill>
                  <a:srgbClr val="000000"/>
                </a:solidFill>
                <a:effectLst/>
                <a:latin typeface="Ember Display2"/>
              </a:rPr>
              <a:t>Amazon ECS with Amazon EC2 is ideal for small-to-medium businesses that need full control over infrastructure. Suitable for custom applications requiring specific hardware or networking configurations, with the flexibility of Amazon EC2 and the simplicity of Amazon ECS.</a:t>
            </a:r>
          </a:p>
          <a:p>
            <a:pPr algn="l" fontAlgn="auto"/>
            <a:endParaRPr lang="en-GB" i="0" dirty="0">
              <a:solidFill>
                <a:srgbClr val="000000"/>
              </a:solidFill>
              <a:effectLst/>
              <a:latin typeface="Ember Display2"/>
            </a:endParaRPr>
          </a:p>
          <a:p>
            <a:pPr algn="l" fontAlgn="auto"/>
            <a:r>
              <a:rPr lang="en-GB" i="0" dirty="0">
                <a:solidFill>
                  <a:srgbClr val="000000"/>
                </a:solidFill>
                <a:effectLst/>
                <a:latin typeface="Ember Display2"/>
              </a:rPr>
              <a:t>Amazon ECS with AWS </a:t>
            </a:r>
            <a:r>
              <a:rPr lang="en-GB" i="0" dirty="0" err="1">
                <a:solidFill>
                  <a:srgbClr val="000000"/>
                </a:solidFill>
                <a:effectLst/>
                <a:latin typeface="Ember Display2"/>
              </a:rPr>
              <a:t>Fargate</a:t>
            </a:r>
            <a:r>
              <a:rPr lang="en-GB" i="0" dirty="0">
                <a:solidFill>
                  <a:srgbClr val="000000"/>
                </a:solidFill>
                <a:effectLst/>
                <a:latin typeface="Ember Display2"/>
              </a:rPr>
              <a:t> is perfect for </a:t>
            </a:r>
            <a:r>
              <a:rPr lang="en-GB" i="0" dirty="0" err="1">
                <a:solidFill>
                  <a:srgbClr val="000000"/>
                </a:solidFill>
                <a:effectLst/>
                <a:latin typeface="Ember Display2"/>
              </a:rPr>
              <a:t>startups</a:t>
            </a:r>
            <a:r>
              <a:rPr lang="en-GB" i="0" dirty="0">
                <a:solidFill>
                  <a:srgbClr val="000000"/>
                </a:solidFill>
                <a:effectLst/>
                <a:latin typeface="Ember Display2"/>
              </a:rPr>
              <a:t> or small teams building web applications with variable traffic. It's a serverless option—no server management required—so teams can focus on development while Amazon ECS handles scaling and orchestration.</a:t>
            </a:r>
          </a:p>
        </p:txBody>
      </p:sp>
    </p:spTree>
    <p:extLst>
      <p:ext uri="{BB962C8B-B14F-4D97-AF65-F5344CB8AC3E}">
        <p14:creationId xmlns:p14="http://schemas.microsoft.com/office/powerpoint/2010/main" val="1089133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AWS container services</a:t>
            </a:r>
            <a:br>
              <a:rPr lang="en-GB" dirty="0"/>
            </a:br>
            <a:endParaRPr lang="en-GB" dirty="0"/>
          </a:p>
        </p:txBody>
      </p:sp>
      <p:sp>
        <p:nvSpPr>
          <p:cNvPr id="7" name="TextBox 6">
            <a:extLst>
              <a:ext uri="{FF2B5EF4-FFF2-40B4-BE49-F238E27FC236}">
                <a16:creationId xmlns:a16="http://schemas.microsoft.com/office/drawing/2014/main" id="{B95D77C3-480E-48B8-A5B2-45DC00EEE298}"/>
              </a:ext>
            </a:extLst>
          </p:cNvPr>
          <p:cNvSpPr txBox="1"/>
          <p:nvPr/>
        </p:nvSpPr>
        <p:spPr>
          <a:xfrm>
            <a:off x="513147" y="2367661"/>
            <a:ext cx="11460550" cy="3970318"/>
          </a:xfrm>
          <a:prstGeom prst="rect">
            <a:avLst/>
          </a:prstGeom>
          <a:noFill/>
        </p:spPr>
        <p:txBody>
          <a:bodyPr wrap="square">
            <a:spAutoFit/>
          </a:bodyPr>
          <a:lstStyle/>
          <a:p>
            <a:r>
              <a:rPr lang="en-GB" b="1" dirty="0"/>
              <a:t>Amazon EKS</a:t>
            </a:r>
          </a:p>
          <a:p>
            <a:endParaRPr lang="en-GB" dirty="0"/>
          </a:p>
          <a:p>
            <a:r>
              <a:rPr lang="en-GB" dirty="0"/>
              <a:t>Amazon Elastic Kubernetes Service (Amazon EKS) is a fully managed service for running Kubernetes on AWS. It simplifies deploying, managing, and scaling containerized applications using open-source Kubernetes, with ongoing support and updates from the broader community.</a:t>
            </a:r>
          </a:p>
          <a:p>
            <a:endParaRPr lang="en-GB" b="1" dirty="0"/>
          </a:p>
          <a:p>
            <a:r>
              <a:rPr lang="en-GB" b="1" dirty="0"/>
              <a:t>Amazon EKS launch types</a:t>
            </a:r>
          </a:p>
          <a:p>
            <a:endParaRPr lang="en-GB" dirty="0"/>
          </a:p>
          <a:p>
            <a:r>
              <a:rPr lang="en-GB" dirty="0"/>
              <a:t>Amazon EKS with Amazon EC2: This is best for enterprises needing full control over infrastructure. It offers deep customization of EC2 instances alongside Kubernetes scalability-ideal for complex, large-scale workloads.</a:t>
            </a:r>
          </a:p>
          <a:p>
            <a:r>
              <a:rPr lang="en-GB" dirty="0"/>
              <a:t>Amazon EKS with AWS </a:t>
            </a:r>
            <a:r>
              <a:rPr lang="en-GB" dirty="0" err="1"/>
              <a:t>Fargate</a:t>
            </a:r>
            <a:r>
              <a:rPr lang="en-GB" dirty="0"/>
              <a:t>: This is great for teams wanting Kubernetes flexibility without managing servers. It combines Kubernetes power with serverless simplicity, helping to scale applications quickly across various use cases.</a:t>
            </a:r>
          </a:p>
        </p:txBody>
      </p:sp>
    </p:spTree>
    <p:extLst>
      <p:ext uri="{BB962C8B-B14F-4D97-AF65-F5344CB8AC3E}">
        <p14:creationId xmlns:p14="http://schemas.microsoft.com/office/powerpoint/2010/main" val="857773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Amazon ECR</a:t>
            </a:r>
            <a:br>
              <a:rPr lang="en-GB" dirty="0"/>
            </a:br>
            <a:endParaRPr lang="en-GB" dirty="0"/>
          </a:p>
        </p:txBody>
      </p:sp>
      <p:sp>
        <p:nvSpPr>
          <p:cNvPr id="7" name="TextBox 6">
            <a:extLst>
              <a:ext uri="{FF2B5EF4-FFF2-40B4-BE49-F238E27FC236}">
                <a16:creationId xmlns:a16="http://schemas.microsoft.com/office/drawing/2014/main" id="{B95D77C3-480E-48B8-A5B2-45DC00EEE298}"/>
              </a:ext>
            </a:extLst>
          </p:cNvPr>
          <p:cNvSpPr txBox="1"/>
          <p:nvPr/>
        </p:nvSpPr>
        <p:spPr>
          <a:xfrm>
            <a:off x="587288" y="3652763"/>
            <a:ext cx="11460550" cy="1200329"/>
          </a:xfrm>
          <a:prstGeom prst="rect">
            <a:avLst/>
          </a:prstGeom>
          <a:noFill/>
        </p:spPr>
        <p:txBody>
          <a:bodyPr wrap="square">
            <a:spAutoFit/>
          </a:bodyPr>
          <a:lstStyle/>
          <a:p>
            <a:r>
              <a:rPr lang="en-GB" dirty="0"/>
              <a:t>Amazon Elastic Container Registry (Amazon ECR) is where you can store, manage, and deploy container images. It supports container images that follow the Open Container Initiative (OCI) standards. You can push, pull, and manage images in your Amazon ECR repositories using standard container tooling and command line interfaces (CLIs).</a:t>
            </a:r>
          </a:p>
        </p:txBody>
      </p:sp>
    </p:spTree>
    <p:extLst>
      <p:ext uri="{BB962C8B-B14F-4D97-AF65-F5344CB8AC3E}">
        <p14:creationId xmlns:p14="http://schemas.microsoft.com/office/powerpoint/2010/main" val="3310084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err="1"/>
              <a:t>Fargate</a:t>
            </a:r>
            <a:br>
              <a:rPr lang="en-GB" dirty="0"/>
            </a:br>
            <a:endParaRPr lang="en-GB" dirty="0"/>
          </a:p>
        </p:txBody>
      </p:sp>
      <p:sp>
        <p:nvSpPr>
          <p:cNvPr id="7" name="TextBox 6">
            <a:extLst>
              <a:ext uri="{FF2B5EF4-FFF2-40B4-BE49-F238E27FC236}">
                <a16:creationId xmlns:a16="http://schemas.microsoft.com/office/drawing/2014/main" id="{B95D77C3-480E-48B8-A5B2-45DC00EEE298}"/>
              </a:ext>
            </a:extLst>
          </p:cNvPr>
          <p:cNvSpPr txBox="1"/>
          <p:nvPr/>
        </p:nvSpPr>
        <p:spPr>
          <a:xfrm>
            <a:off x="612002" y="3220276"/>
            <a:ext cx="11460550" cy="2031325"/>
          </a:xfrm>
          <a:prstGeom prst="rect">
            <a:avLst/>
          </a:prstGeom>
          <a:noFill/>
        </p:spPr>
        <p:txBody>
          <a:bodyPr wrap="square">
            <a:spAutoFit/>
          </a:bodyPr>
          <a:lstStyle/>
          <a:p>
            <a:r>
              <a:rPr lang="en-GB" dirty="0"/>
              <a:t>AWS </a:t>
            </a:r>
            <a:r>
              <a:rPr lang="en-GB" dirty="0" err="1"/>
              <a:t>Fargate</a:t>
            </a:r>
            <a:r>
              <a:rPr lang="en-GB" dirty="0"/>
              <a:t> is a serverless compute engine for containers. It works with both Amazon ECS and Amazon EKS. </a:t>
            </a:r>
            <a:r>
              <a:rPr lang="en-GB" dirty="0" err="1"/>
              <a:t>Fargate</a:t>
            </a:r>
            <a:r>
              <a:rPr lang="en-GB" dirty="0"/>
              <a:t> is a container hosting platform, unlike Amazon ECS and Amazon EKS, which are both container orchestration services.</a:t>
            </a:r>
          </a:p>
          <a:p>
            <a:endParaRPr lang="en-GB" dirty="0"/>
          </a:p>
          <a:p>
            <a:r>
              <a:rPr lang="en-GB" dirty="0"/>
              <a:t>When using </a:t>
            </a:r>
            <a:r>
              <a:rPr lang="en-GB" dirty="0" err="1"/>
              <a:t>Fargate</a:t>
            </a:r>
            <a:r>
              <a:rPr lang="en-GB" dirty="0"/>
              <a:t>, you do not need to provision or manage servers. </a:t>
            </a:r>
            <a:r>
              <a:rPr lang="en-GB" dirty="0" err="1"/>
              <a:t>Fargate</a:t>
            </a:r>
            <a:r>
              <a:rPr lang="en-GB" dirty="0"/>
              <a:t> manages your server infrastructure for you. You can focus more on innovating and developing your applications, and you pay only for the resources that are required to run your containers.</a:t>
            </a:r>
          </a:p>
        </p:txBody>
      </p:sp>
    </p:spTree>
    <p:extLst>
      <p:ext uri="{BB962C8B-B14F-4D97-AF65-F5344CB8AC3E}">
        <p14:creationId xmlns:p14="http://schemas.microsoft.com/office/powerpoint/2010/main" val="3635573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Additional compute services</a:t>
            </a:r>
            <a:br>
              <a:rPr lang="en-GB" dirty="0"/>
            </a:br>
            <a:endParaRPr lang="en-GB" dirty="0"/>
          </a:p>
        </p:txBody>
      </p:sp>
      <p:sp>
        <p:nvSpPr>
          <p:cNvPr id="6" name="AutoShape 4">
            <a:extLst>
              <a:ext uri="{FF2B5EF4-FFF2-40B4-BE49-F238E27FC236}">
                <a16:creationId xmlns:a16="http://schemas.microsoft.com/office/drawing/2014/main" id="{DC9D98DF-2254-4CDF-BA66-8009F32B8195}"/>
              </a:ext>
            </a:extLst>
          </p:cNvPr>
          <p:cNvSpPr>
            <a:spLocks noChangeAspect="1" noChangeArrowheads="1"/>
          </p:cNvSpPr>
          <p:nvPr/>
        </p:nvSpPr>
        <p:spPr bwMode="auto">
          <a:xfrm>
            <a:off x="79375" y="-236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TextBox 8">
            <a:extLst>
              <a:ext uri="{FF2B5EF4-FFF2-40B4-BE49-F238E27FC236}">
                <a16:creationId xmlns:a16="http://schemas.microsoft.com/office/drawing/2014/main" id="{EFA4E681-2BDA-457F-BD15-70FA41731DD1}"/>
              </a:ext>
            </a:extLst>
          </p:cNvPr>
          <p:cNvSpPr txBox="1"/>
          <p:nvPr/>
        </p:nvSpPr>
        <p:spPr>
          <a:xfrm>
            <a:off x="853409" y="2481991"/>
            <a:ext cx="10485181" cy="3970318"/>
          </a:xfrm>
          <a:prstGeom prst="rect">
            <a:avLst/>
          </a:prstGeom>
          <a:noFill/>
        </p:spPr>
        <p:txBody>
          <a:bodyPr wrap="square">
            <a:spAutoFit/>
          </a:bodyPr>
          <a:lstStyle/>
          <a:p>
            <a:r>
              <a:rPr lang="en-GB" dirty="0"/>
              <a:t>AWS offers purpose-built services for specific needs, such as streamlining web application deployment, managing batch workloads, providing virtual servers, and extending cloud infrastructure to on-premises data </a:t>
            </a:r>
            <a:r>
              <a:rPr lang="en-GB" dirty="0" err="1"/>
              <a:t>centers</a:t>
            </a:r>
            <a:r>
              <a:rPr lang="en-GB" dirty="0"/>
              <a:t>.</a:t>
            </a:r>
          </a:p>
          <a:p>
            <a:r>
              <a:rPr lang="en-GB" b="1" dirty="0"/>
              <a:t>Elastic Beanstalk</a:t>
            </a:r>
          </a:p>
          <a:p>
            <a:r>
              <a:rPr lang="en-GB" dirty="0"/>
              <a:t>Elastic Beanstalk is a fully managed service that streamlines the deployment, management, and scaling of web applications. Developers can upload their code, and Elastic Beanstalk automatically handles the provisioning of infrastructure, scaling, load balancing, and application health monitoring. It supports various programming languages and frameworks, such as Java, .NET, Python, Node.js, Docker, and more. It provides full control over the underlying AWS resources while automating many operational tasks.</a:t>
            </a:r>
          </a:p>
          <a:p>
            <a:endParaRPr lang="en-GB" dirty="0"/>
          </a:p>
          <a:p>
            <a:r>
              <a:rPr lang="en-GB" dirty="0"/>
              <a:t>Good for: Deploying and managing web applications, RESTful APIs, mobile backend services, and microservices architectures, with automated scaling and simplified infrastructure management</a:t>
            </a:r>
          </a:p>
        </p:txBody>
      </p:sp>
    </p:spTree>
    <p:extLst>
      <p:ext uri="{BB962C8B-B14F-4D97-AF65-F5344CB8AC3E}">
        <p14:creationId xmlns:p14="http://schemas.microsoft.com/office/powerpoint/2010/main" val="822508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Additional compute services</a:t>
            </a:r>
            <a:br>
              <a:rPr lang="en-GB" dirty="0"/>
            </a:br>
            <a:endParaRPr lang="en-GB" dirty="0"/>
          </a:p>
        </p:txBody>
      </p:sp>
      <p:sp>
        <p:nvSpPr>
          <p:cNvPr id="6" name="AutoShape 4">
            <a:extLst>
              <a:ext uri="{FF2B5EF4-FFF2-40B4-BE49-F238E27FC236}">
                <a16:creationId xmlns:a16="http://schemas.microsoft.com/office/drawing/2014/main" id="{DC9D98DF-2254-4CDF-BA66-8009F32B8195}"/>
              </a:ext>
            </a:extLst>
          </p:cNvPr>
          <p:cNvSpPr>
            <a:spLocks noChangeAspect="1" noChangeArrowheads="1"/>
          </p:cNvSpPr>
          <p:nvPr/>
        </p:nvSpPr>
        <p:spPr bwMode="auto">
          <a:xfrm>
            <a:off x="79375" y="-236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TextBox 7">
            <a:extLst>
              <a:ext uri="{FF2B5EF4-FFF2-40B4-BE49-F238E27FC236}">
                <a16:creationId xmlns:a16="http://schemas.microsoft.com/office/drawing/2014/main" id="{944F54F0-938B-47AF-B767-5D4EBDDF69EE}"/>
              </a:ext>
            </a:extLst>
          </p:cNvPr>
          <p:cNvSpPr txBox="1"/>
          <p:nvPr/>
        </p:nvSpPr>
        <p:spPr>
          <a:xfrm>
            <a:off x="940230" y="2965907"/>
            <a:ext cx="10897544" cy="2585323"/>
          </a:xfrm>
          <a:prstGeom prst="rect">
            <a:avLst/>
          </a:prstGeom>
          <a:noFill/>
        </p:spPr>
        <p:txBody>
          <a:bodyPr wrap="square">
            <a:spAutoFit/>
          </a:bodyPr>
          <a:lstStyle/>
          <a:p>
            <a:r>
              <a:rPr lang="en-GB" b="1" dirty="0"/>
              <a:t>AWS Batch</a:t>
            </a:r>
          </a:p>
          <a:p>
            <a:endParaRPr lang="en-GB" dirty="0"/>
          </a:p>
          <a:p>
            <a:r>
              <a:rPr lang="en-GB" dirty="0"/>
              <a:t>AWS Batch is a fully managed service that you can use to run batch computing workloads on AWS. It automatically schedules, manages, and scales compute resources for batch jobs, optimizing resource allocation based on job requirements.</a:t>
            </a:r>
          </a:p>
          <a:p>
            <a:endParaRPr lang="en-GB" dirty="0"/>
          </a:p>
          <a:p>
            <a:r>
              <a:rPr lang="en-GB" dirty="0"/>
              <a:t>Good for: Processing large-scale, parallel workloads in areas like scientific computing, financial risk analysis, media transcoding, big data processing, machine learning training, and genomics research</a:t>
            </a:r>
          </a:p>
        </p:txBody>
      </p:sp>
    </p:spTree>
    <p:extLst>
      <p:ext uri="{BB962C8B-B14F-4D97-AF65-F5344CB8AC3E}">
        <p14:creationId xmlns:p14="http://schemas.microsoft.com/office/powerpoint/2010/main" val="2566950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Additional compute services</a:t>
            </a:r>
            <a:br>
              <a:rPr lang="en-GB" dirty="0"/>
            </a:br>
            <a:endParaRPr lang="en-GB" dirty="0"/>
          </a:p>
        </p:txBody>
      </p:sp>
      <p:sp>
        <p:nvSpPr>
          <p:cNvPr id="6" name="AutoShape 4">
            <a:extLst>
              <a:ext uri="{FF2B5EF4-FFF2-40B4-BE49-F238E27FC236}">
                <a16:creationId xmlns:a16="http://schemas.microsoft.com/office/drawing/2014/main" id="{DC9D98DF-2254-4CDF-BA66-8009F32B8195}"/>
              </a:ext>
            </a:extLst>
          </p:cNvPr>
          <p:cNvSpPr>
            <a:spLocks noChangeAspect="1" noChangeArrowheads="1"/>
          </p:cNvSpPr>
          <p:nvPr/>
        </p:nvSpPr>
        <p:spPr bwMode="auto">
          <a:xfrm>
            <a:off x="79375" y="-236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TextBox 8">
            <a:extLst>
              <a:ext uri="{FF2B5EF4-FFF2-40B4-BE49-F238E27FC236}">
                <a16:creationId xmlns:a16="http://schemas.microsoft.com/office/drawing/2014/main" id="{45E8F8C0-43E1-403A-A98B-B26C325C07F7}"/>
              </a:ext>
            </a:extLst>
          </p:cNvPr>
          <p:cNvSpPr txBox="1"/>
          <p:nvPr/>
        </p:nvSpPr>
        <p:spPr>
          <a:xfrm>
            <a:off x="705451" y="2869514"/>
            <a:ext cx="11026775" cy="2585323"/>
          </a:xfrm>
          <a:prstGeom prst="rect">
            <a:avLst/>
          </a:prstGeom>
          <a:noFill/>
        </p:spPr>
        <p:txBody>
          <a:bodyPr wrap="square">
            <a:spAutoFit/>
          </a:bodyPr>
          <a:lstStyle/>
          <a:p>
            <a:r>
              <a:rPr lang="en-GB" b="1" dirty="0" err="1"/>
              <a:t>Lightsail</a:t>
            </a:r>
            <a:endParaRPr lang="en-GB" b="1" dirty="0"/>
          </a:p>
          <a:p>
            <a:endParaRPr lang="en-GB" dirty="0"/>
          </a:p>
          <a:p>
            <a:r>
              <a:rPr lang="en-GB" dirty="0"/>
              <a:t>Amazon </a:t>
            </a:r>
            <a:r>
              <a:rPr lang="en-GB" dirty="0" err="1"/>
              <a:t>Lightsail</a:t>
            </a:r>
            <a:r>
              <a:rPr lang="en-GB" dirty="0"/>
              <a:t> is a cloud service offering virtual private servers (VPSs), storage, databases, and networking at a predictable monthly price. It’s ideal for small businesses, basic workloads, and developers seeking a straightforward AWS experience without the complexity of the full AWS Management Console.</a:t>
            </a:r>
          </a:p>
          <a:p>
            <a:endParaRPr lang="en-GB" dirty="0"/>
          </a:p>
          <a:p>
            <a:r>
              <a:rPr lang="en-GB" dirty="0"/>
              <a:t>Good for: Basic web applications, low-traffic websites, development and testing environments, small business websites, blogs, and learning cloud services</a:t>
            </a:r>
          </a:p>
        </p:txBody>
      </p:sp>
    </p:spTree>
    <p:extLst>
      <p:ext uri="{BB962C8B-B14F-4D97-AF65-F5344CB8AC3E}">
        <p14:creationId xmlns:p14="http://schemas.microsoft.com/office/powerpoint/2010/main" val="867972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D5F0BD-EBA0-4C52-B943-7210D3B09AFD}"/>
              </a:ext>
            </a:extLst>
          </p:cNvPr>
          <p:cNvSpPr>
            <a:spLocks noGrp="1"/>
          </p:cNvSpPr>
          <p:nvPr>
            <p:ph type="title"/>
          </p:nvPr>
        </p:nvSpPr>
        <p:spPr>
          <a:xfrm>
            <a:off x="1155700" y="1207916"/>
            <a:ext cx="8761413" cy="708025"/>
          </a:xfrm>
        </p:spPr>
        <p:txBody>
          <a:bodyPr/>
          <a:lstStyle/>
          <a:p>
            <a:pPr algn="ctr"/>
            <a:r>
              <a:rPr lang="en-GB" dirty="0"/>
              <a:t>Additional compute services</a:t>
            </a:r>
            <a:br>
              <a:rPr lang="en-GB" dirty="0"/>
            </a:br>
            <a:endParaRPr lang="en-GB" dirty="0"/>
          </a:p>
        </p:txBody>
      </p:sp>
      <p:sp>
        <p:nvSpPr>
          <p:cNvPr id="6" name="AutoShape 4">
            <a:extLst>
              <a:ext uri="{FF2B5EF4-FFF2-40B4-BE49-F238E27FC236}">
                <a16:creationId xmlns:a16="http://schemas.microsoft.com/office/drawing/2014/main" id="{DC9D98DF-2254-4CDF-BA66-8009F32B8195}"/>
              </a:ext>
            </a:extLst>
          </p:cNvPr>
          <p:cNvSpPr>
            <a:spLocks noChangeAspect="1" noChangeArrowheads="1"/>
          </p:cNvSpPr>
          <p:nvPr/>
        </p:nvSpPr>
        <p:spPr bwMode="auto">
          <a:xfrm>
            <a:off x="79375" y="-236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TextBox 7">
            <a:extLst>
              <a:ext uri="{FF2B5EF4-FFF2-40B4-BE49-F238E27FC236}">
                <a16:creationId xmlns:a16="http://schemas.microsoft.com/office/drawing/2014/main" id="{0AB3B2A8-CB85-4FAC-9510-82D6D93D993F}"/>
              </a:ext>
            </a:extLst>
          </p:cNvPr>
          <p:cNvSpPr txBox="1"/>
          <p:nvPr/>
        </p:nvSpPr>
        <p:spPr>
          <a:xfrm>
            <a:off x="910109" y="2787762"/>
            <a:ext cx="9759950" cy="2862322"/>
          </a:xfrm>
          <a:prstGeom prst="rect">
            <a:avLst/>
          </a:prstGeom>
          <a:noFill/>
        </p:spPr>
        <p:txBody>
          <a:bodyPr wrap="square">
            <a:spAutoFit/>
          </a:bodyPr>
          <a:lstStyle/>
          <a:p>
            <a:r>
              <a:rPr lang="en-GB" b="1" dirty="0"/>
              <a:t>Outposts</a:t>
            </a:r>
          </a:p>
          <a:p>
            <a:endParaRPr lang="en-GB" dirty="0"/>
          </a:p>
          <a:p>
            <a:r>
              <a:rPr lang="en-GB" dirty="0"/>
              <a:t>AWS Outposts is a fully managed hybrid cloud solution that extends AWS infrastructure and services to on-premises data </a:t>
            </a:r>
            <a:r>
              <a:rPr lang="en-GB" dirty="0" err="1"/>
              <a:t>centers</a:t>
            </a:r>
            <a:r>
              <a:rPr lang="en-GB" dirty="0"/>
              <a:t>. It provides a consistent experience between on premises and the AWS Cloud, offering compute, storage, and networking components.</a:t>
            </a:r>
          </a:p>
          <a:p>
            <a:endParaRPr lang="en-GB" dirty="0"/>
          </a:p>
          <a:p>
            <a:r>
              <a:rPr lang="en-GB" dirty="0"/>
              <a:t>Good for: Low-latency applications, data processing in remote locations, migrating and modernizing legacy applications, and meeting regulatory compliance or data residency requirements</a:t>
            </a:r>
          </a:p>
        </p:txBody>
      </p:sp>
    </p:spTree>
    <p:extLst>
      <p:ext uri="{BB962C8B-B14F-4D97-AF65-F5344CB8AC3E}">
        <p14:creationId xmlns:p14="http://schemas.microsoft.com/office/powerpoint/2010/main" val="758562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4589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470</TotalTime>
  <Words>2896</Words>
  <Application>Microsoft Office PowerPoint</Application>
  <PresentationFormat>Widescreen</PresentationFormat>
  <Paragraphs>164</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Century Gothic</vt:lpstr>
      <vt:lpstr>Ember Display2</vt:lpstr>
      <vt:lpstr>inherit</vt:lpstr>
      <vt:lpstr>Lato</vt:lpstr>
      <vt:lpstr>Wingdings 3</vt:lpstr>
      <vt:lpstr>Ion Boardroom</vt:lpstr>
      <vt:lpstr>AWS pricing options</vt:lpstr>
      <vt:lpstr>PowerPoint Presentation</vt:lpstr>
      <vt:lpstr>PowerPoint Presentation</vt:lpstr>
      <vt:lpstr>Dedicated Instances </vt:lpstr>
      <vt:lpstr>More about cost optimization </vt:lpstr>
      <vt:lpstr>More about cost optimization </vt:lpstr>
      <vt:lpstr>Directing Traffic with Elastic Load Balancing </vt:lpstr>
      <vt:lpstr>Directing Traffic with Elastic Load Balancing </vt:lpstr>
      <vt:lpstr>Directing Traffic with Elastic Load Balancing </vt:lpstr>
      <vt:lpstr>Routing methods </vt:lpstr>
      <vt:lpstr>Routing methods </vt:lpstr>
      <vt:lpstr>Example: Elastic Load Balancing </vt:lpstr>
      <vt:lpstr>Example: Elastic Load Balancing </vt:lpstr>
      <vt:lpstr>Example: Elastic Load Balancing </vt:lpstr>
      <vt:lpstr>Unmanaged and managed services </vt:lpstr>
      <vt:lpstr>Fully-managed services </vt:lpstr>
      <vt:lpstr>AWS Lambda </vt:lpstr>
      <vt:lpstr>AWS Lambda </vt:lpstr>
      <vt:lpstr>Lambda use cases </vt:lpstr>
      <vt:lpstr>Lambda use cases </vt:lpstr>
      <vt:lpstr>Lambda use cases </vt:lpstr>
      <vt:lpstr>Solving deployment challenges </vt:lpstr>
      <vt:lpstr>Solving deployment challenges </vt:lpstr>
      <vt:lpstr>Solving deployment challenges </vt:lpstr>
      <vt:lpstr>AWS container services </vt:lpstr>
      <vt:lpstr>AWS container services </vt:lpstr>
      <vt:lpstr>Amazon ECR </vt:lpstr>
      <vt:lpstr>Fargate </vt:lpstr>
      <vt:lpstr>Additional compute services </vt:lpstr>
      <vt:lpstr>Additional compute services </vt:lpstr>
      <vt:lpstr>Additional compute services </vt:lpstr>
      <vt:lpstr>Additional compute services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pricing options</dc:title>
  <dc:creator>Norhan elnady</dc:creator>
  <cp:lastModifiedBy>Norhan elnady</cp:lastModifiedBy>
  <cp:revision>64</cp:revision>
  <dcterms:created xsi:type="dcterms:W3CDTF">2025-12-26T18:34:55Z</dcterms:created>
  <dcterms:modified xsi:type="dcterms:W3CDTF">2026-01-03T06:26:20Z</dcterms:modified>
</cp:coreProperties>
</file>